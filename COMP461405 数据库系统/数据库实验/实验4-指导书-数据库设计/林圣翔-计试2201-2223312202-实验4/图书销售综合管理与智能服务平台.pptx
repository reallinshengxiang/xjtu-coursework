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0" r:id="rId3"/>
    <p:sldId id="295" r:id="rId5"/>
    <p:sldId id="290" r:id="rId6"/>
    <p:sldId id="265" r:id="rId7"/>
    <p:sldId id="287" r:id="rId8"/>
    <p:sldId id="288" r:id="rId9"/>
    <p:sldId id="308" r:id="rId10"/>
    <p:sldId id="309" r:id="rId11"/>
    <p:sldId id="311" r:id="rId12"/>
    <p:sldId id="312" r:id="rId13"/>
    <p:sldId id="296" r:id="rId14"/>
    <p:sldId id="297" r:id="rId15"/>
    <p:sldId id="313" r:id="rId16"/>
    <p:sldId id="289" r:id="rId17"/>
    <p:sldId id="314" r:id="rId18"/>
    <p:sldId id="318" r:id="rId19"/>
    <p:sldId id="316" r:id="rId20"/>
    <p:sldId id="317" r:id="rId21"/>
    <p:sldId id="291" r:id="rId22"/>
    <p:sldId id="292" r:id="rId23"/>
    <p:sldId id="331" r:id="rId24"/>
    <p:sldId id="293" r:id="rId25"/>
    <p:sldId id="327" r:id="rId26"/>
    <p:sldId id="337" r:id="rId27"/>
    <p:sldId id="294" r:id="rId28"/>
    <p:sldId id="319" r:id="rId29"/>
    <p:sldId id="282" r:id="rId30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gs" Target="tags/tag9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5E8DB0-55DC-4221-A99C-988BCD133BF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5E8DB0-55DC-4221-A99C-988BCD133BF3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394159" y="310888"/>
            <a:ext cx="682341" cy="539179"/>
            <a:chOff x="1801006" y="1526207"/>
            <a:chExt cx="1242672" cy="981947"/>
          </a:xfrm>
        </p:grpSpPr>
        <p:sp>
          <p:nvSpPr>
            <p:cNvPr id="5" name="矩形 4"/>
            <p:cNvSpPr/>
            <p:nvPr userDrawn="1"/>
          </p:nvSpPr>
          <p:spPr>
            <a:xfrm>
              <a:off x="2224301" y="1732937"/>
              <a:ext cx="819377" cy="695740"/>
            </a:xfrm>
            <a:prstGeom prst="rect">
              <a:avLst/>
            </a:prstGeom>
            <a:solidFill>
              <a:srgbClr val="89DF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" name="任意多边形 13"/>
            <p:cNvSpPr/>
            <p:nvPr userDrawn="1"/>
          </p:nvSpPr>
          <p:spPr>
            <a:xfrm>
              <a:off x="1801006" y="1526207"/>
              <a:ext cx="1063935" cy="981947"/>
            </a:xfrm>
            <a:custGeom>
              <a:avLst/>
              <a:gdLst>
                <a:gd name="connsiteX0" fmla="*/ 0 w 2864941"/>
                <a:gd name="connsiteY0" fmla="*/ 0 h 981947"/>
                <a:gd name="connsiteX1" fmla="*/ 2864941 w 2864941"/>
                <a:gd name="connsiteY1" fmla="*/ 0 h 981947"/>
                <a:gd name="connsiteX2" fmla="*/ 2041802 w 2864941"/>
                <a:gd name="connsiteY2" fmla="*/ 981947 h 981947"/>
                <a:gd name="connsiteX3" fmla="*/ 0 w 2864941"/>
                <a:gd name="connsiteY3" fmla="*/ 981947 h 98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4941" h="981947">
                  <a:moveTo>
                    <a:pt x="0" y="0"/>
                  </a:moveTo>
                  <a:lnTo>
                    <a:pt x="2864941" y="0"/>
                  </a:lnTo>
                  <a:lnTo>
                    <a:pt x="2041802" y="981947"/>
                  </a:lnTo>
                  <a:lnTo>
                    <a:pt x="0" y="981947"/>
                  </a:lnTo>
                  <a:close/>
                </a:path>
              </a:pathLst>
            </a:custGeom>
            <a:solidFill>
              <a:srgbClr val="005AA6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4.xml"/><Relationship Id="rId7" Type="http://schemas.openxmlformats.org/officeDocument/2006/relationships/tags" Target="../tags/tag3.xml"/><Relationship Id="rId6" Type="http://schemas.openxmlformats.org/officeDocument/2006/relationships/tags" Target="../tags/tag2.xml"/><Relationship Id="rId5" Type="http://schemas.openxmlformats.org/officeDocument/2006/relationships/tags" Target="../tags/tag1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microsoft.com/office/2007/relationships/media" Target="../media/media1.mp3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tags" Target="../tags/tag6.xml"/><Relationship Id="rId10" Type="http://schemas.openxmlformats.org/officeDocument/2006/relationships/tags" Target="../tags/tag5.xml"/><Relationship Id="rId1" Type="http://schemas.openxmlformats.org/officeDocument/2006/relationships/audio" Target="../media/media1.mp3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0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1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2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57867" y="79876"/>
            <a:ext cx="11664041" cy="6380197"/>
            <a:chOff x="281032" y="243070"/>
            <a:chExt cx="11664041" cy="6380197"/>
          </a:xfrm>
        </p:grpSpPr>
        <p:sp>
          <p:nvSpPr>
            <p:cNvPr id="12" name="任意多边形 11"/>
            <p:cNvSpPr/>
            <p:nvPr/>
          </p:nvSpPr>
          <p:spPr>
            <a:xfrm>
              <a:off x="281032" y="415790"/>
              <a:ext cx="9125961" cy="5890171"/>
            </a:xfrm>
            <a:custGeom>
              <a:avLst/>
              <a:gdLst>
                <a:gd name="connsiteX0" fmla="*/ 0 w 9125961"/>
                <a:gd name="connsiteY0" fmla="*/ 0 h 5890171"/>
                <a:gd name="connsiteX1" fmla="*/ 9125961 w 9125961"/>
                <a:gd name="connsiteY1" fmla="*/ 0 h 5890171"/>
                <a:gd name="connsiteX2" fmla="*/ 3055475 w 9125961"/>
                <a:gd name="connsiteY2" fmla="*/ 5890171 h 5890171"/>
                <a:gd name="connsiteX3" fmla="*/ 0 w 9125961"/>
                <a:gd name="connsiteY3" fmla="*/ 2834696 h 5890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25961" h="5890171">
                  <a:moveTo>
                    <a:pt x="0" y="0"/>
                  </a:moveTo>
                  <a:lnTo>
                    <a:pt x="9125961" y="0"/>
                  </a:lnTo>
                  <a:lnTo>
                    <a:pt x="3055475" y="5890171"/>
                  </a:lnTo>
                  <a:lnTo>
                    <a:pt x="0" y="2834696"/>
                  </a:lnTo>
                  <a:close/>
                </a:path>
              </a:pathLst>
            </a:custGeom>
            <a:solidFill>
              <a:srgbClr val="E0E1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3" name="任意多边形 12"/>
            <p:cNvSpPr/>
            <p:nvPr/>
          </p:nvSpPr>
          <p:spPr>
            <a:xfrm flipH="1" flipV="1">
              <a:off x="3336391" y="243070"/>
              <a:ext cx="8608682" cy="6380197"/>
            </a:xfrm>
            <a:custGeom>
              <a:avLst/>
              <a:gdLst>
                <a:gd name="connsiteX0" fmla="*/ 2550447 w 8608682"/>
                <a:gd name="connsiteY0" fmla="*/ 6380197 h 6380197"/>
                <a:gd name="connsiteX1" fmla="*/ 0 w 8608682"/>
                <a:gd name="connsiteY1" fmla="*/ 6380197 h 6380197"/>
                <a:gd name="connsiteX2" fmla="*/ 0 w 8608682"/>
                <a:gd name="connsiteY2" fmla="*/ 0 h 6380197"/>
                <a:gd name="connsiteX3" fmla="*/ 8106769 w 8608682"/>
                <a:gd name="connsiteY3" fmla="*/ 0 h 6380197"/>
                <a:gd name="connsiteX4" fmla="*/ 8608682 w 8608682"/>
                <a:gd name="connsiteY4" fmla="*/ 501914 h 638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08682" h="6380197">
                  <a:moveTo>
                    <a:pt x="2550447" y="6380197"/>
                  </a:moveTo>
                  <a:lnTo>
                    <a:pt x="0" y="6380197"/>
                  </a:lnTo>
                  <a:lnTo>
                    <a:pt x="0" y="0"/>
                  </a:lnTo>
                  <a:lnTo>
                    <a:pt x="8106769" y="0"/>
                  </a:lnTo>
                  <a:lnTo>
                    <a:pt x="8608682" y="501914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</p:grpSp>
      <p:sp>
        <p:nvSpPr>
          <p:cNvPr id="14" name="直角三角形 13"/>
          <p:cNvSpPr/>
          <p:nvPr/>
        </p:nvSpPr>
        <p:spPr>
          <a:xfrm>
            <a:off x="0" y="3133383"/>
            <a:ext cx="3727048" cy="3727048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2400"/>
          </a:p>
        </p:txBody>
      </p:sp>
      <p:sp>
        <p:nvSpPr>
          <p:cNvPr id="15" name="直角三角形 14"/>
          <p:cNvSpPr/>
          <p:nvPr/>
        </p:nvSpPr>
        <p:spPr>
          <a:xfrm rot="18914386">
            <a:off x="9526720" y="-831587"/>
            <a:ext cx="1697037" cy="1678271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2400"/>
          </a:p>
        </p:txBody>
      </p:sp>
      <p:sp>
        <p:nvSpPr>
          <p:cNvPr id="16" name="任意多边形 15"/>
          <p:cNvSpPr/>
          <p:nvPr/>
        </p:nvSpPr>
        <p:spPr>
          <a:xfrm rot="18914386">
            <a:off x="9967507" y="411983"/>
            <a:ext cx="769329" cy="769329"/>
          </a:xfrm>
          <a:custGeom>
            <a:avLst/>
            <a:gdLst>
              <a:gd name="connsiteX0" fmla="*/ 0 w 1296133"/>
              <a:gd name="connsiteY0" fmla="*/ 0 h 1296133"/>
              <a:gd name="connsiteX1" fmla="*/ 63602 w 1296133"/>
              <a:gd name="connsiteY1" fmla="*/ 63602 h 1296133"/>
              <a:gd name="connsiteX2" fmla="*/ 63602 w 1296133"/>
              <a:gd name="connsiteY2" fmla="*/ 1231995 h 1296133"/>
              <a:gd name="connsiteX3" fmla="*/ 1231995 w 1296133"/>
              <a:gd name="connsiteY3" fmla="*/ 1231995 h 1296133"/>
              <a:gd name="connsiteX4" fmla="*/ 1296133 w 1296133"/>
              <a:gd name="connsiteY4" fmla="*/ 1296133 h 1296133"/>
              <a:gd name="connsiteX5" fmla="*/ 0 w 1296133"/>
              <a:gd name="connsiteY5" fmla="*/ 1296133 h 1296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6133" h="1296133">
                <a:moveTo>
                  <a:pt x="0" y="0"/>
                </a:moveTo>
                <a:lnTo>
                  <a:pt x="63602" y="63602"/>
                </a:lnTo>
                <a:lnTo>
                  <a:pt x="63602" y="1231995"/>
                </a:lnTo>
                <a:lnTo>
                  <a:pt x="1231995" y="1231995"/>
                </a:lnTo>
                <a:lnTo>
                  <a:pt x="1296133" y="1296133"/>
                </a:lnTo>
                <a:lnTo>
                  <a:pt x="0" y="129613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2400"/>
          </a:p>
        </p:txBody>
      </p:sp>
      <p:sp>
        <p:nvSpPr>
          <p:cNvPr id="17" name="任意多边形 16"/>
          <p:cNvSpPr/>
          <p:nvPr/>
        </p:nvSpPr>
        <p:spPr>
          <a:xfrm>
            <a:off x="281032" y="3072964"/>
            <a:ext cx="3538728" cy="3538728"/>
          </a:xfrm>
          <a:custGeom>
            <a:avLst/>
            <a:gdLst>
              <a:gd name="connsiteX0" fmla="*/ 0 w 3538728"/>
              <a:gd name="connsiteY0" fmla="*/ 0 h 3538728"/>
              <a:gd name="connsiteX1" fmla="*/ 3538728 w 3538728"/>
              <a:gd name="connsiteY1" fmla="*/ 3538728 h 3538728"/>
              <a:gd name="connsiteX2" fmla="*/ 3405621 w 3538728"/>
              <a:gd name="connsiteY2" fmla="*/ 3538728 h 3538728"/>
              <a:gd name="connsiteX3" fmla="*/ 0 w 3538728"/>
              <a:gd name="connsiteY3" fmla="*/ 133107 h 3538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38728" h="3538728">
                <a:moveTo>
                  <a:pt x="0" y="0"/>
                </a:moveTo>
                <a:lnTo>
                  <a:pt x="3538728" y="3538728"/>
                </a:lnTo>
                <a:lnTo>
                  <a:pt x="3405621" y="3538728"/>
                </a:lnTo>
                <a:lnTo>
                  <a:pt x="0" y="133107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 sz="2400"/>
          </a:p>
        </p:txBody>
      </p:sp>
      <p:pic>
        <p:nvPicPr>
          <p:cNvPr id="76" name="手机铃声 - 别错过这类型带有强劲沉稳节奏的来电彩铃.mp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-918757" y="-67319"/>
            <a:ext cx="620779" cy="62077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729"/>
          <a:stretch>
            <a:fillRect/>
          </a:stretch>
        </p:blipFill>
        <p:spPr>
          <a:xfrm>
            <a:off x="9945416" y="79862"/>
            <a:ext cx="812708" cy="79807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63955" y="1848485"/>
            <a:ext cx="10857865" cy="1564005"/>
          </a:xfrm>
          <a:prstGeom prst="rect">
            <a:avLst/>
          </a:prstGeom>
        </p:spPr>
        <p:txBody>
          <a:bodyPr wrap="square">
            <a:noAutofit/>
          </a:bodyPr>
          <a:p>
            <a:pPr algn="ctr"/>
            <a:r>
              <a:rPr lang="zh-CN" altLang="en-US" sz="4000" b="1">
                <a:solidFill>
                  <a:srgbClr val="000000"/>
                </a:solidFill>
                <a:latin typeface="华文仿宋" panose="02010600040101010101" charset="-122"/>
                <a:ea typeface="华文仿宋" panose="02010600040101010101" charset="-122"/>
              </a:rPr>
              <a:t>图书销售综合管理与智能服务平台</a:t>
            </a:r>
            <a:endParaRPr lang="zh-CN" altLang="en-US" sz="4000" b="1">
              <a:solidFill>
                <a:srgbClr val="000000"/>
              </a:solidFill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74005" y="3530600"/>
            <a:ext cx="4915535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400">
                <a:solidFill>
                  <a:srgbClr val="000000"/>
                </a:solidFill>
                <a:latin typeface="华文仿宋" panose="02010600040101010101" charset="-122"/>
                <a:ea typeface="华文仿宋" panose="02010600040101010101" charset="-122"/>
              </a:rPr>
              <a:t>《数据库系统》课数据库设计实验</a:t>
            </a:r>
            <a:endParaRPr lang="zh-CN" altLang="en-US" sz="2400">
              <a:solidFill>
                <a:srgbClr val="000000"/>
              </a:solidFill>
              <a:latin typeface="华文仿宋" panose="02010600040101010101" charset="-122"/>
              <a:ea typeface="华文仿宋" panose="02010600040101010101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4864735" y="5090795"/>
            <a:ext cx="679450" cy="693420"/>
            <a:chOff x="1721162" y="4373847"/>
            <a:chExt cx="715716" cy="719823"/>
          </a:xfrm>
        </p:grpSpPr>
        <p:sp>
          <p:nvSpPr>
            <p:cNvPr id="8" name="Oval 28"/>
            <p:cNvSpPr/>
            <p:nvPr>
              <p:custDataLst>
                <p:tags r:id="rId5"/>
              </p:custDataLst>
            </p:nvPr>
          </p:nvSpPr>
          <p:spPr>
            <a:xfrm>
              <a:off x="1721162" y="4373847"/>
              <a:ext cx="715716" cy="71982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1735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24" name="Freeform 7"/>
            <p:cNvSpPr/>
            <p:nvPr>
              <p:custDataLst>
                <p:tags r:id="rId6"/>
              </p:custDataLst>
            </p:nvPr>
          </p:nvSpPr>
          <p:spPr bwMode="auto">
            <a:xfrm>
              <a:off x="1900092" y="4721918"/>
              <a:ext cx="357856" cy="207410"/>
            </a:xfrm>
            <a:custGeom>
              <a:avLst/>
              <a:gdLst>
                <a:gd name="T0" fmla="*/ 103 w 103"/>
                <a:gd name="T1" fmla="*/ 33 h 60"/>
                <a:gd name="T2" fmla="*/ 94 w 103"/>
                <a:gd name="T3" fmla="*/ 10 h 60"/>
                <a:gd name="T4" fmla="*/ 68 w 103"/>
                <a:gd name="T5" fmla="*/ 0 h 60"/>
                <a:gd name="T6" fmla="*/ 68 w 103"/>
                <a:gd name="T7" fmla="*/ 0 h 60"/>
                <a:gd name="T8" fmla="*/ 67 w 103"/>
                <a:gd name="T9" fmla="*/ 0 h 60"/>
                <a:gd name="T10" fmla="*/ 59 w 103"/>
                <a:gd name="T11" fmla="*/ 38 h 60"/>
                <a:gd name="T12" fmla="*/ 55 w 103"/>
                <a:gd name="T13" fmla="*/ 12 h 60"/>
                <a:gd name="T14" fmla="*/ 58 w 103"/>
                <a:gd name="T15" fmla="*/ 6 h 60"/>
                <a:gd name="T16" fmla="*/ 53 w 103"/>
                <a:gd name="T17" fmla="*/ 2 h 60"/>
                <a:gd name="T18" fmla="*/ 52 w 103"/>
                <a:gd name="T19" fmla="*/ 2 h 60"/>
                <a:gd name="T20" fmla="*/ 52 w 103"/>
                <a:gd name="T21" fmla="*/ 2 h 60"/>
                <a:gd name="T22" fmla="*/ 50 w 103"/>
                <a:gd name="T23" fmla="*/ 2 h 60"/>
                <a:gd name="T24" fmla="*/ 46 w 103"/>
                <a:gd name="T25" fmla="*/ 6 h 60"/>
                <a:gd name="T26" fmla="*/ 49 w 103"/>
                <a:gd name="T27" fmla="*/ 12 h 60"/>
                <a:gd name="T28" fmla="*/ 44 w 103"/>
                <a:gd name="T29" fmla="*/ 38 h 60"/>
                <a:gd name="T30" fmla="*/ 36 w 103"/>
                <a:gd name="T31" fmla="*/ 0 h 60"/>
                <a:gd name="T32" fmla="*/ 36 w 103"/>
                <a:gd name="T33" fmla="*/ 0 h 60"/>
                <a:gd name="T34" fmla="*/ 35 w 103"/>
                <a:gd name="T35" fmla="*/ 0 h 60"/>
                <a:gd name="T36" fmla="*/ 9 w 103"/>
                <a:gd name="T37" fmla="*/ 10 h 60"/>
                <a:gd name="T38" fmla="*/ 1 w 103"/>
                <a:gd name="T39" fmla="*/ 33 h 60"/>
                <a:gd name="T40" fmla="*/ 0 w 103"/>
                <a:gd name="T41" fmla="*/ 57 h 60"/>
                <a:gd name="T42" fmla="*/ 19 w 103"/>
                <a:gd name="T43" fmla="*/ 59 h 60"/>
                <a:gd name="T44" fmla="*/ 19 w 103"/>
                <a:gd name="T45" fmla="*/ 38 h 60"/>
                <a:gd name="T46" fmla="*/ 21 w 103"/>
                <a:gd name="T47" fmla="*/ 30 h 60"/>
                <a:gd name="T48" fmla="*/ 21 w 103"/>
                <a:gd name="T49" fmla="*/ 59 h 60"/>
                <a:gd name="T50" fmla="*/ 52 w 103"/>
                <a:gd name="T51" fmla="*/ 60 h 60"/>
                <a:gd name="T52" fmla="*/ 82 w 103"/>
                <a:gd name="T53" fmla="*/ 59 h 60"/>
                <a:gd name="T54" fmla="*/ 82 w 103"/>
                <a:gd name="T55" fmla="*/ 30 h 60"/>
                <a:gd name="T56" fmla="*/ 84 w 103"/>
                <a:gd name="T57" fmla="*/ 38 h 60"/>
                <a:gd name="T58" fmla="*/ 84 w 103"/>
                <a:gd name="T59" fmla="*/ 59 h 60"/>
                <a:gd name="T60" fmla="*/ 103 w 103"/>
                <a:gd name="T61" fmla="*/ 57 h 60"/>
                <a:gd name="T62" fmla="*/ 103 w 103"/>
                <a:gd name="T63" fmla="*/ 3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3" h="60">
                  <a:moveTo>
                    <a:pt x="103" y="33"/>
                  </a:moveTo>
                  <a:cubicBezTo>
                    <a:pt x="101" y="17"/>
                    <a:pt x="97" y="12"/>
                    <a:pt x="94" y="10"/>
                  </a:cubicBezTo>
                  <a:cubicBezTo>
                    <a:pt x="87" y="6"/>
                    <a:pt x="73" y="2"/>
                    <a:pt x="68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8" y="0"/>
                    <a:pt x="68" y="0"/>
                    <a:pt x="67" y="0"/>
                  </a:cubicBezTo>
                  <a:cubicBezTo>
                    <a:pt x="67" y="5"/>
                    <a:pt x="59" y="38"/>
                    <a:pt x="59" y="38"/>
                  </a:cubicBezTo>
                  <a:cubicBezTo>
                    <a:pt x="59" y="38"/>
                    <a:pt x="55" y="12"/>
                    <a:pt x="55" y="12"/>
                  </a:cubicBezTo>
                  <a:cubicBezTo>
                    <a:pt x="55" y="12"/>
                    <a:pt x="58" y="6"/>
                    <a:pt x="58" y="6"/>
                  </a:cubicBezTo>
                  <a:cubicBezTo>
                    <a:pt x="53" y="2"/>
                    <a:pt x="53" y="2"/>
                    <a:pt x="53" y="2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46" y="6"/>
                    <a:pt x="46" y="6"/>
                    <a:pt x="46" y="6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4" y="38"/>
                    <a:pt x="44" y="38"/>
                    <a:pt x="44" y="38"/>
                  </a:cubicBezTo>
                  <a:cubicBezTo>
                    <a:pt x="44" y="38"/>
                    <a:pt x="37" y="5"/>
                    <a:pt x="36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0"/>
                    <a:pt x="35" y="0"/>
                    <a:pt x="35" y="0"/>
                  </a:cubicBezTo>
                  <a:cubicBezTo>
                    <a:pt x="30" y="2"/>
                    <a:pt x="16" y="6"/>
                    <a:pt x="9" y="10"/>
                  </a:cubicBezTo>
                  <a:cubicBezTo>
                    <a:pt x="7" y="12"/>
                    <a:pt x="2" y="17"/>
                    <a:pt x="1" y="33"/>
                  </a:cubicBezTo>
                  <a:cubicBezTo>
                    <a:pt x="1" y="34"/>
                    <a:pt x="1" y="47"/>
                    <a:pt x="0" y="57"/>
                  </a:cubicBezTo>
                  <a:cubicBezTo>
                    <a:pt x="7" y="58"/>
                    <a:pt x="12" y="59"/>
                    <a:pt x="19" y="59"/>
                  </a:cubicBezTo>
                  <a:cubicBezTo>
                    <a:pt x="19" y="52"/>
                    <a:pt x="19" y="41"/>
                    <a:pt x="19" y="38"/>
                  </a:cubicBezTo>
                  <a:cubicBezTo>
                    <a:pt x="19" y="35"/>
                    <a:pt x="20" y="32"/>
                    <a:pt x="21" y="30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30" y="60"/>
                    <a:pt x="42" y="60"/>
                    <a:pt x="52" y="60"/>
                  </a:cubicBezTo>
                  <a:cubicBezTo>
                    <a:pt x="62" y="60"/>
                    <a:pt x="73" y="60"/>
                    <a:pt x="82" y="59"/>
                  </a:cubicBezTo>
                  <a:cubicBezTo>
                    <a:pt x="82" y="30"/>
                    <a:pt x="82" y="30"/>
                    <a:pt x="82" y="30"/>
                  </a:cubicBezTo>
                  <a:cubicBezTo>
                    <a:pt x="83" y="32"/>
                    <a:pt x="84" y="35"/>
                    <a:pt x="84" y="38"/>
                  </a:cubicBezTo>
                  <a:cubicBezTo>
                    <a:pt x="84" y="41"/>
                    <a:pt x="84" y="52"/>
                    <a:pt x="84" y="59"/>
                  </a:cubicBezTo>
                  <a:cubicBezTo>
                    <a:pt x="91" y="58"/>
                    <a:pt x="97" y="58"/>
                    <a:pt x="103" y="57"/>
                  </a:cubicBezTo>
                  <a:cubicBezTo>
                    <a:pt x="103" y="47"/>
                    <a:pt x="103" y="34"/>
                    <a:pt x="103" y="3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9" name="Freeform 8"/>
            <p:cNvSpPr/>
            <p:nvPr>
              <p:custDataLst>
                <p:tags r:id="rId7"/>
              </p:custDataLst>
            </p:nvPr>
          </p:nvSpPr>
          <p:spPr bwMode="auto">
            <a:xfrm>
              <a:off x="1998517" y="4531827"/>
              <a:ext cx="162560" cy="190091"/>
            </a:xfrm>
            <a:custGeom>
              <a:avLst/>
              <a:gdLst>
                <a:gd name="T0" fmla="*/ 4 w 52"/>
                <a:gd name="T1" fmla="*/ 25 h 61"/>
                <a:gd name="T2" fmla="*/ 0 w 52"/>
                <a:gd name="T3" fmla="*/ 29 h 61"/>
                <a:gd name="T4" fmla="*/ 5 w 52"/>
                <a:gd name="T5" fmla="*/ 39 h 61"/>
                <a:gd name="T6" fmla="*/ 26 w 52"/>
                <a:gd name="T7" fmla="*/ 61 h 61"/>
                <a:gd name="T8" fmla="*/ 47 w 52"/>
                <a:gd name="T9" fmla="*/ 39 h 61"/>
                <a:gd name="T10" fmla="*/ 52 w 52"/>
                <a:gd name="T11" fmla="*/ 29 h 61"/>
                <a:gd name="T12" fmla="*/ 48 w 52"/>
                <a:gd name="T13" fmla="*/ 25 h 61"/>
                <a:gd name="T14" fmla="*/ 26 w 52"/>
                <a:gd name="T15" fmla="*/ 0 h 61"/>
                <a:gd name="T16" fmla="*/ 4 w 52"/>
                <a:gd name="T17" fmla="*/ 25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61">
                  <a:moveTo>
                    <a:pt x="4" y="25"/>
                  </a:moveTo>
                  <a:cubicBezTo>
                    <a:pt x="2" y="25"/>
                    <a:pt x="0" y="27"/>
                    <a:pt x="0" y="29"/>
                  </a:cubicBezTo>
                  <a:cubicBezTo>
                    <a:pt x="0" y="33"/>
                    <a:pt x="2" y="39"/>
                    <a:pt x="5" y="39"/>
                  </a:cubicBezTo>
                  <a:cubicBezTo>
                    <a:pt x="8" y="51"/>
                    <a:pt x="15" y="61"/>
                    <a:pt x="26" y="61"/>
                  </a:cubicBezTo>
                  <a:cubicBezTo>
                    <a:pt x="37" y="61"/>
                    <a:pt x="44" y="51"/>
                    <a:pt x="47" y="39"/>
                  </a:cubicBezTo>
                  <a:cubicBezTo>
                    <a:pt x="50" y="38"/>
                    <a:pt x="52" y="33"/>
                    <a:pt x="52" y="29"/>
                  </a:cubicBezTo>
                  <a:cubicBezTo>
                    <a:pt x="51" y="27"/>
                    <a:pt x="50" y="26"/>
                    <a:pt x="48" y="25"/>
                  </a:cubicBezTo>
                  <a:cubicBezTo>
                    <a:pt x="48" y="11"/>
                    <a:pt x="39" y="0"/>
                    <a:pt x="26" y="0"/>
                  </a:cubicBezTo>
                  <a:cubicBezTo>
                    <a:pt x="13" y="0"/>
                    <a:pt x="4" y="11"/>
                    <a:pt x="4" y="2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544185" y="5606415"/>
            <a:ext cx="2511425" cy="177800"/>
          </a:xfrm>
          <a:prstGeom prst="rect">
            <a:avLst/>
          </a:prstGeom>
        </p:spPr>
      </p:pic>
      <p:sp>
        <p:nvSpPr>
          <p:cNvPr id="26" name="矩形 3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652135" y="5243195"/>
            <a:ext cx="228536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73" tIns="34287" rIns="68573" bIns="34287">
            <a:noAutofit/>
          </a:bodyPr>
          <a:p>
            <a:pPr algn="l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仲星焱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林圣翔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8392795" y="5091430"/>
            <a:ext cx="613410" cy="626745"/>
            <a:chOff x="8262191" y="4797280"/>
            <a:chExt cx="715716" cy="719823"/>
          </a:xfrm>
        </p:grpSpPr>
        <p:sp>
          <p:nvSpPr>
            <p:cNvPr id="38" name="Oval 28"/>
            <p:cNvSpPr/>
            <p:nvPr>
              <p:custDataLst>
                <p:tags r:id="rId11"/>
              </p:custDataLst>
            </p:nvPr>
          </p:nvSpPr>
          <p:spPr>
            <a:xfrm>
              <a:off x="8262191" y="4797280"/>
              <a:ext cx="715716" cy="71982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1735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39" name="Freeform 145"/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8509295" y="4988605"/>
              <a:ext cx="265683" cy="400701"/>
            </a:xfrm>
            <a:custGeom>
              <a:avLst/>
              <a:gdLst>
                <a:gd name="T0" fmla="*/ 92 w 122"/>
                <a:gd name="T1" fmla="*/ 98 h 184"/>
                <a:gd name="T2" fmla="*/ 80 w 122"/>
                <a:gd name="T3" fmla="*/ 55 h 184"/>
                <a:gd name="T4" fmla="*/ 111 w 122"/>
                <a:gd name="T5" fmla="*/ 73 h 184"/>
                <a:gd name="T6" fmla="*/ 122 w 122"/>
                <a:gd name="T7" fmla="*/ 117 h 184"/>
                <a:gd name="T8" fmla="*/ 92 w 122"/>
                <a:gd name="T9" fmla="*/ 98 h 184"/>
                <a:gd name="T10" fmla="*/ 31 w 122"/>
                <a:gd name="T11" fmla="*/ 36 h 184"/>
                <a:gd name="T12" fmla="*/ 18 w 122"/>
                <a:gd name="T13" fmla="*/ 0 h 184"/>
                <a:gd name="T14" fmla="*/ 80 w 122"/>
                <a:gd name="T15" fmla="*/ 0 h 184"/>
                <a:gd name="T16" fmla="*/ 67 w 122"/>
                <a:gd name="T17" fmla="*/ 36 h 184"/>
                <a:gd name="T18" fmla="*/ 31 w 122"/>
                <a:gd name="T19" fmla="*/ 36 h 184"/>
                <a:gd name="T20" fmla="*/ 67 w 122"/>
                <a:gd name="T21" fmla="*/ 43 h 184"/>
                <a:gd name="T22" fmla="*/ 89 w 122"/>
                <a:gd name="T23" fmla="*/ 112 h 184"/>
                <a:gd name="T24" fmla="*/ 90 w 122"/>
                <a:gd name="T25" fmla="*/ 112 h 184"/>
                <a:gd name="T26" fmla="*/ 89 w 122"/>
                <a:gd name="T27" fmla="*/ 113 h 184"/>
                <a:gd name="T28" fmla="*/ 98 w 122"/>
                <a:gd name="T29" fmla="*/ 141 h 184"/>
                <a:gd name="T30" fmla="*/ 49 w 122"/>
                <a:gd name="T31" fmla="*/ 184 h 184"/>
                <a:gd name="T32" fmla="*/ 0 w 122"/>
                <a:gd name="T33" fmla="*/ 141 h 184"/>
                <a:gd name="T34" fmla="*/ 31 w 122"/>
                <a:gd name="T35" fmla="*/ 43 h 184"/>
                <a:gd name="T36" fmla="*/ 67 w 122"/>
                <a:gd name="T37" fmla="*/ 43 h 184"/>
                <a:gd name="T38" fmla="*/ 55 w 122"/>
                <a:gd name="T39" fmla="*/ 55 h 184"/>
                <a:gd name="T40" fmla="*/ 43 w 122"/>
                <a:gd name="T41" fmla="*/ 55 h 184"/>
                <a:gd name="T42" fmla="*/ 35 w 122"/>
                <a:gd name="T43" fmla="*/ 81 h 184"/>
                <a:gd name="T44" fmla="*/ 56 w 122"/>
                <a:gd name="T45" fmla="*/ 60 h 184"/>
                <a:gd name="T46" fmla="*/ 55 w 122"/>
                <a:gd name="T47" fmla="*/ 55 h 184"/>
                <a:gd name="T48" fmla="*/ 49 w 122"/>
                <a:gd name="T49" fmla="*/ 166 h 184"/>
                <a:gd name="T50" fmla="*/ 80 w 122"/>
                <a:gd name="T51" fmla="*/ 135 h 184"/>
                <a:gd name="T52" fmla="*/ 77 w 122"/>
                <a:gd name="T53" fmla="*/ 125 h 184"/>
                <a:gd name="T54" fmla="*/ 43 w 122"/>
                <a:gd name="T55" fmla="*/ 160 h 184"/>
                <a:gd name="T56" fmla="*/ 49 w 122"/>
                <a:gd name="T57" fmla="*/ 166 h 184"/>
                <a:gd name="T58" fmla="*/ 33 w 122"/>
                <a:gd name="T59" fmla="*/ 149 h 184"/>
                <a:gd name="T60" fmla="*/ 72 w 122"/>
                <a:gd name="T61" fmla="*/ 110 h 184"/>
                <a:gd name="T62" fmla="*/ 68 w 122"/>
                <a:gd name="T63" fmla="*/ 98 h 184"/>
                <a:gd name="T64" fmla="*/ 25 w 122"/>
                <a:gd name="T65" fmla="*/ 141 h 184"/>
                <a:gd name="T66" fmla="*/ 33 w 122"/>
                <a:gd name="T67" fmla="*/ 149 h 184"/>
                <a:gd name="T68" fmla="*/ 21 w 122"/>
                <a:gd name="T69" fmla="*/ 128 h 184"/>
                <a:gd name="T70" fmla="*/ 64 w 122"/>
                <a:gd name="T71" fmla="*/ 84 h 184"/>
                <a:gd name="T72" fmla="*/ 61 w 122"/>
                <a:gd name="T73" fmla="*/ 73 h 184"/>
                <a:gd name="T74" fmla="*/ 27 w 122"/>
                <a:gd name="T75" fmla="*/ 106 h 184"/>
                <a:gd name="T76" fmla="*/ 21 w 122"/>
                <a:gd name="T77" fmla="*/ 128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22" h="184">
                  <a:moveTo>
                    <a:pt x="92" y="98"/>
                  </a:moveTo>
                  <a:lnTo>
                    <a:pt x="80" y="55"/>
                  </a:lnTo>
                  <a:lnTo>
                    <a:pt x="111" y="73"/>
                  </a:lnTo>
                  <a:lnTo>
                    <a:pt x="122" y="117"/>
                  </a:lnTo>
                  <a:lnTo>
                    <a:pt x="92" y="98"/>
                  </a:lnTo>
                  <a:close/>
                  <a:moveTo>
                    <a:pt x="31" y="36"/>
                  </a:moveTo>
                  <a:lnTo>
                    <a:pt x="18" y="0"/>
                  </a:lnTo>
                  <a:lnTo>
                    <a:pt x="80" y="0"/>
                  </a:lnTo>
                  <a:lnTo>
                    <a:pt x="67" y="36"/>
                  </a:lnTo>
                  <a:lnTo>
                    <a:pt x="31" y="36"/>
                  </a:lnTo>
                  <a:close/>
                  <a:moveTo>
                    <a:pt x="67" y="43"/>
                  </a:moveTo>
                  <a:lnTo>
                    <a:pt x="89" y="112"/>
                  </a:lnTo>
                  <a:lnTo>
                    <a:pt x="90" y="112"/>
                  </a:lnTo>
                  <a:lnTo>
                    <a:pt x="89" y="113"/>
                  </a:lnTo>
                  <a:lnTo>
                    <a:pt x="98" y="141"/>
                  </a:lnTo>
                  <a:lnTo>
                    <a:pt x="49" y="184"/>
                  </a:lnTo>
                  <a:lnTo>
                    <a:pt x="0" y="141"/>
                  </a:lnTo>
                  <a:lnTo>
                    <a:pt x="31" y="43"/>
                  </a:lnTo>
                  <a:lnTo>
                    <a:pt x="67" y="43"/>
                  </a:lnTo>
                  <a:close/>
                  <a:moveTo>
                    <a:pt x="55" y="55"/>
                  </a:moveTo>
                  <a:lnTo>
                    <a:pt x="43" y="55"/>
                  </a:lnTo>
                  <a:lnTo>
                    <a:pt x="35" y="81"/>
                  </a:lnTo>
                  <a:lnTo>
                    <a:pt x="56" y="60"/>
                  </a:lnTo>
                  <a:lnTo>
                    <a:pt x="55" y="55"/>
                  </a:lnTo>
                  <a:close/>
                  <a:moveTo>
                    <a:pt x="49" y="166"/>
                  </a:moveTo>
                  <a:lnTo>
                    <a:pt x="80" y="135"/>
                  </a:lnTo>
                  <a:lnTo>
                    <a:pt x="77" y="125"/>
                  </a:lnTo>
                  <a:lnTo>
                    <a:pt x="43" y="160"/>
                  </a:lnTo>
                  <a:lnTo>
                    <a:pt x="49" y="166"/>
                  </a:lnTo>
                  <a:close/>
                  <a:moveTo>
                    <a:pt x="33" y="149"/>
                  </a:moveTo>
                  <a:lnTo>
                    <a:pt x="72" y="110"/>
                  </a:lnTo>
                  <a:lnTo>
                    <a:pt x="68" y="98"/>
                  </a:lnTo>
                  <a:lnTo>
                    <a:pt x="25" y="141"/>
                  </a:lnTo>
                  <a:lnTo>
                    <a:pt x="33" y="149"/>
                  </a:lnTo>
                  <a:close/>
                  <a:moveTo>
                    <a:pt x="21" y="128"/>
                  </a:moveTo>
                  <a:lnTo>
                    <a:pt x="64" y="84"/>
                  </a:lnTo>
                  <a:lnTo>
                    <a:pt x="61" y="73"/>
                  </a:lnTo>
                  <a:lnTo>
                    <a:pt x="27" y="106"/>
                  </a:lnTo>
                  <a:lnTo>
                    <a:pt x="21" y="12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  <p:pic>
        <p:nvPicPr>
          <p:cNvPr id="18" name="图片 17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932545" y="5626100"/>
            <a:ext cx="2237105" cy="158115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9150350" y="5233035"/>
            <a:ext cx="1772920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2024.0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6</a:t>
            </a:r>
            <a:r>
              <a:rPr 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.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24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 advClick="0" advTm="14000">
        <p14:vortex dir="r"/>
      </p:transition>
    </mc:Choice>
    <mc:Fallback>
      <p:transition spd="slow" advClick="0" advTm="14000">
        <p:fade/>
      </p:transition>
    </mc:Fallback>
  </mc:AlternateContent>
  <p:timing>
    <p:tnLst>
      <p:par>
        <p:cTn id="1" dur="indefinite" restart="never" nodeType="tmRoot">
          <p:childTnLst>
            <p:audio>
              <p:cMediaNode vol="80000" numSld="20" showWhenStopped="0">
                <p:cTn id="2" repeatCount="indefinite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6"/>
                </p:tgtEl>
              </p:cMediaNode>
            </p:audio>
          </p:childTnLst>
        </p:cTn>
      </p:par>
    </p:tnLst>
    <p:bldLst>
      <p:bldP spid="16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1152000" y="288000"/>
            <a:ext cx="38404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系统应用背景概述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92" y="123667"/>
            <a:ext cx="2514152" cy="67329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61720" y="1392555"/>
            <a:ext cx="9776460" cy="453834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此项目为一个基于</a:t>
            </a:r>
            <a:r>
              <a:rPr lang="en-US" altLang="zh-CN" sz="1800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Flask</a:t>
            </a:r>
            <a:r>
              <a:rPr lang="zh-CN" altLang="en-US" sz="1800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框架</a:t>
            </a:r>
            <a:r>
              <a:rPr lang="zh-CN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构建的图书销售管理系统，它具备用户管理、书籍管理、订单管理、评论管理等功能。系统运用</a:t>
            </a:r>
            <a:r>
              <a:rPr lang="en-US" altLang="zh-CN" sz="1800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SQLAlchemy</a:t>
            </a:r>
            <a:r>
              <a:rPr lang="zh-CN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与</a:t>
            </a:r>
            <a:r>
              <a:rPr lang="en-US" altLang="zh-CN" sz="1800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PostgreSQL</a:t>
            </a:r>
            <a:r>
              <a:rPr lang="zh-CN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数据库交互，借助</a:t>
            </a:r>
            <a:r>
              <a:rPr lang="en-US" altLang="zh-CN" sz="1800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Flask-RESTful</a:t>
            </a:r>
            <a:r>
              <a:rPr lang="zh-CN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搭建</a:t>
            </a:r>
            <a:r>
              <a:rPr lang="en-US" altLang="zh-CN" sz="1800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RESTful API</a:t>
            </a:r>
            <a:r>
              <a:rPr lang="zh-CN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，</a:t>
            </a:r>
            <a:r>
              <a:rPr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能够全方位满足图书销售业务的管理需求</a:t>
            </a:r>
            <a:r>
              <a:rPr lang="zh-CN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。</a:t>
            </a:r>
            <a:endParaRPr lang="zh-CN" altLang="en-US" sz="1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93775" y="2724150"/>
            <a:ext cx="10048240" cy="371729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/>
            <a:r>
              <a:rPr lang="zh-CN" altLang="en-US" sz="1800" b="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该图书销售管理系统主要面向</a:t>
            </a:r>
            <a:r>
              <a:rPr lang="zh-CN" altLang="en-US" sz="1800" b="1" i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中小型图书销售企业或在线书店</a:t>
            </a:r>
            <a:r>
              <a:rPr lang="zh-CN" altLang="en-US" sz="1800" b="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，用户规模涵盖了从几千到数万不等的客户群体。</a:t>
            </a:r>
            <a:endParaRPr lang="zh-CN" altLang="en-US" sz="1800" b="0" i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/>
            <a:endParaRPr lang="zh-CN" altLang="en-US" sz="1800" b="0" i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>
              <a:buNone/>
            </a:pPr>
            <a:r>
              <a:rPr lang="zh-CN" altLang="en-US" sz="1800" b="1" i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普通用户（顾客）</a:t>
            </a:r>
            <a:endParaRPr lang="zh-CN" altLang="en-US" sz="1800" b="1" i="0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>
              <a:buNone/>
            </a:pPr>
            <a:r>
              <a:rPr lang="zh-CN" altLang="en-US" sz="1800" b="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他们是系统的主要使用者，数量较多。普通用户可以通过系统浏览书籍信息、下单购买书籍、对购买的书籍进行评价等。随着业务的发展，普通用户的数量可能会不断增长。</a:t>
            </a:r>
            <a:endParaRPr lang="zh-CN" altLang="en-US" sz="1800" b="0" i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>
              <a:buAutoNum type="arabicPeriod"/>
            </a:pPr>
            <a:endParaRPr lang="zh-CN" altLang="en-US" sz="1800" b="0" i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>
              <a:buNone/>
            </a:pPr>
            <a:r>
              <a:rPr lang="zh-CN" altLang="en-US" sz="1800" b="1" i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管理员用户</a:t>
            </a:r>
            <a:endParaRPr lang="zh-CN" altLang="en-US" sz="1800" b="1" i="0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>
              <a:buNone/>
            </a:pPr>
            <a:r>
              <a:rPr lang="zh-CN" altLang="en-US" sz="1800" b="0" i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数量相对较少，通常只有企业内部的少数工作人员担任。管理员负责系统的日常维护和管理，包括书籍信息的添加、修改和删除，订单的处理，用户信息的管理等。</a:t>
            </a:r>
            <a:endParaRPr lang="zh-CN" altLang="en-US" sz="1800" b="0" i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>
              <a:spcAft>
                <a:spcPct val="60000"/>
              </a:spcAft>
            </a:pPr>
            <a:endParaRPr lang="zh-CN" altLang="en-US" sz="1600" b="0" i="0">
              <a:solidFill>
                <a:srgbClr val="000000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1152000" y="288000"/>
            <a:ext cx="38404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系统应用背景概述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92" y="123667"/>
            <a:ext cx="2514152" cy="67329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48665" y="1287145"/>
            <a:ext cx="24739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spcAft>
                <a:spcPct val="60000"/>
              </a:spcAft>
            </a:pPr>
            <a:r>
              <a:rPr lang="zh-CN" altLang="en-US" sz="20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系统的组织结构图</a:t>
            </a:r>
            <a:endParaRPr lang="zh-CN" altLang="en-US" sz="2000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pic>
        <p:nvPicPr>
          <p:cNvPr id="3" name="图片 2" descr="系统的组织结构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625" y="933450"/>
            <a:ext cx="5812155" cy="30702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48665" y="4149090"/>
            <a:ext cx="1040511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/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该系统采用分层架构设计，主要分为以下几个层次：</a:t>
            </a:r>
            <a:endParaRPr lang="zh-CN" altLang="en-US" sz="1800" b="0" i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>
              <a:buNone/>
            </a:pPr>
            <a:r>
              <a:rPr lang="zh-CN" altLang="en-US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表现层（API 层）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负责接收客户端的请求，并将处理结果返回给客户端。使用 Flask-RESTful 框架构建 RESTful API，提供用户认证、书籍管理、订单管理等接口。</a:t>
            </a:r>
            <a:endParaRPr lang="zh-CN" altLang="en-US" sz="1800" b="0" i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>
              <a:buNone/>
            </a:pPr>
            <a:r>
              <a:rPr lang="zh-CN" altLang="en-US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业务逻辑层（服务层）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处理具体的业务逻辑，如书籍的创建、更新和删除，订单的创建、更新和删除等。服务层调用数据访问层的接口来实现数据的持久化。</a:t>
            </a:r>
            <a:endParaRPr lang="zh-CN" altLang="en-US" sz="1800" b="0" i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>
              <a:buNone/>
            </a:pPr>
            <a:r>
              <a:rPr lang="zh-CN" altLang="en-US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数据访问层（模型层）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负责与数据库进行交互，包括数据的增删改查操作。使用 SQLAlchemy 作为 ORM 工具，将数据库表映射为 Python 类，方便进行数据库操作。</a:t>
            </a:r>
            <a:endParaRPr lang="zh-CN" altLang="en-US" sz="1800" b="0" i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>
              <a:buNone/>
            </a:pPr>
            <a:r>
              <a:rPr lang="zh-CN" altLang="en-US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数据库层</a:t>
            </a:r>
            <a:r>
              <a:rPr lang="en-US" altLang="zh-CN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存储系统的所有数据，使用 PostgreSQL 作为数据库管理系统。数据库中包含了用户信息、书籍信息、订单信息、评论信息等多个表。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1152000" y="288000"/>
            <a:ext cx="5212080" cy="13093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需求分析：</a:t>
            </a:r>
            <a:r>
              <a:rPr lang="zh-CN" altLang="en-US" sz="3600" b="1" kern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待解决的问题</a:t>
            </a:r>
            <a:endParaRPr lang="zh-CN" altLang="en-US" sz="36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92" y="123667"/>
            <a:ext cx="2514152" cy="67329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207770" y="1747520"/>
            <a:ext cx="9776460" cy="453834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①</a:t>
            </a:r>
            <a:r>
              <a:rPr lang="zh-CN" altLang="en-US" sz="1800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图书信息管理混乱</a:t>
            </a:r>
            <a:r>
              <a:rPr lang="zh-CN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：图书种类繁多，信息分散，难以有效管理图书的详细信息（如ISBN 编号、价格、库存等），导致查找和更新信息困难。 </a:t>
            </a:r>
            <a:endParaRPr lang="zh-CN" altLang="en-US" sz="1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②</a:t>
            </a:r>
            <a:r>
              <a:rPr lang="zh-CN" altLang="en-US" sz="1800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图书分类不清晰</a:t>
            </a:r>
            <a:r>
              <a:rPr lang="zh-CN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：缺乏统一、明确的图书分类体系，使得用户在查找特定类型图书时效率低下，也不利于网站对图书进行分类管理和推荐。</a:t>
            </a:r>
            <a:endParaRPr lang="zh-CN" altLang="en-US" sz="1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③</a:t>
            </a:r>
            <a:r>
              <a:rPr lang="zh-CN" altLang="en-US" sz="1800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出版社供应管理不便</a:t>
            </a:r>
            <a:r>
              <a:rPr lang="zh-CN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：无法准确掌握不同出版社对各种图书的供应数量，可能导致库存不足或积压，影响销售和运营成本。</a:t>
            </a:r>
            <a:endParaRPr lang="zh-CN" altLang="en-US" sz="1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④</a:t>
            </a:r>
            <a:r>
              <a:rPr lang="zh-CN" altLang="en-US" sz="1800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客户信息管理无序</a:t>
            </a:r>
            <a:r>
              <a:rPr lang="zh-CN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：客户信息分散，难以对客户进行精准营销和服务，如无法根据客户的购买历史和偏好提供个性化推荐，也难以管理客户的账户余额和登录信息。</a:t>
            </a:r>
            <a:endParaRPr lang="zh-CN" altLang="en-US" sz="1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⑤</a:t>
            </a:r>
            <a:r>
              <a:rPr lang="zh-CN" altLang="en-US" sz="1800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订单处理效率低</a:t>
            </a:r>
            <a:r>
              <a:rPr lang="zh-CN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：订单流程不规范，容易出现订单丢失、处理不及时等问题，影响客户体验和销售效率。</a:t>
            </a:r>
            <a:endParaRPr lang="zh-CN" altLang="en-US" sz="1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1152000" y="288000"/>
            <a:ext cx="443357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kern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需求分析：功能需求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92" y="123667"/>
            <a:ext cx="2514152" cy="67329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42975" y="1297305"/>
            <a:ext cx="10452100" cy="549275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①</a:t>
            </a:r>
            <a:r>
              <a:rPr lang="zh-CN" altLang="en-US" sz="1800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图书信息管理功能</a:t>
            </a:r>
            <a:r>
              <a:rPr lang="zh-CN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：</a:t>
            </a:r>
            <a:endParaRPr lang="en-US" altLang="zh-CN" sz="1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- </a:t>
            </a:r>
            <a:r>
              <a:rPr lang="zh-CN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能够添加、修改、删除图书的基本信息，包括</a:t>
            </a:r>
            <a:r>
              <a:rPr lang="en-US" altLang="zh-CN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ISBN </a:t>
            </a:r>
            <a:r>
              <a:rPr lang="zh-CN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编号、书名、价格、作者、出版社、出版时间、库存数量等。</a:t>
            </a:r>
            <a:r>
              <a:rPr lang="en-US" altLang="zh-CN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  <a:endParaRPr lang="en-US" altLang="zh-CN" sz="1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- </a:t>
            </a:r>
            <a:r>
              <a:rPr lang="zh-CN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支持根据各种条件（如书名、作者、出版社等）查询图书信息。</a:t>
            </a:r>
            <a:r>
              <a:rPr lang="en-US" altLang="zh-CN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  <a:endParaRPr lang="en-US" altLang="zh-CN" sz="1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- </a:t>
            </a:r>
            <a:r>
              <a:rPr lang="zh-CN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实时更新图书库存数量，当库存数量低于一定阈值时发出预警。</a:t>
            </a:r>
            <a:endParaRPr lang="zh-CN" altLang="en-US" sz="1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②</a:t>
            </a:r>
            <a:r>
              <a:rPr lang="zh-CN" altLang="en-US" sz="1800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图书分类管理功能</a:t>
            </a:r>
            <a:r>
              <a:rPr lang="zh-CN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：</a:t>
            </a:r>
            <a:endParaRPr lang="en-US" altLang="zh-CN" sz="1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- </a:t>
            </a:r>
            <a:r>
              <a:rPr lang="zh-CN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可以添加、修改、删除图书类别信息，包括类别编号、类别名称、类别描述等。</a:t>
            </a:r>
            <a:r>
              <a:rPr lang="en-US" altLang="zh-CN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  <a:endParaRPr lang="en-US" altLang="zh-CN" sz="1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- </a:t>
            </a:r>
            <a:r>
              <a:rPr lang="zh-CN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将图书准确归类到相应的类别中，方便用户按类别浏览和搜索图书。</a:t>
            </a:r>
            <a:r>
              <a:rPr lang="en-US" altLang="zh-CN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  <a:endParaRPr lang="en-US" altLang="zh-CN" sz="1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③</a:t>
            </a:r>
            <a:r>
              <a:rPr lang="zh-CN" altLang="en-US" sz="1800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客户信息管理功能</a:t>
            </a:r>
            <a:r>
              <a:rPr lang="en-US" altLang="zh-CN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  <a:endParaRPr lang="en-US" altLang="zh-CN" sz="1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- </a:t>
            </a:r>
            <a:r>
              <a:rPr lang="zh-CN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允许客户注册、登录，记录客户的基本信息，如客户编号、客户名、密码、注册日期、登录次数、账户余额等。</a:t>
            </a:r>
            <a:r>
              <a:rPr lang="en-US" altLang="zh-CN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  <a:endParaRPr lang="en-US" altLang="zh-CN" sz="1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- </a:t>
            </a:r>
            <a:r>
              <a:rPr lang="zh-CN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支持修改客户信息，如密码、账户余额等。</a:t>
            </a:r>
            <a:r>
              <a:rPr lang="en-US" altLang="zh-CN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  <a:endParaRPr lang="en-US" altLang="zh-CN" sz="1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- </a:t>
            </a:r>
            <a:r>
              <a:rPr lang="zh-CN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根据客户的购买历史和偏好，提供个性化的图书推荐服务。</a:t>
            </a:r>
            <a:r>
              <a:rPr lang="en-US" altLang="zh-CN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  <a:endParaRPr lang="en-US" altLang="zh-CN" sz="1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④</a:t>
            </a:r>
            <a:r>
              <a:rPr lang="zh-CN" altLang="en-US" sz="1800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订单管理功能</a:t>
            </a:r>
            <a:endParaRPr lang="en-US" altLang="zh-CN" sz="1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- </a:t>
            </a:r>
            <a:r>
              <a:rPr lang="zh-CN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客户可以创建订单，选择购买的图书种类和数量。</a:t>
            </a:r>
            <a:r>
              <a:rPr lang="en-US" altLang="zh-CN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  <a:endParaRPr lang="en-US" altLang="zh-CN" sz="1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- </a:t>
            </a:r>
            <a:r>
              <a:rPr lang="zh-CN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系统自动计算订单总金额，并从客户账户余额中扣除相应金额（如果余额不足，提示客户充值）。</a:t>
            </a:r>
            <a:r>
              <a:rPr lang="en-US" altLang="zh-CN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  <a:endParaRPr lang="en-US" altLang="zh-CN" sz="1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- </a:t>
            </a:r>
            <a:r>
              <a:rPr lang="zh-CN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跟踪订单状态，包括已下单、已支付、已发货、已完成等，并及时通知客户订单状态的变化。</a:t>
            </a:r>
            <a:endParaRPr lang="zh-CN" altLang="en-US" sz="1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- </a:t>
            </a:r>
            <a:r>
              <a:rPr lang="zh-CN" altLang="en-US" sz="1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支持订单查询和订单历史记录查看。</a:t>
            </a:r>
            <a:endParaRPr lang="zh-CN" altLang="en-US" sz="1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1152000" y="288000"/>
            <a:ext cx="534797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kern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需求分析：</a:t>
            </a:r>
            <a:r>
              <a:rPr lang="zh-CN" altLang="en-US" sz="3600" b="1" kern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核心业务流程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92" y="123667"/>
            <a:ext cx="2514152" cy="673296"/>
          </a:xfrm>
          <a:prstGeom prst="rect">
            <a:avLst/>
          </a:prstGeom>
        </p:spPr>
      </p:pic>
      <p:pic>
        <p:nvPicPr>
          <p:cNvPr id="39" name="图片 39" descr="核心业务流程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395" y="1285240"/>
            <a:ext cx="8387080" cy="52431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1152000" y="288000"/>
            <a:ext cx="489077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kern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需求分析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：数据流程图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92" y="123667"/>
            <a:ext cx="2514152" cy="673296"/>
          </a:xfrm>
          <a:prstGeom prst="rect">
            <a:avLst/>
          </a:prstGeom>
        </p:spPr>
      </p:pic>
      <p:pic>
        <p:nvPicPr>
          <p:cNvPr id="5" name="图片 5" descr="数据流程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135" y="1353185"/>
            <a:ext cx="6953885" cy="51447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1152000" y="288000"/>
            <a:ext cx="4299585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数据库设计：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E-R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图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92" y="123667"/>
            <a:ext cx="2514152" cy="673296"/>
          </a:xfrm>
          <a:prstGeom prst="rect">
            <a:avLst/>
          </a:prstGeom>
        </p:spPr>
      </p:pic>
      <p:pic>
        <p:nvPicPr>
          <p:cNvPr id="8" name="图片 8" descr="E-R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30" y="1180465"/>
            <a:ext cx="6451600" cy="5551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1152000" y="288000"/>
            <a:ext cx="489077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数据库设计：关系模型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92" y="123667"/>
            <a:ext cx="2514152" cy="673296"/>
          </a:xfrm>
          <a:prstGeom prst="rect">
            <a:avLst/>
          </a:prstGeom>
        </p:spPr>
      </p:pic>
      <p:pic>
        <p:nvPicPr>
          <p:cNvPr id="27" name="图片 27" descr="booksales"/>
          <p:cNvPicPr>
            <a:picLocks noChangeAspect="1"/>
          </p:cNvPicPr>
          <p:nvPr/>
        </p:nvPicPr>
        <p:blipFill>
          <a:blip r:embed="rId2"/>
          <a:srcRect t="1159" b="5651"/>
          <a:stretch>
            <a:fillRect/>
          </a:stretch>
        </p:blipFill>
        <p:spPr>
          <a:xfrm>
            <a:off x="2652395" y="933450"/>
            <a:ext cx="7290435" cy="5648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1152000" y="288000"/>
            <a:ext cx="214757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系统实现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92" y="123667"/>
            <a:ext cx="2514152" cy="673296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958850" y="1844675"/>
            <a:ext cx="5080000" cy="31692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en-US" altLang="zh-CN" sz="2000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技术支持</a:t>
            </a:r>
            <a:endParaRPr lang="en-US" altLang="zh-CN" sz="2000"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/>
            <a:r>
              <a:rPr lang="en-US" altLang="zh-CN" sz="2000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（1）后台框架：Flask（2）前端框架：Vue3（3）后端工具：</a:t>
            </a:r>
            <a:r>
              <a:rPr lang="en-US" altLang="zh-CN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Visual Studio Code</a:t>
            </a:r>
            <a:r>
              <a:rPr lang="en-US" altLang="zh-CN" sz="2000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（4）前端工具：Visual Studio Code（5）数据库：Postgres（6）数据库工具：pgAdmin 4（7）编程语言：Python3（8）架构：B/S</a:t>
            </a:r>
            <a:endParaRPr lang="en-US" altLang="zh-CN" sz="2000"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83375" y="1737995"/>
            <a:ext cx="50800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en-US" altLang="zh-CN" sz="2000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系统整体框架</a:t>
            </a:r>
            <a:endParaRPr lang="en-US" altLang="zh-CN" sz="2000"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33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2378" y="2260283"/>
            <a:ext cx="5271135" cy="2948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1152000" y="288000"/>
            <a:ext cx="4754880" cy="13093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系统实现：</a:t>
            </a:r>
            <a:r>
              <a:rPr lang="zh-CN" altLang="en-US" sz="3600" b="1" kern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数据集简介</a:t>
            </a:r>
            <a:endParaRPr lang="zh-CN" altLang="en-US" sz="36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92" y="123667"/>
            <a:ext cx="2514152" cy="67329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08050" y="1478280"/>
            <a:ext cx="1045273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豆瓣图书元数据及评分数据集（douban_books.csv）     豆瓣读书（通过合规网络爬虫采集）</a:t>
            </a:r>
            <a:endParaRPr lang="zh-CN" altLang="en-US" sz="2000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08050" y="2274570"/>
            <a:ext cx="462661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 altLang="zh-CN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24890" y="1947545"/>
            <a:ext cx="5082540" cy="4831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基础信息</a:t>
            </a:r>
            <a:r>
              <a:rPr lang="en-US" altLang="zh-CN" sz="1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		</a:t>
            </a:r>
            <a:endParaRPr lang="en-US" altLang="zh-CN" sz="1400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book_id 豆瓣图书唯一标识符</a:t>
            </a:r>
            <a:endParaRPr lang="en-US" altLang="zh-CN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title   书籍正式中文标题</a:t>
            </a:r>
            <a:endParaRPr lang="en-US" altLang="zh-CN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original_title   外文书籍原版标题</a:t>
            </a:r>
            <a:endParaRPr lang="en-US" altLang="zh-CN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img_src    高清封面图片资源地址</a:t>
            </a:r>
            <a:endParaRPr lang="en-US" altLang="zh-CN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1400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出版信息</a:t>
            </a:r>
            <a:r>
              <a:rPr lang="en-US" altLang="zh-CN" sz="1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		</a:t>
            </a:r>
            <a:endParaRPr lang="en-US" altLang="zh-CN" sz="1400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buClrTx/>
              <a:buSzTx/>
              <a:buNone/>
            </a:pP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author	作者/编者</a:t>
            </a:r>
            <a:endParaRPr lang="en-US" altLang="zh-CN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buClrTx/>
              <a:buSzTx/>
              <a:buNone/>
            </a:pP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translator   译者信息</a:t>
            </a:r>
            <a:endParaRPr lang="en-US" altLang="zh-CN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buClrTx/>
              <a:buSzTx/>
              <a:buNone/>
            </a:pP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publisher    出版社全称（含地域标识）</a:t>
            </a:r>
            <a:endParaRPr lang="en-US" altLang="zh-CN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buClrTx/>
              <a:buSzTx/>
              <a:buNone/>
            </a:pP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producer 	出品方/制作公司</a:t>
            </a:r>
            <a:endParaRPr lang="en-US" altLang="zh-CN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buClrTx/>
              <a:buSzTx/>
              <a:buNone/>
            </a:pP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publication_year	最新版次发行年份</a:t>
            </a:r>
            <a:endParaRPr lang="en-US" altLang="zh-CN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buClrTx/>
              <a:buSzTx/>
              <a:buNone/>
            </a:pP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binding	装帧类型（平装/精装/线装等</a:t>
            </a: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）</a:t>
            </a:r>
            <a:endParaRPr lang="zh-CN" altLang="en-US" sz="1400" b="1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r>
              <a:rPr lang="zh-CN" altLang="en-US" sz="1400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商品属性</a:t>
            </a:r>
            <a:r>
              <a:rPr lang="en-US" altLang="zh-CN" sz="1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		</a:t>
            </a:r>
            <a:endParaRPr lang="en-US" altLang="zh-CN" sz="1400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buClrTx/>
              <a:buSzTx/>
              <a:buNone/>
            </a:pP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isbn	国际标准书号（ISBN-13格式，含校验位）</a:t>
            </a:r>
            <a:endParaRPr lang="en-US" altLang="zh-CN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buClrTx/>
              <a:buSzTx/>
              <a:buNone/>
            </a:pP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page_count    总页数（含前言、附录等）</a:t>
            </a:r>
            <a:endParaRPr lang="en-US" altLang="zh-CN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buClrTx/>
              <a:buSzTx/>
              <a:buNone/>
            </a:pP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price	官方定价（人民币单位，可能需通胀调整）</a:t>
            </a:r>
            <a:endParaRPr lang="en-US" altLang="zh-CN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buClrTx/>
              <a:buSzTx/>
              <a:buNone/>
            </a:pP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series	丛书归属信息（丛书名+编号格式）</a:t>
            </a:r>
            <a:endParaRPr lang="en-US" altLang="zh-CN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1400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评价体系</a:t>
            </a:r>
            <a:r>
              <a:rPr lang="en-US" altLang="zh-CN" sz="1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		</a:t>
            </a:r>
            <a:endParaRPr lang="en-US" altLang="zh-CN" sz="1400" b="1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rating	</a:t>
            </a: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综合评分（区间：</a:t>
            </a: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1.0-10.0</a:t>
            </a: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，基于加权算法）</a:t>
            </a:r>
            <a:endParaRPr lang="zh-CN" altLang="en-US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rating_sum    </a:t>
            </a: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参与评分总人数（置信度指标）</a:t>
            </a:r>
            <a:endParaRPr lang="zh-CN" altLang="en-US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stars[5-1]_starstop   </a:t>
            </a: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各星级评分占比（</a:t>
            </a: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5</a:t>
            </a: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星至</a:t>
            </a: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</a:t>
            </a: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星，总和约</a:t>
            </a: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100%</a:t>
            </a: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）</a:t>
            </a:r>
            <a:endParaRPr lang="zh-CN" altLang="en-US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comment_link	</a:t>
            </a: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完整书评页面入口</a:t>
            </a:r>
            <a:endParaRPr lang="zh-CN" altLang="en-US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pic>
        <p:nvPicPr>
          <p:cNvPr id="5" name="图片 1" descr="IMG_256"/>
          <p:cNvPicPr>
            <a:picLocks noChangeAspect="1"/>
          </p:cNvPicPr>
          <p:nvPr/>
        </p:nvPicPr>
        <p:blipFill>
          <a:blip r:embed="rId2"/>
          <a:srcRect l="58892" t="7841" r="1227" b="8272"/>
          <a:stretch>
            <a:fillRect/>
          </a:stretch>
        </p:blipFill>
        <p:spPr>
          <a:xfrm>
            <a:off x="6928485" y="1994535"/>
            <a:ext cx="3839210" cy="478409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1152000" y="288000"/>
            <a:ext cx="4754880" cy="13093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系统实现：</a:t>
            </a:r>
            <a:r>
              <a:rPr lang="zh-CN" altLang="en-US" sz="3600" b="1" kern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数据集简介</a:t>
            </a:r>
            <a:endParaRPr lang="zh-CN" altLang="en-US" sz="36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92" y="123667"/>
            <a:ext cx="2514152" cy="67329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13080" y="1370965"/>
            <a:ext cx="9638030" cy="3536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图书评论分析数据集（bookreviews_processed.csv）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来源于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Kaggle 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平台公开数据集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995" y="2006600"/>
            <a:ext cx="7379970" cy="40728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663825" y="6410325"/>
            <a:ext cx="9528175" cy="4476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ym typeface="+mn-ea"/>
              </a:rPr>
              <a:t>https://www.kaggle.com/datasets/fengzhujoey/douban-datasetratingreviewside-information</a:t>
            </a:r>
            <a:endParaRPr lang="en-US" altLang="zh-CN"/>
          </a:p>
          <a:p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513080" y="1794510"/>
            <a:ext cx="4159250" cy="36480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10000"/>
              </a:lnSpc>
            </a:pPr>
            <a:r>
              <a:rPr lang="zh-CN" altLang="en-US" sz="1400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用户标识（</a:t>
            </a:r>
            <a:r>
              <a:rPr lang="en-US" altLang="zh-CN" sz="1400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user_id</a:t>
            </a:r>
            <a:r>
              <a:rPr lang="zh-CN" altLang="en-US" sz="1400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）</a:t>
            </a:r>
            <a:endParaRPr lang="en-US" altLang="zh-CN" sz="1400" b="1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用户唯一编号，用于匿名化追踪个体行为</a:t>
            </a:r>
            <a:endParaRPr lang="en-US" altLang="zh-CN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11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图书标识（book_id）</a:t>
            </a:r>
            <a:endParaRPr lang="zh-CN" altLang="en-US" sz="1400" b="1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书籍唯一编号，关联图书元数据（如书名、作者等）</a:t>
            </a:r>
            <a:endParaRPr lang="en-US" altLang="zh-CN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11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评分（rating）</a:t>
            </a:r>
            <a:endParaRPr lang="zh-CN" altLang="en-US" sz="1400" b="1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用户对书籍的整数评分（常见范围：</a:t>
            </a: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1-5 </a:t>
            </a: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分或</a:t>
            </a: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1-10 </a:t>
            </a: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分）</a:t>
            </a:r>
            <a:endParaRPr lang="en-US" altLang="zh-CN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11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标签（labels）</a:t>
            </a:r>
            <a:endParaRPr lang="zh-CN" altLang="en-US" sz="1400" b="1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评论的多维分类标签（如体裁、情感倾向、阅读场景等）</a:t>
            </a:r>
            <a:endParaRPr lang="en-US" altLang="zh-CN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11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评论文本（comment）</a:t>
            </a:r>
            <a:endParaRPr lang="zh-CN" altLang="en-US" sz="1400" b="1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用户撰写的自由文本评论，可用于文本挖掘与语义分析</a:t>
            </a:r>
            <a:endParaRPr lang="en-US" altLang="zh-CN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11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时间戳（time）</a:t>
            </a:r>
            <a:endParaRPr lang="zh-CN" altLang="en-US" sz="1400" b="1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评论提交的时间记录（格式可能为</a:t>
            </a:r>
            <a:r>
              <a:rPr lang="en-US" altLang="zh-CN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Unix </a:t>
            </a: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时间戳或标准日期）</a:t>
            </a:r>
            <a:endParaRPr lang="en-US" altLang="zh-CN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11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唯一标识（ID）</a:t>
            </a:r>
            <a:endParaRPr lang="zh-CN" altLang="en-US" sz="1400" b="1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1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每条评论的唯一流水号，用于数据去重与索引</a:t>
            </a:r>
            <a:endParaRPr lang="zh-CN" altLang="en-US" sz="1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1152000" y="288000"/>
            <a:ext cx="4297680" cy="13093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系统实现：</a:t>
            </a:r>
            <a:r>
              <a:rPr lang="zh-CN" altLang="en-US" sz="3600" b="1" kern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数据处理</a:t>
            </a:r>
            <a:endParaRPr lang="zh-CN" altLang="en-US" sz="36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92" y="123667"/>
            <a:ext cx="2514152" cy="67329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42340" y="963930"/>
            <a:ext cx="1045273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/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通过import_data/import.py创建数据库表、导入出版社、用户、书籍和评论数据，完成整个数据导入过程。</a:t>
            </a:r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9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845" y="1965960"/>
            <a:ext cx="4137025" cy="189611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文本框 99"/>
          <p:cNvSpPr txBox="1"/>
          <p:nvPr/>
        </p:nvSpPr>
        <p:spPr>
          <a:xfrm>
            <a:off x="1960245" y="1597660"/>
            <a:ext cx="216471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sz="2000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启动postgres</a:t>
            </a:r>
            <a:endParaRPr lang="zh-CN" altLang="en-US" sz="2000"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518275" y="1597660"/>
            <a:ext cx="503682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sz="2000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在import_data路径下运行python3 import.py</a:t>
            </a:r>
            <a:endParaRPr lang="en-US" altLang="en-US" b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15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295" y="1915795"/>
            <a:ext cx="4041775" cy="19462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3329305" y="3930015"/>
            <a:ext cx="619696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sz="2000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全部导入完成后，通过pgAdmin 4查看相关内容</a:t>
            </a:r>
            <a:endParaRPr lang="zh-CN" altLang="en-US" b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3460" y="1965960"/>
            <a:ext cx="1479550" cy="108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图片 8"/>
          <p:cNvPicPr>
            <a:picLocks noChangeAspect="1"/>
          </p:cNvPicPr>
          <p:nvPr/>
        </p:nvPicPr>
        <p:blipFill>
          <a:blip r:embed="rId5"/>
          <a:srcRect b="745"/>
          <a:stretch>
            <a:fillRect/>
          </a:stretch>
        </p:blipFill>
        <p:spPr>
          <a:xfrm>
            <a:off x="9903460" y="3256915"/>
            <a:ext cx="1490980" cy="605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845" y="4330700"/>
            <a:ext cx="3282950" cy="175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1660" y="4330700"/>
            <a:ext cx="4071620" cy="176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图片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6145" y="4330700"/>
            <a:ext cx="2717165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26145" y="5227320"/>
            <a:ext cx="2717165" cy="7524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1045210" y="6136640"/>
            <a:ext cx="1011174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当前的图书管理系统已收录</a:t>
            </a:r>
            <a:r>
              <a:rPr lang="zh-CN" altLang="en-US" sz="20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86426</a:t>
            </a:r>
            <a:r>
              <a:rPr lang="zh-CN" altLang="en-US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本图书，拥有</a:t>
            </a:r>
            <a:r>
              <a:rPr lang="zh-CN" altLang="en-US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2212</a:t>
            </a:r>
            <a:r>
              <a:rPr lang="zh-CN" altLang="en-US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名用户，并积累了</a:t>
            </a:r>
            <a:r>
              <a:rPr lang="zh-CN" altLang="en-US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188980</a:t>
            </a:r>
            <a:r>
              <a:rPr lang="zh-CN" altLang="en-US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条评论数据。</a:t>
            </a:r>
            <a:endParaRPr lang="zh-CN" altLang="en-US"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1152000" y="288000"/>
            <a:ext cx="351917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系统实现：后端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92" y="123667"/>
            <a:ext cx="2514152" cy="673296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1064895" y="2379980"/>
            <a:ext cx="10357485" cy="18440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indent="0"/>
            <a:r>
              <a:rPr lang="zh-CN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项目配置</a:t>
            </a:r>
            <a:r>
              <a:rPr lang="en-US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(app/config.py)</a:t>
            </a:r>
            <a:endParaRPr lang="en-US" b="1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/>
            <a:r>
              <a:rPr lang="en-US" altLang="en-US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此模块的主要功能是对应用程序的各种配置进行管理，涵盖数据库连接、JWT 密钥、上传文件夹等方面的设置。</a:t>
            </a:r>
            <a:endParaRPr lang="en-US" altLang="en-US"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/>
            <a:r>
              <a:rPr lang="en-US" altLang="en-US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环境变量加载：借助 dotenv 加载 .env 文件中的环境变量。基础配置类：Config 类定义了默认的配置参数，像数据库 URI、JWT 密钥、上传文件夹路径等。</a:t>
            </a:r>
            <a:endParaRPr lang="en-US" altLang="en-US"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/>
            <a:r>
              <a:rPr lang="en-US" altLang="en-US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不同环境配置：DevelopmentConfig、ProductionConfig</a:t>
            </a:r>
            <a:r>
              <a:rPr lang="zh-CN" altLang="en-US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和</a:t>
            </a:r>
            <a:r>
              <a:rPr lang="en-US" altLang="en-US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TestingConfig分别针对开发、生产和测试环境进行了特定的配置。</a:t>
            </a:r>
            <a:endParaRPr lang="en-US" altLang="en-US"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64895" y="4559935"/>
            <a:ext cx="1011428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应用初始化 (app/__init__.py)</a:t>
            </a:r>
            <a:r>
              <a:rPr lang="zh-CN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该模块负责创建</a:t>
            </a:r>
            <a:r>
              <a:rPr lang="en-US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Flask </a:t>
            </a:r>
            <a:r>
              <a:rPr lang="zh-CN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应用实例，并对各种扩展进行初始化操作。扩展初始化：初始化了</a:t>
            </a:r>
            <a:r>
              <a:rPr lang="en-US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SQLAlchemy</a:t>
            </a:r>
            <a:r>
              <a:rPr lang="zh-CN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、</a:t>
            </a:r>
            <a:r>
              <a:rPr lang="en-US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Migrate</a:t>
            </a:r>
            <a:r>
              <a:rPr lang="zh-CN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、</a:t>
            </a:r>
            <a:r>
              <a:rPr lang="en-US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JWTManager </a:t>
            </a:r>
            <a:r>
              <a:rPr lang="zh-CN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和 </a:t>
            </a:r>
            <a:r>
              <a:rPr lang="en-US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CORS </a:t>
            </a:r>
            <a:r>
              <a:rPr lang="zh-CN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等扩展。配置加载：依据传入的配置名称加载相应的配置。蓝图注册：注册</a:t>
            </a:r>
            <a:r>
              <a:rPr lang="en-US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API </a:t>
            </a:r>
            <a:r>
              <a:rPr lang="zh-CN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蓝图，定义 </a:t>
            </a:r>
            <a:r>
              <a:rPr lang="en-US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API </a:t>
            </a:r>
            <a:r>
              <a:rPr lang="zh-CN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的基础路径。错误处理和命令注册：注册全局错误处理函数和命令行命令。</a:t>
            </a:r>
            <a:endParaRPr lang="zh-CN" altLang="en-US"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64895" y="1398905"/>
            <a:ext cx="1013714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/>
            <a:r>
              <a:rPr 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图书管理系统的后端代码在</a:t>
            </a:r>
            <a:r>
              <a:rPr 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book_store_backend</a:t>
            </a:r>
            <a:r>
              <a:rPr 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内实现，主要使用</a:t>
            </a:r>
            <a:r>
              <a:rPr lang="en-US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Flask</a:t>
            </a:r>
            <a:r>
              <a:rPr lang="zh-CN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框架</a:t>
            </a:r>
            <a:r>
              <a:rPr 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搭建，具备用户管理、图书管理、订单管理等功能。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1152000" y="288000"/>
            <a:ext cx="351917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系统实现：后端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92" y="123667"/>
            <a:ext cx="2514152" cy="673296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1012825" y="1215390"/>
            <a:ext cx="10166350" cy="18440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algn="l">
              <a:buClrTx/>
              <a:buSzTx/>
              <a:buFontTx/>
            </a:pPr>
            <a:r>
              <a:rPr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数据库模型 (app/models)</a:t>
            </a:r>
            <a:endParaRPr b="1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/>
            <a:r>
              <a:rPr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这一模块定义了数据库的表结构以及相关的模型类，包含用户、图书、订单等模型。</a:t>
            </a:r>
            <a:endParaRPr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/>
            <a:r>
              <a:rPr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基础模型：BaseModelMixin 为所有模型提供了基础的字段（如 id、created_at、updated_at）和方法（如save、delete）。</a:t>
            </a:r>
            <a:endParaRPr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/>
            <a:r>
              <a:rPr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具体模型：</a:t>
            </a:r>
            <a:endParaRPr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/>
            <a:r>
              <a:rPr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User：表示用户，包含用户名、密码、用户类型、邮箱等信息。</a:t>
            </a:r>
            <a:endParaRPr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/>
            <a:r>
              <a:rPr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Book：表示图书，包含 ISBN、标题、价格、作者等信息。</a:t>
            </a:r>
            <a:endParaRPr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/>
            <a:r>
              <a:rPr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Order：表示订单，包含用户 ID、订单日期、总金额、订单状态等信息。</a:t>
            </a:r>
            <a:endParaRPr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/>
            <a:r>
              <a:rPr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Review：表示图书评论，包含图书 ID、用户 ID、评分、评论内容等信息。</a:t>
            </a:r>
            <a:endParaRPr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2825" y="4074795"/>
            <a:ext cx="10114280" cy="2306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服务层 (app/service)</a:t>
            </a:r>
            <a:endParaRPr b="1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/>
            <a:r>
              <a:rPr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该模块实现了业务逻辑，为 API 提供数据处理和操作的服务。</a:t>
            </a:r>
            <a:endParaRPr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/>
            <a:r>
              <a:rPr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图书服务：book_service.py 包含获取所有图书、根据 ID 获取图书、创建图书、更新图书和删除图书等功能。</a:t>
            </a:r>
            <a:endParaRPr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/>
            <a:r>
              <a:rPr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用户服务：user_service.py 包含获取所有用户、根据 ID 获取用户、创建用户、更新用户和删除用户等功能，同时还实现了图书推荐功能。</a:t>
            </a:r>
            <a:endParaRPr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/>
            <a:r>
              <a:rPr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订单服务：order_service.py 包含获取所有订单、根据 ID 获取订单、创建订单、更新订单和删除订单等功能。</a:t>
            </a:r>
            <a:endParaRPr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1152000" y="288000"/>
            <a:ext cx="351917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系统实现：后端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92" y="123667"/>
            <a:ext cx="2514152" cy="673296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1012825" y="1215390"/>
            <a:ext cx="10166350" cy="18440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indent="0"/>
            <a:r>
              <a:rPr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API 层 (app/api)</a:t>
            </a:r>
            <a:endParaRPr b="1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/>
            <a:r>
              <a:rPr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此模块定义了API接口，处理HTTP请求并调用相应的服务层方法。</a:t>
            </a:r>
            <a:endParaRPr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/>
            <a:r>
              <a:rPr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认证 API：auth/routes.py包含用户登录和注册的API接口。</a:t>
            </a:r>
            <a:endParaRPr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/>
            <a:r>
              <a:rPr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图书 API：books/routes.py包含获取所有图书、根据ID获取图书、创建图书、更新图书和删除图书的 API 接口。</a:t>
            </a:r>
            <a:endParaRPr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/>
            <a:r>
              <a:rPr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用户 API：users/routes.py包含获取所有用户、根据ID获取用户、创建用户、更新用户和删除用户的 API 接口，以及图书推荐和DeepSeek响应的API接口。</a:t>
            </a:r>
            <a:endParaRPr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/>
            <a:r>
              <a:rPr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订单 API：orders/routes.py 包含获取所有订单、根据ID获取订单、创建订单、更新订单和删除订单的 API 接口。</a:t>
            </a:r>
            <a:endParaRPr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/>
            <a:r>
              <a:rPr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管理员 API：admin/books.py 包含获取所有图书（管理员权限）和修改书籍库存（管理员权限）的 API 接口。</a:t>
            </a:r>
            <a:endParaRPr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2825" y="4551045"/>
            <a:ext cx="1011428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工具和命令 (app/utils.py和app/commands.py)</a:t>
            </a:r>
            <a:endParaRPr b="1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/>
            <a:r>
              <a:rPr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工具函数：app/utils.py包含一个装饰器 admin_required，用于验证用户是否具有管理员权限。</a:t>
            </a:r>
            <a:endParaRPr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/>
            <a:r>
              <a:rPr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命令行命令：app/commands.py包含一个命令 create-admin，用于创建管理员账户。</a:t>
            </a:r>
            <a:endParaRPr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1152000" y="288000"/>
            <a:ext cx="351917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系统实现：后端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92" y="123667"/>
            <a:ext cx="2514152" cy="67329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00405" y="1874520"/>
            <a:ext cx="110648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错误处理 (app/errors.py)</a:t>
            </a:r>
            <a:r>
              <a:rPr lang="zh-CN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该模块注册了全局错误处理函数，对不同类型的</a:t>
            </a:r>
            <a:r>
              <a:rPr lang="en-US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HTTP </a:t>
            </a:r>
            <a:r>
              <a:rPr lang="zh-CN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错误进行统一处理，并返回 </a:t>
            </a:r>
            <a:r>
              <a:rPr lang="en-US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JSON </a:t>
            </a:r>
            <a:r>
              <a:rPr lang="zh-CN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格式的错误信息。</a:t>
            </a:r>
            <a:endParaRPr lang="zh-CN" altLang="en-US"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0405" y="3460750"/>
            <a:ext cx="10930255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主运行文件 (run.py)</a:t>
            </a:r>
            <a:r>
              <a:rPr lang="zh-CN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此文件是项目的入口点，负责创建</a:t>
            </a:r>
            <a:r>
              <a:rPr lang="en-US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Flask </a:t>
            </a:r>
            <a:r>
              <a:rPr lang="zh-CN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应用实例，初始化扩展，注册蓝图，并启动应用程序。同时，还定义了一些命令行工具，如创建管理员账户和创建测试数据。</a:t>
            </a:r>
            <a:endParaRPr lang="zh-CN" altLang="en-US"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1152000" y="288000"/>
            <a:ext cx="351917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系统实现：后端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92" y="123667"/>
            <a:ext cx="2514152" cy="673296"/>
          </a:xfrm>
          <a:prstGeom prst="rect">
            <a:avLst/>
          </a:prstGeom>
        </p:spPr>
      </p:pic>
      <p:pic>
        <p:nvPicPr>
          <p:cNvPr id="25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540" y="1022350"/>
            <a:ext cx="5267960" cy="17208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959485" y="1269365"/>
            <a:ext cx="4531360" cy="7645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indent="0"/>
            <a:r>
              <a:rPr lang="zh-CN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在</a:t>
            </a:r>
            <a:r>
              <a:rPr lang="en-US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BookStoreSystem/book_store_backend</a:t>
            </a:r>
            <a:r>
              <a:rPr lang="zh-CN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路径下运行 </a:t>
            </a:r>
            <a:r>
              <a:rPr lang="en-US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python3 run.py</a:t>
            </a:r>
            <a:endParaRPr lang="en-US" altLang="en-US"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09995" y="2968625"/>
            <a:ext cx="480314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测试图书推荐模块输入</a:t>
            </a:r>
            <a:r>
              <a:rPr lang="en-US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id</a:t>
            </a:r>
            <a:r>
              <a:rPr lang="zh-CN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为</a:t>
            </a:r>
            <a:r>
              <a:rPr lang="en-US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666</a:t>
            </a:r>
            <a:r>
              <a:rPr lang="zh-CN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的用户，推荐编号为</a:t>
            </a:r>
            <a:r>
              <a:rPr lang="en-US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1041128,24855421,25985126,6792270,10740776</a:t>
            </a:r>
            <a:r>
              <a:rPr lang="zh-CN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的书籍。</a:t>
            </a:r>
            <a:endParaRPr lang="zh-CN" altLang="en-US"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28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85" y="2033905"/>
            <a:ext cx="4731385" cy="247586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1392555" y="5093335"/>
            <a:ext cx="445198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调用</a:t>
            </a:r>
            <a:r>
              <a:rPr lang="en-US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Deepseek</a:t>
            </a:r>
            <a:r>
              <a:rPr lang="zh-CN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智能问答模块功能测试模拟用户输入：介绍一下《三体》这本书</a:t>
            </a:r>
            <a:endParaRPr lang="zh-CN" altLang="en-US"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30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6015" y="4392930"/>
            <a:ext cx="4525010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1152000" y="288000"/>
            <a:ext cx="351917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系统实现：前端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92" y="123667"/>
            <a:ext cx="2514152" cy="673296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756920" y="1413510"/>
            <a:ext cx="921131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zh-CN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该图书管理系统前端基于</a:t>
            </a:r>
            <a:r>
              <a:rPr lang="zh-CN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Vue 3</a:t>
            </a:r>
            <a:r>
              <a:rPr lang="zh-CN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和</a:t>
            </a:r>
            <a:r>
              <a:rPr lang="zh-CN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ElementPlus</a:t>
            </a:r>
            <a:r>
              <a:rPr lang="zh-CN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构建，采用组件化开发，各模块分工明确。</a:t>
            </a:r>
            <a:endParaRPr lang="zh-CN"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61720" y="2064385"/>
            <a:ext cx="9956800" cy="3692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路由管理模块（src/router/index.js）</a:t>
            </a:r>
            <a:r>
              <a:rPr lang="zh-CN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负责管理前端页面的路由，实现页面的导航和切换。使用createRouter和createWebHashHistory创建路由实例。定义了多个路由规则，如/重定向到/index/user，/index/:type 对应Home组件，/auth/:login对应 LoginView组件。路由守卫beforeEach用于验证用户是否登录，若未登录则跳转到登录页面。</a:t>
            </a:r>
            <a:endParaRPr lang="zh-CN"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/>
            <a:endParaRPr lang="zh-CN"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/>
            <a:endParaRPr lang="zh-CN"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/>
            <a:r>
              <a:rPr lang="zh-CN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状态管理模块（src/store/index.js）</a:t>
            </a:r>
            <a:endParaRPr lang="zh-CN" b="0">
              <a:highlight>
                <a:srgbClr val="FFFF00"/>
              </a:highlight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/>
            <a:r>
              <a:rPr lang="zh-CN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管理应用的状态，如用户的 token、username 和 id，并实现状态的持久化。使用vuex创建存储实例。通过createMutations和createActions动态生成mutations和actions，用于修改和获取状态。使用vuex-persistedstate插件将状态持久化到本地存储。</a:t>
            </a:r>
            <a:endParaRPr lang="zh-CN"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1152000" y="288000"/>
            <a:ext cx="351917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系统实现：前端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92" y="123667"/>
            <a:ext cx="2514152" cy="673296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859155" y="1417320"/>
            <a:ext cx="10248900" cy="3692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API模块（src/api/index.js）</a:t>
            </a:r>
            <a:r>
              <a:rPr lang="zh-CN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封装与后端 API 的交互，提供统一的接口调用方式。使用axios创建HTTP实例，设置请求的基础URL和拦截器。定义了多个API函数，如auth.login、bookList.get等，用于处理用户认证、图书管理、订单管理等业务。</a:t>
            </a:r>
            <a:endParaRPr lang="zh-CN"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/>
            <a:endParaRPr lang="zh-CN"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/>
            <a:endParaRPr lang="zh-CN"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/>
            <a:r>
              <a:rPr lang="zh-CN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组件模块</a:t>
            </a:r>
            <a:r>
              <a:rPr lang="zh-CN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菜单栏组件（src/conponents/MenuBar.vue）：提供系统的导航菜单，用户可以通过点击菜单项切换页面。使用ElementPlus的el-menu组件创建菜单栏。根据路由路径设置当前激活的菜单项。头部栏组件（src/conponents/HomeHeaderBar.vue）：显示当前页面的标题和退出登录按钮。根据路由路径动态显示标题。点击退出登录按钮时，调用 store.dispatch('reset') 清除用户状态并刷新页面。表格组件：用于展示和管理不同类型的数据，如用户信息、图书信息、订单信息等。每个表格组件对应一个特定的数据类型，如 UserView.vue 展示用户信息，BookView.vue 展示图书信息。</a:t>
            </a:r>
            <a:endParaRPr lang="zh-CN"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1152000" y="288000"/>
            <a:ext cx="351917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系统实现：前端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92" y="123667"/>
            <a:ext cx="2514152" cy="67329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24865" y="1559560"/>
            <a:ext cx="10069195" cy="40760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indent="0"/>
            <a:r>
              <a:rPr lang="zh-CN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视图模块</a:t>
            </a:r>
            <a:endParaRPr lang="zh-CN" b="0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/>
            <a:r>
              <a:rPr lang="zh-CN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主页视图（src/views/HomeView.vue）：作为系统的主页面，包含菜单栏、头部栏和内容区域。根据路由参数动态渲染不同的表格组件。登录视图（src/views/LoginView.vue）：提供用户登录界面，处理用户登录逻辑。调用src/api/index.js中的auth.login函数进行登录验证。</a:t>
            </a:r>
            <a:endParaRPr lang="zh-CN"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/>
            <a:endParaRPr lang="zh-CN"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/>
            <a:endParaRPr lang="zh-CN"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indent="0"/>
            <a:r>
              <a:rPr lang="zh-CN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配置文件</a:t>
            </a:r>
            <a:r>
              <a:rPr lang="zh-CN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env.development和.env.production：配置开发和生产环境的环境变量，如后端 API 的基础URL。在src/api/index.js中使用import.meta.env.VITE_APP_BASE_API 获取基础 URL。package.json：管理项目的依赖和脚本命令。定义了项目的依赖，如 vue、vue-router、vuex、element-plus等。定义了开发、构建和预览的脚本命令，如npm run dev、npm run build、npm run preview。</a:t>
            </a:r>
            <a:endParaRPr lang="zh-CN"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1152000" y="288000"/>
            <a:ext cx="214757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系统测试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92" y="123667"/>
            <a:ext cx="2514152" cy="673296"/>
          </a:xfrm>
          <a:prstGeom prst="rect">
            <a:avLst/>
          </a:prstGeom>
        </p:spPr>
      </p:pic>
      <p:pic>
        <p:nvPicPr>
          <p:cNvPr id="6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175" y="1607185"/>
            <a:ext cx="5273040" cy="41529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文本框 99"/>
          <p:cNvSpPr txBox="1"/>
          <p:nvPr/>
        </p:nvSpPr>
        <p:spPr>
          <a:xfrm>
            <a:off x="892175" y="1165225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altLang="en-US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启动数据库</a:t>
            </a:r>
            <a:endParaRPr lang="zh-CN" altLang="en-US"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2175" y="2112645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buClrTx/>
              <a:buSzTx/>
              <a:buFontTx/>
            </a:pPr>
            <a:r>
              <a:rPr lang="zh-CN" altLang="en-US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运行后端</a:t>
            </a:r>
            <a:endParaRPr lang="zh-CN" altLang="en-US"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1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73" y="2480628"/>
            <a:ext cx="5267325" cy="214693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892175" y="471805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altLang="en-US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运行前端</a:t>
            </a:r>
            <a:endParaRPr lang="zh-CN" altLang="en-US"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2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175" y="5086350"/>
            <a:ext cx="5271770" cy="16433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6367145" y="1165225"/>
            <a:ext cx="582549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打开浏览器，进入http://localhost:300/，默认为登录页面</a:t>
            </a:r>
            <a:endParaRPr lang="zh-CN" altLang="en-US"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4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8430" y="1606868"/>
            <a:ext cx="5266690" cy="203390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6488430" y="356108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b="0">
                <a:latin typeface="Times New Roman" panose="02020603050405020304" charset="0"/>
                <a:ea typeface="宋体" panose="02010600030101010101" pitchFamily="2" charset="-122"/>
              </a:rPr>
              <a:t>注册页面</a:t>
            </a:r>
            <a:endParaRPr lang="zh-CN" altLang="en-US" b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20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9700" y="4076065"/>
            <a:ext cx="5265420" cy="2409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1152000" y="288000"/>
            <a:ext cx="214757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系统测试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92" y="123667"/>
            <a:ext cx="2514152" cy="67329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445260" y="1032510"/>
            <a:ext cx="1024826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800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接下来以管理员视角进行测试相关功能，具体功能见视频</a:t>
            </a:r>
            <a:endParaRPr lang="zh-CN" sz="1800"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385" y="1892300"/>
            <a:ext cx="4709160" cy="20339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710" y="1952625"/>
            <a:ext cx="4620895" cy="19735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385" y="4519295"/>
            <a:ext cx="4504055" cy="19291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8710" y="4478020"/>
            <a:ext cx="4608830" cy="19710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1152000" y="288000"/>
            <a:ext cx="214757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系统测试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92" y="123667"/>
            <a:ext cx="2514152" cy="67329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445260" y="1032510"/>
            <a:ext cx="1024826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800" b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接下来以管理员视角进行测试相关功能，具体功能见视频</a:t>
            </a:r>
            <a:endParaRPr lang="zh-CN" sz="1800"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0180" y="1986280"/>
            <a:ext cx="5003165" cy="2136775"/>
          </a:xfrm>
          <a:prstGeom prst="rect">
            <a:avLst/>
          </a:prstGeom>
        </p:spPr>
      </p:pic>
      <p:pic>
        <p:nvPicPr>
          <p:cNvPr id="9" name="图片 8" descr="ELTHD4SYLNUD%9D1ISTLC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260" y="1986280"/>
            <a:ext cx="4680585" cy="2202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1152000" y="288000"/>
            <a:ext cx="20116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设计总结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92" y="123667"/>
            <a:ext cx="2514152" cy="67329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06830" y="1428750"/>
            <a:ext cx="9456420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algn="l">
              <a:buClrTx/>
              <a:buSzTx/>
              <a:buNone/>
            </a:pPr>
            <a:r>
              <a:rPr lang="zh-CN" altLang="en-US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数据爬取</a:t>
            </a:r>
            <a:r>
              <a:rPr lang="en-US" altLang="zh-CN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通过爬虫程序，结合动态代理池与智能请求调度策略，爬取了数十万条结构化数据，数据覆盖图书详情、用户行为、评论反馈等多维度信息，为后续系统构建提供了坚实的数据基础。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algn="l">
              <a:buClrTx/>
              <a:buSzTx/>
              <a:buNone/>
            </a:pP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zh-CN" altLang="en-US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前后端分离架构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采用前后端分离设计框架，服务端提供标准化 RESTful 接口，前端与后端可并行开发，显著提升协作效率，降低模块耦合度，便于后续功能扩展与维护。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 b="1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混合智能推荐策略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引入基于内容与协同过滤的混合推荐算法。基于内容的推荐通过计算书籍标题、价格、评分等特征的相似度匹配用户偏好；协同过滤则通过用户间评分相似度，利用相似用户的行为生成推荐。两者按权重融合，并排除用户已交互书籍，新用户默认推荐高评分书籍，提升推荐精准度。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Deepseek智能问答集成</a:t>
            </a:r>
            <a:r>
              <a:rPr lang="en-US" altLang="zh-CN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嵌入 Deepseek-V3 大模型接口，构建智能问答模块。通过自然语言交互动态获取图书相关信息，减少非结构化数据存储压力，同时提供更灵活的用户咨询体验。</a:t>
            </a:r>
            <a:endParaRPr lang="zh-CN" altLang="en-US" b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0">
              <a:buNone/>
            </a:pP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1152000" y="288000"/>
            <a:ext cx="20116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优化方向</a:t>
            </a:r>
            <a:endParaRPr kumimoji="0" lang="zh-CN" sz="36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92" y="123667"/>
            <a:ext cx="2514152" cy="67329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06830" y="1428750"/>
            <a:ext cx="9456420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zh-CN" altLang="en-US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数据集优化</a:t>
            </a:r>
            <a:r>
              <a:rPr lang="en-US" altLang="zh-CN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引入实时爬取机制，通过搭建分布式爬虫集群并结合消息队列（如 Kafka）实现数据的实时采集与流式处理。同时引入带有时序标签的专业用户交互数据集，深度融合用户浏览时长、收藏时间戳、评分历史等时序特征，使数据获取更贴合推荐系统的动态建模需求，为实时化推荐策略提供高精度数据支撑。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indent="0">
              <a:buNone/>
            </a:pPr>
            <a:endParaRPr lang="en-US" altLang="zh-CN" b="1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优化智能推荐策略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当前推荐系统存在响应速率较慢的问题，且在信息处理中未能有效突出关键特征。后续可引入注意力机制，通过动态分配权重聚焦用户核心偏好与高价值特征，同时升级推荐算法（如采用 Transformer 架构或深度强化学习模型），优化特征交互逻辑与计算效率，在提升系统响应速度的同时，增强推荐结果的针对性与信息权重分配的合理性。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拓展智能推荐功能</a:t>
            </a:r>
            <a:r>
              <a:rPr lang="en-US" altLang="zh-CN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依据书籍的销售状况（包括畅销和滞销情况），运用数据分析和智能算法，为管理员提供精准的进货建议，以优化库存管理和提高销售效益。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 b="1">
              <a:solidFill>
                <a:srgbClr val="FF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强化Deepseek-RAG能力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构建图书领域知识图谱，通过检索增强生成（RAG）技术，结合数据库结构化数据与大模型语义理解能力，提升问答精准度与上下文连贯性。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b="1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AI助手优化</a:t>
            </a:r>
            <a:r>
              <a:rPr lang="en-US" altLang="zh-CN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 </a:t>
            </a:r>
            <a:r>
              <a:rPr lang="zh-CN" altLang="en-US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为了提供更丰富、多元且精准的智能交互体验，考虑集成多个不同的大语言模型，如豆包、ChatGPT等。</a:t>
            </a:r>
            <a:endParaRPr lang="zh-CN" altLang="en-US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" y="13684"/>
            <a:ext cx="12191239" cy="6857572"/>
          </a:xfrm>
          <a:prstGeom prst="rect">
            <a:avLst/>
          </a:prstGeom>
        </p:spPr>
      </p:pic>
      <p:sp>
        <p:nvSpPr>
          <p:cNvPr id="8" name="Freeform 5"/>
          <p:cNvSpPr/>
          <p:nvPr/>
        </p:nvSpPr>
        <p:spPr bwMode="auto">
          <a:xfrm>
            <a:off x="3308645" y="1395413"/>
            <a:ext cx="8883355" cy="1881187"/>
          </a:xfrm>
          <a:custGeom>
            <a:avLst/>
            <a:gdLst>
              <a:gd name="T0" fmla="*/ 11567 w 11567"/>
              <a:gd name="T1" fmla="*/ 2441 h 2441"/>
              <a:gd name="T2" fmla="*/ 0 w 11567"/>
              <a:gd name="T3" fmla="*/ 2441 h 2441"/>
              <a:gd name="T4" fmla="*/ 1542 w 11567"/>
              <a:gd name="T5" fmla="*/ 0 h 2441"/>
              <a:gd name="T6" fmla="*/ 11567 w 11567"/>
              <a:gd name="T7" fmla="*/ 0 h 2441"/>
              <a:gd name="T8" fmla="*/ 11567 w 11567"/>
              <a:gd name="T9" fmla="*/ 2441 h 24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567" h="2441">
                <a:moveTo>
                  <a:pt x="11567" y="2441"/>
                </a:moveTo>
                <a:lnTo>
                  <a:pt x="0" y="2441"/>
                </a:lnTo>
                <a:lnTo>
                  <a:pt x="1542" y="0"/>
                </a:lnTo>
                <a:lnTo>
                  <a:pt x="11567" y="0"/>
                </a:lnTo>
                <a:lnTo>
                  <a:pt x="11567" y="2441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1416" tIns="45708" rIns="91416" bIns="45708"/>
          <a:lstStyle/>
          <a:p>
            <a:endParaRPr lang="zh-CN" altLang="en-US" sz="2400"/>
          </a:p>
        </p:txBody>
      </p:sp>
      <p:sp>
        <p:nvSpPr>
          <p:cNvPr id="10" name="Freeform 6"/>
          <p:cNvSpPr/>
          <p:nvPr/>
        </p:nvSpPr>
        <p:spPr bwMode="auto">
          <a:xfrm>
            <a:off x="0" y="4075113"/>
            <a:ext cx="5693725" cy="1712912"/>
          </a:xfrm>
          <a:custGeom>
            <a:avLst/>
            <a:gdLst>
              <a:gd name="T0" fmla="*/ 0 w 7413"/>
              <a:gd name="T1" fmla="*/ 0 h 2222"/>
              <a:gd name="T2" fmla="*/ 7413 w 7413"/>
              <a:gd name="T3" fmla="*/ 0 h 2222"/>
              <a:gd name="T4" fmla="*/ 6010 w 7413"/>
              <a:gd name="T5" fmla="*/ 2222 h 2222"/>
              <a:gd name="T6" fmla="*/ 0 w 7413"/>
              <a:gd name="T7" fmla="*/ 2222 h 2222"/>
              <a:gd name="T8" fmla="*/ 0 w 7413"/>
              <a:gd name="T9" fmla="*/ 0 h 2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13" h="2222">
                <a:moveTo>
                  <a:pt x="0" y="0"/>
                </a:moveTo>
                <a:lnTo>
                  <a:pt x="7413" y="0"/>
                </a:lnTo>
                <a:lnTo>
                  <a:pt x="6010" y="2222"/>
                </a:lnTo>
                <a:lnTo>
                  <a:pt x="0" y="2222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1416" tIns="45708" rIns="91416" bIns="45708"/>
          <a:lstStyle/>
          <a:p>
            <a:endParaRPr lang="zh-CN" altLang="en-US" sz="2400"/>
          </a:p>
        </p:txBody>
      </p:sp>
      <p:sp>
        <p:nvSpPr>
          <p:cNvPr id="11" name="Freeform 7"/>
          <p:cNvSpPr/>
          <p:nvPr/>
        </p:nvSpPr>
        <p:spPr bwMode="auto">
          <a:xfrm>
            <a:off x="0" y="2052639"/>
            <a:ext cx="10728896" cy="2981325"/>
          </a:xfrm>
          <a:custGeom>
            <a:avLst/>
            <a:gdLst>
              <a:gd name="T0" fmla="*/ 0 w 13970"/>
              <a:gd name="T1" fmla="*/ 0 h 3869"/>
              <a:gd name="T2" fmla="*/ 13970 w 13970"/>
              <a:gd name="T3" fmla="*/ 0 h 3869"/>
              <a:gd name="T4" fmla="*/ 11527 w 13970"/>
              <a:gd name="T5" fmla="*/ 3869 h 3869"/>
              <a:gd name="T6" fmla="*/ 0 w 13970"/>
              <a:gd name="T7" fmla="*/ 3869 h 3869"/>
              <a:gd name="T8" fmla="*/ 0 w 13970"/>
              <a:gd name="T9" fmla="*/ 0 h 38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970" h="3869">
                <a:moveTo>
                  <a:pt x="0" y="0"/>
                </a:moveTo>
                <a:lnTo>
                  <a:pt x="13970" y="0"/>
                </a:lnTo>
                <a:lnTo>
                  <a:pt x="11527" y="3869"/>
                </a:lnTo>
                <a:lnTo>
                  <a:pt x="0" y="3869"/>
                </a:lnTo>
                <a:lnTo>
                  <a:pt x="0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91416" tIns="45708" rIns="91416" bIns="45708"/>
          <a:lstStyle/>
          <a:p>
            <a:endParaRPr lang="zh-CN" altLang="en-US" sz="2400"/>
          </a:p>
        </p:txBody>
      </p:sp>
      <p:sp>
        <p:nvSpPr>
          <p:cNvPr id="12" name="Freeform 8"/>
          <p:cNvSpPr/>
          <p:nvPr/>
        </p:nvSpPr>
        <p:spPr bwMode="auto">
          <a:xfrm>
            <a:off x="11227177" y="1908175"/>
            <a:ext cx="556995" cy="900113"/>
          </a:xfrm>
          <a:custGeom>
            <a:avLst/>
            <a:gdLst>
              <a:gd name="T0" fmla="*/ 584 w 725"/>
              <a:gd name="T1" fmla="*/ 443 h 1169"/>
              <a:gd name="T2" fmla="*/ 725 w 725"/>
              <a:gd name="T3" fmla="*/ 585 h 1169"/>
              <a:gd name="T4" fmla="*/ 584 w 725"/>
              <a:gd name="T5" fmla="*/ 726 h 1169"/>
              <a:gd name="T6" fmla="*/ 141 w 725"/>
              <a:gd name="T7" fmla="*/ 1169 h 1169"/>
              <a:gd name="T8" fmla="*/ 0 w 725"/>
              <a:gd name="T9" fmla="*/ 1028 h 1169"/>
              <a:gd name="T10" fmla="*/ 443 w 725"/>
              <a:gd name="T11" fmla="*/ 585 h 1169"/>
              <a:gd name="T12" fmla="*/ 0 w 725"/>
              <a:gd name="T13" fmla="*/ 141 h 1169"/>
              <a:gd name="T14" fmla="*/ 141 w 725"/>
              <a:gd name="T15" fmla="*/ 0 h 1169"/>
              <a:gd name="T16" fmla="*/ 584 w 725"/>
              <a:gd name="T17" fmla="*/ 443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5" h="1169">
                <a:moveTo>
                  <a:pt x="584" y="443"/>
                </a:moveTo>
                <a:lnTo>
                  <a:pt x="725" y="585"/>
                </a:lnTo>
                <a:lnTo>
                  <a:pt x="584" y="726"/>
                </a:lnTo>
                <a:lnTo>
                  <a:pt x="141" y="1169"/>
                </a:lnTo>
                <a:lnTo>
                  <a:pt x="0" y="1028"/>
                </a:lnTo>
                <a:lnTo>
                  <a:pt x="443" y="585"/>
                </a:lnTo>
                <a:lnTo>
                  <a:pt x="0" y="141"/>
                </a:lnTo>
                <a:lnTo>
                  <a:pt x="141" y="0"/>
                </a:lnTo>
                <a:lnTo>
                  <a:pt x="584" y="4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1416" tIns="45708" rIns="91416" bIns="45708"/>
          <a:lstStyle/>
          <a:p>
            <a:endParaRPr lang="zh-CN" altLang="en-US" sz="2400"/>
          </a:p>
        </p:txBody>
      </p:sp>
      <p:sp>
        <p:nvSpPr>
          <p:cNvPr id="13" name="Freeform 9"/>
          <p:cNvSpPr/>
          <p:nvPr/>
        </p:nvSpPr>
        <p:spPr bwMode="auto">
          <a:xfrm>
            <a:off x="10587664" y="6049964"/>
            <a:ext cx="1604336" cy="808037"/>
          </a:xfrm>
          <a:custGeom>
            <a:avLst/>
            <a:gdLst>
              <a:gd name="T0" fmla="*/ 2088 w 2088"/>
              <a:gd name="T1" fmla="*/ 0 h 1048"/>
              <a:gd name="T2" fmla="*/ 2088 w 2088"/>
              <a:gd name="T3" fmla="*/ 1048 h 1048"/>
              <a:gd name="T4" fmla="*/ 0 w 2088"/>
              <a:gd name="T5" fmla="*/ 1048 h 1048"/>
              <a:gd name="T6" fmla="*/ 662 w 2088"/>
              <a:gd name="T7" fmla="*/ 0 h 1048"/>
              <a:gd name="T8" fmla="*/ 2088 w 2088"/>
              <a:gd name="T9" fmla="*/ 0 h 1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88" h="1048">
                <a:moveTo>
                  <a:pt x="2088" y="0"/>
                </a:moveTo>
                <a:lnTo>
                  <a:pt x="2088" y="1048"/>
                </a:lnTo>
                <a:lnTo>
                  <a:pt x="0" y="1048"/>
                </a:lnTo>
                <a:lnTo>
                  <a:pt x="662" y="0"/>
                </a:lnTo>
                <a:lnTo>
                  <a:pt x="2088" y="0"/>
                </a:lnTo>
                <a:close/>
              </a:path>
            </a:pathLst>
          </a:custGeom>
          <a:solidFill>
            <a:srgbClr val="C1C0C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1416" tIns="45708" rIns="91416" bIns="45708"/>
          <a:lstStyle/>
          <a:p>
            <a:endParaRPr lang="zh-CN" altLang="en-US" sz="2400"/>
          </a:p>
        </p:txBody>
      </p:sp>
      <p:sp>
        <p:nvSpPr>
          <p:cNvPr id="14" name="Freeform 10"/>
          <p:cNvSpPr/>
          <p:nvPr/>
        </p:nvSpPr>
        <p:spPr bwMode="auto">
          <a:xfrm>
            <a:off x="10297265" y="6208713"/>
            <a:ext cx="1894735" cy="649287"/>
          </a:xfrm>
          <a:custGeom>
            <a:avLst/>
            <a:gdLst>
              <a:gd name="T0" fmla="*/ 2467 w 2467"/>
              <a:gd name="T1" fmla="*/ 0 h 843"/>
              <a:gd name="T2" fmla="*/ 2467 w 2467"/>
              <a:gd name="T3" fmla="*/ 843 h 843"/>
              <a:gd name="T4" fmla="*/ 0 w 2467"/>
              <a:gd name="T5" fmla="*/ 843 h 843"/>
              <a:gd name="T6" fmla="*/ 533 w 2467"/>
              <a:gd name="T7" fmla="*/ 0 h 843"/>
              <a:gd name="T8" fmla="*/ 2467 w 2467"/>
              <a:gd name="T9" fmla="*/ 0 h 8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67" h="843">
                <a:moveTo>
                  <a:pt x="2467" y="0"/>
                </a:moveTo>
                <a:lnTo>
                  <a:pt x="2467" y="843"/>
                </a:lnTo>
                <a:lnTo>
                  <a:pt x="0" y="843"/>
                </a:lnTo>
                <a:lnTo>
                  <a:pt x="533" y="0"/>
                </a:lnTo>
                <a:lnTo>
                  <a:pt x="246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1416" tIns="45708" rIns="91416" bIns="45708"/>
          <a:lstStyle/>
          <a:p>
            <a:endParaRPr lang="zh-CN" altLang="en-US" sz="2400"/>
          </a:p>
        </p:txBody>
      </p:sp>
      <p:sp>
        <p:nvSpPr>
          <p:cNvPr id="15" name="TextBox 11"/>
          <p:cNvSpPr txBox="1">
            <a:spLocks noChangeArrowheads="1"/>
          </p:cNvSpPr>
          <p:nvPr/>
        </p:nvSpPr>
        <p:spPr bwMode="auto">
          <a:xfrm>
            <a:off x="2496715" y="2679701"/>
            <a:ext cx="5063490" cy="1567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8" rIns="91416" bIns="4570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9600" b="1" dirty="0">
                <a:solidFill>
                  <a:srgbClr val="FFFFFF"/>
                </a:solidFill>
                <a:latin typeface="华文楷体" panose="02010600040101010101" charset="-122"/>
                <a:ea typeface="华文楷体" panose="02010600040101010101" charset="-122"/>
              </a:rPr>
              <a:t>谢谢观赏</a:t>
            </a:r>
            <a:endParaRPr lang="zh-CN" altLang="en-US" sz="9600" b="1" dirty="0">
              <a:solidFill>
                <a:srgbClr val="FFFFFF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92" y="123667"/>
            <a:ext cx="2514152" cy="673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8000">
        <p14:prism/>
      </p:transition>
    </mc:Choice>
    <mc:Fallback>
      <p:transition spd="slow" advClick="0" advTm="8000">
        <p:fade/>
      </p:transition>
    </mc:Fallback>
  </mc:AlternateContent>
  <p:timing>
    <p:tnLst>
      <p:par>
        <p:cTn id="1" dur="indefinite" restart="never" nodeType="tmRoot"/>
      </p:par>
    </p:tnLst>
    <p:bldLst>
      <p:bldP spid="13" grpId="0" bldLvl="0" animBg="1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resource_record_key" val="{&quot;29&quot;:[50000283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7081</Words>
  <Application>WPS 演示</Application>
  <PresentationFormat>宽屏</PresentationFormat>
  <Paragraphs>305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2" baseType="lpstr">
      <vt:lpstr>Arial</vt:lpstr>
      <vt:lpstr>宋体</vt:lpstr>
      <vt:lpstr>Wingdings</vt:lpstr>
      <vt:lpstr>Arial</vt:lpstr>
      <vt:lpstr>黑体</vt:lpstr>
      <vt:lpstr>华文仿宋</vt:lpstr>
      <vt:lpstr>楷体</vt:lpstr>
      <vt:lpstr>微软雅黑</vt:lpstr>
      <vt:lpstr>华文楷体</vt:lpstr>
      <vt:lpstr>Inter</vt:lpstr>
      <vt:lpstr>Calibri</vt:lpstr>
      <vt:lpstr>Arial Unicode MS</vt:lpstr>
      <vt:lpstr>Times New Roman</vt:lpstr>
      <vt:lpstr>Segoe Print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立身行道</cp:lastModifiedBy>
  <cp:revision>27</cp:revision>
  <dcterms:created xsi:type="dcterms:W3CDTF">2023-08-09T12:44:00Z</dcterms:created>
  <dcterms:modified xsi:type="dcterms:W3CDTF">2025-06-26T02:31:19Z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2052-11.8.2.12094</vt:lpwstr>
  </property>
</Properties>
</file>