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0" r:id="rId3"/>
    <p:sldId id="256" r:id="rId5"/>
    <p:sldId id="265" r:id="rId6"/>
    <p:sldId id="286" r:id="rId7"/>
    <p:sldId id="267" r:id="rId8"/>
    <p:sldId id="268" r:id="rId9"/>
    <p:sldId id="269" r:id="rId10"/>
    <p:sldId id="271" r:id="rId11"/>
    <p:sldId id="274" r:id="rId12"/>
    <p:sldId id="278" r:id="rId13"/>
    <p:sldId id="280" r:id="rId14"/>
    <p:sldId id="270" r:id="rId15"/>
    <p:sldId id="285" r:id="rId16"/>
    <p:sldId id="275" r:id="rId17"/>
    <p:sldId id="276" r:id="rId18"/>
    <p:sldId id="277" r:id="rId19"/>
    <p:sldId id="283" r:id="rId20"/>
    <p:sldId id="284" r:id="rId21"/>
    <p:sldId id="282" r:id="rId22"/>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gs" Target="tags/tag58.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A5E8DB0-55DC-4221-A99C-988BCD133BF3}"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A5E8DB0-55DC-4221-A99C-988BCD133BF3}" type="slidenum">
              <a:rPr lang="en-US" altLang="zh-CN" smtClean="0"/>
            </a:fld>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A5E8DB0-55DC-4221-A99C-988BCD133BF3}" type="slidenum">
              <a:rPr lang="en-US" altLang="zh-CN" smtClean="0"/>
            </a:fld>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A5E8DB0-55DC-4221-A99C-988BCD133BF3}" type="slidenum">
              <a:rPr lang="en-US" altLang="zh-CN" smtClean="0"/>
            </a:fld>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A5E8DB0-55DC-4221-A99C-988BCD133BF3}" type="slidenum">
              <a:rPr lang="en-US" altLang="zh-CN" smtClean="0"/>
            </a:fld>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标题幻灯片">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394159" y="310888"/>
            <a:ext cx="682341" cy="539179"/>
            <a:chOff x="1801006" y="1526207"/>
            <a:chExt cx="1242672" cy="981947"/>
          </a:xfrm>
        </p:grpSpPr>
        <p:sp>
          <p:nvSpPr>
            <p:cNvPr id="5" name="矩形 4"/>
            <p:cNvSpPr/>
            <p:nvPr userDrawn="1"/>
          </p:nvSpPr>
          <p:spPr>
            <a:xfrm>
              <a:off x="2224301" y="1732937"/>
              <a:ext cx="819377" cy="695740"/>
            </a:xfrm>
            <a:prstGeom prst="rect">
              <a:avLst/>
            </a:prstGeom>
            <a:solidFill>
              <a:srgbClr val="89DF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
          <p:nvSpPr>
            <p:cNvPr id="6" name="任意多边形 13"/>
            <p:cNvSpPr/>
            <p:nvPr userDrawn="1"/>
          </p:nvSpPr>
          <p:spPr>
            <a:xfrm>
              <a:off x="1801006" y="1526207"/>
              <a:ext cx="1063935" cy="981947"/>
            </a:xfrm>
            <a:custGeom>
              <a:avLst/>
              <a:gdLst>
                <a:gd name="connsiteX0" fmla="*/ 0 w 2864941"/>
                <a:gd name="connsiteY0" fmla="*/ 0 h 981947"/>
                <a:gd name="connsiteX1" fmla="*/ 2864941 w 2864941"/>
                <a:gd name="connsiteY1" fmla="*/ 0 h 981947"/>
                <a:gd name="connsiteX2" fmla="*/ 2041802 w 2864941"/>
                <a:gd name="connsiteY2" fmla="*/ 981947 h 981947"/>
                <a:gd name="connsiteX3" fmla="*/ 0 w 2864941"/>
                <a:gd name="connsiteY3" fmla="*/ 981947 h 981947"/>
              </a:gdLst>
              <a:ahLst/>
              <a:cxnLst>
                <a:cxn ang="0">
                  <a:pos x="connsiteX0" y="connsiteY0"/>
                </a:cxn>
                <a:cxn ang="0">
                  <a:pos x="connsiteX1" y="connsiteY1"/>
                </a:cxn>
                <a:cxn ang="0">
                  <a:pos x="connsiteX2" y="connsiteY2"/>
                </a:cxn>
                <a:cxn ang="0">
                  <a:pos x="connsiteX3" y="connsiteY3"/>
                </a:cxn>
              </a:cxnLst>
              <a:rect l="l" t="t" r="r" b="b"/>
              <a:pathLst>
                <a:path w="2864941" h="981947">
                  <a:moveTo>
                    <a:pt x="0" y="0"/>
                  </a:moveTo>
                  <a:lnTo>
                    <a:pt x="2864941" y="0"/>
                  </a:lnTo>
                  <a:lnTo>
                    <a:pt x="2041802" y="981947"/>
                  </a:lnTo>
                  <a:lnTo>
                    <a:pt x="0" y="981947"/>
                  </a:lnTo>
                  <a:close/>
                </a:path>
              </a:pathLst>
            </a:custGeom>
            <a:solidFill>
              <a:srgbClr val="005AA6"/>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0" b="1"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image" Target="../media/image2.png"/><Relationship Id="rId3" Type="http://schemas.openxmlformats.org/officeDocument/2006/relationships/image" Target="../media/image1.png"/><Relationship Id="rId2" Type="http://schemas.microsoft.com/office/2007/relationships/media" Target="../media/media1.mp3"/><Relationship Id="rId15" Type="http://schemas.openxmlformats.org/officeDocument/2006/relationships/notesSlide" Target="../notesSlides/notesSlide1.xml"/><Relationship Id="rId14" Type="http://schemas.openxmlformats.org/officeDocument/2006/relationships/slideLayout" Target="../slideLayouts/slideLayout2.xml"/><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tags" Target="../tags/tag6.xml"/><Relationship Id="rId10" Type="http://schemas.openxmlformats.org/officeDocument/2006/relationships/tags" Target="../tags/tag5.xml"/><Relationship Id="rId1" Type="http://schemas.openxmlformats.org/officeDocument/2006/relationships/audio" Target="../media/media1.mp3"/></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image" Target="../media/image5.png"/><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5.png"/><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s>
</file>

<file path=ppt/slides/_rels/slide6.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12.xml"/><Relationship Id="rId7" Type="http://schemas.openxmlformats.org/officeDocument/2006/relationships/image" Target="../media/image9.png"/><Relationship Id="rId6" Type="http://schemas.openxmlformats.org/officeDocument/2006/relationships/image" Target="../media/image8.wmf"/><Relationship Id="rId5" Type="http://schemas.openxmlformats.org/officeDocument/2006/relationships/oleObject" Target="../embeddings/oleObject1.bin"/><Relationship Id="rId4" Type="http://schemas.openxmlformats.org/officeDocument/2006/relationships/image" Target="../media/image7.png"/><Relationship Id="rId3" Type="http://schemas.openxmlformats.org/officeDocument/2006/relationships/image" Target="../media/image5.png"/><Relationship Id="rId2" Type="http://schemas.openxmlformats.org/officeDocument/2006/relationships/tags" Target="../tags/tag21.xml"/><Relationship Id="rId1" Type="http://schemas.openxmlformats.org/officeDocument/2006/relationships/tags" Target="../tags/tag20.xml"/></Relationships>
</file>

<file path=ppt/slides/_rels/slide7.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4" Type="http://schemas.openxmlformats.org/officeDocument/2006/relationships/slideLayout" Target="../slideLayouts/slideLayout12.xml"/><Relationship Id="rId13" Type="http://schemas.openxmlformats.org/officeDocument/2006/relationships/image" Target="../media/image12.png"/><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image" Target="../media/image11.png"/><Relationship Id="rId1" Type="http://schemas.openxmlformats.org/officeDocument/2006/relationships/tags" Target="../tags/tag22.xml"/></Relationships>
</file>

<file path=ppt/slides/_rels/slide8.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image" Target="../media/image13.png"/><Relationship Id="rId6" Type="http://schemas.openxmlformats.org/officeDocument/2006/relationships/image" Target="../media/image5.png"/><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7" Type="http://schemas.openxmlformats.org/officeDocument/2006/relationships/vmlDrawing" Target="../drawings/vmlDrawing2.vml"/><Relationship Id="rId26" Type="http://schemas.openxmlformats.org/officeDocument/2006/relationships/slideLayout" Target="../slideLayouts/slideLayout12.xml"/><Relationship Id="rId25" Type="http://schemas.openxmlformats.org/officeDocument/2006/relationships/image" Target="../media/image19.png"/><Relationship Id="rId24" Type="http://schemas.openxmlformats.org/officeDocument/2006/relationships/image" Target="../media/image18.png"/><Relationship Id="rId23" Type="http://schemas.openxmlformats.org/officeDocument/2006/relationships/image" Target="../media/image17.png"/><Relationship Id="rId22" Type="http://schemas.openxmlformats.org/officeDocument/2006/relationships/tags" Target="../tags/tag44.xml"/><Relationship Id="rId21" Type="http://schemas.openxmlformats.org/officeDocument/2006/relationships/image" Target="../media/image16.png"/><Relationship Id="rId20" Type="http://schemas.openxmlformats.org/officeDocument/2006/relationships/tags" Target="../tags/tag43.xml"/><Relationship Id="rId2" Type="http://schemas.openxmlformats.org/officeDocument/2006/relationships/tags" Target="../tags/tag32.xml"/><Relationship Id="rId19" Type="http://schemas.openxmlformats.org/officeDocument/2006/relationships/tags" Target="../tags/tag42.xml"/><Relationship Id="rId18" Type="http://schemas.openxmlformats.org/officeDocument/2006/relationships/image" Target="../media/image15.png"/><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oleObject" Target="../embeddings/oleObject3.bin"/><Relationship Id="rId14" Type="http://schemas.openxmlformats.org/officeDocument/2006/relationships/tags" Target="../tags/tag39.xml"/><Relationship Id="rId13" Type="http://schemas.openxmlformats.org/officeDocument/2006/relationships/image" Target="../media/image8.wmf"/><Relationship Id="rId12" Type="http://schemas.openxmlformats.org/officeDocument/2006/relationships/oleObject" Target="../embeddings/oleObject2.bin"/><Relationship Id="rId11" Type="http://schemas.openxmlformats.org/officeDocument/2006/relationships/tags" Target="../tags/tag38.xml"/><Relationship Id="rId10" Type="http://schemas.openxmlformats.org/officeDocument/2006/relationships/image" Target="../media/image14.png"/><Relationship Id="rId1" Type="http://schemas.openxmlformats.org/officeDocument/2006/relationships/tags" Target="../tags/tag31.xml"/></Relationships>
</file>

<file path=ppt/slides/_rels/slide9.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8.wmf"/><Relationship Id="rId4" Type="http://schemas.openxmlformats.org/officeDocument/2006/relationships/oleObject" Target="../embeddings/oleObject4.bin"/><Relationship Id="rId3" Type="http://schemas.openxmlformats.org/officeDocument/2006/relationships/image" Target="../media/image5.png"/><Relationship Id="rId2" Type="http://schemas.openxmlformats.org/officeDocument/2006/relationships/tags" Target="../tags/tag46.xml"/><Relationship Id="rId17" Type="http://schemas.openxmlformats.org/officeDocument/2006/relationships/vmlDrawing" Target="../drawings/vmlDrawing3.vml"/><Relationship Id="rId16" Type="http://schemas.openxmlformats.org/officeDocument/2006/relationships/slideLayout" Target="../slideLayouts/slideLayout12.xml"/><Relationship Id="rId15" Type="http://schemas.openxmlformats.org/officeDocument/2006/relationships/image" Target="../media/image29.png"/><Relationship Id="rId14" Type="http://schemas.openxmlformats.org/officeDocument/2006/relationships/image" Target="../media/image28.png"/><Relationship Id="rId13" Type="http://schemas.openxmlformats.org/officeDocument/2006/relationships/image" Target="../media/image27.png"/><Relationship Id="rId12" Type="http://schemas.openxmlformats.org/officeDocument/2006/relationships/image" Target="../media/image26.png"/><Relationship Id="rId11" Type="http://schemas.openxmlformats.org/officeDocument/2006/relationships/image" Target="../media/image25.png"/><Relationship Id="rId10" Type="http://schemas.openxmlformats.org/officeDocument/2006/relationships/image" Target="../media/image24.png"/><Relationship Id="rId1" Type="http://schemas.openxmlformats.org/officeDocument/2006/relationships/tags" Target="../tags/tag45.xml"/></Relationships>
</file>

<file path=ppt/slides/_rels/slide10.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12.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7" Type="http://schemas.openxmlformats.org/officeDocument/2006/relationships/vmlDrawing" Target="../drawings/vmlDrawing5.vml"/><Relationship Id="rId6" Type="http://schemas.openxmlformats.org/officeDocument/2006/relationships/slideLayout" Target="../slideLayouts/slideLayout12.xml"/><Relationship Id="rId5" Type="http://schemas.openxmlformats.org/officeDocument/2006/relationships/image" Target="../media/image32.png"/><Relationship Id="rId4" Type="http://schemas.openxmlformats.org/officeDocument/2006/relationships/tags" Target="../tags/tag47.xml"/><Relationship Id="rId3" Type="http://schemas.openxmlformats.org/officeDocument/2006/relationships/image" Target="../media/image8.wmf"/><Relationship Id="rId2" Type="http://schemas.openxmlformats.org/officeDocument/2006/relationships/oleObject" Target="../embeddings/oleObject6.bin"/><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12.xml"/><Relationship Id="rId6" Type="http://schemas.openxmlformats.org/officeDocument/2006/relationships/tags" Target="../tags/tag50.xml"/><Relationship Id="rId5" Type="http://schemas.openxmlformats.org/officeDocument/2006/relationships/image" Target="../media/image8.wmf"/><Relationship Id="rId4" Type="http://schemas.openxmlformats.org/officeDocument/2006/relationships/oleObject" Target="../embeddings/oleObject7.bin"/><Relationship Id="rId3" Type="http://schemas.openxmlformats.org/officeDocument/2006/relationships/image" Target="../media/image5.png"/><Relationship Id="rId2" Type="http://schemas.openxmlformats.org/officeDocument/2006/relationships/tags" Target="../tags/tag49.xml"/><Relationship Id="rId1" Type="http://schemas.openxmlformats.org/officeDocument/2006/relationships/tags" Target="../tags/tag48.xml"/></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12.xml"/><Relationship Id="rId4" Type="http://schemas.openxmlformats.org/officeDocument/2006/relationships/image" Target="../media/image33.png"/><Relationship Id="rId3" Type="http://schemas.openxmlformats.org/officeDocument/2006/relationships/image" Target="../media/image8.wmf"/><Relationship Id="rId2" Type="http://schemas.openxmlformats.org/officeDocument/2006/relationships/oleObject" Target="../embeddings/oleObject8.bin"/><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12.xml"/><Relationship Id="rId7" Type="http://schemas.openxmlformats.org/officeDocument/2006/relationships/image" Target="../media/image34.png"/><Relationship Id="rId6" Type="http://schemas.openxmlformats.org/officeDocument/2006/relationships/image" Target="../media/image8.wmf"/><Relationship Id="rId5" Type="http://schemas.openxmlformats.org/officeDocument/2006/relationships/oleObject" Target="../embeddings/oleObject9.bin"/><Relationship Id="rId4" Type="http://schemas.openxmlformats.org/officeDocument/2006/relationships/image" Target="../media/image5.png"/><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s>
</file>

<file path=ppt/slides/_rels/slide16.xml.rels><?xml version="1.0" encoding="UTF-8" standalone="yes"?>
<Relationships xmlns="http://schemas.openxmlformats.org/package/2006/relationships"><Relationship Id="rId7" Type="http://schemas.openxmlformats.org/officeDocument/2006/relationships/vmlDrawing" Target="../drawings/vmlDrawing9.vml"/><Relationship Id="rId6"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8.wmf"/><Relationship Id="rId3" Type="http://schemas.openxmlformats.org/officeDocument/2006/relationships/oleObject" Target="../embeddings/oleObject10.bin"/><Relationship Id="rId2" Type="http://schemas.openxmlformats.org/officeDocument/2006/relationships/image" Target="../media/image5.png"/><Relationship Id="rId1" Type="http://schemas.openxmlformats.org/officeDocument/2006/relationships/tags" Target="../tags/tag54.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9" Type="http://schemas.openxmlformats.org/officeDocument/2006/relationships/vmlDrawing" Target="../drawings/vmlDrawing10.vml"/><Relationship Id="rId8" Type="http://schemas.openxmlformats.org/officeDocument/2006/relationships/slideLayout" Target="../slideLayouts/slideLayout12.xml"/><Relationship Id="rId7" Type="http://schemas.openxmlformats.org/officeDocument/2006/relationships/image" Target="../media/image35.png"/><Relationship Id="rId6" Type="http://schemas.openxmlformats.org/officeDocument/2006/relationships/image" Target="../media/image8.wmf"/><Relationship Id="rId5" Type="http://schemas.openxmlformats.org/officeDocument/2006/relationships/oleObject" Target="../embeddings/oleObject11.bin"/><Relationship Id="rId4" Type="http://schemas.openxmlformats.org/officeDocument/2006/relationships/image" Target="../media/image5.png"/><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57867" y="79876"/>
            <a:ext cx="11664041" cy="6380197"/>
            <a:chOff x="281032" y="243070"/>
            <a:chExt cx="11664041" cy="6380197"/>
          </a:xfrm>
        </p:grpSpPr>
        <p:sp>
          <p:nvSpPr>
            <p:cNvPr id="12" name="任意多边形 11"/>
            <p:cNvSpPr/>
            <p:nvPr/>
          </p:nvSpPr>
          <p:spPr>
            <a:xfrm>
              <a:off x="281032" y="415790"/>
              <a:ext cx="9125961" cy="5890171"/>
            </a:xfrm>
            <a:custGeom>
              <a:avLst/>
              <a:gdLst>
                <a:gd name="connsiteX0" fmla="*/ 0 w 9125961"/>
                <a:gd name="connsiteY0" fmla="*/ 0 h 5890171"/>
                <a:gd name="connsiteX1" fmla="*/ 9125961 w 9125961"/>
                <a:gd name="connsiteY1" fmla="*/ 0 h 5890171"/>
                <a:gd name="connsiteX2" fmla="*/ 3055475 w 9125961"/>
                <a:gd name="connsiteY2" fmla="*/ 5890171 h 5890171"/>
                <a:gd name="connsiteX3" fmla="*/ 0 w 9125961"/>
                <a:gd name="connsiteY3" fmla="*/ 2834696 h 5890171"/>
              </a:gdLst>
              <a:ahLst/>
              <a:cxnLst>
                <a:cxn ang="0">
                  <a:pos x="connsiteX0" y="connsiteY0"/>
                </a:cxn>
                <a:cxn ang="0">
                  <a:pos x="connsiteX1" y="connsiteY1"/>
                </a:cxn>
                <a:cxn ang="0">
                  <a:pos x="connsiteX2" y="connsiteY2"/>
                </a:cxn>
                <a:cxn ang="0">
                  <a:pos x="connsiteX3" y="connsiteY3"/>
                </a:cxn>
              </a:cxnLst>
              <a:rect l="l" t="t" r="r" b="b"/>
              <a:pathLst>
                <a:path w="9125961" h="5890171">
                  <a:moveTo>
                    <a:pt x="0" y="0"/>
                  </a:moveTo>
                  <a:lnTo>
                    <a:pt x="9125961" y="0"/>
                  </a:lnTo>
                  <a:lnTo>
                    <a:pt x="3055475" y="5890171"/>
                  </a:lnTo>
                  <a:lnTo>
                    <a:pt x="0" y="2834696"/>
                  </a:lnTo>
                  <a:close/>
                </a:path>
              </a:pathLst>
            </a:custGeom>
            <a:solidFill>
              <a:srgbClr val="E0E1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3" name="任意多边形 12"/>
            <p:cNvSpPr/>
            <p:nvPr/>
          </p:nvSpPr>
          <p:spPr>
            <a:xfrm flipH="1" flipV="1">
              <a:off x="3336391" y="243070"/>
              <a:ext cx="8608682" cy="6380197"/>
            </a:xfrm>
            <a:custGeom>
              <a:avLst/>
              <a:gdLst>
                <a:gd name="connsiteX0" fmla="*/ 2550447 w 8608682"/>
                <a:gd name="connsiteY0" fmla="*/ 6380197 h 6380197"/>
                <a:gd name="connsiteX1" fmla="*/ 0 w 8608682"/>
                <a:gd name="connsiteY1" fmla="*/ 6380197 h 6380197"/>
                <a:gd name="connsiteX2" fmla="*/ 0 w 8608682"/>
                <a:gd name="connsiteY2" fmla="*/ 0 h 6380197"/>
                <a:gd name="connsiteX3" fmla="*/ 8106769 w 8608682"/>
                <a:gd name="connsiteY3" fmla="*/ 0 h 6380197"/>
                <a:gd name="connsiteX4" fmla="*/ 8608682 w 8608682"/>
                <a:gd name="connsiteY4" fmla="*/ 501914 h 6380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08682" h="6380197">
                  <a:moveTo>
                    <a:pt x="2550447" y="6380197"/>
                  </a:moveTo>
                  <a:lnTo>
                    <a:pt x="0" y="6380197"/>
                  </a:lnTo>
                  <a:lnTo>
                    <a:pt x="0" y="0"/>
                  </a:lnTo>
                  <a:lnTo>
                    <a:pt x="8106769" y="0"/>
                  </a:lnTo>
                  <a:lnTo>
                    <a:pt x="8608682" y="501914"/>
                  </a:lnTo>
                  <a:close/>
                </a:path>
              </a:pathLst>
            </a:custGeom>
            <a:solidFill>
              <a:srgbClr val="EBEB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sp>
        <p:nvSpPr>
          <p:cNvPr id="14" name="直角三角形 13"/>
          <p:cNvSpPr/>
          <p:nvPr/>
        </p:nvSpPr>
        <p:spPr>
          <a:xfrm>
            <a:off x="0" y="3133383"/>
            <a:ext cx="3727048" cy="3727048"/>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p>
        </p:txBody>
      </p:sp>
      <p:sp>
        <p:nvSpPr>
          <p:cNvPr id="15" name="直角三角形 14"/>
          <p:cNvSpPr/>
          <p:nvPr/>
        </p:nvSpPr>
        <p:spPr>
          <a:xfrm rot="18914386">
            <a:off x="9526720" y="-831587"/>
            <a:ext cx="1697037" cy="167827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p>
        </p:txBody>
      </p:sp>
      <p:sp>
        <p:nvSpPr>
          <p:cNvPr id="16" name="任意多边形 15"/>
          <p:cNvSpPr/>
          <p:nvPr/>
        </p:nvSpPr>
        <p:spPr>
          <a:xfrm rot="18914386">
            <a:off x="9967507" y="411983"/>
            <a:ext cx="769329" cy="769329"/>
          </a:xfrm>
          <a:custGeom>
            <a:avLst/>
            <a:gdLst>
              <a:gd name="connsiteX0" fmla="*/ 0 w 1296133"/>
              <a:gd name="connsiteY0" fmla="*/ 0 h 1296133"/>
              <a:gd name="connsiteX1" fmla="*/ 63602 w 1296133"/>
              <a:gd name="connsiteY1" fmla="*/ 63602 h 1296133"/>
              <a:gd name="connsiteX2" fmla="*/ 63602 w 1296133"/>
              <a:gd name="connsiteY2" fmla="*/ 1231995 h 1296133"/>
              <a:gd name="connsiteX3" fmla="*/ 1231995 w 1296133"/>
              <a:gd name="connsiteY3" fmla="*/ 1231995 h 1296133"/>
              <a:gd name="connsiteX4" fmla="*/ 1296133 w 1296133"/>
              <a:gd name="connsiteY4" fmla="*/ 1296133 h 1296133"/>
              <a:gd name="connsiteX5" fmla="*/ 0 w 1296133"/>
              <a:gd name="connsiteY5" fmla="*/ 1296133 h 1296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133" h="1296133">
                <a:moveTo>
                  <a:pt x="0" y="0"/>
                </a:moveTo>
                <a:lnTo>
                  <a:pt x="63602" y="63602"/>
                </a:lnTo>
                <a:lnTo>
                  <a:pt x="63602" y="1231995"/>
                </a:lnTo>
                <a:lnTo>
                  <a:pt x="1231995" y="1231995"/>
                </a:lnTo>
                <a:lnTo>
                  <a:pt x="1296133" y="1296133"/>
                </a:lnTo>
                <a:lnTo>
                  <a:pt x="0" y="129613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p>
        </p:txBody>
      </p:sp>
      <p:sp>
        <p:nvSpPr>
          <p:cNvPr id="17" name="任意多边形 16"/>
          <p:cNvSpPr/>
          <p:nvPr/>
        </p:nvSpPr>
        <p:spPr>
          <a:xfrm>
            <a:off x="281032" y="3072964"/>
            <a:ext cx="3538728" cy="3538728"/>
          </a:xfrm>
          <a:custGeom>
            <a:avLst/>
            <a:gdLst>
              <a:gd name="connsiteX0" fmla="*/ 0 w 3538728"/>
              <a:gd name="connsiteY0" fmla="*/ 0 h 3538728"/>
              <a:gd name="connsiteX1" fmla="*/ 3538728 w 3538728"/>
              <a:gd name="connsiteY1" fmla="*/ 3538728 h 3538728"/>
              <a:gd name="connsiteX2" fmla="*/ 3405621 w 3538728"/>
              <a:gd name="connsiteY2" fmla="*/ 3538728 h 3538728"/>
              <a:gd name="connsiteX3" fmla="*/ 0 w 3538728"/>
              <a:gd name="connsiteY3" fmla="*/ 133107 h 3538728"/>
            </a:gdLst>
            <a:ahLst/>
            <a:cxnLst>
              <a:cxn ang="0">
                <a:pos x="connsiteX0" y="connsiteY0"/>
              </a:cxn>
              <a:cxn ang="0">
                <a:pos x="connsiteX1" y="connsiteY1"/>
              </a:cxn>
              <a:cxn ang="0">
                <a:pos x="connsiteX2" y="connsiteY2"/>
              </a:cxn>
              <a:cxn ang="0">
                <a:pos x="connsiteX3" y="connsiteY3"/>
              </a:cxn>
            </a:cxnLst>
            <a:rect l="l" t="t" r="r" b="b"/>
            <a:pathLst>
              <a:path w="3538728" h="3538728">
                <a:moveTo>
                  <a:pt x="0" y="0"/>
                </a:moveTo>
                <a:lnTo>
                  <a:pt x="3538728" y="3538728"/>
                </a:lnTo>
                <a:lnTo>
                  <a:pt x="3405621" y="3538728"/>
                </a:lnTo>
                <a:lnTo>
                  <a:pt x="0" y="133107"/>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p>
        </p:txBody>
      </p:sp>
      <p:pic>
        <p:nvPicPr>
          <p:cNvPr id="76" name="手机铃声 - 别错过这类型带有强劲沉稳节奏的来电彩铃.mp3">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918757" y="-67319"/>
            <a:ext cx="620779" cy="620779"/>
          </a:xfrm>
          <a:prstGeom prst="rect">
            <a:avLst/>
          </a:prstGeom>
        </p:spPr>
      </p:pic>
      <p:pic>
        <p:nvPicPr>
          <p:cNvPr id="7" name="图片 6"/>
          <p:cNvPicPr>
            <a:picLocks noChangeAspect="1"/>
          </p:cNvPicPr>
          <p:nvPr/>
        </p:nvPicPr>
        <p:blipFill rotWithShape="1">
          <a:blip r:embed="rId4">
            <a:extLst>
              <a:ext uri="{28A0092B-C50C-407E-A947-70E740481C1C}">
                <a14:useLocalDpi xmlns:a14="http://schemas.microsoft.com/office/drawing/2010/main" val="0"/>
              </a:ext>
            </a:extLst>
          </a:blip>
          <a:srcRect r="72729"/>
          <a:stretch>
            <a:fillRect/>
          </a:stretch>
        </p:blipFill>
        <p:spPr>
          <a:xfrm>
            <a:off x="9945416" y="79862"/>
            <a:ext cx="812708" cy="798074"/>
          </a:xfrm>
          <a:prstGeom prst="rect">
            <a:avLst/>
          </a:prstGeom>
        </p:spPr>
      </p:pic>
      <p:sp>
        <p:nvSpPr>
          <p:cNvPr id="4" name="文本框 3"/>
          <p:cNvSpPr txBox="1"/>
          <p:nvPr/>
        </p:nvSpPr>
        <p:spPr>
          <a:xfrm>
            <a:off x="1163955" y="1848485"/>
            <a:ext cx="10857865" cy="1564005"/>
          </a:xfrm>
          <a:prstGeom prst="rect">
            <a:avLst/>
          </a:prstGeom>
        </p:spPr>
        <p:txBody>
          <a:bodyPr wrap="square">
            <a:noAutofit/>
          </a:bodyPr>
          <a:p>
            <a:pPr algn="ctr"/>
            <a:r>
              <a:rPr lang="en-US" altLang="zh-CN" sz="4000" b="1">
                <a:solidFill>
                  <a:srgbClr val="000000"/>
                </a:solidFill>
                <a:latin typeface="华文仿宋" panose="02010600040101010101" charset="-122"/>
                <a:ea typeface="华文仿宋" panose="02010600040101010101" charset="-122"/>
              </a:rPr>
              <a:t>LOGICSEG</a:t>
            </a:r>
            <a:r>
              <a:rPr lang="en-US" altLang="zh-CN" sz="4000" b="1">
                <a:solidFill>
                  <a:srgbClr val="000000"/>
                </a:solidFill>
                <a:latin typeface="华文仿宋" panose="02010600040101010101" charset="-122"/>
                <a:ea typeface="华文仿宋" panose="02010600040101010101" charset="-122"/>
              </a:rPr>
              <a:t>: Parsing Visual Semantics with Neural Logic Learning and Reasoning</a:t>
            </a:r>
            <a:endParaRPr lang="en-US" altLang="zh-CN" sz="4000" b="1">
              <a:solidFill>
                <a:srgbClr val="000000"/>
              </a:solidFill>
              <a:latin typeface="华文仿宋" panose="02010600040101010101" charset="-122"/>
              <a:ea typeface="华文仿宋" panose="02010600040101010101" charset="-122"/>
            </a:endParaRPr>
          </a:p>
        </p:txBody>
      </p:sp>
      <p:sp>
        <p:nvSpPr>
          <p:cNvPr id="5" name="文本框 4"/>
          <p:cNvSpPr txBox="1"/>
          <p:nvPr/>
        </p:nvSpPr>
        <p:spPr>
          <a:xfrm>
            <a:off x="4810760" y="3387725"/>
            <a:ext cx="7011670" cy="460375"/>
          </a:xfrm>
          <a:prstGeom prst="rect">
            <a:avLst/>
          </a:prstGeom>
        </p:spPr>
        <p:txBody>
          <a:bodyPr wrap="square">
            <a:spAutoFit/>
          </a:bodyPr>
          <a:p>
            <a:r>
              <a:rPr lang="en-US" altLang="zh-CN" sz="2400">
                <a:solidFill>
                  <a:srgbClr val="000000"/>
                </a:solidFill>
                <a:latin typeface="华文仿宋" panose="02010600040101010101" charset="-122"/>
                <a:ea typeface="华文仿宋" panose="02010600040101010101" charset="-122"/>
              </a:rPr>
              <a:t>Liulei Li, Wenguan Wang, Yang Yi</a:t>
            </a:r>
            <a:endParaRPr lang="en-US" altLang="zh-CN" sz="1600">
              <a:solidFill>
                <a:srgbClr val="000000"/>
              </a:solidFill>
              <a:latin typeface="华文仿宋" panose="02010600040101010101" charset="-122"/>
              <a:ea typeface="华文仿宋" panose="02010600040101010101" charset="-122"/>
            </a:endParaRPr>
          </a:p>
        </p:txBody>
      </p:sp>
      <p:grpSp>
        <p:nvGrpSpPr>
          <p:cNvPr id="6" name="组合 5"/>
          <p:cNvGrpSpPr/>
          <p:nvPr/>
        </p:nvGrpSpPr>
        <p:grpSpPr>
          <a:xfrm>
            <a:off x="4864735" y="5090795"/>
            <a:ext cx="679450" cy="693420"/>
            <a:chOff x="1721162" y="4373847"/>
            <a:chExt cx="715716" cy="719823"/>
          </a:xfrm>
        </p:grpSpPr>
        <p:sp>
          <p:nvSpPr>
            <p:cNvPr id="8" name="Oval 28"/>
            <p:cNvSpPr/>
            <p:nvPr>
              <p:custDataLst>
                <p:tags r:id="rId5"/>
              </p:custDataLst>
            </p:nvPr>
          </p:nvSpPr>
          <p:spPr>
            <a:xfrm>
              <a:off x="1721162" y="4373847"/>
              <a:ext cx="715716" cy="719823"/>
            </a:xfrm>
            <a:prstGeom prst="ellipse">
              <a:avLst/>
            </a:prstGeom>
            <a:solidFill>
              <a:schemeClr val="tx1">
                <a:lumMod val="50000"/>
                <a:lumOff val="5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algn="ctr"/>
              <a:endParaRPr lang="en-US" sz="11735">
                <a:solidFill>
                  <a:schemeClr val="tx2">
                    <a:lumMod val="50000"/>
                  </a:schemeClr>
                </a:solidFill>
              </a:endParaRPr>
            </a:p>
          </p:txBody>
        </p:sp>
        <p:sp>
          <p:nvSpPr>
            <p:cNvPr id="24" name="Freeform 7"/>
            <p:cNvSpPr/>
            <p:nvPr>
              <p:custDataLst>
                <p:tags r:id="rId6"/>
              </p:custDataLst>
            </p:nvPr>
          </p:nvSpPr>
          <p:spPr bwMode="auto">
            <a:xfrm>
              <a:off x="1900092" y="4721918"/>
              <a:ext cx="357856" cy="207410"/>
            </a:xfrm>
            <a:custGeom>
              <a:avLst/>
              <a:gdLst>
                <a:gd name="T0" fmla="*/ 103 w 103"/>
                <a:gd name="T1" fmla="*/ 33 h 60"/>
                <a:gd name="T2" fmla="*/ 94 w 103"/>
                <a:gd name="T3" fmla="*/ 10 h 60"/>
                <a:gd name="T4" fmla="*/ 68 w 103"/>
                <a:gd name="T5" fmla="*/ 0 h 60"/>
                <a:gd name="T6" fmla="*/ 68 w 103"/>
                <a:gd name="T7" fmla="*/ 0 h 60"/>
                <a:gd name="T8" fmla="*/ 67 w 103"/>
                <a:gd name="T9" fmla="*/ 0 h 60"/>
                <a:gd name="T10" fmla="*/ 59 w 103"/>
                <a:gd name="T11" fmla="*/ 38 h 60"/>
                <a:gd name="T12" fmla="*/ 55 w 103"/>
                <a:gd name="T13" fmla="*/ 12 h 60"/>
                <a:gd name="T14" fmla="*/ 58 w 103"/>
                <a:gd name="T15" fmla="*/ 6 h 60"/>
                <a:gd name="T16" fmla="*/ 53 w 103"/>
                <a:gd name="T17" fmla="*/ 2 h 60"/>
                <a:gd name="T18" fmla="*/ 52 w 103"/>
                <a:gd name="T19" fmla="*/ 2 h 60"/>
                <a:gd name="T20" fmla="*/ 52 w 103"/>
                <a:gd name="T21" fmla="*/ 2 h 60"/>
                <a:gd name="T22" fmla="*/ 50 w 103"/>
                <a:gd name="T23" fmla="*/ 2 h 60"/>
                <a:gd name="T24" fmla="*/ 46 w 103"/>
                <a:gd name="T25" fmla="*/ 6 h 60"/>
                <a:gd name="T26" fmla="*/ 49 w 103"/>
                <a:gd name="T27" fmla="*/ 12 h 60"/>
                <a:gd name="T28" fmla="*/ 44 w 103"/>
                <a:gd name="T29" fmla="*/ 38 h 60"/>
                <a:gd name="T30" fmla="*/ 36 w 103"/>
                <a:gd name="T31" fmla="*/ 0 h 60"/>
                <a:gd name="T32" fmla="*/ 36 w 103"/>
                <a:gd name="T33" fmla="*/ 0 h 60"/>
                <a:gd name="T34" fmla="*/ 35 w 103"/>
                <a:gd name="T35" fmla="*/ 0 h 60"/>
                <a:gd name="T36" fmla="*/ 9 w 103"/>
                <a:gd name="T37" fmla="*/ 10 h 60"/>
                <a:gd name="T38" fmla="*/ 1 w 103"/>
                <a:gd name="T39" fmla="*/ 33 h 60"/>
                <a:gd name="T40" fmla="*/ 0 w 103"/>
                <a:gd name="T41" fmla="*/ 57 h 60"/>
                <a:gd name="T42" fmla="*/ 19 w 103"/>
                <a:gd name="T43" fmla="*/ 59 h 60"/>
                <a:gd name="T44" fmla="*/ 19 w 103"/>
                <a:gd name="T45" fmla="*/ 38 h 60"/>
                <a:gd name="T46" fmla="*/ 21 w 103"/>
                <a:gd name="T47" fmla="*/ 30 h 60"/>
                <a:gd name="T48" fmla="*/ 21 w 103"/>
                <a:gd name="T49" fmla="*/ 59 h 60"/>
                <a:gd name="T50" fmla="*/ 52 w 103"/>
                <a:gd name="T51" fmla="*/ 60 h 60"/>
                <a:gd name="T52" fmla="*/ 82 w 103"/>
                <a:gd name="T53" fmla="*/ 59 h 60"/>
                <a:gd name="T54" fmla="*/ 82 w 103"/>
                <a:gd name="T55" fmla="*/ 30 h 60"/>
                <a:gd name="T56" fmla="*/ 84 w 103"/>
                <a:gd name="T57" fmla="*/ 38 h 60"/>
                <a:gd name="T58" fmla="*/ 84 w 103"/>
                <a:gd name="T59" fmla="*/ 59 h 60"/>
                <a:gd name="T60" fmla="*/ 103 w 103"/>
                <a:gd name="T61" fmla="*/ 57 h 60"/>
                <a:gd name="T62" fmla="*/ 103 w 103"/>
                <a:gd name="T63" fmla="*/ 3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3" h="60">
                  <a:moveTo>
                    <a:pt x="103" y="33"/>
                  </a:moveTo>
                  <a:cubicBezTo>
                    <a:pt x="101" y="17"/>
                    <a:pt x="97" y="12"/>
                    <a:pt x="94" y="10"/>
                  </a:cubicBezTo>
                  <a:cubicBezTo>
                    <a:pt x="87" y="6"/>
                    <a:pt x="73" y="2"/>
                    <a:pt x="68" y="0"/>
                  </a:cubicBezTo>
                  <a:cubicBezTo>
                    <a:pt x="68" y="0"/>
                    <a:pt x="68" y="0"/>
                    <a:pt x="68" y="0"/>
                  </a:cubicBezTo>
                  <a:cubicBezTo>
                    <a:pt x="68" y="0"/>
                    <a:pt x="68" y="0"/>
                    <a:pt x="67" y="0"/>
                  </a:cubicBezTo>
                  <a:cubicBezTo>
                    <a:pt x="67" y="5"/>
                    <a:pt x="59" y="38"/>
                    <a:pt x="59" y="38"/>
                  </a:cubicBezTo>
                  <a:cubicBezTo>
                    <a:pt x="59" y="38"/>
                    <a:pt x="55" y="12"/>
                    <a:pt x="55" y="12"/>
                  </a:cubicBezTo>
                  <a:cubicBezTo>
                    <a:pt x="55" y="12"/>
                    <a:pt x="58" y="6"/>
                    <a:pt x="58" y="6"/>
                  </a:cubicBezTo>
                  <a:cubicBezTo>
                    <a:pt x="53" y="2"/>
                    <a:pt x="53" y="2"/>
                    <a:pt x="53" y="2"/>
                  </a:cubicBezTo>
                  <a:cubicBezTo>
                    <a:pt x="52" y="2"/>
                    <a:pt x="52" y="2"/>
                    <a:pt x="52" y="2"/>
                  </a:cubicBezTo>
                  <a:cubicBezTo>
                    <a:pt x="52" y="2"/>
                    <a:pt x="52" y="2"/>
                    <a:pt x="52" y="2"/>
                  </a:cubicBezTo>
                  <a:cubicBezTo>
                    <a:pt x="50" y="2"/>
                    <a:pt x="50" y="2"/>
                    <a:pt x="50" y="2"/>
                  </a:cubicBezTo>
                  <a:cubicBezTo>
                    <a:pt x="46" y="6"/>
                    <a:pt x="46" y="6"/>
                    <a:pt x="46" y="6"/>
                  </a:cubicBezTo>
                  <a:cubicBezTo>
                    <a:pt x="49" y="12"/>
                    <a:pt x="49" y="12"/>
                    <a:pt x="49" y="12"/>
                  </a:cubicBezTo>
                  <a:cubicBezTo>
                    <a:pt x="44" y="38"/>
                    <a:pt x="44" y="38"/>
                    <a:pt x="44" y="38"/>
                  </a:cubicBezTo>
                  <a:cubicBezTo>
                    <a:pt x="44" y="38"/>
                    <a:pt x="37" y="5"/>
                    <a:pt x="36" y="0"/>
                  </a:cubicBezTo>
                  <a:cubicBezTo>
                    <a:pt x="36" y="0"/>
                    <a:pt x="36" y="0"/>
                    <a:pt x="36" y="0"/>
                  </a:cubicBezTo>
                  <a:cubicBezTo>
                    <a:pt x="36" y="0"/>
                    <a:pt x="35" y="0"/>
                    <a:pt x="35" y="0"/>
                  </a:cubicBezTo>
                  <a:cubicBezTo>
                    <a:pt x="30" y="2"/>
                    <a:pt x="16" y="6"/>
                    <a:pt x="9" y="10"/>
                  </a:cubicBezTo>
                  <a:cubicBezTo>
                    <a:pt x="7" y="12"/>
                    <a:pt x="2" y="17"/>
                    <a:pt x="1" y="33"/>
                  </a:cubicBezTo>
                  <a:cubicBezTo>
                    <a:pt x="1" y="34"/>
                    <a:pt x="1" y="47"/>
                    <a:pt x="0" y="57"/>
                  </a:cubicBezTo>
                  <a:cubicBezTo>
                    <a:pt x="7" y="58"/>
                    <a:pt x="12" y="59"/>
                    <a:pt x="19" y="59"/>
                  </a:cubicBezTo>
                  <a:cubicBezTo>
                    <a:pt x="19" y="52"/>
                    <a:pt x="19" y="41"/>
                    <a:pt x="19" y="38"/>
                  </a:cubicBezTo>
                  <a:cubicBezTo>
                    <a:pt x="19" y="35"/>
                    <a:pt x="20" y="32"/>
                    <a:pt x="21" y="30"/>
                  </a:cubicBezTo>
                  <a:cubicBezTo>
                    <a:pt x="21" y="59"/>
                    <a:pt x="21" y="59"/>
                    <a:pt x="21" y="59"/>
                  </a:cubicBezTo>
                  <a:cubicBezTo>
                    <a:pt x="30" y="60"/>
                    <a:pt x="42" y="60"/>
                    <a:pt x="52" y="60"/>
                  </a:cubicBezTo>
                  <a:cubicBezTo>
                    <a:pt x="62" y="60"/>
                    <a:pt x="73" y="60"/>
                    <a:pt x="82" y="59"/>
                  </a:cubicBezTo>
                  <a:cubicBezTo>
                    <a:pt x="82" y="30"/>
                    <a:pt x="82" y="30"/>
                    <a:pt x="82" y="30"/>
                  </a:cubicBezTo>
                  <a:cubicBezTo>
                    <a:pt x="83" y="32"/>
                    <a:pt x="84" y="35"/>
                    <a:pt x="84" y="38"/>
                  </a:cubicBezTo>
                  <a:cubicBezTo>
                    <a:pt x="84" y="41"/>
                    <a:pt x="84" y="52"/>
                    <a:pt x="84" y="59"/>
                  </a:cubicBezTo>
                  <a:cubicBezTo>
                    <a:pt x="91" y="58"/>
                    <a:pt x="97" y="58"/>
                    <a:pt x="103" y="57"/>
                  </a:cubicBezTo>
                  <a:cubicBezTo>
                    <a:pt x="103" y="47"/>
                    <a:pt x="103" y="34"/>
                    <a:pt x="103" y="33"/>
                  </a:cubicBezTo>
                  <a:close/>
                </a:path>
              </a:pathLst>
            </a:custGeom>
            <a:solidFill>
              <a:schemeClr val="bg1"/>
            </a:solidFill>
            <a:ln>
              <a:noFill/>
            </a:ln>
          </p:spPr>
          <p:txBody>
            <a:bodyPr vert="horz" wrap="square" lIns="91440" tIns="45720" rIns="91440" bIns="45720" numCol="1" anchor="t" anchorCtr="0" compatLnSpc="1"/>
            <a:p>
              <a:endParaRPr lang="zh-CN" altLang="en-US">
                <a:solidFill>
                  <a:prstClr val="black"/>
                </a:solidFill>
              </a:endParaRPr>
            </a:p>
          </p:txBody>
        </p:sp>
        <p:sp>
          <p:nvSpPr>
            <p:cNvPr id="9" name="Freeform 8"/>
            <p:cNvSpPr/>
            <p:nvPr>
              <p:custDataLst>
                <p:tags r:id="rId7"/>
              </p:custDataLst>
            </p:nvPr>
          </p:nvSpPr>
          <p:spPr bwMode="auto">
            <a:xfrm>
              <a:off x="1998517" y="4531827"/>
              <a:ext cx="162560" cy="190091"/>
            </a:xfrm>
            <a:custGeom>
              <a:avLst/>
              <a:gdLst>
                <a:gd name="T0" fmla="*/ 4 w 52"/>
                <a:gd name="T1" fmla="*/ 25 h 61"/>
                <a:gd name="T2" fmla="*/ 0 w 52"/>
                <a:gd name="T3" fmla="*/ 29 h 61"/>
                <a:gd name="T4" fmla="*/ 5 w 52"/>
                <a:gd name="T5" fmla="*/ 39 h 61"/>
                <a:gd name="T6" fmla="*/ 26 w 52"/>
                <a:gd name="T7" fmla="*/ 61 h 61"/>
                <a:gd name="T8" fmla="*/ 47 w 52"/>
                <a:gd name="T9" fmla="*/ 39 h 61"/>
                <a:gd name="T10" fmla="*/ 52 w 52"/>
                <a:gd name="T11" fmla="*/ 29 h 61"/>
                <a:gd name="T12" fmla="*/ 48 w 52"/>
                <a:gd name="T13" fmla="*/ 25 h 61"/>
                <a:gd name="T14" fmla="*/ 26 w 52"/>
                <a:gd name="T15" fmla="*/ 0 h 61"/>
                <a:gd name="T16" fmla="*/ 4 w 52"/>
                <a:gd name="T17"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61">
                  <a:moveTo>
                    <a:pt x="4" y="25"/>
                  </a:moveTo>
                  <a:cubicBezTo>
                    <a:pt x="2" y="25"/>
                    <a:pt x="0" y="27"/>
                    <a:pt x="0" y="29"/>
                  </a:cubicBezTo>
                  <a:cubicBezTo>
                    <a:pt x="0" y="33"/>
                    <a:pt x="2" y="39"/>
                    <a:pt x="5" y="39"/>
                  </a:cubicBezTo>
                  <a:cubicBezTo>
                    <a:pt x="8" y="51"/>
                    <a:pt x="15" y="61"/>
                    <a:pt x="26" y="61"/>
                  </a:cubicBezTo>
                  <a:cubicBezTo>
                    <a:pt x="37" y="61"/>
                    <a:pt x="44" y="51"/>
                    <a:pt x="47" y="39"/>
                  </a:cubicBezTo>
                  <a:cubicBezTo>
                    <a:pt x="50" y="38"/>
                    <a:pt x="52" y="33"/>
                    <a:pt x="52" y="29"/>
                  </a:cubicBezTo>
                  <a:cubicBezTo>
                    <a:pt x="51" y="27"/>
                    <a:pt x="50" y="26"/>
                    <a:pt x="48" y="25"/>
                  </a:cubicBezTo>
                  <a:cubicBezTo>
                    <a:pt x="48" y="11"/>
                    <a:pt x="39" y="0"/>
                    <a:pt x="26" y="0"/>
                  </a:cubicBezTo>
                  <a:cubicBezTo>
                    <a:pt x="13" y="0"/>
                    <a:pt x="4" y="11"/>
                    <a:pt x="4" y="25"/>
                  </a:cubicBezTo>
                  <a:close/>
                </a:path>
              </a:pathLst>
            </a:custGeom>
            <a:solidFill>
              <a:schemeClr val="bg1"/>
            </a:solidFill>
            <a:ln>
              <a:noFill/>
            </a:ln>
          </p:spPr>
          <p:txBody>
            <a:bodyPr vert="horz" wrap="square" lIns="91440" tIns="45720" rIns="91440" bIns="45720" numCol="1" anchor="t" anchorCtr="0" compatLnSpc="1"/>
            <a:p>
              <a:endParaRPr lang="zh-CN" altLang="en-US">
                <a:solidFill>
                  <a:prstClr val="black"/>
                </a:solidFill>
              </a:endParaRPr>
            </a:p>
          </p:txBody>
        </p:sp>
      </p:grpSp>
      <p:pic>
        <p:nvPicPr>
          <p:cNvPr id="10" name="图片 9"/>
          <p:cNvPicPr>
            <a:picLocks noChangeAspect="1"/>
          </p:cNvPicPr>
          <p:nvPr>
            <p:custDataLst>
              <p:tags r:id="rId8"/>
            </p:custDataLst>
          </p:nvPr>
        </p:nvPicPr>
        <p:blipFill>
          <a:blip r:embed="rId9"/>
          <a:stretch>
            <a:fillRect/>
          </a:stretch>
        </p:blipFill>
        <p:spPr>
          <a:xfrm>
            <a:off x="5544185" y="5606415"/>
            <a:ext cx="2511425" cy="177800"/>
          </a:xfrm>
          <a:prstGeom prst="rect">
            <a:avLst/>
          </a:prstGeom>
        </p:spPr>
      </p:pic>
      <p:sp>
        <p:nvSpPr>
          <p:cNvPr id="26" name="矩形 3"/>
          <p:cNvSpPr>
            <a:spLocks noChangeArrowheads="1"/>
          </p:cNvSpPr>
          <p:nvPr>
            <p:custDataLst>
              <p:tags r:id="rId10"/>
            </p:custDataLst>
          </p:nvPr>
        </p:nvSpPr>
        <p:spPr bwMode="auto">
          <a:xfrm>
            <a:off x="5544185" y="5243195"/>
            <a:ext cx="228536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3" tIns="34287" rIns="68573" bIns="34287">
            <a:noAutofit/>
          </a:bodyPr>
          <a:p>
            <a:pPr>
              <a:spcBef>
                <a:spcPct val="0"/>
              </a:spcBef>
              <a:buFont typeface="Arial" panose="020B0604020202020204" pitchFamily="34" charset="0"/>
              <a:buNone/>
            </a:pPr>
            <a:r>
              <a:rPr lang="zh-CN" sz="2400" dirty="0">
                <a:solidFill>
                  <a:schemeClr val="tx1">
                    <a:lumMod val="65000"/>
                    <a:lumOff val="35000"/>
                  </a:schemeClr>
                </a:solidFill>
                <a:latin typeface="楷体" panose="02010609060101010101" charset="-122"/>
                <a:ea typeface="楷体" panose="02010609060101010101" charset="-122"/>
                <a:cs typeface="楷体" panose="02010609060101010101" charset="-122"/>
              </a:rPr>
              <a:t>计试</a:t>
            </a:r>
            <a:r>
              <a:rPr lang="en-US" altLang="zh-CN" sz="2400" dirty="0">
                <a:solidFill>
                  <a:schemeClr val="tx1">
                    <a:lumMod val="65000"/>
                    <a:lumOff val="35000"/>
                  </a:schemeClr>
                </a:solidFill>
                <a:latin typeface="楷体" panose="02010609060101010101" charset="-122"/>
                <a:ea typeface="楷体" panose="02010609060101010101" charset="-122"/>
                <a:cs typeface="楷体" panose="02010609060101010101" charset="-122"/>
              </a:rPr>
              <a:t>2201</a:t>
            </a:r>
            <a:r>
              <a:rPr lang="en-US" altLang="zh-CN" sz="2400" dirty="0">
                <a:solidFill>
                  <a:schemeClr val="tx1">
                    <a:lumMod val="50000"/>
                    <a:lumOff val="50000"/>
                  </a:schemeClr>
                </a:solidFill>
                <a:latin typeface="楷体" panose="02010609060101010101" charset="-122"/>
                <a:ea typeface="楷体" panose="02010609060101010101" charset="-122"/>
                <a:cs typeface="楷体" panose="02010609060101010101" charset="-122"/>
              </a:rPr>
              <a:t> </a:t>
            </a:r>
            <a:r>
              <a:rPr lang="zh-CN" altLang="en-US" sz="2400" dirty="0">
                <a:solidFill>
                  <a:schemeClr val="tx1">
                    <a:lumMod val="65000"/>
                    <a:lumOff val="35000"/>
                  </a:schemeClr>
                </a:solidFill>
                <a:latin typeface="楷体" panose="02010609060101010101" charset="-122"/>
                <a:ea typeface="楷体" panose="02010609060101010101" charset="-122"/>
                <a:cs typeface="楷体" panose="02010609060101010101" charset="-122"/>
              </a:rPr>
              <a:t>林圣翔</a:t>
            </a:r>
            <a:endParaRPr lang="zh-CN" altLang="en-US" sz="2400" dirty="0">
              <a:solidFill>
                <a:schemeClr val="tx1">
                  <a:lumMod val="65000"/>
                  <a:lumOff val="35000"/>
                </a:schemeClr>
              </a:solidFill>
              <a:latin typeface="楷体" panose="02010609060101010101" charset="-122"/>
              <a:ea typeface="楷体" panose="02010609060101010101" charset="-122"/>
              <a:cs typeface="楷体" panose="02010609060101010101" charset="-122"/>
            </a:endParaRPr>
          </a:p>
        </p:txBody>
      </p:sp>
      <p:grpSp>
        <p:nvGrpSpPr>
          <p:cNvPr id="37" name="组合 36"/>
          <p:cNvGrpSpPr/>
          <p:nvPr/>
        </p:nvGrpSpPr>
        <p:grpSpPr>
          <a:xfrm>
            <a:off x="8392795" y="5091430"/>
            <a:ext cx="613410" cy="626745"/>
            <a:chOff x="8262191" y="4797280"/>
            <a:chExt cx="715716" cy="719823"/>
          </a:xfrm>
        </p:grpSpPr>
        <p:sp>
          <p:nvSpPr>
            <p:cNvPr id="38" name="Oval 28"/>
            <p:cNvSpPr/>
            <p:nvPr>
              <p:custDataLst>
                <p:tags r:id="rId11"/>
              </p:custDataLst>
            </p:nvPr>
          </p:nvSpPr>
          <p:spPr>
            <a:xfrm>
              <a:off x="8262191" y="4797280"/>
              <a:ext cx="715716" cy="719823"/>
            </a:xfrm>
            <a:prstGeom prst="ellipse">
              <a:avLst/>
            </a:prstGeom>
            <a:solidFill>
              <a:schemeClr val="tx1">
                <a:lumMod val="50000"/>
                <a:lumOff val="5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p>
              <a:pPr algn="ctr"/>
              <a:endParaRPr lang="en-US" sz="11735">
                <a:solidFill>
                  <a:schemeClr val="tx2">
                    <a:lumMod val="50000"/>
                  </a:schemeClr>
                </a:solidFill>
              </a:endParaRPr>
            </a:p>
          </p:txBody>
        </p:sp>
        <p:sp>
          <p:nvSpPr>
            <p:cNvPr id="39" name="Freeform 145"/>
            <p:cNvSpPr>
              <a:spLocks noEditPoints="1"/>
            </p:cNvSpPr>
            <p:nvPr>
              <p:custDataLst>
                <p:tags r:id="rId12"/>
              </p:custDataLst>
            </p:nvPr>
          </p:nvSpPr>
          <p:spPr bwMode="auto">
            <a:xfrm>
              <a:off x="8509295" y="4988605"/>
              <a:ext cx="265683" cy="400701"/>
            </a:xfrm>
            <a:custGeom>
              <a:avLst/>
              <a:gdLst>
                <a:gd name="T0" fmla="*/ 92 w 122"/>
                <a:gd name="T1" fmla="*/ 98 h 184"/>
                <a:gd name="T2" fmla="*/ 80 w 122"/>
                <a:gd name="T3" fmla="*/ 55 h 184"/>
                <a:gd name="T4" fmla="*/ 111 w 122"/>
                <a:gd name="T5" fmla="*/ 73 h 184"/>
                <a:gd name="T6" fmla="*/ 122 w 122"/>
                <a:gd name="T7" fmla="*/ 117 h 184"/>
                <a:gd name="T8" fmla="*/ 92 w 122"/>
                <a:gd name="T9" fmla="*/ 98 h 184"/>
                <a:gd name="T10" fmla="*/ 31 w 122"/>
                <a:gd name="T11" fmla="*/ 36 h 184"/>
                <a:gd name="T12" fmla="*/ 18 w 122"/>
                <a:gd name="T13" fmla="*/ 0 h 184"/>
                <a:gd name="T14" fmla="*/ 80 w 122"/>
                <a:gd name="T15" fmla="*/ 0 h 184"/>
                <a:gd name="T16" fmla="*/ 67 w 122"/>
                <a:gd name="T17" fmla="*/ 36 h 184"/>
                <a:gd name="T18" fmla="*/ 31 w 122"/>
                <a:gd name="T19" fmla="*/ 36 h 184"/>
                <a:gd name="T20" fmla="*/ 67 w 122"/>
                <a:gd name="T21" fmla="*/ 43 h 184"/>
                <a:gd name="T22" fmla="*/ 89 w 122"/>
                <a:gd name="T23" fmla="*/ 112 h 184"/>
                <a:gd name="T24" fmla="*/ 90 w 122"/>
                <a:gd name="T25" fmla="*/ 112 h 184"/>
                <a:gd name="T26" fmla="*/ 89 w 122"/>
                <a:gd name="T27" fmla="*/ 113 h 184"/>
                <a:gd name="T28" fmla="*/ 98 w 122"/>
                <a:gd name="T29" fmla="*/ 141 h 184"/>
                <a:gd name="T30" fmla="*/ 49 w 122"/>
                <a:gd name="T31" fmla="*/ 184 h 184"/>
                <a:gd name="T32" fmla="*/ 0 w 122"/>
                <a:gd name="T33" fmla="*/ 141 h 184"/>
                <a:gd name="T34" fmla="*/ 31 w 122"/>
                <a:gd name="T35" fmla="*/ 43 h 184"/>
                <a:gd name="T36" fmla="*/ 67 w 122"/>
                <a:gd name="T37" fmla="*/ 43 h 184"/>
                <a:gd name="T38" fmla="*/ 55 w 122"/>
                <a:gd name="T39" fmla="*/ 55 h 184"/>
                <a:gd name="T40" fmla="*/ 43 w 122"/>
                <a:gd name="T41" fmla="*/ 55 h 184"/>
                <a:gd name="T42" fmla="*/ 35 w 122"/>
                <a:gd name="T43" fmla="*/ 81 h 184"/>
                <a:gd name="T44" fmla="*/ 56 w 122"/>
                <a:gd name="T45" fmla="*/ 60 h 184"/>
                <a:gd name="T46" fmla="*/ 55 w 122"/>
                <a:gd name="T47" fmla="*/ 55 h 184"/>
                <a:gd name="T48" fmla="*/ 49 w 122"/>
                <a:gd name="T49" fmla="*/ 166 h 184"/>
                <a:gd name="T50" fmla="*/ 80 w 122"/>
                <a:gd name="T51" fmla="*/ 135 h 184"/>
                <a:gd name="T52" fmla="*/ 77 w 122"/>
                <a:gd name="T53" fmla="*/ 125 h 184"/>
                <a:gd name="T54" fmla="*/ 43 w 122"/>
                <a:gd name="T55" fmla="*/ 160 h 184"/>
                <a:gd name="T56" fmla="*/ 49 w 122"/>
                <a:gd name="T57" fmla="*/ 166 h 184"/>
                <a:gd name="T58" fmla="*/ 33 w 122"/>
                <a:gd name="T59" fmla="*/ 149 h 184"/>
                <a:gd name="T60" fmla="*/ 72 w 122"/>
                <a:gd name="T61" fmla="*/ 110 h 184"/>
                <a:gd name="T62" fmla="*/ 68 w 122"/>
                <a:gd name="T63" fmla="*/ 98 h 184"/>
                <a:gd name="T64" fmla="*/ 25 w 122"/>
                <a:gd name="T65" fmla="*/ 141 h 184"/>
                <a:gd name="T66" fmla="*/ 33 w 122"/>
                <a:gd name="T67" fmla="*/ 149 h 184"/>
                <a:gd name="T68" fmla="*/ 21 w 122"/>
                <a:gd name="T69" fmla="*/ 128 h 184"/>
                <a:gd name="T70" fmla="*/ 64 w 122"/>
                <a:gd name="T71" fmla="*/ 84 h 184"/>
                <a:gd name="T72" fmla="*/ 61 w 122"/>
                <a:gd name="T73" fmla="*/ 73 h 184"/>
                <a:gd name="T74" fmla="*/ 27 w 122"/>
                <a:gd name="T75" fmla="*/ 106 h 184"/>
                <a:gd name="T76" fmla="*/ 21 w 122"/>
                <a:gd name="T77" fmla="*/ 128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2" h="184">
                  <a:moveTo>
                    <a:pt x="92" y="98"/>
                  </a:moveTo>
                  <a:lnTo>
                    <a:pt x="80" y="55"/>
                  </a:lnTo>
                  <a:lnTo>
                    <a:pt x="111" y="73"/>
                  </a:lnTo>
                  <a:lnTo>
                    <a:pt x="122" y="117"/>
                  </a:lnTo>
                  <a:lnTo>
                    <a:pt x="92" y="98"/>
                  </a:lnTo>
                  <a:close/>
                  <a:moveTo>
                    <a:pt x="31" y="36"/>
                  </a:moveTo>
                  <a:lnTo>
                    <a:pt x="18" y="0"/>
                  </a:lnTo>
                  <a:lnTo>
                    <a:pt x="80" y="0"/>
                  </a:lnTo>
                  <a:lnTo>
                    <a:pt x="67" y="36"/>
                  </a:lnTo>
                  <a:lnTo>
                    <a:pt x="31" y="36"/>
                  </a:lnTo>
                  <a:close/>
                  <a:moveTo>
                    <a:pt x="67" y="43"/>
                  </a:moveTo>
                  <a:lnTo>
                    <a:pt x="89" y="112"/>
                  </a:lnTo>
                  <a:lnTo>
                    <a:pt x="90" y="112"/>
                  </a:lnTo>
                  <a:lnTo>
                    <a:pt x="89" y="113"/>
                  </a:lnTo>
                  <a:lnTo>
                    <a:pt x="98" y="141"/>
                  </a:lnTo>
                  <a:lnTo>
                    <a:pt x="49" y="184"/>
                  </a:lnTo>
                  <a:lnTo>
                    <a:pt x="0" y="141"/>
                  </a:lnTo>
                  <a:lnTo>
                    <a:pt x="31" y="43"/>
                  </a:lnTo>
                  <a:lnTo>
                    <a:pt x="67" y="43"/>
                  </a:lnTo>
                  <a:close/>
                  <a:moveTo>
                    <a:pt x="55" y="55"/>
                  </a:moveTo>
                  <a:lnTo>
                    <a:pt x="43" y="55"/>
                  </a:lnTo>
                  <a:lnTo>
                    <a:pt x="35" y="81"/>
                  </a:lnTo>
                  <a:lnTo>
                    <a:pt x="56" y="60"/>
                  </a:lnTo>
                  <a:lnTo>
                    <a:pt x="55" y="55"/>
                  </a:lnTo>
                  <a:close/>
                  <a:moveTo>
                    <a:pt x="49" y="166"/>
                  </a:moveTo>
                  <a:lnTo>
                    <a:pt x="80" y="135"/>
                  </a:lnTo>
                  <a:lnTo>
                    <a:pt x="77" y="125"/>
                  </a:lnTo>
                  <a:lnTo>
                    <a:pt x="43" y="160"/>
                  </a:lnTo>
                  <a:lnTo>
                    <a:pt x="49" y="166"/>
                  </a:lnTo>
                  <a:close/>
                  <a:moveTo>
                    <a:pt x="33" y="149"/>
                  </a:moveTo>
                  <a:lnTo>
                    <a:pt x="72" y="110"/>
                  </a:lnTo>
                  <a:lnTo>
                    <a:pt x="68" y="98"/>
                  </a:lnTo>
                  <a:lnTo>
                    <a:pt x="25" y="141"/>
                  </a:lnTo>
                  <a:lnTo>
                    <a:pt x="33" y="149"/>
                  </a:lnTo>
                  <a:close/>
                  <a:moveTo>
                    <a:pt x="21" y="128"/>
                  </a:moveTo>
                  <a:lnTo>
                    <a:pt x="64" y="84"/>
                  </a:lnTo>
                  <a:lnTo>
                    <a:pt x="61" y="73"/>
                  </a:lnTo>
                  <a:lnTo>
                    <a:pt x="27" y="106"/>
                  </a:lnTo>
                  <a:lnTo>
                    <a:pt x="21" y="128"/>
                  </a:lnTo>
                  <a:close/>
                </a:path>
              </a:pathLst>
            </a:custGeom>
            <a:solidFill>
              <a:schemeClr val="bg1"/>
            </a:solidFill>
            <a:ln>
              <a:noFill/>
            </a:ln>
          </p:spPr>
          <p:txBody>
            <a:bodyPr vert="horz" wrap="square" lIns="91440" tIns="45720" rIns="91440" bIns="45720" numCol="1" anchor="t" anchorCtr="0" compatLnSpc="1"/>
            <a:p>
              <a:endParaRPr lang="zh-CN" altLang="en-US"/>
            </a:p>
          </p:txBody>
        </p:sp>
      </p:grpSp>
      <p:pic>
        <p:nvPicPr>
          <p:cNvPr id="18" name="图片 17"/>
          <p:cNvPicPr>
            <a:picLocks noChangeAspect="1"/>
          </p:cNvPicPr>
          <p:nvPr>
            <p:custDataLst>
              <p:tags r:id="rId13"/>
            </p:custDataLst>
          </p:nvPr>
        </p:nvPicPr>
        <p:blipFill>
          <a:blip r:embed="rId9"/>
          <a:stretch>
            <a:fillRect/>
          </a:stretch>
        </p:blipFill>
        <p:spPr>
          <a:xfrm>
            <a:off x="8932545" y="5626100"/>
            <a:ext cx="2237105" cy="158115"/>
          </a:xfrm>
          <a:prstGeom prst="rect">
            <a:avLst/>
          </a:prstGeom>
        </p:spPr>
      </p:pic>
      <p:sp>
        <p:nvSpPr>
          <p:cNvPr id="31" name="文本框 30"/>
          <p:cNvSpPr txBox="1"/>
          <p:nvPr/>
        </p:nvSpPr>
        <p:spPr>
          <a:xfrm>
            <a:off x="9150350" y="5233035"/>
            <a:ext cx="1772920" cy="460375"/>
          </a:xfrm>
          <a:prstGeom prst="rect">
            <a:avLst/>
          </a:prstGeom>
        </p:spPr>
        <p:txBody>
          <a:bodyPr wrap="square">
            <a:spAutoFit/>
          </a:bodyPr>
          <a:p>
            <a:r>
              <a:rPr lang="zh-CN" sz="2400" dirty="0">
                <a:solidFill>
                  <a:schemeClr val="tx1">
                    <a:lumMod val="65000"/>
                    <a:lumOff val="35000"/>
                  </a:schemeClr>
                </a:solidFill>
                <a:latin typeface="楷体" panose="02010609060101010101" charset="-122"/>
                <a:ea typeface="楷体" panose="02010609060101010101" charset="-122"/>
                <a:cs typeface="楷体" panose="02010609060101010101" charset="-122"/>
              </a:rPr>
              <a:t>2024.04.08</a:t>
            </a:r>
            <a:endParaRPr lang="zh-CN" sz="2400" dirty="0">
              <a:solidFill>
                <a:schemeClr val="tx1">
                  <a:lumMod val="65000"/>
                  <a:lumOff val="35000"/>
                </a:schemeClr>
              </a:solidFill>
              <a:latin typeface="楷体" panose="02010609060101010101" charset="-122"/>
              <a:ea typeface="楷体" panose="02010609060101010101" charset="-122"/>
              <a:cs typeface="楷体" panose="02010609060101010101" charset="-122"/>
            </a:endParaRPr>
          </a:p>
        </p:txBody>
      </p:sp>
      <p:sp>
        <p:nvSpPr>
          <p:cNvPr id="32" name="文本框 31"/>
          <p:cNvSpPr txBox="1"/>
          <p:nvPr/>
        </p:nvSpPr>
        <p:spPr>
          <a:xfrm>
            <a:off x="4957445" y="3920173"/>
            <a:ext cx="5080000" cy="337185"/>
          </a:xfrm>
          <a:prstGeom prst="rect">
            <a:avLst/>
          </a:prstGeom>
        </p:spPr>
        <p:txBody>
          <a:bodyPr>
            <a:spAutoFit/>
          </a:bodyPr>
          <a:p>
            <a:r>
              <a:rPr lang="en-US" altLang="zh-CN" sz="1600">
                <a:solidFill>
                  <a:schemeClr val="tx1"/>
                </a:solidFill>
                <a:latin typeface="NimbusMonL-Regu"/>
                <a:ea typeface="NimbusMonL-Regu"/>
              </a:rPr>
              <a:t>https://github.com/lingorX/LogicSeg/</a:t>
            </a:r>
            <a:endParaRPr lang="en-US" altLang="zh-CN" sz="1600">
              <a:solidFill>
                <a:schemeClr val="tx1"/>
              </a:solidFill>
              <a:latin typeface="NimbusMonL-Regu"/>
              <a:ea typeface="NimbusMonL-Regu"/>
            </a:endParaRPr>
          </a:p>
        </p:txBody>
      </p:sp>
      <p:sp>
        <p:nvSpPr>
          <p:cNvPr id="33" name="文本框 32"/>
          <p:cNvSpPr txBox="1"/>
          <p:nvPr/>
        </p:nvSpPr>
        <p:spPr>
          <a:xfrm>
            <a:off x="1028065" y="988060"/>
            <a:ext cx="10857865" cy="1564005"/>
          </a:xfrm>
          <a:prstGeom prst="rect">
            <a:avLst/>
          </a:prstGeom>
        </p:spPr>
        <p:txBody>
          <a:bodyPr wrap="square">
            <a:noAutofit/>
          </a:bodyPr>
          <a:p>
            <a:pPr algn="ctr"/>
            <a:r>
              <a:rPr lang="en-US" altLang="zh-CN" sz="4400" b="1">
                <a:solidFill>
                  <a:srgbClr val="000000"/>
                </a:solidFill>
                <a:latin typeface="华文仿宋" panose="02010600040101010101" charset="-122"/>
                <a:ea typeface="华文仿宋" panose="02010600040101010101" charset="-122"/>
              </a:rPr>
              <a:t>ICCV 2023</a:t>
            </a:r>
            <a:endParaRPr lang="en-US" altLang="zh-CN" sz="4400" b="1">
              <a:solidFill>
                <a:srgbClr val="000000"/>
              </a:solidFill>
              <a:latin typeface="华文仿宋" panose="02010600040101010101" charset="-122"/>
              <a:ea typeface="华文仿宋"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4000" advClick="0" advTm="14000">
        <p14:vortex dir="r"/>
      </p:transition>
    </mc:Choice>
    <mc:Fallback>
      <p:transition spd="slow" advClick="0" advTm="14000">
        <p:fade/>
      </p:transition>
    </mc:Fallback>
  </mc:AlternateContent>
  <p:timing>
    <p:tnLst>
      <p:par>
        <p:cTn id="1" dur="indefinite" restart="never" nodeType="tmRoot">
          <p:childTnLst>
            <p:audio>
              <p:cMediaNode vol="80000" numSld="20" showWhenStopped="0">
                <p:cTn id="2" repeatCount="indefinite" fill="remove" display="0">
                  <p:stCondLst>
                    <p:cond delay="indefinite"/>
                  </p:stCondLst>
                  <p:endCondLst>
                    <p:cond evt="onStopAudio" delay="0">
                      <p:tgtEl>
                        <p:sldTgt/>
                      </p:tgtEl>
                    </p:cond>
                  </p:endCondLst>
                </p:cTn>
                <p:tgtEl>
                  <p:spTgt spid="76"/>
                </p:tgtEl>
              </p:cMediaNode>
            </p:audio>
          </p:childTnLst>
        </p:cTn>
      </p:par>
    </p:tnLst>
    <p:bldLst>
      <p:bldP spid="16"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87" y="13684"/>
            <a:ext cx="12191239" cy="6857572"/>
          </a:xfrm>
          <a:prstGeom prst="rect">
            <a:avLst/>
          </a:prstGeom>
        </p:spPr>
      </p:pic>
      <p:sp>
        <p:nvSpPr>
          <p:cNvPr id="8" name="Freeform 5"/>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0" name="Freeform 6"/>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C9C9C9"/>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1" name="Freeform 7"/>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solidFill>
            <a:srgbClr val="0070C0"/>
          </a:solidFill>
          <a:ln>
            <a:noFill/>
          </a:ln>
        </p:spPr>
        <p:txBody>
          <a:bodyPr lIns="91416" tIns="45708" rIns="91416" bIns="45708"/>
          <a:lstStyle/>
          <a:p>
            <a:endParaRPr lang="zh-CN" altLang="en-US" sz="2400"/>
          </a:p>
        </p:txBody>
      </p:sp>
      <p:sp>
        <p:nvSpPr>
          <p:cNvPr id="12" name="Freeform 8"/>
          <p:cNvSpPr/>
          <p:nvPr/>
        </p:nvSpPr>
        <p:spPr bwMode="auto">
          <a:xfrm>
            <a:off x="11227177" y="1908175"/>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3" name="Freeform 9"/>
          <p:cNvSpPr/>
          <p:nvPr/>
        </p:nvSpPr>
        <p:spPr bwMode="auto">
          <a:xfrm>
            <a:off x="10587664" y="6049964"/>
            <a:ext cx="1604336" cy="808037"/>
          </a:xfrm>
          <a:custGeom>
            <a:avLst/>
            <a:gdLst>
              <a:gd name="T0" fmla="*/ 2088 w 2088"/>
              <a:gd name="T1" fmla="*/ 0 h 1048"/>
              <a:gd name="T2" fmla="*/ 2088 w 2088"/>
              <a:gd name="T3" fmla="*/ 1048 h 1048"/>
              <a:gd name="T4" fmla="*/ 0 w 2088"/>
              <a:gd name="T5" fmla="*/ 1048 h 1048"/>
              <a:gd name="T6" fmla="*/ 662 w 2088"/>
              <a:gd name="T7" fmla="*/ 0 h 1048"/>
              <a:gd name="T8" fmla="*/ 2088 w 2088"/>
              <a:gd name="T9" fmla="*/ 0 h 1048"/>
            </a:gdLst>
            <a:ahLst/>
            <a:cxnLst>
              <a:cxn ang="0">
                <a:pos x="T0" y="T1"/>
              </a:cxn>
              <a:cxn ang="0">
                <a:pos x="T2" y="T3"/>
              </a:cxn>
              <a:cxn ang="0">
                <a:pos x="T4" y="T5"/>
              </a:cxn>
              <a:cxn ang="0">
                <a:pos x="T6" y="T7"/>
              </a:cxn>
              <a:cxn ang="0">
                <a:pos x="T8" y="T9"/>
              </a:cxn>
            </a:cxnLst>
            <a:rect l="0" t="0" r="r" b="b"/>
            <a:pathLst>
              <a:path w="2088" h="1048">
                <a:moveTo>
                  <a:pt x="2088" y="0"/>
                </a:moveTo>
                <a:lnTo>
                  <a:pt x="2088" y="1048"/>
                </a:lnTo>
                <a:lnTo>
                  <a:pt x="0" y="1048"/>
                </a:lnTo>
                <a:lnTo>
                  <a:pt x="662" y="0"/>
                </a:lnTo>
                <a:lnTo>
                  <a:pt x="2088" y="0"/>
                </a:lnTo>
                <a:close/>
              </a:path>
            </a:pathLst>
          </a:custGeom>
          <a:solidFill>
            <a:srgbClr val="C1C0C3"/>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4" name="Freeform 10"/>
          <p:cNvSpPr/>
          <p:nvPr/>
        </p:nvSpPr>
        <p:spPr bwMode="auto">
          <a:xfrm>
            <a:off x="10297265" y="6208713"/>
            <a:ext cx="1894735" cy="649287"/>
          </a:xfrm>
          <a:custGeom>
            <a:avLst/>
            <a:gdLst>
              <a:gd name="T0" fmla="*/ 2467 w 2467"/>
              <a:gd name="T1" fmla="*/ 0 h 843"/>
              <a:gd name="T2" fmla="*/ 2467 w 2467"/>
              <a:gd name="T3" fmla="*/ 843 h 843"/>
              <a:gd name="T4" fmla="*/ 0 w 2467"/>
              <a:gd name="T5" fmla="*/ 843 h 843"/>
              <a:gd name="T6" fmla="*/ 533 w 2467"/>
              <a:gd name="T7" fmla="*/ 0 h 843"/>
              <a:gd name="T8" fmla="*/ 2467 w 2467"/>
              <a:gd name="T9" fmla="*/ 0 h 843"/>
            </a:gdLst>
            <a:ahLst/>
            <a:cxnLst>
              <a:cxn ang="0">
                <a:pos x="T0" y="T1"/>
              </a:cxn>
              <a:cxn ang="0">
                <a:pos x="T2" y="T3"/>
              </a:cxn>
              <a:cxn ang="0">
                <a:pos x="T4" y="T5"/>
              </a:cxn>
              <a:cxn ang="0">
                <a:pos x="T6" y="T7"/>
              </a:cxn>
              <a:cxn ang="0">
                <a:pos x="T8" y="T9"/>
              </a:cxn>
            </a:cxnLst>
            <a:rect l="0" t="0" r="r" b="b"/>
            <a:pathLst>
              <a:path w="2467" h="843">
                <a:moveTo>
                  <a:pt x="2467" y="0"/>
                </a:moveTo>
                <a:lnTo>
                  <a:pt x="2467" y="843"/>
                </a:lnTo>
                <a:lnTo>
                  <a:pt x="0" y="843"/>
                </a:lnTo>
                <a:lnTo>
                  <a:pt x="533" y="0"/>
                </a:lnTo>
                <a:lnTo>
                  <a:pt x="2467"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5" name="TextBox 11"/>
          <p:cNvSpPr txBox="1">
            <a:spLocks noChangeArrowheads="1"/>
          </p:cNvSpPr>
          <p:nvPr/>
        </p:nvSpPr>
        <p:spPr bwMode="auto">
          <a:xfrm>
            <a:off x="2708805" y="2568576"/>
            <a:ext cx="2213610" cy="70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6" tIns="45708" rIns="91416" bIns="4570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4000" b="1" dirty="0">
                <a:solidFill>
                  <a:srgbClr val="FFFFFF"/>
                </a:solidFill>
                <a:latin typeface="微软雅黑" panose="020B0503020204020204" charset="-122"/>
                <a:ea typeface="微软雅黑" panose="020B0503020204020204" charset="-122"/>
              </a:rPr>
              <a:t>理论框架</a:t>
            </a:r>
            <a:endParaRPr lang="zh-CN" altLang="en-US" sz="4000" b="1" dirty="0">
              <a:solidFill>
                <a:srgbClr val="FFFFFF"/>
              </a:solidFill>
              <a:latin typeface="微软雅黑" panose="020B0503020204020204" charset="-122"/>
              <a:ea typeface="微软雅黑" panose="020B0503020204020204" charset="-122"/>
            </a:endParaRPr>
          </a:p>
        </p:txBody>
      </p:sp>
      <p:sp>
        <p:nvSpPr>
          <p:cNvPr id="16" name="TextBox 12"/>
          <p:cNvSpPr txBox="1">
            <a:spLocks noChangeArrowheads="1"/>
          </p:cNvSpPr>
          <p:nvPr/>
        </p:nvSpPr>
        <p:spPr bwMode="auto">
          <a:xfrm>
            <a:off x="1345675" y="2463800"/>
            <a:ext cx="1257935" cy="220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6" tIns="45708" rIns="91416" bIns="4570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735" b="1">
                <a:solidFill>
                  <a:srgbClr val="FFFFFF"/>
                </a:solidFill>
                <a:latin typeface="微软雅黑" panose="020B0503020204020204" charset="-122"/>
                <a:ea typeface="微软雅黑" panose="020B0503020204020204" charset="-122"/>
              </a:rPr>
              <a:t>1</a:t>
            </a:r>
            <a:endParaRPr lang="zh-CN" altLang="en-US" sz="13735" b="1">
              <a:solidFill>
                <a:srgbClr val="FFFFFF"/>
              </a:solidFill>
              <a:latin typeface="微软雅黑" panose="020B0503020204020204" charset="-122"/>
              <a:ea typeface="微软雅黑" panose="020B0503020204020204" charset="-122"/>
            </a:endParaRPr>
          </a:p>
        </p:txBody>
      </p:sp>
      <p:sp>
        <p:nvSpPr>
          <p:cNvPr id="17" name="TextBox 1"/>
          <p:cNvSpPr txBox="1">
            <a:spLocks noChangeArrowheads="1"/>
          </p:cNvSpPr>
          <p:nvPr/>
        </p:nvSpPr>
        <p:spPr bwMode="auto">
          <a:xfrm>
            <a:off x="2742750" y="3309621"/>
            <a:ext cx="6261829" cy="1567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6" tIns="45708" rIns="91416" bIns="4570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a:solidFill>
                  <a:srgbClr val="FFFFFF"/>
                </a:solidFill>
                <a:latin typeface="华文楷体" panose="02010600040101010101" charset="-122"/>
                <a:ea typeface="华文楷体" panose="02010600040101010101" charset="-122"/>
                <a:cs typeface="华文楷体" panose="02010600040101010101" charset="-122"/>
              </a:rPr>
              <a:t>LOGICSEG</a:t>
            </a:r>
            <a:r>
              <a:rPr lang="zh-CN" altLang="en-US" sz="1600">
                <a:solidFill>
                  <a:srgbClr val="FFFFFF"/>
                </a:solidFill>
                <a:latin typeface="华文楷体" panose="02010600040101010101" charset="-122"/>
                <a:ea typeface="华文楷体" panose="02010600040101010101" charset="-122"/>
                <a:cs typeface="华文楷体" panose="02010600040101010101" charset="-122"/>
              </a:rPr>
              <a:t>提出了一种融合符号逻辑与深度学习的层次化视觉解析框架，通过三类可微逻辑规则（构成性、互斥性、排他性）建模语义关系，并设计基于消息传递的推理机制。该框架创新性地将离散逻辑规则转化为可微约束，在训练时引导网络学习层次化特征表示，在推理时通过矩阵运算维护预测结果的语义一致性，实现了符号系统与神经网络的无缝协同。</a:t>
            </a:r>
            <a:endParaRPr lang="zh-CN" altLang="en-US" sz="1600">
              <a:solidFill>
                <a:srgbClr val="FFFFFF"/>
              </a:solidFill>
              <a:latin typeface="华文楷体" panose="02010600040101010101" charset="-122"/>
              <a:ea typeface="华文楷体" panose="02010600040101010101" charset="-122"/>
              <a:cs typeface="华文楷体" panose="02010600040101010101" charset="-122"/>
            </a:endParaRPr>
          </a:p>
        </p:txBody>
      </p:sp>
      <p:sp>
        <p:nvSpPr>
          <p:cNvPr id="18" name="TextBox 2"/>
          <p:cNvSpPr txBox="1">
            <a:spLocks noChangeArrowheads="1"/>
          </p:cNvSpPr>
          <p:nvPr/>
        </p:nvSpPr>
        <p:spPr bwMode="auto">
          <a:xfrm>
            <a:off x="490347" y="3813176"/>
            <a:ext cx="83375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6" tIns="45708" rIns="91416" bIns="4570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solidFill>
                  <a:srgbClr val="FFFFFF"/>
                </a:solidFill>
              </a:rPr>
              <a:t>Part</a:t>
            </a:r>
            <a:endParaRPr lang="zh-CN" altLang="en-US" sz="2800">
              <a:solidFill>
                <a:srgbClr val="FFFFFF"/>
              </a:solidFill>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advClick="0" advTm="8000">
        <p14:prism/>
      </p:transition>
    </mc:Choice>
    <mc:Fallback>
      <p:transition spd="slow" advClick="0" advTm="8000">
        <p:fade/>
      </p:transition>
    </mc:Fallback>
  </mc:AlternateContent>
  <p:timing>
    <p:tnLst>
      <p:par>
        <p:cTn id="1" dur="indefinite" restart="never" nodeType="tmRoot"/>
      </p:par>
    </p:tnLst>
    <p:bldLst>
      <p:bldP spid="13"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矩形 22"/>
          <p:cNvSpPr/>
          <p:nvPr/>
        </p:nvSpPr>
        <p:spPr>
          <a:xfrm>
            <a:off x="1152000" y="288000"/>
            <a:ext cx="20116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研究背景</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pic>
        <p:nvPicPr>
          <p:cNvPr id="4" name="图片 3"/>
          <p:cNvPicPr>
            <a:picLocks noChangeAspect="1"/>
          </p:cNvPicPr>
          <p:nvPr/>
        </p:nvPicPr>
        <p:blipFill>
          <a:blip r:embed="rId2"/>
          <a:stretch>
            <a:fillRect/>
          </a:stretch>
        </p:blipFill>
        <p:spPr>
          <a:xfrm>
            <a:off x="6768465" y="1028700"/>
            <a:ext cx="4645660" cy="4465320"/>
          </a:xfrm>
          <a:prstGeom prst="rect">
            <a:avLst/>
          </a:prstGeom>
        </p:spPr>
      </p:pic>
      <p:sp>
        <p:nvSpPr>
          <p:cNvPr id="5" name="文本框 4"/>
          <p:cNvSpPr txBox="1"/>
          <p:nvPr/>
        </p:nvSpPr>
        <p:spPr>
          <a:xfrm>
            <a:off x="6768465" y="5598795"/>
            <a:ext cx="4752340" cy="1115695"/>
          </a:xfrm>
          <a:prstGeom prst="rect">
            <a:avLst/>
          </a:prstGeom>
        </p:spPr>
        <p:txBody>
          <a:bodyPr wrap="square">
            <a:noAutofit/>
          </a:bodyPr>
          <a:p>
            <a:pPr marL="0" lvl="1" indent="0">
              <a:spcBef>
                <a:spcPct val="0"/>
              </a:spcBef>
              <a:spcAft>
                <a:spcPct val="0"/>
              </a:spcAft>
            </a:pPr>
            <a:r>
              <a:rPr lang="zh-CN" altLang="en-US" sz="1600" b="0" i="0">
                <a:solidFill>
                  <a:srgbClr val="1C1F23"/>
                </a:solidFill>
                <a:latin typeface="华文楷体" panose="02010600040101010101" charset="-122"/>
                <a:ea typeface="华文楷体" panose="02010600040101010101" charset="-122"/>
                <a:cs typeface="华文楷体" panose="02010600040101010101" charset="-122"/>
              </a:rPr>
              <a:t>(a) </a:t>
            </a:r>
            <a:r>
              <a:rPr lang="zh-CN" altLang="en-US" sz="1600">
                <a:latin typeface="华文楷体" panose="02010600040101010101" charset="-122"/>
                <a:ea typeface="华文楷体" panose="02010600040101010101" charset="-122"/>
                <a:cs typeface="华文楷体" panose="02010600040101010101" charset="-122"/>
                <a:sym typeface="+mn-ea"/>
              </a:rPr>
              <a:t>人类通过</a:t>
            </a:r>
            <a:r>
              <a:rPr lang="zh-CN" altLang="en-US" sz="1600" b="1">
                <a:solidFill>
                  <a:schemeClr val="tx1"/>
                </a:solidFill>
                <a:latin typeface="华文楷体" panose="02010600040101010101" charset="-122"/>
                <a:ea typeface="华文楷体" panose="02010600040101010101" charset="-122"/>
                <a:cs typeface="华文楷体" panose="02010600040101010101" charset="-122"/>
                <a:sym typeface="+mn-ea"/>
              </a:rPr>
              <a:t>结构化组件</a:t>
            </a:r>
            <a:r>
              <a:rPr lang="zh-CN" altLang="en-US" sz="1600">
                <a:latin typeface="华文楷体" panose="02010600040101010101" charset="-122"/>
                <a:ea typeface="华文楷体" panose="02010600040101010101" charset="-122"/>
                <a:cs typeface="华文楷体" panose="02010600040101010101" charset="-122"/>
                <a:sym typeface="+mn-ea"/>
              </a:rPr>
              <a:t>理解场景（如家具</a:t>
            </a:r>
            <a:r>
              <a:rPr lang="en-US" altLang="zh-CN" sz="1600">
                <a:latin typeface="华文楷体" panose="02010600040101010101" charset="-122"/>
                <a:ea typeface="华文楷体" panose="02010600040101010101" charset="-122"/>
                <a:cs typeface="华文楷体" panose="02010600040101010101" charset="-122"/>
                <a:sym typeface="+mn-ea"/>
              </a:rPr>
              <a:t>→</a:t>
            </a:r>
            <a:r>
              <a:rPr lang="zh-CN" altLang="en-US" sz="1600">
                <a:latin typeface="华文楷体" panose="02010600040101010101" charset="-122"/>
                <a:ea typeface="华文楷体" panose="02010600040101010101" charset="-122"/>
                <a:cs typeface="华文楷体" panose="02010600040101010101" charset="-122"/>
                <a:sym typeface="+mn-ea"/>
              </a:rPr>
              <a:t>椅子</a:t>
            </a:r>
            <a:r>
              <a:rPr lang="en-US" altLang="zh-CN" sz="1600">
                <a:latin typeface="华文楷体" panose="02010600040101010101" charset="-122"/>
                <a:ea typeface="华文楷体" panose="02010600040101010101" charset="-122"/>
                <a:cs typeface="华文楷体" panose="02010600040101010101" charset="-122"/>
                <a:sym typeface="+mn-ea"/>
              </a:rPr>
              <a:t>/</a:t>
            </a:r>
            <a:r>
              <a:rPr lang="zh-CN" altLang="en-US" sz="1600">
                <a:latin typeface="华文楷体" panose="02010600040101010101" charset="-122"/>
                <a:ea typeface="华文楷体" panose="02010600040101010101" charset="-122"/>
                <a:cs typeface="华文楷体" panose="02010600040101010101" charset="-122"/>
                <a:sym typeface="+mn-ea"/>
              </a:rPr>
              <a:t>桌子，餐具</a:t>
            </a:r>
            <a:r>
              <a:rPr lang="en-US" altLang="zh-CN" sz="1600">
                <a:latin typeface="华文楷体" panose="02010600040101010101" charset="-122"/>
                <a:ea typeface="华文楷体" panose="02010600040101010101" charset="-122"/>
                <a:cs typeface="华文楷体" panose="02010600040101010101" charset="-122"/>
                <a:sym typeface="+mn-ea"/>
              </a:rPr>
              <a:t>→</a:t>
            </a:r>
            <a:r>
              <a:rPr lang="zh-CN" altLang="en-US" sz="1600">
                <a:latin typeface="华文楷体" panose="02010600040101010101" charset="-122"/>
                <a:ea typeface="华文楷体" panose="02010600040101010101" charset="-122"/>
                <a:cs typeface="华文楷体" panose="02010600040101010101" charset="-122"/>
                <a:sym typeface="+mn-ea"/>
              </a:rPr>
              <a:t>瓶子</a:t>
            </a:r>
            <a:r>
              <a:rPr lang="en-US" altLang="zh-CN" sz="1600">
                <a:latin typeface="华文楷体" panose="02010600040101010101" charset="-122"/>
                <a:ea typeface="华文楷体" panose="02010600040101010101" charset="-122"/>
                <a:cs typeface="华文楷体" panose="02010600040101010101" charset="-122"/>
                <a:sym typeface="+mn-ea"/>
              </a:rPr>
              <a:t>/</a:t>
            </a:r>
            <a:r>
              <a:rPr lang="zh-CN" altLang="en-US" sz="1600">
                <a:latin typeface="华文楷体" panose="02010600040101010101" charset="-122"/>
                <a:ea typeface="华文楷体" panose="02010600040101010101" charset="-122"/>
                <a:cs typeface="华文楷体" panose="02010600040101010101" charset="-122"/>
                <a:sym typeface="+mn-ea"/>
              </a:rPr>
              <a:t>盘子）</a:t>
            </a:r>
            <a:r>
              <a:rPr lang="zh-CN" altLang="en-US" sz="1600" b="0" i="0">
                <a:solidFill>
                  <a:srgbClr val="1C1F23"/>
                </a:solidFill>
                <a:latin typeface="华文楷体" panose="02010600040101010101" charset="-122"/>
                <a:ea typeface="华文楷体" panose="02010600040101010101" charset="-122"/>
                <a:cs typeface="华文楷体" panose="02010600040101010101" charset="-122"/>
              </a:rPr>
              <a:t>。</a:t>
            </a:r>
            <a:endParaRPr lang="zh-CN" altLang="en-US" sz="1600" b="0" i="0">
              <a:solidFill>
                <a:srgbClr val="1C1F23"/>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pPr>
            <a:r>
              <a:rPr lang="zh-CN" altLang="en-US" sz="1600" b="0" i="0">
                <a:solidFill>
                  <a:srgbClr val="1C1F23"/>
                </a:solidFill>
                <a:latin typeface="华文楷体" panose="02010600040101010101" charset="-122"/>
                <a:ea typeface="华文楷体" panose="02010600040101010101" charset="-122"/>
                <a:cs typeface="华文楷体" panose="02010600040101010101" charset="-122"/>
              </a:rPr>
              <a:t>(b) 人类具备</a:t>
            </a:r>
            <a:r>
              <a:rPr lang="zh-CN" altLang="en-US" sz="1600" b="1">
                <a:solidFill>
                  <a:schemeClr val="tx1"/>
                </a:solidFill>
                <a:latin typeface="华文楷体" panose="02010600040101010101" charset="-122"/>
                <a:ea typeface="华文楷体" panose="02010600040101010101" charset="-122"/>
                <a:cs typeface="华文楷体" panose="02010600040101010101" charset="-122"/>
                <a:sym typeface="+mn-ea"/>
              </a:rPr>
              <a:t>多层级语义抽象</a:t>
            </a:r>
            <a:r>
              <a:rPr lang="zh-CN" altLang="en-US" sz="1600">
                <a:solidFill>
                  <a:schemeClr val="tx1"/>
                </a:solidFill>
                <a:latin typeface="华文楷体" panose="02010600040101010101" charset="-122"/>
                <a:ea typeface="华文楷体" panose="02010600040101010101" charset="-122"/>
                <a:cs typeface="华文楷体" panose="02010600040101010101" charset="-122"/>
                <a:sym typeface="+mn-ea"/>
              </a:rPr>
              <a:t>与</a:t>
            </a:r>
            <a:r>
              <a:rPr lang="zh-CN" altLang="en-US" sz="1600" b="1">
                <a:solidFill>
                  <a:schemeClr val="tx1"/>
                </a:solidFill>
                <a:latin typeface="华文楷体" panose="02010600040101010101" charset="-122"/>
                <a:ea typeface="华文楷体" panose="02010600040101010101" charset="-122"/>
                <a:cs typeface="华文楷体" panose="02010600040101010101" charset="-122"/>
                <a:sym typeface="+mn-ea"/>
              </a:rPr>
              <a:t>符号化逻辑推理</a:t>
            </a:r>
            <a:r>
              <a:rPr lang="zh-CN" altLang="en-US" sz="1600">
                <a:solidFill>
                  <a:schemeClr val="tx1"/>
                </a:solidFill>
                <a:latin typeface="华文楷体" panose="02010600040101010101" charset="-122"/>
                <a:ea typeface="华文楷体" panose="02010600040101010101" charset="-122"/>
                <a:cs typeface="华文楷体" panose="02010600040101010101" charset="-122"/>
                <a:sym typeface="+mn-ea"/>
              </a:rPr>
              <a:t>能力</a:t>
            </a:r>
            <a:r>
              <a:rPr lang="zh-CN" altLang="en-US" sz="1600">
                <a:latin typeface="华文楷体" panose="02010600040101010101" charset="-122"/>
                <a:ea typeface="华文楷体" panose="02010600040101010101" charset="-122"/>
                <a:cs typeface="华文楷体" panose="02010600040101010101" charset="-122"/>
                <a:sym typeface="+mn-ea"/>
              </a:rPr>
              <a:t>（如“餐具通常在厨房”）</a:t>
            </a:r>
            <a:r>
              <a:rPr lang="zh-CN" altLang="en-US" sz="1600" b="0" i="0">
                <a:solidFill>
                  <a:srgbClr val="1C1F23"/>
                </a:solidFill>
                <a:latin typeface="华文楷体" panose="02010600040101010101" charset="-122"/>
                <a:ea typeface="华文楷体" panose="02010600040101010101" charset="-122"/>
                <a:cs typeface="华文楷体" panose="02010600040101010101" charset="-122"/>
              </a:rPr>
              <a:t>。</a:t>
            </a:r>
            <a:endParaRPr lang="zh-CN" altLang="en-US" sz="1600" b="0" i="0">
              <a:solidFill>
                <a:srgbClr val="1C1F23"/>
              </a:solidFill>
              <a:latin typeface="华文楷体" panose="02010600040101010101" charset="-122"/>
              <a:ea typeface="华文楷体" panose="02010600040101010101" charset="-122"/>
              <a:cs typeface="华文楷体" panose="02010600040101010101" charset="-122"/>
            </a:endParaRPr>
          </a:p>
          <a:p>
            <a:pPr marL="0" indent="0">
              <a:lnSpc>
                <a:spcPts val="1000"/>
              </a:lnSpc>
              <a:spcBef>
                <a:spcPts val="1200"/>
              </a:spcBef>
            </a:pPr>
            <a:endParaRPr lang="zh-CN" altLang="en-US" sz="1600" b="0" i="0">
              <a:solidFill>
                <a:srgbClr val="1C1F23"/>
              </a:solidFill>
              <a:latin typeface="华文楷体" panose="02010600040101010101" charset="-122"/>
              <a:ea typeface="华文楷体" panose="02010600040101010101" charset="-122"/>
              <a:cs typeface="华文楷体" panose="02010600040101010101" charset="-122"/>
            </a:endParaRPr>
          </a:p>
        </p:txBody>
      </p:sp>
      <p:sp>
        <p:nvSpPr>
          <p:cNvPr id="26" name="矩形 25"/>
          <p:cNvSpPr>
            <a:spLocks noChangeArrowheads="1"/>
          </p:cNvSpPr>
          <p:nvPr>
            <p:custDataLst>
              <p:tags r:id="rId3"/>
            </p:custDataLst>
          </p:nvPr>
        </p:nvSpPr>
        <p:spPr bwMode="auto">
          <a:xfrm>
            <a:off x="465455" y="1065530"/>
            <a:ext cx="6063615" cy="236283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27" name="矩形 26"/>
          <p:cNvSpPr>
            <a:spLocks noChangeArrowheads="1"/>
          </p:cNvSpPr>
          <p:nvPr>
            <p:custDataLst>
              <p:tags r:id="rId4"/>
            </p:custDataLst>
          </p:nvPr>
        </p:nvSpPr>
        <p:spPr bwMode="auto">
          <a:xfrm>
            <a:off x="465455" y="3731260"/>
            <a:ext cx="6063615" cy="2724150"/>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6" name="文本框 5"/>
          <p:cNvSpPr txBox="1"/>
          <p:nvPr/>
        </p:nvSpPr>
        <p:spPr>
          <a:xfrm>
            <a:off x="528955" y="1125855"/>
            <a:ext cx="6000750" cy="2302510"/>
          </a:xfrm>
          <a:prstGeom prst="rect">
            <a:avLst/>
          </a:prstGeom>
        </p:spPr>
        <p:txBody>
          <a:bodyPr>
            <a:noAutofit/>
          </a:bodyPr>
          <a:p>
            <a:pPr marL="0" indent="0">
              <a:spcBef>
                <a:spcPct val="0"/>
              </a:spcBef>
              <a:spcAft>
                <a:spcPts val="200"/>
              </a:spcAft>
              <a:buNone/>
            </a:pPr>
            <a:r>
              <a:rPr lang="zh-CN" altLang="en-US" sz="2000" b="1" i="0">
                <a:solidFill>
                  <a:schemeClr val="tx1"/>
                </a:solidFill>
                <a:latin typeface="仿宋" panose="02010609060101010101" charset="-122"/>
                <a:ea typeface="仿宋" panose="02010609060101010101" charset="-122"/>
                <a:cs typeface="华文楷体" panose="02010600040101010101" charset="-122"/>
              </a:rPr>
              <a:t>人类认知的启示</a:t>
            </a:r>
            <a:endParaRPr lang="zh-CN" altLang="en-US" sz="2000" b="1" i="0">
              <a:solidFill>
                <a:schemeClr val="tx1"/>
              </a:solidFill>
              <a:latin typeface="仿宋" panose="02010609060101010101" charset="-122"/>
              <a:ea typeface="仿宋" panose="02010609060101010101" charset="-122"/>
              <a:cs typeface="华文楷体" panose="02010600040101010101" charset="-122"/>
            </a:endParaRPr>
          </a:p>
          <a:p>
            <a:pPr marL="0" lvl="1" indent="0">
              <a:spcBef>
                <a:spcPct val="0"/>
              </a:spcBef>
              <a:spcAft>
                <a:spcPct val="0"/>
              </a:spcAft>
              <a:buFont typeface="Arial" panose="020B0604020202020204"/>
              <a:buNone/>
            </a:pPr>
            <a:endParaRPr lang="zh-CN" altLang="en-US" sz="800" b="1"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r>
              <a:rPr lang="zh-CN" altLang="en-US" sz="2000" b="1" i="0">
                <a:solidFill>
                  <a:schemeClr val="tx1"/>
                </a:solidFill>
                <a:latin typeface="华文楷体" panose="02010600040101010101" charset="-122"/>
                <a:ea typeface="华文楷体" panose="02010600040101010101" charset="-122"/>
                <a:cs typeface="华文楷体" panose="02010600040101010101" charset="-122"/>
              </a:rPr>
              <a:t>结构化感知与符号化推理机制</a:t>
            </a:r>
            <a:endParaRPr lang="zh-CN" altLang="en-US" sz="2000" b="1" i="0">
              <a:solidFill>
                <a:schemeClr val="tx1"/>
              </a:solidFill>
              <a:latin typeface="华文楷体" panose="02010600040101010101" charset="-122"/>
              <a:ea typeface="华文楷体" panose="02010600040101010101" charset="-122"/>
              <a:cs typeface="华文楷体" panose="02010600040101010101" charset="-122"/>
            </a:endParaRPr>
          </a:p>
          <a:p>
            <a:pPr marL="0" lvl="1" indent="457200">
              <a:spcBef>
                <a:spcPct val="0"/>
              </a:spcBef>
              <a:spcAft>
                <a:spcPct val="0"/>
              </a:spcAft>
              <a:buFont typeface="Arial" panose="020B0604020202020204"/>
              <a:buNone/>
            </a:pPr>
            <a:r>
              <a:rPr lang="zh-CN" altLang="en-US" i="0">
                <a:solidFill>
                  <a:schemeClr val="tx1"/>
                </a:solidFill>
                <a:latin typeface="华文楷体" panose="02010600040101010101" charset="-122"/>
                <a:ea typeface="华文楷体" panose="02010600040101010101" charset="-122"/>
                <a:cs typeface="华文楷体" panose="02010600040101010101" charset="-122"/>
              </a:rPr>
              <a:t>以</a:t>
            </a:r>
            <a:r>
              <a:rPr lang="zh-CN" altLang="en-US" b="1" i="0">
                <a:solidFill>
                  <a:srgbClr val="FF0000"/>
                </a:solidFill>
                <a:latin typeface="华文楷体" panose="02010600040101010101" charset="-122"/>
                <a:ea typeface="华文楷体" panose="02010600040101010101" charset="-122"/>
                <a:cs typeface="华文楷体" panose="02010600040101010101" charset="-122"/>
              </a:rPr>
              <a:t>结构化</a:t>
            </a:r>
            <a:r>
              <a:rPr lang="zh-CN" altLang="en-US" i="0">
                <a:solidFill>
                  <a:schemeClr val="tx1"/>
                </a:solidFill>
                <a:latin typeface="华文楷体" panose="02010600040101010101" charset="-122"/>
                <a:ea typeface="华文楷体" panose="02010600040101010101" charset="-122"/>
                <a:cs typeface="华文楷体" panose="02010600040101010101" charset="-122"/>
              </a:rPr>
              <a:t>的方式进行感知抽象，并通过这种多层次抽象上的</a:t>
            </a:r>
            <a:r>
              <a:rPr lang="zh-CN" altLang="en-US" b="1" i="0">
                <a:solidFill>
                  <a:srgbClr val="FF0000"/>
                </a:solidFill>
                <a:latin typeface="华文楷体" panose="02010600040101010101" charset="-122"/>
                <a:ea typeface="华文楷体" panose="02010600040101010101" charset="-122"/>
                <a:cs typeface="华文楷体" panose="02010600040101010101" charset="-122"/>
              </a:rPr>
              <a:t>符号</a:t>
            </a:r>
            <a:r>
              <a:rPr lang="zh-CN" altLang="en-US" i="0">
                <a:solidFill>
                  <a:schemeClr val="tx1"/>
                </a:solidFill>
                <a:latin typeface="华文楷体" panose="02010600040101010101" charset="-122"/>
                <a:ea typeface="华文楷体" panose="02010600040101010101" charset="-122"/>
                <a:cs typeface="华文楷体" panose="02010600040101010101" charset="-122"/>
              </a:rPr>
              <a:t>操作进行推理。</a:t>
            </a:r>
            <a:endParaRPr lang="zh-CN" altLang="en-US"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r>
              <a:rPr lang="zh-CN" altLang="en-US" sz="2000" b="1" i="0">
                <a:solidFill>
                  <a:schemeClr val="tx1"/>
                </a:solidFill>
                <a:latin typeface="华文楷体" panose="02010600040101010101" charset="-122"/>
                <a:ea typeface="华文楷体" panose="02010600040101010101" charset="-122"/>
                <a:cs typeface="华文楷体" panose="02010600040101010101" charset="-122"/>
              </a:rPr>
              <a:t>亚符号与符号的协同感知框架</a:t>
            </a:r>
            <a:endParaRPr lang="zh-CN" altLang="en-US" sz="2000" b="1" i="0">
              <a:solidFill>
                <a:schemeClr val="tx1"/>
              </a:solidFill>
              <a:latin typeface="华文楷体" panose="02010600040101010101" charset="-122"/>
              <a:ea typeface="华文楷体" panose="02010600040101010101" charset="-122"/>
              <a:cs typeface="华文楷体" panose="02010600040101010101" charset="-122"/>
            </a:endParaRPr>
          </a:p>
          <a:p>
            <a:pPr marL="0" lvl="1" indent="457200">
              <a:spcBef>
                <a:spcPct val="0"/>
              </a:spcBef>
              <a:spcAft>
                <a:spcPct val="0"/>
              </a:spcAft>
              <a:buFont typeface="Arial" panose="020B0604020202020204"/>
              <a:buNone/>
            </a:pP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通过整合数据驱动的</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亚符号学习</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和</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基于符号知识的逻辑推理</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，来全面地解释视觉语义。</a:t>
            </a:r>
            <a:endParaRPr lang="zh-CN" altLang="en-US">
              <a:solidFill>
                <a:srgbClr val="1C1F23"/>
              </a:solidFill>
              <a:latin typeface="华文楷体" panose="02010600040101010101" charset="-122"/>
              <a:ea typeface="华文楷体" panose="02010600040101010101" charset="-122"/>
              <a:cs typeface="华文楷体" panose="02010600040101010101" charset="-122"/>
              <a:sym typeface="+mn-ea"/>
            </a:endParaRPr>
          </a:p>
          <a:p>
            <a:pPr marL="0" lvl="1" indent="457200">
              <a:spcBef>
                <a:spcPct val="0"/>
              </a:spcBef>
              <a:spcAft>
                <a:spcPct val="0"/>
              </a:spcAft>
              <a:buFont typeface="Arial" panose="020B0604020202020204"/>
              <a:buNone/>
            </a:pPr>
            <a:endParaRPr lang="zh-CN" altLang="en-US" sz="2000" b="0"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endParaRPr lang="zh-CN" altLang="en-US" sz="2000" b="0"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endParaRPr lang="zh-CN" altLang="en-US" b="0" i="0">
              <a:solidFill>
                <a:schemeClr val="tx1"/>
              </a:solidFill>
              <a:latin typeface="华文楷体" panose="02010600040101010101" charset="-122"/>
              <a:ea typeface="华文楷体" panose="02010600040101010101" charset="-122"/>
              <a:cs typeface="华文楷体" panose="02010600040101010101" charset="-122"/>
            </a:endParaRPr>
          </a:p>
        </p:txBody>
      </p:sp>
      <p:sp>
        <p:nvSpPr>
          <p:cNvPr id="28" name="文本框 27"/>
          <p:cNvSpPr txBox="1"/>
          <p:nvPr/>
        </p:nvSpPr>
        <p:spPr>
          <a:xfrm>
            <a:off x="488315" y="3841750"/>
            <a:ext cx="6096000" cy="2522855"/>
          </a:xfrm>
          <a:prstGeom prst="rect">
            <a:avLst/>
          </a:prstGeom>
          <a:noFill/>
        </p:spPr>
        <p:txBody>
          <a:bodyPr wrap="square" rtlCol="0" anchor="t">
            <a:spAutoFit/>
          </a:bodyPr>
          <a:p>
            <a:pPr marL="0" lvl="1" indent="0">
              <a:spcBef>
                <a:spcPct val="0"/>
              </a:spcBef>
              <a:spcAft>
                <a:spcPct val="0"/>
              </a:spcAft>
              <a:buFont typeface="Arial" panose="020B0604020202020204"/>
              <a:buNone/>
            </a:pPr>
            <a:r>
              <a:rPr lang="zh-CN" altLang="en-US" sz="2000" b="1">
                <a:latin typeface="仿宋" panose="02010609060101010101" charset="-122"/>
                <a:ea typeface="仿宋" panose="02010609060101010101" charset="-122"/>
                <a:cs typeface="华文楷体" panose="02010600040101010101" charset="-122"/>
                <a:sym typeface="+mn-ea"/>
              </a:rPr>
              <a:t>现有分割系统的局限</a:t>
            </a:r>
            <a:endParaRPr lang="zh-CN" altLang="en-US" sz="2000" b="1" i="0">
              <a:solidFill>
                <a:schemeClr val="tx1"/>
              </a:solidFill>
              <a:latin typeface="仿宋" panose="02010609060101010101" charset="-122"/>
              <a:ea typeface="仿宋" panose="02010609060101010101" charset="-122"/>
              <a:cs typeface="华文楷体" panose="02010600040101010101" charset="-122"/>
            </a:endParaRPr>
          </a:p>
          <a:p>
            <a:pPr marL="0" lvl="1" indent="0">
              <a:spcBef>
                <a:spcPct val="0"/>
              </a:spcBef>
              <a:spcAft>
                <a:spcPct val="0"/>
              </a:spcAft>
              <a:buFont typeface="Arial" panose="020B0604020202020204"/>
              <a:buNone/>
            </a:pPr>
            <a:endParaRPr lang="zh-CN" altLang="en-US" sz="800" b="1"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r>
              <a:rPr lang="zh-CN" altLang="en-US" sz="2000" b="1">
                <a:latin typeface="华文楷体" panose="02010600040101010101" charset="-122"/>
                <a:ea typeface="华文楷体" panose="02010600040101010101" charset="-122"/>
                <a:cs typeface="华文楷体" panose="02010600040101010101" charset="-122"/>
                <a:sym typeface="+mn-ea"/>
              </a:rPr>
              <a:t>结构化语义理解缺失</a:t>
            </a:r>
            <a:r>
              <a:rPr lang="zh-CN" altLang="en-US" sz="2000">
                <a:latin typeface="华文楷体" panose="02010600040101010101" charset="-122"/>
                <a:ea typeface="华文楷体" panose="02010600040101010101" charset="-122"/>
                <a:cs typeface="华文楷体" panose="02010600040101010101" charset="-122"/>
                <a:sym typeface="+mn-ea"/>
              </a:rPr>
              <a:t>：</a:t>
            </a:r>
            <a:endParaRPr lang="zh-CN" altLang="en-US" sz="2000" b="0" i="0">
              <a:solidFill>
                <a:schemeClr val="tx1"/>
              </a:solidFill>
              <a:latin typeface="华文楷体" panose="02010600040101010101" charset="-122"/>
              <a:ea typeface="华文楷体" panose="02010600040101010101" charset="-122"/>
              <a:cs typeface="华文楷体" panose="02010600040101010101" charset="-122"/>
            </a:endParaRPr>
          </a:p>
          <a:p>
            <a:pPr marL="0" lvl="1" indent="457200">
              <a:spcBef>
                <a:spcPct val="0"/>
              </a:spcBef>
              <a:spcAft>
                <a:spcPct val="0"/>
              </a:spcAft>
              <a:buFont typeface="Arial" panose="020B0604020202020204"/>
              <a:buNone/>
            </a:pPr>
            <a:r>
              <a:rPr lang="zh-CN" altLang="en-US">
                <a:latin typeface="华文楷体" panose="02010600040101010101" charset="-122"/>
                <a:ea typeface="华文楷体" panose="02010600040101010101" charset="-122"/>
                <a:cs typeface="华文楷体" panose="02010600040101010101" charset="-122"/>
                <a:sym typeface="+mn-ea"/>
              </a:rPr>
              <a:t>现有系统通常假设语义概念</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彼此独立</a:t>
            </a:r>
            <a:r>
              <a:rPr lang="zh-CN" altLang="en-US">
                <a:latin typeface="华文楷体" panose="02010600040101010101" charset="-122"/>
                <a:ea typeface="华文楷体" panose="02010600040101010101" charset="-122"/>
                <a:cs typeface="华文楷体" panose="02010600040101010101" charset="-122"/>
                <a:sym typeface="+mn-ea"/>
              </a:rPr>
              <a:t>，采用</a:t>
            </a:r>
            <a:r>
              <a:rPr lang="en-US" altLang="zh-CN">
                <a:latin typeface="华文楷体" panose="02010600040101010101" charset="-122"/>
                <a:ea typeface="华文楷体" panose="02010600040101010101" charset="-122"/>
                <a:cs typeface="华文楷体" panose="02010600040101010101" charset="-122"/>
                <a:sym typeface="+mn-ea"/>
              </a:rPr>
              <a:t>"</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平铺式</a:t>
            </a:r>
            <a:r>
              <a:rPr lang="en-US" altLang="zh-CN">
                <a:latin typeface="华文楷体" panose="02010600040101010101" charset="-122"/>
                <a:ea typeface="华文楷体" panose="02010600040101010101" charset="-122"/>
                <a:cs typeface="华文楷体" panose="02010600040101010101" charset="-122"/>
                <a:sym typeface="+mn-ea"/>
              </a:rPr>
              <a:t>"</a:t>
            </a:r>
            <a:r>
              <a:rPr lang="zh-CN" altLang="en-US">
                <a:latin typeface="华文楷体" panose="02010600040101010101" charset="-122"/>
                <a:ea typeface="华文楷体" panose="02010600040101010101" charset="-122"/>
                <a:cs typeface="华文楷体" panose="02010600040101010101" charset="-122"/>
                <a:sym typeface="+mn-ea"/>
              </a:rPr>
              <a:t>预测方式，忽略语义概念的层级关系，相关研究处于零散阶段，缺乏系统探索。</a:t>
            </a:r>
            <a:endParaRPr lang="zh-CN" altLang="en-US" b="0"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r>
              <a:rPr lang="zh-CN" altLang="en-US" sz="2000" b="1">
                <a:latin typeface="华文楷体" panose="02010600040101010101" charset="-122"/>
                <a:ea typeface="华文楷体" panose="02010600040101010101" charset="-122"/>
                <a:cs typeface="华文楷体" panose="02010600040101010101" charset="-122"/>
                <a:sym typeface="+mn-ea"/>
              </a:rPr>
              <a:t>符号化推理能力不足：</a:t>
            </a:r>
            <a:endParaRPr lang="zh-CN" altLang="en-US" sz="2000" b="1" i="0">
              <a:solidFill>
                <a:schemeClr val="tx1"/>
              </a:solidFill>
              <a:latin typeface="华文楷体" panose="02010600040101010101" charset="-122"/>
              <a:ea typeface="华文楷体" panose="02010600040101010101" charset="-122"/>
              <a:cs typeface="华文楷体" panose="02010600040101010101" charset="-122"/>
            </a:endParaRPr>
          </a:p>
          <a:p>
            <a:pPr marL="0" lvl="1" indent="457200">
              <a:spcBef>
                <a:spcPct val="0"/>
              </a:spcBef>
              <a:spcAft>
                <a:spcPct val="0"/>
              </a:spcAft>
              <a:buFont typeface="Arial" panose="020B0604020202020204"/>
              <a:buNone/>
            </a:pPr>
            <a:r>
              <a:rPr lang="zh-CN" altLang="en-US">
                <a:latin typeface="华文楷体" panose="02010600040101010101" charset="-122"/>
                <a:ea typeface="华文楷体" panose="02010600040101010101" charset="-122"/>
                <a:cs typeface="华文楷体" panose="02010600040101010101" charset="-122"/>
                <a:sym typeface="+mn-ea"/>
              </a:rPr>
              <a:t>当前分割系统均采用纯亚符号学习方法，</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缺乏显式符号推理</a:t>
            </a:r>
            <a:r>
              <a:rPr lang="zh-CN" altLang="en-US">
                <a:latin typeface="华文楷体" panose="02010600040101010101" charset="-122"/>
                <a:ea typeface="华文楷体" panose="02010600040101010101" charset="-122"/>
                <a:cs typeface="华文楷体" panose="02010600040101010101" charset="-122"/>
                <a:sym typeface="+mn-ea"/>
              </a:rPr>
              <a:t>，无法关联的抽象知识</a:t>
            </a:r>
            <a:endParaRPr lang="zh-CN" altLang="en-US">
              <a:latin typeface="华文楷体" panose="02010600040101010101" charset="-122"/>
              <a:ea typeface="华文楷体" panose="02010600040101010101" charset="-122"/>
              <a:cs typeface="华文楷体" panose="0201060004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5" name="矩形 14"/>
          <p:cNvSpPr>
            <a:spLocks noChangeArrowheads="1"/>
          </p:cNvSpPr>
          <p:nvPr>
            <p:custDataLst>
              <p:tags r:id="rId1"/>
            </p:custDataLst>
          </p:nvPr>
        </p:nvSpPr>
        <p:spPr bwMode="auto">
          <a:xfrm>
            <a:off x="6836410" y="5191760"/>
            <a:ext cx="5105400" cy="113347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13" name="矩形 12"/>
          <p:cNvSpPr>
            <a:spLocks noChangeArrowheads="1"/>
          </p:cNvSpPr>
          <p:nvPr>
            <p:custDataLst>
              <p:tags r:id="rId2"/>
            </p:custDataLst>
          </p:nvPr>
        </p:nvSpPr>
        <p:spPr bwMode="auto">
          <a:xfrm>
            <a:off x="6837045" y="2861945"/>
            <a:ext cx="5104765" cy="2011680"/>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12" name="矩形 11"/>
          <p:cNvSpPr>
            <a:spLocks noChangeArrowheads="1"/>
          </p:cNvSpPr>
          <p:nvPr>
            <p:custDataLst>
              <p:tags r:id="rId3"/>
            </p:custDataLst>
          </p:nvPr>
        </p:nvSpPr>
        <p:spPr bwMode="auto">
          <a:xfrm>
            <a:off x="6837045" y="1431925"/>
            <a:ext cx="5032375" cy="902970"/>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11" name="矩形 10"/>
          <p:cNvSpPr>
            <a:spLocks noChangeArrowheads="1"/>
          </p:cNvSpPr>
          <p:nvPr>
            <p:custDataLst>
              <p:tags r:id="rId4"/>
            </p:custDataLst>
          </p:nvPr>
        </p:nvSpPr>
        <p:spPr bwMode="auto">
          <a:xfrm>
            <a:off x="677545" y="4946650"/>
            <a:ext cx="5097780" cy="1484630"/>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23" name="矩形 22"/>
          <p:cNvSpPr/>
          <p:nvPr/>
        </p:nvSpPr>
        <p:spPr>
          <a:xfrm>
            <a:off x="1152000" y="288000"/>
            <a:ext cx="20116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相关工作</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sp>
        <p:nvSpPr>
          <p:cNvPr id="26" name="矩形 25"/>
          <p:cNvSpPr>
            <a:spLocks noChangeArrowheads="1"/>
          </p:cNvSpPr>
          <p:nvPr>
            <p:custDataLst>
              <p:tags r:id="rId6"/>
            </p:custDataLst>
          </p:nvPr>
        </p:nvSpPr>
        <p:spPr bwMode="auto">
          <a:xfrm>
            <a:off x="655955" y="1211580"/>
            <a:ext cx="5080000" cy="147129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27" name="矩形 26"/>
          <p:cNvSpPr>
            <a:spLocks noChangeArrowheads="1"/>
          </p:cNvSpPr>
          <p:nvPr>
            <p:custDataLst>
              <p:tags r:id="rId7"/>
            </p:custDataLst>
          </p:nvPr>
        </p:nvSpPr>
        <p:spPr bwMode="auto">
          <a:xfrm>
            <a:off x="688340" y="3119755"/>
            <a:ext cx="5080000" cy="1484630"/>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3" name="文本框 2"/>
          <p:cNvSpPr txBox="1"/>
          <p:nvPr/>
        </p:nvSpPr>
        <p:spPr>
          <a:xfrm>
            <a:off x="773430" y="1273175"/>
            <a:ext cx="4947285" cy="1353185"/>
          </a:xfrm>
          <a:prstGeom prst="rect">
            <a:avLst/>
          </a:prstGeom>
        </p:spPr>
        <p:txBody>
          <a:bodyPr wrap="square">
            <a:spAutoFit/>
          </a:bodyPr>
          <a:p>
            <a:pPr marL="0" indent="0"/>
            <a:r>
              <a:rPr lang="zh-CN" altLang="en-US" b="1" i="0">
                <a:solidFill>
                  <a:schemeClr val="tx1"/>
                </a:solidFill>
                <a:latin typeface="仿宋" panose="02010609060101010101" charset="-122"/>
                <a:ea typeface="仿宋" panose="02010609060101010101" charset="-122"/>
                <a:cs typeface="华文楷体" panose="02010600040101010101" charset="-122"/>
              </a:rPr>
              <a:t>像素级语义解析研究</a:t>
            </a:r>
            <a:r>
              <a:rPr lang="zh-CN" altLang="en-US" sz="1600" i="0">
                <a:latin typeface="华文楷体" panose="02010600040101010101" charset="-122"/>
                <a:ea typeface="华文楷体" panose="02010600040101010101" charset="-122"/>
                <a:cs typeface="华文楷体" panose="02010600040101010101" charset="-122"/>
              </a:rPr>
              <a:t>现有方法的</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局限性</a:t>
            </a:r>
            <a:r>
              <a:rPr lang="zh-CN" altLang="en-US" sz="1600" b="0" i="0">
                <a:latin typeface="华文楷体" panose="02010600040101010101" charset="-122"/>
                <a:ea typeface="华文楷体" panose="02010600040101010101" charset="-122"/>
                <a:cs typeface="华文楷体" panose="02010600040101010101" charset="-122"/>
              </a:rPr>
              <a:t>：</a:t>
            </a:r>
            <a:endParaRPr lang="zh-CN" altLang="en-US" sz="1600" b="0" i="0">
              <a:latin typeface="华文楷体" panose="02010600040101010101" charset="-122"/>
              <a:ea typeface="华文楷体" panose="02010600040101010101" charset="-122"/>
              <a:cs typeface="华文楷体" panose="02010600040101010101" charset="-122"/>
            </a:endParaRPr>
          </a:p>
          <a:p>
            <a:pPr marL="0" indent="0"/>
            <a:r>
              <a:rPr lang="zh-CN" altLang="en-US" sz="1600" b="0" i="0">
                <a:latin typeface="华文楷体" panose="02010600040101010101" charset="-122"/>
                <a:ea typeface="华文楷体" panose="02010600040101010101" charset="-122"/>
                <a:cs typeface="华文楷体" panose="02010600040101010101" charset="-122"/>
              </a:rPr>
              <a:t>1）仅面向</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扁平化标签</a:t>
            </a:r>
            <a:r>
              <a:rPr lang="zh-CN" altLang="en-US" sz="1600" b="0" i="0">
                <a:latin typeface="华文楷体" panose="02010600040101010101" charset="-122"/>
                <a:ea typeface="华文楷体" panose="02010600040101010101" charset="-122"/>
                <a:cs typeface="华文楷体" panose="02010600040101010101" charset="-122"/>
              </a:rPr>
              <a:t>进行直接预测</a:t>
            </a:r>
            <a:endParaRPr lang="zh-CN" altLang="en-US" sz="1600" b="0" i="0">
              <a:latin typeface="华文楷体" panose="02010600040101010101" charset="-122"/>
              <a:ea typeface="华文楷体" panose="02010600040101010101" charset="-122"/>
              <a:cs typeface="华文楷体" panose="02010600040101010101" charset="-122"/>
            </a:endParaRPr>
          </a:p>
          <a:p>
            <a:pPr marL="0" indent="0"/>
            <a:r>
              <a:rPr lang="zh-CN" altLang="en-US" sz="1600" b="0" i="0">
                <a:latin typeface="华文楷体" panose="02010600040101010101" charset="-122"/>
                <a:ea typeface="华文楷体" panose="02010600040101010101" charset="-122"/>
                <a:cs typeface="华文楷体" panose="02010600040101010101" charset="-122"/>
              </a:rPr>
              <a:t>2）对语义概念间的丰富</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结构</a:t>
            </a:r>
            <a:r>
              <a:rPr lang="zh-CN" altLang="en-US" sz="1600" b="0" i="0">
                <a:latin typeface="华文楷体" panose="02010600040101010101" charset="-122"/>
                <a:ea typeface="华文楷体" panose="02010600040101010101" charset="-122"/>
                <a:cs typeface="华文楷体" panose="02010600040101010101" charset="-122"/>
              </a:rPr>
              <a:t>缺乏感知</a:t>
            </a:r>
            <a:endParaRPr lang="zh-CN" altLang="en-US" sz="1600" b="0" i="0">
              <a:latin typeface="华文楷体" panose="02010600040101010101" charset="-122"/>
              <a:ea typeface="华文楷体" panose="02010600040101010101" charset="-122"/>
              <a:cs typeface="华文楷体" panose="02010600040101010101" charset="-122"/>
            </a:endParaRPr>
          </a:p>
          <a:p>
            <a:pPr marL="0" indent="0"/>
            <a:r>
              <a:rPr lang="zh-CN" altLang="en-US" sz="1600" b="0" i="0">
                <a:latin typeface="华文楷体" panose="02010600040101010101" charset="-122"/>
                <a:ea typeface="华文楷体" panose="02010600040101010101" charset="-122"/>
                <a:cs typeface="华文楷体" panose="02010600040101010101" charset="-122"/>
              </a:rPr>
              <a:t>3）缺少</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符号操作/逻辑计算的显式机制</a:t>
            </a:r>
            <a:r>
              <a:rPr lang="zh-CN" altLang="en-US" sz="1600" b="0" i="0">
                <a:latin typeface="华文楷体" panose="02010600040101010101" charset="-122"/>
                <a:ea typeface="华文楷体" panose="02010600040101010101" charset="-122"/>
                <a:cs typeface="华文楷体" panose="02010600040101010101" charset="-122"/>
              </a:rPr>
              <a:t>——而这正是人类区别于其他生物的</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核心认知特征</a:t>
            </a:r>
            <a:endParaRPr lang="zh-CN" altLang="en-US" sz="1600" b="1" i="0">
              <a:solidFill>
                <a:srgbClr val="FF0000"/>
              </a:solidFill>
              <a:latin typeface="华文楷体" panose="02010600040101010101" charset="-122"/>
              <a:ea typeface="华文楷体" panose="02010600040101010101" charset="-122"/>
              <a:cs typeface="华文楷体" panose="02010600040101010101" charset="-122"/>
            </a:endParaRPr>
          </a:p>
        </p:txBody>
      </p:sp>
      <p:sp>
        <p:nvSpPr>
          <p:cNvPr id="7" name="文本框 6"/>
          <p:cNvSpPr txBox="1"/>
          <p:nvPr/>
        </p:nvSpPr>
        <p:spPr>
          <a:xfrm>
            <a:off x="6962775" y="1631315"/>
            <a:ext cx="4978400" cy="989330"/>
          </a:xfrm>
          <a:prstGeom prst="rect">
            <a:avLst/>
          </a:prstGeom>
        </p:spPr>
        <p:txBody>
          <a:bodyPr wrap="square">
            <a:noAutofit/>
          </a:bodyPr>
          <a:p>
            <a:pPr marL="0" indent="0"/>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构建神经-逻辑融合机制</a:t>
            </a:r>
            <a:r>
              <a:rPr lang="zh-CN" altLang="en-US" sz="1600" b="0" i="0">
                <a:latin typeface="华文楷体" panose="02010600040101010101" charset="-122"/>
                <a:ea typeface="华文楷体" panose="02010600040101010101" charset="-122"/>
                <a:cs typeface="华文楷体" panose="02010600040101010101" charset="-122"/>
              </a:rPr>
              <a:t>，为解决这些本质局限迈出了坚实一步，为语义分割提供了全新研究视角。</a:t>
            </a:r>
            <a:endParaRPr lang="zh-CN" altLang="en-US" sz="1600" b="0" i="0">
              <a:latin typeface="华文楷体" panose="02010600040101010101" charset="-122"/>
              <a:ea typeface="华文楷体" panose="02010600040101010101" charset="-122"/>
              <a:cs typeface="华文楷体" panose="02010600040101010101" charset="-122"/>
            </a:endParaRPr>
          </a:p>
        </p:txBody>
      </p:sp>
      <p:sp>
        <p:nvSpPr>
          <p:cNvPr id="8" name="文本框 7"/>
          <p:cNvSpPr txBox="1"/>
          <p:nvPr/>
        </p:nvSpPr>
        <p:spPr>
          <a:xfrm>
            <a:off x="816610" y="3213735"/>
            <a:ext cx="4861560" cy="1353185"/>
          </a:xfrm>
          <a:prstGeom prst="rect">
            <a:avLst/>
          </a:prstGeom>
        </p:spPr>
        <p:txBody>
          <a:bodyPr wrap="square">
            <a:spAutoFit/>
          </a:bodyPr>
          <a:p>
            <a:pPr marL="0" indent="0"/>
            <a:r>
              <a:rPr lang="zh-CN" altLang="en-US" b="1" i="0">
                <a:latin typeface="仿宋" panose="02010609060101010101" charset="-122"/>
                <a:ea typeface="仿宋" panose="02010609060101010101" charset="-122"/>
                <a:cs typeface="华文楷体" panose="02010600040101010101" charset="-122"/>
              </a:rPr>
              <a:t>标签结构感知的语义分割研究</a:t>
            </a:r>
            <a:r>
              <a:rPr lang="zh-CN" altLang="en-US" sz="1600" i="0">
                <a:latin typeface="华文楷体" panose="02010600040101010101" charset="-122"/>
                <a:ea typeface="华文楷体" panose="02010600040101010101" charset="-122"/>
                <a:cs typeface="华文楷体" panose="02010600040101010101" charset="-122"/>
              </a:rPr>
              <a:t>现有方法的</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局限性</a:t>
            </a:r>
            <a:r>
              <a:rPr lang="zh-CN" altLang="en-US" sz="1600" b="0" i="0">
                <a:latin typeface="华文楷体" panose="02010600040101010101" charset="-122"/>
                <a:ea typeface="华文楷体" panose="02010600040101010101" charset="-122"/>
                <a:cs typeface="华文楷体" panose="02010600040101010101" charset="-122"/>
              </a:rPr>
              <a:t>：</a:t>
            </a:r>
            <a:endParaRPr lang="zh-CN" altLang="en-US" sz="1600" b="0" i="0">
              <a:latin typeface="华文楷体" panose="02010600040101010101" charset="-122"/>
              <a:ea typeface="华文楷体" panose="02010600040101010101" charset="-122"/>
              <a:cs typeface="华文楷体" panose="02010600040101010101" charset="-122"/>
            </a:endParaRPr>
          </a:p>
          <a:p>
            <a:pPr marL="0" indent="0"/>
            <a:r>
              <a:rPr lang="en-US" altLang="zh-CN" sz="1600" i="0">
                <a:solidFill>
                  <a:schemeClr val="tx1"/>
                </a:solidFill>
                <a:latin typeface="华文楷体" panose="02010600040101010101" charset="-122"/>
                <a:ea typeface="华文楷体" panose="02010600040101010101" charset="-122"/>
                <a:cs typeface="华文楷体" panose="02010600040101010101" charset="-122"/>
              </a:rPr>
              <a:t>1</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）仍局限于</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亚符号学习范式</a:t>
            </a:r>
            <a:endParaRPr lang="zh-CN" altLang="en-US" sz="1600" i="0">
              <a:solidFill>
                <a:schemeClr val="tx1"/>
              </a:solidFill>
              <a:latin typeface="华文楷体" panose="02010600040101010101" charset="-122"/>
              <a:ea typeface="华文楷体" panose="02010600040101010101" charset="-122"/>
              <a:cs typeface="华文楷体" panose="02010600040101010101" charset="-122"/>
            </a:endParaRPr>
          </a:p>
          <a:p>
            <a:pPr marL="0" indent="0"/>
            <a:r>
              <a:rPr lang="en-US" altLang="zh-CN" sz="1600" i="0">
                <a:solidFill>
                  <a:schemeClr val="tx1"/>
                </a:solidFill>
                <a:latin typeface="华文楷体" panose="02010600040101010101" charset="-122"/>
                <a:ea typeface="华文楷体" panose="02010600040101010101" charset="-122"/>
                <a:cs typeface="华文楷体" panose="02010600040101010101" charset="-122"/>
              </a:rPr>
              <a:t>2</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）仅利用</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片段化结构</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关系</a:t>
            </a:r>
            <a:endParaRPr lang="zh-CN" altLang="en-US" sz="1600" i="0">
              <a:solidFill>
                <a:schemeClr val="tx1"/>
              </a:solidFill>
              <a:latin typeface="华文楷体" panose="02010600040101010101" charset="-122"/>
              <a:ea typeface="华文楷体" panose="02010600040101010101" charset="-122"/>
              <a:cs typeface="华文楷体" panose="02010600040101010101" charset="-122"/>
            </a:endParaRPr>
          </a:p>
          <a:p>
            <a:pPr marL="0" indent="0"/>
            <a:r>
              <a:rPr lang="en-US" altLang="zh-CN" sz="1600" i="0">
                <a:solidFill>
                  <a:schemeClr val="tx1"/>
                </a:solidFill>
                <a:latin typeface="华文楷体" panose="02010600040101010101" charset="-122"/>
                <a:ea typeface="华文楷体" panose="02010600040101010101" charset="-122"/>
                <a:cs typeface="华文楷体" panose="02010600040101010101" charset="-122"/>
              </a:rPr>
              <a:t>3</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）缺乏</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结构化</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感知的推理机制</a:t>
            </a:r>
            <a:endParaRPr lang="zh-CN" altLang="en-US" sz="1600" i="0">
              <a:solidFill>
                <a:schemeClr val="tx1"/>
              </a:solidFill>
              <a:latin typeface="华文楷体" panose="02010600040101010101" charset="-122"/>
              <a:ea typeface="华文楷体" panose="02010600040101010101" charset="-122"/>
              <a:cs typeface="华文楷体" panose="02010600040101010101" charset="-122"/>
            </a:endParaRPr>
          </a:p>
          <a:p>
            <a:pPr marL="0" indent="0"/>
            <a:r>
              <a:rPr lang="en-US" altLang="zh-CN" sz="1600" i="0">
                <a:solidFill>
                  <a:schemeClr val="tx1"/>
                </a:solidFill>
                <a:latin typeface="华文楷体" panose="02010600040101010101" charset="-122"/>
                <a:ea typeface="华文楷体" panose="02010600040101010101" charset="-122"/>
                <a:cs typeface="华文楷体" panose="02010600040101010101" charset="-122"/>
              </a:rPr>
              <a:t>4</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）依赖</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复杂专用网络结构</a:t>
            </a:r>
            <a:endParaRPr lang="zh-CN" altLang="en-US" sz="1600" b="1" i="0">
              <a:solidFill>
                <a:srgbClr val="FF0000"/>
              </a:solidFill>
              <a:latin typeface="华文楷体" panose="02010600040101010101" charset="-122"/>
              <a:ea typeface="华文楷体" panose="02010600040101010101" charset="-122"/>
              <a:cs typeface="华文楷体" panose="02010600040101010101" charset="-122"/>
            </a:endParaRPr>
          </a:p>
        </p:txBody>
      </p:sp>
      <p:sp>
        <p:nvSpPr>
          <p:cNvPr id="9" name="文本框 8"/>
          <p:cNvSpPr txBox="1"/>
          <p:nvPr/>
        </p:nvSpPr>
        <p:spPr>
          <a:xfrm>
            <a:off x="6843395" y="2979420"/>
            <a:ext cx="5076825" cy="1826895"/>
          </a:xfrm>
          <a:prstGeom prst="rect">
            <a:avLst/>
          </a:prstGeom>
        </p:spPr>
        <p:txBody>
          <a:bodyPr wrap="square">
            <a:noAutofit/>
          </a:bodyPr>
          <a:p>
            <a:pPr algn="l" fontAlgn="auto">
              <a:lnSpc>
                <a:spcPct val="100000"/>
              </a:lnSpc>
              <a:spcBef>
                <a:spcPts val="600"/>
              </a:spcBef>
              <a:buClrTx/>
              <a:buSzTx/>
              <a:buFontTx/>
            </a:pPr>
            <a:r>
              <a:rPr lang="zh-CN" altLang="en-US" sz="1600" b="0" i="0">
                <a:latin typeface="华文楷体" panose="02010600040101010101" charset="-122"/>
                <a:ea typeface="华文楷体" panose="02010600040101010101" charset="-122"/>
                <a:cs typeface="华文楷体" panose="02010600040101010101" charset="-122"/>
              </a:rPr>
              <a:t>通过</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神经符号框架</a:t>
            </a:r>
            <a:r>
              <a:rPr lang="zh-CN" altLang="en-US" sz="1600" b="0" i="0">
                <a:latin typeface="华文楷体" panose="02010600040101010101" charset="-122"/>
                <a:ea typeface="华文楷体" panose="02010600040101010101" charset="-122"/>
                <a:cs typeface="华文楷体" panose="02010600040101010101" charset="-122"/>
              </a:rPr>
              <a:t>重构结构化分割任务：</a:t>
            </a:r>
            <a:endParaRPr lang="zh-CN" altLang="en-US" sz="1600" b="0" i="0">
              <a:latin typeface="华文楷体" panose="02010600040101010101" charset="-122"/>
              <a:ea typeface="华文楷体" panose="02010600040101010101" charset="-122"/>
              <a:cs typeface="华文楷体" panose="02010600040101010101" charset="-122"/>
            </a:endParaRPr>
          </a:p>
          <a:p>
            <a:pPr algn="l" fontAlgn="auto">
              <a:lnSpc>
                <a:spcPct val="100000"/>
              </a:lnSpc>
              <a:spcBef>
                <a:spcPts val="600"/>
              </a:spcBef>
              <a:buClrTx/>
              <a:buSzTx/>
              <a:buFontTx/>
            </a:pPr>
            <a:r>
              <a:rPr lang="zh-CN" altLang="en-US" sz="1600" b="0" i="0">
                <a:latin typeface="华文楷体" panose="02010600040101010101" charset="-122"/>
                <a:ea typeface="华文楷体" panose="02010600040101010101" charset="-122"/>
                <a:cs typeface="华文楷体" panose="02010600040101010101" charset="-122"/>
              </a:rPr>
              <a:t>1）以</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一阶逻辑</a:t>
            </a:r>
            <a:r>
              <a:rPr lang="zh-CN" altLang="en-US" sz="1600" i="0">
                <a:latin typeface="华文楷体" panose="02010600040101010101" charset="-122"/>
                <a:ea typeface="华文楷体" panose="02010600040101010101" charset="-122"/>
                <a:cs typeface="华文楷体" panose="02010600040101010101" charset="-122"/>
              </a:rPr>
              <a:t>形式</a:t>
            </a:r>
            <a:r>
              <a:rPr lang="zh-CN" altLang="en-US" sz="1600" b="0" i="0">
                <a:latin typeface="华文楷体" panose="02010600040101010101" charset="-122"/>
                <a:ea typeface="华文楷体" panose="02010600040101010101" charset="-122"/>
                <a:cs typeface="华文楷体" panose="02010600040101010101" charset="-122"/>
              </a:rPr>
              <a:t>完整描述符号化关系知识</a:t>
            </a:r>
            <a:endParaRPr lang="zh-CN" altLang="en-US" sz="1600" b="0" i="0">
              <a:latin typeface="华文楷体" panose="02010600040101010101" charset="-122"/>
              <a:ea typeface="华文楷体" panose="02010600040101010101" charset="-122"/>
              <a:cs typeface="华文楷体" panose="02010600040101010101" charset="-122"/>
            </a:endParaRPr>
          </a:p>
          <a:p>
            <a:pPr algn="l" fontAlgn="auto">
              <a:lnSpc>
                <a:spcPct val="100000"/>
              </a:lnSpc>
              <a:spcBef>
                <a:spcPts val="600"/>
              </a:spcBef>
              <a:buClrTx/>
              <a:buSzTx/>
              <a:buFontTx/>
            </a:pPr>
            <a:r>
              <a:rPr lang="zh-CN" altLang="en-US" sz="1600" b="0" i="0">
                <a:latin typeface="华文楷体" panose="02010600040101010101" charset="-122"/>
                <a:ea typeface="华文楷体" panose="02010600040101010101" charset="-122"/>
                <a:cs typeface="华文楷体" panose="02010600040101010101" charset="-122"/>
              </a:rPr>
              <a:t>2）将逻辑约束深度嵌入网络训练与推理全过程</a:t>
            </a:r>
            <a:endParaRPr lang="zh-CN" altLang="en-US" sz="1600" b="0" i="0">
              <a:latin typeface="华文楷体" panose="02010600040101010101" charset="-122"/>
              <a:ea typeface="华文楷体" panose="02010600040101010101" charset="-122"/>
              <a:cs typeface="华文楷体" panose="02010600040101010101" charset="-122"/>
            </a:endParaRPr>
          </a:p>
          <a:p>
            <a:pPr algn="l" fontAlgn="auto">
              <a:lnSpc>
                <a:spcPct val="100000"/>
              </a:lnSpc>
              <a:spcBef>
                <a:spcPts val="600"/>
              </a:spcBef>
              <a:buClrTx/>
              <a:buSzTx/>
              <a:buFontTx/>
            </a:pPr>
            <a:r>
              <a:rPr lang="zh-CN" altLang="en-US" sz="1600" i="0">
                <a:latin typeface="华文楷体" panose="02010600040101010101" charset="-122"/>
                <a:ea typeface="华文楷体" panose="02010600040101010101" charset="-122"/>
                <a:cs typeface="华文楷体" panose="02010600040101010101" charset="-122"/>
              </a:rPr>
              <a:t>3）</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构建通用框架</a:t>
            </a:r>
            <a:r>
              <a:rPr lang="zh-CN" altLang="en-US" sz="1600" b="0" i="0">
                <a:latin typeface="华文楷体" panose="02010600040101010101" charset="-122"/>
                <a:ea typeface="华文楷体" panose="02010600040101010101" charset="-122"/>
                <a:cs typeface="华文楷体" panose="02010600040101010101" charset="-122"/>
              </a:rPr>
              <a:t>，兼容现有无视层次的标准分割架构</a:t>
            </a:r>
            <a:endParaRPr lang="zh-CN" altLang="en-US" sz="1600" b="0" i="0">
              <a:latin typeface="华文楷体" panose="02010600040101010101" charset="-122"/>
              <a:ea typeface="华文楷体" panose="02010600040101010101" charset="-122"/>
              <a:cs typeface="华文楷体" panose="02010600040101010101" charset="-122"/>
            </a:endParaRPr>
          </a:p>
          <a:p>
            <a:pPr algn="l" fontAlgn="auto">
              <a:lnSpc>
                <a:spcPct val="100000"/>
              </a:lnSpc>
              <a:spcBef>
                <a:spcPts val="600"/>
              </a:spcBef>
              <a:buClrTx/>
              <a:buSzTx/>
              <a:buFontTx/>
            </a:pPr>
            <a:r>
              <a:rPr lang="zh-CN" altLang="en-US" sz="1600" b="0" i="0">
                <a:latin typeface="华文楷体" panose="02010600040101010101" charset="-122"/>
                <a:ea typeface="华文楷体" panose="02010600040101010101" charset="-122"/>
                <a:cs typeface="华文楷体" panose="02010600040101010101" charset="-122"/>
              </a:rPr>
              <a:t>该算法在保持模型通用性的同时，实现了</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符号推理与神经学习</a:t>
            </a:r>
            <a:r>
              <a:rPr lang="zh-CN" altLang="en-US" sz="1600" b="0" i="0">
                <a:latin typeface="华文楷体" panose="02010600040101010101" charset="-122"/>
                <a:ea typeface="华文楷体" panose="02010600040101010101" charset="-122"/>
                <a:cs typeface="华文楷体" panose="02010600040101010101" charset="-122"/>
              </a:rPr>
              <a:t>的深度融合</a:t>
            </a:r>
            <a:endParaRPr lang="zh-CN" altLang="en-US" sz="1600" b="0" i="0">
              <a:latin typeface="华文楷体" panose="02010600040101010101" charset="-122"/>
              <a:ea typeface="华文楷体" panose="02010600040101010101" charset="-122"/>
              <a:cs typeface="华文楷体" panose="02010600040101010101" charset="-122"/>
            </a:endParaRPr>
          </a:p>
        </p:txBody>
      </p:sp>
      <p:sp>
        <p:nvSpPr>
          <p:cNvPr id="10" name="文本框 9"/>
          <p:cNvSpPr txBox="1"/>
          <p:nvPr/>
        </p:nvSpPr>
        <p:spPr>
          <a:xfrm>
            <a:off x="688340" y="5151438"/>
            <a:ext cx="5080000" cy="1106805"/>
          </a:xfrm>
          <a:prstGeom prst="rect">
            <a:avLst/>
          </a:prstGeom>
        </p:spPr>
        <p:txBody>
          <a:bodyPr>
            <a:spAutoFit/>
          </a:bodyPr>
          <a:p>
            <a:pPr marL="0" indent="0"/>
            <a:r>
              <a:rPr lang="zh-CN" altLang="en-US" sz="1800" b="1" i="0">
                <a:latin typeface="仿宋" panose="02010609060101010101" charset="-122"/>
                <a:ea typeface="仿宋" panose="02010609060101010101" charset="-122"/>
                <a:cs typeface="华文楷体" panose="02010600040101010101" charset="-122"/>
              </a:rPr>
              <a:t>神经符号计算研究</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现状</a:t>
            </a:r>
            <a:r>
              <a:rPr lang="zh-CN" altLang="en-US" sz="1800" b="1" i="0">
                <a:latin typeface="华文楷体" panose="02010600040101010101" charset="-122"/>
                <a:ea typeface="华文楷体" panose="02010600040101010101" charset="-122"/>
                <a:cs typeface="华文楷体" panose="02010600040101010101" charset="-122"/>
              </a:rPr>
              <a:t>：</a:t>
            </a:r>
            <a:r>
              <a:rPr lang="zh-CN" altLang="en-US" sz="1600" i="0">
                <a:latin typeface="华文楷体" panose="02010600040101010101" charset="-122"/>
                <a:ea typeface="华文楷体" panose="02010600040101010101" charset="-122"/>
                <a:cs typeface="华文楷体" panose="02010600040101010101" charset="-122"/>
              </a:rPr>
              <a:t>现代</a:t>
            </a:r>
            <a:r>
              <a:rPr lang="en-US" altLang="zh-CN" sz="1600" i="0">
                <a:latin typeface="华文楷体" panose="02010600040101010101" charset="-122"/>
                <a:ea typeface="华文楷体" panose="02010600040101010101" charset="-122"/>
                <a:cs typeface="华文楷体" panose="02010600040101010101" charset="-122"/>
              </a:rPr>
              <a:t>NSC</a:t>
            </a:r>
            <a:r>
              <a:rPr lang="zh-CN" altLang="en-US" sz="1600" i="0">
                <a:latin typeface="华文楷体" panose="02010600040101010101" charset="-122"/>
                <a:ea typeface="华文楷体" panose="02010600040101010101" charset="-122"/>
                <a:cs typeface="华文楷体" panose="02010600040101010101" charset="-122"/>
              </a:rPr>
              <a:t>系统证明神经网络可处理多种符号表示形式，包括：</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知识图谱</a:t>
            </a:r>
            <a:r>
              <a:rPr lang="zh-CN" altLang="en-US" sz="1600" i="0">
                <a:latin typeface="华文楷体" panose="02010600040101010101" charset="-122"/>
                <a:ea typeface="华文楷体" panose="02010600040101010101" charset="-122"/>
                <a:cs typeface="华文楷体" panose="02010600040101010101" charset="-122"/>
              </a:rPr>
              <a:t>、</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命题逻辑</a:t>
            </a:r>
            <a:r>
              <a:rPr lang="zh-CN" altLang="en-US" sz="1600" i="0">
                <a:latin typeface="华文楷体" panose="02010600040101010101" charset="-122"/>
                <a:ea typeface="华文楷体" panose="02010600040101010101" charset="-122"/>
                <a:cs typeface="华文楷体" panose="02010600040101010101" charset="-122"/>
              </a:rPr>
              <a:t>、</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一阶逻辑</a:t>
            </a:r>
            <a:r>
              <a:rPr lang="zh-CN" altLang="en-US" sz="1600" i="0">
                <a:latin typeface="华文楷体" panose="02010600040101010101" charset="-122"/>
                <a:ea typeface="华文楷体" panose="02010600040101010101" charset="-122"/>
                <a:cs typeface="华文楷体" panose="02010600040101010101" charset="-122"/>
              </a:rPr>
              <a:t>等，但</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尚无</a:t>
            </a:r>
            <a:r>
              <a:rPr lang="en-US" altLang="zh-CN" sz="1600" b="1" i="0">
                <a:solidFill>
                  <a:srgbClr val="FF0000"/>
                </a:solidFill>
                <a:latin typeface="华文楷体" panose="02010600040101010101" charset="-122"/>
                <a:ea typeface="华文楷体" panose="02010600040101010101" charset="-122"/>
                <a:cs typeface="华文楷体" panose="02010600040101010101" charset="-122"/>
              </a:rPr>
              <a:t>NSC</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系统在大规模视觉任务中展现先进性能</a:t>
            </a:r>
            <a:endParaRPr lang="zh-CN" altLang="en-US" sz="1600" b="1" i="0">
              <a:solidFill>
                <a:srgbClr val="FF0000"/>
              </a:solidFill>
              <a:latin typeface="华文楷体" panose="02010600040101010101" charset="-122"/>
              <a:ea typeface="华文楷体" panose="02010600040101010101" charset="-122"/>
              <a:cs typeface="华文楷体" panose="02010600040101010101" charset="-122"/>
            </a:endParaRPr>
          </a:p>
        </p:txBody>
      </p:sp>
      <p:sp>
        <p:nvSpPr>
          <p:cNvPr id="14" name="文本框 13"/>
          <p:cNvSpPr txBox="1"/>
          <p:nvPr/>
        </p:nvSpPr>
        <p:spPr>
          <a:xfrm>
            <a:off x="6963410" y="5258435"/>
            <a:ext cx="5024755" cy="1076325"/>
          </a:xfrm>
          <a:prstGeom prst="rect">
            <a:avLst/>
          </a:prstGeom>
        </p:spPr>
        <p:txBody>
          <a:bodyPr wrap="square">
            <a:spAutoFit/>
          </a:bodyPr>
          <a:p>
            <a:pPr marL="0" indent="0"/>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首次</a:t>
            </a:r>
            <a:r>
              <a:rPr lang="zh-CN" altLang="en-US" sz="1600" b="0" i="0">
                <a:latin typeface="华文楷体" panose="02010600040101010101" charset="-122"/>
                <a:ea typeface="华文楷体" panose="02010600040101010101" charset="-122"/>
                <a:cs typeface="华文楷体" panose="02010600040101010101" charset="-122"/>
              </a:rPr>
              <a:t>在视觉语义解析领域实现神经与符号范式的深度协同，创新性地</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将逻辑规则贯穿网络训练与推理全过程</a:t>
            </a:r>
            <a:r>
              <a:rPr lang="zh-CN" altLang="en-US" sz="1600" b="0" i="0">
                <a:latin typeface="华文楷体" panose="02010600040101010101" charset="-122"/>
                <a:ea typeface="华文楷体" panose="02010600040101010101" charset="-122"/>
                <a:cs typeface="华文楷体" panose="02010600040101010101" charset="-122"/>
              </a:rPr>
              <a:t>，在多个高难度数据集上取得</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显著性能提升</a:t>
            </a:r>
            <a:r>
              <a:rPr lang="zh-CN" altLang="en-US" sz="1600" b="0" i="0">
                <a:latin typeface="华文楷体" panose="02010600040101010101" charset="-122"/>
                <a:ea typeface="华文楷体" panose="02010600040101010101" charset="-122"/>
                <a:cs typeface="华文楷体" panose="02010600040101010101" charset="-122"/>
              </a:rPr>
              <a:t>，为NSC的有效性</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提供了坚实实证</a:t>
            </a:r>
            <a:r>
              <a:rPr lang="zh-CN" altLang="en-US" sz="1600" b="0" i="0">
                <a:latin typeface="华文楷体" panose="02010600040101010101" charset="-122"/>
                <a:ea typeface="华文楷体" panose="02010600040101010101" charset="-122"/>
                <a:cs typeface="华文楷体" panose="02010600040101010101" charset="-122"/>
              </a:rPr>
              <a:t>。</a:t>
            </a:r>
            <a:endParaRPr lang="zh-CN" altLang="en-US" sz="1600" b="0" i="0">
              <a:latin typeface="华文楷体" panose="02010600040101010101" charset="-122"/>
              <a:ea typeface="华文楷体" panose="02010600040101010101" charset="-122"/>
              <a:cs typeface="华文楷体" panose="02010600040101010101" charset="-122"/>
            </a:endParaRPr>
          </a:p>
        </p:txBody>
      </p:sp>
      <p:sp>
        <p:nvSpPr>
          <p:cNvPr id="18" name="右箭头 17"/>
          <p:cNvSpPr/>
          <p:nvPr/>
        </p:nvSpPr>
        <p:spPr>
          <a:xfrm>
            <a:off x="6102985" y="1871980"/>
            <a:ext cx="515620" cy="153670"/>
          </a:xfrm>
          <a:prstGeom prst="rightArrow">
            <a:avLst/>
          </a:prstGeom>
          <a:solidFill>
            <a:schemeClr val="bg1">
              <a:lumMod val="65000"/>
            </a:schemeClr>
          </a:solid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右箭头 21"/>
          <p:cNvSpPr/>
          <p:nvPr/>
        </p:nvSpPr>
        <p:spPr>
          <a:xfrm>
            <a:off x="6122035" y="3780155"/>
            <a:ext cx="515620" cy="153670"/>
          </a:xfrm>
          <a:prstGeom prst="rightArrow">
            <a:avLst/>
          </a:prstGeom>
          <a:solidFill>
            <a:schemeClr val="bg1">
              <a:lumMod val="65000"/>
            </a:schemeClr>
          </a:solid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右箭头 23"/>
          <p:cNvSpPr/>
          <p:nvPr/>
        </p:nvSpPr>
        <p:spPr>
          <a:xfrm>
            <a:off x="6154420" y="5636895"/>
            <a:ext cx="515620" cy="153670"/>
          </a:xfrm>
          <a:prstGeom prst="rightArrow">
            <a:avLst/>
          </a:prstGeom>
          <a:solidFill>
            <a:schemeClr val="bg1">
              <a:lumMod val="65000"/>
            </a:schemeClr>
          </a:solid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3" name="矩形 12"/>
          <p:cNvSpPr>
            <a:spLocks noChangeArrowheads="1"/>
          </p:cNvSpPr>
          <p:nvPr>
            <p:custDataLst>
              <p:tags r:id="rId1"/>
            </p:custDataLst>
          </p:nvPr>
        </p:nvSpPr>
        <p:spPr bwMode="auto">
          <a:xfrm>
            <a:off x="6476365" y="1126490"/>
            <a:ext cx="5390515" cy="539178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9" name="矩形 8"/>
          <p:cNvSpPr>
            <a:spLocks noChangeArrowheads="1"/>
          </p:cNvSpPr>
          <p:nvPr>
            <p:custDataLst>
              <p:tags r:id="rId2"/>
            </p:custDataLst>
          </p:nvPr>
        </p:nvSpPr>
        <p:spPr bwMode="auto">
          <a:xfrm>
            <a:off x="600075" y="2385060"/>
            <a:ext cx="5499735" cy="4191000"/>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26" name="矩形 25"/>
          <p:cNvSpPr>
            <a:spLocks noChangeArrowheads="1"/>
          </p:cNvSpPr>
          <p:nvPr>
            <p:custDataLst>
              <p:tags r:id="rId3"/>
            </p:custDataLst>
          </p:nvPr>
        </p:nvSpPr>
        <p:spPr bwMode="auto">
          <a:xfrm>
            <a:off x="600075" y="1017905"/>
            <a:ext cx="5495925" cy="117792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23" name="矩形 22"/>
          <p:cNvSpPr/>
          <p:nvPr/>
        </p:nvSpPr>
        <p:spPr>
          <a:xfrm>
            <a:off x="1152000" y="288000"/>
            <a:ext cx="2505075"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lang="zh-CN" altLang="en-US" sz="3600" b="1" kern="0" noProof="0" dirty="0">
                <a:ln>
                  <a:noFill/>
                </a:ln>
                <a:solidFill>
                  <a:prstClr val="black">
                    <a:lumMod val="95000"/>
                    <a:lumOff val="5000"/>
                  </a:prstClr>
                </a:solidFill>
                <a:effectLst/>
                <a:uLnTx/>
                <a:uFillTx/>
                <a:latin typeface="微软雅黑" panose="020B0503020204020204" charset="-122"/>
                <a:ea typeface="微软雅黑" panose="020B0503020204020204" charset="-122"/>
                <a:sym typeface="+mn-ea"/>
              </a:rPr>
              <a:t>LOGICSEG</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sp>
        <p:nvSpPr>
          <p:cNvPr id="3" name="文本框 2"/>
          <p:cNvSpPr txBox="1"/>
          <p:nvPr/>
        </p:nvSpPr>
        <p:spPr>
          <a:xfrm>
            <a:off x="681990" y="1550670"/>
            <a:ext cx="5417820" cy="645160"/>
          </a:xfrm>
          <a:prstGeom prst="rect">
            <a:avLst/>
          </a:prstGeom>
        </p:spPr>
        <p:txBody>
          <a:bodyPr wrap="square">
            <a:spAutoFit/>
          </a:bodyPr>
          <a:p>
            <a:pPr marL="0" indent="0"/>
            <a:r>
              <a:rPr lang="zh-CN" altLang="en-US" sz="1800" i="0">
                <a:solidFill>
                  <a:schemeClr val="tx1"/>
                </a:solidFill>
                <a:latin typeface="华文楷体" panose="02010600040101010101" charset="-122"/>
                <a:ea typeface="华文楷体" panose="02010600040101010101" charset="-122"/>
                <a:cs typeface="华文楷体" panose="02010600040101010101" charset="-122"/>
              </a:rPr>
              <a:t>1. 从"扁平化像素分类"转向"</a:t>
            </a:r>
            <a:r>
              <a:rPr lang="zh-CN" altLang="en-US" sz="1800" b="1" i="0">
                <a:solidFill>
                  <a:srgbClr val="FF0000"/>
                </a:solidFill>
                <a:latin typeface="华文楷体" panose="02010600040101010101" charset="-122"/>
                <a:ea typeface="华文楷体" panose="02010600040101010101" charset="-122"/>
                <a:cs typeface="华文楷体" panose="02010600040101010101" charset="-122"/>
              </a:rPr>
              <a:t>结构化语义解析</a:t>
            </a:r>
            <a:r>
              <a:rPr lang="zh-CN" altLang="en-US" sz="1800" i="0">
                <a:solidFill>
                  <a:schemeClr val="tx1"/>
                </a:solidFill>
                <a:latin typeface="华文楷体" panose="02010600040101010101" charset="-122"/>
                <a:ea typeface="华文楷体" panose="02010600040101010101" charset="-122"/>
                <a:cs typeface="华文楷体" panose="02010600040101010101" charset="-122"/>
              </a:rPr>
              <a:t>"</a:t>
            </a:r>
            <a:endParaRPr lang="zh-CN" altLang="en-US" sz="1800" i="0">
              <a:solidFill>
                <a:schemeClr val="tx1"/>
              </a:solidFill>
              <a:latin typeface="华文楷体" panose="02010600040101010101" charset="-122"/>
              <a:ea typeface="华文楷体" panose="02010600040101010101" charset="-122"/>
              <a:cs typeface="华文楷体" panose="02010600040101010101" charset="-122"/>
            </a:endParaRPr>
          </a:p>
          <a:p>
            <a:pPr marL="0" indent="0"/>
            <a:r>
              <a:rPr lang="zh-CN" altLang="en-US" sz="1800" i="0">
                <a:solidFill>
                  <a:schemeClr val="tx1"/>
                </a:solidFill>
                <a:latin typeface="华文楷体" panose="02010600040101010101" charset="-122"/>
                <a:ea typeface="华文楷体" panose="02010600040101010101" charset="-122"/>
                <a:cs typeface="华文楷体" panose="02010600040101010101" charset="-122"/>
              </a:rPr>
              <a:t>2. 从"纯分布式表征学习"升级为"</a:t>
            </a:r>
            <a:r>
              <a:rPr lang="zh-CN" altLang="en-US" sz="1800" b="1" i="0">
                <a:solidFill>
                  <a:srgbClr val="FF0000"/>
                </a:solidFill>
                <a:latin typeface="华文楷体" panose="02010600040101010101" charset="-122"/>
                <a:ea typeface="华文楷体" panose="02010600040101010101" charset="-122"/>
                <a:cs typeface="华文楷体" panose="02010600040101010101" charset="-122"/>
              </a:rPr>
              <a:t>神经-符号混合系统</a:t>
            </a:r>
            <a:r>
              <a:rPr lang="zh-CN" altLang="en-US">
                <a:latin typeface="华文楷体" panose="02010600040101010101" charset="-122"/>
                <a:ea typeface="华文楷体" panose="02010600040101010101" charset="-122"/>
                <a:cs typeface="华文楷体" panose="02010600040101010101" charset="-122"/>
                <a:sym typeface="+mn-ea"/>
              </a:rPr>
              <a:t>"</a:t>
            </a:r>
            <a:endParaRPr lang="zh-CN" altLang="en-US" sz="1800" b="1" i="0">
              <a:solidFill>
                <a:srgbClr val="FF0000"/>
              </a:solidFill>
              <a:latin typeface="华文楷体" panose="02010600040101010101" charset="-122"/>
              <a:ea typeface="华文楷体" panose="02010600040101010101" charset="-122"/>
              <a:cs typeface="华文楷体" panose="02010600040101010101" charset="-122"/>
            </a:endParaRPr>
          </a:p>
        </p:txBody>
      </p:sp>
      <p:sp>
        <p:nvSpPr>
          <p:cNvPr id="7" name="文本框 6"/>
          <p:cNvSpPr txBox="1"/>
          <p:nvPr/>
        </p:nvSpPr>
        <p:spPr>
          <a:xfrm>
            <a:off x="641350" y="1103313"/>
            <a:ext cx="5080000" cy="398780"/>
          </a:xfrm>
          <a:prstGeom prst="rect">
            <a:avLst/>
          </a:prstGeom>
        </p:spPr>
        <p:txBody>
          <a:bodyPr>
            <a:spAutoFit/>
          </a:bodyPr>
          <a:p>
            <a:pPr marL="0" indent="0"/>
            <a:r>
              <a:rPr lang="zh-CN" altLang="en-US" sz="2000" b="1" i="0">
                <a:solidFill>
                  <a:schemeClr val="tx1"/>
                </a:solidFill>
                <a:latin typeface="仿宋" panose="02010609060101010101" charset="-122"/>
                <a:ea typeface="仿宋" panose="02010609060101010101" charset="-122"/>
                <a:cs typeface="华文楷体" panose="02010600040101010101" charset="-122"/>
              </a:rPr>
              <a:t>LOGICSEG提出两大范式革新：</a:t>
            </a:r>
            <a:endParaRPr lang="zh-CN" altLang="en-US" sz="2000" b="1" i="0">
              <a:solidFill>
                <a:schemeClr val="tx1"/>
              </a:solidFill>
              <a:latin typeface="仿宋" panose="02010609060101010101" charset="-122"/>
              <a:ea typeface="仿宋" panose="02010609060101010101" charset="-122"/>
              <a:cs typeface="华文楷体" panose="02010600040101010101" charset="-122"/>
            </a:endParaRPr>
          </a:p>
        </p:txBody>
      </p:sp>
      <p:sp>
        <p:nvSpPr>
          <p:cNvPr id="8" name="文本框 7"/>
          <p:cNvSpPr txBox="1"/>
          <p:nvPr/>
        </p:nvSpPr>
        <p:spPr>
          <a:xfrm>
            <a:off x="611505" y="2405380"/>
            <a:ext cx="5401945" cy="4191000"/>
          </a:xfrm>
          <a:prstGeom prst="rect">
            <a:avLst/>
          </a:prstGeom>
        </p:spPr>
        <p:txBody>
          <a:bodyPr wrap="square">
            <a:spAutoFit/>
          </a:bodyPr>
          <a:p>
            <a:pPr marL="0" indent="0">
              <a:spcAft>
                <a:spcPct val="60000"/>
              </a:spcAft>
            </a:pPr>
            <a:r>
              <a:rPr lang="zh-CN" altLang="en-US" sz="2000" b="1" i="0">
                <a:latin typeface="仿宋" panose="02010609060101010101" charset="-122"/>
                <a:ea typeface="仿宋" panose="02010609060101010101" charset="-122"/>
                <a:cs typeface="华文楷体" panose="02010600040101010101" charset="-122"/>
              </a:rPr>
              <a:t>核心技术实现</a:t>
            </a:r>
            <a:endParaRPr lang="zh-CN" altLang="en-US" sz="2000" b="1" i="0">
              <a:latin typeface="仿宋" panose="02010609060101010101" charset="-122"/>
              <a:ea typeface="仿宋" panose="02010609060101010101" charset="-122"/>
              <a:cs typeface="华文楷体" panose="02010600040101010101" charset="-122"/>
            </a:endParaRPr>
          </a:p>
          <a:p>
            <a:pPr marL="0" algn="l">
              <a:buClrTx/>
              <a:buSzTx/>
              <a:buNone/>
            </a:pPr>
            <a:r>
              <a:rPr lang="zh-CN" altLang="en-US" sz="1800" b="1" i="0">
                <a:latin typeface="华文楷体" panose="02010600040101010101" charset="-122"/>
                <a:ea typeface="华文楷体" panose="02010600040101010101" charset="-122"/>
                <a:cs typeface="华文楷体" panose="02010600040101010101" charset="-122"/>
              </a:rPr>
              <a:t>知识表示层</a:t>
            </a:r>
            <a:endParaRPr lang="zh-CN" altLang="en-US" sz="1800" b="1" i="0">
              <a:latin typeface="华文楷体" panose="02010600040101010101" charset="-122"/>
              <a:ea typeface="华文楷体" panose="02010600040101010101" charset="-122"/>
              <a:cs typeface="华文楷体" panose="02010600040101010101" charset="-122"/>
            </a:endParaRPr>
          </a:p>
          <a:p>
            <a:pPr marL="0" algn="l">
              <a:buClrTx/>
              <a:buSzTx/>
              <a:buNone/>
            </a:pPr>
            <a:r>
              <a:rPr lang="zh-CN" altLang="en-US" sz="1800" b="0" i="0">
                <a:latin typeface="华文楷体" panose="02010600040101010101" charset="-122"/>
                <a:ea typeface="华文楷体" panose="02010600040101010101" charset="-122"/>
                <a:cs typeface="华文楷体" panose="02010600040101010101" charset="-122"/>
              </a:rPr>
              <a:t>采用</a:t>
            </a:r>
            <a:r>
              <a:rPr lang="zh-CN" altLang="en-US" sz="1800" b="1" i="0">
                <a:solidFill>
                  <a:srgbClr val="FF0000"/>
                </a:solidFill>
                <a:latin typeface="华文楷体" panose="02010600040101010101" charset="-122"/>
                <a:ea typeface="华文楷体" panose="02010600040101010101" charset="-122"/>
                <a:cs typeface="华文楷体" panose="02010600040101010101" charset="-122"/>
              </a:rPr>
              <a:t>一阶逻辑</a:t>
            </a:r>
            <a:r>
              <a:rPr lang="zh-CN" altLang="en-US" sz="1800" b="0" i="0">
                <a:latin typeface="华文楷体" panose="02010600040101010101" charset="-122"/>
                <a:ea typeface="华文楷体" panose="02010600040101010101" charset="-122"/>
                <a:cs typeface="华文楷体" panose="02010600040101010101" charset="-122"/>
              </a:rPr>
              <a:t>这一声明式语言，将层次化语义概念转化为可计算的符号规则</a:t>
            </a:r>
            <a:endParaRPr lang="zh-CN" altLang="en-US" sz="1800" b="0" i="0">
              <a:latin typeface="华文楷体" panose="02010600040101010101" charset="-122"/>
              <a:ea typeface="华文楷体" panose="02010600040101010101" charset="-122"/>
              <a:cs typeface="华文楷体" panose="02010600040101010101" charset="-122"/>
            </a:endParaRPr>
          </a:p>
          <a:p>
            <a:pPr marL="0" indent="0"/>
            <a:r>
              <a:rPr lang="zh-CN" altLang="en-US" sz="1800" b="1" i="0">
                <a:latin typeface="华文楷体" panose="02010600040101010101" charset="-122"/>
                <a:ea typeface="华文楷体" panose="02010600040101010101" charset="-122"/>
                <a:cs typeface="华文楷体" panose="02010600040101010101" charset="-122"/>
              </a:rPr>
              <a:t>训练阶段</a:t>
            </a:r>
            <a:endParaRPr lang="zh-CN" altLang="en-US" sz="1800" b="1" i="0">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AutoNum type="arabicPeriod"/>
            </a:pPr>
            <a:r>
              <a:rPr lang="zh-CN" altLang="en-US" sz="1800" b="0" i="0">
                <a:latin typeface="华文楷体" panose="02010600040101010101" charset="-122"/>
                <a:ea typeface="华文楷体" panose="02010600040101010101" charset="-122"/>
                <a:cs typeface="华文楷体" panose="02010600040101010101" charset="-122"/>
              </a:rPr>
              <a:t>通过</a:t>
            </a:r>
            <a:r>
              <a:rPr lang="zh-CN" altLang="en-US" sz="1800" b="1" i="0">
                <a:solidFill>
                  <a:srgbClr val="FF0000"/>
                </a:solidFill>
                <a:latin typeface="华文楷体" panose="02010600040101010101" charset="-122"/>
                <a:ea typeface="华文楷体" panose="02010600040101010101" charset="-122"/>
                <a:cs typeface="华文楷体" panose="02010600040101010101" charset="-122"/>
              </a:rPr>
              <a:t>模糊逻辑松弛</a:t>
            </a:r>
            <a:r>
              <a:rPr lang="zh-CN" altLang="en-US" sz="1800" b="0" i="0">
                <a:latin typeface="华文楷体" panose="02010600040101010101" charset="-122"/>
                <a:ea typeface="华文楷体" panose="02010600040101010101" charset="-122"/>
                <a:cs typeface="华文楷体" panose="02010600040101010101" charset="-122"/>
              </a:rPr>
              <a:t>将离散符号规则转化为连续可微约束</a:t>
            </a:r>
            <a:endParaRPr lang="zh-CN" altLang="en-US" sz="1800" b="0" i="0">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AutoNum type="arabicPeriod"/>
            </a:pPr>
            <a:r>
              <a:rPr lang="zh-CN" altLang="en-US" sz="1800" b="0" i="0">
                <a:latin typeface="华文楷体" panose="02010600040101010101" charset="-122"/>
                <a:ea typeface="华文楷体" panose="02010600040101010101" charset="-122"/>
                <a:cs typeface="华文楷体" panose="02010600040101010101" charset="-122"/>
              </a:rPr>
              <a:t>将每条逻辑公式编码为</a:t>
            </a:r>
            <a:r>
              <a:rPr lang="zh-CN" altLang="en-US" sz="1800" b="1" i="0">
                <a:solidFill>
                  <a:srgbClr val="FF0000"/>
                </a:solidFill>
                <a:latin typeface="华文楷体" panose="02010600040101010101" charset="-122"/>
                <a:ea typeface="华文楷体" panose="02010600040101010101" charset="-122"/>
                <a:cs typeface="华文楷体" panose="02010600040101010101" charset="-122"/>
              </a:rPr>
              <a:t>可微分损失函数</a:t>
            </a:r>
            <a:r>
              <a:rPr lang="zh-CN" altLang="en-US" sz="1800" b="0" i="0">
                <a:latin typeface="华文楷体" panose="02010600040101010101" charset="-122"/>
                <a:ea typeface="华文楷体" panose="02010600040101010101" charset="-122"/>
                <a:cs typeface="华文楷体" panose="02010600040101010101" charset="-122"/>
              </a:rPr>
              <a:t>，与标准分割损失联合优化</a:t>
            </a:r>
            <a:endParaRPr lang="zh-CN" altLang="en-US" sz="1800" b="0" i="0">
              <a:latin typeface="华文楷体" panose="02010600040101010101" charset="-122"/>
              <a:ea typeface="华文楷体" panose="02010600040101010101" charset="-122"/>
              <a:cs typeface="华文楷体" panose="02010600040101010101" charset="-122"/>
            </a:endParaRPr>
          </a:p>
          <a:p>
            <a:pPr marL="0" indent="0"/>
            <a:r>
              <a:rPr lang="zh-CN" altLang="en-US" sz="1800" b="1" i="0">
                <a:latin typeface="华文楷体" panose="02010600040101010101" charset="-122"/>
                <a:ea typeface="华文楷体" panose="02010600040101010101" charset="-122"/>
                <a:cs typeface="华文楷体" panose="02010600040101010101" charset="-122"/>
              </a:rPr>
              <a:t>推理阶段</a:t>
            </a:r>
            <a:endParaRPr lang="zh-CN" altLang="en-US" sz="1800" b="1" i="0">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Font typeface="Arial" panose="020B0604020202020204"/>
              <a:buChar char="•"/>
            </a:pPr>
            <a:r>
              <a:rPr lang="zh-CN" altLang="en-US" sz="1800" b="0" i="0">
                <a:latin typeface="华文楷体" panose="02010600040101010101" charset="-122"/>
                <a:ea typeface="华文楷体" panose="02010600040101010101" charset="-122"/>
                <a:cs typeface="华文楷体" panose="02010600040101010101" charset="-122"/>
              </a:rPr>
              <a:t>将逻辑约束封装为</a:t>
            </a:r>
            <a:r>
              <a:rPr lang="zh-CN" altLang="en-US" sz="1800" b="1" i="0">
                <a:solidFill>
                  <a:srgbClr val="FF0000"/>
                </a:solidFill>
                <a:latin typeface="华文楷体" panose="02010600040101010101" charset="-122"/>
                <a:ea typeface="华文楷体" panose="02010600040101010101" charset="-122"/>
                <a:cs typeface="华文楷体" panose="02010600040101010101" charset="-122"/>
              </a:rPr>
              <a:t>矩阵化迭代计算模块</a:t>
            </a:r>
            <a:endParaRPr lang="zh-CN" altLang="en-US" sz="1800" b="0" i="0">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Font typeface="Arial" panose="020B0604020202020204"/>
              <a:buChar char="•"/>
            </a:pPr>
            <a:r>
              <a:rPr lang="zh-CN" altLang="en-US" sz="1800" b="0" i="0">
                <a:latin typeface="华文楷体" panose="02010600040101010101" charset="-122"/>
                <a:ea typeface="华文楷体" panose="02010600040101010101" charset="-122"/>
                <a:cs typeface="华文楷体" panose="02010600040101010101" charset="-122"/>
              </a:rPr>
              <a:t>通过多层矩阵乘法实现：</a:t>
            </a:r>
            <a:endParaRPr lang="zh-CN" altLang="en-US" sz="1800" b="0" i="0">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pPr>
            <a:r>
              <a:rPr lang="zh-CN" altLang="en-US" b="0" i="0">
                <a:latin typeface="华文楷体" panose="02010600040101010101" charset="-122"/>
                <a:ea typeface="华文楷体" panose="02010600040101010101" charset="-122"/>
                <a:cs typeface="华文楷体" panose="02010600040101010101" charset="-122"/>
              </a:rPr>
              <a:t>预测结果 = σ(W·当前输出 + B·逻辑约束)</a:t>
            </a:r>
            <a:endParaRPr lang="zh-CN" altLang="en-US" b="0" i="0">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Font typeface="Arial" panose="020B0604020202020204"/>
              <a:buChar char="•"/>
            </a:pPr>
            <a:r>
              <a:rPr lang="zh-CN" altLang="en-US" sz="1800" b="0" i="0">
                <a:latin typeface="华文楷体" panose="02010600040101010101" charset="-122"/>
                <a:ea typeface="华文楷体" panose="02010600040101010101" charset="-122"/>
                <a:cs typeface="华文楷体" panose="02010600040101010101" charset="-122"/>
              </a:rPr>
              <a:t>动态修正网络前向预测，确保符合语义层次结构</a:t>
            </a:r>
            <a:endParaRPr lang="zh-CN" altLang="en-US" sz="1800" b="0" i="0">
              <a:latin typeface="华文楷体" panose="02010600040101010101" charset="-122"/>
              <a:ea typeface="华文楷体" panose="02010600040101010101" charset="-122"/>
              <a:cs typeface="华文楷体" panose="02010600040101010101" charset="-122"/>
            </a:endParaRPr>
          </a:p>
        </p:txBody>
      </p:sp>
      <p:sp>
        <p:nvSpPr>
          <p:cNvPr id="10" name="文本框 9"/>
          <p:cNvSpPr txBox="1"/>
          <p:nvPr/>
        </p:nvSpPr>
        <p:spPr>
          <a:xfrm>
            <a:off x="6621780" y="1295083"/>
            <a:ext cx="5080000" cy="5099050"/>
          </a:xfrm>
          <a:prstGeom prst="rect">
            <a:avLst/>
          </a:prstGeom>
        </p:spPr>
        <p:txBody>
          <a:bodyPr>
            <a:spAutoFit/>
          </a:bodyPr>
          <a:p>
            <a:pPr marL="0" indent="0">
              <a:spcAft>
                <a:spcPct val="60000"/>
              </a:spcAft>
            </a:pPr>
            <a:r>
              <a:rPr lang="zh-CN" altLang="en-US" sz="2000" b="1" i="0">
                <a:solidFill>
                  <a:schemeClr val="tx1"/>
                </a:solidFill>
                <a:latin typeface="仿宋" panose="02010609060101010101" charset="-122"/>
                <a:ea typeface="仿宋" panose="02010609060101010101" charset="-122"/>
                <a:cs typeface="华文楷体" panose="02010600040101010101" charset="-122"/>
              </a:rPr>
              <a:t>系统特性</a:t>
            </a:r>
            <a:endParaRPr lang="zh-CN" altLang="en-US" sz="2000" b="1" i="0">
              <a:solidFill>
                <a:schemeClr val="tx1"/>
              </a:solidFill>
              <a:latin typeface="仿宋" panose="02010609060101010101" charset="-122"/>
              <a:ea typeface="仿宋" panose="02010609060101010101" charset="-122"/>
              <a:cs typeface="华文楷体" panose="02010600040101010101" charset="-122"/>
            </a:endParaRPr>
          </a:p>
          <a:p>
            <a:pPr marL="0" indent="0">
              <a:spcBef>
                <a:spcPct val="0"/>
              </a:spcBef>
              <a:spcAft>
                <a:spcPts val="200"/>
              </a:spcAft>
              <a:buAutoNum type="arabicPeriod"/>
            </a:pPr>
            <a:r>
              <a:rPr lang="zh-CN" altLang="en-US" sz="1800" b="1" i="0">
                <a:solidFill>
                  <a:schemeClr val="tx1"/>
                </a:solidFill>
                <a:latin typeface="华文楷体" panose="02010600040101010101" charset="-122"/>
                <a:ea typeface="华文楷体" panose="02010600040101010101" charset="-122"/>
                <a:cs typeface="华文楷体" panose="02010600040101010101" charset="-122"/>
              </a:rPr>
              <a:t>通用兼容性</a:t>
            </a:r>
            <a:endParaRPr lang="zh-CN" altLang="en-US" sz="1800" b="1"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r>
              <a:rPr lang="zh-CN" altLang="en-US" sz="1800" b="0" i="0">
                <a:solidFill>
                  <a:schemeClr val="tx1"/>
                </a:solidFill>
                <a:latin typeface="华文楷体" panose="02010600040101010101" charset="-122"/>
                <a:ea typeface="华文楷体" panose="02010600040101010101" charset="-122"/>
                <a:cs typeface="华文楷体" panose="02010600040101010101" charset="-122"/>
              </a:rPr>
              <a:t>仅需修改分类头并插入</a:t>
            </a:r>
            <a:r>
              <a:rPr lang="zh-CN" altLang="en-US" sz="1800" b="1" i="0">
                <a:solidFill>
                  <a:srgbClr val="FF0000"/>
                </a:solidFill>
                <a:latin typeface="华文楷体" panose="02010600040101010101" charset="-122"/>
                <a:ea typeface="华文楷体" panose="02010600040101010101" charset="-122"/>
                <a:cs typeface="华文楷体" panose="02010600040101010101" charset="-122"/>
              </a:rPr>
              <a:t>即插即用逻辑推理模块</a:t>
            </a:r>
            <a:endParaRPr lang="zh-CN" altLang="en-US" sz="1800" b="0"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r>
              <a:rPr lang="zh-CN" altLang="en-US" sz="1800" b="0" i="0">
                <a:solidFill>
                  <a:schemeClr val="tx1"/>
                </a:solidFill>
                <a:latin typeface="华文楷体" panose="02010600040101010101" charset="-122"/>
                <a:ea typeface="华文楷体" panose="02010600040101010101" charset="-122"/>
                <a:cs typeface="华文楷体" panose="02010600040101010101" charset="-122"/>
              </a:rPr>
              <a:t>已适配DeepLabV3+、Mask2Former等主流架构</a:t>
            </a:r>
            <a:endParaRPr lang="zh-CN" altLang="en-US" sz="1800" b="0"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r>
              <a:rPr lang="zh-CN" altLang="en-US" sz="1800" b="0" i="0">
                <a:solidFill>
                  <a:schemeClr val="tx1"/>
                </a:solidFill>
                <a:latin typeface="华文楷体" panose="02010600040101010101" charset="-122"/>
                <a:ea typeface="华文楷体" panose="02010600040101010101" charset="-122"/>
                <a:cs typeface="华文楷体" panose="02010600040101010101" charset="-122"/>
              </a:rPr>
              <a:t>支持ResNet、Swin Transformer等多种骨干网络</a:t>
            </a:r>
            <a:endParaRPr lang="zh-CN" altLang="en-US" sz="1800" b="0"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ts val="200"/>
              </a:spcAft>
              <a:buAutoNum type="arabicPeriod"/>
            </a:pPr>
            <a:r>
              <a:rPr lang="zh-CN" altLang="en-US" sz="1800" b="1" i="0">
                <a:solidFill>
                  <a:schemeClr val="tx1"/>
                </a:solidFill>
                <a:latin typeface="华文楷体" panose="02010600040101010101" charset="-122"/>
                <a:ea typeface="华文楷体" panose="02010600040101010101" charset="-122"/>
                <a:cs typeface="华文楷体" panose="02010600040101010101" charset="-122"/>
              </a:rPr>
              <a:t>认知对齐优势</a:t>
            </a:r>
            <a:endParaRPr lang="zh-CN" altLang="en-US" sz="1800" b="1"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r>
              <a:rPr lang="zh-CN" altLang="en-US" sz="1800" b="0" i="0">
                <a:solidFill>
                  <a:schemeClr val="tx1"/>
                </a:solidFill>
                <a:latin typeface="华文楷体" panose="02010600040101010101" charset="-122"/>
                <a:ea typeface="华文楷体" panose="02010600040101010101" charset="-122"/>
                <a:cs typeface="华文楷体" panose="02010600040101010101" charset="-122"/>
              </a:rPr>
              <a:t>统计学习与符号推理的有机统一</a:t>
            </a:r>
            <a:endParaRPr lang="zh-CN" altLang="en-US" sz="1800" b="0"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r>
              <a:rPr lang="zh-CN" altLang="en-US" sz="1800" b="0" i="0">
                <a:solidFill>
                  <a:schemeClr val="tx1"/>
                </a:solidFill>
                <a:latin typeface="华文楷体" panose="02010600040101010101" charset="-122"/>
                <a:ea typeface="华文楷体" panose="02010600040101010101" charset="-122"/>
                <a:cs typeface="华文楷体" panose="02010600040101010101" charset="-122"/>
              </a:rPr>
              <a:t>性能显著提升</a:t>
            </a:r>
            <a:endParaRPr lang="zh-CN" altLang="en-US" sz="1800" b="0"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r>
              <a:rPr lang="zh-CN" altLang="en-US" sz="1800" i="0">
                <a:solidFill>
                  <a:schemeClr val="tx1"/>
                </a:solidFill>
                <a:latin typeface="华文楷体" panose="02010600040101010101" charset="-122"/>
                <a:ea typeface="华文楷体" panose="02010600040101010101" charset="-122"/>
                <a:cs typeface="华文楷体" panose="02010600040101010101" charset="-122"/>
              </a:rPr>
              <a:t>解析行为严格符合逻辑化知识规范</a:t>
            </a:r>
            <a:endParaRPr lang="zh-CN" altLang="en-US" sz="1800"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r>
              <a:rPr lang="zh-CN" altLang="en-US" sz="1800" b="1" i="0">
                <a:solidFill>
                  <a:schemeClr val="tx1"/>
                </a:solidFill>
                <a:latin typeface="华文楷体" panose="02010600040101010101" charset="-122"/>
                <a:ea typeface="华文楷体" panose="02010600040101010101" charset="-122"/>
                <a:cs typeface="华文楷体" panose="02010600040101010101" charset="-122"/>
              </a:rPr>
              <a:t>领域突破意义</a:t>
            </a:r>
            <a:endParaRPr lang="zh-CN" altLang="en-US" sz="1800" b="1"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ts val="200"/>
              </a:spcAft>
              <a:buNone/>
            </a:pPr>
            <a:r>
              <a:rPr lang="zh-CN" altLang="en-US" sz="1800" b="1" i="0">
                <a:solidFill>
                  <a:srgbClr val="FF0000"/>
                </a:solidFill>
                <a:latin typeface="华文楷体" panose="02010600040101010101" charset="-122"/>
                <a:ea typeface="华文楷体" panose="02010600040101010101" charset="-122"/>
                <a:cs typeface="华文楷体" panose="02010600040101010101" charset="-122"/>
              </a:rPr>
              <a:t>首次</a:t>
            </a:r>
            <a:r>
              <a:rPr lang="zh-CN" altLang="en-US" sz="1800" b="0" i="0">
                <a:solidFill>
                  <a:schemeClr val="tx1"/>
                </a:solidFill>
                <a:latin typeface="华文楷体" panose="02010600040101010101" charset="-122"/>
                <a:ea typeface="华文楷体" panose="02010600040101010101" charset="-122"/>
                <a:cs typeface="华文楷体" panose="02010600040101010101" charset="-122"/>
              </a:rPr>
              <a:t>将神经符号计算（NSC）成功应用于大规模视觉解析任务</a:t>
            </a:r>
            <a:endParaRPr lang="zh-CN" altLang="en-US" sz="1800" b="0"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r>
              <a:rPr lang="zh-CN" altLang="en-US" sz="1800" b="0" i="0">
                <a:solidFill>
                  <a:schemeClr val="tx1"/>
                </a:solidFill>
                <a:latin typeface="华文楷体" panose="02010600040101010101" charset="-122"/>
                <a:ea typeface="华文楷体" panose="02010600040101010101" charset="-122"/>
                <a:cs typeface="华文楷体" panose="02010600040101010101" charset="-122"/>
              </a:rPr>
              <a:t>验证了</a:t>
            </a:r>
            <a:r>
              <a:rPr lang="zh-CN" altLang="en-US" sz="1800" b="1" i="0">
                <a:solidFill>
                  <a:srgbClr val="FF0000"/>
                </a:solidFill>
                <a:latin typeface="华文楷体" panose="02010600040101010101" charset="-122"/>
                <a:ea typeface="华文楷体" panose="02010600040101010101" charset="-122"/>
                <a:cs typeface="华文楷体" panose="02010600040101010101" charset="-122"/>
              </a:rPr>
              <a:t>归纳学习（从数据学习）+演绎推理（从规则推导）</a:t>
            </a:r>
            <a:r>
              <a:rPr lang="zh-CN" altLang="en-US" sz="1800" b="0" i="0">
                <a:solidFill>
                  <a:schemeClr val="tx1"/>
                </a:solidFill>
                <a:latin typeface="华文楷体" panose="02010600040101010101" charset="-122"/>
                <a:ea typeface="华文楷体" panose="02010600040101010101" charset="-122"/>
                <a:cs typeface="华文楷体" panose="02010600040101010101" charset="-122"/>
              </a:rPr>
              <a:t>双通道认知模型的有效性</a:t>
            </a:r>
            <a:endParaRPr lang="zh-CN" altLang="en-US" sz="1800" b="0" i="0">
              <a:solidFill>
                <a:schemeClr val="tx1"/>
              </a:solidFill>
              <a:latin typeface="华文楷体" panose="02010600040101010101" charset="-122"/>
              <a:ea typeface="华文楷体" panose="02010600040101010101" charset="-122"/>
              <a:cs typeface="华文楷体" panose="02010600040101010101" charset="-122"/>
            </a:endParaRPr>
          </a:p>
          <a:p>
            <a:pPr marL="0" lvl="1" indent="0">
              <a:spcBef>
                <a:spcPct val="0"/>
              </a:spcBef>
              <a:spcAft>
                <a:spcPct val="0"/>
              </a:spcAft>
              <a:buFont typeface="Arial" panose="020B0604020202020204"/>
              <a:buNone/>
            </a:pPr>
            <a:r>
              <a:rPr lang="zh-CN" altLang="en-US" sz="1800" b="0" i="0">
                <a:solidFill>
                  <a:schemeClr val="tx1"/>
                </a:solidFill>
                <a:latin typeface="华文楷体" panose="02010600040101010101" charset="-122"/>
                <a:ea typeface="华文楷体" panose="02010600040101010101" charset="-122"/>
                <a:cs typeface="华文楷体" panose="02010600040101010101" charset="-122"/>
              </a:rPr>
              <a:t>在自动驾驶、日常场景等多样化场景中均展现</a:t>
            </a:r>
            <a:r>
              <a:rPr lang="zh-CN" altLang="en-US" sz="1800" b="1" i="0">
                <a:solidFill>
                  <a:srgbClr val="FF0000"/>
                </a:solidFill>
                <a:latin typeface="华文楷体" panose="02010600040101010101" charset="-122"/>
                <a:ea typeface="华文楷体" panose="02010600040101010101" charset="-122"/>
                <a:cs typeface="华文楷体" panose="02010600040101010101" charset="-122"/>
              </a:rPr>
              <a:t>强泛化性，</a:t>
            </a:r>
            <a:r>
              <a:rPr lang="zh-CN" altLang="en-US" sz="1800" i="0">
                <a:latin typeface="华文楷体" panose="02010600040101010101" charset="-122"/>
                <a:ea typeface="华文楷体" panose="02010600040101010101" charset="-122"/>
                <a:cs typeface="华文楷体" panose="02010600040101010101" charset="-122"/>
              </a:rPr>
              <a:t>印证了</a:t>
            </a:r>
            <a:r>
              <a:rPr lang="zh-CN" altLang="en-US" sz="1800" b="1" i="0">
                <a:solidFill>
                  <a:srgbClr val="FF0000"/>
                </a:solidFill>
                <a:latin typeface="华文楷体" panose="02010600040101010101" charset="-122"/>
                <a:ea typeface="华文楷体" panose="02010600040101010101" charset="-122"/>
                <a:cs typeface="华文楷体" panose="02010600040101010101" charset="-122"/>
              </a:rPr>
              <a:t>符号推理与亚符号学习</a:t>
            </a:r>
            <a:r>
              <a:rPr lang="zh-CN" altLang="en-US" sz="1800" i="0">
                <a:latin typeface="华文楷体" panose="02010600040101010101" charset="-122"/>
                <a:ea typeface="华文楷体" panose="02010600040101010101" charset="-122"/>
                <a:cs typeface="华文楷体" panose="02010600040101010101" charset="-122"/>
              </a:rPr>
              <a:t>在机器感知中的融合潜力。</a:t>
            </a:r>
            <a:endParaRPr lang="zh-CN" altLang="en-US" sz="1800" i="0">
              <a:latin typeface="华文楷体" panose="02010600040101010101" charset="-122"/>
              <a:ea typeface="华文楷体" panose="02010600040101010101" charset="-122"/>
              <a:cs typeface="华文楷体"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7" name="矩形 16"/>
          <p:cNvSpPr>
            <a:spLocks noChangeArrowheads="1"/>
          </p:cNvSpPr>
          <p:nvPr>
            <p:custDataLst>
              <p:tags r:id="rId1"/>
            </p:custDataLst>
          </p:nvPr>
        </p:nvSpPr>
        <p:spPr bwMode="auto">
          <a:xfrm>
            <a:off x="7451725" y="2738120"/>
            <a:ext cx="4224020" cy="368236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16" name="矩形 15"/>
          <p:cNvSpPr>
            <a:spLocks noChangeArrowheads="1"/>
          </p:cNvSpPr>
          <p:nvPr>
            <p:custDataLst>
              <p:tags r:id="rId2"/>
            </p:custDataLst>
          </p:nvPr>
        </p:nvSpPr>
        <p:spPr bwMode="auto">
          <a:xfrm>
            <a:off x="600075" y="2717800"/>
            <a:ext cx="6332855" cy="3851910"/>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23" name="矩形 22"/>
          <p:cNvSpPr/>
          <p:nvPr/>
        </p:nvSpPr>
        <p:spPr>
          <a:xfrm>
            <a:off x="1152000" y="288000"/>
            <a:ext cx="20116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符号表示</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mc:AlternateContent xmlns:mc="http://schemas.openxmlformats.org/markup-compatibility/2006">
        <mc:Choice xmlns:a14="http://schemas.microsoft.com/office/drawing/2010/main" Requires="a14">
          <p:sp>
            <p:nvSpPr>
              <p:cNvPr id="12" name="文本框 11"/>
              <p:cNvSpPr txBox="1"/>
              <p:nvPr/>
            </p:nvSpPr>
            <p:spPr>
              <a:xfrm>
                <a:off x="728980" y="2764155"/>
                <a:ext cx="6400800" cy="3626485"/>
              </a:xfrm>
              <a:prstGeom prst="rect">
                <a:avLst/>
              </a:prstGeom>
            </p:spPr>
            <p:txBody>
              <a:bodyPr wrap="square">
                <a:noAutofit/>
              </a:bodyPr>
              <a:p>
                <a:pPr marL="0" indent="0"/>
                <a:r>
                  <a:rPr lang="zh-CN" altLang="en-US" sz="2000" b="1" i="0">
                    <a:latin typeface="华文楷体" panose="02010600040101010101" charset="-122"/>
                    <a:ea typeface="华文楷体" panose="02010600040101010101" charset="-122"/>
                    <a:cs typeface="华文楷体" panose="02010600040101010101" charset="-122"/>
                  </a:rPr>
                  <a:t>1. 树形类别层次结构</a:t>
                </a:r>
                <a:endParaRPr lang="zh-CN" altLang="en-US" sz="2000" b="1" i="0">
                  <a:latin typeface="华文楷体" panose="02010600040101010101" charset="-122"/>
                  <a:ea typeface="华文楷体" panose="02010600040101010101" charset="-122"/>
                  <a:cs typeface="华文楷体" panose="02010600040101010101" charset="-122"/>
                </a:endParaRPr>
              </a:p>
              <a:p>
                <a:pPr marL="0" indent="0"/>
                <a:r>
                  <a:rPr lang="zh-CN" altLang="en-US" sz="1700" i="0">
                    <a:latin typeface="华文楷体" panose="02010600040101010101" charset="-122"/>
                    <a:ea typeface="华文楷体" panose="02010600040101010101" charset="-122"/>
                    <a:cs typeface="华文楷体" panose="02010600040101010101" charset="-122"/>
                  </a:rPr>
                  <a:t>定义为有向树 T=</a:t>
                </a:r>
                <a:r>
                  <a:rPr lang="en-US" altLang="zh-CN" sz="1700" i="0">
                    <a:latin typeface="华文楷体" panose="02010600040101010101" charset="-122"/>
                    <a:ea typeface="华文楷体" panose="02010600040101010101" charset="-122"/>
                    <a:cs typeface="华文楷体" panose="02010600040101010101" charset="-122"/>
                  </a:rPr>
                  <a:t>&lt;</a:t>
                </a:r>
                <a:r>
                  <a:rPr lang="zh-CN" altLang="en-US" sz="1700" i="0">
                    <a:latin typeface="华文楷体" panose="02010600040101010101" charset="-122"/>
                    <a:ea typeface="华文楷体" panose="02010600040101010101" charset="-122"/>
                    <a:cs typeface="华文楷体" panose="02010600040101010101" charset="-122"/>
                  </a:rPr>
                  <a:t>V,E</a:t>
                </a:r>
                <a:r>
                  <a:rPr lang="en-US" altLang="zh-CN" sz="1700" i="0">
                    <a:latin typeface="华文楷体" panose="02010600040101010101" charset="-122"/>
                    <a:ea typeface="华文楷体" panose="02010600040101010101" charset="-122"/>
                    <a:cs typeface="华文楷体" panose="02010600040101010101" charset="-122"/>
                  </a:rPr>
                  <a:t>&gt;</a:t>
                </a:r>
                <a:endParaRPr lang="zh-CN" altLang="en-US" sz="1700" i="0">
                  <a:latin typeface="华文楷体" panose="02010600040101010101" charset="-122"/>
                  <a:ea typeface="华文楷体" panose="02010600040101010101" charset="-122"/>
                  <a:cs typeface="华文楷体" panose="02010600040101010101" charset="-122"/>
                </a:endParaRPr>
              </a:p>
              <a:p>
                <a:pPr marL="0" indent="0"/>
                <a:r>
                  <a:rPr lang="zh-CN" altLang="en-US" sz="1700" b="1" i="0">
                    <a:solidFill>
                      <a:srgbClr val="FF0000"/>
                    </a:solidFill>
                    <a:latin typeface="华文楷体" panose="02010600040101010101" charset="-122"/>
                    <a:ea typeface="华文楷体" panose="02010600040101010101" charset="-122"/>
                    <a:cs typeface="华文楷体" panose="02010600040101010101" charset="-122"/>
                  </a:rPr>
                  <a:t>节点集合</a:t>
                </a:r>
                <a:r>
                  <a:rPr lang="zh-CN" altLang="en-US" sz="1700" i="0">
                    <a:latin typeface="华文楷体" panose="02010600040101010101" charset="-122"/>
                    <a:ea typeface="华文楷体" panose="02010600040101010101" charset="-122"/>
                    <a:cs typeface="华文楷体" panose="02010600040101010101" charset="-122"/>
                  </a:rPr>
                  <a:t> V=</a:t>
                </a:r>
                <a14:m>
                  <m:oMath xmlns:m="http://schemas.openxmlformats.org/officeDocument/2006/math">
                    <m:sSubSup>
                      <m:sSubSupPr>
                        <m:ctrlPr>
                          <a:rPr lang="en-US" altLang="zh-CN" sz="1700" i="1">
                            <a:latin typeface="Cambria Math" panose="02040503050406030204" charset="0"/>
                            <a:ea typeface="华文楷体" panose="02010600040101010101" charset="-122"/>
                            <a:cs typeface="Cambria Math" panose="02040503050406030204" charset="0"/>
                          </a:rPr>
                        </m:ctrlPr>
                      </m:sSubSupPr>
                      <m:e>
                        <m:r>
                          <a:rPr lang="en-US" altLang="zh-CN" sz="1700" i="1">
                            <a:latin typeface="Cambria Math" panose="02040503050406030204" charset="0"/>
                            <a:ea typeface="华文楷体" panose="02010600040101010101" charset="-122"/>
                            <a:cs typeface="Cambria Math" panose="02040503050406030204" charset="0"/>
                          </a:rPr>
                          <m:t>∪</m:t>
                        </m:r>
                      </m:e>
                      <m:sub>
                        <m:r>
                          <a:rPr lang="en-US" altLang="zh-CN" sz="1700" i="1">
                            <a:latin typeface="Cambria Math" panose="02040503050406030204" charset="0"/>
                            <a:ea typeface="华文楷体" panose="02010600040101010101" charset="-122"/>
                            <a:cs typeface="Cambria Math" panose="02040503050406030204" charset="0"/>
                          </a:rPr>
                          <m:t>𝑙</m:t>
                        </m:r>
                        <m:r>
                          <a:rPr lang="en-US" altLang="zh-CN" sz="1700" i="1">
                            <a:latin typeface="Cambria Math" panose="02040503050406030204" charset="0"/>
                            <a:ea typeface="华文楷体" panose="02010600040101010101" charset="-122"/>
                            <a:cs typeface="Cambria Math" panose="02040503050406030204" charset="0"/>
                          </a:rPr>
                          <m:t>=</m:t>
                        </m:r>
                        <m:r>
                          <a:rPr lang="en-US" altLang="zh-CN" sz="1700" i="1">
                            <a:latin typeface="Cambria Math" panose="02040503050406030204" charset="0"/>
                            <a:ea typeface="华文楷体" panose="02010600040101010101" charset="-122"/>
                            <a:cs typeface="Cambria Math" panose="02040503050406030204" charset="0"/>
                          </a:rPr>
                          <m:t>1</m:t>
                        </m:r>
                      </m:sub>
                      <m:sup>
                        <m:r>
                          <a:rPr lang="en-US" altLang="zh-CN" sz="1700" i="1">
                            <a:latin typeface="Cambria Math" panose="02040503050406030204" charset="0"/>
                            <a:ea typeface="华文楷体" panose="02010600040101010101" charset="-122"/>
                            <a:cs typeface="Cambria Math" panose="02040503050406030204" charset="0"/>
                          </a:rPr>
                          <m:t>𝐿</m:t>
                        </m:r>
                      </m:sup>
                    </m:sSubSup>
                    <m:sSub>
                      <m:sSubPr>
                        <m:ctrlPr>
                          <a:rPr lang="en-US" altLang="zh-CN" sz="1700" i="1">
                            <a:latin typeface="Cambria Math" panose="02040503050406030204" charset="0"/>
                            <a:ea typeface="华文楷体" panose="02010600040101010101" charset="-122"/>
                            <a:cs typeface="Cambria Math" panose="02040503050406030204" charset="0"/>
                          </a:rPr>
                        </m:ctrlPr>
                      </m:sSubPr>
                      <m:e>
                        <m:r>
                          <a:rPr lang="en-US" altLang="zh-CN" sz="1700" i="1">
                            <a:latin typeface="Cambria Math" panose="02040503050406030204" charset="0"/>
                            <a:ea typeface="华文楷体" panose="02010600040101010101" charset="-122"/>
                            <a:cs typeface="Cambria Math" panose="02040503050406030204" charset="0"/>
                          </a:rPr>
                          <m:t>𝑉</m:t>
                        </m:r>
                      </m:e>
                      <m:sub>
                        <m:r>
                          <a:rPr lang="en-US" altLang="zh-CN" sz="1700" i="1">
                            <a:latin typeface="Cambria Math" panose="02040503050406030204" charset="0"/>
                            <a:ea typeface="华文楷体" panose="02010600040101010101" charset="-122"/>
                            <a:cs typeface="Cambria Math" panose="02040503050406030204" charset="0"/>
                          </a:rPr>
                          <m:t>𝑙</m:t>
                        </m:r>
                      </m:sub>
                    </m:sSub>
                    <m:r>
                      <a:rPr lang="en-US" altLang="zh-CN" sz="1700" i="1">
                        <a:latin typeface="Cambria Math" panose="02040503050406030204" charset="0"/>
                        <a:ea typeface="华文楷体" panose="02010600040101010101" charset="-122"/>
                        <a:cs typeface="Cambria Math" panose="02040503050406030204" charset="0"/>
                      </a:rPr>
                      <m:t>  </m:t>
                    </m:r>
                  </m:oMath>
                </a14:m>
                <a:r>
                  <a:rPr lang="zh-CN" altLang="en-US" sz="1700" i="0">
                    <a:latin typeface="华文楷体" panose="02010600040101010101" charset="-122"/>
                    <a:ea typeface="华文楷体" panose="02010600040101010101" charset="-122"/>
                    <a:cs typeface="华文楷体" panose="02010600040101010101" charset="-122"/>
                  </a:rPr>
                  <a:t>表示L个抽象层级的概念：</a:t>
                </a:r>
                <a:endParaRPr lang="zh-CN" altLang="en-US" sz="1700" i="0">
                  <a:latin typeface="华文楷体" panose="02010600040101010101" charset="-122"/>
                  <a:ea typeface="华文楷体" panose="02010600040101010101" charset="-122"/>
                  <a:cs typeface="华文楷体" panose="02010600040101010101" charset="-122"/>
                </a:endParaRPr>
              </a:p>
              <a:p>
                <a:pPr marL="0" indent="0"/>
                <a:r>
                  <a:rPr lang="zh-CN" altLang="en-US" sz="1700" i="0">
                    <a:latin typeface="华文楷体" panose="02010600040101010101" charset="-122"/>
                    <a:ea typeface="华文楷体" panose="02010600040101010101" charset="-122"/>
                    <a:cs typeface="华文楷体" panose="02010600040101010101" charset="-122"/>
                  </a:rPr>
                  <a:t>叶节点</a:t>
                </a:r>
                <a14:m>
                  <m:oMath xmlns:m="http://schemas.openxmlformats.org/officeDocument/2006/math">
                    <m:sSub>
                      <m:sSubPr>
                        <m:ctrlPr>
                          <a:rPr lang="en-US" altLang="zh-CN" sz="1700" i="1">
                            <a:latin typeface="Cambria Math" panose="02040503050406030204" charset="0"/>
                            <a:ea typeface="华文楷体" panose="02010600040101010101" charset="-122"/>
                            <a:cs typeface="Cambria Math" panose="02040503050406030204" charset="0"/>
                          </a:rPr>
                        </m:ctrlPr>
                      </m:sSubPr>
                      <m:e>
                        <m:r>
                          <a:rPr lang="en-US" altLang="zh-CN" sz="1700" i="1">
                            <a:latin typeface="Cambria Math" panose="02040503050406030204" charset="0"/>
                            <a:ea typeface="华文楷体" panose="02010600040101010101" charset="-122"/>
                            <a:cs typeface="Cambria Math" panose="02040503050406030204" charset="0"/>
                          </a:rPr>
                          <m:t>𝑉</m:t>
                        </m:r>
                      </m:e>
                      <m:sub>
                        <m:r>
                          <a:rPr lang="en-US" altLang="zh-CN" sz="1700" i="1">
                            <a:latin typeface="Cambria Math" panose="02040503050406030204" charset="0"/>
                            <a:ea typeface="华文楷体" panose="02010600040101010101" charset="-122"/>
                            <a:cs typeface="Cambria Math" panose="02040503050406030204" charset="0"/>
                          </a:rPr>
                          <m:t>1</m:t>
                        </m:r>
                      </m:sub>
                    </m:sSub>
                    <m:r>
                      <a:rPr lang="en-US" altLang="zh-CN" sz="1700" i="1">
                        <a:latin typeface="Cambria Math" panose="02040503050406030204" charset="0"/>
                        <a:ea typeface="华文楷体" panose="02010600040101010101" charset="-122"/>
                        <a:cs typeface="Cambria Math" panose="02040503050406030204" charset="0"/>
                      </a:rPr>
                      <m:t> </m:t>
                    </m:r>
                  </m:oMath>
                </a14:m>
                <a:r>
                  <a:rPr lang="zh-CN" altLang="en-US" sz="1700" i="0">
                    <a:latin typeface="华文楷体" panose="02010600040101010101" charset="-122"/>
                    <a:ea typeface="华文楷体" panose="02010600040101010101" charset="-122"/>
                    <a:cs typeface="华文楷体" panose="02010600040101010101" charset="-122"/>
                  </a:rPr>
                  <a:t> ：细粒度类别（如椅子、锅具）</a:t>
                </a:r>
                <a:endParaRPr lang="zh-CN" altLang="en-US" sz="1700" i="0">
                  <a:latin typeface="华文楷体" panose="02010600040101010101" charset="-122"/>
                  <a:ea typeface="华文楷体" panose="02010600040101010101" charset="-122"/>
                  <a:cs typeface="华文楷体" panose="02010600040101010101" charset="-122"/>
                </a:endParaRPr>
              </a:p>
              <a:p>
                <a:pPr marL="0" indent="0"/>
                <a:r>
                  <a:rPr lang="zh-CN" altLang="en-US" sz="1700" i="0">
                    <a:latin typeface="华文楷体" panose="02010600040101010101" charset="-122"/>
                    <a:ea typeface="华文楷体" panose="02010600040101010101" charset="-122"/>
                    <a:cs typeface="华文楷体" panose="02010600040101010101" charset="-122"/>
                  </a:rPr>
                  <a:t>内部节点：高层概念（如家具、餐具）</a:t>
                </a:r>
                <a:endParaRPr lang="zh-CN" altLang="en-US" sz="1700" i="0">
                  <a:latin typeface="华文楷体" panose="02010600040101010101" charset="-122"/>
                  <a:ea typeface="华文楷体" panose="02010600040101010101" charset="-122"/>
                  <a:cs typeface="华文楷体" panose="02010600040101010101" charset="-122"/>
                </a:endParaRPr>
              </a:p>
              <a:p>
                <a:pPr marL="0" indent="0"/>
                <a:r>
                  <a:rPr lang="zh-CN" altLang="en-US" sz="1700" i="0">
                    <a:latin typeface="华文楷体" panose="02010600040101010101" charset="-122"/>
                    <a:ea typeface="华文楷体" panose="02010600040101010101" charset="-122"/>
                    <a:cs typeface="华文楷体" panose="02010600040101010101" charset="-122"/>
                  </a:rPr>
                  <a:t>根节点</a:t>
                </a:r>
                <a14:m>
                  <m:oMath xmlns:m="http://schemas.openxmlformats.org/officeDocument/2006/math">
                    <m:sSub>
                      <m:sSubPr>
                        <m:ctrlPr>
                          <a:rPr lang="en-US" altLang="zh-CN" sz="1700" i="1">
                            <a:latin typeface="Cambria Math" panose="02040503050406030204" charset="0"/>
                            <a:ea typeface="华文楷体" panose="02010600040101010101" charset="-122"/>
                            <a:cs typeface="Cambria Math" panose="02040503050406030204" charset="0"/>
                          </a:rPr>
                        </m:ctrlPr>
                      </m:sSubPr>
                      <m:e>
                        <m:r>
                          <a:rPr lang="en-US" altLang="zh-CN" sz="1700" i="1">
                            <a:latin typeface="Cambria Math" panose="02040503050406030204" charset="0"/>
                            <a:ea typeface="华文楷体" panose="02010600040101010101" charset="-122"/>
                            <a:cs typeface="Cambria Math" panose="02040503050406030204" charset="0"/>
                          </a:rPr>
                          <m:t>𝑉</m:t>
                        </m:r>
                      </m:e>
                      <m:sub>
                        <m:r>
                          <a:rPr lang="en-US" altLang="zh-CN" sz="1700" i="1">
                            <a:latin typeface="Cambria Math" panose="02040503050406030204" charset="0"/>
                            <a:ea typeface="华文楷体" panose="02010600040101010101" charset="-122"/>
                            <a:cs typeface="Cambria Math" panose="02040503050406030204" charset="0"/>
                          </a:rPr>
                          <m:t>𝐿</m:t>
                        </m:r>
                      </m:sub>
                    </m:sSub>
                    <m:r>
                      <a:rPr lang="en-US" altLang="zh-CN" sz="1700" i="1">
                        <a:latin typeface="Cambria Math" panose="02040503050406030204" charset="0"/>
                        <a:ea typeface="华文楷体" panose="02010600040101010101" charset="-122"/>
                        <a:cs typeface="Cambria Math" panose="02040503050406030204" charset="0"/>
                      </a:rPr>
                      <m:t> </m:t>
                    </m:r>
                  </m:oMath>
                </a14:m>
                <a:r>
                  <a:rPr lang="zh-CN" altLang="en-US" sz="1700" i="0">
                    <a:latin typeface="华文楷体" panose="02010600040101010101" charset="-122"/>
                    <a:ea typeface="华文楷体" panose="02010600040101010101" charset="-122"/>
                    <a:cs typeface="华文楷体" panose="02010600040101010101" charset="-122"/>
                  </a:rPr>
                  <a:t> ：最抽象类别（如"物体"）</a:t>
                </a:r>
                <a:endParaRPr lang="zh-CN" altLang="en-US" sz="1700" i="0">
                  <a:latin typeface="华文楷体" panose="02010600040101010101" charset="-122"/>
                  <a:ea typeface="华文楷体" panose="02010600040101010101" charset="-122"/>
                  <a:cs typeface="华文楷体" panose="02010600040101010101" charset="-122"/>
                </a:endParaRPr>
              </a:p>
              <a:p>
                <a:pPr marL="0" indent="0"/>
                <a:r>
                  <a:rPr lang="zh-CN" altLang="en-US" sz="1700" b="1" i="0">
                    <a:solidFill>
                      <a:srgbClr val="FF0000"/>
                    </a:solidFill>
                    <a:latin typeface="华文楷体" panose="02010600040101010101" charset="-122"/>
                    <a:ea typeface="华文楷体" panose="02010600040101010101" charset="-122"/>
                    <a:cs typeface="华文楷体" panose="02010600040101010101" charset="-122"/>
                  </a:rPr>
                  <a:t>边集合</a:t>
                </a:r>
                <a:r>
                  <a:rPr lang="zh-CN" altLang="en-US" sz="1700" i="0">
                    <a:latin typeface="华文楷体" panose="02010600040101010101" charset="-122"/>
                    <a:ea typeface="华文楷体" panose="02010600040101010101" charset="-122"/>
                    <a:cs typeface="华文楷体" panose="02010600040101010101" charset="-122"/>
                  </a:rPr>
                  <a:t> E 编码类间关系：</a:t>
                </a:r>
                <a:endParaRPr lang="zh-CN" altLang="en-US" sz="1700" i="0">
                  <a:latin typeface="华文楷体" panose="02010600040101010101" charset="-122"/>
                  <a:ea typeface="华文楷体" panose="02010600040101010101" charset="-122"/>
                  <a:cs typeface="华文楷体" panose="02010600040101010101" charset="-122"/>
                </a:endParaRPr>
              </a:p>
              <a:p>
                <a:pPr marL="0" indent="0"/>
                <a:r>
                  <a:rPr lang="zh-CN" altLang="en-US" sz="1700" i="0">
                    <a:latin typeface="华文楷体" panose="02010600040101010101" charset="-122"/>
                    <a:ea typeface="华文楷体" panose="02010600040101010101" charset="-122"/>
                    <a:cs typeface="华文楷体" panose="02010600040101010101" charset="-122"/>
                  </a:rPr>
                  <a:t>有向边</a:t>
                </a:r>
                <a:r>
                  <a:rPr lang="en-US" altLang="zh-CN" sz="1700" i="0">
                    <a:latin typeface="华文楷体" panose="02010600040101010101" charset="-122"/>
                    <a:ea typeface="华文楷体" panose="02010600040101010101" charset="-122"/>
                    <a:cs typeface="华文楷体" panose="02010600040101010101" charset="-122"/>
                  </a:rPr>
                  <a:t> </a:t>
                </a:r>
                <a:r>
                  <a:rPr lang="zh-CN" altLang="en-US" sz="1700" i="0">
                    <a:latin typeface="华文楷体" panose="02010600040101010101" charset="-122"/>
                    <a:ea typeface="华文楷体" panose="02010600040101010101" charset="-122"/>
                    <a:cs typeface="华文楷体" panose="02010600040101010101" charset="-122"/>
                  </a:rPr>
                  <a:t>u→v</a:t>
                </a:r>
                <a:r>
                  <a:rPr lang="en-US" altLang="zh-CN" sz="1700" i="0">
                    <a:latin typeface="华文楷体" panose="02010600040101010101" charset="-122"/>
                    <a:ea typeface="华文楷体" panose="02010600040101010101" charset="-122"/>
                    <a:cs typeface="华文楷体" panose="02010600040101010101" charset="-122"/>
                  </a:rPr>
                  <a:t> </a:t>
                </a:r>
                <a:r>
                  <a:rPr lang="zh-CN" altLang="en-US" sz="1700" i="0">
                    <a:latin typeface="华文楷体" panose="02010600040101010101" charset="-122"/>
                    <a:ea typeface="华文楷体" panose="02010600040101010101" charset="-122"/>
                    <a:cs typeface="华文楷体" panose="02010600040101010101" charset="-122"/>
                  </a:rPr>
                  <a:t>表示相邻层级的</a:t>
                </a:r>
                <a:r>
                  <a:rPr lang="zh-CN" altLang="en-US" sz="1700" b="1" i="0">
                    <a:solidFill>
                      <a:srgbClr val="FF0000"/>
                    </a:solidFill>
                    <a:latin typeface="华文楷体" panose="02010600040101010101" charset="-122"/>
                    <a:ea typeface="华文楷体" panose="02010600040101010101" charset="-122"/>
                    <a:cs typeface="华文楷体" panose="02010600040101010101" charset="-122"/>
                  </a:rPr>
                  <a:t>部分-整体</a:t>
                </a:r>
                <a:r>
                  <a:rPr lang="zh-CN" altLang="en-US" sz="1700" i="0">
                    <a:latin typeface="华文楷体" panose="02010600040101010101" charset="-122"/>
                    <a:ea typeface="华文楷体" panose="02010600040101010101" charset="-122"/>
                    <a:cs typeface="华文楷体" panose="02010600040101010101" charset="-122"/>
                  </a:rPr>
                  <a:t>关系（如"餐具→锅具"）</a:t>
                </a:r>
                <a:endParaRPr lang="zh-CN" altLang="en-US" sz="1700" i="0">
                  <a:latin typeface="华文楷体" panose="02010600040101010101" charset="-122"/>
                  <a:ea typeface="华文楷体" panose="02010600040101010101" charset="-122"/>
                  <a:cs typeface="华文楷体" panose="02010600040101010101" charset="-122"/>
                </a:endParaRPr>
              </a:p>
              <a:p>
                <a:pPr marL="0" indent="0"/>
                <a:r>
                  <a:rPr lang="zh-CN" altLang="en-US" sz="1700">
                    <a:latin typeface="华文楷体" panose="02010600040101010101" charset="-122"/>
                    <a:ea typeface="华文楷体" panose="02010600040101010101" charset="-122"/>
                    <a:cs typeface="华文楷体" panose="02010600040101010101" charset="-122"/>
                    <a:sym typeface="+mn-ea"/>
                  </a:rPr>
                  <a:t>为每个像素分配有效的根到叶路径（如"物体→餐具→锅具"），需满足：</a:t>
                </a:r>
                <a:endParaRPr lang="zh-CN" altLang="en-US" sz="1700" i="0">
                  <a:latin typeface="华文楷体" panose="02010600040101010101" charset="-122"/>
                  <a:ea typeface="华文楷体" panose="02010600040101010101" charset="-122"/>
                  <a:cs typeface="华文楷体" panose="02010600040101010101" charset="-122"/>
                </a:endParaRPr>
              </a:p>
              <a:p>
                <a:pPr marL="0" indent="0"/>
                <a:r>
                  <a:rPr lang="zh-CN" altLang="en-US" sz="1700">
                    <a:latin typeface="华文楷体" panose="02010600040101010101" charset="-122"/>
                    <a:ea typeface="华文楷体" panose="02010600040101010101" charset="-122"/>
                    <a:cs typeface="华文楷体" panose="02010600040101010101" charset="-122"/>
                    <a:sym typeface="+mn-ea"/>
                  </a:rPr>
                  <a:t>①路径必须</a:t>
                </a:r>
                <a:r>
                  <a:rPr lang="zh-CN" altLang="en-US" sz="1700" b="1">
                    <a:solidFill>
                      <a:srgbClr val="FF0000"/>
                    </a:solidFill>
                    <a:latin typeface="华文楷体" panose="02010600040101010101" charset="-122"/>
                    <a:ea typeface="华文楷体" panose="02010600040101010101" charset="-122"/>
                    <a:cs typeface="华文楷体" panose="02010600040101010101" charset="-122"/>
                    <a:sym typeface="+mn-ea"/>
                  </a:rPr>
                  <a:t>连续贯穿层级</a:t>
                </a:r>
                <a:endParaRPr lang="zh-CN" altLang="en-US" sz="1700">
                  <a:latin typeface="华文楷体" panose="02010600040101010101" charset="-122"/>
                  <a:ea typeface="华文楷体" panose="02010600040101010101" charset="-122"/>
                  <a:cs typeface="华文楷体" panose="02010600040101010101" charset="-122"/>
                  <a:sym typeface="+mn-ea"/>
                </a:endParaRPr>
              </a:p>
              <a:p>
                <a:pPr marL="0" indent="0"/>
                <a:r>
                  <a:rPr lang="zh-CN" altLang="en-US" sz="1700">
                    <a:latin typeface="华文楷体" panose="02010600040101010101" charset="-122"/>
                    <a:ea typeface="华文楷体" panose="02010600040101010101" charset="-122"/>
                    <a:cs typeface="华文楷体" panose="02010600040101010101" charset="-122"/>
                    <a:sym typeface="+mn-ea"/>
                  </a:rPr>
                  <a:t>（禁止跨层连接如"物体→家具→锅具"）</a:t>
                </a:r>
                <a:endParaRPr lang="zh-CN" altLang="en-US" sz="1700" i="0">
                  <a:latin typeface="华文楷体" panose="02010600040101010101" charset="-122"/>
                  <a:ea typeface="华文楷体" panose="02010600040101010101" charset="-122"/>
                  <a:cs typeface="华文楷体" panose="02010600040101010101" charset="-122"/>
                </a:endParaRPr>
              </a:p>
              <a:p>
                <a:pPr marL="0" indent="0"/>
                <a:r>
                  <a:rPr lang="zh-CN" altLang="en-US" sz="1700">
                    <a:latin typeface="华文楷体" panose="02010600040101010101" charset="-122"/>
                    <a:ea typeface="华文楷体" panose="02010600040101010101" charset="-122"/>
                    <a:cs typeface="华文楷体" panose="02010600040101010101" charset="-122"/>
                    <a:sym typeface="+mn-ea"/>
                  </a:rPr>
                  <a:t>②传统语义分割可视为特例：</a:t>
                </a:r>
                <a:endParaRPr lang="zh-CN" altLang="en-US" sz="1700">
                  <a:latin typeface="华文楷体" panose="02010600040101010101" charset="-122"/>
                  <a:ea typeface="华文楷体" panose="02010600040101010101" charset="-122"/>
                  <a:cs typeface="华文楷体" panose="02010600040101010101" charset="-122"/>
                  <a:sym typeface="+mn-ea"/>
                </a:endParaRPr>
              </a:p>
              <a:p>
                <a:pPr marL="0" indent="0"/>
                <a:r>
                  <a:rPr lang="zh-CN" altLang="en-US" sz="1700">
                    <a:latin typeface="华文楷体" panose="02010600040101010101" charset="-122"/>
                    <a:ea typeface="华文楷体" panose="02010600040101010101" charset="-122"/>
                    <a:cs typeface="华文楷体" panose="02010600040101010101" charset="-122"/>
                    <a:sym typeface="+mn-ea"/>
                  </a:rPr>
                  <a:t>仅预测叶节点标签（忽略层次结构）</a:t>
                </a:r>
                <a:endParaRPr lang="zh-CN" altLang="en-US" sz="1700" i="0">
                  <a:latin typeface="华文楷体" panose="02010600040101010101" charset="-122"/>
                  <a:ea typeface="华文楷体" panose="02010600040101010101" charset="-122"/>
                  <a:cs typeface="华文楷体" panose="02010600040101010101" charset="-122"/>
                </a:endParaRPr>
              </a:p>
              <a:p>
                <a:pPr marL="0" indent="0"/>
                <a:endParaRPr lang="zh-CN" altLang="en-US" sz="1700" i="0">
                  <a:latin typeface="华文楷体" panose="02010600040101010101" charset="-122"/>
                  <a:ea typeface="华文楷体" panose="02010600040101010101" charset="-122"/>
                  <a:cs typeface="华文楷体" panose="02010600040101010101"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728980" y="2764155"/>
                <a:ext cx="6400800" cy="3626485"/>
              </a:xfrm>
              <a:prstGeom prst="rect">
                <a:avLst/>
              </a:prstGeom>
              <a:blipFill rotWithShape="1">
                <a:blip r:embed="rId4"/>
                <a:stretch>
                  <a:fillRect b="-10173"/>
                </a:stretch>
              </a:blipFill>
            </p:spPr>
            <p:txBody>
              <a:bodyPr/>
              <a:lstStyle/>
              <a:p>
                <a:r>
                  <a:rPr lang="zh-CN" altLang="en-US">
                    <a:noFill/>
                  </a:rPr>
                  <a:t> </a:t>
                </a:r>
              </a:p>
            </p:txBody>
          </p:sp>
        </mc:Fallback>
      </mc:AlternateContent>
      <p:sp>
        <p:nvSpPr>
          <p:cNvPr id="14" name="文本框 13"/>
          <p:cNvSpPr txBox="1"/>
          <p:nvPr/>
        </p:nvSpPr>
        <p:spPr>
          <a:xfrm>
            <a:off x="7633335" y="2804795"/>
            <a:ext cx="4043045" cy="3585210"/>
          </a:xfrm>
          <a:prstGeom prst="rect">
            <a:avLst/>
          </a:prstGeom>
          <a:noFill/>
        </p:spPr>
        <p:txBody>
          <a:bodyPr wrap="square" rtlCol="0" anchor="t">
            <a:noAutofit/>
          </a:bodyPr>
          <a:p>
            <a:pPr marL="0" indent="0"/>
            <a:r>
              <a:rPr lang="zh-CN" altLang="en-US" sz="2000" b="1">
                <a:latin typeface="华文楷体" panose="02010600040101010101" charset="-122"/>
                <a:ea typeface="华文楷体" panose="02010600040101010101" charset="-122"/>
                <a:cs typeface="华文楷体" panose="02010600040101010101" charset="-122"/>
                <a:sym typeface="+mn-ea"/>
              </a:rPr>
              <a:t>2. 算法</a:t>
            </a:r>
            <a:r>
              <a:rPr lang="zh-CN" altLang="en-US" sz="2000" b="1" i="0">
                <a:latin typeface="华文楷体" panose="02010600040101010101" charset="-122"/>
                <a:ea typeface="华文楷体" panose="02010600040101010101" charset="-122"/>
                <a:cs typeface="华文楷体" panose="02010600040101010101" charset="-122"/>
              </a:rPr>
              <a:t>概述</a:t>
            </a:r>
            <a:endParaRPr lang="zh-CN" altLang="en-US" sz="2000" b="1" i="0">
              <a:latin typeface="华文楷体" panose="02010600040101010101" charset="-122"/>
              <a:ea typeface="华文楷体" panose="02010600040101010101" charset="-122"/>
              <a:cs typeface="华文楷体" panose="02010600040101010101" charset="-122"/>
            </a:endParaRPr>
          </a:p>
          <a:p>
            <a:pPr marL="0" indent="0"/>
            <a:r>
              <a:rPr lang="zh-CN" altLang="en-US" sz="1700" b="1">
                <a:solidFill>
                  <a:srgbClr val="FF0000"/>
                </a:solidFill>
                <a:latin typeface="华文楷体" panose="02010600040101010101" charset="-122"/>
                <a:ea typeface="华文楷体" panose="02010600040101010101" charset="-122"/>
                <a:cs typeface="华文楷体" panose="02010600040101010101" charset="-122"/>
                <a:sym typeface="+mn-ea"/>
              </a:rPr>
              <a:t>神经方面</a:t>
            </a:r>
            <a:r>
              <a:rPr lang="zh-CN" altLang="en-US" sz="1700">
                <a:latin typeface="华文楷体" panose="02010600040101010101" charset="-122"/>
                <a:ea typeface="华文楷体" panose="02010600040101010101" charset="-122"/>
                <a:cs typeface="华文楷体" panose="02010600040101010101" charset="-122"/>
                <a:sym typeface="+mn-ea"/>
              </a:rPr>
              <a:t>模型无关性：</a:t>
            </a:r>
            <a:endParaRPr lang="zh-CN" altLang="en-US" sz="1700">
              <a:latin typeface="华文楷体" panose="02010600040101010101" charset="-122"/>
              <a:ea typeface="华文楷体" panose="02010600040101010101" charset="-122"/>
              <a:cs typeface="华文楷体" panose="02010600040101010101" charset="-122"/>
              <a:sym typeface="+mn-ea"/>
            </a:endParaRPr>
          </a:p>
          <a:p>
            <a:pPr marL="0" indent="0"/>
            <a:r>
              <a:rPr lang="zh-CN" altLang="en-US" sz="1700">
                <a:latin typeface="华文楷体" panose="02010600040101010101" charset="-122"/>
                <a:ea typeface="华文楷体" panose="02010600040101010101" charset="-122"/>
                <a:cs typeface="华文楷体" panose="02010600040101010101" charset="-122"/>
                <a:sym typeface="+mn-ea"/>
              </a:rPr>
              <a:t>在密集特征提取之后，其分类头会为每个像素输出所有类别</a:t>
            </a:r>
            <a:r>
              <a:rPr lang="en-US" altLang="zh-CN" sz="1700">
                <a:latin typeface="华文楷体" panose="02010600040101010101" charset="-122"/>
                <a:ea typeface="华文楷体" panose="02010600040101010101" charset="-122"/>
                <a:cs typeface="华文楷体" panose="02010600040101010101" charset="-122"/>
                <a:sym typeface="+mn-ea"/>
              </a:rPr>
              <a:t> V </a:t>
            </a:r>
            <a:r>
              <a:rPr lang="zh-CN" altLang="en-US" sz="1700">
                <a:latin typeface="华文楷体" panose="02010600040101010101" charset="-122"/>
                <a:ea typeface="华文楷体" panose="02010600040101010101" charset="-122"/>
                <a:cs typeface="华文楷体" panose="02010600040101010101" charset="-122"/>
                <a:sym typeface="+mn-ea"/>
              </a:rPr>
              <a:t>的总共</a:t>
            </a:r>
            <a:r>
              <a:rPr lang="en-US" altLang="zh-CN" sz="1700">
                <a:latin typeface="华文楷体" panose="02010600040101010101" charset="-122"/>
                <a:ea typeface="华文楷体" panose="02010600040101010101" charset="-122"/>
                <a:cs typeface="华文楷体" panose="02010600040101010101" charset="-122"/>
                <a:sym typeface="+mn-ea"/>
              </a:rPr>
              <a:t> |V| </a:t>
            </a:r>
            <a:r>
              <a:rPr lang="zh-CN" altLang="en-US" sz="1700">
                <a:latin typeface="华文楷体" panose="02010600040101010101" charset="-122"/>
                <a:ea typeface="华文楷体" panose="02010600040101010101" charset="-122"/>
                <a:cs typeface="华文楷体" panose="02010600040101010101" charset="-122"/>
                <a:sym typeface="+mn-ea"/>
              </a:rPr>
              <a:t>个经</a:t>
            </a:r>
            <a:r>
              <a:rPr lang="en-US" altLang="zh-CN" sz="1700">
                <a:latin typeface="华文楷体" panose="02010600040101010101" charset="-122"/>
                <a:ea typeface="华文楷体" panose="02010600040101010101" charset="-122"/>
                <a:cs typeface="华文楷体" panose="02010600040101010101" charset="-122"/>
                <a:sym typeface="+mn-ea"/>
              </a:rPr>
              <a:t> sigmoid </a:t>
            </a:r>
            <a:r>
              <a:rPr lang="zh-CN" altLang="en-US" sz="1700">
                <a:latin typeface="华文楷体" panose="02010600040101010101" charset="-122"/>
                <a:ea typeface="华文楷体" panose="02010600040101010101" charset="-122"/>
                <a:cs typeface="华文楷体" panose="02010600040101010101" charset="-122"/>
                <a:sym typeface="+mn-ea"/>
              </a:rPr>
              <a:t>归一化的分数，即</a:t>
            </a:r>
            <a:r>
              <a:rPr lang="en-US" altLang="zh-CN" sz="1700">
                <a:latin typeface="华文楷体" panose="02010600040101010101" charset="-122"/>
                <a:ea typeface="华文楷体" panose="02010600040101010101" charset="-122"/>
                <a:cs typeface="华文楷体" panose="02010600040101010101" charset="-122"/>
                <a:sym typeface="+mn-ea"/>
              </a:rPr>
              <a:t> s∈[0, 1]|V|</a:t>
            </a:r>
            <a:r>
              <a:rPr lang="zh-CN" altLang="en-US" sz="1700">
                <a:latin typeface="华文楷体" panose="02010600040101010101" charset="-122"/>
                <a:ea typeface="华文楷体" panose="02010600040101010101" charset="-122"/>
                <a:cs typeface="华文楷体" panose="02010600040101010101" charset="-122"/>
                <a:sym typeface="+mn-ea"/>
              </a:rPr>
              <a:t>。这里的</a:t>
            </a:r>
            <a:r>
              <a:rPr lang="en-US" altLang="zh-CN" sz="1700">
                <a:latin typeface="华文楷体" panose="02010600040101010101" charset="-122"/>
                <a:ea typeface="华文楷体" panose="02010600040101010101" charset="-122"/>
                <a:cs typeface="华文楷体" panose="02010600040101010101" charset="-122"/>
                <a:sym typeface="+mn-ea"/>
              </a:rPr>
              <a:t> |</a:t>
            </a:r>
            <a:r>
              <a:rPr lang="ja-JP" altLang="en-US" sz="1700">
                <a:latin typeface="华文楷体" panose="02010600040101010101" charset="-122"/>
                <a:ea typeface="华文楷体" panose="02010600040101010101" charset="-122"/>
                <a:cs typeface="华文楷体" panose="02010600040101010101" charset="-122"/>
                <a:sym typeface="+mn-ea"/>
              </a:rPr>
              <a:t>・</a:t>
            </a:r>
            <a:r>
              <a:rPr lang="en-US" altLang="zh-CN" sz="1700">
                <a:latin typeface="华文楷体" panose="02010600040101010101" charset="-122"/>
                <a:ea typeface="华文楷体" panose="02010600040101010101" charset="-122"/>
                <a:cs typeface="华文楷体" panose="02010600040101010101" charset="-122"/>
                <a:sym typeface="+mn-ea"/>
              </a:rPr>
              <a:t>| </a:t>
            </a:r>
            <a:r>
              <a:rPr lang="zh-CN" altLang="en-US" sz="1700">
                <a:latin typeface="华文楷体" panose="02010600040101010101" charset="-122"/>
                <a:ea typeface="华文楷体" panose="02010600040101010101" charset="-122"/>
                <a:cs typeface="华文楷体" panose="02010600040101010101" charset="-122"/>
                <a:sym typeface="+mn-ea"/>
              </a:rPr>
              <a:t>表示元素的数量。从</a:t>
            </a:r>
            <a:r>
              <a:rPr lang="en-US" altLang="zh-CN" sz="1700">
                <a:latin typeface="华文楷体" panose="02010600040101010101" charset="-122"/>
                <a:ea typeface="华文楷体" panose="02010600040101010101" charset="-122"/>
                <a:cs typeface="华文楷体" panose="02010600040101010101" charset="-122"/>
                <a:sym typeface="+mn-ea"/>
              </a:rPr>
              <a:t> T </a:t>
            </a:r>
            <a:r>
              <a:rPr lang="zh-CN" altLang="en-US" sz="1700">
                <a:latin typeface="华文楷体" panose="02010600040101010101" charset="-122"/>
                <a:ea typeface="华文楷体" panose="02010600040101010101" charset="-122"/>
                <a:cs typeface="华文楷体" panose="02010600040101010101" charset="-122"/>
                <a:sym typeface="+mn-ea"/>
              </a:rPr>
              <a:t>中导出的一组逻辑规则被注入到网络训练和推理中。</a:t>
            </a:r>
            <a:endParaRPr lang="zh-CN" altLang="en-US" sz="1700">
              <a:latin typeface="华文楷体" panose="02010600040101010101" charset="-122"/>
              <a:ea typeface="华文楷体" panose="02010600040101010101" charset="-122"/>
              <a:cs typeface="华文楷体" panose="02010600040101010101" charset="-122"/>
              <a:sym typeface="+mn-ea"/>
            </a:endParaRPr>
          </a:p>
          <a:p>
            <a:pPr marL="0" indent="0"/>
            <a:r>
              <a:rPr lang="zh-CN" altLang="en-US" sz="1700" b="1">
                <a:solidFill>
                  <a:srgbClr val="FF0000"/>
                </a:solidFill>
                <a:latin typeface="华文楷体" panose="02010600040101010101" charset="-122"/>
                <a:ea typeface="华文楷体" panose="02010600040101010101" charset="-122"/>
                <a:cs typeface="华文楷体" panose="02010600040101010101" charset="-122"/>
                <a:sym typeface="+mn-ea"/>
              </a:rPr>
              <a:t>逻辑方面</a:t>
            </a:r>
            <a:r>
              <a:rPr lang="zh-CN" altLang="en-US" sz="1700">
                <a:latin typeface="华文楷体" panose="02010600040101010101" charset="-122"/>
                <a:ea typeface="华文楷体" panose="02010600040101010101" charset="-122"/>
                <a:cs typeface="华文楷体" panose="02010600040101010101" charset="-122"/>
                <a:sym typeface="+mn-ea"/>
              </a:rPr>
              <a:t>一阶逻辑表达：</a:t>
            </a:r>
            <a:endParaRPr lang="zh-CN" altLang="en-US" sz="1700">
              <a:latin typeface="华文楷体" panose="02010600040101010101" charset="-122"/>
              <a:ea typeface="华文楷体" panose="02010600040101010101" charset="-122"/>
              <a:cs typeface="华文楷体" panose="02010600040101010101" charset="-122"/>
              <a:sym typeface="+mn-ea"/>
            </a:endParaRPr>
          </a:p>
          <a:p>
            <a:pPr marL="0" indent="0"/>
            <a:r>
              <a:rPr lang="zh-CN" altLang="en-US" sz="1700">
                <a:latin typeface="华文楷体" panose="02010600040101010101" charset="-122"/>
                <a:ea typeface="华文楷体" panose="02010600040101010101" charset="-122"/>
                <a:cs typeface="华文楷体" panose="02010600040101010101" charset="-122"/>
                <a:sym typeface="+mn-ea"/>
              </a:rPr>
              <a:t>层次结构</a:t>
            </a:r>
            <a:r>
              <a:rPr lang="en-US" altLang="zh-CN" sz="1700">
                <a:latin typeface="华文楷体" panose="02010600040101010101" charset="-122"/>
                <a:ea typeface="华文楷体" panose="02010600040101010101" charset="-122"/>
                <a:cs typeface="华文楷体" panose="02010600040101010101" charset="-122"/>
                <a:sym typeface="+mn-ea"/>
              </a:rPr>
              <a:t> T </a:t>
            </a:r>
            <a:r>
              <a:rPr lang="zh-CN" altLang="en-US" sz="1700">
                <a:latin typeface="华文楷体" panose="02010600040101010101" charset="-122"/>
                <a:ea typeface="华文楷体" panose="02010600040101010101" charset="-122"/>
                <a:cs typeface="华文楷体" panose="02010600040101010101" charset="-122"/>
                <a:sym typeface="+mn-ea"/>
              </a:rPr>
              <a:t>中复杂且抽象的关系知识。通过遵循逻辑规范，网络被学习为逻辑谓词的近似。一旦训练完成，它会根据逻辑规则进行迭代推理。</a:t>
            </a:r>
            <a:endParaRPr lang="zh-CN" altLang="en-US" sz="1700">
              <a:latin typeface="华文楷体" panose="02010600040101010101" charset="-122"/>
              <a:ea typeface="华文楷体" panose="02010600040101010101" charset="-122"/>
              <a:cs typeface="华文楷体" panose="02010600040101010101" charset="-122"/>
              <a:sym typeface="+mn-ea"/>
            </a:endParaRPr>
          </a:p>
        </p:txBody>
      </p:sp>
      <p:graphicFrame>
        <p:nvGraphicFramePr>
          <p:cNvPr id="15" name="对象 14">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5" imgW="114300" imgH="215900" progId="Equation.KSEE3">
                  <p:embed/>
                </p:oleObj>
              </mc:Choice>
              <mc:Fallback>
                <p:oleObj name="" r:id="rId5" imgW="114300" imgH="215900" progId="Equation.KSEE3">
                  <p:embed/>
                  <p:pic>
                    <p:nvPicPr>
                      <p:cNvPr id="0" name="图片 1024"/>
                      <p:cNvPicPr/>
                      <p:nvPr/>
                    </p:nvPicPr>
                    <p:blipFill>
                      <a:blip r:embed="rId6"/>
                      <a:stretch>
                        <a:fillRect/>
                      </a:stretch>
                    </p:blipFill>
                    <p:spPr>
                      <a:xfrm>
                        <a:off x="6038850" y="3321050"/>
                        <a:ext cx="114300" cy="215900"/>
                      </a:xfrm>
                      <a:prstGeom prst="rect">
                        <a:avLst/>
                      </a:prstGeom>
                    </p:spPr>
                  </p:pic>
                </p:oleObj>
              </mc:Fallback>
            </mc:AlternateContent>
          </a:graphicData>
        </a:graphic>
      </p:graphicFrame>
      <p:pic>
        <p:nvPicPr>
          <p:cNvPr id="18" name="图片 17"/>
          <p:cNvPicPr>
            <a:picLocks noChangeAspect="1"/>
          </p:cNvPicPr>
          <p:nvPr/>
        </p:nvPicPr>
        <p:blipFill>
          <a:blip r:embed="rId7"/>
          <a:stretch>
            <a:fillRect/>
          </a:stretch>
        </p:blipFill>
        <p:spPr>
          <a:xfrm>
            <a:off x="600075" y="1028065"/>
            <a:ext cx="11045190" cy="15779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1" name="矩形 10"/>
          <p:cNvSpPr>
            <a:spLocks noChangeArrowheads="1"/>
          </p:cNvSpPr>
          <p:nvPr>
            <p:custDataLst>
              <p:tags r:id="rId1"/>
            </p:custDataLst>
          </p:nvPr>
        </p:nvSpPr>
        <p:spPr bwMode="auto">
          <a:xfrm>
            <a:off x="9044305" y="2847340"/>
            <a:ext cx="2672715" cy="381952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9" name="矩形 8"/>
          <p:cNvSpPr>
            <a:spLocks noChangeArrowheads="1"/>
          </p:cNvSpPr>
          <p:nvPr>
            <p:custDataLst>
              <p:tags r:id="rId2"/>
            </p:custDataLst>
          </p:nvPr>
        </p:nvSpPr>
        <p:spPr bwMode="auto">
          <a:xfrm>
            <a:off x="6301105" y="2847975"/>
            <a:ext cx="2550795" cy="381952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8" name="矩形 7"/>
          <p:cNvSpPr>
            <a:spLocks noChangeArrowheads="1"/>
          </p:cNvSpPr>
          <p:nvPr>
            <p:custDataLst>
              <p:tags r:id="rId3"/>
            </p:custDataLst>
          </p:nvPr>
        </p:nvSpPr>
        <p:spPr bwMode="auto">
          <a:xfrm>
            <a:off x="3544570" y="2837180"/>
            <a:ext cx="2460625" cy="381952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17" name="矩形 16"/>
          <p:cNvSpPr>
            <a:spLocks noChangeArrowheads="1"/>
          </p:cNvSpPr>
          <p:nvPr>
            <p:custDataLst>
              <p:tags r:id="rId4"/>
            </p:custDataLst>
          </p:nvPr>
        </p:nvSpPr>
        <p:spPr bwMode="auto">
          <a:xfrm>
            <a:off x="509905" y="2858135"/>
            <a:ext cx="2759710" cy="381952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23" name="矩形 22"/>
          <p:cNvSpPr/>
          <p:nvPr/>
        </p:nvSpPr>
        <p:spPr>
          <a:xfrm>
            <a:off x="1152000" y="288000"/>
            <a:ext cx="61264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基于逻辑规则的视觉语义解析</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pic>
        <p:nvPicPr>
          <p:cNvPr id="5" name="图片 4"/>
          <p:cNvPicPr>
            <a:picLocks noChangeAspect="1"/>
          </p:cNvPicPr>
          <p:nvPr/>
        </p:nvPicPr>
        <p:blipFill>
          <a:blip r:embed="rId6"/>
          <a:stretch>
            <a:fillRect/>
          </a:stretch>
        </p:blipFill>
        <p:spPr>
          <a:xfrm>
            <a:off x="581025" y="995680"/>
            <a:ext cx="11095355" cy="1732915"/>
          </a:xfrm>
          <a:prstGeom prst="rect">
            <a:avLst/>
          </a:prstGeom>
        </p:spPr>
      </p:pic>
      <p:sp>
        <p:nvSpPr>
          <p:cNvPr id="4" name="文本框 3"/>
          <p:cNvSpPr txBox="1"/>
          <p:nvPr/>
        </p:nvSpPr>
        <p:spPr>
          <a:xfrm>
            <a:off x="581025" y="2927350"/>
            <a:ext cx="2762885" cy="3608705"/>
          </a:xfrm>
          <a:prstGeom prst="rect">
            <a:avLst/>
          </a:prstGeom>
        </p:spPr>
        <p:txBody>
          <a:bodyPr wrap="square">
            <a:noAutofit/>
          </a:bodyPr>
          <a:p>
            <a:pPr marL="0" indent="0"/>
            <a:r>
              <a:rPr lang="zh-CN" altLang="en-US" sz="1700" b="0" i="0">
                <a:solidFill>
                  <a:schemeClr val="tx1"/>
                </a:solidFill>
                <a:latin typeface="华文楷体" panose="02010600040101010101" charset="-122"/>
                <a:ea typeface="华文楷体" panose="02010600040101010101" charset="-122"/>
                <a:cs typeface="华文楷体" panose="02010600040101010101" charset="-122"/>
              </a:rPr>
              <a:t>LOGICSEG将结构化视觉解析任务形式化为三元组〈T, X, Π〉：</a:t>
            </a:r>
            <a:endParaRPr lang="zh-CN" altLang="en-US" sz="1700" b="0"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None/>
            </a:pPr>
            <a:r>
              <a:rPr lang="zh-CN" altLang="en-US" sz="1700" b="1" i="0">
                <a:solidFill>
                  <a:schemeClr val="tx1"/>
                </a:solidFill>
                <a:latin typeface="华文楷体" panose="02010600040101010101" charset="-122"/>
                <a:ea typeface="华文楷体" panose="02010600040101010101" charset="-122"/>
                <a:cs typeface="华文楷体" panose="02010600040101010101" charset="-122"/>
              </a:rPr>
              <a:t>T（</a:t>
            </a:r>
            <a:r>
              <a:rPr lang="zh-CN" altLang="en-US" sz="1700" b="1">
                <a:latin typeface="华文楷体" panose="02010600040101010101" charset="-122"/>
                <a:ea typeface="华文楷体" panose="02010600040101010101" charset="-122"/>
                <a:cs typeface="华文楷体" panose="02010600040101010101" charset="-122"/>
                <a:sym typeface="+mn-ea"/>
              </a:rPr>
              <a:t>语义层次结构）</a:t>
            </a:r>
            <a:r>
              <a:rPr lang="zh-CN" altLang="en-US" sz="1700" b="0" i="0">
                <a:solidFill>
                  <a:schemeClr val="tx1"/>
                </a:solidFill>
                <a:latin typeface="华文楷体" panose="02010600040101010101" charset="-122"/>
                <a:ea typeface="华文楷体" panose="02010600040101010101" charset="-122"/>
                <a:cs typeface="华文楷体" panose="02010600040101010101" charset="-122"/>
              </a:rPr>
              <a:t>树状层级体系，定义概念间的父子类关</a:t>
            </a:r>
            <a:endParaRPr lang="zh-CN" altLang="en-US" sz="1700" b="0"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ts val="200"/>
              </a:spcAft>
              <a:buNone/>
            </a:pPr>
            <a:r>
              <a:rPr lang="zh-CN" altLang="en-US" sz="1700" b="1" i="0">
                <a:solidFill>
                  <a:schemeClr val="tx1"/>
                </a:solidFill>
                <a:latin typeface="华文楷体" panose="02010600040101010101" charset="-122"/>
                <a:ea typeface="华文楷体" panose="02010600040101010101" charset="-122"/>
                <a:cs typeface="华文楷体" panose="02010600040101010101" charset="-122"/>
              </a:rPr>
              <a:t>X（</a:t>
            </a:r>
            <a:r>
              <a:rPr lang="zh-CN" altLang="en-US" sz="1700" b="1">
                <a:latin typeface="华文楷体" panose="02010600040101010101" charset="-122"/>
                <a:ea typeface="华文楷体" panose="02010600040101010101" charset="-122"/>
                <a:cs typeface="华文楷体" panose="02010600040101010101" charset="-122"/>
                <a:sym typeface="+mn-ea"/>
              </a:rPr>
              <a:t>数据集合）</a:t>
            </a:r>
            <a:r>
              <a:rPr lang="zh-CN" altLang="en-US" sz="1700" b="0" i="0">
                <a:solidFill>
                  <a:schemeClr val="tx1"/>
                </a:solidFill>
                <a:latin typeface="华文楷体" panose="02010600040101010101" charset="-122"/>
                <a:ea typeface="华文楷体" panose="02010600040101010101" charset="-122"/>
                <a:cs typeface="华文楷体" panose="02010600040101010101" charset="-122"/>
              </a:rPr>
              <a:t>包含K个样本对(xₖ, yₖ)，其中：xₖ为像素数据点，yₖ∈{0,1}^|V|基于T的符号化标注向量（多标签编码）</a:t>
            </a:r>
            <a:endParaRPr lang="zh-CN" altLang="en-US" sz="1700" b="0"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None/>
            </a:pPr>
            <a:r>
              <a:rPr lang="zh-CN" altLang="en-US" sz="1700" b="1" i="0">
                <a:solidFill>
                  <a:schemeClr val="tx1"/>
                </a:solidFill>
                <a:latin typeface="华文楷体" panose="02010600040101010101" charset="-122"/>
                <a:ea typeface="华文楷体" panose="02010600040101010101" charset="-122"/>
                <a:cs typeface="华文楷体" panose="02010600040101010101" charset="-122"/>
              </a:rPr>
              <a:t>Π（</a:t>
            </a:r>
            <a:r>
              <a:rPr lang="zh-CN" altLang="en-US" sz="1700" b="1">
                <a:latin typeface="华文楷体" panose="02010600040101010101" charset="-122"/>
                <a:ea typeface="华文楷体" panose="02010600040101010101" charset="-122"/>
                <a:cs typeface="华文楷体" panose="02010600040101010101" charset="-122"/>
                <a:sym typeface="+mn-ea"/>
              </a:rPr>
              <a:t>逻辑规则集</a:t>
            </a:r>
            <a:r>
              <a:rPr lang="zh-CN" altLang="en-US" sz="1700" b="1" i="0">
                <a:solidFill>
                  <a:schemeClr val="tx1"/>
                </a:solidFill>
                <a:latin typeface="华文楷体" panose="02010600040101010101" charset="-122"/>
                <a:ea typeface="华文楷体" panose="02010600040101010101" charset="-122"/>
                <a:cs typeface="华文楷体" panose="02010600040101010101" charset="-122"/>
              </a:rPr>
              <a:t>）</a:t>
            </a:r>
            <a:r>
              <a:rPr lang="zh-CN" altLang="en-US" sz="1700" b="0" i="0">
                <a:solidFill>
                  <a:schemeClr val="tx1"/>
                </a:solidFill>
                <a:latin typeface="华文楷体" panose="02010600040101010101" charset="-122"/>
                <a:ea typeface="华文楷体" panose="02010600040101010101" charset="-122"/>
                <a:cs typeface="华文楷体" panose="02010600040101010101" charset="-122"/>
              </a:rPr>
              <a:t>用一阶逻辑描述的三类层次约束</a:t>
            </a:r>
            <a:endParaRPr lang="zh-CN" altLang="en-US" sz="1700" b="0" i="0">
              <a:solidFill>
                <a:schemeClr val="tx1"/>
              </a:solidFill>
              <a:latin typeface="华文楷体" panose="02010600040101010101" charset="-122"/>
              <a:ea typeface="华文楷体" panose="02010600040101010101" charset="-122"/>
              <a:cs typeface="华文楷体" panose="02010600040101010101" charset="-122"/>
            </a:endParaRPr>
          </a:p>
        </p:txBody>
      </p:sp>
      <p:sp>
        <p:nvSpPr>
          <p:cNvPr id="6" name="文本框 5"/>
          <p:cNvSpPr txBox="1"/>
          <p:nvPr>
            <p:custDataLst>
              <p:tags r:id="rId7"/>
            </p:custDataLst>
          </p:nvPr>
        </p:nvSpPr>
        <p:spPr>
          <a:xfrm>
            <a:off x="3569970" y="2966720"/>
            <a:ext cx="2435860" cy="3216910"/>
          </a:xfrm>
          <a:prstGeom prst="rect">
            <a:avLst/>
          </a:prstGeom>
        </p:spPr>
        <p:txBody>
          <a:bodyPr wrap="square">
            <a:spAutoFit/>
          </a:bodyPr>
          <a:p>
            <a:pPr marL="0" indent="0">
              <a:spcAft>
                <a:spcPct val="60000"/>
              </a:spcAft>
            </a:pPr>
            <a:r>
              <a:rPr lang="en-US" altLang="zh-CN" sz="1600" b="1" i="0">
                <a:solidFill>
                  <a:schemeClr val="tx1"/>
                </a:solidFill>
                <a:latin typeface="华文楷体" panose="02010600040101010101" charset="-122"/>
                <a:ea typeface="华文楷体" panose="02010600040101010101" charset="-122"/>
                <a:cs typeface="华文楷体" panose="02010600040101010101" charset="-122"/>
              </a:rPr>
              <a:t>1. </a:t>
            </a:r>
            <a:r>
              <a:rPr lang="zh-CN" altLang="en-US" sz="1600" b="1" i="0">
                <a:solidFill>
                  <a:schemeClr val="tx1"/>
                </a:solidFill>
                <a:latin typeface="华文楷体" panose="02010600040101010101" charset="-122"/>
                <a:ea typeface="华文楷体" panose="02010600040101010101" charset="-122"/>
                <a:cs typeface="华文楷体" panose="02010600040101010101" charset="-122"/>
              </a:rPr>
              <a:t>组合规则</a:t>
            </a:r>
            <a:r>
              <a:rPr lang="en-US" altLang="zh-CN" sz="1600" b="1" i="0">
                <a:solidFill>
                  <a:schemeClr val="tx1"/>
                </a:solidFill>
                <a:latin typeface="华文楷体" panose="02010600040101010101" charset="-122"/>
                <a:ea typeface="华文楷体" panose="02010600040101010101" charset="-122"/>
                <a:cs typeface="华文楷体" panose="02010600040101010101" charset="-122"/>
              </a:rPr>
              <a:t>(C-rule)</a:t>
            </a:r>
            <a:endParaRPr lang="en-US" altLang="zh-CN" sz="1600" b="1" i="0">
              <a:solidFill>
                <a:schemeClr val="tx1"/>
              </a:solidFill>
              <a:latin typeface="华文楷体" panose="02010600040101010101" charset="-122"/>
              <a:ea typeface="华文楷体" panose="02010600040101010101" charset="-122"/>
              <a:cs typeface="华文楷体" panose="02010600040101010101" charset="-122"/>
            </a:endParaRPr>
          </a:p>
          <a:p>
            <a:pPr marL="0" indent="0"/>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语义：子类实例必属于其父类（向上传播）</a:t>
            </a:r>
            <a:endParaRPr lang="zh-CN" altLang="en-US" sz="1600" b="0" i="0">
              <a:solidFill>
                <a:schemeClr val="tx1"/>
              </a:solidFill>
              <a:latin typeface="华文楷体" panose="02010600040101010101" charset="-122"/>
              <a:ea typeface="华文楷体" panose="02010600040101010101" charset="-122"/>
              <a:cs typeface="华文楷体" panose="02010600040101010101" charset="-122"/>
            </a:endParaRPr>
          </a:p>
          <a:p>
            <a:pPr marL="0" indent="0"/>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形式化：</a:t>
            </a:r>
            <a:endParaRPr lang="zh-CN" altLang="en-US" sz="1600" b="0" i="0">
              <a:solidFill>
                <a:schemeClr val="tx1"/>
              </a:solidFill>
              <a:latin typeface="华文楷体" panose="02010600040101010101" charset="-122"/>
              <a:ea typeface="华文楷体" panose="02010600040101010101" charset="-122"/>
              <a:cs typeface="华文楷体" panose="02010600040101010101" charset="-122"/>
            </a:endParaRPr>
          </a:p>
          <a:p>
            <a:pPr marL="0" indent="0"/>
            <a:r>
              <a:rPr lang="en-US" altLang="zh-CN" sz="1600" b="0" i="0">
                <a:solidFill>
                  <a:schemeClr val="tx1"/>
                </a:solidFill>
                <a:latin typeface="华文楷体" panose="02010600040101010101" charset="-122"/>
                <a:ea typeface="华文楷体" panose="02010600040101010101" charset="-122"/>
                <a:cs typeface="华文楷体" panose="02010600040101010101" charset="-122"/>
              </a:rPr>
              <a:t>∀x(</a:t>
            </a:r>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床</a:t>
            </a:r>
            <a:r>
              <a:rPr lang="en-US" altLang="zh-CN" sz="1600" b="0" i="0">
                <a:solidFill>
                  <a:schemeClr val="tx1"/>
                </a:solidFill>
                <a:latin typeface="华文楷体" panose="02010600040101010101" charset="-122"/>
                <a:ea typeface="华文楷体" panose="02010600040101010101" charset="-122"/>
                <a:cs typeface="华文楷体" panose="02010600040101010101" charset="-122"/>
              </a:rPr>
              <a:t>(x) ⇒ </a:t>
            </a:r>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家具</a:t>
            </a:r>
            <a:r>
              <a:rPr lang="en-US" altLang="zh-CN" sz="1600" b="0" i="0">
                <a:solidFill>
                  <a:schemeClr val="tx1"/>
                </a:solidFill>
                <a:latin typeface="华文楷体" panose="02010600040101010101" charset="-122"/>
                <a:ea typeface="华文楷体" panose="02010600040101010101" charset="-122"/>
                <a:cs typeface="华文楷体" panose="02010600040101010101" charset="-122"/>
              </a:rPr>
              <a:t>(x))</a:t>
            </a:r>
            <a:endParaRPr lang="en-US" altLang="zh-CN" sz="1600" b="0" i="0">
              <a:solidFill>
                <a:schemeClr val="tx1"/>
              </a:solidFill>
              <a:latin typeface="华文楷体" panose="02010600040101010101" charset="-122"/>
              <a:ea typeface="华文楷体" panose="02010600040101010101" charset="-122"/>
              <a:cs typeface="华文楷体" panose="02010600040101010101" charset="-122"/>
            </a:endParaRPr>
          </a:p>
          <a:p>
            <a:pPr marL="0" indent="0"/>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数学定义：</a:t>
            </a:r>
            <a:endParaRPr lang="zh-CN" altLang="en-US" sz="1600" b="0" i="0">
              <a:solidFill>
                <a:schemeClr val="tx1"/>
              </a:solidFill>
              <a:latin typeface="华文楷体" panose="02010600040101010101" charset="-122"/>
              <a:ea typeface="华文楷体" panose="02010600040101010101" charset="-122"/>
              <a:cs typeface="华文楷体" panose="02010600040101010101" charset="-122"/>
            </a:endParaRPr>
          </a:p>
          <a:p>
            <a:pPr marL="0" indent="0"/>
            <a:r>
              <a:rPr lang="en-US" altLang="zh-CN" sz="1600" b="0" i="0">
                <a:solidFill>
                  <a:schemeClr val="tx1"/>
                </a:solidFill>
                <a:latin typeface="华文楷体" panose="02010600040101010101" charset="-122"/>
                <a:ea typeface="华文楷体" panose="02010600040101010101" charset="-122"/>
                <a:cs typeface="华文楷体" panose="02010600040101010101" charset="-122"/>
              </a:rPr>
              <a:t>∀x(v(x) ⇒ pᵥ(x))</a:t>
            </a:r>
            <a:endParaRPr lang="en-US" altLang="zh-CN" sz="1600" b="0" i="0">
              <a:solidFill>
                <a:schemeClr val="tx1"/>
              </a:solidFill>
              <a:latin typeface="华文楷体" panose="02010600040101010101" charset="-122"/>
              <a:ea typeface="华文楷体" panose="02010600040101010101" charset="-122"/>
              <a:cs typeface="华文楷体" panose="02010600040101010101" charset="-122"/>
            </a:endParaRPr>
          </a:p>
          <a:p>
            <a:pPr marL="0" indent="0"/>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a:t>
            </a:r>
            <a:r>
              <a:rPr lang="en-US" altLang="zh-CN" sz="1600" b="0" i="0">
                <a:solidFill>
                  <a:schemeClr val="tx1"/>
                </a:solidFill>
                <a:latin typeface="华文楷体" panose="02010600040101010101" charset="-122"/>
                <a:ea typeface="华文楷体" panose="02010600040101010101" charset="-122"/>
                <a:cs typeface="华文楷体" panose="02010600040101010101" charset="-122"/>
              </a:rPr>
              <a:t>pᵥ</a:t>
            </a:r>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是</a:t>
            </a:r>
            <a:r>
              <a:rPr lang="en-US" altLang="zh-CN" sz="1600" b="0" i="0">
                <a:solidFill>
                  <a:schemeClr val="tx1"/>
                </a:solidFill>
                <a:latin typeface="华文楷体" panose="02010600040101010101" charset="-122"/>
                <a:ea typeface="华文楷体" panose="02010600040101010101" charset="-122"/>
                <a:cs typeface="华文楷体" panose="02010600040101010101" charset="-122"/>
              </a:rPr>
              <a:t>v</a:t>
            </a:r>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在</a:t>
            </a:r>
            <a:r>
              <a:rPr lang="en-US" altLang="zh-CN" sz="1600" b="0" i="0">
                <a:solidFill>
                  <a:schemeClr val="tx1"/>
                </a:solidFill>
                <a:latin typeface="华文楷体" panose="02010600040101010101" charset="-122"/>
                <a:ea typeface="华文楷体" panose="02010600040101010101" charset="-122"/>
                <a:cs typeface="华文楷体" panose="02010600040101010101" charset="-122"/>
              </a:rPr>
              <a:t>T</a:t>
            </a:r>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中的唯一父节点）</a:t>
            </a:r>
            <a:endParaRPr lang="zh-CN" altLang="en-US" sz="1600" b="0" i="0">
              <a:solidFill>
                <a:schemeClr val="tx1"/>
              </a:solidFill>
              <a:latin typeface="华文楷体" panose="02010600040101010101" charset="-122"/>
              <a:ea typeface="华文楷体" panose="02010600040101010101" charset="-122"/>
              <a:cs typeface="华文楷体" panose="02010600040101010101" charset="-122"/>
            </a:endParaRPr>
          </a:p>
          <a:p>
            <a:pPr marL="0" indent="0"/>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实例：</a:t>
            </a:r>
            <a:endParaRPr lang="zh-CN" altLang="en-US" sz="1600" b="0" i="0">
              <a:solidFill>
                <a:schemeClr val="tx1"/>
              </a:solidFill>
              <a:latin typeface="华文楷体" panose="02010600040101010101" charset="-122"/>
              <a:ea typeface="华文楷体" panose="02010600040101010101" charset="-122"/>
              <a:cs typeface="华文楷体" panose="02010600040101010101" charset="-122"/>
            </a:endParaRPr>
          </a:p>
          <a:p>
            <a:pPr marL="0" indent="0"/>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检测到</a:t>
            </a:r>
            <a:r>
              <a:rPr lang="en-US" altLang="zh-CN" sz="1600" b="0" i="0">
                <a:solidFill>
                  <a:schemeClr val="tx1"/>
                </a:solidFill>
                <a:latin typeface="华文楷体" panose="02010600040101010101" charset="-122"/>
                <a:ea typeface="华文楷体" panose="02010600040101010101" charset="-122"/>
                <a:cs typeface="华文楷体" panose="02010600040101010101" charset="-122"/>
              </a:rPr>
              <a:t>"</a:t>
            </a:r>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锅具</a:t>
            </a:r>
            <a:r>
              <a:rPr lang="en-US" altLang="zh-CN" sz="1600" b="0" i="0">
                <a:solidFill>
                  <a:schemeClr val="tx1"/>
                </a:solidFill>
                <a:latin typeface="华文楷体" panose="02010600040101010101" charset="-122"/>
                <a:ea typeface="华文楷体" panose="02010600040101010101" charset="-122"/>
                <a:cs typeface="华文楷体" panose="02010600040101010101" charset="-122"/>
              </a:rPr>
              <a:t>" ⇒ </a:t>
            </a:r>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必须存在</a:t>
            </a:r>
            <a:r>
              <a:rPr lang="en-US" altLang="zh-CN" sz="1600" b="0" i="0">
                <a:solidFill>
                  <a:schemeClr val="tx1"/>
                </a:solidFill>
                <a:latin typeface="华文楷体" panose="02010600040101010101" charset="-122"/>
                <a:ea typeface="华文楷体" panose="02010600040101010101" charset="-122"/>
                <a:cs typeface="华文楷体" panose="02010600040101010101" charset="-122"/>
              </a:rPr>
              <a:t>"</a:t>
            </a:r>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餐具</a:t>
            </a:r>
            <a:r>
              <a:rPr lang="en-US" altLang="zh-CN" sz="1600" b="0" i="0">
                <a:solidFill>
                  <a:schemeClr val="tx1"/>
                </a:solidFill>
                <a:latin typeface="华文楷体" panose="02010600040101010101" charset="-122"/>
                <a:ea typeface="华文楷体" panose="02010600040101010101" charset="-122"/>
                <a:cs typeface="华文楷体" panose="02010600040101010101" charset="-122"/>
              </a:rPr>
              <a:t>"</a:t>
            </a:r>
            <a:r>
              <a:rPr lang="zh-CN" altLang="en-US" sz="1600" b="0" i="0">
                <a:solidFill>
                  <a:schemeClr val="tx1"/>
                </a:solidFill>
                <a:latin typeface="华文楷体" panose="02010600040101010101" charset="-122"/>
                <a:ea typeface="华文楷体" panose="02010600040101010101" charset="-122"/>
                <a:cs typeface="华文楷体" panose="02010600040101010101" charset="-122"/>
              </a:rPr>
              <a:t>标签</a:t>
            </a:r>
            <a:endParaRPr lang="zh-CN" altLang="en-US" sz="1600" b="0" i="0">
              <a:solidFill>
                <a:schemeClr val="tx1"/>
              </a:solidFill>
              <a:latin typeface="华文楷体" panose="02010600040101010101" charset="-122"/>
              <a:ea typeface="华文楷体" panose="02010600040101010101" charset="-122"/>
              <a:cs typeface="华文楷体" panose="02010600040101010101" charset="-122"/>
            </a:endParaRPr>
          </a:p>
        </p:txBody>
      </p:sp>
      <mc:AlternateContent xmlns:mc="http://schemas.openxmlformats.org/markup-compatibility/2006">
        <mc:Choice xmlns:a14="http://schemas.microsoft.com/office/drawing/2010/main" Requires="a14">
          <p:sp>
            <p:nvSpPr>
              <p:cNvPr id="7" name="文本框 6"/>
              <p:cNvSpPr txBox="1"/>
              <p:nvPr>
                <p:custDataLst>
                  <p:tags r:id="rId8"/>
                </p:custDataLst>
              </p:nvPr>
            </p:nvSpPr>
            <p:spPr>
              <a:xfrm>
                <a:off x="6401435" y="2927350"/>
                <a:ext cx="2470150" cy="3827145"/>
              </a:xfrm>
              <a:prstGeom prst="rect">
                <a:avLst/>
              </a:prstGeom>
            </p:spPr>
            <p:txBody>
              <a:bodyPr wrap="square">
                <a:spAutoFit/>
              </a:bodyPr>
              <a:p>
                <a:pPr marL="0" indent="0">
                  <a:spcAft>
                    <a:spcPct val="60000"/>
                  </a:spcAft>
                </a:pPr>
                <a:r>
                  <a:rPr lang="zh-CN" altLang="en-US" sz="1600" b="1" i="0">
                    <a:latin typeface="华文楷体" panose="02010600040101010101" charset="-122"/>
                    <a:ea typeface="华文楷体" panose="02010600040101010101" charset="-122"/>
                    <a:cs typeface="华文楷体" panose="02010600040101010101" charset="-122"/>
                  </a:rPr>
                  <a:t>2.分解规则(D-rule)</a:t>
                </a:r>
                <a:endParaRPr lang="zh-CN" altLang="en-US" sz="1600" b="1" i="0">
                  <a:latin typeface="华文楷体" panose="02010600040101010101" charset="-122"/>
                  <a:ea typeface="华文楷体" panose="02010600040101010101" charset="-122"/>
                  <a:cs typeface="华文楷体" panose="02010600040101010101" charset="-122"/>
                </a:endParaRPr>
              </a:p>
              <a:p>
                <a:pPr marL="0" indent="0"/>
                <a:r>
                  <a:rPr lang="zh-CN" altLang="en-US" sz="1600" b="0" i="0">
                    <a:latin typeface="华文楷体" panose="02010600040101010101" charset="-122"/>
                    <a:ea typeface="华文楷体" panose="02010600040101010101" charset="-122"/>
                    <a:cs typeface="华文楷体" panose="02010600040101010101" charset="-122"/>
                  </a:rPr>
                  <a:t>语义：父类实例必属于某个子类（向下细化）</a:t>
                </a:r>
                <a:endParaRPr lang="zh-CN" altLang="en-US" sz="1600" b="0" i="0">
                  <a:latin typeface="华文楷体" panose="02010600040101010101" charset="-122"/>
                  <a:ea typeface="华文楷体" panose="02010600040101010101" charset="-122"/>
                  <a:cs typeface="华文楷体" panose="02010600040101010101" charset="-122"/>
                </a:endParaRPr>
              </a:p>
              <a:p>
                <a:pPr marL="0" indent="0"/>
                <a:r>
                  <a:rPr lang="zh-CN" altLang="en-US" sz="1600" b="0" i="0">
                    <a:latin typeface="华文楷体" panose="02010600040101010101" charset="-122"/>
                    <a:ea typeface="华文楷体" panose="02010600040101010101" charset="-122"/>
                    <a:cs typeface="华文楷体" panose="02010600040101010101" charset="-122"/>
                  </a:rPr>
                  <a:t>形式化：</a:t>
                </a:r>
                <a:endParaRPr lang="zh-CN" altLang="en-US" sz="1600" b="0" i="0">
                  <a:latin typeface="华文楷体" panose="02010600040101010101" charset="-122"/>
                  <a:ea typeface="华文楷体" panose="02010600040101010101" charset="-122"/>
                  <a:cs typeface="华文楷体" panose="02010600040101010101" charset="-122"/>
                </a:endParaRPr>
              </a:p>
              <a:p>
                <a:pPr marL="0" indent="0"/>
                <a:r>
                  <a:rPr lang="zh-CN" altLang="en-US" sz="1600" b="0" i="0">
                    <a:latin typeface="华文楷体" panose="02010600040101010101" charset="-122"/>
                    <a:ea typeface="华文楷体" panose="02010600040101010101" charset="-122"/>
                    <a:cs typeface="华文楷体" panose="02010600040101010101" charset="-122"/>
                  </a:rPr>
                  <a:t>∀x(家具(x) ⇒ 床(x)∨椅子(x)∨...∨桌子(x))</a:t>
                </a:r>
                <a:endParaRPr lang="zh-CN" altLang="en-US" sz="1600" b="0" i="0">
                  <a:latin typeface="华文楷体" panose="02010600040101010101" charset="-122"/>
                  <a:ea typeface="华文楷体" panose="02010600040101010101" charset="-122"/>
                  <a:cs typeface="华文楷体" panose="02010600040101010101" charset="-122"/>
                </a:endParaRPr>
              </a:p>
              <a:p>
                <a:pPr marL="0" indent="0"/>
                <a:r>
                  <a:rPr lang="zh-CN" altLang="en-US" sz="1600" b="0" i="0">
                    <a:latin typeface="华文楷体" panose="02010600040101010101" charset="-122"/>
                    <a:ea typeface="华文楷体" panose="02010600040101010101" charset="-122"/>
                    <a:cs typeface="华文楷体" panose="02010600040101010101" charset="-122"/>
                  </a:rPr>
                  <a:t>数学定义：</a:t>
                </a:r>
                <a:endParaRPr lang="zh-CN" altLang="en-US" sz="1600" b="0" i="0">
                  <a:latin typeface="华文楷体" panose="02010600040101010101" charset="-122"/>
                  <a:ea typeface="华文楷体" panose="02010600040101010101" charset="-122"/>
                  <a:cs typeface="华文楷体" panose="02010600040101010101" charset="-122"/>
                </a:endParaRPr>
              </a:p>
              <a:p>
                <a:pPr marL="0" indent="0"/>
                <a:r>
                  <a:rPr lang="zh-CN" altLang="en-US" sz="1600" b="0" i="0">
                    <a:latin typeface="华文楷体" panose="02010600040101010101" charset="-122"/>
                    <a:ea typeface="华文楷体" panose="02010600040101010101" charset="-122"/>
                    <a:cs typeface="华文楷体" panose="02010600040101010101" charset="-122"/>
                  </a:rPr>
                  <a:t>∀x</a:t>
                </a:r>
                <a14:m>
                  <m:oMath xmlns:m="http://schemas.openxmlformats.org/officeDocument/2006/math">
                    <m:sSubSup>
                      <m:sSubSupPr>
                        <m:ctrlPr>
                          <a:rPr lang="zh-CN" altLang="en-US" sz="1600">
                            <a:latin typeface="华文楷体" panose="02010600040101010101" charset="-122"/>
                            <a:ea typeface="华文楷体" panose="02010600040101010101" charset="-122"/>
                            <a:cs typeface="华文楷体" panose="02010600040101010101" charset="-122"/>
                          </a:rPr>
                        </m:ctrlPr>
                      </m:sSubSupPr>
                      <m:e>
                        <m:r>
                          <a:rPr lang="zh-CN" altLang="en-US" sz="1600">
                            <a:latin typeface="华文楷体" panose="02010600040101010101" charset="-122"/>
                            <a:ea typeface="华文楷体" panose="02010600040101010101" charset="-122"/>
                            <a:cs typeface="华文楷体" panose="02010600040101010101" charset="-122"/>
                            <a:sym typeface="+mn-ea"/>
                          </a:rPr>
                          <m:t>(</m:t>
                        </m:r>
                        <m:r>
                          <a:rPr lang="zh-CN" altLang="en-US" sz="1600">
                            <a:latin typeface="华文楷体" panose="02010600040101010101" charset="-122"/>
                            <a:ea typeface="华文楷体" panose="02010600040101010101" charset="-122"/>
                            <a:cs typeface="华文楷体" panose="02010600040101010101" charset="-122"/>
                            <a:sym typeface="+mn-ea"/>
                          </a:rPr>
                          <m:t>𝑣</m:t>
                        </m:r>
                        <m:r>
                          <a:rPr lang="zh-CN" altLang="en-US" sz="1600">
                            <a:latin typeface="华文楷体" panose="02010600040101010101" charset="-122"/>
                            <a:ea typeface="华文楷体" panose="02010600040101010101" charset="-122"/>
                            <a:cs typeface="华文楷体" panose="02010600040101010101" charset="-122"/>
                            <a:sym typeface="+mn-ea"/>
                          </a:rPr>
                          <m:t>(</m:t>
                        </m:r>
                        <m:r>
                          <a:rPr lang="zh-CN" altLang="en-US" sz="1600">
                            <a:latin typeface="华文楷体" panose="02010600040101010101" charset="-122"/>
                            <a:ea typeface="华文楷体" panose="02010600040101010101" charset="-122"/>
                            <a:cs typeface="华文楷体" panose="02010600040101010101" charset="-122"/>
                            <a:sym typeface="+mn-ea"/>
                          </a:rPr>
                          <m:t>𝑥</m:t>
                        </m:r>
                        <m:r>
                          <a:rPr lang="zh-CN" altLang="en-US" sz="1600">
                            <a:latin typeface="华文楷体" panose="02010600040101010101" charset="-122"/>
                            <a:ea typeface="华文楷体" panose="02010600040101010101" charset="-122"/>
                            <a:cs typeface="华文楷体" panose="02010600040101010101" charset="-122"/>
                            <a:sym typeface="+mn-ea"/>
                          </a:rPr>
                          <m:t>) ⇒</m:t>
                        </m:r>
                        <m:r>
                          <a:rPr lang="zh-CN" altLang="en-US" sz="1600">
                            <a:latin typeface="华文楷体" panose="02010600040101010101" charset="-122"/>
                            <a:ea typeface="华文楷体" panose="02010600040101010101" charset="-122"/>
                            <a:cs typeface="华文楷体" panose="02010600040101010101" charset="-122"/>
                          </a:rPr>
                          <m:t>𝑐</m:t>
                        </m:r>
                      </m:e>
                      <m:sub>
                        <m:r>
                          <a:rPr lang="zh-CN" altLang="en-US" sz="1600">
                            <a:latin typeface="华文楷体" panose="02010600040101010101" charset="-122"/>
                            <a:ea typeface="华文楷体" panose="02010600040101010101" charset="-122"/>
                            <a:cs typeface="华文楷体" panose="02010600040101010101" charset="-122"/>
                          </a:rPr>
                          <m:t>𝑣</m:t>
                        </m:r>
                      </m:sub>
                      <m:sup>
                        <m:r>
                          <a:rPr lang="zh-CN" altLang="en-US" sz="1600">
                            <a:latin typeface="华文楷体" panose="02010600040101010101" charset="-122"/>
                            <a:ea typeface="华文楷体" panose="02010600040101010101" charset="-122"/>
                            <a:cs typeface="华文楷体" panose="02010600040101010101" charset="-122"/>
                          </a:rPr>
                          <m:t>1</m:t>
                        </m:r>
                      </m:sup>
                    </m:sSubSup>
                    <m:r>
                      <a:rPr lang="zh-CN" altLang="en-US" sz="1600">
                        <a:latin typeface="华文楷体" panose="02010600040101010101" charset="-122"/>
                        <a:ea typeface="华文楷体" panose="02010600040101010101" charset="-122"/>
                        <a:cs typeface="华文楷体" panose="02010600040101010101" charset="-122"/>
                      </a:rPr>
                      <m:t>(</m:t>
                    </m:r>
                    <m:r>
                      <m:rPr>
                        <m:sty m:val="p"/>
                      </m:rPr>
                      <a:rPr lang="en-US" altLang="zh-CN" sz="1600">
                        <a:latin typeface="华文楷体" panose="02010600040101010101" charset="-122"/>
                        <a:ea typeface="华文楷体" panose="02010600040101010101" charset="-122"/>
                        <a:cs typeface="华文楷体" panose="02010600040101010101" charset="-122"/>
                      </a:rPr>
                      <m:t>x</m:t>
                    </m:r>
                    <m:r>
                      <a:rPr lang="zh-CN" altLang="en-US" sz="1600">
                        <a:latin typeface="华文楷体" panose="02010600040101010101" charset="-122"/>
                        <a:ea typeface="华文楷体" panose="02010600040101010101" charset="-122"/>
                        <a:cs typeface="华文楷体" panose="02010600040101010101" charset="-122"/>
                      </a:rPr>
                      <m:t>)∨…∨</m:t>
                    </m:r>
                    <m:sSubSup>
                      <m:sSubSupPr>
                        <m:ctrlPr>
                          <a:rPr lang="zh-CN" altLang="en-US" sz="1600">
                            <a:latin typeface="华文楷体" panose="02010600040101010101" charset="-122"/>
                            <a:ea typeface="华文楷体" panose="02010600040101010101" charset="-122"/>
                            <a:cs typeface="华文楷体" panose="02010600040101010101" charset="-122"/>
                          </a:rPr>
                        </m:ctrlPr>
                      </m:sSubSupPr>
                      <m:e>
                        <m:r>
                          <a:rPr lang="zh-CN" altLang="en-US" sz="1600">
                            <a:latin typeface="华文楷体" panose="02010600040101010101" charset="-122"/>
                            <a:ea typeface="华文楷体" panose="02010600040101010101" charset="-122"/>
                            <a:cs typeface="华文楷体" panose="02010600040101010101" charset="-122"/>
                          </a:rPr>
                          <m:t>𝑐</m:t>
                        </m:r>
                      </m:e>
                      <m:sub>
                        <m:r>
                          <a:rPr lang="zh-CN" altLang="en-US" sz="1600">
                            <a:latin typeface="华文楷体" panose="02010600040101010101" charset="-122"/>
                            <a:ea typeface="华文楷体" panose="02010600040101010101" charset="-122"/>
                            <a:cs typeface="华文楷体" panose="02010600040101010101" charset="-122"/>
                          </a:rPr>
                          <m:t>𝑣</m:t>
                        </m:r>
                      </m:sub>
                      <m:sup>
                        <m:r>
                          <a:rPr lang="zh-CN" altLang="en-US" sz="1600">
                            <a:latin typeface="华文楷体" panose="02010600040101010101" charset="-122"/>
                            <a:ea typeface="华文楷体" panose="02010600040101010101" charset="-122"/>
                            <a:cs typeface="华文楷体" panose="02010600040101010101" charset="-122"/>
                          </a:rPr>
                          <m:t>𝑛</m:t>
                        </m:r>
                      </m:sup>
                    </m:sSubSup>
                    <m:r>
                      <a:rPr lang="zh-CN" altLang="en-US" sz="1600">
                        <a:latin typeface="华文楷体" panose="02010600040101010101" charset="-122"/>
                        <a:ea typeface="华文楷体" panose="02010600040101010101" charset="-122"/>
                        <a:cs typeface="华文楷体" panose="02010600040101010101" charset="-122"/>
                      </a:rPr>
                      <m:t>(</m:t>
                    </m:r>
                    <m:r>
                      <m:rPr>
                        <m:sty m:val="p"/>
                      </m:rPr>
                      <a:rPr lang="en-US" altLang="zh-CN" sz="1600">
                        <a:latin typeface="华文楷体" panose="02010600040101010101" charset="-122"/>
                        <a:ea typeface="华文楷体" panose="02010600040101010101" charset="-122"/>
                        <a:cs typeface="华文楷体" panose="02010600040101010101" charset="-122"/>
                      </a:rPr>
                      <m:t>x</m:t>
                    </m:r>
                    <m:r>
                      <a:rPr lang="zh-CN" altLang="en-US" sz="1600">
                        <a:latin typeface="华文楷体" panose="02010600040101010101" charset="-122"/>
                        <a:ea typeface="华文楷体" panose="02010600040101010101" charset="-122"/>
                        <a:cs typeface="华文楷体" panose="02010600040101010101" charset="-122"/>
                      </a:rPr>
                      <m:t>))</m:t>
                    </m:r>
                  </m:oMath>
                </a14:m>
                <a:r>
                  <a:rPr lang="zh-CN" altLang="en-US" sz="1600" b="0" i="0">
                    <a:latin typeface="华文楷体" panose="02010600040101010101" charset="-122"/>
                    <a:ea typeface="华文楷体" panose="02010600040101010101" charset="-122"/>
                    <a:cs typeface="华文楷体" panose="02010600040101010101" charset="-122"/>
                  </a:rPr>
                  <a:t> </a:t>
                </a:r>
                <a:endParaRPr lang="zh-CN" altLang="en-US" sz="1600" b="0" i="0">
                  <a:latin typeface="华文楷体" panose="02010600040101010101" charset="-122"/>
                  <a:ea typeface="华文楷体" panose="02010600040101010101" charset="-122"/>
                  <a:cs typeface="华文楷体" panose="02010600040101010101" charset="-122"/>
                </a:endParaRPr>
              </a:p>
              <a:p>
                <a:pPr marL="0" indent="0"/>
                <a:r>
                  <a:rPr lang="zh-CN" altLang="en-US" sz="1600" b="0" i="0">
                    <a:latin typeface="华文楷体" panose="02010600040101010101" charset="-122"/>
                    <a:ea typeface="华文楷体" panose="02010600040101010101" charset="-122"/>
                    <a:cs typeface="华文楷体" panose="02010600040101010101" charset="-122"/>
                  </a:rPr>
                  <a:t>（</a:t>
                </a:r>
                <a14:m>
                  <m:oMath xmlns:m="http://schemas.openxmlformats.org/officeDocument/2006/math">
                    <m:sSubSup>
                      <m:sSubSupPr>
                        <m:ctrlPr>
                          <a:rPr lang="zh-CN" altLang="en-US" sz="1600">
                            <a:latin typeface="华文楷体" panose="02010600040101010101" charset="-122"/>
                            <a:ea typeface="华文楷体" panose="02010600040101010101" charset="-122"/>
                            <a:cs typeface="华文楷体" panose="02010600040101010101" charset="-122"/>
                          </a:rPr>
                        </m:ctrlPr>
                      </m:sSubSupPr>
                      <m:e>
                        <m:r>
                          <a:rPr lang="zh-CN" altLang="en-US" sz="1600">
                            <a:latin typeface="华文楷体" panose="02010600040101010101" charset="-122"/>
                            <a:ea typeface="华文楷体" panose="02010600040101010101" charset="-122"/>
                            <a:cs typeface="华文楷体" panose="02010600040101010101" charset="-122"/>
                          </a:rPr>
                          <m:t>𝑐</m:t>
                        </m:r>
                      </m:e>
                      <m:sub>
                        <m:r>
                          <a:rPr lang="zh-CN" altLang="en-US" sz="1600">
                            <a:latin typeface="华文楷体" panose="02010600040101010101" charset="-122"/>
                            <a:ea typeface="华文楷体" panose="02010600040101010101" charset="-122"/>
                            <a:cs typeface="华文楷体" panose="02010600040101010101" charset="-122"/>
                          </a:rPr>
                          <m:t>𝑣</m:t>
                        </m:r>
                      </m:sub>
                      <m:sup>
                        <m:r>
                          <m:rPr>
                            <m:sty m:val="p"/>
                          </m:rPr>
                          <a:rPr lang="en-US" altLang="zh-CN" sz="1600">
                            <a:latin typeface="华文楷体" panose="02010600040101010101" charset="-122"/>
                            <a:ea typeface="华文楷体" panose="02010600040101010101" charset="-122"/>
                            <a:cs typeface="华文楷体" panose="02010600040101010101" charset="-122"/>
                          </a:rPr>
                          <m:t>i</m:t>
                        </m:r>
                      </m:sup>
                    </m:sSubSup>
                  </m:oMath>
                </a14:m>
                <a:r>
                  <a:rPr lang="zh-CN" altLang="en-US" sz="1600" b="0" i="0">
                    <a:latin typeface="华文楷体" panose="02010600040101010101" charset="-122"/>
                    <a:ea typeface="华文楷体" panose="02010600040101010101" charset="-122"/>
                    <a:cs typeface="华文楷体" panose="02010600040101010101" charset="-122"/>
                  </a:rPr>
                  <a:t>是v的所有子节点）</a:t>
                </a:r>
                <a:endParaRPr lang="zh-CN" altLang="en-US" sz="1600" b="0" i="0">
                  <a:latin typeface="华文楷体" panose="02010600040101010101" charset="-122"/>
                  <a:ea typeface="华文楷体" panose="02010600040101010101" charset="-122"/>
                  <a:cs typeface="华文楷体" panose="02010600040101010101" charset="-122"/>
                </a:endParaRPr>
              </a:p>
              <a:p>
                <a:pPr marL="0" indent="0"/>
                <a:r>
                  <a:rPr lang="zh-CN" altLang="en-US" sz="1600" b="0" i="0">
                    <a:latin typeface="华文楷体" panose="02010600040101010101" charset="-122"/>
                    <a:ea typeface="华文楷体" panose="02010600040101010101" charset="-122"/>
                    <a:cs typeface="华文楷体" panose="02010600040101010101" charset="-122"/>
                  </a:rPr>
                  <a:t>关键特性：</a:t>
                </a:r>
                <a:endParaRPr lang="zh-CN" altLang="en-US" sz="1600" b="0" i="0">
                  <a:latin typeface="华文楷体" panose="02010600040101010101" charset="-122"/>
                  <a:ea typeface="华文楷体" panose="02010600040101010101" charset="-122"/>
                  <a:cs typeface="华文楷体" panose="02010600040101010101" charset="-122"/>
                </a:endParaRPr>
              </a:p>
              <a:p>
                <a:pPr marL="0" indent="0"/>
                <a:r>
                  <a:rPr lang="zh-CN" altLang="en-US" sz="1600" b="0" i="0">
                    <a:latin typeface="华文楷体" panose="02010600040101010101" charset="-122"/>
                    <a:ea typeface="华文楷体" panose="02010600040101010101" charset="-122"/>
                    <a:cs typeface="华文楷体" panose="02010600040101010101" charset="-122"/>
                  </a:rPr>
                  <a:t>与C-rule非对称：知道"家具"存在，不能确定具体是"床"还是"椅子"</a:t>
                </a:r>
                <a:endParaRPr lang="zh-CN" altLang="en-US" sz="1600" b="0" i="0">
                  <a:latin typeface="华文楷体" panose="02010600040101010101" charset="-122"/>
                  <a:ea typeface="华文楷体" panose="02010600040101010101" charset="-122"/>
                  <a:cs typeface="华文楷体" panose="02010600040101010101" charset="-122"/>
                </a:endParaRPr>
              </a:p>
            </p:txBody>
          </p:sp>
        </mc:Choice>
        <mc:Fallback>
          <p:sp>
            <p:nvSpPr>
              <p:cNvPr id="7" name="文本框 6"/>
              <p:cNvSpPr txBox="1">
                <a:spLocks noRot="1" noChangeAspect="1" noMove="1" noResize="1" noEditPoints="1" noAdjustHandles="1" noChangeArrowheads="1" noChangeShapeType="1" noTextEdit="1"/>
              </p:cNvSpPr>
              <p:nvPr>
                <p:custDataLst>
                  <p:tags r:id="rId9"/>
                </p:custDataLst>
              </p:nvPr>
            </p:nvSpPr>
            <p:spPr>
              <a:xfrm>
                <a:off x="6401435" y="2927350"/>
                <a:ext cx="2470150" cy="3827145"/>
              </a:xfrm>
              <a:prstGeom prst="rect">
                <a:avLst/>
              </a:prstGeom>
              <a:blipFill rotWithShape="1">
                <a:blip r:embed="rId10"/>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custDataLst>
                  <p:tags r:id="rId11"/>
                </p:custDataLst>
              </p:nvPr>
            </p:nvSpPr>
            <p:spPr>
              <a:xfrm>
                <a:off x="9118600" y="2913380"/>
                <a:ext cx="2590165" cy="3470275"/>
              </a:xfrm>
              <a:prstGeom prst="rect">
                <a:avLst/>
              </a:prstGeom>
            </p:spPr>
            <p:txBody>
              <a:bodyPr wrap="square">
                <a:spAutoFit/>
              </a:bodyPr>
              <a:p>
                <a:pPr marL="0" algn="l">
                  <a:spcAft>
                    <a:spcPct val="60000"/>
                  </a:spcAft>
                  <a:buClrTx/>
                  <a:buSzTx/>
                  <a:buFontTx/>
                </a:pPr>
                <a:r>
                  <a:rPr lang="en-US" altLang="zh-CN" sz="1600" b="1" i="0">
                    <a:latin typeface="华文楷体" panose="02010600040101010101" charset="-122"/>
                    <a:ea typeface="华文楷体" panose="02010600040101010101" charset="-122"/>
                    <a:cs typeface="华文楷体" panose="02010600040101010101" charset="-122"/>
                  </a:rPr>
                  <a:t>3.</a:t>
                </a:r>
                <a:r>
                  <a:rPr lang="zh-CN" altLang="en-US" sz="1600" b="1" i="0">
                    <a:latin typeface="华文楷体" panose="02010600040101010101" charset="-122"/>
                    <a:ea typeface="华文楷体" panose="02010600040101010101" charset="-122"/>
                    <a:cs typeface="华文楷体" panose="02010600040101010101" charset="-122"/>
                  </a:rPr>
                  <a:t>互斥规则(E-rule)</a:t>
                </a:r>
                <a:endParaRPr lang="zh-CN" altLang="en-US" sz="1600" b="1" i="0">
                  <a:latin typeface="华文楷体" panose="02010600040101010101" charset="-122"/>
                  <a:ea typeface="华文楷体" panose="02010600040101010101" charset="-122"/>
                  <a:cs typeface="华文楷体" panose="02010600040101010101" charset="-122"/>
                </a:endParaRPr>
              </a:p>
              <a:p>
                <a:pPr marL="0" indent="0"/>
                <a:r>
                  <a:rPr lang="en-US" altLang="zh-CN" sz="1600" b="0" i="0">
                    <a:latin typeface="华文楷体" panose="02010600040101010101" charset="-122"/>
                    <a:ea typeface="华文楷体" panose="02010600040101010101" charset="-122"/>
                    <a:cs typeface="华文楷体" panose="02010600040101010101" charset="-122"/>
                  </a:rPr>
                  <a:t>语义：兄弟类互不共存（横向约束）</a:t>
                </a:r>
                <a:endParaRPr lang="en-US" altLang="zh-CN" sz="1600" b="0" i="0">
                  <a:latin typeface="华文楷体" panose="02010600040101010101" charset="-122"/>
                  <a:ea typeface="华文楷体" panose="02010600040101010101" charset="-122"/>
                  <a:cs typeface="华文楷体" panose="02010600040101010101" charset="-122"/>
                </a:endParaRPr>
              </a:p>
              <a:p>
                <a:pPr marL="0" indent="0"/>
                <a:r>
                  <a:rPr lang="en-US" altLang="zh-CN" sz="1600" b="0" i="0">
                    <a:latin typeface="华文楷体" panose="02010600040101010101" charset="-122"/>
                    <a:ea typeface="华文楷体" panose="02010600040101010101" charset="-122"/>
                    <a:cs typeface="华文楷体" panose="02010600040101010101" charset="-122"/>
                  </a:rPr>
                  <a:t>形式化：</a:t>
                </a:r>
                <a:endParaRPr lang="en-US" altLang="zh-CN" sz="1600" b="0" i="0">
                  <a:latin typeface="华文楷体" panose="02010600040101010101" charset="-122"/>
                  <a:ea typeface="华文楷体" panose="02010600040101010101" charset="-122"/>
                  <a:cs typeface="华文楷体" panose="02010600040101010101" charset="-122"/>
                </a:endParaRPr>
              </a:p>
              <a:p>
                <a:pPr marL="0" indent="0"/>
                <a:r>
                  <a:rPr lang="en-US" altLang="zh-CN" sz="1600" b="0" i="0">
                    <a:latin typeface="华文楷体" panose="02010600040101010101" charset="-122"/>
                    <a:ea typeface="华文楷体" panose="02010600040101010101" charset="-122"/>
                    <a:cs typeface="华文楷体" panose="02010600040101010101" charset="-122"/>
                  </a:rPr>
                  <a:t>∀x(床(x) ⇒ ¬椅子(x))</a:t>
                </a:r>
                <a:endParaRPr lang="en-US" altLang="zh-CN" sz="1600" b="0" i="0">
                  <a:latin typeface="华文楷体" panose="02010600040101010101" charset="-122"/>
                  <a:ea typeface="华文楷体" panose="02010600040101010101" charset="-122"/>
                  <a:cs typeface="华文楷体" panose="02010600040101010101" charset="-122"/>
                </a:endParaRPr>
              </a:p>
              <a:p>
                <a:pPr marL="0" indent="0"/>
                <a:r>
                  <a:rPr lang="en-US" altLang="zh-CN" sz="1600" b="0" i="0">
                    <a:latin typeface="华文楷体" panose="02010600040101010101" charset="-122"/>
                    <a:ea typeface="华文楷体" panose="02010600040101010101" charset="-122"/>
                    <a:cs typeface="华文楷体" panose="02010600040101010101" charset="-122"/>
                  </a:rPr>
                  <a:t>数学定义：</a:t>
                </a:r>
                <a:endParaRPr lang="en-US" altLang="zh-CN" sz="1600" b="0" i="0">
                  <a:latin typeface="华文楷体" panose="02010600040101010101" charset="-122"/>
                  <a:ea typeface="华文楷体" panose="02010600040101010101" charset="-122"/>
                  <a:cs typeface="华文楷体" panose="02010600040101010101" charset="-122"/>
                </a:endParaRPr>
              </a:p>
              <a:p>
                <a:pPr marL="0" indent="0"/>
                <a:r>
                  <a:rPr lang="en-US" altLang="zh-CN" sz="1600" b="0" i="0">
                    <a:latin typeface="华文楷体" panose="02010600040101010101" charset="-122"/>
                    <a:ea typeface="华文楷体" panose="02010600040101010101" charset="-122"/>
                    <a:cs typeface="华文楷体" panose="02010600040101010101" charset="-122"/>
                  </a:rPr>
                  <a:t>∀x(</a:t>
                </a:r>
                <a14:m>
                  <m:oMath xmlns:m="http://schemas.openxmlformats.org/officeDocument/2006/math">
                    <m:r>
                      <a:rPr lang="en-US" altLang="zh-CN" sz="1600" i="1">
                        <a:latin typeface="Cambria Math" panose="02040503050406030204" charset="0"/>
                        <a:cs typeface="Cambria Math" panose="02040503050406030204" charset="0"/>
                      </a:rPr>
                      <m:t>𝑣</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𝑥</m:t>
                    </m:r>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𝑎</m:t>
                        </m:r>
                      </m:e>
                      <m:sub>
                        <m:r>
                          <a:rPr lang="en-US" altLang="zh-CN" sz="1600" i="1">
                            <a:latin typeface="Cambria Math" panose="02040503050406030204" charset="0"/>
                            <a:cs typeface="Cambria Math" panose="02040503050406030204" charset="0"/>
                          </a:rPr>
                          <m:t>𝑣</m:t>
                        </m:r>
                      </m:sub>
                      <m:sup>
                        <m:r>
                          <a:rPr lang="en-US" altLang="zh-CN" sz="1600" i="1">
                            <a:latin typeface="Cambria Math" panose="02040503050406030204" charset="0"/>
                            <a:cs typeface="Cambria Math" panose="02040503050406030204" charset="0"/>
                          </a:rPr>
                          <m:t>1</m:t>
                        </m:r>
                      </m:sup>
                    </m:sSubSup>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𝑥</m:t>
                    </m:r>
                    <m:r>
                      <a:rPr lang="en-US" altLang="zh-CN" sz="1600" i="1">
                        <a:latin typeface="Cambria Math" panose="02040503050406030204" charset="0"/>
                        <a:cs typeface="Cambria Math" panose="02040503050406030204" charset="0"/>
                      </a:rPr>
                      <m:t>)</m:t>
                    </m:r>
                    <m:r>
                      <a:rPr lang="en-US" altLang="zh-CN" sz="1600">
                        <a:latin typeface="Cambria Math" panose="02040503050406030204" charset="0"/>
                      </a:rPr>
                      <m:t>∧…</m:t>
                    </m:r>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𝑎</m:t>
                        </m:r>
                      </m:e>
                      <m:sub>
                        <m:r>
                          <a:rPr lang="en-US" altLang="zh-CN" sz="1600" i="1">
                            <a:latin typeface="Cambria Math" panose="02040503050406030204" charset="0"/>
                            <a:cs typeface="Cambria Math" panose="02040503050406030204" charset="0"/>
                          </a:rPr>
                          <m:t>𝑣</m:t>
                        </m:r>
                      </m:sub>
                      <m:sup>
                        <m:r>
                          <a:rPr lang="en-US" altLang="zh-CN" sz="1600" i="1">
                            <a:latin typeface="Cambria Math" panose="02040503050406030204" charset="0"/>
                            <a:cs typeface="Cambria Math" panose="02040503050406030204" charset="0"/>
                          </a:rPr>
                          <m:t>𝑀</m:t>
                        </m:r>
                      </m:sup>
                    </m:sSubSup>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𝑥</m:t>
                    </m:r>
                    <m:r>
                      <a:rPr lang="en-US" altLang="zh-CN" sz="1600" i="1">
                        <a:latin typeface="Cambria Math" panose="02040503050406030204" charset="0"/>
                        <a:cs typeface="Cambria Math" panose="02040503050406030204" charset="0"/>
                      </a:rPr>
                      <m:t>))</m:t>
                    </m:r>
                  </m:oMath>
                </a14:m>
                <a:endParaRPr lang="en-US" altLang="zh-CN" sz="1600" b="0" i="0">
                  <a:latin typeface="华文楷体" panose="02010600040101010101" charset="-122"/>
                  <a:ea typeface="华文楷体" panose="02010600040101010101" charset="-122"/>
                  <a:cs typeface="华文楷体" panose="02010600040101010101" charset="-122"/>
                </a:endParaRPr>
              </a:p>
              <a:p>
                <a:pPr marL="0" indent="0"/>
                <a:r>
                  <a:rPr lang="en-US" altLang="zh-CN" sz="1600" b="0" i="0">
                    <a:latin typeface="华文楷体" panose="02010600040101010101" charset="-122"/>
                    <a:ea typeface="华文楷体" panose="02010600040101010101" charset="-122"/>
                    <a:cs typeface="华文楷体" panose="02010600040101010101" charset="-122"/>
                  </a:rPr>
                  <a:t>（</a:t>
                </a:r>
                <a14:m>
                  <m:oMath xmlns:m="http://schemas.openxmlformats.org/officeDocument/2006/math">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𝑎</m:t>
                        </m:r>
                      </m:e>
                      <m:sub>
                        <m:r>
                          <a:rPr lang="en-US" altLang="zh-CN" sz="1600" i="1">
                            <a:latin typeface="Cambria Math" panose="02040503050406030204" charset="0"/>
                            <a:cs typeface="Cambria Math" panose="02040503050406030204" charset="0"/>
                          </a:rPr>
                          <m:t>𝑣</m:t>
                        </m:r>
                      </m:sub>
                      <m:sup>
                        <m:r>
                          <a:rPr lang="en-US" altLang="zh-CN" sz="1600" i="1">
                            <a:latin typeface="Cambria Math" panose="02040503050406030204" charset="0"/>
                            <a:cs typeface="Cambria Math" panose="02040503050406030204" charset="0"/>
                          </a:rPr>
                          <m:t>𝑀</m:t>
                        </m:r>
                      </m:sup>
                    </m:sSubSup>
                  </m:oMath>
                </a14:m>
                <a:r>
                  <a:rPr lang="en-US" altLang="zh-CN" sz="1600" b="0" i="0">
                    <a:latin typeface="华文楷体" panose="02010600040101010101" charset="-122"/>
                    <a:ea typeface="华文楷体" panose="02010600040101010101" charset="-122"/>
                    <a:cs typeface="华文楷体" panose="02010600040101010101" charset="-122"/>
                  </a:rPr>
                  <a:t>是v的所有兄弟节点）</a:t>
                </a:r>
                <a:endParaRPr lang="en-US" altLang="zh-CN" sz="1600" b="0" i="0">
                  <a:latin typeface="华文楷体" panose="02010600040101010101" charset="-122"/>
                  <a:ea typeface="华文楷体" panose="02010600040101010101" charset="-122"/>
                  <a:cs typeface="华文楷体" panose="02010600040101010101" charset="-122"/>
                </a:endParaRPr>
              </a:p>
              <a:p>
                <a:pPr marL="0" indent="0"/>
                <a:r>
                  <a:rPr lang="en-US" altLang="zh-CN" sz="1600" b="0" i="0">
                    <a:latin typeface="华文楷体" panose="02010600040101010101" charset="-122"/>
                    <a:ea typeface="华文楷体" panose="02010600040101010101" charset="-122"/>
                    <a:cs typeface="华文楷体" panose="02010600040101010101" charset="-122"/>
                  </a:rPr>
                  <a:t>创新点：</a:t>
                </a:r>
                <a:endParaRPr lang="en-US" altLang="zh-CN" sz="1600" b="0" i="0">
                  <a:latin typeface="华文楷体" panose="02010600040101010101" charset="-122"/>
                  <a:ea typeface="华文楷体" panose="02010600040101010101" charset="-122"/>
                  <a:cs typeface="华文楷体" panose="02010600040101010101" charset="-122"/>
                </a:endParaRPr>
              </a:p>
              <a:p>
                <a:pPr marL="0" algn="l">
                  <a:buClrTx/>
                  <a:buSzTx/>
                  <a:buNone/>
                </a:pPr>
                <a:r>
                  <a:rPr lang="en-US" altLang="zh-CN" sz="1600" b="0" i="0">
                    <a:latin typeface="华文楷体" panose="02010600040101010101" charset="-122"/>
                    <a:ea typeface="华文楷体" panose="02010600040101010101" charset="-122"/>
                    <a:cs typeface="华文楷体" panose="02010600040101010101" charset="-122"/>
                  </a:rPr>
                  <a:t>现有方法普遍忽略此类约束，导致"餐具与家具共存"等逻辑错误</a:t>
                </a:r>
                <a:endParaRPr lang="en-US" altLang="zh-CN" sz="1600" b="0" i="0">
                  <a:latin typeface="华文楷体" panose="02010600040101010101" charset="-122"/>
                  <a:ea typeface="华文楷体" panose="02010600040101010101" charset="-122"/>
                  <a:cs typeface="华文楷体" panose="02010600040101010101" charset="-122"/>
                </a:endParaRPr>
              </a:p>
            </p:txBody>
          </p:sp>
        </mc:Choice>
        <mc:Fallback>
          <p:sp>
            <p:nvSpPr>
              <p:cNvPr id="12" name="文本框 11"/>
              <p:cNvSpPr txBox="1">
                <a:spLocks noRot="1" noChangeAspect="1" noMove="1" noResize="1" noEditPoints="1" noAdjustHandles="1" noChangeArrowheads="1" noChangeShapeType="1" noTextEdit="1"/>
              </p:cNvSpPr>
              <p:nvPr>
                <p:custDataLst>
                  <p:tags r:id="rId12"/>
                </p:custDataLst>
              </p:nvPr>
            </p:nvSpPr>
            <p:spPr>
              <a:xfrm>
                <a:off x="9118600" y="2913380"/>
                <a:ext cx="2590165" cy="3470275"/>
              </a:xfrm>
              <a:prstGeom prst="rect">
                <a:avLst/>
              </a:prstGeom>
              <a:blipFill rotWithShape="1">
                <a:blip r:embed="rId13"/>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矩形 6"/>
          <p:cNvSpPr>
            <a:spLocks noChangeArrowheads="1"/>
          </p:cNvSpPr>
          <p:nvPr>
            <p:custDataLst>
              <p:tags r:id="rId1"/>
            </p:custDataLst>
          </p:nvPr>
        </p:nvSpPr>
        <p:spPr bwMode="auto">
          <a:xfrm>
            <a:off x="847725" y="970915"/>
            <a:ext cx="4850765" cy="2072640"/>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19" name="矩形 18"/>
          <p:cNvSpPr>
            <a:spLocks noChangeArrowheads="1"/>
          </p:cNvSpPr>
          <p:nvPr>
            <p:custDataLst>
              <p:tags r:id="rId2"/>
            </p:custDataLst>
          </p:nvPr>
        </p:nvSpPr>
        <p:spPr bwMode="auto">
          <a:xfrm>
            <a:off x="6024880" y="4165600"/>
            <a:ext cx="5436235" cy="146748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16" name="矩形 15"/>
          <p:cNvSpPr>
            <a:spLocks noChangeArrowheads="1"/>
          </p:cNvSpPr>
          <p:nvPr>
            <p:custDataLst>
              <p:tags r:id="rId3"/>
            </p:custDataLst>
          </p:nvPr>
        </p:nvSpPr>
        <p:spPr bwMode="auto">
          <a:xfrm>
            <a:off x="6024880" y="954405"/>
            <a:ext cx="5436870" cy="1441450"/>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8" name="矩形 7"/>
          <p:cNvSpPr>
            <a:spLocks noChangeArrowheads="1"/>
          </p:cNvSpPr>
          <p:nvPr>
            <p:custDataLst>
              <p:tags r:id="rId4"/>
            </p:custDataLst>
          </p:nvPr>
        </p:nvSpPr>
        <p:spPr bwMode="auto">
          <a:xfrm>
            <a:off x="6055360" y="2550795"/>
            <a:ext cx="5405120" cy="144462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17" name="矩形 16"/>
          <p:cNvSpPr>
            <a:spLocks noChangeArrowheads="1"/>
          </p:cNvSpPr>
          <p:nvPr>
            <p:custDataLst>
              <p:tags r:id="rId5"/>
            </p:custDataLst>
          </p:nvPr>
        </p:nvSpPr>
        <p:spPr bwMode="auto">
          <a:xfrm>
            <a:off x="847725" y="3268345"/>
            <a:ext cx="4850765" cy="325310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23" name="矩形 22"/>
          <p:cNvSpPr/>
          <p:nvPr/>
        </p:nvSpPr>
        <p:spPr>
          <a:xfrm>
            <a:off x="1152000" y="288000"/>
            <a:ext cx="29260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lang="zh-CN" altLang="en-US" sz="3600" b="1" kern="0" noProof="0" dirty="0">
                <a:ln>
                  <a:noFill/>
                </a:ln>
                <a:solidFill>
                  <a:prstClr val="black">
                    <a:lumMod val="95000"/>
                    <a:lumOff val="5000"/>
                  </a:prstClr>
                </a:solidFill>
                <a:effectLst/>
                <a:uLnTx/>
                <a:uFillTx/>
                <a:latin typeface="微软雅黑" panose="020B0503020204020204" charset="-122"/>
                <a:ea typeface="微软雅黑" panose="020B0503020204020204" charset="-122"/>
                <a:sym typeface="+mn-ea"/>
              </a:rPr>
              <a:t>逻辑诱导训练</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944245" y="3345815"/>
                <a:ext cx="4754245" cy="3148330"/>
              </a:xfrm>
              <a:prstGeom prst="rect">
                <a:avLst/>
              </a:prstGeom>
            </p:spPr>
            <p:txBody>
              <a:bodyPr wrap="square">
                <a:noAutofit/>
              </a:bodyPr>
              <a:p>
                <a:pPr marL="0" indent="0">
                  <a:spcBef>
                    <a:spcPct val="0"/>
                  </a:spcBef>
                  <a:spcAft>
                    <a:spcPct val="0"/>
                  </a:spcAft>
                  <a:buNone/>
                </a:pP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采用基于</a:t>
                </a:r>
                <a:r>
                  <a:rPr lang="zh-CN" altLang="en-US" sz="1600" b="1" i="0">
                    <a:solidFill>
                      <a:srgbClr val="FF0000"/>
                    </a:solidFill>
                    <a:latin typeface="华文楷体" panose="02010600040101010101" charset="-122"/>
                    <a:ea typeface="华文楷体" panose="02010600040101010101" charset="-122"/>
                    <a:cs typeface="华文楷体" panose="02010600040101010101" charset="-122"/>
                  </a:rPr>
                  <a:t>模糊逻辑</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的接地过程，将逻辑公式解释为可微分的模糊关系，以适配神经网络计算</a:t>
                </a:r>
                <a:endParaRPr lang="zh-CN" altLang="en-US" sz="1700" b="1"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None/>
                </a:pP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逻辑连接词（</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）通过模糊算子近似：</a:t>
                </a:r>
                <a:endParaRPr lang="en-US" altLang="zh-CN" sz="1600"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None/>
                </a:pP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合取：</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ϕ</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 ∧ φ = </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ϕ</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 · φ</a:t>
                </a:r>
                <a:endParaRPr lang="en-US" altLang="zh-CN" sz="1600"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None/>
                </a:pP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析取：</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ϕ</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 ∨ φ = max(</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ϕ</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 φ)</a:t>
                </a:r>
                <a:endParaRPr lang="en-US" altLang="zh-CN" sz="1600"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None/>
                </a:pP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否定：</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ϕ</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 = 1 − </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ϕ</a:t>
                </a:r>
                <a:endParaRPr lang="en-US" altLang="zh-CN" sz="1600"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None/>
                </a:pP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蕴含：</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ϕ</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 </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 φ = 1 − </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ϕ</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 + </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ϕ</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 · φ</a:t>
                </a:r>
                <a:endParaRPr lang="en-US" altLang="zh-CN" sz="1600"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None/>
                </a:pP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存在量词</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和全称量词</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通过广义均值近似：</a:t>
                </a:r>
                <a:endParaRPr lang="zh-CN" altLang="en-US" sz="1600"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None/>
                </a:pP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∃x  </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ϕ</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(x) = </a:t>
                </a:r>
                <a14:m>
                  <m:oMath xmlns:m="http://schemas.openxmlformats.org/officeDocument/2006/math">
                    <m:sSup>
                      <m:sSupPr>
                        <m:ctrlPr>
                          <a:rPr lang="en-US" altLang="zh-CN" sz="1600" i="1">
                            <a:solidFill>
                              <a:schemeClr val="tx1"/>
                            </a:solidFill>
                            <a:latin typeface="Cambria Math" panose="02040503050406030204" charset="0"/>
                            <a:ea typeface="华文楷体" panose="02010600040101010101" charset="-122"/>
                            <a:cs typeface="Cambria Math" panose="02040503050406030204" charset="0"/>
                          </a:rPr>
                        </m:ctrlPr>
                      </m:sSupPr>
                      <m:e>
                        <m:r>
                          <a:rPr lang="en-US" altLang="zh-CN" sz="1600" i="1">
                            <a:solidFill>
                              <a:schemeClr val="tx1"/>
                            </a:solidFill>
                            <a:latin typeface="Cambria Math" panose="02040503050406030204" charset="0"/>
                            <a:ea typeface="华文楷体" panose="02010600040101010101" charset="-122"/>
                            <a:cs typeface="Cambria Math" panose="02040503050406030204" charset="0"/>
                          </a:rPr>
                          <m:t>(</m:t>
                        </m:r>
                        <m:f>
                          <m:fPr>
                            <m:ctrlPr>
                              <a:rPr lang="en-US" altLang="zh-CN" sz="160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60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600" i="1">
                                <a:solidFill>
                                  <a:schemeClr val="tx1"/>
                                </a:solidFill>
                                <a:latin typeface="Cambria Math" panose="02040503050406030204" charset="0"/>
                                <a:ea typeface="华文楷体" panose="02010600040101010101" charset="-122"/>
                                <a:cs typeface="Cambria Math" panose="02040503050406030204" charset="0"/>
                              </a:rPr>
                              <m:t>𝐾</m:t>
                            </m:r>
                          </m:den>
                        </m:f>
                        <m:nary>
                          <m:naryPr>
                            <m:chr m:val="∑"/>
                            <m:limLoc m:val="undOvr"/>
                            <m:ctrlPr>
                              <a:rPr lang="en-US" altLang="zh-CN" sz="1600" i="1">
                                <a:solidFill>
                                  <a:schemeClr val="tx1"/>
                                </a:solidFill>
                                <a:latin typeface="Cambria Math" panose="02040503050406030204" charset="0"/>
                                <a:ea typeface="华文楷体" panose="02010600040101010101" charset="-122"/>
                                <a:cs typeface="Cambria Math" panose="02040503050406030204" charset="0"/>
                              </a:rPr>
                            </m:ctrlPr>
                          </m:naryPr>
                          <m:sub>
                            <m:r>
                              <a:rPr lang="en-US" altLang="zh-CN" sz="1600" i="1">
                                <a:solidFill>
                                  <a:schemeClr val="tx1"/>
                                </a:solidFill>
                                <a:latin typeface="Cambria Math" panose="02040503050406030204" charset="0"/>
                                <a:ea typeface="华文楷体" panose="02010600040101010101" charset="-122"/>
                                <a:cs typeface="Cambria Math" panose="02040503050406030204" charset="0"/>
                              </a:rPr>
                              <m:t>𝑘</m:t>
                            </m:r>
                            <m:r>
                              <a:rPr lang="en-US" altLang="zh-CN" sz="1600" i="1">
                                <a:solidFill>
                                  <a:schemeClr val="tx1"/>
                                </a:solidFill>
                                <a:latin typeface="Cambria Math" panose="02040503050406030204" charset="0"/>
                                <a:ea typeface="华文楷体" panose="02010600040101010101" charset="-122"/>
                                <a:cs typeface="Cambria Math" panose="02040503050406030204" charset="0"/>
                              </a:rPr>
                              <m:t>=</m:t>
                            </m:r>
                            <m:r>
                              <a:rPr lang="en-US" altLang="zh-CN" sz="1600" i="1">
                                <a:solidFill>
                                  <a:schemeClr val="tx1"/>
                                </a:solidFill>
                                <a:latin typeface="Cambria Math" panose="02040503050406030204" charset="0"/>
                                <a:ea typeface="华文楷体" panose="02010600040101010101" charset="-122"/>
                                <a:cs typeface="Cambria Math" panose="02040503050406030204" charset="0"/>
                              </a:rPr>
                              <m:t>1</m:t>
                            </m:r>
                          </m:sub>
                          <m:sup>
                            <m:r>
                              <a:rPr lang="en-US" altLang="zh-CN" sz="1600" i="1">
                                <a:solidFill>
                                  <a:schemeClr val="tx1"/>
                                </a:solidFill>
                                <a:latin typeface="Cambria Math" panose="02040503050406030204" charset="0"/>
                                <a:ea typeface="华文楷体" panose="02010600040101010101" charset="-122"/>
                                <a:cs typeface="Cambria Math" panose="02040503050406030204" charset="0"/>
                              </a:rPr>
                              <m:t>𝐾</m:t>
                            </m:r>
                          </m:sup>
                          <m:e>
                            <m:sSup>
                              <m:sSupPr>
                                <m:ctrlPr>
                                  <a:rPr lang="en-US" altLang="zh-CN" sz="1600" i="1">
                                    <a:solidFill>
                                      <a:schemeClr val="tx1"/>
                                    </a:solidFill>
                                    <a:latin typeface="Cambria Math" panose="02040503050406030204" charset="0"/>
                                    <a:ea typeface="华文楷体" panose="02010600040101010101" charset="-122"/>
                                    <a:cs typeface="Cambria Math" panose="02040503050406030204" charset="0"/>
                                  </a:rPr>
                                </m:ctrlPr>
                              </m:sSupPr>
                              <m:e>
                                <m:r>
                                  <a:rPr lang="en-US" altLang="en-US" sz="1600">
                                    <a:latin typeface="华文楷体" panose="02010600040101010101" charset="-122"/>
                                    <a:ea typeface="华文楷体" panose="02010600040101010101" charset="-122"/>
                                    <a:cs typeface="华文楷体" panose="02010600040101010101" charset="-122"/>
                                    <a:sym typeface="+mn-ea"/>
                                  </a:rPr>
                                  <m:t>𝜙</m:t>
                                </m:r>
                                <m:r>
                                  <a:rPr lang="en-US" altLang="zh-CN" sz="1600">
                                    <a:latin typeface="华文楷体" panose="02010600040101010101" charset="-122"/>
                                    <a:ea typeface="华文楷体" panose="02010600040101010101" charset="-122"/>
                                    <a:cs typeface="华文楷体" panose="02010600040101010101" charset="-122"/>
                                    <a:sym typeface="+mn-ea"/>
                                  </a:rPr>
                                  <m:t>(</m:t>
                                </m:r>
                                <m:sSub>
                                  <m:sSubPr>
                                    <m:ctrlPr>
                                      <a:rPr lang="en-US" altLang="zh-CN" sz="1600" i="1">
                                        <a:latin typeface="Cambria Math" panose="02040503050406030204" charset="0"/>
                                        <a:ea typeface="华文楷体" panose="02010600040101010101" charset="-122"/>
                                        <a:cs typeface="Cambria Math" panose="02040503050406030204" charset="0"/>
                                        <a:sym typeface="+mn-ea"/>
                                      </a:rPr>
                                    </m:ctrlPr>
                                  </m:sSubPr>
                                  <m:e>
                                    <m:r>
                                      <a:rPr lang="en-US" altLang="zh-CN" sz="1600" i="1">
                                        <a:latin typeface="Cambria Math" panose="02040503050406030204" charset="0"/>
                                        <a:ea typeface="华文楷体" panose="02010600040101010101" charset="-122"/>
                                        <a:cs typeface="Cambria Math" panose="02040503050406030204" charset="0"/>
                                        <a:sym typeface="+mn-ea"/>
                                      </a:rPr>
                                      <m:t>𝑥</m:t>
                                    </m:r>
                                  </m:e>
                                  <m:sub>
                                    <m:r>
                                      <a:rPr lang="en-US" altLang="zh-CN" sz="1600" i="1">
                                        <a:latin typeface="Cambria Math" panose="02040503050406030204" charset="0"/>
                                        <a:ea typeface="华文楷体" panose="02010600040101010101" charset="-122"/>
                                        <a:cs typeface="Cambria Math" panose="02040503050406030204" charset="0"/>
                                        <a:sym typeface="+mn-ea"/>
                                      </a:rPr>
                                      <m:t>𝑘</m:t>
                                    </m:r>
                                  </m:sub>
                                </m:sSub>
                                <m:r>
                                  <a:rPr lang="en-US" altLang="zh-CN" sz="1600">
                                    <a:latin typeface="华文楷体" panose="02010600040101010101" charset="-122"/>
                                    <a:ea typeface="华文楷体" panose="02010600040101010101" charset="-122"/>
                                    <a:cs typeface="华文楷体" panose="02010600040101010101" charset="-122"/>
                                    <a:sym typeface="+mn-ea"/>
                                  </a:rPr>
                                  <m:t>)</m:t>
                                </m:r>
                              </m:e>
                              <m:sup>
                                <m:r>
                                  <a:rPr lang="en-US" altLang="zh-CN" sz="1600" i="1">
                                    <a:solidFill>
                                      <a:schemeClr val="tx1"/>
                                    </a:solidFill>
                                    <a:latin typeface="Cambria Math" panose="02040503050406030204" charset="0"/>
                                    <a:ea typeface="华文楷体" panose="02010600040101010101" charset="-122"/>
                                    <a:cs typeface="Cambria Math" panose="02040503050406030204" charset="0"/>
                                  </a:rPr>
                                  <m:t>𝑞</m:t>
                                </m:r>
                              </m:sup>
                            </m:sSup>
                          </m:e>
                        </m:nary>
                        <m:r>
                          <a:rPr lang="en-US" altLang="zh-CN" sz="1600" i="1">
                            <a:solidFill>
                              <a:schemeClr val="tx1"/>
                            </a:solidFill>
                            <a:latin typeface="Cambria Math" panose="02040503050406030204" charset="0"/>
                            <a:ea typeface="华文楷体" panose="02010600040101010101" charset="-122"/>
                            <a:cs typeface="Cambria Math" panose="02040503050406030204" charset="0"/>
                          </a:rPr>
                          <m:t>)</m:t>
                        </m:r>
                      </m:e>
                      <m:sup>
                        <m:f>
                          <m:fPr>
                            <m:ctrlPr>
                              <a:rPr lang="en-US" altLang="zh-CN" sz="160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60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600" i="1">
                                <a:solidFill>
                                  <a:schemeClr val="tx1"/>
                                </a:solidFill>
                                <a:latin typeface="Cambria Math" panose="02040503050406030204" charset="0"/>
                                <a:ea typeface="华文楷体" panose="02010600040101010101" charset="-122"/>
                                <a:cs typeface="Cambria Math" panose="02040503050406030204" charset="0"/>
                              </a:rPr>
                              <m:t>𝑞</m:t>
                            </m:r>
                          </m:den>
                        </m:f>
                      </m:sup>
                    </m:sSup>
                  </m:oMath>
                </a14:m>
                <a:endParaRPr lang="en-US" altLang="zh-CN" sz="1600"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None/>
                </a:pP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∀x  </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ϕ</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(x) = </a:t>
                </a:r>
                <a14:m>
                  <m:oMath xmlns:m="http://schemas.openxmlformats.org/officeDocument/2006/math">
                    <m:sSup>
                      <m:sSupPr>
                        <m:ctrlPr>
                          <a:rPr lang="en-US" altLang="zh-CN" sz="1600" i="1">
                            <a:solidFill>
                              <a:schemeClr val="tx1"/>
                            </a:solidFill>
                            <a:latin typeface="Cambria Math" panose="02040503050406030204" charset="0"/>
                            <a:ea typeface="华文楷体" panose="02010600040101010101" charset="-122"/>
                            <a:cs typeface="Cambria Math" panose="02040503050406030204" charset="0"/>
                          </a:rPr>
                        </m:ctrlPr>
                      </m:sSupPr>
                      <m:e>
                        <m:r>
                          <a:rPr lang="en-US" altLang="zh-CN" sz="1600" i="1">
                            <a:solidFill>
                              <a:schemeClr val="tx1"/>
                            </a:solidFill>
                            <a:latin typeface="Cambria Math" panose="02040503050406030204" charset="0"/>
                            <a:ea typeface="华文楷体" panose="02010600040101010101" charset="-122"/>
                            <a:cs typeface="Cambria Math" panose="02040503050406030204" charset="0"/>
                          </a:rPr>
                          <m:t>1</m:t>
                        </m:r>
                        <m:r>
                          <a:rPr lang="en-US" altLang="zh-CN" sz="1600" i="1">
                            <a:solidFill>
                              <a:schemeClr val="tx1"/>
                            </a:solidFill>
                            <a:latin typeface="Cambria Math" panose="02040503050406030204" charset="0"/>
                            <a:ea typeface="华文楷体" panose="02010600040101010101" charset="-122"/>
                            <a:cs typeface="Cambria Math" panose="02040503050406030204" charset="0"/>
                          </a:rPr>
                          <m:t>−</m:t>
                        </m:r>
                        <m:r>
                          <a:rPr lang="en-US" altLang="zh-CN" sz="1600" i="1">
                            <a:solidFill>
                              <a:schemeClr val="tx1"/>
                            </a:solidFill>
                            <a:latin typeface="Cambria Math" panose="02040503050406030204" charset="0"/>
                            <a:ea typeface="华文楷体" panose="02010600040101010101" charset="-122"/>
                            <a:cs typeface="Cambria Math" panose="02040503050406030204" charset="0"/>
                          </a:rPr>
                          <m:t>(</m:t>
                        </m:r>
                        <m:f>
                          <m:fPr>
                            <m:ctrlPr>
                              <a:rPr lang="en-US" altLang="zh-CN" sz="160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60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600" i="1">
                                <a:solidFill>
                                  <a:schemeClr val="tx1"/>
                                </a:solidFill>
                                <a:latin typeface="Cambria Math" panose="02040503050406030204" charset="0"/>
                                <a:ea typeface="华文楷体" panose="02010600040101010101" charset="-122"/>
                                <a:cs typeface="Cambria Math" panose="02040503050406030204" charset="0"/>
                              </a:rPr>
                              <m:t>𝐾</m:t>
                            </m:r>
                          </m:den>
                        </m:f>
                        <m:nary>
                          <m:naryPr>
                            <m:chr m:val="∑"/>
                            <m:limLoc m:val="undOvr"/>
                            <m:ctrlPr>
                              <a:rPr lang="en-US" altLang="zh-CN" sz="1600" i="1">
                                <a:solidFill>
                                  <a:schemeClr val="tx1"/>
                                </a:solidFill>
                                <a:latin typeface="Cambria Math" panose="02040503050406030204" charset="0"/>
                                <a:ea typeface="华文楷体" panose="02010600040101010101" charset="-122"/>
                                <a:cs typeface="Cambria Math" panose="02040503050406030204" charset="0"/>
                              </a:rPr>
                            </m:ctrlPr>
                          </m:naryPr>
                          <m:sub>
                            <m:r>
                              <a:rPr lang="en-US" altLang="zh-CN" sz="1600" i="1">
                                <a:solidFill>
                                  <a:schemeClr val="tx1"/>
                                </a:solidFill>
                                <a:latin typeface="Cambria Math" panose="02040503050406030204" charset="0"/>
                                <a:ea typeface="华文楷体" panose="02010600040101010101" charset="-122"/>
                                <a:cs typeface="Cambria Math" panose="02040503050406030204" charset="0"/>
                              </a:rPr>
                              <m:t>𝑘</m:t>
                            </m:r>
                            <m:r>
                              <a:rPr lang="en-US" altLang="zh-CN" sz="1600" i="1">
                                <a:solidFill>
                                  <a:schemeClr val="tx1"/>
                                </a:solidFill>
                                <a:latin typeface="Cambria Math" panose="02040503050406030204" charset="0"/>
                                <a:ea typeface="华文楷体" panose="02010600040101010101" charset="-122"/>
                                <a:cs typeface="Cambria Math" panose="02040503050406030204" charset="0"/>
                              </a:rPr>
                              <m:t>=</m:t>
                            </m:r>
                            <m:r>
                              <a:rPr lang="en-US" altLang="zh-CN" sz="1600" i="1">
                                <a:solidFill>
                                  <a:schemeClr val="tx1"/>
                                </a:solidFill>
                                <a:latin typeface="Cambria Math" panose="02040503050406030204" charset="0"/>
                                <a:ea typeface="华文楷体" panose="02010600040101010101" charset="-122"/>
                                <a:cs typeface="Cambria Math" panose="02040503050406030204" charset="0"/>
                              </a:rPr>
                              <m:t>1</m:t>
                            </m:r>
                          </m:sub>
                          <m:sup>
                            <m:r>
                              <a:rPr lang="en-US" altLang="zh-CN" sz="1600" i="1">
                                <a:solidFill>
                                  <a:schemeClr val="tx1"/>
                                </a:solidFill>
                                <a:latin typeface="Cambria Math" panose="02040503050406030204" charset="0"/>
                                <a:ea typeface="华文楷体" panose="02010600040101010101" charset="-122"/>
                                <a:cs typeface="Cambria Math" panose="02040503050406030204" charset="0"/>
                              </a:rPr>
                              <m:t>𝐾</m:t>
                            </m:r>
                          </m:sup>
                          <m:e>
                            <m:sSup>
                              <m:sSupPr>
                                <m:ctrlPr>
                                  <a:rPr lang="en-US" altLang="zh-CN" sz="1600" i="1">
                                    <a:solidFill>
                                      <a:schemeClr val="tx1"/>
                                    </a:solidFill>
                                    <a:latin typeface="Cambria Math" panose="02040503050406030204" charset="0"/>
                                    <a:ea typeface="华文楷体" panose="02010600040101010101" charset="-122"/>
                                    <a:cs typeface="Cambria Math" panose="02040503050406030204" charset="0"/>
                                  </a:rPr>
                                </m:ctrlPr>
                              </m:sSupPr>
                              <m:e>
                                <m:r>
                                  <a:rPr lang="en-US" altLang="en-US" sz="1600">
                                    <a:latin typeface="华文楷体" panose="02010600040101010101" charset="-122"/>
                                    <a:ea typeface="华文楷体" panose="02010600040101010101" charset="-122"/>
                                    <a:cs typeface="华文楷体" panose="02010600040101010101" charset="-122"/>
                                    <a:sym typeface="+mn-ea"/>
                                  </a:rPr>
                                  <m:t>(</m:t>
                                </m:r>
                                <m:r>
                                  <a:rPr lang="en-US" altLang="en-US" sz="1600">
                                    <a:latin typeface="华文楷体" panose="02010600040101010101" charset="-122"/>
                                    <a:ea typeface="华文楷体" panose="02010600040101010101" charset="-122"/>
                                    <a:cs typeface="华文楷体" panose="02010600040101010101" charset="-122"/>
                                    <a:sym typeface="+mn-ea"/>
                                  </a:rPr>
                                  <m:t>1</m:t>
                                </m:r>
                                <m:r>
                                  <a:rPr lang="en-US" altLang="en-US" sz="1600">
                                    <a:latin typeface="华文楷体" panose="02010600040101010101" charset="-122"/>
                                    <a:ea typeface="华文楷体" panose="02010600040101010101" charset="-122"/>
                                    <a:cs typeface="华文楷体" panose="02010600040101010101" charset="-122"/>
                                    <a:sym typeface="+mn-ea"/>
                                  </a:rPr>
                                  <m:t>−</m:t>
                                </m:r>
                                <m:r>
                                  <a:rPr lang="en-US" altLang="en-US" sz="1600">
                                    <a:latin typeface="华文楷体" panose="02010600040101010101" charset="-122"/>
                                    <a:ea typeface="华文楷体" panose="02010600040101010101" charset="-122"/>
                                    <a:cs typeface="华文楷体" panose="02010600040101010101" charset="-122"/>
                                    <a:sym typeface="+mn-ea"/>
                                  </a:rPr>
                                  <m:t>𝜙</m:t>
                                </m:r>
                                <m:r>
                                  <a:rPr lang="en-US" altLang="zh-CN" sz="1600">
                                    <a:latin typeface="华文楷体" panose="02010600040101010101" charset="-122"/>
                                    <a:ea typeface="华文楷体" panose="02010600040101010101" charset="-122"/>
                                    <a:cs typeface="华文楷体" panose="02010600040101010101" charset="-122"/>
                                    <a:sym typeface="+mn-ea"/>
                                  </a:rPr>
                                  <m:t>(</m:t>
                                </m:r>
                                <m:sSub>
                                  <m:sSubPr>
                                    <m:ctrlPr>
                                      <a:rPr lang="en-US" altLang="zh-CN" sz="1600" i="1">
                                        <a:latin typeface="Cambria Math" panose="02040503050406030204" charset="0"/>
                                        <a:ea typeface="华文楷体" panose="02010600040101010101" charset="-122"/>
                                        <a:cs typeface="Cambria Math" panose="02040503050406030204" charset="0"/>
                                        <a:sym typeface="+mn-ea"/>
                                      </a:rPr>
                                    </m:ctrlPr>
                                  </m:sSubPr>
                                  <m:e>
                                    <m:r>
                                      <a:rPr lang="en-US" altLang="zh-CN" sz="1600" i="1">
                                        <a:latin typeface="Cambria Math" panose="02040503050406030204" charset="0"/>
                                        <a:ea typeface="华文楷体" panose="02010600040101010101" charset="-122"/>
                                        <a:cs typeface="Cambria Math" panose="02040503050406030204" charset="0"/>
                                        <a:sym typeface="+mn-ea"/>
                                      </a:rPr>
                                      <m:t>𝑥</m:t>
                                    </m:r>
                                  </m:e>
                                  <m:sub>
                                    <m:r>
                                      <a:rPr lang="en-US" altLang="zh-CN" sz="1600" i="1">
                                        <a:latin typeface="Cambria Math" panose="02040503050406030204" charset="0"/>
                                        <a:ea typeface="华文楷体" panose="02010600040101010101" charset="-122"/>
                                        <a:cs typeface="Cambria Math" panose="02040503050406030204" charset="0"/>
                                        <a:sym typeface="+mn-ea"/>
                                      </a:rPr>
                                      <m:t>𝑘</m:t>
                                    </m:r>
                                  </m:sub>
                                </m:sSub>
                                <m:r>
                                  <a:rPr lang="en-US" altLang="zh-CN" sz="1600">
                                    <a:latin typeface="华文楷体" panose="02010600040101010101" charset="-122"/>
                                    <a:ea typeface="华文楷体" panose="02010600040101010101" charset="-122"/>
                                    <a:cs typeface="华文楷体" panose="02010600040101010101" charset="-122"/>
                                    <a:sym typeface="+mn-ea"/>
                                  </a:rPr>
                                  <m:t>)</m:t>
                                </m:r>
                                <m:r>
                                  <a:rPr lang="en-US" altLang="zh-CN" sz="1600">
                                    <a:latin typeface="华文楷体" panose="02010600040101010101" charset="-122"/>
                                    <a:ea typeface="华文楷体" panose="02010600040101010101" charset="-122"/>
                                    <a:cs typeface="华文楷体" panose="02010600040101010101" charset="-122"/>
                                    <a:sym typeface="+mn-ea"/>
                                  </a:rPr>
                                  <m:t>)</m:t>
                                </m:r>
                              </m:e>
                              <m:sup>
                                <m:r>
                                  <a:rPr lang="en-US" altLang="zh-CN" sz="1600" i="1">
                                    <a:solidFill>
                                      <a:schemeClr val="tx1"/>
                                    </a:solidFill>
                                    <a:latin typeface="Cambria Math" panose="02040503050406030204" charset="0"/>
                                    <a:ea typeface="华文楷体" panose="02010600040101010101" charset="-122"/>
                                    <a:cs typeface="Cambria Math" panose="02040503050406030204" charset="0"/>
                                  </a:rPr>
                                  <m:t>𝑞</m:t>
                                </m:r>
                              </m:sup>
                            </m:sSup>
                          </m:e>
                        </m:nary>
                        <m:r>
                          <a:rPr lang="en-US" altLang="zh-CN" sz="1600" i="1">
                            <a:solidFill>
                              <a:schemeClr val="tx1"/>
                            </a:solidFill>
                            <a:latin typeface="Cambria Math" panose="02040503050406030204" charset="0"/>
                            <a:ea typeface="华文楷体" panose="02010600040101010101" charset="-122"/>
                            <a:cs typeface="Cambria Math" panose="02040503050406030204" charset="0"/>
                          </a:rPr>
                          <m:t>)</m:t>
                        </m:r>
                      </m:e>
                      <m:sup>
                        <m:f>
                          <m:fPr>
                            <m:ctrlPr>
                              <a:rPr lang="en-US" altLang="zh-CN" sz="160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60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600" i="1">
                                <a:solidFill>
                                  <a:schemeClr val="tx1"/>
                                </a:solidFill>
                                <a:latin typeface="Cambria Math" panose="02040503050406030204" charset="0"/>
                                <a:ea typeface="华文楷体" panose="02010600040101010101" charset="-122"/>
                                <a:cs typeface="Cambria Math" panose="02040503050406030204" charset="0"/>
                              </a:rPr>
                              <m:t>𝑞</m:t>
                            </m:r>
                          </m:den>
                        </m:f>
                      </m:sup>
                    </m:sSup>
                  </m:oMath>
                </a14:m>
                <a:endParaRPr lang="en-US" altLang="zh-CN" sz="1600"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None/>
                </a:pP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其中</a:t>
                </a:r>
                <a:r>
                  <a:rPr lang="en-US" altLang="zh-CN" sz="1600" i="0">
                    <a:solidFill>
                      <a:schemeClr val="tx1"/>
                    </a:solidFill>
                    <a:latin typeface="华文楷体" panose="02010600040101010101" charset="-122"/>
                    <a:ea typeface="华文楷体" panose="02010600040101010101" charset="-122"/>
                    <a:cs typeface="华文楷体" panose="02010600040101010101" charset="-122"/>
                  </a:rPr>
                  <a:t>q∈</a:t>
                </a:r>
                <a:r>
                  <a:rPr lang="en-US" altLang="en-US" sz="1600" i="0">
                    <a:solidFill>
                      <a:schemeClr val="tx1"/>
                    </a:solidFill>
                    <a:latin typeface="华文楷体" panose="02010600040101010101" charset="-122"/>
                    <a:ea typeface="华文楷体" panose="02010600040101010101" charset="-122"/>
                    <a:cs typeface="华文楷体" panose="02010600040101010101" charset="-122"/>
                  </a:rPr>
                  <a:t>Z</a:t>
                </a:r>
                <a:r>
                  <a:rPr lang="zh-CN" altLang="en-US" sz="1600" i="0">
                    <a:solidFill>
                      <a:schemeClr val="tx1"/>
                    </a:solidFill>
                    <a:latin typeface="华文楷体" panose="02010600040101010101" charset="-122"/>
                    <a:ea typeface="华文楷体" panose="02010600040101010101" charset="-122"/>
                    <a:cs typeface="华文楷体" panose="02010600040101010101" charset="-122"/>
                  </a:rPr>
                  <a:t>。</a:t>
                </a:r>
                <a:endParaRPr lang="zh-CN" altLang="en-US" sz="1600" i="0">
                  <a:solidFill>
                    <a:schemeClr val="tx1"/>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None/>
                </a:pPr>
                <a:endParaRPr lang="zh-CN" altLang="en-US" sz="1600" i="0">
                  <a:solidFill>
                    <a:schemeClr val="tx1"/>
                  </a:solidFill>
                  <a:latin typeface="华文楷体" panose="02010600040101010101" charset="-122"/>
                  <a:ea typeface="华文楷体" panose="02010600040101010101" charset="-122"/>
                  <a:cs typeface="华文楷体" panose="02010600040101010101"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944245" y="3345815"/>
                <a:ext cx="4754245" cy="3148330"/>
              </a:xfrm>
              <a:prstGeom prst="rect">
                <a:avLst/>
              </a:prstGeom>
              <a:blipFill rotWithShape="1">
                <a:blip r:embed="rId7"/>
                <a:stretch>
                  <a:fillRect b="-53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custDataLst>
                  <p:tags r:id="rId8"/>
                </p:custDataLst>
              </p:nvPr>
            </p:nvSpPr>
            <p:spPr>
              <a:xfrm>
                <a:off x="6144895" y="2609850"/>
                <a:ext cx="5252085" cy="1448435"/>
              </a:xfrm>
              <a:prstGeom prst="rect">
                <a:avLst/>
              </a:prstGeom>
            </p:spPr>
            <p:txBody>
              <a:bodyPr wrap="square">
                <a:noAutofit/>
              </a:bodyPr>
              <a:p>
                <a:pPr marL="0" indent="0">
                  <a:spcAft>
                    <a:spcPct val="60000"/>
                  </a:spcAft>
                </a:pPr>
                <a:r>
                  <a:rPr lang="en-US" altLang="zh-CN" sz="1600" b="1" i="0">
                    <a:solidFill>
                      <a:schemeClr val="tx1"/>
                    </a:solidFill>
                    <a:latin typeface="华文楷体" panose="02010600040101010101" charset="-122"/>
                    <a:ea typeface="华文楷体" panose="02010600040101010101" charset="-122"/>
                    <a:cs typeface="华文楷体" panose="02010600040101010101" charset="-122"/>
                  </a:rPr>
                  <a:t>2. D </a:t>
                </a:r>
                <a:r>
                  <a:rPr lang="zh-CN" altLang="en-US" sz="1600" b="1" i="0">
                    <a:solidFill>
                      <a:schemeClr val="tx1"/>
                    </a:solidFill>
                    <a:latin typeface="华文楷体" panose="02010600040101010101" charset="-122"/>
                    <a:ea typeface="华文楷体" panose="02010600040101010101" charset="-122"/>
                    <a:cs typeface="华文楷体" panose="02010600040101010101" charset="-122"/>
                  </a:rPr>
                  <a:t>规则损失（</a:t>
                </a:r>
                <a:r>
                  <a:rPr lang="en-US" altLang="zh-CN" sz="1600" b="1" i="0">
                    <a:solidFill>
                      <a:schemeClr val="tx1"/>
                    </a:solidFill>
                    <a:latin typeface="华文楷体" panose="02010600040101010101" charset="-122"/>
                    <a:ea typeface="华文楷体" panose="02010600040101010101" charset="-122"/>
                    <a:cs typeface="华文楷体" panose="02010600040101010101" charset="-122"/>
                  </a:rPr>
                  <a:t>D-rule Loss.</a:t>
                </a:r>
                <a:r>
                  <a:rPr lang="zh-CN" altLang="en-US" sz="1600" b="1" i="0">
                    <a:solidFill>
                      <a:schemeClr val="tx1"/>
                    </a:solidFill>
                    <a:latin typeface="华文楷体" panose="02010600040101010101" charset="-122"/>
                    <a:ea typeface="华文楷体" panose="02010600040101010101" charset="-122"/>
                    <a:cs typeface="华文楷体" panose="02010600040101010101" charset="-122"/>
                  </a:rPr>
                  <a:t>）</a:t>
                </a:r>
                <a:endParaRPr lang="en-US" altLang="zh-CN" sz="1600" b="1" i="0">
                  <a:solidFill>
                    <a:schemeClr val="tx1"/>
                  </a:solidFill>
                  <a:latin typeface="华文楷体" panose="02010600040101010101" charset="-122"/>
                  <a:ea typeface="华文楷体" panose="02010600040101010101" charset="-122"/>
                  <a:cs typeface="华文楷体" panose="02010600040101010101" charset="-122"/>
                </a:endParaRPr>
              </a:p>
              <a:p>
                <a:pPr marL="0" indent="0"/>
                <a14:m>
                  <m:oMath xmlns:m="http://schemas.openxmlformats.org/officeDocument/2006/math">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𝐺</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𝐷</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 (</m:t>
                    </m:r>
                    <m:r>
                      <m:rPr>
                        <m:sty m:val="p"/>
                      </m:rPr>
                      <a:rPr lang="en-US" altLang="zh-CN" sz="1400" b="0" i="1">
                        <a:solidFill>
                          <a:schemeClr val="tx1"/>
                        </a:solidFill>
                        <a:latin typeface="Cambria Math" panose="02040503050406030204" charset="0"/>
                        <a:ea typeface="华文楷体" panose="02010600040101010101" charset="-122"/>
                        <a:cs typeface="Cambria Math" panose="02040503050406030204" charset="0"/>
                      </a:rPr>
                      <m:t>v</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p>
                      <m:sSup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p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f>
                          <m:f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𝐾</m:t>
                            </m:r>
                          </m:den>
                        </m:f>
                        <m:nary>
                          <m:naryPr>
                            <m:chr m:val="∑"/>
                            <m:limLoc m:val="undOv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naryPr>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𝑘</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sub>
                          <m:sup>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𝐾</m:t>
                            </m:r>
                          </m:sup>
                          <m:e>
                            <m:sSup>
                              <m:sSup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p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𝑚𝑎𝑥</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Sup>
                                      <m:sSubSup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Sup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𝑐</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sub>
                                      <m:sup>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𝑛</m:t>
                                        </m:r>
                                      </m:sup>
                                    </m:sSubSup>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𝑛</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e>
                              <m:sup>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𝑞</m:t>
                                </m:r>
                              </m:sup>
                            </m:sSup>
                          </m:e>
                        </m:nary>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e>
                      <m:sup>
                        <m:f>
                          <m:f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𝑞</m:t>
                            </m:r>
                          </m:den>
                        </m:f>
                      </m:sup>
                    </m:sSup>
                  </m:oMath>
                </a14:m>
                <a:r>
                  <a:rPr lang="en-US" altLang="zh-CN" sz="1400" b="0" i="0">
                    <a:solidFill>
                      <a:schemeClr val="tx1"/>
                    </a:solidFill>
                    <a:latin typeface="华文楷体" panose="02010600040101010101" charset="-122"/>
                    <a:ea typeface="华文楷体" panose="02010600040101010101" charset="-122"/>
                    <a:cs typeface="华文楷体" panose="02010600040101010101" charset="-122"/>
                  </a:rPr>
                  <a:t> </a:t>
                </a:r>
                <a:endParaRPr lang="en-US" altLang="zh-CN" sz="1400" b="0" i="0">
                  <a:solidFill>
                    <a:schemeClr val="tx1"/>
                  </a:solidFill>
                  <a:latin typeface="华文楷体" panose="02010600040101010101" charset="-122"/>
                  <a:ea typeface="华文楷体" panose="02010600040101010101" charset="-122"/>
                  <a:cs typeface="华文楷体" panose="02010600040101010101" charset="-122"/>
                </a:endParaRPr>
              </a:p>
              <a:p>
                <a:pPr marL="0" indent="0"/>
                <a14:m>
                  <m:oMathPara xmlns:m="http://schemas.openxmlformats.org/officeDocument/2006/math">
                    <m:oMathParaPr>
                      <m:jc m:val="left"/>
                    </m:oMathParaPr>
                    <m:oMath xmlns:m="http://schemas.openxmlformats.org/officeDocument/2006/math">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𝐿</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𝐷</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f>
                        <m:f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𝐿</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den>
                      </m:f>
                      <m:nary>
                        <m:naryPr>
                          <m:chr m:val="∑"/>
                          <m:limLoc m:val="undOvr"/>
                          <m:supHide m:val="on"/>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naryPr>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i="1">
                              <a:solidFill>
                                <a:schemeClr val="tx1"/>
                              </a:solidFill>
                              <a:latin typeface="Cambria Math" panose="02040503050406030204" charset="0"/>
                              <a:ea typeface="华文楷体" panose="02010600040101010101" charset="-122"/>
                              <a:cs typeface="Cambria Math" panose="02040503050406030204" charset="0"/>
                            </a:rPr>
                            <m:t>𝑉</m:t>
                          </m:r>
                          <m:r>
                            <a:rPr lang="en-US" altLang="zh-CN" sz="140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i="1">
                                  <a:solidFill>
                                    <a:schemeClr val="tx1"/>
                                  </a:solidFill>
                                  <a:latin typeface="Cambria Math" panose="02040503050406030204" charset="0"/>
                                  <a:ea typeface="华文楷体" panose="02010600040101010101" charset="-122"/>
                                  <a:cs typeface="Cambria Math" panose="02040503050406030204" charset="0"/>
                                </a:rPr>
                                <m:t>𝑉</m:t>
                              </m:r>
                            </m:e>
                            <m:sub>
                              <m:r>
                                <a:rPr lang="en-US" altLang="zh-CN" sz="1400" i="1">
                                  <a:solidFill>
                                    <a:schemeClr val="tx1"/>
                                  </a:solidFill>
                                  <a:latin typeface="Cambria Math" panose="02040503050406030204" charset="0"/>
                                  <a:ea typeface="华文楷体" panose="02010600040101010101" charset="-122"/>
                                  <a:cs typeface="Cambria Math" panose="02040503050406030204" charset="0"/>
                                </a:rPr>
                                <m:t>𝐿</m:t>
                              </m:r>
                            </m:sub>
                          </m:sSub>
                        </m:sub>
                        <m:sup/>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𝐺</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𝐷</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e>
                      </m:nary>
                    </m:oMath>
                  </m:oMathPara>
                </a14:m>
                <a:endParaRPr lang="en-US" altLang="zh-CN" sz="1400" b="0" i="1">
                  <a:solidFill>
                    <a:schemeClr val="tx1"/>
                  </a:solidFill>
                  <a:latin typeface="Cambria Math" panose="02040503050406030204" charset="0"/>
                  <a:ea typeface="华文楷体" panose="02010600040101010101" charset="-122"/>
                  <a:cs typeface="Cambria Math" panose="02040503050406030204" charset="0"/>
                </a:endParaRPr>
              </a:p>
            </p:txBody>
          </p:sp>
        </mc:Choice>
        <mc:Fallback>
          <p:sp>
            <p:nvSpPr>
              <p:cNvPr id="6" name="文本框 5"/>
              <p:cNvSpPr txBox="1">
                <a:spLocks noRot="1" noChangeAspect="1" noMove="1" noResize="1" noEditPoints="1" noAdjustHandles="1" noChangeArrowheads="1" noChangeShapeType="1" noTextEdit="1"/>
              </p:cNvSpPr>
              <p:nvPr>
                <p:custDataLst>
                  <p:tags r:id="rId9"/>
                </p:custDataLst>
              </p:nvPr>
            </p:nvSpPr>
            <p:spPr>
              <a:xfrm>
                <a:off x="6144895" y="2609850"/>
                <a:ext cx="5252085" cy="1448435"/>
              </a:xfrm>
              <a:prstGeom prst="rect">
                <a:avLst/>
              </a:prstGeom>
              <a:blipFill rotWithShape="1">
                <a:blip r:embed="rId10"/>
                <a:stretch>
                  <a:fillRect/>
                </a:stretch>
              </a:blipFill>
            </p:spPr>
            <p:txBody>
              <a:bodyPr/>
              <a:lstStyle/>
              <a:p>
                <a:r>
                  <a:rPr lang="zh-CN" altLang="en-US">
                    <a:noFill/>
                  </a:rPr>
                  <a:t> </a:t>
                </a:r>
              </a:p>
            </p:txBody>
          </p:sp>
        </mc:Fallback>
      </mc:AlternateContent>
      <p:graphicFrame>
        <p:nvGraphicFramePr>
          <p:cNvPr id="3" name="对象 2">
            <a:hlinkClick r:id="" action="ppaction://ole?verb="/>
          </p:cNvPr>
          <p:cNvGraphicFramePr>
            <a:graphicFrameLocks noChangeAspect="1"/>
          </p:cNvGraphicFramePr>
          <p:nvPr>
            <p:custDataLst>
              <p:tags r:id="rId11"/>
            </p:custDataLst>
          </p:nvPr>
        </p:nvGraphicFramePr>
        <p:xfrm>
          <a:off x="6017895" y="3278505"/>
          <a:ext cx="114300" cy="215900"/>
        </p:xfrm>
        <a:graphic>
          <a:graphicData uri="http://schemas.openxmlformats.org/presentationml/2006/ole">
            <mc:AlternateContent xmlns:mc="http://schemas.openxmlformats.org/markup-compatibility/2006">
              <mc:Choice xmlns:v="urn:schemas-microsoft-com:vml" Requires="v">
                <p:oleObj spid="_x0000_s2049" name="" r:id="rId12" imgW="114300" imgH="215900" progId="Equation.KSEE3">
                  <p:embed/>
                </p:oleObj>
              </mc:Choice>
              <mc:Fallback>
                <p:oleObj name="" r:id="rId12" imgW="114300" imgH="215900" progId="Equation.KSEE3">
                  <p:embed/>
                  <p:pic>
                    <p:nvPicPr>
                      <p:cNvPr id="0" name="图片 2048"/>
                      <p:cNvPicPr/>
                      <p:nvPr/>
                    </p:nvPicPr>
                    <p:blipFill>
                      <a:blip r:embed="rId13"/>
                      <a:stretch>
                        <a:fillRect/>
                      </a:stretch>
                    </p:blipFill>
                    <p:spPr>
                      <a:xfrm>
                        <a:off x="6017895" y="3278505"/>
                        <a:ext cx="114300" cy="215900"/>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custDataLst>
              <p:tags r:id="rId14"/>
            </p:custDataLst>
          </p:nvPr>
        </p:nvGraphicFramePr>
        <p:xfrm>
          <a:off x="6017895" y="3278505"/>
          <a:ext cx="114300" cy="215900"/>
        </p:xfrm>
        <a:graphic>
          <a:graphicData uri="http://schemas.openxmlformats.org/presentationml/2006/ole">
            <mc:AlternateContent xmlns:mc="http://schemas.openxmlformats.org/markup-compatibility/2006">
              <mc:Choice xmlns:v="urn:schemas-microsoft-com:vml" Requires="v">
                <p:oleObj spid="_x0000_s2050" name="" r:id="rId15" imgW="114300" imgH="215900" progId="Equation.KSEE3">
                  <p:embed/>
                </p:oleObj>
              </mc:Choice>
              <mc:Fallback>
                <p:oleObj name="" r:id="rId15" imgW="114300" imgH="215900" progId="Equation.KSEE3">
                  <p:embed/>
                  <p:pic>
                    <p:nvPicPr>
                      <p:cNvPr id="0" name="图片 2049"/>
                      <p:cNvPicPr/>
                      <p:nvPr/>
                    </p:nvPicPr>
                    <p:blipFill>
                      <a:blip r:embed="rId13"/>
                      <a:stretch>
                        <a:fillRect/>
                      </a:stretch>
                    </p:blipFill>
                    <p:spPr>
                      <a:xfrm>
                        <a:off x="6017895" y="3278505"/>
                        <a:ext cx="114300" cy="215900"/>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14" name="文本框 13"/>
              <p:cNvSpPr txBox="1"/>
              <p:nvPr>
                <p:custDataLst>
                  <p:tags r:id="rId16"/>
                </p:custDataLst>
              </p:nvPr>
            </p:nvSpPr>
            <p:spPr>
              <a:xfrm>
                <a:off x="6144895" y="963295"/>
                <a:ext cx="4057015" cy="1348740"/>
              </a:xfrm>
              <a:prstGeom prst="rect">
                <a:avLst/>
              </a:prstGeom>
            </p:spPr>
            <p:txBody>
              <a:bodyPr wrap="square">
                <a:noAutofit/>
              </a:bodyPr>
              <a:p>
                <a:pPr marL="0" indent="0">
                  <a:spcAft>
                    <a:spcPct val="60000"/>
                  </a:spcAft>
                </a:pPr>
                <a:r>
                  <a:rPr lang="en-US" altLang="zh-CN" sz="1600" b="1" i="0">
                    <a:solidFill>
                      <a:schemeClr val="tx1"/>
                    </a:solidFill>
                    <a:latin typeface="华文楷体" panose="02010600040101010101" charset="-122"/>
                    <a:ea typeface="华文楷体" panose="02010600040101010101" charset="-122"/>
                    <a:cs typeface="华文楷体" panose="02010600040101010101" charset="-122"/>
                  </a:rPr>
                  <a:t>1. C </a:t>
                </a:r>
                <a:r>
                  <a:rPr lang="zh-CN" altLang="en-US" sz="1600" b="1" i="0">
                    <a:solidFill>
                      <a:schemeClr val="tx1"/>
                    </a:solidFill>
                    <a:latin typeface="华文楷体" panose="02010600040101010101" charset="-122"/>
                    <a:ea typeface="华文楷体" panose="02010600040101010101" charset="-122"/>
                    <a:cs typeface="华文楷体" panose="02010600040101010101" charset="-122"/>
                  </a:rPr>
                  <a:t>规则损失（</a:t>
                </a:r>
                <a:r>
                  <a:rPr lang="en-US" altLang="zh-CN" sz="1600" b="1" i="0">
                    <a:solidFill>
                      <a:schemeClr val="tx1"/>
                    </a:solidFill>
                    <a:latin typeface="华文楷体" panose="02010600040101010101" charset="-122"/>
                    <a:ea typeface="华文楷体" panose="02010600040101010101" charset="-122"/>
                    <a:cs typeface="华文楷体" panose="02010600040101010101" charset="-122"/>
                  </a:rPr>
                  <a:t>C-rule Loss.</a:t>
                </a:r>
                <a:r>
                  <a:rPr lang="zh-CN" altLang="en-US" sz="1600" b="1" i="0">
                    <a:solidFill>
                      <a:schemeClr val="tx1"/>
                    </a:solidFill>
                    <a:latin typeface="华文楷体" panose="02010600040101010101" charset="-122"/>
                    <a:ea typeface="华文楷体" panose="02010600040101010101" charset="-122"/>
                    <a:cs typeface="华文楷体" panose="02010600040101010101" charset="-122"/>
                  </a:rPr>
                  <a:t>）</a:t>
                </a:r>
                <a:endParaRPr lang="en-US" altLang="zh-CN" sz="1600" b="1" i="0">
                  <a:solidFill>
                    <a:schemeClr val="tx1"/>
                  </a:solidFill>
                  <a:latin typeface="华文楷体" panose="02010600040101010101" charset="-122"/>
                  <a:ea typeface="华文楷体" panose="02010600040101010101" charset="-122"/>
                  <a:cs typeface="华文楷体" panose="02010600040101010101" charset="-122"/>
                </a:endParaRPr>
              </a:p>
              <a:p>
                <a:pPr marL="0" indent="0"/>
                <a14:m>
                  <m:oMath xmlns:m="http://schemas.openxmlformats.org/officeDocument/2006/math">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𝐺</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𝐶</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 (</m:t>
                    </m:r>
                    <m:r>
                      <m:rPr>
                        <m:sty m:val="p"/>
                      </m:rPr>
                      <a:rPr lang="en-US" altLang="zh-CN" sz="1400" b="0" i="1">
                        <a:solidFill>
                          <a:schemeClr val="tx1"/>
                        </a:solidFill>
                        <a:latin typeface="Cambria Math" panose="02040503050406030204" charset="0"/>
                        <a:ea typeface="华文楷体" panose="02010600040101010101" charset="-122"/>
                        <a:cs typeface="Cambria Math" panose="02040503050406030204" charset="0"/>
                      </a:rPr>
                      <m:t>v</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p>
                      <m:sSup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p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f>
                          <m:f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𝐾</m:t>
                            </m:r>
                          </m:den>
                        </m:f>
                        <m:nary>
                          <m:naryPr>
                            <m:chr m:val="∑"/>
                            <m:limLoc m:val="undOv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naryPr>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𝑘</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sub>
                          <m:sup>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𝐾</m:t>
                            </m:r>
                          </m:sup>
                          <m:e>
                            <m:sSup>
                              <m:sSup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p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𝑝</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e>
                              <m:sup>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𝑞</m:t>
                                </m:r>
                              </m:sup>
                            </m:sSup>
                          </m:e>
                        </m:nary>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e>
                      <m:sup>
                        <m:f>
                          <m:f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𝑞</m:t>
                            </m:r>
                          </m:den>
                        </m:f>
                      </m:sup>
                    </m:sSup>
                  </m:oMath>
                </a14:m>
                <a:r>
                  <a:rPr lang="en-US" altLang="zh-CN" sz="1400" b="0" i="0">
                    <a:solidFill>
                      <a:schemeClr val="tx1"/>
                    </a:solidFill>
                    <a:latin typeface="华文楷体" panose="02010600040101010101" charset="-122"/>
                    <a:ea typeface="华文楷体" panose="02010600040101010101" charset="-122"/>
                    <a:cs typeface="华文楷体" panose="02010600040101010101" charset="-122"/>
                  </a:rPr>
                  <a:t> </a:t>
                </a:r>
                <a:endParaRPr lang="en-US" altLang="zh-CN" sz="1400" b="0" i="0">
                  <a:solidFill>
                    <a:schemeClr val="tx1"/>
                  </a:solidFill>
                  <a:latin typeface="华文楷体" panose="02010600040101010101" charset="-122"/>
                  <a:ea typeface="华文楷体" panose="02010600040101010101" charset="-122"/>
                  <a:cs typeface="华文楷体" panose="02010600040101010101" charset="-122"/>
                </a:endParaRPr>
              </a:p>
              <a:p>
                <a:pPr marL="0" indent="0"/>
                <a14:m>
                  <m:oMathPara xmlns:m="http://schemas.openxmlformats.org/officeDocument/2006/math">
                    <m:oMathParaPr>
                      <m:jc m:val="left"/>
                    </m:oMathParaPr>
                    <m:oMath xmlns:m="http://schemas.openxmlformats.org/officeDocument/2006/math">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𝐿</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𝐶</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f>
                        <m:f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𝐿</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den>
                      </m:f>
                      <m:nary>
                        <m:naryPr>
                          <m:chr m:val="∑"/>
                          <m:limLoc m:val="undOvr"/>
                          <m:supHide m:val="on"/>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naryPr>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i="1">
                              <a:solidFill>
                                <a:schemeClr val="tx1"/>
                              </a:solidFill>
                              <a:latin typeface="Cambria Math" panose="02040503050406030204" charset="0"/>
                              <a:ea typeface="华文楷体" panose="02010600040101010101" charset="-122"/>
                              <a:cs typeface="Cambria Math" panose="02040503050406030204" charset="0"/>
                            </a:rPr>
                            <m:t>𝑉</m:t>
                          </m:r>
                          <m:r>
                            <a:rPr lang="en-US" altLang="zh-CN" sz="140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i="1">
                                  <a:solidFill>
                                    <a:schemeClr val="tx1"/>
                                  </a:solidFill>
                                  <a:latin typeface="Cambria Math" panose="02040503050406030204" charset="0"/>
                                  <a:ea typeface="华文楷体" panose="02010600040101010101" charset="-122"/>
                                  <a:cs typeface="Cambria Math" panose="02040503050406030204" charset="0"/>
                                </a:rPr>
                                <m:t>𝑉</m:t>
                              </m:r>
                            </m:e>
                            <m:sub>
                              <m:r>
                                <a:rPr lang="en-US" altLang="zh-CN" sz="1400" i="1">
                                  <a:solidFill>
                                    <a:schemeClr val="tx1"/>
                                  </a:solidFill>
                                  <a:latin typeface="Cambria Math" panose="02040503050406030204" charset="0"/>
                                  <a:ea typeface="华文楷体" panose="02010600040101010101" charset="-122"/>
                                  <a:cs typeface="Cambria Math" panose="02040503050406030204" charset="0"/>
                                </a:rPr>
                                <m:t>𝐿</m:t>
                              </m:r>
                            </m:sub>
                          </m:sSub>
                        </m:sub>
                        <m:sup/>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𝐺</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𝐶</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e>
                      </m:nary>
                    </m:oMath>
                  </m:oMathPara>
                </a14:m>
                <a:endParaRPr lang="en-US" altLang="zh-CN" sz="1400" b="0" i="1">
                  <a:solidFill>
                    <a:schemeClr val="tx1"/>
                  </a:solidFill>
                  <a:latin typeface="Cambria Math" panose="02040503050406030204" charset="0"/>
                  <a:ea typeface="华文楷体" panose="02010600040101010101" charset="-122"/>
                  <a:cs typeface="Cambria Math" panose="02040503050406030204" charset="0"/>
                </a:endParaRPr>
              </a:p>
            </p:txBody>
          </p:sp>
        </mc:Choice>
        <mc:Fallback>
          <p:sp>
            <p:nvSpPr>
              <p:cNvPr id="14" name="文本框 13"/>
              <p:cNvSpPr txBox="1">
                <a:spLocks noRot="1" noChangeAspect="1" noMove="1" noResize="1" noEditPoints="1" noAdjustHandles="1" noChangeArrowheads="1" noChangeShapeType="1" noTextEdit="1"/>
              </p:cNvSpPr>
              <p:nvPr>
                <p:custDataLst>
                  <p:tags r:id="rId17"/>
                </p:custDataLst>
              </p:nvPr>
            </p:nvSpPr>
            <p:spPr>
              <a:xfrm>
                <a:off x="6144895" y="963295"/>
                <a:ext cx="4057015" cy="1348740"/>
              </a:xfrm>
              <a:prstGeom prst="rect">
                <a:avLst/>
              </a:prstGeom>
              <a:blipFill rotWithShape="1">
                <a:blip r:embed="rId18"/>
                <a:stretch>
                  <a:fillRect b="-4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custDataLst>
                  <p:tags r:id="rId19"/>
                </p:custDataLst>
              </p:nvPr>
            </p:nvSpPr>
            <p:spPr>
              <a:xfrm>
                <a:off x="6144895" y="4221480"/>
                <a:ext cx="5316855" cy="1487805"/>
              </a:xfrm>
              <a:prstGeom prst="rect">
                <a:avLst/>
              </a:prstGeom>
            </p:spPr>
            <p:txBody>
              <a:bodyPr wrap="square">
                <a:noAutofit/>
              </a:bodyPr>
              <a:p>
                <a:pPr marL="0" indent="0">
                  <a:spcAft>
                    <a:spcPct val="60000"/>
                  </a:spcAft>
                </a:pPr>
                <a:r>
                  <a:rPr lang="en-US" altLang="zh-CN" sz="1600" b="1" i="0">
                    <a:solidFill>
                      <a:schemeClr val="tx1"/>
                    </a:solidFill>
                    <a:latin typeface="华文楷体" panose="02010600040101010101" charset="-122"/>
                    <a:ea typeface="华文楷体" panose="02010600040101010101" charset="-122"/>
                    <a:cs typeface="华文楷体" panose="02010600040101010101" charset="-122"/>
                  </a:rPr>
                  <a:t>3. </a:t>
                </a:r>
                <a:r>
                  <a:rPr lang="en-US" altLang="zh-CN" sz="1600" b="1">
                    <a:latin typeface="华文楷体" panose="02010600040101010101" charset="-122"/>
                    <a:ea typeface="华文楷体" panose="02010600040101010101" charset="-122"/>
                    <a:cs typeface="华文楷体" panose="02010600040101010101" charset="-122"/>
                    <a:sym typeface="+mn-ea"/>
                  </a:rPr>
                  <a:t>E </a:t>
                </a:r>
                <a:r>
                  <a:rPr lang="zh-CN" altLang="en-US" sz="1600" b="1">
                    <a:latin typeface="华文楷体" panose="02010600040101010101" charset="-122"/>
                    <a:ea typeface="华文楷体" panose="02010600040101010101" charset="-122"/>
                    <a:cs typeface="华文楷体" panose="02010600040101010101" charset="-122"/>
                    <a:sym typeface="+mn-ea"/>
                  </a:rPr>
                  <a:t>规则损失（</a:t>
                </a:r>
                <a:r>
                  <a:rPr lang="en-US" altLang="zh-CN" sz="1600" b="1">
                    <a:latin typeface="华文楷体" panose="02010600040101010101" charset="-122"/>
                    <a:ea typeface="华文楷体" panose="02010600040101010101" charset="-122"/>
                    <a:cs typeface="华文楷体" panose="02010600040101010101" charset="-122"/>
                    <a:sym typeface="+mn-ea"/>
                  </a:rPr>
                  <a:t>E-rule Loss.</a:t>
                </a:r>
                <a:r>
                  <a:rPr lang="zh-CN" altLang="en-US" sz="1600" b="1">
                    <a:latin typeface="华文楷体" panose="02010600040101010101" charset="-122"/>
                    <a:ea typeface="华文楷体" panose="02010600040101010101" charset="-122"/>
                    <a:cs typeface="华文楷体" panose="02010600040101010101" charset="-122"/>
                    <a:sym typeface="+mn-ea"/>
                  </a:rPr>
                  <a:t>）</a:t>
                </a:r>
                <a:endParaRPr lang="en-US" altLang="zh-CN" sz="1600" b="1" i="0">
                  <a:solidFill>
                    <a:schemeClr val="tx1"/>
                  </a:solidFill>
                  <a:latin typeface="华文楷体" panose="02010600040101010101" charset="-122"/>
                  <a:ea typeface="华文楷体" panose="02010600040101010101" charset="-122"/>
                  <a:cs typeface="华文楷体" panose="02010600040101010101" charset="-122"/>
                </a:endParaRPr>
              </a:p>
              <a:p>
                <a:pPr marL="0" indent="0"/>
                <a14:m>
                  <m:oMath xmlns:m="http://schemas.openxmlformats.org/officeDocument/2006/math">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𝐺</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𝐸</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 (</m:t>
                    </m:r>
                    <m:r>
                      <m:rPr>
                        <m:sty m:val="p"/>
                      </m:rPr>
                      <a:rPr lang="en-US" altLang="zh-CN" sz="1400" b="0" i="1">
                        <a:solidFill>
                          <a:schemeClr val="tx1"/>
                        </a:solidFill>
                        <a:latin typeface="Cambria Math" panose="02040503050406030204" charset="0"/>
                        <a:ea typeface="华文楷体" panose="02010600040101010101" charset="-122"/>
                        <a:cs typeface="Cambria Math" panose="02040503050406030204" charset="0"/>
                      </a:rPr>
                      <m:t>v</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p>
                      <m:sSup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pPr>
                      <m:e>
                        <m:f>
                          <m:f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𝑀</m:t>
                            </m:r>
                          </m:den>
                        </m:f>
                        <m:nary>
                          <m:naryPr>
                            <m:chr m:val="∑"/>
                            <m:limLoc m:val="undOv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naryPr>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𝑚</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sub>
                          <m:sup>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𝑀</m:t>
                            </m:r>
                          </m:sup>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f>
                              <m:f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𝐾</m:t>
                                </m:r>
                              </m:den>
                            </m:f>
                            <m:nary>
                              <m:naryPr>
                                <m:chr m:val="∑"/>
                                <m:limLoc m:val="undOv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naryPr>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𝑘</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sub>
                              <m:sup>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𝐾</m:t>
                                </m:r>
                              </m:sup>
                              <m:e>
                                <m:sSup>
                                  <m:sSup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p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Sup>
                                      <m:sSubSup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Sup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𝑎</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sub>
                                      <m:sup>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𝑚</m:t>
                                        </m:r>
                                      </m:sup>
                                    </m:sSubSup>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e>
                                  <m:sup>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𝑞</m:t>
                                    </m:r>
                                  </m:sup>
                                </m:sSup>
                              </m:e>
                            </m:nary>
                          </m:e>
                        </m:nary>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e>
                      <m:sup>
                        <m:f>
                          <m:f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𝑞</m:t>
                            </m:r>
                          </m:den>
                        </m:f>
                      </m:sup>
                    </m:sSup>
                  </m:oMath>
                </a14:m>
                <a:r>
                  <a:rPr lang="en-US" altLang="zh-CN" sz="1600" b="0" i="0">
                    <a:solidFill>
                      <a:schemeClr val="tx1"/>
                    </a:solidFill>
                    <a:latin typeface="华文楷体" panose="02010600040101010101" charset="-122"/>
                    <a:ea typeface="华文楷体" panose="02010600040101010101" charset="-122"/>
                    <a:cs typeface="华文楷体" panose="02010600040101010101" charset="-122"/>
                  </a:rPr>
                  <a:t> </a:t>
                </a:r>
                <a:endParaRPr lang="en-US" altLang="zh-CN" sz="1600" b="0" i="0">
                  <a:solidFill>
                    <a:schemeClr val="tx1"/>
                  </a:solidFill>
                  <a:latin typeface="华文楷体" panose="02010600040101010101" charset="-122"/>
                  <a:ea typeface="华文楷体" panose="02010600040101010101" charset="-122"/>
                  <a:cs typeface="华文楷体" panose="02010600040101010101" charset="-122"/>
                </a:endParaRPr>
              </a:p>
              <a:p>
                <a:pPr marL="0" indent="0"/>
                <a14:m>
                  <m:oMathPara xmlns:m="http://schemas.openxmlformats.org/officeDocument/2006/math">
                    <m:oMathParaPr>
                      <m:jc m:val="left"/>
                    </m:oMathParaPr>
                    <m:oMath xmlns:m="http://schemas.openxmlformats.org/officeDocument/2006/math">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𝐿</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𝐸</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f>
                        <m:f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fPr>
                        <m:num>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num>
                        <m:den>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𝐿</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den>
                      </m:f>
                      <m:nary>
                        <m:naryPr>
                          <m:chr m:val="∑"/>
                          <m:limLoc m:val="undOvr"/>
                          <m:supHide m:val="on"/>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naryPr>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i="1">
                              <a:solidFill>
                                <a:schemeClr val="tx1"/>
                              </a:solidFill>
                              <a:latin typeface="Cambria Math" panose="02040503050406030204" charset="0"/>
                              <a:ea typeface="华文楷体" panose="02010600040101010101" charset="-122"/>
                              <a:cs typeface="Cambria Math" panose="02040503050406030204" charset="0"/>
                            </a:rPr>
                            <m:t>𝑉</m:t>
                          </m:r>
                          <m:r>
                            <a:rPr lang="en-US" altLang="zh-CN" sz="140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i="1">
                                  <a:solidFill>
                                    <a:schemeClr val="tx1"/>
                                  </a:solidFill>
                                  <a:latin typeface="Cambria Math" panose="02040503050406030204" charset="0"/>
                                  <a:ea typeface="华文楷体" panose="02010600040101010101" charset="-122"/>
                                  <a:cs typeface="Cambria Math" panose="02040503050406030204" charset="0"/>
                                </a:rPr>
                                <m:t>𝑉</m:t>
                              </m:r>
                            </m:e>
                            <m:sub>
                              <m:r>
                                <a:rPr lang="en-US" altLang="zh-CN" sz="1400" i="1">
                                  <a:solidFill>
                                    <a:schemeClr val="tx1"/>
                                  </a:solidFill>
                                  <a:latin typeface="Cambria Math" panose="02040503050406030204" charset="0"/>
                                  <a:ea typeface="华文楷体" panose="02010600040101010101" charset="-122"/>
                                  <a:cs typeface="Cambria Math" panose="02040503050406030204" charset="0"/>
                                </a:rPr>
                                <m:t>𝐿</m:t>
                              </m:r>
                            </m:sub>
                          </m:sSub>
                        </m:sub>
                        <m:sup/>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1</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4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𝐺</m:t>
                              </m:r>
                            </m:e>
                            <m: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𝐸</m:t>
                              </m:r>
                            </m:sub>
                          </m:sSub>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400" b="0" i="1">
                              <a:solidFill>
                                <a:schemeClr val="tx1"/>
                              </a:solidFill>
                              <a:latin typeface="Cambria Math" panose="02040503050406030204" charset="0"/>
                              <a:ea typeface="华文楷体" panose="02010600040101010101" charset="-122"/>
                              <a:cs typeface="Cambria Math" panose="02040503050406030204" charset="0"/>
                            </a:rPr>
                            <m:t>)</m:t>
                          </m:r>
                        </m:e>
                      </m:nary>
                    </m:oMath>
                  </m:oMathPara>
                </a14:m>
                <a:endParaRPr lang="en-US" altLang="zh-CN" sz="1400" b="0" i="1">
                  <a:solidFill>
                    <a:schemeClr val="tx1"/>
                  </a:solidFill>
                  <a:latin typeface="Cambria Math" panose="02040503050406030204" charset="0"/>
                  <a:ea typeface="华文楷体" panose="02010600040101010101" charset="-122"/>
                  <a:cs typeface="Cambria Math" panose="02040503050406030204" charset="0"/>
                </a:endParaRPr>
              </a:p>
            </p:txBody>
          </p:sp>
        </mc:Choice>
        <mc:Fallback>
          <p:sp>
            <p:nvSpPr>
              <p:cNvPr id="15" name="文本框 14"/>
              <p:cNvSpPr txBox="1">
                <a:spLocks noRot="1" noChangeAspect="1" noMove="1" noResize="1" noEditPoints="1" noAdjustHandles="1" noChangeArrowheads="1" noChangeShapeType="1" noTextEdit="1"/>
              </p:cNvSpPr>
              <p:nvPr>
                <p:custDataLst>
                  <p:tags r:id="rId20"/>
                </p:custDataLst>
              </p:nvPr>
            </p:nvSpPr>
            <p:spPr>
              <a:xfrm>
                <a:off x="6144895" y="4221480"/>
                <a:ext cx="5316855" cy="1487805"/>
              </a:xfrm>
              <a:prstGeom prst="rect">
                <a:avLst/>
              </a:prstGeom>
              <a:blipFill rotWithShape="1">
                <a:blip r:embed="rId21"/>
                <a:stretch>
                  <a:fillRect/>
                </a:stretch>
              </a:blipFill>
            </p:spPr>
            <p:txBody>
              <a:bodyPr/>
              <a:lstStyle/>
              <a:p>
                <a:r>
                  <a:rPr lang="zh-CN" altLang="en-US">
                    <a:noFill/>
                  </a:rPr>
                  <a:t> </a:t>
                </a:r>
              </a:p>
            </p:txBody>
          </p:sp>
        </mc:Fallback>
      </mc:AlternateContent>
      <p:sp>
        <p:nvSpPr>
          <p:cNvPr id="20" name="矩形 19"/>
          <p:cNvSpPr>
            <a:spLocks noChangeArrowheads="1"/>
          </p:cNvSpPr>
          <p:nvPr>
            <p:custDataLst>
              <p:tags r:id="rId22"/>
            </p:custDataLst>
          </p:nvPr>
        </p:nvSpPr>
        <p:spPr bwMode="auto">
          <a:xfrm>
            <a:off x="6046470" y="5978525"/>
            <a:ext cx="5415280" cy="56832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mc:AlternateContent xmlns:mc="http://schemas.openxmlformats.org/markup-compatibility/2006">
        <mc:Choice xmlns:a14="http://schemas.microsoft.com/office/drawing/2010/main" Requires="a14">
          <p:sp>
            <p:nvSpPr>
              <p:cNvPr id="21" name="文本框 20"/>
              <p:cNvSpPr txBox="1"/>
              <p:nvPr/>
            </p:nvSpPr>
            <p:spPr>
              <a:xfrm>
                <a:off x="6165850" y="6054090"/>
                <a:ext cx="5230495" cy="440055"/>
              </a:xfrm>
              <a:prstGeom prst="rect">
                <a:avLst/>
              </a:prstGeom>
              <a:noFill/>
            </p:spPr>
            <p:txBody>
              <a:bodyPr wrap="square" rtlCol="0" anchor="t">
                <a:spAutoFit/>
              </a:bodyPr>
              <a:p>
                <a:r>
                  <a:rPr lang="zh-CN" altLang="en-US" sz="1600" b="1">
                    <a:latin typeface="华文楷体" panose="02010600040101010101" charset="-122"/>
                    <a:ea typeface="华文楷体" panose="02010600040101010101" charset="-122"/>
                    <a:cs typeface="华文楷体" panose="02010600040101010101" charset="-122"/>
                    <a:sym typeface="+mn-ea"/>
                  </a:rPr>
                  <a:t>总体训练损失</a:t>
                </a:r>
                <a:r>
                  <a:rPr lang="en-US" altLang="zh-CN" sz="1600" b="1">
                    <a:latin typeface="华文楷体" panose="02010600040101010101" charset="-122"/>
                    <a:ea typeface="华文楷体" panose="02010600040101010101" charset="-122"/>
                    <a:cs typeface="华文楷体" panose="02010600040101010101" charset="-122"/>
                    <a:sym typeface="+mn-ea"/>
                  </a:rPr>
                  <a:t>  </a:t>
                </a:r>
                <a14:m>
                  <m:oMath xmlns:m="http://schemas.openxmlformats.org/officeDocument/2006/math">
                    <m:r>
                      <a:rPr lang="en-US" altLang="zh-CN" sz="1600" i="1">
                        <a:latin typeface="Cambria Math" panose="02040503050406030204" charset="0"/>
                        <a:ea typeface="华文楷体" panose="02010600040101010101" charset="-122"/>
                        <a:cs typeface="Cambria Math" panose="02040503050406030204" charset="0"/>
                        <a:sym typeface="+mn-ea"/>
                      </a:rPr>
                      <m:t>𝐿</m:t>
                    </m:r>
                    <m:r>
                      <a:rPr lang="en-US" altLang="zh-CN" sz="1600" i="1">
                        <a:latin typeface="Cambria Math" panose="02040503050406030204" charset="0"/>
                        <a:ea typeface="华文楷体" panose="02010600040101010101" charset="-122"/>
                        <a:cs typeface="Cambria Math" panose="02040503050406030204" charset="0"/>
                        <a:sym typeface="+mn-ea"/>
                      </a:rPr>
                      <m:t>=</m:t>
                    </m:r>
                    <m:r>
                      <a:rPr lang="en-US" altLang="zh-CN" sz="1600" i="1">
                        <a:latin typeface="Cambria Math" panose="02040503050406030204" charset="0"/>
                        <a:ea typeface="华文楷体" panose="02010600040101010101" charset="-122"/>
                        <a:cs typeface="Cambria Math" panose="02040503050406030204" charset="0"/>
                        <a:sym typeface="+mn-ea"/>
                      </a:rPr>
                      <m:t>𝛼</m:t>
                    </m:r>
                    <m:r>
                      <a:rPr lang="en-US" altLang="zh-CN" sz="1600" i="1">
                        <a:latin typeface="Cambria Math" panose="02040503050406030204" charset="0"/>
                        <a:ea typeface="华文楷体" panose="02010600040101010101" charset="-122"/>
                        <a:cs typeface="Cambria Math" panose="02040503050406030204" charset="0"/>
                        <a:sym typeface="+mn-ea"/>
                      </a:rPr>
                      <m:t>(</m:t>
                    </m:r>
                    <m:sSub>
                      <m:sSubPr>
                        <m:ctrlPr>
                          <a:rPr lang="en-US" altLang="zh-CN" sz="1600" i="1">
                            <a:latin typeface="Cambria Math" panose="02040503050406030204" charset="0"/>
                            <a:ea typeface="华文楷体" panose="02010600040101010101" charset="-122"/>
                            <a:cs typeface="Cambria Math" panose="02040503050406030204" charset="0"/>
                            <a:sym typeface="+mn-ea"/>
                          </a:rPr>
                        </m:ctrlPr>
                      </m:sSubPr>
                      <m:e>
                        <m:r>
                          <a:rPr lang="en-US" altLang="zh-CN" sz="1600" i="1">
                            <a:latin typeface="Cambria Math" panose="02040503050406030204" charset="0"/>
                            <a:ea typeface="华文楷体" panose="02010600040101010101" charset="-122"/>
                            <a:cs typeface="Cambria Math" panose="02040503050406030204" charset="0"/>
                            <a:sym typeface="+mn-ea"/>
                          </a:rPr>
                          <m:t>𝐿</m:t>
                        </m:r>
                      </m:e>
                      <m:sub>
                        <m:r>
                          <a:rPr lang="en-US" altLang="zh-CN" sz="1600" i="1">
                            <a:latin typeface="Cambria Math" panose="02040503050406030204" charset="0"/>
                            <a:ea typeface="华文楷体" panose="02010600040101010101" charset="-122"/>
                            <a:cs typeface="Cambria Math" panose="02040503050406030204" charset="0"/>
                            <a:sym typeface="+mn-ea"/>
                          </a:rPr>
                          <m:t>𝐶</m:t>
                        </m:r>
                      </m:sub>
                    </m:sSub>
                    <m:r>
                      <a:rPr lang="en-US" altLang="zh-CN" sz="1600" i="1">
                        <a:latin typeface="Cambria Math" panose="02040503050406030204" charset="0"/>
                        <a:ea typeface="MS Mincho" charset="0"/>
                        <a:cs typeface="Cambria Math" panose="02040503050406030204" charset="0"/>
                        <a:sym typeface="+mn-ea"/>
                      </a:rPr>
                      <m:t>+</m:t>
                    </m:r>
                    <m:sSub>
                      <m:sSubPr>
                        <m:ctrlPr>
                          <a:rPr lang="en-US" altLang="zh-CN" sz="1600" i="1">
                            <a:latin typeface="Cambria Math" panose="02040503050406030204" charset="0"/>
                            <a:ea typeface="华文楷体" panose="02010600040101010101" charset="-122"/>
                            <a:cs typeface="Cambria Math" panose="02040503050406030204" charset="0"/>
                            <a:sym typeface="+mn-ea"/>
                          </a:rPr>
                        </m:ctrlPr>
                      </m:sSubPr>
                      <m:e>
                        <m:r>
                          <a:rPr lang="en-US" altLang="zh-CN" sz="1600" i="1">
                            <a:latin typeface="Cambria Math" panose="02040503050406030204" charset="0"/>
                            <a:ea typeface="华文楷体" panose="02010600040101010101" charset="-122"/>
                            <a:cs typeface="Cambria Math" panose="02040503050406030204" charset="0"/>
                            <a:sym typeface="+mn-ea"/>
                          </a:rPr>
                          <m:t>𝐿</m:t>
                        </m:r>
                      </m:e>
                      <m:sub>
                        <m:r>
                          <a:rPr lang="en-US" altLang="zh-CN" sz="1600" i="1">
                            <a:latin typeface="Cambria Math" panose="02040503050406030204" charset="0"/>
                            <a:ea typeface="华文楷体" panose="02010600040101010101" charset="-122"/>
                            <a:cs typeface="Cambria Math" panose="02040503050406030204" charset="0"/>
                            <a:sym typeface="+mn-ea"/>
                          </a:rPr>
                          <m:t>𝐷</m:t>
                        </m:r>
                      </m:sub>
                    </m:sSub>
                    <m:r>
                      <a:rPr lang="en-US" altLang="zh-CN" sz="1600" i="1">
                        <a:latin typeface="Cambria Math" panose="02040503050406030204" charset="0"/>
                        <a:ea typeface="MS Mincho" charset="0"/>
                        <a:cs typeface="Cambria Math" panose="02040503050406030204" charset="0"/>
                        <a:sym typeface="+mn-ea"/>
                      </a:rPr>
                      <m:t>+</m:t>
                    </m:r>
                    <m:sSub>
                      <m:sSubPr>
                        <m:ctrlPr>
                          <a:rPr lang="en-US" altLang="zh-CN" sz="1600" i="1">
                            <a:latin typeface="Cambria Math" panose="02040503050406030204" charset="0"/>
                            <a:ea typeface="华文楷体" panose="02010600040101010101" charset="-122"/>
                            <a:cs typeface="Cambria Math" panose="02040503050406030204" charset="0"/>
                            <a:sym typeface="+mn-ea"/>
                          </a:rPr>
                        </m:ctrlPr>
                      </m:sSubPr>
                      <m:e>
                        <m:r>
                          <a:rPr lang="en-US" altLang="zh-CN" sz="1600" i="1">
                            <a:latin typeface="Cambria Math" panose="02040503050406030204" charset="0"/>
                            <a:ea typeface="华文楷体" panose="02010600040101010101" charset="-122"/>
                            <a:cs typeface="Cambria Math" panose="02040503050406030204" charset="0"/>
                            <a:sym typeface="+mn-ea"/>
                          </a:rPr>
                          <m:t>𝐿</m:t>
                        </m:r>
                      </m:e>
                      <m:sub>
                        <m:r>
                          <a:rPr lang="en-US" altLang="zh-CN" sz="1600" i="1">
                            <a:latin typeface="Cambria Math" panose="02040503050406030204" charset="0"/>
                            <a:ea typeface="华文楷体" panose="02010600040101010101" charset="-122"/>
                            <a:cs typeface="Cambria Math" panose="02040503050406030204" charset="0"/>
                            <a:sym typeface="+mn-ea"/>
                          </a:rPr>
                          <m:t>𝐸</m:t>
                        </m:r>
                      </m:sub>
                    </m:sSub>
                    <m:r>
                      <a:rPr lang="en-US" altLang="zh-CN" sz="1600" i="1">
                        <a:latin typeface="Cambria Math" panose="02040503050406030204" charset="0"/>
                        <a:ea typeface="MS Mincho" charset="0"/>
                        <a:cs typeface="Cambria Math" panose="02040503050406030204" charset="0"/>
                        <a:sym typeface="+mn-ea"/>
                      </a:rPr>
                      <m:t>)</m:t>
                    </m:r>
                    <m:r>
                      <a:rPr lang="en-US" altLang="zh-CN" sz="1600" i="1">
                        <a:latin typeface="Cambria Math" panose="02040503050406030204" charset="0"/>
                        <a:ea typeface="MS Mincho" charset="0"/>
                        <a:cs typeface="Cambria Math" panose="02040503050406030204" charset="0"/>
                        <a:sym typeface="+mn-ea"/>
                      </a:rPr>
                      <m:t>+</m:t>
                    </m:r>
                    <m:f>
                      <m:fPr>
                        <m:ctrlPr>
                          <a:rPr lang="en-US" altLang="zh-CN" sz="1600" i="1">
                            <a:latin typeface="Cambria Math" panose="02040503050406030204" charset="0"/>
                            <a:ea typeface="MS Mincho" charset="0"/>
                            <a:cs typeface="Cambria Math" panose="02040503050406030204" charset="0"/>
                            <a:sym typeface="+mn-ea"/>
                          </a:rPr>
                        </m:ctrlPr>
                      </m:fPr>
                      <m:num>
                        <m:r>
                          <a:rPr lang="en-US" altLang="zh-CN" sz="1600" i="1">
                            <a:latin typeface="Cambria Math" panose="02040503050406030204" charset="0"/>
                            <a:ea typeface="MS Mincho" charset="0"/>
                            <a:cs typeface="Cambria Math" panose="02040503050406030204" charset="0"/>
                            <a:sym typeface="+mn-ea"/>
                          </a:rPr>
                          <m:t>1</m:t>
                        </m:r>
                      </m:num>
                      <m:den>
                        <m:r>
                          <a:rPr lang="en-US" altLang="zh-CN" sz="1600" i="1">
                            <a:latin typeface="Cambria Math" panose="02040503050406030204" charset="0"/>
                            <a:ea typeface="MS Mincho" charset="0"/>
                            <a:cs typeface="Cambria Math" panose="02040503050406030204" charset="0"/>
                            <a:sym typeface="+mn-ea"/>
                          </a:rPr>
                          <m:t>𝐾</m:t>
                        </m:r>
                      </m:den>
                    </m:f>
                    <m:nary>
                      <m:naryPr>
                        <m:chr m:val="∑"/>
                        <m:limLoc m:val="undOvr"/>
                        <m:ctrlPr>
                          <a:rPr lang="en-US" altLang="zh-CN" sz="1600" i="1">
                            <a:latin typeface="Cambria Math" panose="02040503050406030204" charset="0"/>
                            <a:ea typeface="MS Mincho" charset="0"/>
                            <a:cs typeface="Cambria Math" panose="02040503050406030204" charset="0"/>
                            <a:sym typeface="+mn-ea"/>
                          </a:rPr>
                        </m:ctrlPr>
                      </m:naryPr>
                      <m:sub>
                        <m:r>
                          <a:rPr lang="en-US" altLang="zh-CN" sz="1600" i="1">
                            <a:latin typeface="Cambria Math" panose="02040503050406030204" charset="0"/>
                            <a:ea typeface="MS Mincho" charset="0"/>
                            <a:cs typeface="Cambria Math" panose="02040503050406030204" charset="0"/>
                            <a:sym typeface="+mn-ea"/>
                          </a:rPr>
                          <m:t>𝑘</m:t>
                        </m:r>
                        <m:r>
                          <a:rPr lang="en-US" altLang="zh-CN" sz="1600" i="1">
                            <a:latin typeface="Cambria Math" panose="02040503050406030204" charset="0"/>
                            <a:ea typeface="MS Mincho" charset="0"/>
                            <a:cs typeface="Cambria Math" panose="02040503050406030204" charset="0"/>
                            <a:sym typeface="+mn-ea"/>
                          </a:rPr>
                          <m:t>=</m:t>
                        </m:r>
                        <m:r>
                          <a:rPr lang="en-US" altLang="zh-CN" sz="1600" i="1">
                            <a:latin typeface="Cambria Math" panose="02040503050406030204" charset="0"/>
                            <a:ea typeface="MS Mincho" charset="0"/>
                            <a:cs typeface="Cambria Math" panose="02040503050406030204" charset="0"/>
                            <a:sym typeface="+mn-ea"/>
                          </a:rPr>
                          <m:t>1</m:t>
                        </m:r>
                      </m:sub>
                      <m:sup>
                        <m:r>
                          <a:rPr lang="en-US" altLang="zh-CN" sz="1600" i="1">
                            <a:latin typeface="Cambria Math" panose="02040503050406030204" charset="0"/>
                            <a:ea typeface="MS Mincho" charset="0"/>
                            <a:cs typeface="Cambria Math" panose="02040503050406030204" charset="0"/>
                            <a:sym typeface="+mn-ea"/>
                          </a:rPr>
                          <m:t>𝐾</m:t>
                        </m:r>
                      </m:sup>
                      <m:e>
                        <m:sSub>
                          <m:sSubPr>
                            <m:ctrlPr>
                              <a:rPr lang="en-US" altLang="zh-CN" sz="1600" i="1">
                                <a:latin typeface="Cambria Math" panose="02040503050406030204" charset="0"/>
                                <a:ea typeface="MS Mincho" charset="0"/>
                                <a:cs typeface="Cambria Math" panose="02040503050406030204" charset="0"/>
                                <a:sym typeface="+mn-ea"/>
                              </a:rPr>
                            </m:ctrlPr>
                          </m:sSubPr>
                          <m:e>
                            <m:r>
                              <a:rPr lang="en-US" altLang="zh-CN" sz="1600" i="1">
                                <a:latin typeface="Cambria Math" panose="02040503050406030204" charset="0"/>
                                <a:ea typeface="MS Mincho" charset="0"/>
                                <a:cs typeface="Cambria Math" panose="02040503050406030204" charset="0"/>
                                <a:sym typeface="+mn-ea"/>
                              </a:rPr>
                              <m:t>𝐿</m:t>
                            </m:r>
                          </m:e>
                          <m:sub>
                            <m:r>
                              <a:rPr lang="en-US" altLang="zh-CN" sz="1600" i="1">
                                <a:latin typeface="Cambria Math" panose="02040503050406030204" charset="0"/>
                                <a:ea typeface="MS Mincho" charset="0"/>
                                <a:cs typeface="Cambria Math" panose="02040503050406030204" charset="0"/>
                                <a:sym typeface="+mn-ea"/>
                              </a:rPr>
                              <m:t>𝐵𝐶𝐸</m:t>
                            </m:r>
                          </m:sub>
                        </m:sSub>
                      </m:e>
                    </m:nary>
                    <m:r>
                      <a:rPr lang="en-US" altLang="zh-CN" sz="1600" i="1">
                        <a:latin typeface="Cambria Math" panose="02040503050406030204" charset="0"/>
                        <a:ea typeface="MS Mincho" charset="0"/>
                        <a:cs typeface="Cambria Math" panose="02040503050406030204" charset="0"/>
                        <a:sym typeface="+mn-ea"/>
                      </a:rPr>
                      <m:t>(</m:t>
                    </m:r>
                    <m:sSub>
                      <m:sSubPr>
                        <m:ctrlPr>
                          <a:rPr lang="en-US" altLang="zh-CN" sz="1600" i="1">
                            <a:latin typeface="Cambria Math" panose="02040503050406030204" charset="0"/>
                            <a:ea typeface="MS Mincho" charset="0"/>
                            <a:cs typeface="Cambria Math" panose="02040503050406030204" charset="0"/>
                            <a:sym typeface="+mn-ea"/>
                          </a:rPr>
                        </m:ctrlPr>
                      </m:sSubPr>
                      <m:e>
                        <m:r>
                          <a:rPr lang="en-US" altLang="zh-CN" sz="1600" i="1">
                            <a:latin typeface="Cambria Math" panose="02040503050406030204" charset="0"/>
                            <a:ea typeface="MS Mincho" charset="0"/>
                            <a:cs typeface="Cambria Math" panose="02040503050406030204" charset="0"/>
                            <a:sym typeface="+mn-ea"/>
                          </a:rPr>
                          <m:t>𝑠</m:t>
                        </m:r>
                      </m:e>
                      <m:sub>
                        <m:r>
                          <a:rPr lang="en-US" altLang="zh-CN" sz="1600" i="1">
                            <a:latin typeface="Cambria Math" panose="02040503050406030204" charset="0"/>
                            <a:ea typeface="MS Mincho" charset="0"/>
                            <a:cs typeface="Cambria Math" panose="02040503050406030204" charset="0"/>
                            <a:sym typeface="+mn-ea"/>
                          </a:rPr>
                          <m:t>𝑘</m:t>
                        </m:r>
                      </m:sub>
                    </m:sSub>
                    <m:r>
                      <a:rPr lang="en-US" altLang="zh-CN" sz="1600" i="1">
                        <a:latin typeface="Cambria Math" panose="02040503050406030204" charset="0"/>
                        <a:ea typeface="MS Mincho" charset="0"/>
                        <a:cs typeface="Cambria Math" panose="02040503050406030204" charset="0"/>
                        <a:sym typeface="+mn-ea"/>
                      </a:rPr>
                      <m:t>,</m:t>
                    </m:r>
                    <m:sSub>
                      <m:sSubPr>
                        <m:ctrlPr>
                          <a:rPr lang="en-US" altLang="zh-CN" sz="1600" i="1">
                            <a:latin typeface="Cambria Math" panose="02040503050406030204" charset="0"/>
                            <a:ea typeface="MS Mincho" charset="0"/>
                            <a:cs typeface="Cambria Math" panose="02040503050406030204" charset="0"/>
                            <a:sym typeface="+mn-ea"/>
                          </a:rPr>
                        </m:ctrlPr>
                      </m:sSubPr>
                      <m:e>
                        <m:r>
                          <a:rPr lang="en-US" altLang="zh-CN" sz="1600" i="1">
                            <a:latin typeface="Cambria Math" panose="02040503050406030204" charset="0"/>
                            <a:ea typeface="MS Mincho" charset="0"/>
                            <a:cs typeface="Cambria Math" panose="02040503050406030204" charset="0"/>
                            <a:sym typeface="+mn-ea"/>
                          </a:rPr>
                          <m:t>𝑦</m:t>
                        </m:r>
                      </m:e>
                      <m:sub>
                        <m:r>
                          <a:rPr lang="en-US" altLang="zh-CN" sz="1600" i="1">
                            <a:latin typeface="Cambria Math" panose="02040503050406030204" charset="0"/>
                            <a:ea typeface="MS Mincho" charset="0"/>
                            <a:cs typeface="Cambria Math" panose="02040503050406030204" charset="0"/>
                            <a:sym typeface="+mn-ea"/>
                          </a:rPr>
                          <m:t>𝑘</m:t>
                        </m:r>
                      </m:sub>
                    </m:sSub>
                    <m:r>
                      <a:rPr lang="en-US" altLang="zh-CN" sz="1600" i="1">
                        <a:latin typeface="Cambria Math" panose="02040503050406030204" charset="0"/>
                        <a:ea typeface="MS Mincho" charset="0"/>
                        <a:cs typeface="Cambria Math" panose="02040503050406030204" charset="0"/>
                        <a:sym typeface="+mn-ea"/>
                      </a:rPr>
                      <m:t>)</m:t>
                    </m:r>
                  </m:oMath>
                </a14:m>
                <a:endParaRPr lang="en-US" altLang="zh-CN" sz="1600" i="1">
                  <a:latin typeface="Cambria Math" panose="02040503050406030204" charset="0"/>
                  <a:ea typeface="MS Mincho" charset="0"/>
                  <a:cs typeface="Cambria Math" panose="02040503050406030204" charset="0"/>
                  <a:sym typeface="+mn-ea"/>
                </a:endParaRPr>
              </a:p>
            </p:txBody>
          </p:sp>
        </mc:Choice>
        <mc:Fallback>
          <p:sp>
            <p:nvSpPr>
              <p:cNvPr id="21" name="文本框 20"/>
              <p:cNvSpPr txBox="1">
                <a:spLocks noRot="1" noChangeAspect="1" noMove="1" noResize="1" noEditPoints="1" noAdjustHandles="1" noChangeArrowheads="1" noChangeShapeType="1" noTextEdit="1"/>
              </p:cNvSpPr>
              <p:nvPr/>
            </p:nvSpPr>
            <p:spPr>
              <a:xfrm>
                <a:off x="6165850" y="6054090"/>
                <a:ext cx="5230495" cy="440055"/>
              </a:xfrm>
              <a:prstGeom prst="rect">
                <a:avLst/>
              </a:prstGeom>
              <a:blipFill rotWithShape="1">
                <a:blip r:embed="rId23"/>
                <a:stretch>
                  <a:fillRect/>
                </a:stretch>
              </a:blipFill>
            </p:spPr>
            <p:txBody>
              <a:bodyPr/>
              <a:lstStyle/>
              <a:p>
                <a:r>
                  <a:rPr lang="zh-CN" altLang="en-US">
                    <a:noFill/>
                  </a:rPr>
                  <a:t> </a:t>
                </a:r>
              </a:p>
            </p:txBody>
          </p:sp>
        </mc:Fallback>
      </mc:AlternateContent>
      <p:sp>
        <p:nvSpPr>
          <p:cNvPr id="5" name="文本框 4"/>
          <p:cNvSpPr txBox="1"/>
          <p:nvPr/>
        </p:nvSpPr>
        <p:spPr>
          <a:xfrm>
            <a:off x="944245" y="1099820"/>
            <a:ext cx="4591685" cy="1463675"/>
          </a:xfrm>
          <a:prstGeom prst="rect">
            <a:avLst/>
          </a:prstGeom>
        </p:spPr>
        <p:txBody>
          <a:bodyPr wrap="square">
            <a:noAutofit/>
          </a:bodyPr>
          <a:p>
            <a:pPr indent="0" fontAlgn="auto">
              <a:lnSpc>
                <a:spcPts val="1930"/>
              </a:lnSpc>
              <a:spcBef>
                <a:spcPts val="600"/>
              </a:spcBef>
              <a:spcAft>
                <a:spcPts val="600"/>
              </a:spcAft>
            </a:pPr>
            <a:r>
              <a:rPr lang="zh-CN" altLang="en-US" sz="1700" b="0" i="0">
                <a:latin typeface="华文楷体" panose="02010600040101010101" charset="-122"/>
                <a:ea typeface="华文楷体" panose="02010600040101010101" charset="-122"/>
                <a:cs typeface="华文楷体" panose="02010600040101010101" charset="-122"/>
              </a:rPr>
              <a:t>逻辑规则集Π虽然能灵活表达层次结构T中符号概念的整体-部分关系和互斥关系，但存在两个挑战：</a:t>
            </a:r>
            <a:endParaRPr lang="zh-CN" altLang="en-US" sz="1700" b="0" i="0">
              <a:latin typeface="华文楷体" panose="02010600040101010101" charset="-122"/>
              <a:ea typeface="华文楷体" panose="02010600040101010101" charset="-122"/>
              <a:cs typeface="华文楷体" panose="02010600040101010101" charset="-122"/>
            </a:endParaRPr>
          </a:p>
          <a:p>
            <a:pPr indent="0" fontAlgn="auto">
              <a:lnSpc>
                <a:spcPts val="1930"/>
              </a:lnSpc>
              <a:spcBef>
                <a:spcPct val="0"/>
              </a:spcBef>
              <a:spcAft>
                <a:spcPct val="0"/>
              </a:spcAft>
              <a:buNone/>
            </a:pPr>
            <a:r>
              <a:rPr lang="zh-CN" altLang="en-US" sz="1700" b="0" i="0">
                <a:latin typeface="华文楷体" panose="02010600040101010101" charset="-122"/>
                <a:ea typeface="华文楷体" panose="02010600040101010101" charset="-122"/>
                <a:cs typeface="华文楷体" panose="02010600040101010101" charset="-122"/>
              </a:rPr>
              <a:t>①</a:t>
            </a:r>
            <a:r>
              <a:rPr lang="zh-CN" altLang="en-US" sz="1700" b="1" i="0">
                <a:solidFill>
                  <a:srgbClr val="FF0000"/>
                </a:solidFill>
                <a:latin typeface="华文楷体" panose="02010600040101010101" charset="-122"/>
                <a:ea typeface="华文楷体" panose="02010600040101010101" charset="-122"/>
                <a:cs typeface="华文楷体" panose="02010600040101010101" charset="-122"/>
              </a:rPr>
              <a:t>离散性</a:t>
            </a:r>
            <a:r>
              <a:rPr lang="zh-CN" altLang="en-US" sz="1700" b="0" i="0">
                <a:latin typeface="华文楷体" panose="02010600040101010101" charset="-122"/>
                <a:ea typeface="华文楷体" panose="02010600040101010101" charset="-122"/>
                <a:cs typeface="华文楷体" panose="02010600040101010101" charset="-122"/>
              </a:rPr>
              <a:t>：传统逻辑公式基于布尔变量（真/假值）</a:t>
            </a:r>
            <a:endParaRPr lang="zh-CN" altLang="en-US" sz="1700" b="0" i="0">
              <a:latin typeface="华文楷体" panose="02010600040101010101" charset="-122"/>
              <a:ea typeface="华文楷体" panose="02010600040101010101" charset="-122"/>
              <a:cs typeface="华文楷体" panose="02010600040101010101" charset="-122"/>
            </a:endParaRPr>
          </a:p>
          <a:p>
            <a:pPr indent="0" fontAlgn="auto">
              <a:lnSpc>
                <a:spcPts val="1930"/>
              </a:lnSpc>
              <a:spcBef>
                <a:spcPct val="0"/>
              </a:spcBef>
              <a:spcAft>
                <a:spcPct val="0"/>
              </a:spcAft>
              <a:buNone/>
            </a:pPr>
            <a:r>
              <a:rPr lang="zh-CN" altLang="en-US" sz="1700" b="0" i="0">
                <a:latin typeface="华文楷体" panose="02010600040101010101" charset="-122"/>
                <a:ea typeface="华文楷体" panose="02010600040101010101" charset="-122"/>
                <a:cs typeface="华文楷体" panose="02010600040101010101" charset="-122"/>
              </a:rPr>
              <a:t>②</a:t>
            </a:r>
            <a:r>
              <a:rPr lang="zh-CN" altLang="en-US" sz="1700" b="1" i="0">
                <a:solidFill>
                  <a:srgbClr val="FF0000"/>
                </a:solidFill>
                <a:latin typeface="华文楷体" panose="02010600040101010101" charset="-122"/>
                <a:ea typeface="华文楷体" panose="02010600040101010101" charset="-122"/>
                <a:cs typeface="华文楷体" panose="02010600040101010101" charset="-122"/>
              </a:rPr>
              <a:t>不可微性</a:t>
            </a:r>
            <a:r>
              <a:rPr lang="zh-CN" altLang="en-US" sz="1700" b="0" i="0">
                <a:latin typeface="华文楷体" panose="02010600040101010101" charset="-122"/>
                <a:ea typeface="华文楷体" panose="02010600040101010101" charset="-122"/>
                <a:cs typeface="华文楷体" panose="02010600040101010101" charset="-122"/>
              </a:rPr>
              <a:t>：逻辑符号（如∀量词、⇒蕴含）无法直接参与梯度下降</a:t>
            </a:r>
            <a:endParaRPr lang="zh-CN" altLang="en-US" b="0" i="0">
              <a:latin typeface="华文楷体" panose="02010600040101010101" charset="-122"/>
              <a:ea typeface="华文楷体" panose="02010600040101010101" charset="-122"/>
              <a:cs typeface="华文楷体" panose="02010600040101010101" charset="-122"/>
            </a:endParaRPr>
          </a:p>
        </p:txBody>
      </p:sp>
      <mc:AlternateContent xmlns:mc="http://schemas.openxmlformats.org/markup-compatibility/2006">
        <mc:Choice xmlns:a14="http://schemas.microsoft.com/office/drawing/2010/main" Requires="a14">
          <p:sp>
            <p:nvSpPr>
              <p:cNvPr id="9" name="文本框 8"/>
              <p:cNvSpPr txBox="1"/>
              <p:nvPr/>
            </p:nvSpPr>
            <p:spPr>
              <a:xfrm>
                <a:off x="8195945" y="2148205"/>
                <a:ext cx="3634740" cy="255270"/>
              </a:xfrm>
              <a:prstGeom prst="rect">
                <a:avLst/>
              </a:prstGeom>
              <a:noFill/>
            </p:spPr>
            <p:txBody>
              <a:bodyPr wrap="square" rtlCol="0" anchor="t">
                <a:noAutofit/>
              </a:bodyPr>
              <a:p>
                <a14:m>
                  <m:oMath xmlns:m="http://schemas.openxmlformats.org/officeDocument/2006/math">
                    <m:sSub>
                      <m:sSubPr>
                        <m:ctrlPr>
                          <a:rPr lang="en-US" altLang="zh-CN" sz="12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200"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sz="1200"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sz="12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2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200" b="0" i="1">
                        <a:solidFill>
                          <a:schemeClr val="tx1"/>
                        </a:solidFill>
                        <a:latin typeface="Cambria Math" panose="02040503050406030204" charset="0"/>
                        <a:ea typeface="华文楷体" panose="02010600040101010101" charset="-122"/>
                        <a:cs typeface="Cambria Math" panose="02040503050406030204" charset="0"/>
                      </a:rPr>
                      <m:t>]</m:t>
                    </m:r>
                    <m:r>
                      <a:rPr lang="en-US" altLang="zh-CN" sz="1200" i="1">
                        <a:solidFill>
                          <a:schemeClr val="tx1"/>
                        </a:solidFill>
                        <a:latin typeface="Cambria Math" panose="02040503050406030204" charset="0"/>
                        <a:ea typeface="华文楷体" panose="02010600040101010101" charset="-122"/>
                        <a:cs typeface="Cambria Math" panose="02040503050406030204" charset="0"/>
                      </a:rPr>
                      <m:t>∈[</m:t>
                    </m:r>
                    <m:r>
                      <a:rPr lang="en-US" altLang="zh-CN" sz="1200" i="1">
                        <a:solidFill>
                          <a:schemeClr val="tx1"/>
                        </a:solidFill>
                        <a:latin typeface="Cambria Math" panose="02040503050406030204" charset="0"/>
                        <a:ea typeface="华文楷体" panose="02010600040101010101" charset="-122"/>
                        <a:cs typeface="Cambria Math" panose="02040503050406030204" charset="0"/>
                      </a:rPr>
                      <m:t>0</m:t>
                    </m:r>
                    <m:r>
                      <a:rPr lang="en-US" altLang="zh-CN" sz="1200" i="1">
                        <a:solidFill>
                          <a:schemeClr val="tx1"/>
                        </a:solidFill>
                        <a:latin typeface="Cambria Math" panose="02040503050406030204" charset="0"/>
                        <a:ea typeface="华文楷体" panose="02010600040101010101" charset="-122"/>
                        <a:cs typeface="Cambria Math" panose="02040503050406030204" charset="0"/>
                      </a:rPr>
                      <m:t>,</m:t>
                    </m:r>
                    <m:r>
                      <a:rPr lang="en-US" altLang="zh-CN" sz="1200" i="1">
                        <a:solidFill>
                          <a:schemeClr val="tx1"/>
                        </a:solidFill>
                        <a:latin typeface="Cambria Math" panose="02040503050406030204" charset="0"/>
                        <a:ea typeface="华文楷体" panose="02010600040101010101" charset="-122"/>
                        <a:cs typeface="Cambria Math" panose="02040503050406030204" charset="0"/>
                      </a:rPr>
                      <m:t>1</m:t>
                    </m:r>
                    <m:r>
                      <a:rPr lang="en-US" altLang="zh-CN" sz="1200" i="1">
                        <a:solidFill>
                          <a:schemeClr val="tx1"/>
                        </a:solidFill>
                        <a:latin typeface="Cambria Math" panose="02040503050406030204" charset="0"/>
                        <a:ea typeface="华文楷体" panose="02010600040101010101" charset="-122"/>
                        <a:cs typeface="Cambria Math" panose="02040503050406030204" charset="0"/>
                      </a:rPr>
                      <m:t>]</m:t>
                    </m:r>
                  </m:oMath>
                </a14:m>
                <a:r>
                  <a:rPr lang="en-US" altLang="zh-CN" sz="1200" b="0" i="1">
                    <a:solidFill>
                      <a:schemeClr val="tx1"/>
                    </a:solidFill>
                    <a:latin typeface="Cambria Math" panose="02040503050406030204" charset="0"/>
                    <a:ea typeface="华文楷体" panose="02010600040101010101" charset="-122"/>
                    <a:cs typeface="Cambria Math" panose="02040503050406030204" charset="0"/>
                  </a:rPr>
                  <a:t> </a:t>
                </a:r>
                <a:r>
                  <a:rPr lang="en-US" altLang="zh-CN" sz="1200" b="0">
                    <a:solidFill>
                      <a:schemeClr val="tx1"/>
                    </a:solidFill>
                    <a:latin typeface="Cambria Math" panose="02040503050406030204" charset="0"/>
                    <a:ea typeface="华文楷体" panose="02010600040101010101" charset="-122"/>
                    <a:cs typeface="Cambria Math" panose="02040503050406030204" charset="0"/>
                  </a:rPr>
                  <a:t>第k</a:t>
                </a:r>
                <a:r>
                  <a:rPr lang="zh-CN" altLang="en-US" sz="1200" b="0">
                    <a:solidFill>
                      <a:schemeClr val="tx1"/>
                    </a:solidFill>
                    <a:latin typeface="Cambria Math" panose="02040503050406030204" charset="0"/>
                    <a:ea typeface="华文楷体" panose="02010600040101010101" charset="-122"/>
                    <a:cs typeface="Cambria Math" panose="02040503050406030204" charset="0"/>
                  </a:rPr>
                  <a:t>个像素对类别</a:t>
                </a:r>
                <a:r>
                  <a:rPr lang="en-US" altLang="zh-CN" sz="1200" b="0">
                    <a:solidFill>
                      <a:schemeClr val="tx1"/>
                    </a:solidFill>
                    <a:latin typeface="Cambria Math" panose="02040503050406030204" charset="0"/>
                    <a:ea typeface="华文楷体" panose="02010600040101010101" charset="-122"/>
                    <a:cs typeface="Cambria Math" panose="02040503050406030204" charset="0"/>
                  </a:rPr>
                  <a:t>v</a:t>
                </a:r>
                <a:r>
                  <a:rPr lang="zh-CN" altLang="en-US" sz="1200" b="0">
                    <a:solidFill>
                      <a:schemeClr val="tx1"/>
                    </a:solidFill>
                    <a:latin typeface="Cambria Math" panose="02040503050406030204" charset="0"/>
                    <a:ea typeface="华文楷体" panose="02010600040101010101" charset="-122"/>
                    <a:cs typeface="Cambria Math" panose="02040503050406030204" charset="0"/>
                  </a:rPr>
                  <a:t>的预测置信度</a:t>
                </a:r>
                <a:endParaRPr lang="zh-CN" altLang="en-US" sz="1200" b="0">
                  <a:solidFill>
                    <a:schemeClr val="tx1"/>
                  </a:solidFill>
                  <a:latin typeface="Cambria Math" panose="02040503050406030204" charset="0"/>
                  <a:ea typeface="华文楷体" panose="02010600040101010101" charset="-122"/>
                  <a:cs typeface="Cambria Math" panose="02040503050406030204"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8195945" y="2148205"/>
                <a:ext cx="3634740" cy="255270"/>
              </a:xfrm>
              <a:prstGeom prst="rect">
                <a:avLst/>
              </a:prstGeom>
              <a:blipFill rotWithShape="1">
                <a:blip r:embed="rId2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9983470" y="1762760"/>
                <a:ext cx="1393825" cy="480695"/>
              </a:xfrm>
              <a:prstGeom prst="rect">
                <a:avLst/>
              </a:prstGeom>
              <a:noFill/>
            </p:spPr>
            <p:txBody>
              <a:bodyPr wrap="square" rtlCol="0" anchor="t">
                <a:noAutofit/>
              </a:bodyPr>
              <a:p>
                <a14:m>
                  <m:oMathPara xmlns:m="http://schemas.openxmlformats.org/officeDocument/2006/math">
                    <m:oMathParaPr>
                      <m:jc m:val="centerGroup"/>
                    </m:oMathParaPr>
                    <m:oMath xmlns:m="http://schemas.openxmlformats.org/officeDocument/2006/math">
                      <m:sSub>
                        <m:sSubPr>
                          <m:ctrlPr>
                            <a:rPr lang="en-US" altLang="zh-CN" sz="12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200" b="0" i="1">
                              <a:solidFill>
                                <a:schemeClr val="tx1"/>
                              </a:solidFill>
                              <a:latin typeface="Cambria Math" panose="02040503050406030204" charset="0"/>
                              <a:ea typeface="华文楷体" panose="02010600040101010101" charset="-122"/>
                              <a:cs typeface="Cambria Math" panose="02040503050406030204" charset="0"/>
                            </a:rPr>
                            <m:t>𝑝</m:t>
                          </m:r>
                        </m:e>
                        <m:sub>
                          <m:r>
                            <a:rPr lang="en-US" altLang="zh-CN" sz="12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200" b="0" i="1">
                              <a:solidFill>
                                <a:schemeClr val="tx1"/>
                              </a:solidFill>
                              <a:latin typeface="Cambria Math" panose="02040503050406030204" charset="0"/>
                              <a:ea typeface="华文楷体" panose="02010600040101010101" charset="-122"/>
                              <a:cs typeface="Cambria Math" panose="02040503050406030204" charset="0"/>
                            </a:rPr>
                            <m:t> </m:t>
                          </m:r>
                        </m:sub>
                      </m:sSub>
                      <m:r>
                        <a:rPr lang="en-US" altLang="zh-CN" sz="1200" b="0" i="1">
                          <a:solidFill>
                            <a:schemeClr val="tx1"/>
                          </a:solidFill>
                          <a:latin typeface="Cambria Math" panose="02040503050406030204" charset="0"/>
                          <a:ea typeface="华文楷体" panose="02010600040101010101" charset="-122"/>
                          <a:cs typeface="Cambria Math" panose="02040503050406030204" charset="0"/>
                        </a:rPr>
                        <m:t>节点</m:t>
                      </m:r>
                      <m:r>
                        <a:rPr lang="en-US" altLang="zh-CN" sz="1200"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sz="1200" b="0" i="1">
                          <a:solidFill>
                            <a:schemeClr val="tx1"/>
                          </a:solidFill>
                          <a:latin typeface="Cambria Math" panose="02040503050406030204" charset="0"/>
                          <a:ea typeface="华文楷体" panose="02010600040101010101" charset="-122"/>
                          <a:cs typeface="Cambria Math" panose="02040503050406030204" charset="0"/>
                        </a:rPr>
                        <m:t>的父节点</m:t>
                      </m:r>
                    </m:oMath>
                  </m:oMathPara>
                </a14:m>
                <a:endParaRPr lang="en-US" altLang="zh-CN" sz="1200" b="0" i="1">
                  <a:solidFill>
                    <a:schemeClr val="tx1"/>
                  </a:solidFill>
                  <a:latin typeface="Cambria Math" panose="02040503050406030204" charset="0"/>
                  <a:ea typeface="华文楷体" panose="02010600040101010101" charset="-122"/>
                  <a:cs typeface="Cambria Math" panose="02040503050406030204" charset="0"/>
                </a:endParaRPr>
              </a:p>
              <a:p>
                <a:r>
                  <a:rPr lang="en-US" altLang="zh-CN" sz="1200" b="0">
                    <a:solidFill>
                      <a:schemeClr val="tx1"/>
                    </a:solidFill>
                    <a:latin typeface="Cambria Math" panose="02040503050406030204" charset="0"/>
                    <a:ea typeface="华文楷体" panose="02010600040101010101" charset="-122"/>
                    <a:cs typeface="Cambria Math" panose="02040503050406030204" charset="0"/>
                  </a:rPr>
                  <a:t>q</a:t>
                </a:r>
                <a:r>
                  <a:rPr lang="zh-CN" altLang="en-US" sz="1200" b="0">
                    <a:solidFill>
                      <a:schemeClr val="tx1"/>
                    </a:solidFill>
                    <a:latin typeface="Cambria Math" panose="02040503050406030204" charset="0"/>
                    <a:ea typeface="华文楷体" panose="02010600040101010101" charset="-122"/>
                    <a:cs typeface="Cambria Math" panose="02040503050406030204" charset="0"/>
                  </a:rPr>
                  <a:t>：广义均值系数</a:t>
                </a:r>
                <a:endParaRPr lang="zh-CN" altLang="en-US" sz="1200" b="0">
                  <a:solidFill>
                    <a:schemeClr val="tx1"/>
                  </a:solidFill>
                  <a:latin typeface="Cambria Math" panose="02040503050406030204" charset="0"/>
                  <a:ea typeface="华文楷体" panose="02010600040101010101" charset="-122"/>
                  <a:cs typeface="Cambria Math" panose="02040503050406030204"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9983470" y="1762760"/>
                <a:ext cx="1393825" cy="480695"/>
              </a:xfrm>
              <a:prstGeom prst="rect">
                <a:avLst/>
              </a:prstGeom>
              <a:blipFill rotWithShape="1">
                <a:blip r:embed="rId25"/>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0" name="矩形 19"/>
          <p:cNvSpPr>
            <a:spLocks noChangeArrowheads="1"/>
          </p:cNvSpPr>
          <p:nvPr>
            <p:custDataLst>
              <p:tags r:id="rId1"/>
            </p:custDataLst>
          </p:nvPr>
        </p:nvSpPr>
        <p:spPr bwMode="auto">
          <a:xfrm>
            <a:off x="1042035" y="3424555"/>
            <a:ext cx="9740900" cy="3285490"/>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13" name="矩形 12"/>
          <p:cNvSpPr>
            <a:spLocks noChangeArrowheads="1"/>
          </p:cNvSpPr>
          <p:nvPr>
            <p:custDataLst>
              <p:tags r:id="rId2"/>
            </p:custDataLst>
          </p:nvPr>
        </p:nvSpPr>
        <p:spPr bwMode="auto">
          <a:xfrm>
            <a:off x="459105" y="1033780"/>
            <a:ext cx="3071495" cy="2072640"/>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23" name="矩形 22"/>
          <p:cNvSpPr/>
          <p:nvPr/>
        </p:nvSpPr>
        <p:spPr>
          <a:xfrm>
            <a:off x="1152000" y="288000"/>
            <a:ext cx="29260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逻辑诱导推理</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graphicFrame>
        <p:nvGraphicFramePr>
          <p:cNvPr id="15" name="对象 14">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4" imgW="114300" imgH="215900" progId="Equation.KSEE3">
                  <p:embed/>
                </p:oleObj>
              </mc:Choice>
              <mc:Fallback>
                <p:oleObj name="" r:id="rId4" imgW="114300" imgH="215900" progId="Equation.KSEE3">
                  <p:embed/>
                  <p:pic>
                    <p:nvPicPr>
                      <p:cNvPr id="0" name="图片 1024"/>
                      <p:cNvPicPr/>
                      <p:nvPr/>
                    </p:nvPicPr>
                    <p:blipFill>
                      <a:blip r:embed="rId5"/>
                      <a:stretch>
                        <a:fillRect/>
                      </a:stretch>
                    </p:blipFill>
                    <p:spPr>
                      <a:xfrm>
                        <a:off x="6038850" y="3321050"/>
                        <a:ext cx="114300" cy="215900"/>
                      </a:xfrm>
                      <a:prstGeom prst="rect">
                        <a:avLst/>
                      </a:prstGeom>
                    </p:spPr>
                  </p:pic>
                </p:oleObj>
              </mc:Fallback>
            </mc:AlternateContent>
          </a:graphicData>
        </a:graphic>
      </p:graphicFrame>
      <p:pic>
        <p:nvPicPr>
          <p:cNvPr id="4" name="图片 3"/>
          <p:cNvPicPr>
            <a:picLocks noChangeAspect="1"/>
          </p:cNvPicPr>
          <p:nvPr/>
        </p:nvPicPr>
        <p:blipFill>
          <a:blip r:embed="rId6"/>
          <a:stretch>
            <a:fillRect/>
          </a:stretch>
        </p:blipFill>
        <p:spPr>
          <a:xfrm>
            <a:off x="3744595" y="1112520"/>
            <a:ext cx="7802245" cy="1939925"/>
          </a:xfrm>
          <a:prstGeom prst="rect">
            <a:avLst/>
          </a:prstGeom>
        </p:spPr>
      </p:pic>
      <mc:AlternateContent xmlns:mc="http://schemas.openxmlformats.org/markup-compatibility/2006">
        <mc:Choice xmlns:a14="http://schemas.microsoft.com/office/drawing/2010/main" Requires="a14">
          <p:sp>
            <p:nvSpPr>
              <p:cNvPr id="5" name="文本框 4"/>
              <p:cNvSpPr txBox="1"/>
              <p:nvPr/>
            </p:nvSpPr>
            <p:spPr>
              <a:xfrm>
                <a:off x="1119441" y="3464179"/>
                <a:ext cx="3906520" cy="39370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𝐶</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𝑚𝑒𝑠𝑠𝑎𝑔𝑒</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ℎ</m:t>
                          </m:r>
                        </m:e>
                        <m:sub>
                          <m:r>
                            <a:rPr lang="en-US" altLang="zh-CN" i="1">
                              <a:latin typeface="Cambria Math" panose="02040503050406030204" charset="0"/>
                              <a:cs typeface="Cambria Math" panose="02040503050406030204" charset="0"/>
                            </a:rPr>
                            <m:t>𝑣</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𝑝</m:t>
                              </m:r>
                            </m:e>
                            <m:sub>
                              <m:r>
                                <a:rPr lang="en-US" altLang="zh-CN" i="1">
                                  <a:latin typeface="Cambria Math" panose="02040503050406030204" charset="0"/>
                                  <a:cs typeface="Cambria Math" panose="02040503050406030204" charset="0"/>
                                </a:rPr>
                                <m:t>𝑣</m:t>
                              </m:r>
                            </m:sub>
                          </m:sSub>
                        </m:sub>
                        <m:sup>
                          <m:r>
                            <a:rPr lang="en-US" altLang="zh-CN" i="1">
                              <a:latin typeface="Cambria Math" panose="02040503050406030204" charset="0"/>
                              <a:cs typeface="Cambria Math" panose="02040503050406030204" charset="0"/>
                            </a:rPr>
                            <m:t>𝐶</m:t>
                          </m:r>
                        </m:sup>
                      </m:sSub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𝑣</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𝑝</m:t>
                          </m:r>
                        </m:e>
                        <m:sub>
                          <m:r>
                            <a:rPr lang="en-US" altLang="zh-CN" i="1">
                              <a:latin typeface="Cambria Math" panose="02040503050406030204" charset="0"/>
                              <a:cs typeface="Cambria Math" panose="02040503050406030204" charset="0"/>
                            </a:rPr>
                            <m:t>𝑣</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1119441" y="3464179"/>
                <a:ext cx="3906520" cy="393700"/>
              </a:xfrm>
              <a:prstGeom prst="rect">
                <a:avLst/>
              </a:prstGeom>
              <a:blipFill rotWithShape="1">
                <a:blip r:embed="rId7"/>
                <a:stretch>
                  <a:fillRect l="-15" t="-65" r="15" b="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4947920" y="3499485"/>
                <a:ext cx="2941955" cy="368300"/>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m:t>
                      </m:r>
                      <m:sSub>
                        <m:sSubPr>
                          <m:ctrlPr>
                            <a:rPr lang="en-US" altLang="zh-CN"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b="0" i="1">
                              <a:solidFill>
                                <a:schemeClr val="tx1"/>
                              </a:solidFill>
                              <a:latin typeface="Cambria Math" panose="02040503050406030204" charset="0"/>
                              <a:ea typeface="华文楷体" panose="02010600040101010101" charset="-122"/>
                              <a:cs typeface="Cambria Math" panose="02040503050406030204" charset="0"/>
                            </a:rPr>
                            <m:t>1</m:t>
                          </m:r>
                          <m:r>
                            <a:rPr lang="en-US" altLang="zh-CN" b="0" i="1">
                              <a:solidFill>
                                <a:schemeClr val="tx1"/>
                              </a:solidFill>
                              <a:latin typeface="Cambria Math" panose="02040503050406030204" charset="0"/>
                              <a:ea typeface="华文楷体" panose="02010600040101010101" charset="-122"/>
                              <a:cs typeface="Cambria Math" panose="02040503050406030204" charset="0"/>
                            </a:rPr>
                            <m:t>−</m:t>
                          </m:r>
                          <m:r>
                            <a:rPr lang="en-US" altLang="zh-CN"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b="0" i="1">
                          <a:solidFill>
                            <a:schemeClr val="tx1"/>
                          </a:solidFill>
                          <a:latin typeface="Cambria Math" panose="02040503050406030204" charset="0"/>
                          <a:ea typeface="华文楷体" panose="02010600040101010101" charset="-122"/>
                          <a:cs typeface="Cambria Math" panose="02040503050406030204" charset="0"/>
                        </a:rPr>
                        <m:t>[</m:t>
                      </m:r>
                      <m:r>
                        <a:rPr lang="en-US" altLang="zh-CN"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b="0" i="1">
                          <a:solidFill>
                            <a:schemeClr val="tx1"/>
                          </a:solidFill>
                          <a:latin typeface="Cambria Math" panose="02040503050406030204" charset="0"/>
                          <a:ea typeface="华文楷体" panose="02010600040101010101" charset="-122"/>
                          <a:cs typeface="Cambria Math" panose="02040503050406030204" charset="0"/>
                        </a:rPr>
                        <m:t>[</m:t>
                      </m:r>
                      <m:r>
                        <a:rPr lang="en-US" altLang="zh-CN"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b="0" i="1">
                              <a:solidFill>
                                <a:schemeClr val="tx1"/>
                              </a:solidFill>
                              <a:latin typeface="Cambria Math" panose="02040503050406030204" charset="0"/>
                              <a:ea typeface="华文楷体" panose="02010600040101010101" charset="-122"/>
                              <a:cs typeface="Cambria Math" panose="02040503050406030204" charset="0"/>
                            </a:rPr>
                            <m:t>𝑝</m:t>
                          </m:r>
                        </m:e>
                        <m:sub>
                          <m:r>
                            <a:rPr lang="en-US" altLang="zh-CN" b="0" i="1">
                              <a:solidFill>
                                <a:schemeClr val="tx1"/>
                              </a:solidFill>
                              <a:latin typeface="Cambria Math" panose="02040503050406030204" charset="0"/>
                              <a:ea typeface="华文楷体" panose="02010600040101010101" charset="-122"/>
                              <a:cs typeface="Cambria Math" panose="02040503050406030204" charset="0"/>
                            </a:rPr>
                            <m:t>𝑣</m:t>
                          </m:r>
                        </m:sub>
                      </m:sSub>
                      <m:r>
                        <a:rPr lang="en-US" altLang="zh-CN" b="0" i="1">
                          <a:solidFill>
                            <a:schemeClr val="tx1"/>
                          </a:solidFill>
                          <a:latin typeface="Cambria Math" panose="02040503050406030204" charset="0"/>
                          <a:ea typeface="华文楷体" panose="02010600040101010101" charset="-122"/>
                          <a:cs typeface="Cambria Math" panose="02040503050406030204" charset="0"/>
                        </a:rPr>
                        <m:t>]</m:t>
                      </m:r>
                    </m:oMath>
                  </m:oMathPara>
                </a14:m>
                <a:endParaRPr lang="en-US" altLang="zh-CN" b="0" i="1">
                  <a:solidFill>
                    <a:schemeClr val="tx1"/>
                  </a:solidFill>
                  <a:latin typeface="Cambria Math" panose="02040503050406030204" charset="0"/>
                  <a:ea typeface="华文楷体" panose="02010600040101010101" charset="-122"/>
                  <a:cs typeface="Cambria Math" panose="020405030504060302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4947920" y="3499485"/>
                <a:ext cx="2941955" cy="368300"/>
              </a:xfrm>
              <a:prstGeom prst="rect">
                <a:avLst/>
              </a:prstGeom>
              <a:blipFill rotWithShape="1">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1009650" y="3994785"/>
                <a:ext cx="5403850" cy="42862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𝐷</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𝑚𝑒𝑠𝑠𝑎𝑔𝑒</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ℎ</m:t>
                          </m:r>
                        </m:e>
                        <m:sub>
                          <m:r>
                            <a:rPr lang="en-US" altLang="zh-CN" i="1">
                              <a:latin typeface="Cambria Math" panose="02040503050406030204" charset="0"/>
                              <a:cs typeface="Cambria Math" panose="02040503050406030204" charset="0"/>
                            </a:rPr>
                            <m:t>𝑣</m:t>
                          </m:r>
                          <m:r>
                            <a:rPr lang="en-US" altLang="zh-CN" i="1">
                              <a:latin typeface="Cambria Math" panose="02040503050406030204"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𝑣</m:t>
                              </m:r>
                            </m:sub>
                            <m:sup>
                              <m:r>
                                <a:rPr lang="en-US" altLang="zh-CN" i="1">
                                  <a:latin typeface="Cambria Math" panose="02040503050406030204" charset="0"/>
                                  <a:cs typeface="Cambria Math" panose="02040503050406030204" charset="0"/>
                                </a:rPr>
                                <m:t>𝑛</m:t>
                              </m:r>
                            </m:sup>
                          </m:sSubSup>
                        </m:sub>
                        <m:sup>
                          <m:r>
                            <a:rPr lang="en-US" altLang="zh-CN" i="1">
                              <a:latin typeface="Cambria Math" panose="02040503050406030204" charset="0"/>
                              <a:cs typeface="Cambria Math" panose="02040503050406030204" charset="0"/>
                            </a:rPr>
                            <m:t>𝐷</m:t>
                          </m:r>
                        </m:sup>
                      </m:sSub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𝑣</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𝑣</m:t>
                          </m:r>
                        </m:sub>
                        <m:sup>
                          <m:r>
                            <a:rPr lang="en-US" altLang="zh-CN" i="1">
                              <a:latin typeface="Cambria Math" panose="02040503050406030204" charset="0"/>
                              <a:cs typeface="Cambria Math" panose="02040503050406030204" charset="0"/>
                            </a:rPr>
                            <m:t>1</m:t>
                          </m:r>
                        </m:sup>
                      </m:sSub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zh-CN" altLang="en-US">
                          <a:latin typeface="Cambria Math" panose="02040503050406030204" charset="0"/>
                        </a:rPr>
                        <m:t>∨</m:t>
                      </m:r>
                      <m:r>
                        <a:rPr lang="en-US" altLang="zh-CN">
                          <a:latin typeface="Cambria Math" panose="02040503050406030204" charset="0"/>
                        </a:rPr>
                        <m:t>…</m:t>
                      </m:r>
                      <m:r>
                        <a:rPr lang="zh-CN" altLang="en-US">
                          <a:latin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𝑣</m:t>
                          </m:r>
                        </m:sub>
                        <m:sup>
                          <m:r>
                            <a:rPr lang="en-US" altLang="zh-CN" i="1">
                              <a:latin typeface="Cambria Math" panose="02040503050406030204" charset="0"/>
                              <a:cs typeface="Cambria Math" panose="02040503050406030204" charset="0"/>
                            </a:rPr>
                            <m:t>𝑛</m:t>
                          </m:r>
                        </m:sup>
                      </m:sSub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oMath>
                  </m:oMathPara>
                </a14:m>
                <a:endParaRPr lang="en-US" altLang="zh-CN" i="1">
                  <a:latin typeface="Cambria Math" panose="02040503050406030204" charset="0"/>
                  <a:cs typeface="Cambria Math" panose="02040503050406030204"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1009650" y="3994785"/>
                <a:ext cx="5403850" cy="428625"/>
              </a:xfrm>
              <a:prstGeom prst="rect">
                <a:avLst/>
              </a:prstGeom>
              <a:blipFill rotWithShape="1">
                <a:blip r:embed="rId9"/>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6148070" y="4027805"/>
                <a:ext cx="4044950" cy="368300"/>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sSub>
                        <m:sSubPr>
                          <m:ctrlPr>
                            <a:rPr lang="en-US" altLang="zh-CN"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b="0" i="1">
                          <a:solidFill>
                            <a:schemeClr val="tx1"/>
                          </a:solidFill>
                          <a:latin typeface="Cambria Math" panose="02040503050406030204" charset="0"/>
                          <a:ea typeface="华文楷体" panose="02010600040101010101" charset="-122"/>
                          <a:cs typeface="Cambria Math" panose="02040503050406030204" charset="0"/>
                        </a:rPr>
                        <m:t>[</m:t>
                      </m:r>
                      <m:r>
                        <a:rPr lang="en-US" altLang="zh-CN"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b="0" i="1">
                          <a:solidFill>
                            <a:schemeClr val="tx1"/>
                          </a:solidFill>
                          <a:latin typeface="Cambria Math" panose="02040503050406030204" charset="0"/>
                          <a:ea typeface="华文楷体" panose="02010600040101010101" charset="-122"/>
                          <a:cs typeface="Cambria Math" panose="02040503050406030204" charset="0"/>
                        </a:rPr>
                        <m:t>[</m:t>
                      </m:r>
                      <m:r>
                        <a:rPr lang="en-US" altLang="zh-CN" b="0" i="1">
                          <a:solidFill>
                            <a:schemeClr val="tx1"/>
                          </a:solidFill>
                          <a:latin typeface="Cambria Math" panose="02040503050406030204" charset="0"/>
                          <a:ea typeface="华文楷体" panose="02010600040101010101" charset="-122"/>
                          <a:cs typeface="Cambria Math" panose="02040503050406030204" charset="0"/>
                        </a:rPr>
                        <m:t>𝑣</m:t>
                      </m:r>
                      <m:r>
                        <a:rPr lang="en-US" altLang="zh-CN" b="0" i="1">
                          <a:solidFill>
                            <a:schemeClr val="tx1"/>
                          </a:solidFill>
                          <a:latin typeface="Cambria Math" panose="02040503050406030204" charset="0"/>
                          <a:ea typeface="华文楷体" panose="02010600040101010101" charset="-122"/>
                          <a:cs typeface="Cambria Math" panose="02040503050406030204" charset="0"/>
                        </a:rPr>
                        <m:t>]∗</m:t>
                      </m:r>
                      <m:r>
                        <a:rPr lang="en-US" altLang="zh-CN" b="0" i="1">
                          <a:solidFill>
                            <a:schemeClr val="tx1"/>
                          </a:solidFill>
                          <a:latin typeface="Cambria Math" panose="02040503050406030204" charset="0"/>
                          <a:ea typeface="华文楷体" panose="02010600040101010101" charset="-122"/>
                          <a:cs typeface="Cambria Math" panose="02040503050406030204" charset="0"/>
                        </a:rPr>
                        <m:t>𝑚𝑎𝑥</m:t>
                      </m:r>
                      <m:r>
                        <a:rPr lang="en-US" altLang="zh-CN"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b="0" i="1">
                              <a:solidFill>
                                <a:schemeClr val="tx1"/>
                              </a:solidFill>
                              <a:latin typeface="Cambria Math" panose="02040503050406030204" charset="0"/>
                              <a:ea typeface="华文楷体" panose="02010600040101010101" charset="-122"/>
                              <a:cs typeface="Cambria Math" panose="02040503050406030204" charset="0"/>
                            </a:rPr>
                          </m:ctrlPr>
                        </m:sSubPr>
                        <m:e>
                          <m:sSub>
                            <m:sSubPr>
                              <m:ctrlPr>
                                <a:rPr lang="en-US" altLang="zh-CN"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b="0" i="1">
                                  <a:solidFill>
                                    <a:schemeClr val="tx1"/>
                                  </a:solidFill>
                                  <a:latin typeface="Cambria Math" panose="02040503050406030204" charset="0"/>
                                  <a:ea typeface="华文楷体" panose="02010600040101010101" charset="-122"/>
                                  <a:cs typeface="Cambria Math" panose="02040503050406030204" charset="0"/>
                                </a:rPr>
                                <m:t>{</m:t>
                              </m:r>
                              <m:r>
                                <a:rPr lang="en-US" altLang="zh-CN"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b="0" i="1">
                              <a:solidFill>
                                <a:schemeClr val="tx1"/>
                              </a:solidFill>
                              <a:latin typeface="Cambria Math" panose="02040503050406030204" charset="0"/>
                              <a:ea typeface="华文楷体" panose="02010600040101010101" charset="-122"/>
                              <a:cs typeface="Cambria Math" panose="02040503050406030204" charset="0"/>
                            </a:rPr>
                            <m:t>[</m:t>
                          </m:r>
                          <m:sSubSup>
                            <m:sSubSupPr>
                              <m:ctrlPr>
                                <a:rPr lang="en-US" altLang="zh-CN" b="0" i="1">
                                  <a:solidFill>
                                    <a:schemeClr val="tx1"/>
                                  </a:solidFill>
                                  <a:latin typeface="Cambria Math" panose="02040503050406030204" charset="0"/>
                                  <a:ea typeface="华文楷体" panose="02010600040101010101" charset="-122"/>
                                  <a:cs typeface="Cambria Math" panose="02040503050406030204" charset="0"/>
                                </a:rPr>
                              </m:ctrlPr>
                            </m:sSubSupPr>
                            <m:e>
                              <m:r>
                                <a:rPr lang="en-US" altLang="zh-CN" b="0" i="1">
                                  <a:solidFill>
                                    <a:schemeClr val="tx1"/>
                                  </a:solidFill>
                                  <a:latin typeface="Cambria Math" panose="02040503050406030204" charset="0"/>
                                  <a:ea typeface="华文楷体" panose="02010600040101010101" charset="-122"/>
                                  <a:cs typeface="Cambria Math" panose="02040503050406030204" charset="0"/>
                                </a:rPr>
                                <m:t>𝑐</m:t>
                              </m:r>
                            </m:e>
                            <m:sub>
                              <m:r>
                                <a:rPr lang="en-US" altLang="zh-CN" b="0" i="1">
                                  <a:solidFill>
                                    <a:schemeClr val="tx1"/>
                                  </a:solidFill>
                                  <a:latin typeface="Cambria Math" panose="02040503050406030204" charset="0"/>
                                  <a:ea typeface="华文楷体" panose="02010600040101010101" charset="-122"/>
                                  <a:cs typeface="Cambria Math" panose="02040503050406030204" charset="0"/>
                                </a:rPr>
                                <m:t>𝑣</m:t>
                              </m:r>
                            </m:sub>
                            <m:sup>
                              <m:r>
                                <a:rPr lang="en-US" altLang="zh-CN" b="0" i="1">
                                  <a:solidFill>
                                    <a:schemeClr val="tx1"/>
                                  </a:solidFill>
                                  <a:latin typeface="Cambria Math" panose="02040503050406030204" charset="0"/>
                                  <a:ea typeface="华文楷体" panose="02010600040101010101" charset="-122"/>
                                  <a:cs typeface="Cambria Math" panose="02040503050406030204" charset="0"/>
                                </a:rPr>
                                <m:t>𝑛</m:t>
                              </m:r>
                            </m:sup>
                          </m:sSubSup>
                          <m:r>
                            <a:rPr lang="en-US" altLang="zh-CN" b="0" i="1">
                              <a:solidFill>
                                <a:schemeClr val="tx1"/>
                              </a:solidFill>
                              <a:latin typeface="Cambria Math" panose="02040503050406030204" charset="0"/>
                              <a:ea typeface="华文楷体" panose="02010600040101010101" charset="-122"/>
                              <a:cs typeface="Cambria Math" panose="02040503050406030204" charset="0"/>
                            </a:rPr>
                            <m:t>]}</m:t>
                          </m:r>
                        </m:e>
                        <m:sub>
                          <m:r>
                            <a:rPr lang="en-US" altLang="zh-CN" b="0" i="1">
                              <a:solidFill>
                                <a:schemeClr val="tx1"/>
                              </a:solidFill>
                              <a:latin typeface="Cambria Math" panose="02040503050406030204" charset="0"/>
                              <a:ea typeface="华文楷体" panose="02010600040101010101" charset="-122"/>
                              <a:cs typeface="Cambria Math" panose="02040503050406030204" charset="0"/>
                            </a:rPr>
                            <m:t>𝑛</m:t>
                          </m:r>
                        </m:sub>
                      </m:sSub>
                      <m:r>
                        <a:rPr lang="en-US" altLang="zh-CN" b="0" i="1">
                          <a:solidFill>
                            <a:schemeClr val="tx1"/>
                          </a:solidFill>
                          <a:latin typeface="Cambria Math" panose="02040503050406030204" charset="0"/>
                          <a:ea typeface="华文楷体" panose="02010600040101010101" charset="-122"/>
                          <a:cs typeface="Cambria Math" panose="02040503050406030204" charset="0"/>
                        </a:rPr>
                        <m:t>)</m:t>
                      </m:r>
                    </m:oMath>
                  </m:oMathPara>
                </a14:m>
                <a:endParaRPr lang="en-US" altLang="zh-CN" b="0" i="1">
                  <a:solidFill>
                    <a:schemeClr val="tx1"/>
                  </a:solidFill>
                  <a:latin typeface="Cambria Math" panose="02040503050406030204" charset="0"/>
                  <a:ea typeface="华文楷体" panose="02010600040101010101" charset="-122"/>
                  <a:cs typeface="Cambria Math" panose="02040503050406030204"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6148070" y="4027805"/>
                <a:ext cx="4044950" cy="368300"/>
              </a:xfrm>
              <a:prstGeom prst="rect">
                <a:avLst/>
              </a:prstGeom>
              <a:blipFill rotWithShape="1">
                <a:blip r:embed="rId10"/>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007745" y="4575175"/>
                <a:ext cx="6266815" cy="42862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𝐸</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𝑚𝑒𝑠𝑠𝑎𝑔𝑒</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ℎ</m:t>
                          </m:r>
                        </m:e>
                        <m:sub>
                          <m:r>
                            <a:rPr lang="en-US" altLang="zh-CN" i="1">
                              <a:latin typeface="Cambria Math" panose="02040503050406030204" charset="0"/>
                              <a:cs typeface="Cambria Math" panose="02040503050406030204" charset="0"/>
                            </a:rPr>
                            <m:t>𝑣</m:t>
                          </m:r>
                          <m:r>
                            <a:rPr lang="en-US" altLang="zh-CN" i="1">
                              <a:latin typeface="Cambria Math" panose="02040503050406030204"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𝑣</m:t>
                              </m:r>
                            </m:sub>
                            <m:sup>
                              <m:r>
                                <a:rPr lang="en-US" altLang="zh-CN" i="1">
                                  <a:latin typeface="Cambria Math" panose="02040503050406030204" charset="0"/>
                                  <a:cs typeface="Cambria Math" panose="02040503050406030204" charset="0"/>
                                </a:rPr>
                                <m:t>𝑚</m:t>
                              </m:r>
                            </m:sup>
                          </m:sSubSup>
                        </m:sub>
                        <m:sup>
                          <m:r>
                            <a:rPr lang="en-US" altLang="zh-CN" i="1">
                              <a:latin typeface="Cambria Math" panose="02040503050406030204" charset="0"/>
                              <a:cs typeface="Cambria Math" panose="02040503050406030204" charset="0"/>
                            </a:rPr>
                            <m:t>𝐸</m:t>
                          </m:r>
                        </m:sup>
                      </m:sSub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𝑣</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𝑣</m:t>
                          </m:r>
                        </m:sub>
                        <m:sup>
                          <m:r>
                            <a:rPr lang="en-US" altLang="zh-CN" i="1">
                              <a:latin typeface="Cambria Math" panose="02040503050406030204" charset="0"/>
                              <a:cs typeface="Cambria Math" panose="02040503050406030204" charset="0"/>
                            </a:rPr>
                            <m:t>1</m:t>
                          </m:r>
                        </m:sup>
                      </m:sSub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a:latin typeface="Cambria Math" panose="02040503050406030204" charset="0"/>
                        </a:rPr>
                        <m:t>∧</m:t>
                      </m:r>
                      <m:r>
                        <a:rPr lang="en-US" altLang="zh-CN">
                          <a:latin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𝑣</m:t>
                          </m:r>
                        </m:sub>
                        <m:sup>
                          <m:r>
                            <a:rPr lang="en-US" altLang="zh-CN" i="1">
                              <a:latin typeface="Cambria Math" panose="02040503050406030204" charset="0"/>
                              <a:cs typeface="Cambria Math" panose="02040503050406030204" charset="0"/>
                            </a:rPr>
                            <m:t>𝑀</m:t>
                          </m:r>
                        </m:sup>
                      </m:sSub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oMath>
                  </m:oMathPara>
                </a14:m>
                <a:endParaRPr lang="en-US" altLang="zh-CN" i="1">
                  <a:latin typeface="Cambria Math" panose="02040503050406030204" charset="0"/>
                  <a:cs typeface="Cambria Math" panose="02040503050406030204"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1007745" y="4575175"/>
                <a:ext cx="6266815" cy="428625"/>
              </a:xfrm>
              <a:prstGeom prst="rect">
                <a:avLst/>
              </a:prstGeom>
              <a:blipFill rotWithShape="1">
                <a:blip r:embed="rId1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6589395" y="4332605"/>
                <a:ext cx="4111625" cy="875030"/>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m:t>
                      </m:r>
                      <m:r>
                        <a:rPr lang="en-US" altLang="zh-CN" b="0" i="1">
                          <a:solidFill>
                            <a:schemeClr val="tx1"/>
                          </a:solidFill>
                          <a:latin typeface="Cambria Math" panose="02040503050406030204" charset="0"/>
                          <a:cs typeface="Cambria Math" panose="02040503050406030204" charset="0"/>
                        </a:rPr>
                        <m:t>−</m:t>
                      </m:r>
                      <m:r>
                        <a:rPr lang="en-US" altLang="zh-CN" b="0" i="1">
                          <a:solidFill>
                            <a:schemeClr val="tx1"/>
                          </a:solidFill>
                          <a:latin typeface="Cambria Math" panose="02040503050406030204" charset="0"/>
                          <a:cs typeface="Cambria Math" panose="02040503050406030204" charset="0"/>
                        </a:rPr>
                        <m:t>1</m:t>
                      </m:r>
                      <m:r>
                        <a:rPr lang="en-US" altLang="zh-CN" b="0" i="1">
                          <a:solidFill>
                            <a:schemeClr val="tx1"/>
                          </a:solidFill>
                          <a:latin typeface="Cambria Math" panose="02040503050406030204" charset="0"/>
                          <a:cs typeface="Cambria Math" panose="02040503050406030204" charset="0"/>
                        </a:rPr>
                        <m:t>+</m:t>
                      </m:r>
                      <m:f>
                        <m:fPr>
                          <m:ctrlPr>
                            <a:rPr lang="en-US" altLang="zh-CN" b="0" i="1">
                              <a:solidFill>
                                <a:schemeClr val="tx1"/>
                              </a:solidFill>
                              <a:latin typeface="Cambria Math" panose="02040503050406030204" charset="0"/>
                              <a:cs typeface="Cambria Math" panose="02040503050406030204" charset="0"/>
                            </a:rPr>
                          </m:ctrlPr>
                        </m:fPr>
                        <m:num>
                          <m:r>
                            <a:rPr lang="en-US" altLang="zh-CN" b="0" i="1">
                              <a:solidFill>
                                <a:schemeClr val="tx1"/>
                              </a:solidFill>
                              <a:latin typeface="Cambria Math" panose="02040503050406030204" charset="0"/>
                              <a:cs typeface="Cambria Math" panose="02040503050406030204" charset="0"/>
                            </a:rPr>
                            <m:t>1</m:t>
                          </m:r>
                        </m:num>
                        <m:den>
                          <m:r>
                            <a:rPr lang="en-US" altLang="zh-CN" b="0" i="1">
                              <a:solidFill>
                                <a:schemeClr val="tx1"/>
                              </a:solidFill>
                              <a:latin typeface="Cambria Math" panose="02040503050406030204" charset="0"/>
                              <a:cs typeface="Cambria Math" panose="02040503050406030204" charset="0"/>
                            </a:rPr>
                            <m:t>𝑀</m:t>
                          </m:r>
                        </m:den>
                      </m:f>
                      <m:nary>
                        <m:naryPr>
                          <m:chr m:val="∑"/>
                          <m:limLoc m:val="undOvr"/>
                          <m:ctrlPr>
                            <a:rPr lang="en-US" altLang="zh-CN" b="0" i="1">
                              <a:solidFill>
                                <a:schemeClr val="tx1"/>
                              </a:solidFill>
                              <a:latin typeface="Cambria Math" panose="02040503050406030204" charset="0"/>
                              <a:cs typeface="Cambria Math" panose="02040503050406030204" charset="0"/>
                            </a:rPr>
                          </m:ctrlPr>
                        </m:naryPr>
                        <m:sub>
                          <m:r>
                            <a:rPr lang="en-US" altLang="zh-CN" b="0" i="1">
                              <a:solidFill>
                                <a:schemeClr val="tx1"/>
                              </a:solidFill>
                              <a:latin typeface="Cambria Math" panose="02040503050406030204" charset="0"/>
                              <a:cs typeface="Cambria Math" panose="02040503050406030204" charset="0"/>
                            </a:rPr>
                            <m:t>𝑚</m:t>
                          </m:r>
                          <m:r>
                            <a:rPr lang="en-US" altLang="zh-CN" b="0" i="1">
                              <a:solidFill>
                                <a:schemeClr val="tx1"/>
                              </a:solidFill>
                              <a:latin typeface="Cambria Math" panose="02040503050406030204" charset="0"/>
                              <a:cs typeface="Cambria Math" panose="02040503050406030204" charset="0"/>
                            </a:rPr>
                            <m:t>=</m:t>
                          </m:r>
                          <m:r>
                            <a:rPr lang="en-US" altLang="zh-CN" b="0" i="1">
                              <a:solidFill>
                                <a:schemeClr val="tx1"/>
                              </a:solidFill>
                              <a:latin typeface="Cambria Math" panose="02040503050406030204" charset="0"/>
                              <a:cs typeface="Cambria Math" panose="02040503050406030204" charset="0"/>
                            </a:rPr>
                            <m:t>1</m:t>
                          </m:r>
                        </m:sub>
                        <m:sup>
                          <m:r>
                            <a:rPr lang="en-US" altLang="zh-CN" b="0" i="1">
                              <a:solidFill>
                                <a:schemeClr val="tx1"/>
                              </a:solidFill>
                              <a:latin typeface="Cambria Math" panose="02040503050406030204" charset="0"/>
                              <a:cs typeface="Cambria Math" panose="02040503050406030204" charset="0"/>
                            </a:rPr>
                            <m:t>𝑀</m:t>
                          </m:r>
                        </m:sup>
                        <m:e>
                          <m:r>
                            <a:rPr lang="en-US" altLang="zh-CN" b="0" i="1">
                              <a:solidFill>
                                <a:schemeClr val="tx1"/>
                              </a:solidFill>
                              <a:latin typeface="Cambria Math" panose="02040503050406030204" charset="0"/>
                              <a:cs typeface="Cambria Math" panose="02040503050406030204" charset="0"/>
                            </a:rPr>
                            <m:t>(</m:t>
                          </m:r>
                          <m:sSub>
                            <m:sSubPr>
                              <m:ctrlPr>
                                <a:rPr lang="en-US" altLang="zh-CN" b="0" i="1">
                                  <a:solidFill>
                                    <a:schemeClr val="tx1"/>
                                  </a:solidFill>
                                  <a:latin typeface="Cambria Math" panose="02040503050406030204" charset="0"/>
                                  <a:cs typeface="Cambria Math" panose="02040503050406030204" charset="0"/>
                                </a:rPr>
                              </m:ctrlPr>
                            </m:sSubPr>
                            <m:e>
                              <m:r>
                                <a:rPr lang="en-US" altLang="zh-CN" b="0" i="1">
                                  <a:solidFill>
                                    <a:schemeClr val="tx1"/>
                                  </a:solidFill>
                                  <a:latin typeface="Cambria Math" panose="02040503050406030204" charset="0"/>
                                  <a:cs typeface="Cambria Math" panose="02040503050406030204" charset="0"/>
                                </a:rPr>
                                <m:t>𝑠</m:t>
                              </m:r>
                            </m:e>
                            <m:sub>
                              <m:r>
                                <a:rPr lang="en-US" altLang="zh-CN" b="0" i="1">
                                  <a:solidFill>
                                    <a:schemeClr val="tx1"/>
                                  </a:solidFill>
                                  <a:latin typeface="Cambria Math" panose="02040503050406030204" charset="0"/>
                                  <a:cs typeface="Cambria Math" panose="02040503050406030204" charset="0"/>
                                </a:rPr>
                                <m:t>𝑘</m:t>
                              </m:r>
                            </m:sub>
                          </m:sSub>
                          <m:r>
                            <a:rPr lang="en-US" altLang="zh-CN" b="0" i="1">
                              <a:solidFill>
                                <a:schemeClr val="tx1"/>
                              </a:solidFill>
                              <a:latin typeface="Cambria Math" panose="02040503050406030204" charset="0"/>
                              <a:cs typeface="Cambria Math" panose="02040503050406030204" charset="0"/>
                            </a:rPr>
                            <m:t>[</m:t>
                          </m:r>
                          <m:r>
                            <a:rPr lang="en-US" altLang="zh-CN" b="0" i="1">
                              <a:solidFill>
                                <a:schemeClr val="tx1"/>
                              </a:solidFill>
                              <a:latin typeface="Cambria Math" panose="02040503050406030204" charset="0"/>
                              <a:cs typeface="Cambria Math" panose="02040503050406030204" charset="0"/>
                            </a:rPr>
                            <m:t>𝑣</m:t>
                          </m:r>
                          <m:r>
                            <a:rPr lang="en-US" altLang="zh-CN" b="0" i="1">
                              <a:solidFill>
                                <a:schemeClr val="tx1"/>
                              </a:solidFill>
                              <a:latin typeface="Cambria Math" panose="02040503050406030204" charset="0"/>
                              <a:cs typeface="Cambria Math" panose="02040503050406030204" charset="0"/>
                            </a:rPr>
                            <m:t>]∗</m:t>
                          </m:r>
                          <m:sSub>
                            <m:sSubPr>
                              <m:ctrlPr>
                                <a:rPr lang="en-US" altLang="zh-CN" b="0" i="1">
                                  <a:solidFill>
                                    <a:schemeClr val="tx1"/>
                                  </a:solidFill>
                                  <a:latin typeface="Cambria Math" panose="02040503050406030204" charset="0"/>
                                  <a:cs typeface="Cambria Math" panose="02040503050406030204" charset="0"/>
                                </a:rPr>
                              </m:ctrlPr>
                            </m:sSubPr>
                            <m:e>
                              <m:r>
                                <a:rPr lang="en-US" altLang="zh-CN" b="0" i="1">
                                  <a:solidFill>
                                    <a:schemeClr val="tx1"/>
                                  </a:solidFill>
                                  <a:latin typeface="Cambria Math" panose="02040503050406030204" charset="0"/>
                                  <a:cs typeface="Cambria Math" panose="02040503050406030204" charset="0"/>
                                </a:rPr>
                                <m:t>𝑠</m:t>
                              </m:r>
                            </m:e>
                            <m:sub>
                              <m:r>
                                <a:rPr lang="en-US" altLang="zh-CN" b="0" i="1">
                                  <a:solidFill>
                                    <a:schemeClr val="tx1"/>
                                  </a:solidFill>
                                  <a:latin typeface="Cambria Math" panose="02040503050406030204" charset="0"/>
                                  <a:cs typeface="Cambria Math" panose="02040503050406030204" charset="0"/>
                                </a:rPr>
                                <m:t>𝑘</m:t>
                              </m:r>
                            </m:sub>
                          </m:sSub>
                          <m:r>
                            <a:rPr lang="en-US" altLang="zh-CN" b="0" i="1">
                              <a:solidFill>
                                <a:schemeClr val="tx1"/>
                              </a:solidFill>
                              <a:latin typeface="Cambria Math" panose="02040503050406030204" charset="0"/>
                              <a:cs typeface="Cambria Math" panose="02040503050406030204" charset="0"/>
                            </a:rPr>
                            <m:t>[</m:t>
                          </m:r>
                          <m:sSubSup>
                            <m:sSubSupPr>
                              <m:ctrlPr>
                                <a:rPr lang="en-US" altLang="zh-CN" b="0" i="1">
                                  <a:solidFill>
                                    <a:schemeClr val="tx1"/>
                                  </a:solidFill>
                                  <a:latin typeface="Cambria Math" panose="02040503050406030204" charset="0"/>
                                  <a:cs typeface="Cambria Math" panose="02040503050406030204" charset="0"/>
                                </a:rPr>
                              </m:ctrlPr>
                            </m:sSubSupPr>
                            <m:e>
                              <m:r>
                                <a:rPr lang="en-US" altLang="zh-CN" b="0" i="1">
                                  <a:solidFill>
                                    <a:schemeClr val="tx1"/>
                                  </a:solidFill>
                                  <a:latin typeface="Cambria Math" panose="02040503050406030204" charset="0"/>
                                  <a:cs typeface="Cambria Math" panose="02040503050406030204" charset="0"/>
                                </a:rPr>
                                <m:t>𝑎</m:t>
                              </m:r>
                            </m:e>
                            <m:sub>
                              <m:r>
                                <a:rPr lang="en-US" altLang="zh-CN" b="0" i="1">
                                  <a:solidFill>
                                    <a:schemeClr val="tx1"/>
                                  </a:solidFill>
                                  <a:latin typeface="Cambria Math" panose="02040503050406030204" charset="0"/>
                                  <a:cs typeface="Cambria Math" panose="02040503050406030204" charset="0"/>
                                </a:rPr>
                                <m:t>𝑣</m:t>
                              </m:r>
                            </m:sub>
                            <m:sup>
                              <m:r>
                                <a:rPr lang="en-US" altLang="zh-CN" b="0" i="1">
                                  <a:solidFill>
                                    <a:schemeClr val="tx1"/>
                                  </a:solidFill>
                                  <a:latin typeface="Cambria Math" panose="02040503050406030204" charset="0"/>
                                  <a:cs typeface="Cambria Math" panose="02040503050406030204" charset="0"/>
                                </a:rPr>
                                <m:t>𝑚</m:t>
                              </m:r>
                            </m:sup>
                          </m:sSubSup>
                          <m:r>
                            <a:rPr lang="en-US" altLang="zh-CN" b="0" i="1">
                              <a:solidFill>
                                <a:schemeClr val="tx1"/>
                              </a:solidFill>
                              <a:latin typeface="Cambria Math" panose="02040503050406030204" charset="0"/>
                              <a:cs typeface="Cambria Math" panose="02040503050406030204" charset="0"/>
                            </a:rPr>
                            <m:t>])</m:t>
                          </m:r>
                        </m:e>
                      </m:nary>
                    </m:oMath>
                  </m:oMathPara>
                </a14:m>
                <a:endParaRPr lang="en-US" altLang="zh-CN" b="0" i="1">
                  <a:solidFill>
                    <a:schemeClr val="tx1"/>
                  </a:solidFill>
                  <a:latin typeface="Cambria Math" panose="02040503050406030204" charset="0"/>
                  <a:ea typeface="华文楷体" panose="02010600040101010101" charset="-122"/>
                  <a:cs typeface="Cambria Math" panose="02040503050406030204"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6589395" y="4332605"/>
                <a:ext cx="4111625" cy="875030"/>
              </a:xfrm>
              <a:prstGeom prst="rect">
                <a:avLst/>
              </a:prstGeom>
              <a:blipFill rotWithShape="1">
                <a:blip r:embed="rId1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2238375" y="5091430"/>
                <a:ext cx="6920230" cy="727075"/>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1600" b="0" i="1">
                              <a:solidFill>
                                <a:schemeClr val="tx1"/>
                              </a:solidFill>
                              <a:latin typeface="Cambria Math" panose="02040503050406030204" charset="0"/>
                              <a:cs typeface="Cambria Math" panose="02040503050406030204" charset="0"/>
                            </a:rPr>
                          </m:ctrlPr>
                        </m:sSubPr>
                        <m:e>
                          <m:r>
                            <a:rPr lang="en-US" altLang="zh-CN" sz="1600" b="0" i="1">
                              <a:solidFill>
                                <a:schemeClr val="tx1"/>
                              </a:solidFill>
                              <a:latin typeface="Cambria Math" panose="02040503050406030204" charset="0"/>
                              <a:cs typeface="Cambria Math" panose="02040503050406030204" charset="0"/>
                            </a:rPr>
                            <m:t>𝑠</m:t>
                          </m:r>
                        </m:e>
                        <m:sub>
                          <m:r>
                            <a:rPr lang="en-US" altLang="zh-CN" sz="1600" b="0" i="1">
                              <a:solidFill>
                                <a:schemeClr val="tx1"/>
                              </a:solidFill>
                              <a:latin typeface="Cambria Math" panose="02040503050406030204" charset="0"/>
                              <a:cs typeface="Cambria Math" panose="02040503050406030204" charset="0"/>
                            </a:rPr>
                            <m:t>𝑘</m:t>
                          </m:r>
                        </m:sub>
                      </m:sSub>
                      <m:r>
                        <a:rPr lang="en-US" altLang="zh-CN" sz="1600" b="0" i="1">
                          <a:solidFill>
                            <a:schemeClr val="tx1"/>
                          </a:solidFill>
                          <a:latin typeface="Cambria Math" panose="02040503050406030204" charset="0"/>
                          <a:cs typeface="Cambria Math" panose="02040503050406030204" charset="0"/>
                        </a:rPr>
                        <m:t>[</m:t>
                      </m:r>
                      <m:r>
                        <a:rPr lang="en-US" altLang="zh-CN" sz="1600" b="0" i="1">
                          <a:solidFill>
                            <a:schemeClr val="tx1"/>
                          </a:solidFill>
                          <a:latin typeface="Cambria Math" panose="02040503050406030204" charset="0"/>
                          <a:cs typeface="Cambria Math" panose="02040503050406030204" charset="0"/>
                        </a:rPr>
                        <m:t>𝑣</m:t>
                      </m:r>
                      <m:r>
                        <a:rPr lang="en-US" altLang="zh-CN" sz="1600" b="0" i="1">
                          <a:solidFill>
                            <a:schemeClr val="tx1"/>
                          </a:solidFill>
                          <a:latin typeface="Cambria Math" panose="02040503050406030204" charset="0"/>
                          <a:cs typeface="Cambria Math" panose="02040503050406030204" charset="0"/>
                        </a:rPr>
                        <m:t>]</m:t>
                      </m:r>
                      <m:r>
                        <a:rPr lang="en-US" altLang="zh-CN" sz="1600" i="1">
                          <a:solidFill>
                            <a:schemeClr val="tx1"/>
                          </a:solidFill>
                          <a:latin typeface="Cambria Math" panose="02040503050406030204" charset="0"/>
                          <a:cs typeface="Cambria Math" panose="02040503050406030204" charset="0"/>
                        </a:rPr>
                        <m:t>←</m:t>
                      </m:r>
                      <m:sSub>
                        <m:sSubPr>
                          <m:ctrlPr>
                            <a:rPr lang="en-US" altLang="zh-CN" sz="1600" b="0" i="1">
                              <a:solidFill>
                                <a:schemeClr val="tx1"/>
                              </a:solidFill>
                              <a:latin typeface="Cambria Math" panose="02040503050406030204" charset="0"/>
                              <a:cs typeface="Cambria Math" panose="02040503050406030204" charset="0"/>
                            </a:rPr>
                          </m:ctrlPr>
                        </m:sSubPr>
                        <m:e>
                          <m:r>
                            <a:rPr lang="en-US" altLang="zh-CN" sz="1600" b="0" i="1">
                              <a:solidFill>
                                <a:schemeClr val="tx1"/>
                              </a:solidFill>
                              <a:latin typeface="Cambria Math" panose="02040503050406030204" charset="0"/>
                              <a:cs typeface="Cambria Math" panose="02040503050406030204" charset="0"/>
                            </a:rPr>
                            <m:t>𝑠</m:t>
                          </m:r>
                        </m:e>
                        <m:sub>
                          <m:r>
                            <a:rPr lang="en-US" altLang="zh-CN" sz="1600" b="0" i="1">
                              <a:solidFill>
                                <a:schemeClr val="tx1"/>
                              </a:solidFill>
                              <a:latin typeface="Cambria Math" panose="02040503050406030204" charset="0"/>
                              <a:cs typeface="Cambria Math" panose="02040503050406030204" charset="0"/>
                            </a:rPr>
                            <m:t>𝑘</m:t>
                          </m:r>
                        </m:sub>
                      </m:sSub>
                      <m:r>
                        <a:rPr lang="en-US" altLang="zh-CN" sz="1600" b="0" i="1">
                          <a:solidFill>
                            <a:schemeClr val="tx1"/>
                          </a:solidFill>
                          <a:latin typeface="Cambria Math" panose="02040503050406030204" charset="0"/>
                          <a:cs typeface="Cambria Math" panose="02040503050406030204" charset="0"/>
                        </a:rPr>
                        <m:t>[</m:t>
                      </m:r>
                      <m:r>
                        <a:rPr lang="en-US" altLang="zh-CN" sz="1600" b="0" i="1">
                          <a:solidFill>
                            <a:schemeClr val="tx1"/>
                          </a:solidFill>
                          <a:latin typeface="Cambria Math" panose="02040503050406030204" charset="0"/>
                          <a:cs typeface="Cambria Math" panose="02040503050406030204" charset="0"/>
                        </a:rPr>
                        <m:t>𝑣</m:t>
                      </m:r>
                      <m:r>
                        <a:rPr lang="en-US" altLang="zh-CN" sz="1600" b="0" i="1">
                          <a:solidFill>
                            <a:schemeClr val="tx1"/>
                          </a:solidFill>
                          <a:latin typeface="Cambria Math" panose="02040503050406030204" charset="0"/>
                          <a:cs typeface="Cambria Math" panose="02040503050406030204" charset="0"/>
                        </a:rPr>
                        <m:t>]+</m:t>
                      </m:r>
                      <m:f>
                        <m:fPr>
                          <m:ctrlPr>
                            <a:rPr lang="en-US" altLang="zh-CN" sz="1600" b="0" i="1">
                              <a:solidFill>
                                <a:schemeClr val="tx1"/>
                              </a:solidFill>
                              <a:latin typeface="Cambria Math" panose="02040503050406030204" charset="0"/>
                              <a:cs typeface="Cambria Math" panose="02040503050406030204" charset="0"/>
                            </a:rPr>
                          </m:ctrlPr>
                        </m:fPr>
                        <m:num>
                          <m:r>
                            <a:rPr lang="en-US" altLang="zh-CN" sz="1600" b="0" i="1">
                              <a:solidFill>
                                <a:schemeClr val="tx1"/>
                              </a:solidFill>
                              <a:latin typeface="Cambria Math" panose="02040503050406030204" charset="0"/>
                              <a:cs typeface="Cambria Math" panose="02040503050406030204" charset="0"/>
                            </a:rPr>
                            <m:t>1</m:t>
                          </m:r>
                        </m:num>
                        <m:den>
                          <m:r>
                            <a:rPr lang="en-US" altLang="zh-CN" sz="1600" b="0" i="1">
                              <a:solidFill>
                                <a:schemeClr val="tx1"/>
                              </a:solidFill>
                              <a:latin typeface="Cambria Math" panose="02040503050406030204" charset="0"/>
                              <a:cs typeface="Cambria Math" panose="02040503050406030204" charset="0"/>
                            </a:rPr>
                            <m:t>𝑁</m:t>
                          </m:r>
                        </m:den>
                      </m:f>
                      <m:nary>
                        <m:naryPr>
                          <m:chr m:val="∑"/>
                          <m:limLoc m:val="undOvr"/>
                          <m:supHide m:val="on"/>
                          <m:ctrlPr>
                            <a:rPr lang="en-US" altLang="zh-CN" sz="1600" b="0" i="1">
                              <a:solidFill>
                                <a:schemeClr val="tx1"/>
                              </a:solidFill>
                              <a:latin typeface="Cambria Math" panose="02040503050406030204" charset="0"/>
                              <a:cs typeface="Cambria Math" panose="02040503050406030204" charset="0"/>
                            </a:rPr>
                          </m:ctrlPr>
                        </m:naryPr>
                        <m:sub>
                          <m:sSubSup>
                            <m:sSubSupPr>
                              <m:ctrlPr>
                                <a:rPr lang="en-US" altLang="zh-CN" sz="1600" b="0" i="1">
                                  <a:solidFill>
                                    <a:schemeClr val="tx1"/>
                                  </a:solidFill>
                                  <a:latin typeface="Cambria Math" panose="02040503050406030204" charset="0"/>
                                  <a:cs typeface="Cambria Math" panose="02040503050406030204" charset="0"/>
                                </a:rPr>
                              </m:ctrlPr>
                            </m:sSubSupPr>
                            <m:e>
                              <m:r>
                                <a:rPr lang="en-US" altLang="zh-CN" sz="1600" b="0" i="1">
                                  <a:solidFill>
                                    <a:schemeClr val="tx1"/>
                                  </a:solidFill>
                                  <a:latin typeface="Cambria Math" panose="02040503050406030204" charset="0"/>
                                  <a:cs typeface="Cambria Math" panose="02040503050406030204" charset="0"/>
                                </a:rPr>
                                <m:t>𝑐</m:t>
                              </m:r>
                            </m:e>
                            <m:sub>
                              <m:r>
                                <a:rPr lang="en-US" altLang="zh-CN" sz="1600" b="0" i="1">
                                  <a:solidFill>
                                    <a:schemeClr val="tx1"/>
                                  </a:solidFill>
                                  <a:latin typeface="Cambria Math" panose="02040503050406030204" charset="0"/>
                                  <a:cs typeface="Cambria Math" panose="02040503050406030204" charset="0"/>
                                </a:rPr>
                                <m:t>𝑣</m:t>
                              </m:r>
                            </m:sub>
                            <m:sup>
                              <m:r>
                                <a:rPr lang="en-US" altLang="zh-CN" sz="1600" b="0" i="1">
                                  <a:solidFill>
                                    <a:schemeClr val="tx1"/>
                                  </a:solidFill>
                                  <a:latin typeface="Cambria Math" panose="02040503050406030204" charset="0"/>
                                  <a:cs typeface="Cambria Math" panose="02040503050406030204" charset="0"/>
                                </a:rPr>
                                <m:t>𝑛</m:t>
                              </m:r>
                            </m:sup>
                          </m:sSubSup>
                          <m:r>
                            <a:rPr lang="en-US" altLang="zh-CN" sz="1600" b="0" i="1">
                              <a:solidFill>
                                <a:schemeClr val="tx1"/>
                              </a:solidFill>
                              <a:latin typeface="Cambria Math" panose="02040503050406030204" charset="0"/>
                              <a:cs typeface="Cambria Math" panose="02040503050406030204" charset="0"/>
                            </a:rPr>
                            <m:t>∈</m:t>
                          </m:r>
                          <m:sSub>
                            <m:sSubPr>
                              <m:ctrlPr>
                                <a:rPr lang="en-US" altLang="zh-CN" sz="1600" b="0" i="1">
                                  <a:solidFill>
                                    <a:schemeClr val="tx1"/>
                                  </a:solidFill>
                                  <a:latin typeface="Cambria Math" panose="02040503050406030204" charset="0"/>
                                  <a:cs typeface="Cambria Math" panose="02040503050406030204" charset="0"/>
                                </a:rPr>
                              </m:ctrlPr>
                            </m:sSubPr>
                            <m:e>
                              <m:r>
                                <a:rPr lang="en-US" altLang="zh-CN" sz="1600" b="0" i="1">
                                  <a:solidFill>
                                    <a:schemeClr val="tx1"/>
                                  </a:solidFill>
                                  <a:latin typeface="Cambria Math" panose="02040503050406030204" charset="0"/>
                                  <a:cs typeface="Cambria Math" panose="02040503050406030204" charset="0"/>
                                </a:rPr>
                                <m:t>𝐶</m:t>
                              </m:r>
                            </m:e>
                            <m:sub>
                              <m:r>
                                <a:rPr lang="en-US" altLang="zh-CN" sz="1600" b="0" i="1">
                                  <a:solidFill>
                                    <a:schemeClr val="tx1"/>
                                  </a:solidFill>
                                  <a:latin typeface="Cambria Math" panose="02040503050406030204" charset="0"/>
                                  <a:cs typeface="Cambria Math" panose="02040503050406030204" charset="0"/>
                                </a:rPr>
                                <m:t>𝑣</m:t>
                              </m:r>
                            </m:sub>
                          </m:sSub>
                        </m:sub>
                        <m:sup/>
                        <m:e>
                          <m:sSub>
                            <m:sSubPr>
                              <m:ctrlPr>
                                <a:rPr lang="en-US" altLang="zh-CN" sz="16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sz="1600" b="0" i="1">
                              <a:solidFill>
                                <a:schemeClr val="tx1"/>
                              </a:solidFill>
                              <a:latin typeface="Cambria Math" panose="02040503050406030204" charset="0"/>
                              <a:ea typeface="华文楷体" panose="02010600040101010101" charset="-122"/>
                              <a:cs typeface="Cambria Math" panose="02040503050406030204" charset="0"/>
                            </a:rPr>
                            <m:t>[</m:t>
                          </m:r>
                          <m:sSubSup>
                            <m:sSubSupPr>
                              <m:ctrlPr>
                                <a:rPr lang="en-US" altLang="zh-CN" sz="1600" b="0" i="1">
                                  <a:solidFill>
                                    <a:schemeClr val="tx1"/>
                                  </a:solidFill>
                                  <a:latin typeface="Cambria Math" panose="02040503050406030204" charset="0"/>
                                  <a:ea typeface="华文楷体" panose="02010600040101010101" charset="-122"/>
                                  <a:cs typeface="Cambria Math" panose="02040503050406030204" charset="0"/>
                                </a:rPr>
                              </m:ctrlPr>
                            </m:sSubSupPr>
                            <m:e>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𝑐</m:t>
                              </m:r>
                            </m:e>
                            <m:sub>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𝑣</m:t>
                              </m:r>
                            </m:sub>
                            <m:sup>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𝑛</m:t>
                              </m:r>
                            </m:sup>
                          </m:sSubSup>
                          <m:r>
                            <a:rPr lang="en-US" altLang="zh-CN" sz="1600" b="0" i="1">
                              <a:solidFill>
                                <a:schemeClr val="tx1"/>
                              </a:solidFill>
                              <a:latin typeface="Cambria Math" panose="02040503050406030204" charset="0"/>
                              <a:ea typeface="华文楷体" panose="02010600040101010101" charset="-122"/>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ℎ</m:t>
                              </m:r>
                            </m:e>
                            <m:sub>
                              <m:sSubSup>
                                <m:sSubSupPr>
                                  <m:ctrlPr>
                                    <a:rPr lang="en-US" altLang="zh-CN" sz="1600" b="0" i="1">
                                      <a:solidFill>
                                        <a:schemeClr val="tx1"/>
                                      </a:solidFill>
                                      <a:latin typeface="Cambria Math" panose="02040503050406030204" charset="0"/>
                                      <a:ea typeface="华文楷体" panose="02010600040101010101" charset="-122"/>
                                      <a:cs typeface="Cambria Math" panose="02040503050406030204" charset="0"/>
                                    </a:rPr>
                                  </m:ctrlPr>
                                </m:sSubSupPr>
                                <m:e>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𝑐</m:t>
                                  </m:r>
                                </m:e>
                                <m:sub>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𝑣</m:t>
                                  </m:r>
                                </m:sub>
                                <m:sup>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𝑛</m:t>
                                  </m:r>
                                </m:sup>
                              </m:sSubSup>
                              <m:r>
                                <a:rPr lang="en-US" altLang="zh-CN" sz="1600" i="1">
                                  <a:latin typeface="Cambria Math" panose="02040503050406030204" charset="0"/>
                                  <a:cs typeface="Cambria Math" panose="02040503050406030204" charset="0"/>
                                </a:rPr>
                                <m:t>,</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𝑝</m:t>
                                  </m:r>
                                </m:e>
                                <m:sub>
                                  <m:r>
                                    <a:rPr lang="en-US" altLang="zh-CN" sz="1600" i="1">
                                      <a:latin typeface="Cambria Math" panose="02040503050406030204" charset="0"/>
                                      <a:cs typeface="Cambria Math" panose="02040503050406030204" charset="0"/>
                                    </a:rPr>
                                    <m:t>𝑣</m:t>
                                  </m:r>
                                </m:sub>
                              </m:sSub>
                            </m:sub>
                            <m:sup>
                              <m:r>
                                <a:rPr lang="en-US" altLang="zh-CN" sz="1600" i="1">
                                  <a:latin typeface="Cambria Math" panose="02040503050406030204" charset="0"/>
                                  <a:cs typeface="Cambria Math" panose="02040503050406030204" charset="0"/>
                                </a:rPr>
                                <m:t>𝐶</m:t>
                              </m:r>
                            </m:sup>
                          </m:sSubSup>
                        </m:e>
                      </m:nary>
                      <m:r>
                        <a:rPr lang="en-US" altLang="zh-CN" sz="1600" b="0" i="1">
                          <a:solidFill>
                            <a:schemeClr val="tx1"/>
                          </a:solidFill>
                          <a:latin typeface="Cambria Math" panose="02040503050406030204" charset="0"/>
                          <a:cs typeface="Cambria Math" panose="02040503050406030204" charset="0"/>
                        </a:rPr>
                        <m:t>+</m:t>
                      </m:r>
                      <m:sSub>
                        <m:sSubPr>
                          <m:ctrlPr>
                            <a:rPr lang="en-US" altLang="zh-CN" sz="16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sz="1600" b="0" i="1">
                          <a:solidFill>
                            <a:schemeClr val="tx1"/>
                          </a:solidFill>
                          <a:latin typeface="Cambria Math" panose="02040503050406030204" charset="0"/>
                          <a:ea typeface="华文楷体" panose="02010600040101010101" charset="-122"/>
                          <a:cs typeface="Cambria Math" panose="02040503050406030204" charset="0"/>
                        </a:rPr>
                        <m:t>[</m:t>
                      </m:r>
                      <m:sSub>
                        <m:sSubPr>
                          <m:ctrlPr>
                            <a:rPr lang="en-US" altLang="zh-CN" sz="16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𝑝</m:t>
                          </m:r>
                        </m:e>
                        <m:sub>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𝑣</m:t>
                          </m:r>
                        </m:sub>
                      </m:sSub>
                      <m:r>
                        <a:rPr lang="en-US" altLang="zh-CN" sz="1600" b="0" i="1">
                          <a:solidFill>
                            <a:schemeClr val="tx1"/>
                          </a:solidFill>
                          <a:latin typeface="Cambria Math" panose="02040503050406030204" charset="0"/>
                          <a:ea typeface="华文楷体" panose="02010600040101010101" charset="-122"/>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ℎ</m:t>
                          </m:r>
                        </m:e>
                        <m:sub>
                          <m:sSub>
                            <m:sSubPr>
                              <m:ctrlPr>
                                <a:rPr lang="en-US" altLang="zh-CN" sz="16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𝑝</m:t>
                              </m:r>
                            </m:e>
                            <m:sub>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𝑣</m:t>
                              </m:r>
                            </m:sub>
                          </m:sSub>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𝑐</m:t>
                              </m:r>
                            </m:e>
                            <m:sub>
                              <m:r>
                                <a:rPr lang="en-US" altLang="zh-CN" sz="1600" i="1">
                                  <a:latin typeface="Cambria Math" panose="02040503050406030204" charset="0"/>
                                  <a:cs typeface="Cambria Math" panose="02040503050406030204" charset="0"/>
                                </a:rPr>
                                <m:t>𝑣</m:t>
                              </m:r>
                            </m:sub>
                            <m:sup>
                              <m:r>
                                <a:rPr lang="en-US" altLang="zh-CN" sz="1600" i="1">
                                  <a:latin typeface="Cambria Math" panose="02040503050406030204" charset="0"/>
                                  <a:cs typeface="Cambria Math" panose="02040503050406030204" charset="0"/>
                                </a:rPr>
                                <m:t>𝑛</m:t>
                              </m:r>
                            </m:sup>
                          </m:sSubSup>
                        </m:sub>
                        <m:sup>
                          <m:r>
                            <a:rPr lang="en-US" altLang="zh-CN" sz="1600" i="1">
                              <a:latin typeface="Cambria Math" panose="02040503050406030204" charset="0"/>
                              <a:cs typeface="Cambria Math" panose="02040503050406030204" charset="0"/>
                            </a:rPr>
                            <m:t>𝐷</m:t>
                          </m:r>
                        </m:sup>
                      </m:sSubSup>
                      <m:r>
                        <a:rPr lang="en-US" altLang="zh-CN" sz="1600" i="1">
                          <a:latin typeface="Cambria Math" panose="02040503050406030204" charset="0"/>
                          <a:cs typeface="Cambria Math" panose="02040503050406030204" charset="0"/>
                        </a:rPr>
                        <m:t>+</m:t>
                      </m:r>
                      <m:f>
                        <m:fPr>
                          <m:ctrlPr>
                            <a:rPr lang="en-US" altLang="zh-CN" sz="1600" i="1">
                              <a:latin typeface="Cambria Math" panose="02040503050406030204" charset="0"/>
                              <a:cs typeface="Cambria Math" panose="02040503050406030204" charset="0"/>
                            </a:rPr>
                          </m:ctrlPr>
                        </m:fPr>
                        <m:num>
                          <m:r>
                            <a:rPr lang="en-US" altLang="zh-CN" sz="1600" i="1">
                              <a:latin typeface="Cambria Math" panose="02040503050406030204" charset="0"/>
                              <a:cs typeface="Cambria Math" panose="02040503050406030204" charset="0"/>
                            </a:rPr>
                            <m:t>1</m:t>
                          </m:r>
                        </m:num>
                        <m:den>
                          <m:r>
                            <a:rPr lang="en-US" altLang="zh-CN" sz="1600" i="1">
                              <a:latin typeface="Cambria Math" panose="02040503050406030204" charset="0"/>
                              <a:cs typeface="Cambria Math" panose="02040503050406030204" charset="0"/>
                            </a:rPr>
                            <m:t>𝑀</m:t>
                          </m:r>
                        </m:den>
                      </m:f>
                      <m:nary>
                        <m:naryPr>
                          <m:chr m:val="∑"/>
                          <m:limLoc m:val="undOvr"/>
                          <m:supHide m:val="on"/>
                          <m:ctrlPr>
                            <a:rPr lang="en-US" altLang="zh-CN" sz="1600" b="0" i="1">
                              <a:solidFill>
                                <a:schemeClr val="tx1"/>
                              </a:solidFill>
                              <a:latin typeface="Cambria Math" panose="02040503050406030204" charset="0"/>
                              <a:cs typeface="Cambria Math" panose="02040503050406030204" charset="0"/>
                            </a:rPr>
                          </m:ctrlPr>
                        </m:naryPr>
                        <m:sub>
                          <m:sSubSup>
                            <m:sSubSupPr>
                              <m:ctrlPr>
                                <a:rPr lang="en-US" altLang="zh-CN" sz="1600" b="0" i="1">
                                  <a:solidFill>
                                    <a:schemeClr val="tx1"/>
                                  </a:solidFill>
                                  <a:latin typeface="Cambria Math" panose="02040503050406030204" charset="0"/>
                                  <a:cs typeface="Cambria Math" panose="02040503050406030204" charset="0"/>
                                </a:rPr>
                              </m:ctrlPr>
                            </m:sSubSupPr>
                            <m:e>
                              <m:r>
                                <a:rPr lang="en-US" altLang="zh-CN" sz="1600" b="0" i="1">
                                  <a:solidFill>
                                    <a:schemeClr val="tx1"/>
                                  </a:solidFill>
                                  <a:latin typeface="Cambria Math" panose="02040503050406030204" charset="0"/>
                                  <a:cs typeface="Cambria Math" panose="02040503050406030204" charset="0"/>
                                </a:rPr>
                                <m:t>𝑎</m:t>
                              </m:r>
                            </m:e>
                            <m:sub>
                              <m:r>
                                <a:rPr lang="en-US" altLang="zh-CN" sz="1600" b="0" i="1">
                                  <a:solidFill>
                                    <a:schemeClr val="tx1"/>
                                  </a:solidFill>
                                  <a:latin typeface="Cambria Math" panose="02040503050406030204" charset="0"/>
                                  <a:cs typeface="Cambria Math" panose="02040503050406030204" charset="0"/>
                                </a:rPr>
                                <m:t>𝑣</m:t>
                              </m:r>
                            </m:sub>
                            <m:sup>
                              <m:r>
                                <a:rPr lang="en-US" altLang="zh-CN" sz="1600" b="0" i="1">
                                  <a:solidFill>
                                    <a:schemeClr val="tx1"/>
                                  </a:solidFill>
                                  <a:latin typeface="Cambria Math" panose="02040503050406030204" charset="0"/>
                                  <a:cs typeface="Cambria Math" panose="02040503050406030204" charset="0"/>
                                </a:rPr>
                                <m:t>𝑚</m:t>
                              </m:r>
                            </m:sup>
                          </m:sSubSup>
                          <m:r>
                            <a:rPr lang="en-US" altLang="zh-CN" sz="1600" b="0" i="1">
                              <a:solidFill>
                                <a:schemeClr val="tx1"/>
                              </a:solidFill>
                              <a:latin typeface="Cambria Math" panose="02040503050406030204" charset="0"/>
                              <a:cs typeface="Cambria Math" panose="02040503050406030204" charset="0"/>
                            </a:rPr>
                            <m:t>∈</m:t>
                          </m:r>
                          <m:sSub>
                            <m:sSubPr>
                              <m:ctrlPr>
                                <a:rPr lang="en-US" altLang="zh-CN" sz="1600" b="0" i="1">
                                  <a:solidFill>
                                    <a:schemeClr val="tx1"/>
                                  </a:solidFill>
                                  <a:latin typeface="Cambria Math" panose="02040503050406030204" charset="0"/>
                                  <a:cs typeface="Cambria Math" panose="02040503050406030204" charset="0"/>
                                </a:rPr>
                              </m:ctrlPr>
                            </m:sSubPr>
                            <m:e>
                              <m:r>
                                <a:rPr lang="en-US" altLang="zh-CN" sz="1600" b="0" i="1">
                                  <a:solidFill>
                                    <a:schemeClr val="tx1"/>
                                  </a:solidFill>
                                  <a:latin typeface="Cambria Math" panose="02040503050406030204" charset="0"/>
                                  <a:cs typeface="Cambria Math" panose="02040503050406030204" charset="0"/>
                                </a:rPr>
                                <m:t>𝐴</m:t>
                              </m:r>
                            </m:e>
                            <m:sub>
                              <m:r>
                                <a:rPr lang="en-US" altLang="zh-CN" sz="1600" b="0" i="1">
                                  <a:solidFill>
                                    <a:schemeClr val="tx1"/>
                                  </a:solidFill>
                                  <a:latin typeface="Cambria Math" panose="02040503050406030204" charset="0"/>
                                  <a:cs typeface="Cambria Math" panose="02040503050406030204" charset="0"/>
                                </a:rPr>
                                <m:t>𝑣</m:t>
                              </m:r>
                            </m:sub>
                          </m:sSub>
                        </m:sub>
                        <m:sup/>
                        <m:e>
                          <m:sSub>
                            <m:sSubPr>
                              <m:ctrlPr>
                                <a:rPr lang="en-US" altLang="zh-CN" sz="1600" b="0" i="1">
                                  <a:solidFill>
                                    <a:schemeClr val="tx1"/>
                                  </a:solidFill>
                                  <a:latin typeface="Cambria Math" panose="02040503050406030204" charset="0"/>
                                  <a:ea typeface="华文楷体" panose="02010600040101010101" charset="-122"/>
                                  <a:cs typeface="Cambria Math" panose="02040503050406030204" charset="0"/>
                                </a:rPr>
                              </m:ctrlPr>
                            </m:sSubPr>
                            <m:e>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𝑠</m:t>
                              </m:r>
                            </m:e>
                            <m:sub>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𝑘</m:t>
                              </m:r>
                            </m:sub>
                          </m:sSub>
                          <m:r>
                            <a:rPr lang="en-US" altLang="zh-CN" sz="1600" b="0" i="1">
                              <a:solidFill>
                                <a:schemeClr val="tx1"/>
                              </a:solidFill>
                              <a:latin typeface="Cambria Math" panose="02040503050406030204" charset="0"/>
                              <a:ea typeface="华文楷体" panose="02010600040101010101" charset="-122"/>
                              <a:cs typeface="Cambria Math" panose="02040503050406030204" charset="0"/>
                            </a:rPr>
                            <m:t>[</m:t>
                          </m:r>
                          <m:sSubSup>
                            <m:sSubSupPr>
                              <m:ctrlPr>
                                <a:rPr lang="en-US" altLang="zh-CN" sz="1600" b="0" i="1">
                                  <a:solidFill>
                                    <a:schemeClr val="tx1"/>
                                  </a:solidFill>
                                  <a:latin typeface="Cambria Math" panose="02040503050406030204" charset="0"/>
                                  <a:ea typeface="华文楷体" panose="02010600040101010101" charset="-122"/>
                                  <a:cs typeface="Cambria Math" panose="02040503050406030204" charset="0"/>
                                </a:rPr>
                              </m:ctrlPr>
                            </m:sSubSupPr>
                            <m:e>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𝑎</m:t>
                              </m:r>
                            </m:e>
                            <m:sub>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𝑣</m:t>
                              </m:r>
                            </m:sub>
                            <m:sup>
                              <m:r>
                                <a:rPr lang="en-US" altLang="zh-CN" sz="1600" b="0" i="1">
                                  <a:solidFill>
                                    <a:schemeClr val="tx1"/>
                                  </a:solidFill>
                                  <a:latin typeface="Cambria Math" panose="02040503050406030204" charset="0"/>
                                  <a:ea typeface="华文楷体" panose="02010600040101010101" charset="-122"/>
                                  <a:cs typeface="Cambria Math" panose="02040503050406030204" charset="0"/>
                                </a:rPr>
                                <m:t>𝑚</m:t>
                              </m:r>
                            </m:sup>
                          </m:sSubSup>
                          <m:r>
                            <a:rPr lang="en-US" altLang="zh-CN" sz="1600" b="0" i="1">
                              <a:solidFill>
                                <a:schemeClr val="tx1"/>
                              </a:solidFill>
                              <a:latin typeface="Cambria Math" panose="02040503050406030204" charset="0"/>
                              <a:ea typeface="华文楷体" panose="02010600040101010101" charset="-122"/>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ℎ</m:t>
                              </m:r>
                            </m:e>
                            <m:sub>
                              <m:sSubSup>
                                <m:sSubSupPr>
                                  <m:ctrlPr>
                                    <a:rPr lang="en-US" altLang="zh-CN" sz="1600" b="0" i="1">
                                      <a:solidFill>
                                        <a:schemeClr val="tx1"/>
                                      </a:solidFill>
                                      <a:latin typeface="Cambria Math" panose="02040503050406030204" charset="0"/>
                                      <a:cs typeface="Cambria Math" panose="02040503050406030204" charset="0"/>
                                    </a:rPr>
                                  </m:ctrlPr>
                                </m:sSubSupPr>
                                <m:e>
                                  <m:r>
                                    <a:rPr lang="en-US" altLang="zh-CN" sz="1600" b="0" i="1">
                                      <a:solidFill>
                                        <a:schemeClr val="tx1"/>
                                      </a:solidFill>
                                      <a:latin typeface="Cambria Math" panose="02040503050406030204" charset="0"/>
                                      <a:cs typeface="Cambria Math" panose="02040503050406030204" charset="0"/>
                                    </a:rPr>
                                    <m:t>𝑎</m:t>
                                  </m:r>
                                </m:e>
                                <m:sub>
                                  <m:r>
                                    <a:rPr lang="en-US" altLang="zh-CN" sz="1600" b="0" i="1">
                                      <a:solidFill>
                                        <a:schemeClr val="tx1"/>
                                      </a:solidFill>
                                      <a:latin typeface="Cambria Math" panose="02040503050406030204" charset="0"/>
                                      <a:cs typeface="Cambria Math" panose="02040503050406030204" charset="0"/>
                                    </a:rPr>
                                    <m:t>𝑣</m:t>
                                  </m:r>
                                </m:sub>
                                <m:sup>
                                  <m:r>
                                    <a:rPr lang="en-US" altLang="zh-CN" sz="1600" b="0" i="1">
                                      <a:solidFill>
                                        <a:schemeClr val="tx1"/>
                                      </a:solidFill>
                                      <a:latin typeface="Cambria Math" panose="02040503050406030204" charset="0"/>
                                      <a:cs typeface="Cambria Math" panose="02040503050406030204" charset="0"/>
                                    </a:rPr>
                                    <m:t>𝑚</m:t>
                                  </m:r>
                                </m:sup>
                              </m:sSubSup>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𝑣</m:t>
                              </m:r>
                            </m:sub>
                            <m:sup>
                              <m:r>
                                <a:rPr lang="en-US" altLang="zh-CN" sz="1600" i="1">
                                  <a:latin typeface="Cambria Math" panose="02040503050406030204" charset="0"/>
                                  <a:cs typeface="Cambria Math" panose="02040503050406030204" charset="0"/>
                                </a:rPr>
                                <m:t>𝐸</m:t>
                              </m:r>
                            </m:sup>
                          </m:sSubSup>
                        </m:e>
                      </m:nary>
                    </m:oMath>
                  </m:oMathPara>
                </a14:m>
                <a:endParaRPr lang="en-US" altLang="zh-CN" sz="1600" b="0" i="1">
                  <a:solidFill>
                    <a:schemeClr val="tx1"/>
                  </a:solidFill>
                  <a:latin typeface="Cambria Math" panose="02040503050406030204" charset="0"/>
                  <a:ea typeface="华文楷体" panose="02010600040101010101" charset="-122"/>
                  <a:cs typeface="Cambria Math" panose="0204050305040603020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2238375" y="5091430"/>
                <a:ext cx="6920230" cy="727075"/>
              </a:xfrm>
              <a:prstGeom prst="rect">
                <a:avLst/>
              </a:prstGeom>
              <a:blipFill rotWithShape="1">
                <a:blip r:embed="rId13"/>
                <a:stretch>
                  <a:fillRect/>
                </a:stretch>
              </a:blipFill>
            </p:spPr>
            <p:txBody>
              <a:bodyPr/>
              <a:lstStyle/>
              <a:p>
                <a:r>
                  <a:rPr lang="zh-CN" altLang="en-US">
                    <a:noFill/>
                  </a:rPr>
                  <a:t> </a:t>
                </a:r>
              </a:p>
            </p:txBody>
          </p:sp>
        </mc:Fallback>
      </mc:AlternateContent>
      <p:sp>
        <p:nvSpPr>
          <p:cNvPr id="7" name="文本框 6"/>
          <p:cNvSpPr txBox="1"/>
          <p:nvPr/>
        </p:nvSpPr>
        <p:spPr>
          <a:xfrm>
            <a:off x="459105" y="1157605"/>
            <a:ext cx="3071495" cy="2160905"/>
          </a:xfrm>
          <a:prstGeom prst="rect">
            <a:avLst/>
          </a:prstGeom>
        </p:spPr>
        <p:txBody>
          <a:bodyPr wrap="square">
            <a:spAutoFit/>
          </a:bodyPr>
          <a:p>
            <a:pPr indent="0" fontAlgn="auto">
              <a:lnSpc>
                <a:spcPts val="1930"/>
              </a:lnSpc>
              <a:spcBef>
                <a:spcPts val="600"/>
              </a:spcBef>
              <a:spcAft>
                <a:spcPts val="600"/>
              </a:spcAft>
            </a:pPr>
            <a:r>
              <a:rPr lang="zh-CN" altLang="en-US" sz="1700" b="0" i="0">
                <a:solidFill>
                  <a:schemeClr val="tx1"/>
                </a:solidFill>
                <a:latin typeface="华文楷体" panose="02010600040101010101" charset="-122"/>
                <a:ea typeface="华文楷体" panose="02010600040101010101" charset="-122"/>
                <a:cs typeface="华文楷体" panose="02010600040101010101" charset="-122"/>
              </a:rPr>
              <a:t>尽管训练阶段通过模糊逻辑嵌入了符号约束，但传统推理存在两大缺陷：</a:t>
            </a:r>
            <a:endParaRPr lang="zh-CN" altLang="en-US" sz="1700" b="0" i="0">
              <a:solidFill>
                <a:schemeClr val="tx1"/>
              </a:solidFill>
              <a:latin typeface="华文楷体" panose="02010600040101010101" charset="-122"/>
              <a:ea typeface="华文楷体" panose="02010600040101010101" charset="-122"/>
              <a:cs typeface="华文楷体" panose="02010600040101010101" charset="-122"/>
            </a:endParaRPr>
          </a:p>
          <a:p>
            <a:pPr indent="0" fontAlgn="auto">
              <a:lnSpc>
                <a:spcPts val="1930"/>
              </a:lnSpc>
              <a:spcBef>
                <a:spcPct val="0"/>
              </a:spcBef>
              <a:spcAft>
                <a:spcPct val="0"/>
              </a:spcAft>
              <a:buNone/>
            </a:pPr>
            <a:r>
              <a:rPr lang="zh-CN" altLang="en-US" sz="1700" b="0" i="0">
                <a:solidFill>
                  <a:schemeClr val="tx1"/>
                </a:solidFill>
                <a:latin typeface="华文楷体" panose="02010600040101010101" charset="-122"/>
                <a:ea typeface="华文楷体" panose="02010600040101010101" charset="-122"/>
                <a:cs typeface="华文楷体" panose="02010600040101010101" charset="-122"/>
              </a:rPr>
              <a:t>①</a:t>
            </a:r>
            <a:r>
              <a:rPr lang="zh-CN" altLang="en-US" sz="1700" b="1" i="0">
                <a:solidFill>
                  <a:srgbClr val="FF0000"/>
                </a:solidFill>
                <a:latin typeface="华文楷体" panose="02010600040101010101" charset="-122"/>
                <a:ea typeface="华文楷体" panose="02010600040101010101" charset="-122"/>
                <a:cs typeface="华文楷体" panose="02010600040101010101" charset="-122"/>
              </a:rPr>
              <a:t>结构失配</a:t>
            </a:r>
            <a:r>
              <a:rPr lang="zh-CN" altLang="en-US" sz="1700" b="0" i="0">
                <a:solidFill>
                  <a:schemeClr val="tx1"/>
                </a:solidFill>
                <a:latin typeface="华文楷体" panose="02010600040101010101" charset="-122"/>
                <a:ea typeface="华文楷体" panose="02010600040101010101" charset="-122"/>
                <a:cs typeface="华文楷体" panose="02010600040101010101" charset="-122"/>
              </a:rPr>
              <a:t>：网络输出与类别层次树T缺乏显式对齐</a:t>
            </a:r>
            <a:endParaRPr lang="zh-CN" altLang="en-US" sz="1700" b="0" i="0">
              <a:solidFill>
                <a:schemeClr val="tx1"/>
              </a:solidFill>
              <a:latin typeface="华文楷体" panose="02010600040101010101" charset="-122"/>
              <a:ea typeface="华文楷体" panose="02010600040101010101" charset="-122"/>
              <a:cs typeface="华文楷体" panose="02010600040101010101" charset="-122"/>
            </a:endParaRPr>
          </a:p>
          <a:p>
            <a:pPr indent="0" fontAlgn="auto">
              <a:lnSpc>
                <a:spcPts val="1930"/>
              </a:lnSpc>
              <a:spcBef>
                <a:spcPct val="0"/>
              </a:spcBef>
              <a:spcAft>
                <a:spcPct val="0"/>
              </a:spcAft>
              <a:buNone/>
            </a:pPr>
            <a:r>
              <a:rPr lang="zh-CN" altLang="en-US" sz="1700" b="0" i="0">
                <a:solidFill>
                  <a:schemeClr val="tx1"/>
                </a:solidFill>
                <a:latin typeface="华文楷体" panose="02010600040101010101" charset="-122"/>
                <a:ea typeface="华文楷体" panose="02010600040101010101" charset="-122"/>
                <a:cs typeface="华文楷体" panose="02010600040101010101" charset="-122"/>
              </a:rPr>
              <a:t>②</a:t>
            </a:r>
            <a:r>
              <a:rPr lang="zh-CN" altLang="en-US" sz="1700" b="1" i="0">
                <a:solidFill>
                  <a:srgbClr val="FF0000"/>
                </a:solidFill>
                <a:latin typeface="华文楷体" panose="02010600040101010101" charset="-122"/>
                <a:ea typeface="华文楷体" panose="02010600040101010101" charset="-122"/>
                <a:cs typeface="华文楷体" panose="02010600040101010101" charset="-122"/>
              </a:rPr>
              <a:t>逻辑断裂</a:t>
            </a:r>
            <a:r>
              <a:rPr lang="zh-CN" altLang="en-US" sz="1700" b="0" i="0">
                <a:solidFill>
                  <a:schemeClr val="tx1"/>
                </a:solidFill>
                <a:latin typeface="华文楷体" panose="02010600040101010101" charset="-122"/>
                <a:ea typeface="华文楷体" panose="02010600040101010101" charset="-122"/>
                <a:cs typeface="华文楷体" panose="02010600040101010101" charset="-122"/>
              </a:rPr>
              <a:t>：预测结果可能违反预定义的逻辑规则Π</a:t>
            </a:r>
            <a:endParaRPr lang="zh-CN" altLang="en-US" sz="1700" b="0" i="0">
              <a:solidFill>
                <a:schemeClr val="tx1"/>
              </a:solidFill>
              <a:latin typeface="华文楷体" panose="02010600040101010101" charset="-122"/>
              <a:ea typeface="华文楷体" panose="02010600040101010101" charset="-122"/>
              <a:cs typeface="华文楷体" panose="02010600040101010101" charset="-122"/>
            </a:endParaRPr>
          </a:p>
          <a:p>
            <a:pPr marL="0" indent="0">
              <a:lnSpc>
                <a:spcPts val="1430"/>
              </a:lnSpc>
              <a:spcBef>
                <a:spcPts val="600"/>
              </a:spcBef>
              <a:spcAft>
                <a:spcPts val="600"/>
              </a:spcAft>
            </a:pPr>
            <a:endParaRPr lang="zh-CN" altLang="en-US" sz="1700" b="0" i="0">
              <a:solidFill>
                <a:schemeClr val="tx1"/>
              </a:solidFill>
              <a:latin typeface="华文楷体" panose="02010600040101010101" charset="-122"/>
              <a:ea typeface="华文楷体" panose="02010600040101010101" charset="-122"/>
              <a:cs typeface="华文楷体" panose="02010600040101010101" charset="-122"/>
            </a:endParaRPr>
          </a:p>
        </p:txBody>
      </p:sp>
      <p:sp>
        <p:nvSpPr>
          <p:cNvPr id="12" name="文本框 11"/>
          <p:cNvSpPr txBox="1"/>
          <p:nvPr/>
        </p:nvSpPr>
        <p:spPr>
          <a:xfrm>
            <a:off x="4414520" y="3207385"/>
            <a:ext cx="6436995" cy="274320"/>
          </a:xfrm>
          <a:prstGeom prst="rect">
            <a:avLst/>
          </a:prstGeom>
          <a:noFill/>
        </p:spPr>
        <p:txBody>
          <a:bodyPr wrap="square" rtlCol="0" anchor="t">
            <a:spAutoFit/>
          </a:bodyPr>
          <a:p>
            <a:pPr marL="0" indent="0">
              <a:lnSpc>
                <a:spcPts val="1430"/>
              </a:lnSpc>
              <a:spcBef>
                <a:spcPts val="600"/>
              </a:spcBef>
              <a:spcAft>
                <a:spcPts val="600"/>
              </a:spcAft>
            </a:pPr>
            <a:r>
              <a:rPr lang="zh-CN" altLang="en-US">
                <a:latin typeface="华文楷体" panose="02010600040101010101" charset="-122"/>
                <a:ea typeface="华文楷体" panose="02010600040101010101" charset="-122"/>
                <a:cs typeface="华文楷体" panose="02010600040101010101" charset="-122"/>
                <a:sym typeface="+mn-ea"/>
              </a:rPr>
              <a:t>通过</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非参消息传递算法</a:t>
            </a:r>
            <a:r>
              <a:rPr lang="zh-CN" altLang="en-US">
                <a:latin typeface="华文楷体" panose="02010600040101010101" charset="-122"/>
                <a:ea typeface="华文楷体" panose="02010600040101010101" charset="-122"/>
                <a:cs typeface="华文楷体" panose="02010600040101010101" charset="-122"/>
                <a:sym typeface="+mn-ea"/>
              </a:rPr>
              <a:t>实现神经预测与符号推理的在线融合</a:t>
            </a:r>
            <a:endParaRPr lang="zh-CN" altLang="en-US">
              <a:latin typeface="华文楷体" panose="02010600040101010101" charset="-122"/>
              <a:ea typeface="华文楷体" panose="02010600040101010101" charset="-122"/>
              <a:cs typeface="华文楷体" panose="02010600040101010101" charset="-122"/>
              <a:sym typeface="+mn-ea"/>
            </a:endParaRPr>
          </a:p>
        </p:txBody>
      </p:sp>
      <mc:AlternateContent xmlns:mc="http://schemas.openxmlformats.org/markup-compatibility/2006">
        <mc:Choice xmlns:a14="http://schemas.microsoft.com/office/drawing/2010/main" Requires="a14">
          <p:sp>
            <p:nvSpPr>
              <p:cNvPr id="17" name="文本框 16"/>
              <p:cNvSpPr txBox="1"/>
              <p:nvPr/>
            </p:nvSpPr>
            <p:spPr>
              <a:xfrm>
                <a:off x="1261110" y="5777865"/>
                <a:ext cx="9521825" cy="338455"/>
              </a:xfrm>
              <a:prstGeom prst="rect">
                <a:avLst/>
              </a:prstGeom>
              <a:noFill/>
            </p:spPr>
            <p:txBody>
              <a:bodyPr wrap="square" rtlCol="0" anchor="t">
                <a:spAutoFit/>
              </a:bodyPr>
              <a:p>
                <a:pPr indent="0" fontAlgn="auto">
                  <a:lnSpc>
                    <a:spcPts val="1930"/>
                  </a:lnSpc>
                  <a:spcBef>
                    <a:spcPts val="600"/>
                  </a:spcBef>
                  <a:spcAft>
                    <a:spcPts val="600"/>
                  </a:spcAft>
                </a:pPr>
                <a:r>
                  <a:rPr lang="zh-CN" altLang="en-US" sz="1700" b="1">
                    <a:solidFill>
                      <a:srgbClr val="FF0000"/>
                    </a:solidFill>
                    <a:latin typeface="华文楷体" panose="02010600040101010101" charset="-122"/>
                    <a:ea typeface="华文楷体" panose="02010600040101010101" charset="-122"/>
                    <a:cs typeface="华文楷体" panose="02010600040101010101" charset="-122"/>
                    <a:sym typeface="+mn-ea"/>
                  </a:rPr>
                  <a:t>权重设计</a:t>
                </a:r>
                <a:r>
                  <a:rPr lang="en-US" altLang="zh-CN" sz="1700">
                    <a:latin typeface="华文楷体" panose="02010600040101010101" charset="-122"/>
                    <a:ea typeface="华文楷体" panose="02010600040101010101" charset="-122"/>
                    <a:cs typeface="华文楷体" panose="02010600040101010101" charset="-122"/>
                    <a:sym typeface="+mn-ea"/>
                  </a:rPr>
                  <a:t> </a:t>
                </a:r>
                <a:r>
                  <a:rPr lang="zh-CN" altLang="en-US" sz="1700">
                    <a:latin typeface="华文楷体" panose="02010600040101010101" charset="-122"/>
                    <a:ea typeface="华文楷体" panose="02010600040101010101" charset="-122"/>
                    <a:cs typeface="华文楷体" panose="02010600040101010101" charset="-122"/>
                    <a:sym typeface="+mn-ea"/>
                  </a:rPr>
                  <a:t>消息强度受发送节点置信度</a:t>
                </a:r>
                <a14:m>
                  <m:oMath xmlns:m="http://schemas.openxmlformats.org/officeDocument/2006/math">
                    <m:sSub>
                      <m:sSubPr>
                        <m:ctrlPr>
                          <a:rPr lang="en-US" altLang="zh-CN" sz="1700" b="0" i="1">
                            <a:solidFill>
                              <a:schemeClr val="tx1"/>
                            </a:solidFill>
                            <a:latin typeface="Cambria Math" panose="02040503050406030204" charset="0"/>
                            <a:cs typeface="Cambria Math" panose="02040503050406030204" charset="0"/>
                          </a:rPr>
                        </m:ctrlPr>
                      </m:sSubPr>
                      <m:e>
                        <m:r>
                          <a:rPr lang="en-US" altLang="zh-CN" sz="1700" b="0" i="1">
                            <a:solidFill>
                              <a:schemeClr val="tx1"/>
                            </a:solidFill>
                            <a:latin typeface="Cambria Math" panose="02040503050406030204" charset="0"/>
                            <a:cs typeface="Cambria Math" panose="02040503050406030204" charset="0"/>
                          </a:rPr>
                          <m:t>𝑠</m:t>
                        </m:r>
                      </m:e>
                      <m:sub>
                        <m:r>
                          <a:rPr lang="en-US" altLang="zh-CN" sz="1700" b="0" i="1">
                            <a:solidFill>
                              <a:schemeClr val="tx1"/>
                            </a:solidFill>
                            <a:latin typeface="Cambria Math" panose="02040503050406030204" charset="0"/>
                            <a:cs typeface="Cambria Math" panose="02040503050406030204" charset="0"/>
                          </a:rPr>
                          <m:t>𝑘</m:t>
                        </m:r>
                      </m:sub>
                    </m:sSub>
                    <m:r>
                      <a:rPr lang="en-US" altLang="zh-CN" sz="1700" b="0" i="1">
                        <a:solidFill>
                          <a:schemeClr val="tx1"/>
                        </a:solidFill>
                        <a:latin typeface="Cambria Math" panose="02040503050406030204" charset="0"/>
                        <a:cs typeface="Cambria Math" panose="02040503050406030204" charset="0"/>
                      </a:rPr>
                      <m:t>[⋅]</m:t>
                    </m:r>
                  </m:oMath>
                </a14:m>
                <a:r>
                  <a:rPr lang="zh-CN" altLang="en-US" sz="1700">
                    <a:latin typeface="华文楷体" panose="02010600040101010101" charset="-122"/>
                    <a:ea typeface="华文楷体" panose="02010600040101010101" charset="-122"/>
                    <a:cs typeface="华文楷体" panose="02010600040101010101" charset="-122"/>
                    <a:sym typeface="+mn-ea"/>
                  </a:rPr>
                  <a:t>调制，形成闭环反馈</a:t>
                </a:r>
                <a:endParaRPr lang="zh-CN" altLang="en-US" sz="1700">
                  <a:latin typeface="华文楷体" panose="02010600040101010101" charset="-122"/>
                  <a:ea typeface="华文楷体" panose="02010600040101010101" charset="-122"/>
                  <a:cs typeface="华文楷体" panose="02010600040101010101" charset="-122"/>
                  <a:sym typeface="+mn-ea"/>
                </a:endParaRPr>
              </a:p>
            </p:txBody>
          </p:sp>
        </mc:Choice>
        <mc:Fallback>
          <p:sp>
            <p:nvSpPr>
              <p:cNvPr id="17" name="文本框 16"/>
              <p:cNvSpPr txBox="1">
                <a:spLocks noRot="1" noChangeAspect="1" noMove="1" noResize="1" noEditPoints="1" noAdjustHandles="1" noChangeArrowheads="1" noChangeShapeType="1" noTextEdit="1"/>
              </p:cNvSpPr>
              <p:nvPr/>
            </p:nvSpPr>
            <p:spPr>
              <a:xfrm>
                <a:off x="1261110" y="5777865"/>
                <a:ext cx="9521825" cy="338455"/>
              </a:xfrm>
              <a:prstGeom prst="rect">
                <a:avLst/>
              </a:prstGeom>
              <a:blipFill rotWithShape="1">
                <a:blip r:embed="rId14"/>
                <a:stretch>
                  <a:fillRect/>
                </a:stretch>
              </a:blipFill>
            </p:spPr>
            <p:txBody>
              <a:bodyPr/>
              <a:lstStyle/>
              <a:p>
                <a:r>
                  <a:rPr lang="zh-CN" altLang="en-US">
                    <a:noFill/>
                  </a:rPr>
                  <a:t> </a:t>
                </a:r>
              </a:p>
            </p:txBody>
          </p:sp>
        </mc:Fallback>
      </mc:AlternateContent>
      <p:sp>
        <p:nvSpPr>
          <p:cNvPr id="18" name="文本框 17"/>
          <p:cNvSpPr txBox="1"/>
          <p:nvPr/>
        </p:nvSpPr>
        <p:spPr>
          <a:xfrm>
            <a:off x="1261110" y="6180455"/>
            <a:ext cx="6752590" cy="274320"/>
          </a:xfrm>
          <a:prstGeom prst="rect">
            <a:avLst/>
          </a:prstGeom>
        </p:spPr>
        <p:txBody>
          <a:bodyPr wrap="square">
            <a:spAutoFit/>
          </a:bodyPr>
          <a:p>
            <a:pPr marL="0" indent="0">
              <a:lnSpc>
                <a:spcPts val="1430"/>
              </a:lnSpc>
              <a:spcBef>
                <a:spcPts val="900"/>
              </a:spcBef>
              <a:spcAft>
                <a:spcPts val="600"/>
              </a:spcAft>
            </a:pPr>
            <a:r>
              <a:rPr lang="zh-CN" altLang="en-US" sz="1700" b="1" i="0">
                <a:solidFill>
                  <a:srgbClr val="FF0000"/>
                </a:solidFill>
                <a:latin typeface="华文楷体" panose="02010600040101010101" charset="-122"/>
                <a:ea typeface="华文楷体" panose="02010600040101010101" charset="-122"/>
                <a:cs typeface="华文楷体" panose="02010600040101010101" charset="-122"/>
              </a:rPr>
              <a:t>路径决策策略</a:t>
            </a:r>
            <a:r>
              <a:rPr lang="en-US" altLang="zh-CN" sz="1700" b="1" i="0">
                <a:solidFill>
                  <a:srgbClr val="FF0000"/>
                </a:solidFill>
                <a:latin typeface="华文楷体" panose="02010600040101010101" charset="-122"/>
                <a:ea typeface="华文楷体" panose="02010600040101010101" charset="-122"/>
                <a:cs typeface="华文楷体" panose="02010600040101010101" charset="-122"/>
              </a:rPr>
              <a:t> </a:t>
            </a:r>
            <a:r>
              <a:rPr lang="zh-CN" altLang="en-US" sz="1700" b="0" i="0">
                <a:latin typeface="华文楷体" panose="02010600040101010101" charset="-122"/>
                <a:ea typeface="华文楷体" panose="02010600040101010101" charset="-122"/>
                <a:cs typeface="华文楷体" panose="02010600040101010101" charset="-122"/>
              </a:rPr>
              <a:t>最终预测选择层次树T中得分最高的根到叶路径：</a:t>
            </a:r>
            <a:endParaRPr lang="zh-CN" altLang="en-US" sz="1700" b="0" i="0">
              <a:latin typeface="华文楷体" panose="02010600040101010101" charset="-122"/>
              <a:ea typeface="华文楷体" panose="02010600040101010101" charset="-122"/>
              <a:cs typeface="华文楷体" panose="02010600040101010101" charset="-122"/>
            </a:endParaRPr>
          </a:p>
        </p:txBody>
      </p:sp>
      <mc:AlternateContent xmlns:mc="http://schemas.openxmlformats.org/markup-compatibility/2006">
        <mc:Choice xmlns:a14="http://schemas.microsoft.com/office/drawing/2010/main" Requires="a14">
          <p:sp>
            <p:nvSpPr>
              <p:cNvPr id="19" name="文本框 18"/>
              <p:cNvSpPr txBox="1"/>
              <p:nvPr/>
            </p:nvSpPr>
            <p:spPr>
              <a:xfrm>
                <a:off x="7251700" y="5984240"/>
                <a:ext cx="3128010" cy="72580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𝑃</m:t>
                          </m:r>
                        </m:e>
                        <m:sup>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𝑎𝑟𝑔𝑚𝑎𝑥</m:t>
                          </m:r>
                        </m:e>
                        <m:sub>
                          <m:r>
                            <a:rPr lang="en-US" altLang="zh-CN" i="1">
                              <a:latin typeface="Cambria Math" panose="02040503050406030204" charset="0"/>
                              <a:cs typeface="Cambria Math" panose="02040503050406030204" charset="0"/>
                            </a:rPr>
                            <m:t>𝑃</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𝑇</m:t>
                          </m:r>
                        </m:sub>
                      </m:sSub>
                      <m:nary>
                        <m:naryPr>
                          <m:chr m:val="∑"/>
                          <m:limLoc m:val="undOvr"/>
                          <m:supHide m:val="on"/>
                          <m:ctrlPr>
                            <a:rPr lang="en-US" altLang="zh-CN" i="1">
                              <a:latin typeface="Cambria Math" panose="02040503050406030204" charset="0"/>
                              <a:cs typeface="Cambria Math" panose="02040503050406030204" charset="0"/>
                            </a:rPr>
                          </m:ctrlPr>
                        </m:naryPr>
                        <m:sub>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𝑣</m:t>
                              </m:r>
                            </m:e>
                            <m:sup>
                              <m:r>
                                <a:rPr lang="en-US" altLang="zh-CN" i="1">
                                  <a:latin typeface="Cambria Math" panose="02040503050406030204" charset="0"/>
                                  <a:cs typeface="Cambria Math" panose="02040503050406030204" charset="0"/>
                                </a:rPr>
                                <m:t>𝑝</m:t>
                              </m:r>
                            </m:sup>
                          </m:s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𝑃</m:t>
                          </m:r>
                        </m:sub>
                        <m:sup/>
                        <m:e>
                          <m:sSub>
                            <m:sSubPr>
                              <m:ctrlPr>
                                <a:rPr lang="en-US" altLang="zh-CN" b="0" i="1">
                                  <a:solidFill>
                                    <a:schemeClr val="tx1"/>
                                  </a:solidFill>
                                  <a:latin typeface="Cambria Math" panose="02040503050406030204" charset="0"/>
                                  <a:cs typeface="Cambria Math" panose="02040503050406030204" charset="0"/>
                                </a:rPr>
                              </m:ctrlPr>
                            </m:sSubPr>
                            <m:e>
                              <m:r>
                                <a:rPr lang="en-US" altLang="zh-CN" b="0" i="1">
                                  <a:solidFill>
                                    <a:schemeClr val="tx1"/>
                                  </a:solidFill>
                                  <a:latin typeface="Cambria Math" panose="02040503050406030204" charset="0"/>
                                  <a:cs typeface="Cambria Math" panose="02040503050406030204" charset="0"/>
                                </a:rPr>
                                <m:t>𝑠</m:t>
                              </m:r>
                            </m:e>
                            <m:sub>
                              <m:r>
                                <a:rPr lang="en-US" altLang="zh-CN" b="0" i="1">
                                  <a:solidFill>
                                    <a:schemeClr val="tx1"/>
                                  </a:solidFill>
                                  <a:latin typeface="Cambria Math" panose="02040503050406030204" charset="0"/>
                                  <a:cs typeface="Cambria Math" panose="02040503050406030204" charset="0"/>
                                </a:rPr>
                                <m:t>𝑘</m:t>
                              </m:r>
                            </m:sub>
                          </m:sSub>
                          <m:r>
                            <a:rPr lang="en-US" altLang="zh-CN" b="0" i="1">
                              <a:solidFill>
                                <a:schemeClr val="tx1"/>
                              </a:solidFill>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𝑣</m:t>
                              </m:r>
                            </m:e>
                            <m:sup>
                              <m:r>
                                <a:rPr lang="en-US" altLang="zh-CN" i="1">
                                  <a:latin typeface="Cambria Math" panose="02040503050406030204" charset="0"/>
                                  <a:cs typeface="Cambria Math" panose="02040503050406030204" charset="0"/>
                                </a:rPr>
                                <m:t>𝑝</m:t>
                              </m:r>
                            </m:sup>
                          </m:sSup>
                          <m:r>
                            <a:rPr lang="en-US" altLang="zh-CN" b="0" i="1">
                              <a:solidFill>
                                <a:schemeClr val="tx1"/>
                              </a:solidFill>
                              <a:latin typeface="Cambria Math" panose="02040503050406030204" charset="0"/>
                              <a:cs typeface="Cambria Math" panose="02040503050406030204" charset="0"/>
                            </a:rPr>
                            <m:t>]</m:t>
                          </m:r>
                        </m:e>
                      </m:nary>
                    </m:oMath>
                  </m:oMathPara>
                </a14:m>
                <a:endParaRPr lang="en-US" altLang="zh-CN" i="1">
                  <a:latin typeface="Cambria Math" panose="02040503050406030204" charset="0"/>
                  <a:cs typeface="Cambria Math" panose="02040503050406030204" charset="0"/>
                </a:endParaRPr>
              </a:p>
            </p:txBody>
          </p:sp>
        </mc:Choice>
        <mc:Fallback>
          <p:sp>
            <p:nvSpPr>
              <p:cNvPr id="19" name="文本框 18"/>
              <p:cNvSpPr txBox="1">
                <a:spLocks noRot="1" noChangeAspect="1" noMove="1" noResize="1" noEditPoints="1" noAdjustHandles="1" noChangeArrowheads="1" noChangeShapeType="1" noTextEdit="1"/>
              </p:cNvSpPr>
              <p:nvPr/>
            </p:nvSpPr>
            <p:spPr>
              <a:xfrm>
                <a:off x="7251700" y="5984240"/>
                <a:ext cx="3128010" cy="725805"/>
              </a:xfrm>
              <a:prstGeom prst="rect">
                <a:avLst/>
              </a:prstGeom>
              <a:blipFill rotWithShape="1">
                <a:blip r:embed="rId15"/>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矩形 22"/>
          <p:cNvSpPr/>
          <p:nvPr/>
        </p:nvSpPr>
        <p:spPr>
          <a:xfrm>
            <a:off x="1152000" y="288000"/>
            <a:ext cx="29260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逻辑诱导推理</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graphicFrame>
        <p:nvGraphicFramePr>
          <p:cNvPr id="15" name="对象 14">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2" imgW="114300" imgH="215900" progId="Equation.KSEE3">
                  <p:embed/>
                </p:oleObj>
              </mc:Choice>
              <mc:Fallback>
                <p:oleObj name="" r:id="rId2" imgW="114300" imgH="215900" progId="Equation.KSEE3">
                  <p:embed/>
                  <p:pic>
                    <p:nvPicPr>
                      <p:cNvPr id="0" name="图片 1024"/>
                      <p:cNvPicPr/>
                      <p:nvPr/>
                    </p:nvPicPr>
                    <p:blipFill>
                      <a:blip r:embed="rId3"/>
                      <a:stretch>
                        <a:fillRect/>
                      </a:stretch>
                    </p:blipFill>
                    <p:spPr>
                      <a:xfrm>
                        <a:off x="6038850" y="3321050"/>
                        <a:ext cx="114300" cy="215900"/>
                      </a:xfrm>
                      <a:prstGeom prst="rect">
                        <a:avLst/>
                      </a:prstGeom>
                    </p:spPr>
                  </p:pic>
                </p:oleObj>
              </mc:Fallback>
            </mc:AlternateContent>
          </a:graphicData>
        </a:graphic>
      </p:graphicFrame>
      <p:pic>
        <p:nvPicPr>
          <p:cNvPr id="7" name="图片 6"/>
          <p:cNvPicPr>
            <a:picLocks noChangeAspect="1"/>
          </p:cNvPicPr>
          <p:nvPr/>
        </p:nvPicPr>
        <p:blipFill>
          <a:blip r:embed="rId4"/>
          <a:stretch>
            <a:fillRect/>
          </a:stretch>
        </p:blipFill>
        <p:spPr>
          <a:xfrm>
            <a:off x="712470" y="2065655"/>
            <a:ext cx="5440680" cy="4259580"/>
          </a:xfrm>
          <a:prstGeom prst="rect">
            <a:avLst/>
          </a:prstGeom>
        </p:spPr>
      </p:pic>
      <p:pic>
        <p:nvPicPr>
          <p:cNvPr id="13" name="图片 12"/>
          <p:cNvPicPr>
            <a:picLocks noChangeAspect="1"/>
          </p:cNvPicPr>
          <p:nvPr/>
        </p:nvPicPr>
        <p:blipFill>
          <a:blip r:embed="rId5"/>
          <a:stretch>
            <a:fillRect/>
          </a:stretch>
        </p:blipFill>
        <p:spPr>
          <a:xfrm>
            <a:off x="6549390" y="1299210"/>
            <a:ext cx="4817110" cy="5285740"/>
          </a:xfrm>
          <a:prstGeom prst="rect">
            <a:avLst/>
          </a:prstGeom>
        </p:spPr>
      </p:pic>
      <p:sp>
        <p:nvSpPr>
          <p:cNvPr id="14" name="文本框 13"/>
          <p:cNvSpPr txBox="1"/>
          <p:nvPr/>
        </p:nvSpPr>
        <p:spPr>
          <a:xfrm>
            <a:off x="712470" y="1146175"/>
            <a:ext cx="5208905" cy="706755"/>
          </a:xfrm>
          <a:prstGeom prst="rect">
            <a:avLst/>
          </a:prstGeom>
        </p:spPr>
        <p:txBody>
          <a:bodyPr wrap="square">
            <a:spAutoFit/>
          </a:bodyPr>
          <a:p>
            <a:pPr marL="0" indent="457200"/>
            <a:r>
              <a:rPr lang="zh-CN" altLang="en-US" sz="2000" b="0" i="0">
                <a:solidFill>
                  <a:schemeClr val="tx1"/>
                </a:solidFill>
                <a:latin typeface="华文楷体" panose="02010600040101010101" charset="-122"/>
                <a:ea typeface="华文楷体" panose="02010600040101010101" charset="-122"/>
                <a:cs typeface="华文楷体" panose="02010600040101010101" charset="-122"/>
              </a:rPr>
              <a:t>所有消息生成过程均采用</a:t>
            </a:r>
            <a:r>
              <a:rPr lang="zh-CN" altLang="en-US" sz="2000" b="1" i="0">
                <a:solidFill>
                  <a:srgbClr val="FF0000"/>
                </a:solidFill>
                <a:latin typeface="华文楷体" panose="02010600040101010101" charset="-122"/>
                <a:ea typeface="华文楷体" panose="02010600040101010101" charset="-122"/>
                <a:cs typeface="华文楷体" panose="02010600040101010101" charset="-122"/>
              </a:rPr>
              <a:t>矩阵运算</a:t>
            </a:r>
            <a:r>
              <a:rPr lang="zh-CN" altLang="en-US" sz="2000" b="0" i="0">
                <a:solidFill>
                  <a:schemeClr val="tx1"/>
                </a:solidFill>
                <a:latin typeface="华文楷体" panose="02010600040101010101" charset="-122"/>
                <a:ea typeface="华文楷体" panose="02010600040101010101" charset="-122"/>
                <a:cs typeface="华文楷体" panose="02010600040101010101" charset="-122"/>
              </a:rPr>
              <a:t>实现，能够充分利用</a:t>
            </a:r>
            <a:r>
              <a:rPr lang="en-US" altLang="zh-CN" sz="2000" b="0" i="0">
                <a:solidFill>
                  <a:schemeClr val="tx1"/>
                </a:solidFill>
                <a:latin typeface="华文楷体" panose="02010600040101010101" charset="-122"/>
                <a:ea typeface="华文楷体" panose="02010600040101010101" charset="-122"/>
                <a:cs typeface="华文楷体" panose="02010600040101010101" charset="-122"/>
              </a:rPr>
              <a:t>GPU</a:t>
            </a:r>
            <a:r>
              <a:rPr lang="zh-CN" altLang="en-US" sz="2000" b="0" i="0">
                <a:solidFill>
                  <a:schemeClr val="tx1"/>
                </a:solidFill>
                <a:latin typeface="华文楷体" panose="02010600040101010101" charset="-122"/>
                <a:ea typeface="华文楷体" panose="02010600040101010101" charset="-122"/>
                <a:cs typeface="华文楷体" panose="02010600040101010101" charset="-122"/>
              </a:rPr>
              <a:t>的并行架构加速。</a:t>
            </a:r>
            <a:endParaRPr lang="zh-CN" altLang="en-US" sz="2000" b="0" i="0">
              <a:solidFill>
                <a:schemeClr val="tx1"/>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87" y="13684"/>
            <a:ext cx="12191239" cy="6857572"/>
          </a:xfrm>
          <a:prstGeom prst="rect">
            <a:avLst/>
          </a:prstGeom>
        </p:spPr>
      </p:pic>
      <p:sp>
        <p:nvSpPr>
          <p:cNvPr id="8" name="Freeform 5"/>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0" name="Freeform 6"/>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C9C9C9"/>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1" name="Freeform 7"/>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solidFill>
            <a:srgbClr val="0070C0"/>
          </a:solidFill>
          <a:ln>
            <a:noFill/>
          </a:ln>
        </p:spPr>
        <p:txBody>
          <a:bodyPr lIns="91416" tIns="45708" rIns="91416" bIns="45708"/>
          <a:lstStyle/>
          <a:p>
            <a:endParaRPr lang="zh-CN" altLang="en-US" sz="2400"/>
          </a:p>
        </p:txBody>
      </p:sp>
      <p:sp>
        <p:nvSpPr>
          <p:cNvPr id="12" name="Freeform 8"/>
          <p:cNvSpPr/>
          <p:nvPr/>
        </p:nvSpPr>
        <p:spPr bwMode="auto">
          <a:xfrm>
            <a:off x="11227177" y="1908175"/>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3" name="Freeform 9"/>
          <p:cNvSpPr/>
          <p:nvPr/>
        </p:nvSpPr>
        <p:spPr bwMode="auto">
          <a:xfrm>
            <a:off x="10587664" y="6049964"/>
            <a:ext cx="1604336" cy="808037"/>
          </a:xfrm>
          <a:custGeom>
            <a:avLst/>
            <a:gdLst>
              <a:gd name="T0" fmla="*/ 2088 w 2088"/>
              <a:gd name="T1" fmla="*/ 0 h 1048"/>
              <a:gd name="T2" fmla="*/ 2088 w 2088"/>
              <a:gd name="T3" fmla="*/ 1048 h 1048"/>
              <a:gd name="T4" fmla="*/ 0 w 2088"/>
              <a:gd name="T5" fmla="*/ 1048 h 1048"/>
              <a:gd name="T6" fmla="*/ 662 w 2088"/>
              <a:gd name="T7" fmla="*/ 0 h 1048"/>
              <a:gd name="T8" fmla="*/ 2088 w 2088"/>
              <a:gd name="T9" fmla="*/ 0 h 1048"/>
            </a:gdLst>
            <a:ahLst/>
            <a:cxnLst>
              <a:cxn ang="0">
                <a:pos x="T0" y="T1"/>
              </a:cxn>
              <a:cxn ang="0">
                <a:pos x="T2" y="T3"/>
              </a:cxn>
              <a:cxn ang="0">
                <a:pos x="T4" y="T5"/>
              </a:cxn>
              <a:cxn ang="0">
                <a:pos x="T6" y="T7"/>
              </a:cxn>
              <a:cxn ang="0">
                <a:pos x="T8" y="T9"/>
              </a:cxn>
            </a:cxnLst>
            <a:rect l="0" t="0" r="r" b="b"/>
            <a:pathLst>
              <a:path w="2088" h="1048">
                <a:moveTo>
                  <a:pt x="2088" y="0"/>
                </a:moveTo>
                <a:lnTo>
                  <a:pt x="2088" y="1048"/>
                </a:lnTo>
                <a:lnTo>
                  <a:pt x="0" y="1048"/>
                </a:lnTo>
                <a:lnTo>
                  <a:pt x="662" y="0"/>
                </a:lnTo>
                <a:lnTo>
                  <a:pt x="2088" y="0"/>
                </a:lnTo>
                <a:close/>
              </a:path>
            </a:pathLst>
          </a:custGeom>
          <a:solidFill>
            <a:srgbClr val="C1C0C3"/>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4" name="Freeform 10"/>
          <p:cNvSpPr/>
          <p:nvPr/>
        </p:nvSpPr>
        <p:spPr bwMode="auto">
          <a:xfrm>
            <a:off x="10297265" y="6208713"/>
            <a:ext cx="1894735" cy="649287"/>
          </a:xfrm>
          <a:custGeom>
            <a:avLst/>
            <a:gdLst>
              <a:gd name="T0" fmla="*/ 2467 w 2467"/>
              <a:gd name="T1" fmla="*/ 0 h 843"/>
              <a:gd name="T2" fmla="*/ 2467 w 2467"/>
              <a:gd name="T3" fmla="*/ 843 h 843"/>
              <a:gd name="T4" fmla="*/ 0 w 2467"/>
              <a:gd name="T5" fmla="*/ 843 h 843"/>
              <a:gd name="T6" fmla="*/ 533 w 2467"/>
              <a:gd name="T7" fmla="*/ 0 h 843"/>
              <a:gd name="T8" fmla="*/ 2467 w 2467"/>
              <a:gd name="T9" fmla="*/ 0 h 843"/>
            </a:gdLst>
            <a:ahLst/>
            <a:cxnLst>
              <a:cxn ang="0">
                <a:pos x="T0" y="T1"/>
              </a:cxn>
              <a:cxn ang="0">
                <a:pos x="T2" y="T3"/>
              </a:cxn>
              <a:cxn ang="0">
                <a:pos x="T4" y="T5"/>
              </a:cxn>
              <a:cxn ang="0">
                <a:pos x="T6" y="T7"/>
              </a:cxn>
              <a:cxn ang="0">
                <a:pos x="T8" y="T9"/>
              </a:cxn>
            </a:cxnLst>
            <a:rect l="0" t="0" r="r" b="b"/>
            <a:pathLst>
              <a:path w="2467" h="843">
                <a:moveTo>
                  <a:pt x="2467" y="0"/>
                </a:moveTo>
                <a:lnTo>
                  <a:pt x="2467" y="843"/>
                </a:lnTo>
                <a:lnTo>
                  <a:pt x="0" y="843"/>
                </a:lnTo>
                <a:lnTo>
                  <a:pt x="533" y="0"/>
                </a:lnTo>
                <a:lnTo>
                  <a:pt x="2467"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5" name="TextBox 11"/>
          <p:cNvSpPr txBox="1">
            <a:spLocks noChangeArrowheads="1"/>
          </p:cNvSpPr>
          <p:nvPr/>
        </p:nvSpPr>
        <p:spPr bwMode="auto">
          <a:xfrm>
            <a:off x="2708805" y="2568576"/>
            <a:ext cx="2213610" cy="70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6" tIns="45708" rIns="91416" bIns="4570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4000" b="1" dirty="0">
                <a:solidFill>
                  <a:srgbClr val="FFFFFF"/>
                </a:solidFill>
                <a:latin typeface="微软雅黑" panose="020B0503020204020204" charset="-122"/>
                <a:ea typeface="微软雅黑" panose="020B0503020204020204" charset="-122"/>
              </a:rPr>
              <a:t>实验验证</a:t>
            </a:r>
            <a:endParaRPr lang="zh-CN" altLang="en-US" sz="4000" b="1" dirty="0">
              <a:solidFill>
                <a:srgbClr val="FFFFFF"/>
              </a:solidFill>
              <a:latin typeface="微软雅黑" panose="020B0503020204020204" charset="-122"/>
              <a:ea typeface="微软雅黑" panose="020B0503020204020204" charset="-122"/>
            </a:endParaRPr>
          </a:p>
        </p:txBody>
      </p:sp>
      <p:sp>
        <p:nvSpPr>
          <p:cNvPr id="16" name="TextBox 12"/>
          <p:cNvSpPr txBox="1">
            <a:spLocks noChangeArrowheads="1"/>
          </p:cNvSpPr>
          <p:nvPr/>
        </p:nvSpPr>
        <p:spPr bwMode="auto">
          <a:xfrm>
            <a:off x="1345675" y="2463800"/>
            <a:ext cx="1257935" cy="220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6" tIns="45708" rIns="91416" bIns="4570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735" b="1">
                <a:solidFill>
                  <a:srgbClr val="FFFFFF"/>
                </a:solidFill>
                <a:latin typeface="微软雅黑" panose="020B0503020204020204" charset="-122"/>
                <a:ea typeface="微软雅黑" panose="020B0503020204020204" charset="-122"/>
              </a:rPr>
              <a:t>2</a:t>
            </a:r>
            <a:endParaRPr lang="zh-CN" altLang="en-US" sz="13735" b="1">
              <a:solidFill>
                <a:srgbClr val="FFFFFF"/>
              </a:solidFill>
              <a:latin typeface="微软雅黑" panose="020B0503020204020204" charset="-122"/>
              <a:ea typeface="微软雅黑" panose="020B0503020204020204" charset="-122"/>
            </a:endParaRPr>
          </a:p>
        </p:txBody>
      </p:sp>
      <p:sp>
        <p:nvSpPr>
          <p:cNvPr id="17" name="TextBox 1"/>
          <p:cNvSpPr txBox="1">
            <a:spLocks noChangeArrowheads="1"/>
          </p:cNvSpPr>
          <p:nvPr/>
        </p:nvSpPr>
        <p:spPr bwMode="auto">
          <a:xfrm>
            <a:off x="2776855" y="3435350"/>
            <a:ext cx="6261735" cy="1134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6" tIns="45708" rIns="91416" bIns="45708">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a:solidFill>
                  <a:srgbClr val="FFFFFF"/>
                </a:solidFill>
                <a:latin typeface="华文楷体" panose="02010600040101010101" charset="-122"/>
                <a:ea typeface="华文楷体" panose="02010600040101010101" charset="-122"/>
                <a:cs typeface="华文楷体" panose="02010600040101010101" charset="-122"/>
              </a:rPr>
              <a:t>在多个标准数据集上的实验表明，LOGICSEG显著提升了主流分割模型的性能，同时保持高效推理速度。消融实验验证了各逻辑模块的有效性，可视化结果证实了该方法能生成符合语义层次的预测，为可解释的视觉理解提供了可靠解决方案。</a:t>
            </a:r>
            <a:endParaRPr lang="zh-CN" altLang="en-US" sz="1600">
              <a:solidFill>
                <a:srgbClr val="FFFFFF"/>
              </a:solidFill>
              <a:latin typeface="华文楷体" panose="02010600040101010101" charset="-122"/>
              <a:ea typeface="华文楷体" panose="02010600040101010101" charset="-122"/>
              <a:cs typeface="华文楷体" panose="02010600040101010101" charset="-122"/>
            </a:endParaRPr>
          </a:p>
          <a:p>
            <a:pPr eaLnBrk="1" hangingPunct="1"/>
            <a:endParaRPr lang="zh-CN" altLang="en-US" sz="1600">
              <a:solidFill>
                <a:srgbClr val="FFFFFF"/>
              </a:solidFill>
              <a:latin typeface="华文楷体" panose="02010600040101010101" charset="-122"/>
              <a:ea typeface="华文楷体" panose="02010600040101010101" charset="-122"/>
              <a:cs typeface="华文楷体" panose="02010600040101010101" charset="-122"/>
            </a:endParaRPr>
          </a:p>
          <a:p>
            <a:pPr eaLnBrk="1" hangingPunct="1"/>
            <a:endParaRPr lang="en-US" altLang="zh-CN" sz="2000">
              <a:solidFill>
                <a:srgbClr val="FFFFFF"/>
              </a:solidFill>
              <a:latin typeface="微软雅黑" panose="020B0503020204020204" charset="-122"/>
              <a:ea typeface="微软雅黑" panose="020B0503020204020204" charset="-122"/>
            </a:endParaRPr>
          </a:p>
        </p:txBody>
      </p:sp>
      <p:sp>
        <p:nvSpPr>
          <p:cNvPr id="18" name="TextBox 2"/>
          <p:cNvSpPr txBox="1">
            <a:spLocks noChangeArrowheads="1"/>
          </p:cNvSpPr>
          <p:nvPr/>
        </p:nvSpPr>
        <p:spPr bwMode="auto">
          <a:xfrm>
            <a:off x="490347" y="3813176"/>
            <a:ext cx="83375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6" tIns="45708" rIns="91416" bIns="4570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solidFill>
                  <a:srgbClr val="FFFFFF"/>
                </a:solidFill>
              </a:rPr>
              <a:t>Part</a:t>
            </a:r>
            <a:endParaRPr lang="zh-CN" altLang="en-US" sz="2800">
              <a:solidFill>
                <a:srgbClr val="FFFFFF"/>
              </a:solidFill>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advClick="0" advTm="8000">
        <p14:prism/>
      </p:transition>
    </mc:Choice>
    <mc:Fallback>
      <p:transition spd="slow" advClick="0" advTm="8000">
        <p:fade/>
      </p:transition>
    </mc:Fallback>
  </mc:AlternateContent>
  <p:timing>
    <p:tnLst>
      <p:par>
        <p:cTn id="1" dur="indefinite" restart="never" nodeType="tmRoot"/>
      </p:par>
    </p:tnLst>
    <p:bldLst>
      <p:bldP spid="13"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矩形 22"/>
          <p:cNvSpPr/>
          <p:nvPr/>
        </p:nvSpPr>
        <p:spPr>
          <a:xfrm>
            <a:off x="1152000" y="288000"/>
            <a:ext cx="20116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实验准备</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graphicFrame>
        <p:nvGraphicFramePr>
          <p:cNvPr id="15" name="对象 14">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2" imgW="114300" imgH="215900" progId="Equation.KSEE3">
                  <p:embed/>
                </p:oleObj>
              </mc:Choice>
              <mc:Fallback>
                <p:oleObj name="" r:id="rId2" imgW="114300" imgH="215900" progId="Equation.KSEE3">
                  <p:embed/>
                  <p:pic>
                    <p:nvPicPr>
                      <p:cNvPr id="0" name="图片 1024"/>
                      <p:cNvPicPr/>
                      <p:nvPr/>
                    </p:nvPicPr>
                    <p:blipFill>
                      <a:blip r:embed="rId3"/>
                      <a:stretch>
                        <a:fillRect/>
                      </a:stretch>
                    </p:blipFill>
                    <p:spPr>
                      <a:xfrm>
                        <a:off x="6038850" y="3321050"/>
                        <a:ext cx="114300" cy="215900"/>
                      </a:xfrm>
                      <a:prstGeom prst="rect">
                        <a:avLst/>
                      </a:prstGeom>
                    </p:spPr>
                  </p:pic>
                </p:oleObj>
              </mc:Fallback>
            </mc:AlternateContent>
          </a:graphicData>
        </a:graphic>
      </p:graphicFrame>
      <p:graphicFrame>
        <p:nvGraphicFramePr>
          <p:cNvPr id="24" name="表格 23"/>
          <p:cNvGraphicFramePr/>
          <p:nvPr>
            <p:custDataLst>
              <p:tags r:id="rId4"/>
            </p:custDataLst>
          </p:nvPr>
        </p:nvGraphicFramePr>
        <p:xfrm>
          <a:off x="738505" y="1050290"/>
          <a:ext cx="10715625" cy="5059680"/>
        </p:xfrm>
        <a:graphic>
          <a:graphicData uri="http://schemas.openxmlformats.org/drawingml/2006/table">
            <a:tbl>
              <a:tblPr firstRow="1" bandRow="1">
                <a:tableStyleId>{5C22544A-7EE6-4342-B048-85BDC9FD1C3A}</a:tableStyleId>
              </a:tblPr>
              <a:tblGrid>
                <a:gridCol w="1402715"/>
                <a:gridCol w="9312910"/>
              </a:tblGrid>
              <a:tr h="381000">
                <a:tc>
                  <a:txBody>
                    <a:bodyPr/>
                    <a:p>
                      <a:pPr>
                        <a:buNone/>
                      </a:pPr>
                      <a:endParaRPr lang="zh-CN" altLang="en-US"/>
                    </a:p>
                  </a:txBody>
                  <a:tcPr/>
                </a:tc>
                <a:tc>
                  <a:txBody>
                    <a:bodyPr/>
                    <a:p>
                      <a:pPr>
                        <a:buNone/>
                      </a:pPr>
                      <a:endParaRPr lang="zh-CN" altLang="en-US"/>
                    </a:p>
                  </a:txBody>
                  <a:tcPr/>
                </a:tc>
              </a:tr>
              <a:tr h="381000">
                <a:tc rowSpan="4">
                  <a:txBody>
                    <a:bodyPr/>
                    <a:p>
                      <a:pPr algn="ctr">
                        <a:lnSpc>
                          <a:spcPct val="100000"/>
                        </a:lnSpc>
                        <a:buNone/>
                      </a:pPr>
                      <a:endParaRPr lang="en-US" altLang="zh-CN" sz="1800">
                        <a:latin typeface="华文楷体" panose="02010600040101010101" charset="-122"/>
                        <a:ea typeface="华文楷体" panose="02010600040101010101" charset="-122"/>
                      </a:endParaRPr>
                    </a:p>
                    <a:p>
                      <a:pPr algn="ctr">
                        <a:lnSpc>
                          <a:spcPct val="100000"/>
                        </a:lnSpc>
                        <a:buNone/>
                      </a:pPr>
                      <a:endParaRPr lang="en-US" altLang="zh-CN" sz="1800">
                        <a:latin typeface="华文楷体" panose="02010600040101010101" charset="-122"/>
                        <a:ea typeface="华文楷体" panose="02010600040101010101" charset="-122"/>
                      </a:endParaRPr>
                    </a:p>
                    <a:p>
                      <a:pPr algn="ctr">
                        <a:lnSpc>
                          <a:spcPct val="100000"/>
                        </a:lnSpc>
                        <a:buNone/>
                      </a:pPr>
                      <a:endParaRPr lang="en-US" altLang="zh-CN" sz="1800">
                        <a:latin typeface="华文楷体" panose="02010600040101010101" charset="-122"/>
                        <a:ea typeface="华文楷体" panose="02010600040101010101" charset="-122"/>
                      </a:endParaRPr>
                    </a:p>
                    <a:p>
                      <a:pPr algn="ctr">
                        <a:lnSpc>
                          <a:spcPct val="100000"/>
                        </a:lnSpc>
                        <a:buNone/>
                      </a:pPr>
                      <a:endParaRPr lang="en-US" altLang="zh-CN" sz="1800">
                        <a:latin typeface="华文楷体" panose="02010600040101010101" charset="-122"/>
                        <a:ea typeface="华文楷体" panose="02010600040101010101" charset="-122"/>
                      </a:endParaRPr>
                    </a:p>
                    <a:p>
                      <a:pPr algn="ctr">
                        <a:lnSpc>
                          <a:spcPct val="100000"/>
                        </a:lnSpc>
                        <a:buNone/>
                      </a:pPr>
                      <a:endParaRPr lang="en-US" altLang="zh-CN" sz="1800">
                        <a:latin typeface="华文楷体" panose="02010600040101010101" charset="-122"/>
                        <a:ea typeface="华文楷体" panose="02010600040101010101" charset="-122"/>
                      </a:endParaRPr>
                    </a:p>
                    <a:p>
                      <a:pPr algn="ctr">
                        <a:lnSpc>
                          <a:spcPct val="100000"/>
                        </a:lnSpc>
                        <a:buNone/>
                      </a:pPr>
                      <a:r>
                        <a:rPr lang="en-US" altLang="zh-CN" sz="1800">
                          <a:latin typeface="华文楷体" panose="02010600040101010101" charset="-122"/>
                          <a:ea typeface="华文楷体" panose="02010600040101010101" charset="-122"/>
                        </a:rPr>
                        <a:t>数据集</a:t>
                      </a:r>
                      <a:endParaRPr lang="en-US" altLang="zh-CN" sz="1800">
                        <a:latin typeface="华文楷体" panose="02010600040101010101" charset="-122"/>
                        <a:ea typeface="华文楷体" panose="02010600040101010101" charset="-122"/>
                      </a:endParaRPr>
                    </a:p>
                  </a:txBody>
                  <a:tcPr/>
                </a:tc>
                <a:tc>
                  <a:txBody>
                    <a:bodyPr/>
                    <a:p>
                      <a:pPr algn="l">
                        <a:buNone/>
                      </a:pPr>
                      <a:r>
                        <a:rPr lang="en-US" altLang="zh-CN" sz="1800">
                          <a:latin typeface="华文楷体" panose="02010600040101010101" charset="-122"/>
                          <a:ea typeface="华文楷体" panose="02010600040101010101" charset="-122"/>
                          <a:cs typeface="华文楷体" panose="02010600040101010101" charset="-122"/>
                        </a:rPr>
                        <a:t>Mapillary Vistas 2.0</a:t>
                      </a:r>
                      <a:r>
                        <a:rPr lang="zh-CN" altLang="en-US" sz="1800">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一个大规模的城市场景数据集。它包含</a:t>
                      </a:r>
                      <a:r>
                        <a:rPr lang="en-US" altLang="zh-CN">
                          <a:latin typeface="华文楷体" panose="02010600040101010101" charset="-122"/>
                          <a:ea typeface="华文楷体" panose="02010600040101010101" charset="-122"/>
                          <a:cs typeface="华文楷体" panose="02010600040101010101" charset="-122"/>
                        </a:rPr>
                        <a:t> 18,000/2,000/5,000 </a:t>
                      </a:r>
                      <a:r>
                        <a:rPr lang="zh-CN" altLang="en-US">
                          <a:latin typeface="华文楷体" panose="02010600040101010101" charset="-122"/>
                          <a:ea typeface="华文楷体" panose="02010600040101010101" charset="-122"/>
                          <a:cs typeface="华文楷体" panose="02010600040101010101" charset="-122"/>
                        </a:rPr>
                        <a:t>张用于训练</a:t>
                      </a:r>
                      <a:r>
                        <a:rPr lang="en-US" altLang="zh-CN">
                          <a:latin typeface="华文楷体" panose="02010600040101010101" charset="-122"/>
                          <a:ea typeface="华文楷体" panose="02010600040101010101" charset="-122"/>
                          <a:cs typeface="华文楷体" panose="02010600040101010101" charset="-122"/>
                        </a:rPr>
                        <a:t> / </a:t>
                      </a:r>
                      <a:r>
                        <a:rPr lang="zh-CN" altLang="en-US">
                          <a:latin typeface="华文楷体" panose="02010600040101010101" charset="-122"/>
                          <a:ea typeface="华文楷体" panose="02010600040101010101" charset="-122"/>
                          <a:cs typeface="华文楷体" panose="02010600040101010101" charset="-122"/>
                        </a:rPr>
                        <a:t>验证</a:t>
                      </a:r>
                      <a:r>
                        <a:rPr lang="en-US" altLang="zh-CN">
                          <a:latin typeface="华文楷体" panose="02010600040101010101" charset="-122"/>
                          <a:ea typeface="华文楷体" panose="02010600040101010101" charset="-122"/>
                          <a:cs typeface="华文楷体" panose="02010600040101010101" charset="-122"/>
                        </a:rPr>
                        <a:t> / </a:t>
                      </a:r>
                      <a:r>
                        <a:rPr lang="zh-CN" altLang="en-US">
                          <a:latin typeface="华文楷体" panose="02010600040101010101" charset="-122"/>
                          <a:ea typeface="华文楷体" panose="02010600040101010101" charset="-122"/>
                          <a:cs typeface="华文楷体" panose="02010600040101010101" charset="-122"/>
                        </a:rPr>
                        <a:t>测试的图像。官方提供了一个涵盖</a:t>
                      </a:r>
                      <a:r>
                        <a:rPr lang="en-US" altLang="zh-CN">
                          <a:latin typeface="华文楷体" panose="02010600040101010101" charset="-122"/>
                          <a:ea typeface="华文楷体" panose="02010600040101010101" charset="-122"/>
                          <a:cs typeface="华文楷体" panose="02010600040101010101" charset="-122"/>
                        </a:rPr>
                        <a:t> 4/16/124 </a:t>
                      </a:r>
                      <a:r>
                        <a:rPr lang="zh-CN" altLang="en-US">
                          <a:latin typeface="华文楷体" panose="02010600040101010101" charset="-122"/>
                          <a:ea typeface="华文楷体" panose="02010600040101010101" charset="-122"/>
                          <a:cs typeface="华文楷体" panose="02010600040101010101" charset="-122"/>
                        </a:rPr>
                        <a:t>个概念的三级语义层次结构，用于密集注释。</a:t>
                      </a:r>
                      <a:endParaRPr lang="zh-CN" altLang="en-US">
                        <a:latin typeface="华文楷体" panose="02010600040101010101" charset="-122"/>
                        <a:ea typeface="华文楷体" panose="02010600040101010101" charset="-122"/>
                        <a:cs typeface="华文楷体" panose="02010600040101010101" charset="-122"/>
                      </a:endParaRPr>
                    </a:p>
                  </a:txBody>
                  <a:tcPr/>
                </a:tc>
              </a:tr>
              <a:tr h="381000">
                <a:tc vMerge="1">
                  <a:tcPr/>
                </a:tc>
                <a:tc>
                  <a:txBody>
                    <a:bodyPr/>
                    <a:p>
                      <a:pPr>
                        <a:buNone/>
                      </a:pPr>
                      <a:r>
                        <a:rPr lang="en-US" altLang="zh-CN" sz="1800">
                          <a:latin typeface="华文楷体" panose="02010600040101010101" charset="-122"/>
                          <a:ea typeface="华文楷体" panose="02010600040101010101" charset="-122"/>
                          <a:cs typeface="华文楷体" panose="02010600040101010101" charset="-122"/>
                          <a:sym typeface="+mn-ea"/>
                        </a:rPr>
                        <a:t>Cityscapes</a:t>
                      </a:r>
                      <a:r>
                        <a:rPr lang="zh-CN" altLang="en-US" sz="1800">
                          <a:latin typeface="华文楷体" panose="02010600040101010101" charset="-122"/>
                          <a:ea typeface="华文楷体" panose="02010600040101010101" charset="-122"/>
                          <a:cs typeface="华文楷体" panose="02010600040101010101" charset="-122"/>
                          <a:sym typeface="+mn-ea"/>
                        </a:rPr>
                        <a:t>：有</a:t>
                      </a:r>
                      <a:r>
                        <a:rPr lang="en-US" altLang="zh-CN" sz="1800">
                          <a:latin typeface="华文楷体" panose="02010600040101010101" charset="-122"/>
                          <a:ea typeface="华文楷体" panose="02010600040101010101" charset="-122"/>
                          <a:cs typeface="华文楷体" panose="02010600040101010101" charset="-122"/>
                          <a:sym typeface="+mn-ea"/>
                        </a:rPr>
                        <a:t> 2,975/500/1,524 </a:t>
                      </a:r>
                      <a:r>
                        <a:rPr lang="zh-CN" altLang="en-US" sz="1800">
                          <a:latin typeface="华文楷体" panose="02010600040101010101" charset="-122"/>
                          <a:ea typeface="华文楷体" panose="02010600040101010101" charset="-122"/>
                          <a:cs typeface="华文楷体" panose="02010600040101010101" charset="-122"/>
                          <a:sym typeface="+mn-ea"/>
                        </a:rPr>
                        <a:t>张精细注释的城市街道图像，用于训练</a:t>
                      </a:r>
                      <a:r>
                        <a:rPr lang="en-US" altLang="zh-CN" sz="1800">
                          <a:latin typeface="华文楷体" panose="02010600040101010101" charset="-122"/>
                          <a:ea typeface="华文楷体" panose="02010600040101010101" charset="-122"/>
                          <a:cs typeface="华文楷体" panose="02010600040101010101" charset="-122"/>
                          <a:sym typeface="+mn-ea"/>
                        </a:rPr>
                        <a:t> / </a:t>
                      </a:r>
                      <a:r>
                        <a:rPr lang="zh-CN" altLang="en-US" sz="1800">
                          <a:latin typeface="华文楷体" panose="02010600040101010101" charset="-122"/>
                          <a:ea typeface="华文楷体" panose="02010600040101010101" charset="-122"/>
                          <a:cs typeface="华文楷体" panose="02010600040101010101" charset="-122"/>
                          <a:sym typeface="+mn-ea"/>
                        </a:rPr>
                        <a:t>验证</a:t>
                      </a:r>
                      <a:r>
                        <a:rPr lang="en-US" altLang="zh-CN" sz="1800">
                          <a:latin typeface="华文楷体" panose="02010600040101010101" charset="-122"/>
                          <a:ea typeface="华文楷体" panose="02010600040101010101" charset="-122"/>
                          <a:cs typeface="华文楷体" panose="02010600040101010101" charset="-122"/>
                          <a:sym typeface="+mn-ea"/>
                        </a:rPr>
                        <a:t> / </a:t>
                      </a:r>
                      <a:r>
                        <a:rPr lang="zh-CN" altLang="en-US" sz="1800">
                          <a:latin typeface="华文楷体" panose="02010600040101010101" charset="-122"/>
                          <a:ea typeface="华文楷体" panose="02010600040101010101" charset="-122"/>
                          <a:cs typeface="华文楷体" panose="02010600040101010101" charset="-122"/>
                          <a:sym typeface="+mn-ea"/>
                        </a:rPr>
                        <a:t>测试。标签层次结构由</a:t>
                      </a:r>
                      <a:r>
                        <a:rPr lang="en-US" altLang="zh-CN" sz="1800">
                          <a:latin typeface="华文楷体" panose="02010600040101010101" charset="-122"/>
                          <a:ea typeface="华文楷体" panose="02010600040101010101" charset="-122"/>
                          <a:cs typeface="华文楷体" panose="02010600040101010101" charset="-122"/>
                          <a:sym typeface="+mn-ea"/>
                        </a:rPr>
                        <a:t> 19 </a:t>
                      </a:r>
                      <a:r>
                        <a:rPr lang="zh-CN" altLang="en-US" sz="1800">
                          <a:latin typeface="华文楷体" panose="02010600040101010101" charset="-122"/>
                          <a:ea typeface="华文楷体" panose="02010600040101010101" charset="-122"/>
                          <a:cs typeface="华文楷体" panose="02010600040101010101" charset="-122"/>
                          <a:sym typeface="+mn-ea"/>
                        </a:rPr>
                        <a:t>个细粒度概念和</a:t>
                      </a:r>
                      <a:r>
                        <a:rPr lang="en-US" altLang="zh-CN" sz="1800">
                          <a:latin typeface="华文楷体" panose="02010600040101010101" charset="-122"/>
                          <a:ea typeface="华文楷体" panose="02010600040101010101" charset="-122"/>
                          <a:cs typeface="华文楷体" panose="02010600040101010101" charset="-122"/>
                          <a:sym typeface="+mn-ea"/>
                        </a:rPr>
                        <a:t> 6 </a:t>
                      </a:r>
                      <a:r>
                        <a:rPr lang="zh-CN" altLang="en-US" sz="1800">
                          <a:latin typeface="华文楷体" panose="02010600040101010101" charset="-122"/>
                          <a:ea typeface="华文楷体" panose="02010600040101010101" charset="-122"/>
                          <a:cs typeface="华文楷体" panose="02010600040101010101" charset="-122"/>
                          <a:sym typeface="+mn-ea"/>
                        </a:rPr>
                        <a:t>个超类组成。</a:t>
                      </a:r>
                      <a:endParaRPr lang="zh-CN" altLang="en-US">
                        <a:latin typeface="华文楷体" panose="02010600040101010101" charset="-122"/>
                        <a:ea typeface="华文楷体" panose="02010600040101010101" charset="-122"/>
                        <a:cs typeface="华文楷体" panose="02010600040101010101" charset="-122"/>
                      </a:endParaRPr>
                    </a:p>
                  </a:txBody>
                  <a:tcPr/>
                </a:tc>
              </a:tr>
              <a:tr h="381000">
                <a:tc vMerge="1">
                  <a:tcPr/>
                </a:tc>
                <a:tc>
                  <a:txBody>
                    <a:bodyPr/>
                    <a:p>
                      <a:pPr>
                        <a:buNone/>
                      </a:pPr>
                      <a:r>
                        <a:rPr lang="en-US" altLang="zh-CN" sz="1800">
                          <a:latin typeface="华文楷体" panose="02010600040101010101" charset="-122"/>
                          <a:ea typeface="华文楷体" panose="02010600040101010101" charset="-122"/>
                          <a:cs typeface="华文楷体" panose="02010600040101010101" charset="-122"/>
                          <a:sym typeface="+mn-ea"/>
                        </a:rPr>
                        <a:t>Pascal - Part - 108</a:t>
                      </a:r>
                      <a:r>
                        <a:rPr lang="zh-CN" altLang="en-US" sz="1800">
                          <a:latin typeface="华文楷体" panose="02010600040101010101" charset="-122"/>
                          <a:ea typeface="华文楷体" panose="02010600040101010101" charset="-122"/>
                          <a:cs typeface="华文楷体" panose="02010600040101010101" charset="-122"/>
                          <a:sym typeface="+mn-ea"/>
                        </a:rPr>
                        <a:t>：最大的物体部件解析数据集。它由</a:t>
                      </a:r>
                      <a:r>
                        <a:rPr lang="en-US" altLang="zh-CN" sz="1800">
                          <a:latin typeface="华文楷体" panose="02010600040101010101" charset="-122"/>
                          <a:ea typeface="华文楷体" panose="02010600040101010101" charset="-122"/>
                          <a:cs typeface="华文楷体" panose="02010600040101010101" charset="-122"/>
                          <a:sym typeface="+mn-ea"/>
                        </a:rPr>
                        <a:t> 4,998/5,105 </a:t>
                      </a:r>
                      <a:r>
                        <a:rPr lang="zh-CN" altLang="en-US" sz="1800">
                          <a:latin typeface="华文楷体" panose="02010600040101010101" charset="-122"/>
                          <a:ea typeface="华文楷体" panose="02010600040101010101" charset="-122"/>
                          <a:cs typeface="华文楷体" panose="02010600040101010101" charset="-122"/>
                          <a:sym typeface="+mn-ea"/>
                        </a:rPr>
                        <a:t>张用于训练</a:t>
                      </a:r>
                      <a:r>
                        <a:rPr lang="en-US" altLang="zh-CN" sz="1800">
                          <a:latin typeface="华文楷体" panose="02010600040101010101" charset="-122"/>
                          <a:ea typeface="华文楷体" panose="02010600040101010101" charset="-122"/>
                          <a:cs typeface="华文楷体" panose="02010600040101010101" charset="-122"/>
                          <a:sym typeface="+mn-ea"/>
                        </a:rPr>
                        <a:t> / </a:t>
                      </a:r>
                      <a:r>
                        <a:rPr lang="zh-CN" altLang="en-US" sz="1800">
                          <a:latin typeface="华文楷体" panose="02010600040101010101" charset="-122"/>
                          <a:ea typeface="华文楷体" panose="02010600040101010101" charset="-122"/>
                          <a:cs typeface="华文楷体" panose="02010600040101010101" charset="-122"/>
                          <a:sym typeface="+mn-ea"/>
                        </a:rPr>
                        <a:t>测试的图像组成。为了建立类层次结构，将</a:t>
                      </a:r>
                      <a:r>
                        <a:rPr lang="en-US" altLang="zh-CN" sz="1800">
                          <a:latin typeface="华文楷体" panose="02010600040101010101" charset="-122"/>
                          <a:ea typeface="华文楷体" panose="02010600040101010101" charset="-122"/>
                          <a:cs typeface="华文楷体" panose="02010600040101010101" charset="-122"/>
                          <a:sym typeface="+mn-ea"/>
                        </a:rPr>
                        <a:t> 108 </a:t>
                      </a:r>
                      <a:r>
                        <a:rPr lang="zh-CN" altLang="en-US" sz="1800">
                          <a:latin typeface="华文楷体" panose="02010600040101010101" charset="-122"/>
                          <a:ea typeface="华文楷体" panose="02010600040101010101" charset="-122"/>
                          <a:cs typeface="华文楷体" panose="02010600040101010101" charset="-122"/>
                          <a:sym typeface="+mn-ea"/>
                        </a:rPr>
                        <a:t>个部件级标签分组为</a:t>
                      </a:r>
                      <a:r>
                        <a:rPr lang="en-US" altLang="zh-CN" sz="1800">
                          <a:latin typeface="华文楷体" panose="02010600040101010101" charset="-122"/>
                          <a:ea typeface="华文楷体" panose="02010600040101010101" charset="-122"/>
                          <a:cs typeface="华文楷体" panose="02010600040101010101" charset="-122"/>
                          <a:sym typeface="+mn-ea"/>
                        </a:rPr>
                        <a:t> 20 </a:t>
                      </a:r>
                      <a:r>
                        <a:rPr lang="zh-CN" altLang="en-US" sz="1800">
                          <a:latin typeface="华文楷体" panose="02010600040101010101" charset="-122"/>
                          <a:ea typeface="华文楷体" panose="02010600040101010101" charset="-122"/>
                          <a:cs typeface="华文楷体" panose="02010600040101010101" charset="-122"/>
                          <a:sym typeface="+mn-ea"/>
                        </a:rPr>
                        <a:t>个物体级类别。</a:t>
                      </a:r>
                      <a:endParaRPr lang="zh-CN" altLang="en-US">
                        <a:latin typeface="华文楷体" panose="02010600040101010101" charset="-122"/>
                        <a:ea typeface="华文楷体" panose="02010600040101010101" charset="-122"/>
                        <a:cs typeface="华文楷体" panose="02010600040101010101" charset="-122"/>
                      </a:endParaRPr>
                    </a:p>
                  </a:txBody>
                  <a:tcPr/>
                </a:tc>
              </a:tr>
              <a:tr h="381000">
                <a:tc vMerge="1">
                  <a:tcPr/>
                </a:tc>
                <a:tc>
                  <a:txBody>
                    <a:bodyPr/>
                    <a:p>
                      <a:pPr>
                        <a:buNone/>
                      </a:pPr>
                      <a:r>
                        <a:rPr lang="en-US" altLang="zh-CN" sz="1800">
                          <a:latin typeface="华文楷体" panose="02010600040101010101" charset="-122"/>
                          <a:ea typeface="华文楷体" panose="02010600040101010101" charset="-122"/>
                          <a:cs typeface="华文楷体" panose="02010600040101010101" charset="-122"/>
                          <a:sym typeface="+mn-ea"/>
                        </a:rPr>
                        <a:t>ADE20K</a:t>
                      </a:r>
                      <a:r>
                        <a:rPr lang="zh-CN" altLang="en-US" sz="1800">
                          <a:latin typeface="华文楷体" panose="02010600040101010101" charset="-122"/>
                          <a:ea typeface="华文楷体" panose="02010600040101010101" charset="-122"/>
                          <a:cs typeface="华文楷体" panose="02010600040101010101" charset="-122"/>
                          <a:sym typeface="+mn-ea"/>
                        </a:rPr>
                        <a:t>：一个大规模的通用场景解析数据集。它被划分为</a:t>
                      </a:r>
                      <a:r>
                        <a:rPr lang="en-US" altLang="zh-CN" sz="1800">
                          <a:latin typeface="华文楷体" panose="02010600040101010101" charset="-122"/>
                          <a:ea typeface="华文楷体" panose="02010600040101010101" charset="-122"/>
                          <a:cs typeface="华文楷体" panose="02010600040101010101" charset="-122"/>
                          <a:sym typeface="+mn-ea"/>
                        </a:rPr>
                        <a:t> 20,210/2,000/3,000 </a:t>
                      </a:r>
                      <a:r>
                        <a:rPr lang="zh-CN" altLang="en-US" sz="1800">
                          <a:latin typeface="华文楷体" panose="02010600040101010101" charset="-122"/>
                          <a:ea typeface="华文楷体" panose="02010600040101010101" charset="-122"/>
                          <a:cs typeface="华文楷体" panose="02010600040101010101" charset="-122"/>
                          <a:sym typeface="+mn-ea"/>
                        </a:rPr>
                        <a:t>张用于训练</a:t>
                      </a:r>
                      <a:r>
                        <a:rPr lang="en-US" altLang="zh-CN" sz="1800">
                          <a:latin typeface="华文楷体" panose="02010600040101010101" charset="-122"/>
                          <a:ea typeface="华文楷体" panose="02010600040101010101" charset="-122"/>
                          <a:cs typeface="华文楷体" panose="02010600040101010101" charset="-122"/>
                          <a:sym typeface="+mn-ea"/>
                        </a:rPr>
                        <a:t> / </a:t>
                      </a:r>
                      <a:r>
                        <a:rPr lang="zh-CN" altLang="en-US" sz="1800">
                          <a:latin typeface="华文楷体" panose="02010600040101010101" charset="-122"/>
                          <a:ea typeface="华文楷体" panose="02010600040101010101" charset="-122"/>
                          <a:cs typeface="华文楷体" panose="02010600040101010101" charset="-122"/>
                          <a:sym typeface="+mn-ea"/>
                        </a:rPr>
                        <a:t>验证</a:t>
                      </a:r>
                      <a:r>
                        <a:rPr lang="en-US" altLang="zh-CN" sz="1800">
                          <a:latin typeface="华文楷体" panose="02010600040101010101" charset="-122"/>
                          <a:ea typeface="华文楷体" panose="02010600040101010101" charset="-122"/>
                          <a:cs typeface="华文楷体" panose="02010600040101010101" charset="-122"/>
                          <a:sym typeface="+mn-ea"/>
                        </a:rPr>
                        <a:t> / </a:t>
                      </a:r>
                      <a:r>
                        <a:rPr lang="zh-CN" altLang="en-US" sz="1800">
                          <a:latin typeface="华文楷体" panose="02010600040101010101" charset="-122"/>
                          <a:ea typeface="华文楷体" panose="02010600040101010101" charset="-122"/>
                          <a:cs typeface="华文楷体" panose="02010600040101010101" charset="-122"/>
                          <a:sym typeface="+mn-ea"/>
                        </a:rPr>
                        <a:t>测试的图像。它为</a:t>
                      </a:r>
                      <a:r>
                        <a:rPr lang="en-US" altLang="zh-CN" sz="1800">
                          <a:latin typeface="华文楷体" panose="02010600040101010101" charset="-122"/>
                          <a:ea typeface="华文楷体" panose="02010600040101010101" charset="-122"/>
                          <a:cs typeface="华文楷体" panose="02010600040101010101" charset="-122"/>
                          <a:sym typeface="+mn-ea"/>
                        </a:rPr>
                        <a:t> 150 </a:t>
                      </a:r>
                      <a:r>
                        <a:rPr lang="zh-CN" altLang="en-US" sz="1800">
                          <a:latin typeface="华文楷体" panose="02010600040101010101" charset="-122"/>
                          <a:ea typeface="华文楷体" panose="02010600040101010101" charset="-122"/>
                          <a:cs typeface="华文楷体" panose="02010600040101010101" charset="-122"/>
                          <a:sym typeface="+mn-ea"/>
                        </a:rPr>
                        <a:t>个细粒度语义类提供逐像素注释，从中可以派生出一个三层标签层次结构（包含</a:t>
                      </a:r>
                      <a:r>
                        <a:rPr lang="en-US" altLang="zh-CN" sz="1800">
                          <a:latin typeface="华文楷体" panose="02010600040101010101" charset="-122"/>
                          <a:ea typeface="华文楷体" panose="02010600040101010101" charset="-122"/>
                          <a:cs typeface="华文楷体" panose="02010600040101010101" charset="-122"/>
                          <a:sym typeface="+mn-ea"/>
                        </a:rPr>
                        <a:t> 3/14/150 </a:t>
                      </a:r>
                      <a:r>
                        <a:rPr lang="zh-CN" altLang="en-US" sz="1800">
                          <a:latin typeface="华文楷体" panose="02010600040101010101" charset="-122"/>
                          <a:ea typeface="华文楷体" panose="02010600040101010101" charset="-122"/>
                          <a:cs typeface="华文楷体" panose="02010600040101010101" charset="-122"/>
                          <a:sym typeface="+mn-ea"/>
                        </a:rPr>
                        <a:t>个概念）。</a:t>
                      </a:r>
                      <a:endParaRPr lang="zh-CN" altLang="en-US">
                        <a:latin typeface="华文楷体" panose="02010600040101010101" charset="-122"/>
                        <a:ea typeface="华文楷体" panose="02010600040101010101" charset="-122"/>
                        <a:cs typeface="华文楷体" panose="02010600040101010101" charset="-122"/>
                      </a:endParaRPr>
                    </a:p>
                  </a:txBody>
                  <a:tcPr/>
                </a:tc>
              </a:tr>
              <a:tr h="381000">
                <a:tc>
                  <a:txBody>
                    <a:bodyPr/>
                    <a:p>
                      <a:pPr algn="ctr">
                        <a:lnSpc>
                          <a:spcPct val="100000"/>
                        </a:lnSpc>
                        <a:buNone/>
                      </a:pPr>
                      <a:r>
                        <a:rPr lang="zh-CN" altLang="en-US">
                          <a:latin typeface="华文楷体" panose="02010600040101010101" charset="-122"/>
                          <a:ea typeface="华文楷体" panose="02010600040101010101" charset="-122"/>
                        </a:rPr>
                        <a:t>评估指标</a:t>
                      </a:r>
                      <a:endParaRPr lang="zh-CN" altLang="en-US">
                        <a:latin typeface="华文楷体" panose="02010600040101010101" charset="-122"/>
                        <a:ea typeface="华文楷体" panose="02010600040101010101" charset="-122"/>
                      </a:endParaRPr>
                    </a:p>
                  </a:txBody>
                  <a:tcPr/>
                </a:tc>
                <a:tc>
                  <a:txBody>
                    <a:bodyPr/>
                    <a:p>
                      <a:pPr>
                        <a:buNone/>
                      </a:pPr>
                      <a:r>
                        <a:rPr lang="zh-CN" altLang="en-US">
                          <a:latin typeface="华文楷体" panose="02010600040101010101" charset="-122"/>
                          <a:ea typeface="华文楷体" panose="02010600040101010101" charset="-122"/>
                          <a:cs typeface="华文楷体" panose="02010600040101010101" charset="-122"/>
                        </a:rPr>
                        <a:t>采用标准指标</a:t>
                      </a:r>
                      <a:r>
                        <a:rPr lang="zh-CN" altLang="en-US" b="1">
                          <a:solidFill>
                            <a:srgbClr val="FF0000"/>
                          </a:solidFill>
                          <a:latin typeface="华文楷体" panose="02010600040101010101" charset="-122"/>
                          <a:ea typeface="华文楷体" panose="02010600040101010101" charset="-122"/>
                          <a:cs typeface="华文楷体" panose="02010600040101010101" charset="-122"/>
                        </a:rPr>
                        <a:t>平均交并比（</a:t>
                      </a:r>
                      <a:r>
                        <a:rPr lang="en-US" altLang="zh-CN" b="1">
                          <a:solidFill>
                            <a:srgbClr val="FF0000"/>
                          </a:solidFill>
                          <a:latin typeface="华文楷体" panose="02010600040101010101" charset="-122"/>
                          <a:ea typeface="华文楷体" panose="02010600040101010101" charset="-122"/>
                          <a:cs typeface="华文楷体" panose="02010600040101010101" charset="-122"/>
                        </a:rPr>
                        <a:t>mIoU</a:t>
                      </a:r>
                      <a:r>
                        <a:rPr lang="zh-CN" altLang="en-US" b="1">
                          <a:solidFill>
                            <a:srgbClr val="FF0000"/>
                          </a:solidFill>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进行评估。</a:t>
                      </a:r>
                      <a:endParaRPr lang="zh-CN" altLang="en-US">
                        <a:latin typeface="华文楷体" panose="02010600040101010101" charset="-122"/>
                        <a:ea typeface="华文楷体" panose="02010600040101010101" charset="-122"/>
                        <a:cs typeface="华文楷体" panose="02010600040101010101" charset="-122"/>
                      </a:endParaRPr>
                    </a:p>
                  </a:txBody>
                  <a:tcPr/>
                </a:tc>
              </a:tr>
              <a:tr h="381000">
                <a:tc>
                  <a:txBody>
                    <a:bodyPr/>
                    <a:p>
                      <a:pPr algn="ctr">
                        <a:lnSpc>
                          <a:spcPct val="100000"/>
                        </a:lnSpc>
                        <a:buNone/>
                      </a:pPr>
                      <a:endParaRPr lang="zh-CN" altLang="en-US">
                        <a:latin typeface="华文楷体" panose="02010600040101010101" charset="-122"/>
                        <a:ea typeface="华文楷体" panose="02010600040101010101" charset="-122"/>
                      </a:endParaRPr>
                    </a:p>
                    <a:p>
                      <a:pPr algn="ctr">
                        <a:lnSpc>
                          <a:spcPct val="100000"/>
                        </a:lnSpc>
                        <a:buNone/>
                      </a:pPr>
                      <a:r>
                        <a:rPr lang="zh-CN" altLang="en-US">
                          <a:latin typeface="华文楷体" panose="02010600040101010101" charset="-122"/>
                          <a:ea typeface="华文楷体" panose="02010600040101010101" charset="-122"/>
                        </a:rPr>
                        <a:t>基础模型和竞争模型</a:t>
                      </a:r>
                      <a:endParaRPr lang="zh-CN" altLang="en-US">
                        <a:latin typeface="华文楷体" panose="02010600040101010101" charset="-122"/>
                        <a:ea typeface="华文楷体" panose="02010600040101010101" charset="-122"/>
                      </a:endParaRPr>
                    </a:p>
                  </a:txBody>
                  <a:tcPr/>
                </a:tc>
                <a:tc>
                  <a:txBody>
                    <a:bodyPr/>
                    <a:p>
                      <a:pPr>
                        <a:buNone/>
                      </a:pPr>
                      <a:r>
                        <a:rPr lang="zh-CN" altLang="en-US">
                          <a:latin typeface="华文楷体" panose="02010600040101010101" charset="-122"/>
                          <a:ea typeface="华文楷体" panose="02010600040101010101" charset="-122"/>
                          <a:cs typeface="华文楷体" panose="02010600040101010101" charset="-122"/>
                        </a:rPr>
                        <a:t>为证明算法广泛优势，将其应用于</a:t>
                      </a:r>
                      <a:r>
                        <a:rPr lang="en-US" altLang="zh-CN">
                          <a:latin typeface="华文楷体" panose="02010600040101010101" charset="-122"/>
                          <a:ea typeface="华文楷体" panose="02010600040101010101" charset="-122"/>
                          <a:cs typeface="华文楷体" panose="02010600040101010101" charset="-122"/>
                        </a:rPr>
                        <a:t> </a:t>
                      </a:r>
                      <a:r>
                        <a:rPr lang="en-US" altLang="zh-CN" b="1">
                          <a:solidFill>
                            <a:srgbClr val="FF0000"/>
                          </a:solidFill>
                          <a:latin typeface="华文楷体" panose="02010600040101010101" charset="-122"/>
                          <a:ea typeface="华文楷体" panose="02010600040101010101" charset="-122"/>
                          <a:cs typeface="华文楷体" panose="02010600040101010101" charset="-122"/>
                        </a:rPr>
                        <a:t>DeepLabV3 + </a:t>
                      </a:r>
                      <a:r>
                        <a:rPr lang="zh-CN" altLang="en-US">
                          <a:solidFill>
                            <a:schemeClr val="tx1"/>
                          </a:solidFill>
                          <a:latin typeface="华文楷体" panose="02010600040101010101" charset="-122"/>
                          <a:ea typeface="华文楷体" panose="02010600040101010101" charset="-122"/>
                          <a:cs typeface="华文楷体" panose="02010600040101010101" charset="-122"/>
                        </a:rPr>
                        <a:t>和 </a:t>
                      </a:r>
                      <a:r>
                        <a:rPr lang="en-US" altLang="zh-CN" b="1">
                          <a:solidFill>
                            <a:srgbClr val="FF0000"/>
                          </a:solidFill>
                          <a:latin typeface="华文楷体" panose="02010600040101010101" charset="-122"/>
                          <a:ea typeface="华文楷体" panose="02010600040101010101" charset="-122"/>
                          <a:cs typeface="华文楷体" panose="02010600040101010101" charset="-122"/>
                        </a:rPr>
                        <a:t>Mask2Former </a:t>
                      </a:r>
                      <a:r>
                        <a:rPr lang="zh-CN" altLang="en-US">
                          <a:latin typeface="华文楷体" panose="02010600040101010101" charset="-122"/>
                          <a:ea typeface="华文楷体" panose="02010600040101010101" charset="-122"/>
                          <a:cs typeface="华文楷体" panose="02010600040101010101" charset="-122"/>
                        </a:rPr>
                        <a:t>两种分割架构，以</a:t>
                      </a:r>
                      <a:r>
                        <a:rPr lang="en-US" altLang="zh-CN" b="1">
                          <a:solidFill>
                            <a:srgbClr val="FF0000"/>
                          </a:solidFill>
                          <a:latin typeface="华文楷体" panose="02010600040101010101" charset="-122"/>
                          <a:ea typeface="华文楷体" panose="02010600040101010101" charset="-122"/>
                          <a:cs typeface="华文楷体" panose="02010600040101010101" charset="-122"/>
                        </a:rPr>
                        <a:t> ResNet - 101 </a:t>
                      </a:r>
                      <a:r>
                        <a:rPr lang="zh-CN" altLang="en-US" b="0">
                          <a:solidFill>
                            <a:schemeClr val="tx1"/>
                          </a:solidFill>
                          <a:latin typeface="华文楷体" panose="02010600040101010101" charset="-122"/>
                          <a:ea typeface="华文楷体" panose="02010600040101010101" charset="-122"/>
                          <a:cs typeface="华文楷体" panose="02010600040101010101" charset="-122"/>
                        </a:rPr>
                        <a:t>和</a:t>
                      </a:r>
                      <a:r>
                        <a:rPr lang="en-US" altLang="zh-CN" b="1">
                          <a:solidFill>
                            <a:srgbClr val="FF0000"/>
                          </a:solidFill>
                          <a:latin typeface="华文楷体" panose="02010600040101010101" charset="-122"/>
                          <a:ea typeface="华文楷体" panose="02010600040101010101" charset="-122"/>
                          <a:cs typeface="华文楷体" panose="02010600040101010101" charset="-122"/>
                        </a:rPr>
                        <a:t> Swin - T </a:t>
                      </a:r>
                      <a:r>
                        <a:rPr lang="zh-CN" altLang="en-US">
                          <a:latin typeface="华文楷体" panose="02010600040101010101" charset="-122"/>
                          <a:ea typeface="华文楷体" panose="02010600040101010101" charset="-122"/>
                          <a:cs typeface="华文楷体" panose="02010600040101010101" charset="-122"/>
                        </a:rPr>
                        <a:t>为骨干网络。性能比较时，纳入几个层次感知分割模型，视</a:t>
                      </a:r>
                      <a:r>
                        <a:rPr lang="en-US" altLang="zh-CN">
                          <a:latin typeface="华文楷体" panose="02010600040101010101" charset="-122"/>
                          <a:ea typeface="华文楷体" panose="02010600040101010101" charset="-122"/>
                          <a:cs typeface="华文楷体" panose="02010600040101010101" charset="-122"/>
                        </a:rPr>
                        <a:t> HSSN </a:t>
                      </a:r>
                      <a:r>
                        <a:rPr lang="zh-CN" altLang="en-US">
                          <a:latin typeface="华文楷体" panose="02010600040101010101" charset="-122"/>
                          <a:ea typeface="华文楷体" panose="02010600040101010101" charset="-122"/>
                          <a:cs typeface="华文楷体" panose="02010600040101010101" charset="-122"/>
                        </a:rPr>
                        <a:t>为主要竞争对手，因其是通用框架且在多数据集表现出色，其他模型多针对特定数据集或任务。为全面评估，还纳入一组层次无关分割算法，其粗粒度语义分割结果由合并子类预测得到。</a:t>
                      </a:r>
                      <a:endParaRPr lang="zh-CN" altLang="en-US">
                        <a:latin typeface="华文楷体" panose="02010600040101010101" charset="-122"/>
                        <a:ea typeface="华文楷体" panose="02010600040101010101" charset="-122"/>
                        <a:cs typeface="华文楷体" panose="02010600040101010101" charset="-122"/>
                      </a:endParaRPr>
                    </a:p>
                  </a:txBody>
                  <a:tcPr/>
                </a:tc>
              </a:tr>
            </a:tbl>
          </a:graphicData>
        </a:graphic>
      </p:graphicFrame>
      <p:pic>
        <p:nvPicPr>
          <p:cNvPr id="27" name="图片 26"/>
          <p:cNvPicPr>
            <a:picLocks noChangeAspect="1"/>
          </p:cNvPicPr>
          <p:nvPr/>
        </p:nvPicPr>
        <p:blipFill>
          <a:blip r:embed="rId5"/>
          <a:stretch>
            <a:fillRect/>
          </a:stretch>
        </p:blipFill>
        <p:spPr>
          <a:xfrm>
            <a:off x="580390" y="933450"/>
            <a:ext cx="11063605" cy="4813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矩形 8"/>
          <p:cNvSpPr>
            <a:spLocks noChangeArrowheads="1"/>
          </p:cNvSpPr>
          <p:nvPr>
            <p:custDataLst>
              <p:tags r:id="rId1"/>
            </p:custDataLst>
          </p:nvPr>
        </p:nvSpPr>
        <p:spPr bwMode="auto">
          <a:xfrm>
            <a:off x="6153785" y="3623310"/>
            <a:ext cx="5299710" cy="280606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17" name="矩形 16"/>
          <p:cNvSpPr>
            <a:spLocks noChangeArrowheads="1"/>
          </p:cNvSpPr>
          <p:nvPr>
            <p:custDataLst>
              <p:tags r:id="rId2"/>
            </p:custDataLst>
          </p:nvPr>
        </p:nvSpPr>
        <p:spPr bwMode="auto">
          <a:xfrm>
            <a:off x="809625" y="3633470"/>
            <a:ext cx="4753610" cy="1973580"/>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23" name="矩形 22"/>
          <p:cNvSpPr/>
          <p:nvPr/>
        </p:nvSpPr>
        <p:spPr>
          <a:xfrm>
            <a:off x="1152000" y="288000"/>
            <a:ext cx="20116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训练参数</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graphicFrame>
        <p:nvGraphicFramePr>
          <p:cNvPr id="15" name="对象 14">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4" imgW="114300" imgH="215900" progId="Equation.KSEE3">
                  <p:embed/>
                </p:oleObj>
              </mc:Choice>
              <mc:Fallback>
                <p:oleObj name="" r:id="rId4" imgW="114300" imgH="215900" progId="Equation.KSEE3">
                  <p:embed/>
                  <p:pic>
                    <p:nvPicPr>
                      <p:cNvPr id="0" name="图片 1024"/>
                      <p:cNvPicPr/>
                      <p:nvPr/>
                    </p:nvPicPr>
                    <p:blipFill>
                      <a:blip r:embed="rId5"/>
                      <a:stretch>
                        <a:fillRect/>
                      </a:stretch>
                    </p:blipFill>
                    <p:spPr>
                      <a:xfrm>
                        <a:off x="6038850" y="3321050"/>
                        <a:ext cx="114300" cy="215900"/>
                      </a:xfrm>
                      <a:prstGeom prst="rect">
                        <a:avLst/>
                      </a:prstGeom>
                    </p:spPr>
                  </p:pic>
                </p:oleObj>
              </mc:Fallback>
            </mc:AlternateContent>
          </a:graphicData>
        </a:graphic>
      </p:graphicFrame>
      <p:graphicFrame>
        <p:nvGraphicFramePr>
          <p:cNvPr id="24" name="表格 23"/>
          <p:cNvGraphicFramePr/>
          <p:nvPr>
            <p:custDataLst>
              <p:tags r:id="rId6"/>
            </p:custDataLst>
          </p:nvPr>
        </p:nvGraphicFramePr>
        <p:xfrm>
          <a:off x="738505" y="1416050"/>
          <a:ext cx="10715625" cy="2160270"/>
        </p:xfrm>
        <a:graphic>
          <a:graphicData uri="http://schemas.openxmlformats.org/drawingml/2006/table">
            <a:tbl>
              <a:tblPr firstRow="1" bandRow="1">
                <a:tableStyleId>{5C22544A-7EE6-4342-B048-85BDC9FD1C3A}</a:tableStyleId>
              </a:tblPr>
              <a:tblGrid>
                <a:gridCol w="2273300"/>
                <a:gridCol w="1360170"/>
                <a:gridCol w="2160180"/>
                <a:gridCol w="2553153"/>
                <a:gridCol w="2368822"/>
              </a:tblGrid>
              <a:tr h="381000">
                <a:tc>
                  <a:txBody>
                    <a:bodyPr/>
                    <a:p>
                      <a:pPr algn="ctr">
                        <a:buClrTx/>
                        <a:buSzTx/>
                        <a:buFontTx/>
                        <a:buNone/>
                      </a:pPr>
                      <a:r>
                        <a:rPr lang="en-US" altLang="zh-CN" b="0">
                          <a:solidFill>
                            <a:schemeClr val="dk1"/>
                          </a:solidFill>
                          <a:latin typeface="华文楷体" panose="02010600040101010101" charset="-122"/>
                          <a:ea typeface="华文楷体" panose="02010600040101010101" charset="-122"/>
                          <a:cs typeface="华文楷体" panose="02010600040101010101" charset="-122"/>
                        </a:rPr>
                        <a:t>数据集</a:t>
                      </a:r>
                      <a:endParaRPr lang="en-US" altLang="zh-CN" b="0">
                        <a:solidFill>
                          <a:schemeClr val="dk1"/>
                        </a:solidFill>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buNone/>
                      </a:pPr>
                      <a:r>
                        <a:rPr lang="en-US" altLang="zh-CN" b="0">
                          <a:solidFill>
                            <a:schemeClr val="dk1"/>
                          </a:solidFill>
                          <a:latin typeface="华文楷体" panose="02010600040101010101" charset="-122"/>
                          <a:ea typeface="华文楷体" panose="02010600040101010101" charset="-122"/>
                          <a:cs typeface="华文楷体" panose="02010600040101010101" charset="-122"/>
                        </a:rPr>
                        <a:t>迭代次数</a:t>
                      </a:r>
                      <a:endParaRPr lang="en-US" altLang="zh-CN" b="0">
                        <a:solidFill>
                          <a:schemeClr val="dk1"/>
                        </a:solidFill>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buNone/>
                      </a:pPr>
                      <a:r>
                        <a:rPr lang="en-US" altLang="zh-CN" b="0">
                          <a:solidFill>
                            <a:schemeClr val="dk1"/>
                          </a:solidFill>
                          <a:latin typeface="华文楷体" panose="02010600040101010101" charset="-122"/>
                          <a:ea typeface="华文楷体" panose="02010600040101010101" charset="-122"/>
                          <a:cs typeface="华文楷体" panose="02010600040101010101" charset="-122"/>
                        </a:rPr>
                        <a:t>批量大小</a:t>
                      </a:r>
                      <a:endParaRPr lang="en-US" altLang="zh-CN" b="0">
                        <a:solidFill>
                          <a:schemeClr val="dk1"/>
                        </a:solidFill>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buNone/>
                      </a:pPr>
                      <a:r>
                        <a:rPr lang="en-US" altLang="zh-CN" b="0">
                          <a:solidFill>
                            <a:schemeClr val="dk1"/>
                          </a:solidFill>
                          <a:latin typeface="华文楷体" panose="02010600040101010101" charset="-122"/>
                          <a:ea typeface="华文楷体" panose="02010600040101010101" charset="-122"/>
                          <a:cs typeface="华文楷体" panose="02010600040101010101" charset="-122"/>
                        </a:rPr>
                        <a:t>裁剪尺寸</a:t>
                      </a:r>
                      <a:endParaRPr lang="en-US" altLang="zh-CN" b="0">
                        <a:solidFill>
                          <a:schemeClr val="dk1"/>
                        </a:solidFill>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buNone/>
                      </a:pPr>
                      <a:r>
                        <a:rPr lang="en-US" altLang="zh-CN" b="0">
                          <a:solidFill>
                            <a:schemeClr val="dk1"/>
                          </a:solidFill>
                          <a:latin typeface="华文楷体" panose="02010600040101010101" charset="-122"/>
                          <a:ea typeface="华文楷体" panose="02010600040101010101" charset="-122"/>
                          <a:cs typeface="华文楷体" panose="02010600040101010101" charset="-122"/>
                        </a:rPr>
                        <a:t>优化器 (初始学习率)</a:t>
                      </a:r>
                      <a:endParaRPr lang="en-US" altLang="zh-CN" b="0">
                        <a:solidFill>
                          <a:schemeClr val="dk1"/>
                        </a:solidFill>
                        <a:latin typeface="华文楷体" panose="02010600040101010101" charset="-122"/>
                        <a:ea typeface="华文楷体" panose="02010600040101010101" charset="-122"/>
                        <a:cs typeface="华文楷体" panose="02010600040101010101" charset="-122"/>
                      </a:endParaRPr>
                    </a:p>
                  </a:txBody>
                  <a:tcPr/>
                </a:tc>
              </a:tr>
              <a:tr h="381000">
                <a:tc>
                  <a:txBody>
                    <a:bodyPr/>
                    <a:p>
                      <a:pPr algn="ctr">
                        <a:lnSpc>
                          <a:spcPct val="100000"/>
                        </a:lnSpc>
                        <a:buClrTx/>
                        <a:buSzTx/>
                        <a:buFontTx/>
                        <a:buNone/>
                      </a:pPr>
                      <a:r>
                        <a:rPr lang="en-US" altLang="zh-CN">
                          <a:latin typeface="华文楷体" panose="02010600040101010101" charset="-122"/>
                          <a:ea typeface="华文楷体" panose="02010600040101010101" charset="-122"/>
                          <a:cs typeface="华文楷体" panose="02010600040101010101" charset="-122"/>
                        </a:rPr>
                        <a:t>Mapillary Vistas 2.0</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lnSpc>
                          <a:spcPct val="100000"/>
                        </a:lnSpc>
                        <a:buClrTx/>
                        <a:buSzTx/>
                        <a:buFontTx/>
                        <a:buNone/>
                      </a:pPr>
                      <a:r>
                        <a:rPr lang="en-US" altLang="zh-CN">
                          <a:latin typeface="华文楷体" panose="02010600040101010101" charset="-122"/>
                          <a:ea typeface="华文楷体" panose="02010600040101010101" charset="-122"/>
                          <a:cs typeface="华文楷体" panose="02010600040101010101" charset="-122"/>
                        </a:rPr>
                        <a:t>240K</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buNone/>
                      </a:pPr>
                      <a:r>
                        <a:rPr lang="en-US" altLang="zh-CN">
                          <a:latin typeface="华文楷体" panose="02010600040101010101" charset="-122"/>
                          <a:ea typeface="华文楷体" panose="02010600040101010101" charset="-122"/>
                          <a:cs typeface="华文楷体" panose="02010600040101010101" charset="-122"/>
                        </a:rPr>
                        <a:t>8</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buNone/>
                      </a:pPr>
                      <a:r>
                        <a:rPr lang="en-US" altLang="zh-CN">
                          <a:latin typeface="华文楷体" panose="02010600040101010101" charset="-122"/>
                          <a:ea typeface="华文楷体" panose="02010600040101010101" charset="-122"/>
                          <a:cs typeface="华文楷体" panose="02010600040101010101" charset="-122"/>
                        </a:rPr>
                        <a:t>512×1024</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buNone/>
                      </a:pPr>
                      <a:r>
                        <a:rPr lang="en-US" altLang="zh-CN">
                          <a:latin typeface="华文楷体" panose="02010600040101010101" charset="-122"/>
                          <a:ea typeface="华文楷体" panose="02010600040101010101" charset="-122"/>
                          <a:cs typeface="华文楷体" panose="02010600040101010101" charset="-122"/>
                        </a:rPr>
                        <a:t>SGD (1e-2)</a:t>
                      </a:r>
                      <a:endParaRPr lang="en-US" altLang="zh-CN">
                        <a:latin typeface="华文楷体" panose="02010600040101010101" charset="-122"/>
                        <a:ea typeface="华文楷体" panose="02010600040101010101" charset="-122"/>
                        <a:cs typeface="华文楷体" panose="02010600040101010101" charset="-122"/>
                      </a:endParaRPr>
                    </a:p>
                  </a:txBody>
                  <a:tcPr/>
                </a:tc>
              </a:tr>
              <a:tr h="381000">
                <a:tc>
                  <a:txBody>
                    <a:bodyPr/>
                    <a:p>
                      <a:pPr algn="ctr">
                        <a:lnSpc>
                          <a:spcPct val="100000"/>
                        </a:lnSpc>
                        <a:buClrTx/>
                        <a:buSzTx/>
                        <a:buFontTx/>
                        <a:buNone/>
                      </a:pPr>
                      <a:r>
                        <a:rPr lang="en-US" altLang="zh-CN">
                          <a:latin typeface="华文楷体" panose="02010600040101010101" charset="-122"/>
                          <a:ea typeface="华文楷体" panose="02010600040101010101" charset="-122"/>
                          <a:cs typeface="华文楷体" panose="02010600040101010101" charset="-122"/>
                        </a:rPr>
                        <a:t>Cityscapes</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lnSpc>
                          <a:spcPct val="100000"/>
                        </a:lnSpc>
                        <a:buClrTx/>
                        <a:buSzTx/>
                        <a:buFontTx/>
                        <a:buNone/>
                      </a:pPr>
                      <a:r>
                        <a:rPr lang="en-US" altLang="zh-CN">
                          <a:latin typeface="华文楷体" panose="02010600040101010101" charset="-122"/>
                          <a:ea typeface="华文楷体" panose="02010600040101010101" charset="-122"/>
                          <a:cs typeface="华文楷体" panose="02010600040101010101" charset="-122"/>
                        </a:rPr>
                        <a:t>80K</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buNone/>
                      </a:pPr>
                      <a:r>
                        <a:rPr lang="en-US" altLang="zh-CN">
                          <a:latin typeface="华文楷体" panose="02010600040101010101" charset="-122"/>
                          <a:ea typeface="华文楷体" panose="02010600040101010101" charset="-122"/>
                          <a:cs typeface="华文楷体" panose="02010600040101010101" charset="-122"/>
                        </a:rPr>
                        <a:t>8</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buNone/>
                      </a:pPr>
                      <a:r>
                        <a:rPr lang="en-US" altLang="zh-CN">
                          <a:latin typeface="华文楷体" panose="02010600040101010101" charset="-122"/>
                          <a:ea typeface="华文楷体" panose="02010600040101010101" charset="-122"/>
                          <a:cs typeface="华文楷体" panose="02010600040101010101" charset="-122"/>
                        </a:rPr>
                        <a:t>512×1024</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buNone/>
                      </a:pPr>
                      <a:r>
                        <a:rPr lang="en-US" altLang="zh-CN">
                          <a:latin typeface="华文楷体" panose="02010600040101010101" charset="-122"/>
                          <a:ea typeface="华文楷体" panose="02010600040101010101" charset="-122"/>
                          <a:cs typeface="华文楷体" panose="02010600040101010101" charset="-122"/>
                        </a:rPr>
                        <a:t>SGD (1e-2)</a:t>
                      </a:r>
                      <a:endParaRPr lang="en-US" altLang="zh-CN">
                        <a:latin typeface="华文楷体" panose="02010600040101010101" charset="-122"/>
                        <a:ea typeface="华文楷体" panose="02010600040101010101" charset="-122"/>
                        <a:cs typeface="华文楷体" panose="02010600040101010101" charset="-122"/>
                      </a:endParaRPr>
                    </a:p>
                  </a:txBody>
                  <a:tcPr/>
                </a:tc>
              </a:tr>
              <a:tr h="381000">
                <a:tc>
                  <a:txBody>
                    <a:bodyPr/>
                    <a:p>
                      <a:pPr algn="ctr">
                        <a:lnSpc>
                          <a:spcPct val="100000"/>
                        </a:lnSpc>
                        <a:buClrTx/>
                        <a:buSzTx/>
                        <a:buFontTx/>
                        <a:buNone/>
                      </a:pPr>
                      <a:r>
                        <a:rPr lang="en-US" altLang="zh-CN">
                          <a:latin typeface="华文楷体" panose="02010600040101010101" charset="-122"/>
                          <a:ea typeface="华文楷体" panose="02010600040101010101" charset="-122"/>
                          <a:cs typeface="华文楷体" panose="02010600040101010101" charset="-122"/>
                        </a:rPr>
                        <a:t>Pascal-Part-108</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lnSpc>
                          <a:spcPct val="100000"/>
                        </a:lnSpc>
                        <a:buClrTx/>
                        <a:buSzTx/>
                        <a:buFontTx/>
                        <a:buNone/>
                      </a:pPr>
                      <a:r>
                        <a:rPr lang="en-US" altLang="zh-CN">
                          <a:latin typeface="华文楷体" panose="02010600040101010101" charset="-122"/>
                          <a:ea typeface="华文楷体" panose="02010600040101010101" charset="-122"/>
                          <a:cs typeface="华文楷体" panose="02010600040101010101" charset="-122"/>
                        </a:rPr>
                        <a:t>60K</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buNone/>
                      </a:pPr>
                      <a:r>
                        <a:rPr lang="en-US" altLang="zh-CN">
                          <a:latin typeface="华文楷体" panose="02010600040101010101" charset="-122"/>
                          <a:ea typeface="华文楷体" panose="02010600040101010101" charset="-122"/>
                          <a:cs typeface="华文楷体" panose="02010600040101010101" charset="-122"/>
                        </a:rPr>
                        <a:t>16</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buNone/>
                      </a:pPr>
                      <a:r>
                        <a:rPr lang="en-US" altLang="zh-CN">
                          <a:latin typeface="华文楷体" panose="02010600040101010101" charset="-122"/>
                          <a:ea typeface="华文楷体" panose="02010600040101010101" charset="-122"/>
                          <a:cs typeface="华文楷体" panose="02010600040101010101" charset="-122"/>
                        </a:rPr>
                        <a:t>512×512</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pPr>
                      <a:r>
                        <a:rPr lang="en-US" altLang="zh-CN" sz="1800" b="0" i="0">
                          <a:latin typeface="华文楷体" panose="02010600040101010101" charset="-122"/>
                          <a:ea typeface="华文楷体" panose="02010600040101010101" charset="-122"/>
                          <a:cs typeface="华文楷体" panose="02010600040101010101" charset="-122"/>
                        </a:rPr>
                        <a:t>Adam (6e-5)</a:t>
                      </a:r>
                      <a:endParaRPr lang="en-US" altLang="zh-CN" sz="1800" b="0" i="0">
                        <a:latin typeface="华文楷体" panose="02010600040101010101" charset="-122"/>
                        <a:ea typeface="华文楷体" panose="02010600040101010101" charset="-122"/>
                        <a:cs typeface="华文楷体" panose="02010600040101010101" charset="-122"/>
                      </a:endParaRPr>
                    </a:p>
                  </a:txBody>
                  <a:tcPr marL="87414" marR="87414" marT="43865" marB="43865" anchor="ctr" anchorCtr="0"/>
                </a:tc>
              </a:tr>
              <a:tr h="381000">
                <a:tc>
                  <a:txBody>
                    <a:bodyPr/>
                    <a:p>
                      <a:pPr algn="ctr">
                        <a:lnSpc>
                          <a:spcPct val="100000"/>
                        </a:lnSpc>
                        <a:buClrTx/>
                        <a:buSzTx/>
                        <a:buFontTx/>
                        <a:buNone/>
                      </a:pPr>
                      <a:r>
                        <a:rPr lang="en-US" altLang="zh-CN">
                          <a:latin typeface="华文楷体" panose="02010600040101010101" charset="-122"/>
                          <a:ea typeface="华文楷体" panose="02010600040101010101" charset="-122"/>
                          <a:cs typeface="华文楷体" panose="02010600040101010101" charset="-122"/>
                        </a:rPr>
                        <a:t>ADE20K</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pPr>
                      <a:r>
                        <a:rPr lang="en-US" altLang="zh-CN" sz="1800" b="0" i="0">
                          <a:latin typeface="华文楷体" panose="02010600040101010101" charset="-122"/>
                          <a:ea typeface="华文楷体" panose="02010600040101010101" charset="-122"/>
                          <a:cs typeface="华文楷体" panose="02010600040101010101" charset="-122"/>
                        </a:rPr>
                        <a:t>160K</a:t>
                      </a:r>
                      <a:endParaRPr lang="en-US" altLang="zh-CN" sz="1800" b="0" i="0">
                        <a:latin typeface="华文楷体" panose="02010600040101010101" charset="-122"/>
                        <a:ea typeface="华文楷体" panose="02010600040101010101" charset="-122"/>
                        <a:cs typeface="华文楷体" panose="02010600040101010101" charset="-122"/>
                      </a:endParaRPr>
                    </a:p>
                  </a:txBody>
                  <a:tcPr marL="87414" marR="87414" marT="43865" marB="43865" anchor="ctr" anchorCtr="0"/>
                </a:tc>
                <a:tc>
                  <a:txBody>
                    <a:bodyPr/>
                    <a:p>
                      <a:pPr algn="ctr">
                        <a:buClrTx/>
                        <a:buSzTx/>
                        <a:buFontTx/>
                        <a:buNone/>
                      </a:pPr>
                      <a:r>
                        <a:rPr lang="en-US" altLang="zh-CN">
                          <a:latin typeface="华文楷体" panose="02010600040101010101" charset="-122"/>
                          <a:ea typeface="华文楷体" panose="02010600040101010101" charset="-122"/>
                          <a:cs typeface="华文楷体" panose="02010600040101010101" charset="-122"/>
                        </a:rPr>
                        <a:t>16</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buNone/>
                      </a:pPr>
                      <a:r>
                        <a:rPr lang="en-US" altLang="zh-CN">
                          <a:latin typeface="华文楷体" panose="02010600040101010101" charset="-122"/>
                          <a:ea typeface="华文楷体" panose="02010600040101010101" charset="-122"/>
                          <a:cs typeface="华文楷体" panose="02010600040101010101" charset="-122"/>
                        </a:rPr>
                        <a:t>512×512</a:t>
                      </a:r>
                      <a:endParaRPr lang="en-US" altLang="zh-CN">
                        <a:latin typeface="华文楷体" panose="02010600040101010101" charset="-122"/>
                        <a:ea typeface="华文楷体" panose="02010600040101010101" charset="-122"/>
                        <a:cs typeface="华文楷体" panose="02010600040101010101" charset="-122"/>
                      </a:endParaRPr>
                    </a:p>
                  </a:txBody>
                  <a:tcPr/>
                </a:tc>
                <a:tc>
                  <a:txBody>
                    <a:bodyPr/>
                    <a:p>
                      <a:pPr algn="ctr">
                        <a:buClrTx/>
                        <a:buSzTx/>
                        <a:buFontTx/>
                      </a:pPr>
                      <a:r>
                        <a:rPr lang="en-US" altLang="zh-CN" sz="1800" b="0" i="0">
                          <a:latin typeface="华文楷体" panose="02010600040101010101" charset="-122"/>
                          <a:ea typeface="华文楷体" panose="02010600040101010101" charset="-122"/>
                          <a:cs typeface="华文楷体" panose="02010600040101010101" charset="-122"/>
                        </a:rPr>
                        <a:t>Adam (6e-5)</a:t>
                      </a:r>
                      <a:endParaRPr lang="en-US" altLang="zh-CN" sz="1800" b="0" i="0">
                        <a:latin typeface="华文楷体" panose="02010600040101010101" charset="-122"/>
                        <a:ea typeface="华文楷体" panose="02010600040101010101" charset="-122"/>
                        <a:cs typeface="华文楷体" panose="02010600040101010101" charset="-122"/>
                      </a:endParaRPr>
                    </a:p>
                  </a:txBody>
                  <a:tcPr marL="87414" marR="87414" marT="43865" marB="43865" anchor="ctr" anchorCtr="0"/>
                </a:tc>
              </a:tr>
            </a:tbl>
          </a:graphicData>
        </a:graphic>
      </p:graphicFrame>
      <p:sp>
        <p:nvSpPr>
          <p:cNvPr id="7" name="文本框 6"/>
          <p:cNvSpPr txBox="1"/>
          <p:nvPr/>
        </p:nvSpPr>
        <p:spPr>
          <a:xfrm>
            <a:off x="6207760" y="3770630"/>
            <a:ext cx="5198110" cy="2658110"/>
          </a:xfrm>
          <a:prstGeom prst="rect">
            <a:avLst/>
          </a:prstGeom>
        </p:spPr>
        <p:txBody>
          <a:bodyPr wrap="square">
            <a:noAutofit/>
          </a:bodyPr>
          <a:p>
            <a:pPr marL="0" indent="0">
              <a:lnSpc>
                <a:spcPts val="1430"/>
              </a:lnSpc>
              <a:spcBef>
                <a:spcPct val="0"/>
              </a:spcBef>
              <a:spcAft>
                <a:spcPts val="200"/>
              </a:spcAft>
              <a:buFont typeface="Arial" panose="020B0604020202020204"/>
              <a:buNone/>
            </a:pPr>
            <a:r>
              <a:rPr lang="en-US" altLang="zh-CN" sz="1800" b="1" i="0">
                <a:solidFill>
                  <a:schemeClr val="dk1"/>
                </a:solidFill>
                <a:latin typeface="华文楷体" panose="02010600040101010101" charset="-122"/>
                <a:ea typeface="华文楷体" panose="02010600040101010101" charset="-122"/>
                <a:cs typeface="华文楷体" panose="02010600040101010101" charset="-122"/>
              </a:rPr>
              <a:t>分辨率处理</a:t>
            </a:r>
            <a:r>
              <a:rPr lang="en-US" altLang="zh-CN" sz="1800" b="0" i="0">
                <a:solidFill>
                  <a:schemeClr val="dk1"/>
                </a:solidFill>
                <a:latin typeface="华文楷体" panose="02010600040101010101" charset="-122"/>
                <a:ea typeface="华文楷体" panose="02010600040101010101" charset="-122"/>
                <a:cs typeface="华文楷体" panose="02010600040101010101" charset="-122"/>
              </a:rPr>
              <a:t>：</a:t>
            </a:r>
            <a:endParaRPr lang="en-US" altLang="zh-CN" sz="1800" b="0" i="0">
              <a:solidFill>
                <a:schemeClr val="dk1"/>
              </a:solidFill>
              <a:latin typeface="华文楷体" panose="02010600040101010101" charset="-122"/>
              <a:ea typeface="华文楷体" panose="02010600040101010101" charset="-122"/>
              <a:cs typeface="华文楷体" panose="02010600040101010101" charset="-122"/>
            </a:endParaRPr>
          </a:p>
          <a:p>
            <a:pPr marL="0" lvl="1" indent="0" fontAlgn="auto">
              <a:lnSpc>
                <a:spcPts val="2030"/>
              </a:lnSpc>
              <a:spcBef>
                <a:spcPct val="0"/>
              </a:spcBef>
              <a:spcAft>
                <a:spcPct val="0"/>
              </a:spcAft>
              <a:buFont typeface="Arial" panose="020B0604020202020204"/>
              <a:buNone/>
            </a:pPr>
            <a:r>
              <a:rPr lang="en-US" altLang="zh-CN" sz="1800" b="0" i="0">
                <a:solidFill>
                  <a:schemeClr val="dk1"/>
                </a:solidFill>
                <a:latin typeface="华文楷体" panose="02010600040101010101" charset="-122"/>
                <a:ea typeface="华文楷体" panose="02010600040101010101" charset="-122"/>
                <a:cs typeface="华文楷体" panose="02010600040101010101" charset="-122"/>
              </a:rPr>
              <a:t>Mapillary/Cityscapes：保持长宽比，短边缩放至1024，采用</a:t>
            </a:r>
            <a:r>
              <a:rPr lang="en-US" altLang="zh-CN" sz="1800" b="1" i="0">
                <a:solidFill>
                  <a:srgbClr val="FF0000"/>
                </a:solidFill>
                <a:latin typeface="华文楷体" panose="02010600040101010101" charset="-122"/>
                <a:ea typeface="华文楷体" panose="02010600040101010101" charset="-122"/>
                <a:cs typeface="华文楷体" panose="02010600040101010101" charset="-122"/>
              </a:rPr>
              <a:t>滑动窗口</a:t>
            </a:r>
            <a:r>
              <a:rPr lang="en-US" altLang="zh-CN" sz="1800" b="0" i="0">
                <a:solidFill>
                  <a:schemeClr val="dk1"/>
                </a:solidFill>
                <a:latin typeface="华文楷体" panose="02010600040101010101" charset="-122"/>
                <a:ea typeface="华文楷体" panose="02010600040101010101" charset="-122"/>
                <a:cs typeface="华文楷体" panose="02010600040101010101" charset="-122"/>
              </a:rPr>
              <a:t>推理（窗口尺寸=训练尺寸）</a:t>
            </a:r>
            <a:endParaRPr lang="en-US" altLang="zh-CN" sz="1800" b="0" i="0">
              <a:solidFill>
                <a:schemeClr val="dk1"/>
              </a:solidFill>
              <a:latin typeface="华文楷体" panose="02010600040101010101" charset="-122"/>
              <a:ea typeface="华文楷体" panose="02010600040101010101" charset="-122"/>
              <a:cs typeface="华文楷体" panose="02010600040101010101" charset="-122"/>
            </a:endParaRPr>
          </a:p>
          <a:p>
            <a:pPr marL="0" lvl="1" indent="0" fontAlgn="auto">
              <a:lnSpc>
                <a:spcPts val="2030"/>
              </a:lnSpc>
              <a:spcBef>
                <a:spcPct val="0"/>
              </a:spcBef>
              <a:spcAft>
                <a:spcPct val="0"/>
              </a:spcAft>
              <a:buFont typeface="Arial" panose="020B0604020202020204"/>
              <a:buNone/>
            </a:pPr>
            <a:r>
              <a:rPr lang="en-US" altLang="zh-CN" sz="1800" b="0" i="0">
                <a:solidFill>
                  <a:schemeClr val="dk1"/>
                </a:solidFill>
                <a:latin typeface="华文楷体" panose="02010600040101010101" charset="-122"/>
                <a:ea typeface="华文楷体" panose="02010600040101010101" charset="-122"/>
                <a:cs typeface="华文楷体" panose="02010600040101010101" charset="-122"/>
              </a:rPr>
              <a:t>ADE20K/Pascal-Part：短边缩放至512，整图一次性推理</a:t>
            </a:r>
            <a:endParaRPr lang="en-US" altLang="zh-CN" sz="1800" b="0" i="0">
              <a:solidFill>
                <a:schemeClr val="dk1"/>
              </a:solidFill>
              <a:latin typeface="华文楷体" panose="02010600040101010101" charset="-122"/>
              <a:ea typeface="华文楷体" panose="02010600040101010101" charset="-122"/>
              <a:cs typeface="华文楷体" panose="02010600040101010101" charset="-122"/>
            </a:endParaRPr>
          </a:p>
          <a:p>
            <a:pPr marL="0" indent="0" fontAlgn="auto">
              <a:lnSpc>
                <a:spcPts val="2030"/>
              </a:lnSpc>
              <a:spcBef>
                <a:spcPct val="0"/>
              </a:spcBef>
              <a:spcAft>
                <a:spcPct val="0"/>
              </a:spcAft>
              <a:buFont typeface="Arial" panose="020B0604020202020204"/>
              <a:buNone/>
            </a:pPr>
            <a:r>
              <a:rPr lang="en-US" altLang="zh-CN" sz="1800" b="1" i="0">
                <a:solidFill>
                  <a:schemeClr val="dk1"/>
                </a:solidFill>
                <a:latin typeface="华文楷体" panose="02010600040101010101" charset="-122"/>
                <a:ea typeface="华文楷体" panose="02010600040101010101" charset="-122"/>
                <a:cs typeface="华文楷体" panose="02010600040101010101" charset="-122"/>
              </a:rPr>
              <a:t>多尺度测试</a:t>
            </a:r>
            <a:r>
              <a:rPr lang="en-US" altLang="zh-CN" sz="1800" b="0" i="0">
                <a:solidFill>
                  <a:schemeClr val="dk1"/>
                </a:solidFill>
                <a:latin typeface="华文楷体" panose="02010600040101010101" charset="-122"/>
                <a:ea typeface="华文楷体" panose="02010600040101010101" charset="-122"/>
                <a:cs typeface="华文楷体" panose="02010600040101010101" charset="-122"/>
              </a:rPr>
              <a:t>：6种缩放比例+ 水平翻转超参数设定</a:t>
            </a:r>
            <a:endParaRPr lang="en-US" altLang="zh-CN" sz="1800" b="0" i="0">
              <a:solidFill>
                <a:schemeClr val="dk1"/>
              </a:solidFill>
              <a:latin typeface="华文楷体" panose="02010600040101010101" charset="-122"/>
              <a:ea typeface="华文楷体" panose="02010600040101010101" charset="-122"/>
              <a:cs typeface="华文楷体" panose="02010600040101010101" charset="-122"/>
            </a:endParaRPr>
          </a:p>
          <a:p>
            <a:pPr marL="0" indent="0" fontAlgn="auto">
              <a:lnSpc>
                <a:spcPts val="2030"/>
              </a:lnSpc>
              <a:spcBef>
                <a:spcPct val="0"/>
              </a:spcBef>
              <a:spcAft>
                <a:spcPct val="0"/>
              </a:spcAft>
              <a:buFont typeface="Arial" panose="020B0604020202020204"/>
              <a:buNone/>
            </a:pPr>
            <a:r>
              <a:rPr lang="zh-CN" altLang="en-US" sz="1800" b="1" i="0">
                <a:solidFill>
                  <a:schemeClr val="dk1"/>
                </a:solidFill>
                <a:latin typeface="华文楷体" panose="02010600040101010101" charset="-122"/>
                <a:ea typeface="华文楷体" panose="02010600040101010101" charset="-122"/>
                <a:cs typeface="华文楷体" panose="02010600040101010101" charset="-122"/>
              </a:rPr>
              <a:t>超参数设定</a:t>
            </a:r>
            <a:endParaRPr lang="zh-CN" altLang="en-US" sz="1800" b="1" i="0">
              <a:solidFill>
                <a:schemeClr val="dk1"/>
              </a:solidFill>
              <a:latin typeface="华文楷体" panose="02010600040101010101" charset="-122"/>
              <a:ea typeface="华文楷体" panose="02010600040101010101" charset="-122"/>
              <a:cs typeface="华文楷体" panose="02010600040101010101" charset="-122"/>
            </a:endParaRPr>
          </a:p>
          <a:p>
            <a:pPr marL="457200" lvl="1" indent="0" fontAlgn="auto">
              <a:lnSpc>
                <a:spcPts val="2030"/>
              </a:lnSpc>
              <a:spcBef>
                <a:spcPct val="0"/>
              </a:spcBef>
              <a:spcAft>
                <a:spcPct val="0"/>
              </a:spcAft>
              <a:buFont typeface="Arial" panose="020B0604020202020204"/>
              <a:buNone/>
            </a:pPr>
            <a:r>
              <a:rPr lang="en-US" altLang="zh-CN" sz="1800" i="0">
                <a:solidFill>
                  <a:schemeClr val="dk1"/>
                </a:solidFill>
                <a:latin typeface="华文楷体" panose="02010600040101010101" charset="-122"/>
                <a:ea typeface="华文楷体" panose="02010600040101010101" charset="-122"/>
                <a:cs typeface="华文楷体" panose="02010600040101010101" charset="-122"/>
              </a:rPr>
              <a:t>损失系数 α=0.2</a:t>
            </a:r>
            <a:endParaRPr lang="en-US" altLang="zh-CN" sz="1800" i="0">
              <a:solidFill>
                <a:schemeClr val="dk1"/>
              </a:solidFill>
              <a:latin typeface="华文楷体" panose="02010600040101010101" charset="-122"/>
              <a:ea typeface="华文楷体" panose="02010600040101010101" charset="-122"/>
              <a:cs typeface="华文楷体" panose="02010600040101010101" charset="-122"/>
            </a:endParaRPr>
          </a:p>
          <a:p>
            <a:pPr marL="457200" lvl="1" indent="0" fontAlgn="auto">
              <a:lnSpc>
                <a:spcPts val="2030"/>
              </a:lnSpc>
              <a:spcBef>
                <a:spcPct val="0"/>
              </a:spcBef>
              <a:spcAft>
                <a:spcPct val="0"/>
              </a:spcAft>
              <a:buFont typeface="Arial" panose="020B0604020202020204"/>
              <a:buNone/>
            </a:pPr>
            <a:r>
              <a:rPr lang="en-US" altLang="zh-CN" sz="1800" i="0">
                <a:solidFill>
                  <a:schemeClr val="dk1"/>
                </a:solidFill>
                <a:latin typeface="华文楷体" panose="02010600040101010101" charset="-122"/>
                <a:ea typeface="华文楷体" panose="02010600040101010101" charset="-122"/>
                <a:cs typeface="华文楷体" panose="02010600040101010101" charset="-122"/>
              </a:rPr>
              <a:t>逻辑量词近似参数 q=5</a:t>
            </a:r>
            <a:endParaRPr lang="en-US" altLang="zh-CN" sz="1800" i="0">
              <a:solidFill>
                <a:schemeClr val="dk1"/>
              </a:solidFill>
              <a:latin typeface="华文楷体" panose="02010600040101010101" charset="-122"/>
              <a:ea typeface="华文楷体" panose="02010600040101010101" charset="-122"/>
              <a:cs typeface="华文楷体" panose="02010600040101010101" charset="-122"/>
            </a:endParaRPr>
          </a:p>
          <a:p>
            <a:pPr marL="457200" lvl="1" indent="0" fontAlgn="auto">
              <a:lnSpc>
                <a:spcPts val="2030"/>
              </a:lnSpc>
              <a:spcBef>
                <a:spcPct val="0"/>
              </a:spcBef>
              <a:spcAft>
                <a:spcPct val="0"/>
              </a:spcAft>
              <a:buFont typeface="Arial" panose="020B0604020202020204"/>
              <a:buNone/>
            </a:pPr>
            <a:r>
              <a:rPr lang="en-US" altLang="zh-CN" sz="1800" i="0">
                <a:solidFill>
                  <a:schemeClr val="dk1"/>
                </a:solidFill>
                <a:latin typeface="华文楷体" panose="02010600040101010101" charset="-122"/>
                <a:ea typeface="华文楷体" panose="02010600040101010101" charset="-122"/>
                <a:cs typeface="华文楷体" panose="02010600040101010101" charset="-122"/>
              </a:rPr>
              <a:t>推理阶段消息传递迭代次数：2次</a:t>
            </a:r>
            <a:endParaRPr lang="en-US" altLang="zh-CN" sz="1800" b="0" i="0">
              <a:solidFill>
                <a:schemeClr val="dk1"/>
              </a:solidFill>
              <a:latin typeface="华文楷体" panose="02010600040101010101" charset="-122"/>
              <a:ea typeface="华文楷体" panose="02010600040101010101" charset="-122"/>
              <a:cs typeface="华文楷体" panose="02010600040101010101" charset="-122"/>
            </a:endParaRPr>
          </a:p>
        </p:txBody>
      </p:sp>
      <p:sp>
        <p:nvSpPr>
          <p:cNvPr id="8" name="文本框 7"/>
          <p:cNvSpPr txBox="1"/>
          <p:nvPr/>
        </p:nvSpPr>
        <p:spPr>
          <a:xfrm>
            <a:off x="962660" y="3803650"/>
            <a:ext cx="4505960" cy="1804035"/>
          </a:xfrm>
          <a:prstGeom prst="rect">
            <a:avLst/>
          </a:prstGeom>
          <a:noFill/>
        </p:spPr>
        <p:txBody>
          <a:bodyPr wrap="square" rtlCol="0" anchor="t">
            <a:noAutofit/>
          </a:bodyPr>
          <a:p>
            <a:pPr marL="0" indent="0" fontAlgn="auto">
              <a:lnSpc>
                <a:spcPts val="2030"/>
              </a:lnSpc>
              <a:spcBef>
                <a:spcPct val="0"/>
              </a:spcBef>
              <a:spcAft>
                <a:spcPct val="0"/>
              </a:spcAft>
              <a:buFont typeface="Arial" panose="020B0604020202020204"/>
              <a:buNone/>
            </a:pPr>
            <a:r>
              <a:rPr lang="en-US" altLang="zh-CN" b="1">
                <a:solidFill>
                  <a:schemeClr val="dk1"/>
                </a:solidFill>
                <a:latin typeface="华文楷体" panose="02010600040101010101" charset="-122"/>
                <a:ea typeface="华文楷体" panose="02010600040101010101" charset="-122"/>
                <a:cs typeface="华文楷体" panose="02010600040101010101" charset="-122"/>
                <a:sym typeface="+mn-ea"/>
              </a:rPr>
              <a:t>数据增强</a:t>
            </a:r>
            <a:r>
              <a:rPr lang="en-US" altLang="zh-CN">
                <a:solidFill>
                  <a:schemeClr val="dk1"/>
                </a:solidFill>
                <a:latin typeface="华文楷体" panose="02010600040101010101" charset="-122"/>
                <a:ea typeface="华文楷体" panose="02010600040101010101" charset="-122"/>
                <a:cs typeface="华文楷体" panose="02010600040101010101" charset="-122"/>
                <a:sym typeface="+mn-ea"/>
              </a:rPr>
              <a:t>：随机水平翻转 + 0.5-2.0比例缩放</a:t>
            </a:r>
            <a:endParaRPr lang="en-US" altLang="zh-CN" sz="1800" b="0" i="0">
              <a:solidFill>
                <a:schemeClr val="dk1"/>
              </a:solidFill>
              <a:latin typeface="华文楷体" panose="02010600040101010101" charset="-122"/>
              <a:ea typeface="华文楷体" panose="02010600040101010101" charset="-122"/>
              <a:cs typeface="华文楷体" panose="02010600040101010101" charset="-122"/>
            </a:endParaRPr>
          </a:p>
          <a:p>
            <a:pPr marL="0" indent="0" fontAlgn="auto">
              <a:lnSpc>
                <a:spcPts val="2030"/>
              </a:lnSpc>
              <a:spcBef>
                <a:spcPct val="0"/>
              </a:spcBef>
              <a:spcAft>
                <a:spcPts val="200"/>
              </a:spcAft>
              <a:buFont typeface="Arial" panose="020B0604020202020204"/>
              <a:buNone/>
            </a:pPr>
            <a:r>
              <a:rPr lang="en-US" altLang="zh-CN" b="1">
                <a:solidFill>
                  <a:schemeClr val="dk1"/>
                </a:solidFill>
                <a:latin typeface="华文楷体" panose="02010600040101010101" charset="-122"/>
                <a:ea typeface="华文楷体" panose="02010600040101010101" charset="-122"/>
                <a:cs typeface="华文楷体" panose="02010600040101010101" charset="-122"/>
                <a:sym typeface="+mn-ea"/>
              </a:rPr>
              <a:t>优化细节</a:t>
            </a:r>
            <a:r>
              <a:rPr lang="en-US" altLang="zh-CN">
                <a:solidFill>
                  <a:schemeClr val="dk1"/>
                </a:solidFill>
                <a:latin typeface="华文楷体" panose="02010600040101010101" charset="-122"/>
                <a:ea typeface="华文楷体" panose="02010600040101010101" charset="-122"/>
                <a:cs typeface="华文楷体" panose="02010600040101010101" charset="-122"/>
                <a:sym typeface="+mn-ea"/>
              </a:rPr>
              <a:t>：</a:t>
            </a:r>
            <a:endParaRPr lang="en-US" altLang="zh-CN" sz="1800" b="0" i="0">
              <a:solidFill>
                <a:schemeClr val="dk1"/>
              </a:solidFill>
              <a:latin typeface="华文楷体" panose="02010600040101010101" charset="-122"/>
              <a:ea typeface="华文楷体" panose="02010600040101010101" charset="-122"/>
              <a:cs typeface="华文楷体" panose="02010600040101010101" charset="-122"/>
            </a:endParaRPr>
          </a:p>
          <a:p>
            <a:pPr lvl="1" indent="0" fontAlgn="auto">
              <a:lnSpc>
                <a:spcPts val="2030"/>
              </a:lnSpc>
              <a:spcBef>
                <a:spcPct val="0"/>
              </a:spcBef>
              <a:spcAft>
                <a:spcPct val="0"/>
              </a:spcAft>
              <a:buFont typeface="Arial" panose="020B0604020202020204"/>
              <a:buNone/>
            </a:pPr>
            <a:r>
              <a:rPr lang="en-US" altLang="zh-CN">
                <a:solidFill>
                  <a:schemeClr val="dk1"/>
                </a:solidFill>
                <a:latin typeface="华文楷体" panose="02010600040101010101" charset="-122"/>
                <a:ea typeface="华文楷体" panose="02010600040101010101" charset="-122"/>
                <a:cs typeface="华文楷体" panose="02010600040101010101" charset="-122"/>
                <a:sym typeface="+mn-ea"/>
              </a:rPr>
              <a:t>SGD：动量0.9，权重衰减1e-4</a:t>
            </a:r>
            <a:endParaRPr lang="en-US" altLang="zh-CN" sz="1800" b="0" i="0">
              <a:solidFill>
                <a:schemeClr val="dk1"/>
              </a:solidFill>
              <a:latin typeface="华文楷体" panose="02010600040101010101" charset="-122"/>
              <a:ea typeface="华文楷体" panose="02010600040101010101" charset="-122"/>
              <a:cs typeface="华文楷体" panose="02010600040101010101" charset="-122"/>
            </a:endParaRPr>
          </a:p>
          <a:p>
            <a:pPr lvl="1" indent="0" fontAlgn="auto">
              <a:lnSpc>
                <a:spcPts val="2030"/>
              </a:lnSpc>
              <a:spcBef>
                <a:spcPct val="0"/>
              </a:spcBef>
              <a:spcAft>
                <a:spcPct val="0"/>
              </a:spcAft>
              <a:buFont typeface="Arial" panose="020B0604020202020204"/>
              <a:buNone/>
            </a:pPr>
            <a:r>
              <a:rPr lang="en-US" altLang="zh-CN">
                <a:solidFill>
                  <a:schemeClr val="dk1"/>
                </a:solidFill>
                <a:latin typeface="华文楷体" panose="02010600040101010101" charset="-122"/>
                <a:ea typeface="华文楷体" panose="02010600040101010101" charset="-122"/>
                <a:cs typeface="华文楷体" panose="02010600040101010101" charset="-122"/>
                <a:sym typeface="+mn-ea"/>
              </a:rPr>
              <a:t>Adam：权重衰减0.01</a:t>
            </a:r>
            <a:endParaRPr lang="en-US" altLang="zh-CN" sz="1800" b="0" i="0">
              <a:solidFill>
                <a:schemeClr val="dk1"/>
              </a:solidFill>
              <a:latin typeface="华文楷体" panose="02010600040101010101" charset="-122"/>
              <a:ea typeface="华文楷体" panose="02010600040101010101" charset="-122"/>
              <a:cs typeface="华文楷体" panose="02010600040101010101" charset="-122"/>
            </a:endParaRPr>
          </a:p>
          <a:p>
            <a:pPr marL="0" lvl="1" indent="0" fontAlgn="auto">
              <a:lnSpc>
                <a:spcPts val="2030"/>
              </a:lnSpc>
              <a:spcBef>
                <a:spcPct val="0"/>
              </a:spcBef>
              <a:spcAft>
                <a:spcPct val="0"/>
              </a:spcAft>
              <a:buFont typeface="Arial" panose="020B0604020202020204"/>
              <a:buNone/>
            </a:pPr>
            <a:r>
              <a:rPr lang="en-US" altLang="zh-CN" b="1">
                <a:solidFill>
                  <a:schemeClr val="dk1"/>
                </a:solidFill>
                <a:latin typeface="华文楷体" panose="02010600040101010101" charset="-122"/>
                <a:ea typeface="华文楷体" panose="02010600040101010101" charset="-122"/>
                <a:cs typeface="华文楷体" panose="02010600040101010101" charset="-122"/>
                <a:sym typeface="+mn-ea"/>
              </a:rPr>
              <a:t>学习率</a:t>
            </a:r>
            <a:r>
              <a:rPr lang="en-US" altLang="zh-CN">
                <a:solidFill>
                  <a:schemeClr val="dk1"/>
                </a:solidFill>
                <a:latin typeface="华文楷体" panose="02010600040101010101" charset="-122"/>
                <a:ea typeface="华文楷体" panose="02010600040101010101" charset="-122"/>
                <a:cs typeface="华文楷体" panose="02010600040101010101" charset="-122"/>
                <a:sym typeface="+mn-ea"/>
              </a:rPr>
              <a:t>采用</a:t>
            </a:r>
            <a:r>
              <a:rPr lang="en-US" altLang="zh-CN" b="1">
                <a:solidFill>
                  <a:srgbClr val="FF0000"/>
                </a:solidFill>
                <a:latin typeface="华文楷体" panose="02010600040101010101" charset="-122"/>
                <a:ea typeface="华文楷体" panose="02010600040101010101" charset="-122"/>
                <a:cs typeface="华文楷体" panose="02010600040101010101" charset="-122"/>
                <a:sym typeface="+mn-ea"/>
              </a:rPr>
              <a:t>多项式退火策略</a:t>
            </a:r>
            <a:endParaRPr lang="en-US" altLang="zh-CN" sz="1800" b="1" i="0">
              <a:solidFill>
                <a:srgbClr val="FF0000"/>
              </a:solidFill>
              <a:latin typeface="华文楷体" panose="02010600040101010101" charset="-122"/>
              <a:ea typeface="华文楷体" panose="02010600040101010101" charset="-122"/>
              <a:cs typeface="华文楷体" panose="02010600040101010101" charset="-122"/>
            </a:endParaRPr>
          </a:p>
          <a:p>
            <a:pPr marL="0" indent="0" fontAlgn="auto">
              <a:lnSpc>
                <a:spcPts val="2030"/>
              </a:lnSpc>
              <a:spcBef>
                <a:spcPct val="0"/>
              </a:spcBef>
              <a:spcAft>
                <a:spcPct val="0"/>
              </a:spcAft>
              <a:buFont typeface="Arial" panose="020B0604020202020204"/>
              <a:buNone/>
            </a:pPr>
            <a:r>
              <a:rPr lang="en-US" altLang="zh-CN" b="1">
                <a:solidFill>
                  <a:schemeClr val="dk1"/>
                </a:solidFill>
                <a:latin typeface="华文楷体" panose="02010600040101010101" charset="-122"/>
                <a:ea typeface="华文楷体" panose="02010600040101010101" charset="-122"/>
                <a:cs typeface="华文楷体" panose="02010600040101010101" charset="-122"/>
                <a:sym typeface="+mn-ea"/>
              </a:rPr>
              <a:t>初始化</a:t>
            </a:r>
            <a:r>
              <a:rPr lang="en-US" altLang="zh-CN">
                <a:solidFill>
                  <a:schemeClr val="dk1"/>
                </a:solidFill>
                <a:latin typeface="华文楷体" panose="02010600040101010101" charset="-122"/>
                <a:ea typeface="华文楷体" panose="02010600040101010101" charset="-122"/>
                <a:cs typeface="华文楷体" panose="02010600040101010101" charset="-122"/>
                <a:sym typeface="+mn-ea"/>
              </a:rPr>
              <a:t>：加载ImageNet预训练权重</a:t>
            </a:r>
            <a:endParaRPr lang="en-US" altLang="zh-CN">
              <a:solidFill>
                <a:schemeClr val="dk1"/>
              </a:solidFill>
              <a:latin typeface="华文楷体" panose="02010600040101010101" charset="-122"/>
              <a:ea typeface="华文楷体" panose="02010600040101010101" charset="-122"/>
              <a:cs typeface="华文楷体" panose="0201060004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矩形 22"/>
          <p:cNvSpPr/>
          <p:nvPr/>
        </p:nvSpPr>
        <p:spPr>
          <a:xfrm>
            <a:off x="1152000" y="288000"/>
            <a:ext cx="29260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定量比较结果</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graphicFrame>
        <p:nvGraphicFramePr>
          <p:cNvPr id="15" name="对象 14">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2" imgW="114300" imgH="215900" progId="Equation.KSEE3">
                  <p:embed/>
                </p:oleObj>
              </mc:Choice>
              <mc:Fallback>
                <p:oleObj name="" r:id="rId2" imgW="114300" imgH="215900" progId="Equation.KSEE3">
                  <p:embed/>
                  <p:pic>
                    <p:nvPicPr>
                      <p:cNvPr id="0" name="图片 1024"/>
                      <p:cNvPicPr/>
                      <p:nvPr/>
                    </p:nvPicPr>
                    <p:blipFill>
                      <a:blip r:embed="rId3"/>
                      <a:stretch>
                        <a:fillRect/>
                      </a:stretch>
                    </p:blipFill>
                    <p:spPr>
                      <a:xfrm>
                        <a:off x="6038850" y="3321050"/>
                        <a:ext cx="114300" cy="215900"/>
                      </a:xfrm>
                      <a:prstGeom prst="rect">
                        <a:avLst/>
                      </a:prstGeom>
                    </p:spPr>
                  </p:pic>
                </p:oleObj>
              </mc:Fallback>
            </mc:AlternateContent>
          </a:graphicData>
        </a:graphic>
      </p:graphicFrame>
      <p:pic>
        <p:nvPicPr>
          <p:cNvPr id="3" name="图片 2"/>
          <p:cNvPicPr>
            <a:picLocks noChangeAspect="1"/>
          </p:cNvPicPr>
          <p:nvPr/>
        </p:nvPicPr>
        <p:blipFill>
          <a:blip r:embed="rId4"/>
          <a:stretch>
            <a:fillRect/>
          </a:stretch>
        </p:blipFill>
        <p:spPr>
          <a:xfrm>
            <a:off x="715645" y="1087120"/>
            <a:ext cx="7776210" cy="5511165"/>
          </a:xfrm>
          <a:prstGeom prst="rect">
            <a:avLst/>
          </a:prstGeom>
        </p:spPr>
      </p:pic>
      <p:sp>
        <p:nvSpPr>
          <p:cNvPr id="8" name="文本框 7"/>
          <p:cNvSpPr txBox="1"/>
          <p:nvPr/>
        </p:nvSpPr>
        <p:spPr>
          <a:xfrm>
            <a:off x="8670925" y="2476500"/>
            <a:ext cx="3368675" cy="2012315"/>
          </a:xfrm>
          <a:prstGeom prst="rect">
            <a:avLst/>
          </a:prstGeom>
          <a:noFill/>
        </p:spPr>
        <p:txBody>
          <a:bodyPr wrap="square" rtlCol="0" anchor="t">
            <a:noAutofit/>
          </a:bodyPr>
          <a:p>
            <a:pPr indent="0" fontAlgn="auto">
              <a:lnSpc>
                <a:spcPts val="2330"/>
              </a:lnSpc>
              <a:spcBef>
                <a:spcPct val="0"/>
              </a:spcBef>
              <a:spcAft>
                <a:spcPct val="0"/>
              </a:spcAft>
              <a:buFont typeface="Arial" panose="020B0604020202020204"/>
              <a:buNone/>
            </a:pPr>
            <a:r>
              <a:rPr lang="zh-CN" altLang="en-US" sz="2000">
                <a:solidFill>
                  <a:schemeClr val="dk1"/>
                </a:solidFill>
                <a:latin typeface="华文楷体" panose="02010600040101010101" charset="-122"/>
                <a:ea typeface="华文楷体" panose="02010600040101010101" charset="-122"/>
                <a:cs typeface="华文楷体" panose="02010600040101010101" charset="-122"/>
                <a:sym typeface="+mn-ea"/>
              </a:rPr>
              <a:t>①</a:t>
            </a:r>
            <a:r>
              <a:rPr lang="en-US" altLang="zh-CN" sz="2000">
                <a:solidFill>
                  <a:schemeClr val="dk1"/>
                </a:solidFill>
                <a:latin typeface="华文楷体" panose="02010600040101010101" charset="-122"/>
                <a:ea typeface="华文楷体" panose="02010600040101010101" charset="-122"/>
                <a:cs typeface="华文楷体" panose="02010600040101010101" charset="-122"/>
                <a:sym typeface="+mn-ea"/>
              </a:rPr>
              <a:t>成功解锁逻辑推理在</a:t>
            </a:r>
            <a:r>
              <a:rPr lang="en-US" altLang="zh-CN" sz="2000" b="1">
                <a:solidFill>
                  <a:srgbClr val="FF0000"/>
                </a:solidFill>
                <a:latin typeface="华文楷体" panose="02010600040101010101" charset="-122"/>
                <a:ea typeface="华文楷体" panose="02010600040101010101" charset="-122"/>
                <a:cs typeface="华文楷体" panose="02010600040101010101" charset="-122"/>
                <a:sym typeface="+mn-ea"/>
              </a:rPr>
              <a:t>大规模视觉解析</a:t>
            </a:r>
            <a:r>
              <a:rPr lang="en-US" altLang="zh-CN" sz="2000">
                <a:solidFill>
                  <a:schemeClr val="dk1"/>
                </a:solidFill>
                <a:latin typeface="华文楷体" panose="02010600040101010101" charset="-122"/>
                <a:ea typeface="华文楷体" panose="02010600040101010101" charset="-122"/>
                <a:cs typeface="华文楷体" panose="02010600040101010101" charset="-122"/>
                <a:sym typeface="+mn-ea"/>
              </a:rPr>
              <a:t>中的潜力</a:t>
            </a:r>
            <a:endParaRPr lang="en-US" altLang="zh-CN" sz="2000">
              <a:solidFill>
                <a:schemeClr val="dk1"/>
              </a:solidFill>
              <a:latin typeface="华文楷体" panose="02010600040101010101" charset="-122"/>
              <a:ea typeface="华文楷体" panose="02010600040101010101" charset="-122"/>
              <a:cs typeface="华文楷体" panose="02010600040101010101" charset="-122"/>
              <a:sym typeface="+mn-ea"/>
            </a:endParaRPr>
          </a:p>
          <a:p>
            <a:pPr indent="0" fontAlgn="auto">
              <a:lnSpc>
                <a:spcPts val="2330"/>
              </a:lnSpc>
              <a:spcBef>
                <a:spcPct val="0"/>
              </a:spcBef>
              <a:spcAft>
                <a:spcPct val="0"/>
              </a:spcAft>
              <a:buFont typeface="Arial" panose="020B0604020202020204"/>
              <a:buNone/>
            </a:pPr>
            <a:endParaRPr lang="en-US" altLang="zh-CN" sz="2000">
              <a:solidFill>
                <a:schemeClr val="dk1"/>
              </a:solidFill>
              <a:latin typeface="华文楷体" panose="02010600040101010101" charset="-122"/>
              <a:ea typeface="华文楷体" panose="02010600040101010101" charset="-122"/>
              <a:cs typeface="华文楷体" panose="02010600040101010101" charset="-122"/>
              <a:sym typeface="+mn-ea"/>
            </a:endParaRPr>
          </a:p>
          <a:p>
            <a:pPr indent="0" fontAlgn="auto">
              <a:lnSpc>
                <a:spcPts val="2330"/>
              </a:lnSpc>
              <a:spcBef>
                <a:spcPct val="0"/>
              </a:spcBef>
              <a:spcAft>
                <a:spcPct val="0"/>
              </a:spcAft>
              <a:buFont typeface="Arial" panose="020B0604020202020204"/>
              <a:buNone/>
            </a:pPr>
            <a:r>
              <a:rPr lang="zh-CN" altLang="en-US" sz="2000">
                <a:solidFill>
                  <a:schemeClr val="dk1"/>
                </a:solidFill>
                <a:latin typeface="华文楷体" panose="02010600040101010101" charset="-122"/>
                <a:ea typeface="华文楷体" panose="02010600040101010101" charset="-122"/>
                <a:cs typeface="华文楷体" panose="02010600040101010101" charset="-122"/>
                <a:sym typeface="+mn-ea"/>
              </a:rPr>
              <a:t>②</a:t>
            </a:r>
            <a:r>
              <a:rPr lang="en-US" altLang="zh-CN" sz="2000">
                <a:solidFill>
                  <a:schemeClr val="dk1"/>
                </a:solidFill>
                <a:latin typeface="华文楷体" panose="02010600040101010101" charset="-122"/>
                <a:ea typeface="华文楷体" panose="02010600040101010101" charset="-122"/>
                <a:cs typeface="华文楷体" panose="02010600040101010101" charset="-122"/>
                <a:sym typeface="+mn-ea"/>
              </a:rPr>
              <a:t>跨任务场景、分割架构与骨干网络具有</a:t>
            </a:r>
            <a:r>
              <a:rPr lang="en-US" altLang="zh-CN" sz="2000">
                <a:solidFill>
                  <a:schemeClr val="tx1"/>
                </a:solidFill>
                <a:latin typeface="华文楷体" panose="02010600040101010101" charset="-122"/>
                <a:ea typeface="华文楷体" panose="02010600040101010101" charset="-122"/>
                <a:cs typeface="华文楷体" panose="02010600040101010101" charset="-122"/>
                <a:sym typeface="+mn-ea"/>
              </a:rPr>
              <a:t>广泛</a:t>
            </a:r>
            <a:r>
              <a:rPr lang="en-US" altLang="zh-CN" sz="2000" b="1">
                <a:solidFill>
                  <a:srgbClr val="FF0000"/>
                </a:solidFill>
                <a:latin typeface="华文楷体" panose="02010600040101010101" charset="-122"/>
                <a:ea typeface="华文楷体" panose="02010600040101010101" charset="-122"/>
                <a:cs typeface="华文楷体" panose="02010600040101010101" charset="-122"/>
                <a:sym typeface="+mn-ea"/>
              </a:rPr>
              <a:t>适用性</a:t>
            </a:r>
            <a:endParaRPr lang="en-US" altLang="zh-CN" sz="2000" b="1">
              <a:solidFill>
                <a:schemeClr val="dk1"/>
              </a:solidFill>
              <a:latin typeface="华文楷体" panose="02010600040101010101" charset="-122"/>
              <a:ea typeface="华文楷体" panose="02010600040101010101" charset="-122"/>
              <a:cs typeface="华文楷体" panose="02010600040101010101" charset="-122"/>
              <a:sym typeface="+mn-ea"/>
            </a:endParaRPr>
          </a:p>
          <a:p>
            <a:pPr indent="0" fontAlgn="auto">
              <a:lnSpc>
                <a:spcPts val="2330"/>
              </a:lnSpc>
              <a:spcBef>
                <a:spcPct val="0"/>
              </a:spcBef>
              <a:spcAft>
                <a:spcPct val="0"/>
              </a:spcAft>
              <a:buFont typeface="Arial" panose="020B0604020202020204"/>
              <a:buNone/>
            </a:pPr>
            <a:endParaRPr lang="en-US" altLang="zh-CN" sz="2000" b="1">
              <a:solidFill>
                <a:schemeClr val="dk1"/>
              </a:solidFill>
              <a:latin typeface="华文楷体" panose="02010600040101010101" charset="-122"/>
              <a:ea typeface="华文楷体" panose="02010600040101010101" charset="-122"/>
              <a:cs typeface="华文楷体" panose="02010600040101010101" charset="-122"/>
              <a:sym typeface="+mn-ea"/>
            </a:endParaRPr>
          </a:p>
          <a:p>
            <a:pPr indent="0" fontAlgn="auto">
              <a:lnSpc>
                <a:spcPts val="2330"/>
              </a:lnSpc>
              <a:spcBef>
                <a:spcPct val="0"/>
              </a:spcBef>
              <a:spcAft>
                <a:spcPct val="0"/>
              </a:spcAft>
              <a:buFont typeface="Arial" panose="020B0604020202020204"/>
              <a:buNone/>
            </a:pPr>
            <a:r>
              <a:rPr lang="zh-CN" altLang="en-US" sz="2000">
                <a:solidFill>
                  <a:schemeClr val="dk1"/>
                </a:solidFill>
                <a:latin typeface="华文楷体" panose="02010600040101010101" charset="-122"/>
                <a:ea typeface="华文楷体" panose="02010600040101010101" charset="-122"/>
                <a:cs typeface="华文楷体" panose="02010600040101010101" charset="-122"/>
                <a:sym typeface="+mn-ea"/>
              </a:rPr>
              <a:t>③</a:t>
            </a:r>
            <a:r>
              <a:rPr lang="en-US" altLang="zh-CN" sz="2000">
                <a:solidFill>
                  <a:schemeClr val="dk1"/>
                </a:solidFill>
                <a:latin typeface="华文楷体" panose="02010600040101010101" charset="-122"/>
                <a:ea typeface="华文楷体" panose="02010600040101010101" charset="-122"/>
                <a:cs typeface="华文楷体" panose="02010600040101010101" charset="-122"/>
                <a:sym typeface="+mn-ea"/>
              </a:rPr>
              <a:t>在保持模型通用性的同时实现</a:t>
            </a:r>
            <a:r>
              <a:rPr lang="en-US" altLang="zh-CN" sz="2000" b="1">
                <a:solidFill>
                  <a:srgbClr val="FF0000"/>
                </a:solidFill>
                <a:latin typeface="华文楷体" panose="02010600040101010101" charset="-122"/>
                <a:ea typeface="华文楷体" panose="02010600040101010101" charset="-122"/>
                <a:cs typeface="华文楷体" panose="02010600040101010101" charset="-122"/>
                <a:sym typeface="+mn-ea"/>
              </a:rPr>
              <a:t>性能突破</a:t>
            </a:r>
            <a:endParaRPr lang="en-US" altLang="zh-CN" sz="2000" b="0" i="0">
              <a:solidFill>
                <a:schemeClr val="dk1"/>
              </a:solidFill>
              <a:latin typeface="华文楷体" panose="02010600040101010101" charset="-122"/>
              <a:ea typeface="华文楷体" panose="02010600040101010101" charset="-122"/>
              <a:cs typeface="华文楷体" panose="02010600040101010101" charset="-122"/>
            </a:endParaRPr>
          </a:p>
          <a:p>
            <a:pPr marL="0" indent="0" fontAlgn="auto">
              <a:lnSpc>
                <a:spcPts val="2030"/>
              </a:lnSpc>
              <a:spcBef>
                <a:spcPct val="0"/>
              </a:spcBef>
              <a:spcAft>
                <a:spcPct val="0"/>
              </a:spcAft>
              <a:buFont typeface="Arial" panose="020B0604020202020204"/>
              <a:buNone/>
            </a:pPr>
            <a:endParaRPr lang="en-US" altLang="zh-CN" sz="2000" b="0" i="0">
              <a:solidFill>
                <a:schemeClr val="dk1"/>
              </a:solidFill>
              <a:latin typeface="华文楷体" panose="02010600040101010101" charset="-122"/>
              <a:ea typeface="华文楷体" panose="02010600040101010101" charset="-122"/>
              <a:cs typeface="华文楷体" panose="0201060004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矩形 8"/>
          <p:cNvSpPr>
            <a:spLocks noChangeArrowheads="1"/>
          </p:cNvSpPr>
          <p:nvPr>
            <p:custDataLst>
              <p:tags r:id="rId1"/>
            </p:custDataLst>
          </p:nvPr>
        </p:nvSpPr>
        <p:spPr bwMode="auto">
          <a:xfrm>
            <a:off x="637540" y="4559300"/>
            <a:ext cx="3411220" cy="203009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8" name="矩形 7"/>
          <p:cNvSpPr>
            <a:spLocks noChangeArrowheads="1"/>
          </p:cNvSpPr>
          <p:nvPr>
            <p:custDataLst>
              <p:tags r:id="rId2"/>
            </p:custDataLst>
          </p:nvPr>
        </p:nvSpPr>
        <p:spPr bwMode="auto">
          <a:xfrm>
            <a:off x="4349750" y="4547235"/>
            <a:ext cx="3411220" cy="203009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17" name="矩形 16"/>
          <p:cNvSpPr>
            <a:spLocks noChangeArrowheads="1"/>
          </p:cNvSpPr>
          <p:nvPr>
            <p:custDataLst>
              <p:tags r:id="rId3"/>
            </p:custDataLst>
          </p:nvPr>
        </p:nvSpPr>
        <p:spPr bwMode="auto">
          <a:xfrm>
            <a:off x="8105140" y="4548505"/>
            <a:ext cx="3411220" cy="203009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23" name="矩形 22"/>
          <p:cNvSpPr/>
          <p:nvPr/>
        </p:nvSpPr>
        <p:spPr>
          <a:xfrm>
            <a:off x="1152000" y="288000"/>
            <a:ext cx="24688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诊断性实验</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graphicFrame>
        <p:nvGraphicFramePr>
          <p:cNvPr id="15" name="对象 14">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5" imgW="114300" imgH="215900" progId="Equation.KSEE3">
                  <p:embed/>
                </p:oleObj>
              </mc:Choice>
              <mc:Fallback>
                <p:oleObj name="" r:id="rId5" imgW="114300" imgH="215900" progId="Equation.KSEE3">
                  <p:embed/>
                  <p:pic>
                    <p:nvPicPr>
                      <p:cNvPr id="0" name="图片 1024"/>
                      <p:cNvPicPr/>
                      <p:nvPr/>
                    </p:nvPicPr>
                    <p:blipFill>
                      <a:blip r:embed="rId6"/>
                      <a:stretch>
                        <a:fillRect/>
                      </a:stretch>
                    </p:blipFill>
                    <p:spPr>
                      <a:xfrm>
                        <a:off x="6038850" y="3321050"/>
                        <a:ext cx="114300" cy="215900"/>
                      </a:xfrm>
                      <a:prstGeom prst="rect">
                        <a:avLst/>
                      </a:prstGeom>
                    </p:spPr>
                  </p:pic>
                </p:oleObj>
              </mc:Fallback>
            </mc:AlternateContent>
          </a:graphicData>
        </a:graphic>
      </p:graphicFrame>
      <p:pic>
        <p:nvPicPr>
          <p:cNvPr id="5" name="图片 4"/>
          <p:cNvPicPr>
            <a:picLocks noChangeAspect="1"/>
          </p:cNvPicPr>
          <p:nvPr/>
        </p:nvPicPr>
        <p:blipFill>
          <a:blip r:embed="rId7"/>
          <a:srcRect b="36104"/>
          <a:stretch>
            <a:fillRect/>
          </a:stretch>
        </p:blipFill>
        <p:spPr>
          <a:xfrm>
            <a:off x="1903095" y="1015365"/>
            <a:ext cx="8154035" cy="3099435"/>
          </a:xfrm>
          <a:prstGeom prst="rect">
            <a:avLst/>
          </a:prstGeom>
        </p:spPr>
      </p:pic>
      <p:sp>
        <p:nvSpPr>
          <p:cNvPr id="7" name="文本框 6"/>
          <p:cNvSpPr txBox="1"/>
          <p:nvPr/>
        </p:nvSpPr>
        <p:spPr>
          <a:xfrm>
            <a:off x="1374140" y="4192905"/>
            <a:ext cx="8923655" cy="693420"/>
          </a:xfrm>
          <a:prstGeom prst="rect">
            <a:avLst/>
          </a:prstGeom>
          <a:noFill/>
        </p:spPr>
        <p:txBody>
          <a:bodyPr wrap="square" rtlCol="0" anchor="t">
            <a:noAutofit/>
          </a:bodyPr>
          <a:p>
            <a:pPr indent="457200"/>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基于</a:t>
            </a:r>
            <a:r>
              <a:rPr lang="en-US" altLang="zh-CN" b="1">
                <a:solidFill>
                  <a:srgbClr val="FF0000"/>
                </a:solidFill>
                <a:latin typeface="华文楷体" panose="02010600040101010101" charset="-122"/>
                <a:ea typeface="华文楷体" panose="02010600040101010101" charset="-122"/>
                <a:cs typeface="华文楷体" panose="02010600040101010101" charset="-122"/>
                <a:sym typeface="+mn-ea"/>
              </a:rPr>
              <a:t>DeepLabV3+</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a:t>
            </a:r>
            <a:r>
              <a:rPr lang="en-US" altLang="zh-CN" b="1">
                <a:solidFill>
                  <a:srgbClr val="FF0000"/>
                </a:solidFill>
                <a:latin typeface="华文楷体" panose="02010600040101010101" charset="-122"/>
                <a:ea typeface="华文楷体" panose="02010600040101010101" charset="-122"/>
                <a:cs typeface="华文楷体" panose="02010600040101010101" charset="-122"/>
                <a:sym typeface="+mn-ea"/>
              </a:rPr>
              <a:t>ResNet-101</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骨干）</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在</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Mapillary Vistas 2.0</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验证集上进行</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消融研究</a:t>
            </a:r>
            <a:endPar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endParaRPr>
          </a:p>
        </p:txBody>
      </p:sp>
      <p:sp>
        <p:nvSpPr>
          <p:cNvPr id="3" name="文本框 2"/>
          <p:cNvSpPr txBox="1"/>
          <p:nvPr/>
        </p:nvSpPr>
        <p:spPr>
          <a:xfrm>
            <a:off x="808355" y="4591685"/>
            <a:ext cx="3268345" cy="2061210"/>
          </a:xfrm>
          <a:prstGeom prst="rect">
            <a:avLst/>
          </a:prstGeom>
        </p:spPr>
        <p:txBody>
          <a:bodyPr wrap="square">
            <a:spAutoFit/>
          </a:bodyPr>
          <a:p>
            <a:pPr marL="0" indent="0"/>
            <a:r>
              <a:rPr lang="en-US" altLang="zh-CN" sz="2000" b="1" i="0">
                <a:solidFill>
                  <a:srgbClr val="1C1F23"/>
                </a:solidFill>
                <a:latin typeface="仿宋" panose="02010609060101010101" charset="-122"/>
                <a:ea typeface="仿宋" panose="02010609060101010101" charset="-122"/>
                <a:cs typeface="华文楷体" panose="02010600040101010101" charset="-122"/>
              </a:rPr>
              <a:t>逻辑诱导训练分析</a:t>
            </a:r>
            <a:endParaRPr lang="en-US" altLang="zh-CN" sz="2000" b="1" i="0">
              <a:solidFill>
                <a:srgbClr val="1C1F23"/>
              </a:solidFill>
              <a:latin typeface="仿宋" panose="02010609060101010101" charset="-122"/>
              <a:ea typeface="仿宋" panose="02010609060101010101" charset="-122"/>
              <a:cs typeface="华文楷体" panose="02010600040101010101" charset="-122"/>
            </a:endParaRPr>
          </a:p>
          <a:p>
            <a:pPr marL="0" indent="0"/>
            <a:r>
              <a:rPr lang="zh-CN" altLang="en-US" b="1" i="0">
                <a:solidFill>
                  <a:srgbClr val="FF0000"/>
                </a:solidFill>
                <a:latin typeface="华文楷体" panose="02010600040101010101" charset="-122"/>
                <a:ea typeface="华文楷体" panose="02010600040101010101" charset="-122"/>
                <a:cs typeface="华文楷体" panose="02010600040101010101" charset="-122"/>
              </a:rPr>
              <a:t>基线模型</a:t>
            </a:r>
            <a:r>
              <a:rPr lang="zh-CN" altLang="en-US" i="0">
                <a:solidFill>
                  <a:srgbClr val="1C1F23"/>
                </a:solidFill>
                <a:latin typeface="华文楷体" panose="02010600040101010101" charset="-122"/>
                <a:ea typeface="华文楷体" panose="02010600040101010101" charset="-122"/>
                <a:cs typeface="华文楷体" panose="02010600040101010101" charset="-122"/>
              </a:rPr>
              <a:t>：原始</a:t>
            </a:r>
            <a:r>
              <a:rPr lang="en-US" altLang="zh-CN" i="0">
                <a:solidFill>
                  <a:srgbClr val="1C1F23"/>
                </a:solidFill>
                <a:latin typeface="华文楷体" panose="02010600040101010101" charset="-122"/>
                <a:ea typeface="华文楷体" panose="02010600040101010101" charset="-122"/>
                <a:cs typeface="华文楷体" panose="02010600040101010101" charset="-122"/>
              </a:rPr>
              <a:t>DeepLabV3+</a:t>
            </a:r>
            <a:endParaRPr lang="en-US" altLang="zh-CN" i="0">
              <a:solidFill>
                <a:srgbClr val="1C1F23"/>
              </a:solidFill>
              <a:latin typeface="华文楷体" panose="02010600040101010101" charset="-122"/>
              <a:ea typeface="华文楷体" panose="02010600040101010101" charset="-122"/>
              <a:cs typeface="华文楷体" panose="02010600040101010101" charset="-122"/>
            </a:endParaRPr>
          </a:p>
          <a:p>
            <a:pPr marL="0" indent="0"/>
            <a:r>
              <a:rPr lang="zh-CN" altLang="en-US" b="1" i="0">
                <a:solidFill>
                  <a:srgbClr val="FF0000"/>
                </a:solidFill>
                <a:latin typeface="华文楷体" panose="02010600040101010101" charset="-122"/>
                <a:ea typeface="华文楷体" panose="02010600040101010101" charset="-122"/>
                <a:cs typeface="华文楷体" panose="02010600040101010101" charset="-122"/>
              </a:rPr>
              <a:t>单规则增益</a:t>
            </a:r>
            <a:r>
              <a:rPr lang="zh-CN" altLang="en-US" i="0">
                <a:solidFill>
                  <a:srgbClr val="1C1F23"/>
                </a:solidFill>
                <a:latin typeface="华文楷体" panose="02010600040101010101" charset="-122"/>
                <a:ea typeface="华文楷体" panose="02010600040101010101" charset="-122"/>
                <a:cs typeface="华文楷体" panose="02010600040101010101" charset="-122"/>
              </a:rPr>
              <a:t>：</a:t>
            </a:r>
            <a:endParaRPr lang="en-US" altLang="zh-CN" i="0">
              <a:solidFill>
                <a:srgbClr val="1C1F23"/>
              </a:solidFill>
              <a:latin typeface="华文楷体" panose="02010600040101010101" charset="-122"/>
              <a:ea typeface="华文楷体" panose="02010600040101010101" charset="-122"/>
              <a:cs typeface="华文楷体" panose="02010600040101010101" charset="-122"/>
            </a:endParaRPr>
          </a:p>
          <a:p>
            <a:pPr marL="0" indent="457200"/>
            <a:r>
              <a:rPr lang="zh-CN" altLang="en-US" i="0">
                <a:solidFill>
                  <a:srgbClr val="1C1F23"/>
                </a:solidFill>
                <a:latin typeface="华文楷体" panose="02010600040101010101" charset="-122"/>
                <a:ea typeface="华文楷体" panose="02010600040101010101" charset="-122"/>
                <a:cs typeface="华文楷体" panose="02010600040101010101" charset="-122"/>
              </a:rPr>
              <a:t>仅添加</a:t>
            </a:r>
            <a:r>
              <a:rPr lang="en-US" altLang="zh-CN" i="0">
                <a:solidFill>
                  <a:srgbClr val="1C1F23"/>
                </a:solidFill>
                <a:latin typeface="华文楷体" panose="02010600040101010101" charset="-122"/>
                <a:ea typeface="华文楷体" panose="02010600040101010101" charset="-122"/>
                <a:cs typeface="华文楷体" panose="02010600040101010101" charset="-122"/>
              </a:rPr>
              <a:t>C-rule</a:t>
            </a:r>
            <a:r>
              <a:rPr lang="zh-CN" altLang="en-US" i="0">
                <a:solidFill>
                  <a:srgbClr val="1C1F23"/>
                </a:solidFill>
                <a:latin typeface="华文楷体" panose="02010600040101010101" charset="-122"/>
                <a:ea typeface="华文楷体" panose="02010600040101010101" charset="-122"/>
                <a:cs typeface="华文楷体" panose="02010600040101010101" charset="-122"/>
              </a:rPr>
              <a:t>损失</a:t>
            </a:r>
            <a:endParaRPr lang="en-US" altLang="zh-CN" i="0">
              <a:solidFill>
                <a:srgbClr val="1C1F23"/>
              </a:solidFill>
              <a:latin typeface="华文楷体" panose="02010600040101010101" charset="-122"/>
              <a:ea typeface="华文楷体" panose="02010600040101010101" charset="-122"/>
              <a:cs typeface="华文楷体" panose="02010600040101010101" charset="-122"/>
            </a:endParaRPr>
          </a:p>
          <a:p>
            <a:pPr marL="0" indent="457200"/>
            <a:r>
              <a:rPr lang="zh-CN" altLang="en-US" i="0">
                <a:solidFill>
                  <a:srgbClr val="1C1F23"/>
                </a:solidFill>
                <a:latin typeface="华文楷体" panose="02010600040101010101" charset="-122"/>
                <a:ea typeface="华文楷体" panose="02010600040101010101" charset="-122"/>
                <a:cs typeface="华文楷体" panose="02010600040101010101" charset="-122"/>
              </a:rPr>
              <a:t>仅添加</a:t>
            </a:r>
            <a:r>
              <a:rPr lang="en-US" altLang="zh-CN" i="0">
                <a:solidFill>
                  <a:srgbClr val="1C1F23"/>
                </a:solidFill>
                <a:latin typeface="华文楷体" panose="02010600040101010101" charset="-122"/>
                <a:ea typeface="华文楷体" panose="02010600040101010101" charset="-122"/>
                <a:cs typeface="华文楷体" panose="02010600040101010101" charset="-122"/>
              </a:rPr>
              <a:t>D-rule</a:t>
            </a:r>
            <a:r>
              <a:rPr lang="zh-CN" altLang="en-US" i="0">
                <a:solidFill>
                  <a:srgbClr val="1C1F23"/>
                </a:solidFill>
                <a:latin typeface="华文楷体" panose="02010600040101010101" charset="-122"/>
                <a:ea typeface="华文楷体" panose="02010600040101010101" charset="-122"/>
                <a:cs typeface="华文楷体" panose="02010600040101010101" charset="-122"/>
              </a:rPr>
              <a:t>损失</a:t>
            </a:r>
            <a:endParaRPr lang="en-US" altLang="zh-CN" i="0">
              <a:solidFill>
                <a:srgbClr val="1C1F23"/>
              </a:solidFill>
              <a:latin typeface="华文楷体" panose="02010600040101010101" charset="-122"/>
              <a:ea typeface="华文楷体" panose="02010600040101010101" charset="-122"/>
              <a:cs typeface="华文楷体" panose="02010600040101010101" charset="-122"/>
            </a:endParaRPr>
          </a:p>
          <a:p>
            <a:pPr marL="0" indent="457200"/>
            <a:r>
              <a:rPr lang="zh-CN" altLang="en-US" i="0">
                <a:solidFill>
                  <a:srgbClr val="1C1F23"/>
                </a:solidFill>
                <a:latin typeface="华文楷体" panose="02010600040101010101" charset="-122"/>
                <a:ea typeface="华文楷体" panose="02010600040101010101" charset="-122"/>
                <a:cs typeface="华文楷体" panose="02010600040101010101" charset="-122"/>
              </a:rPr>
              <a:t>仅添加</a:t>
            </a:r>
            <a:r>
              <a:rPr lang="en-US" altLang="zh-CN" i="0">
                <a:solidFill>
                  <a:srgbClr val="1C1F23"/>
                </a:solidFill>
                <a:latin typeface="华文楷体" panose="02010600040101010101" charset="-122"/>
                <a:ea typeface="华文楷体" panose="02010600040101010101" charset="-122"/>
                <a:cs typeface="华文楷体" panose="02010600040101010101" charset="-122"/>
              </a:rPr>
              <a:t>E-rule</a:t>
            </a:r>
            <a:r>
              <a:rPr lang="zh-CN" altLang="en-US" i="0">
                <a:solidFill>
                  <a:srgbClr val="1C1F23"/>
                </a:solidFill>
                <a:latin typeface="华文楷体" panose="02010600040101010101" charset="-122"/>
                <a:ea typeface="华文楷体" panose="02010600040101010101" charset="-122"/>
                <a:cs typeface="华文楷体" panose="02010600040101010101" charset="-122"/>
              </a:rPr>
              <a:t>损失</a:t>
            </a:r>
            <a:endParaRPr lang="zh-CN" altLang="en-US" i="0">
              <a:solidFill>
                <a:srgbClr val="1C1F23"/>
              </a:solidFill>
              <a:latin typeface="华文楷体" panose="02010600040101010101" charset="-122"/>
              <a:ea typeface="华文楷体" panose="02010600040101010101" charset="-122"/>
              <a:cs typeface="华文楷体" panose="02010600040101010101" charset="-122"/>
            </a:endParaRPr>
          </a:p>
          <a:p>
            <a:pPr marL="0" indent="0"/>
            <a:r>
              <a:rPr lang="zh-CN" altLang="en-US" b="1" i="0">
                <a:solidFill>
                  <a:srgbClr val="FF0000"/>
                </a:solidFill>
                <a:latin typeface="华文楷体" panose="02010600040101010101" charset="-122"/>
                <a:ea typeface="华文楷体" panose="02010600040101010101" charset="-122"/>
                <a:cs typeface="华文楷体" panose="02010600040101010101" charset="-122"/>
              </a:rPr>
              <a:t>全规则组合</a:t>
            </a:r>
            <a:endParaRPr lang="zh-CN" altLang="en-US" b="1" i="0">
              <a:solidFill>
                <a:srgbClr val="FF0000"/>
              </a:solidFill>
              <a:latin typeface="华文楷体" panose="02010600040101010101" charset="-122"/>
              <a:ea typeface="华文楷体" panose="02010600040101010101" charset="-122"/>
              <a:cs typeface="华文楷体" panose="02010600040101010101" charset="-122"/>
            </a:endParaRPr>
          </a:p>
        </p:txBody>
      </p:sp>
      <p:sp>
        <p:nvSpPr>
          <p:cNvPr id="4" name="文本框 3"/>
          <p:cNvSpPr txBox="1"/>
          <p:nvPr/>
        </p:nvSpPr>
        <p:spPr>
          <a:xfrm>
            <a:off x="4486275" y="4559300"/>
            <a:ext cx="3268345" cy="2030095"/>
          </a:xfrm>
          <a:prstGeom prst="rect">
            <a:avLst/>
          </a:prstGeom>
        </p:spPr>
        <p:txBody>
          <a:bodyPr wrap="square">
            <a:spAutoFit/>
          </a:bodyPr>
          <a:p>
            <a:pPr marL="0" indent="0"/>
            <a:r>
              <a:rPr lang="zh-CN" altLang="en-US" sz="1800" b="1" i="0">
                <a:solidFill>
                  <a:srgbClr val="1C1F23"/>
                </a:solidFill>
                <a:latin typeface="仿宋" panose="02010609060101010101" charset="-122"/>
                <a:ea typeface="仿宋" panose="02010609060101010101" charset="-122"/>
                <a:cs typeface="华文楷体" panose="02010600040101010101" charset="-122"/>
              </a:rPr>
              <a:t>逻辑诱导推理分析</a:t>
            </a:r>
            <a:endParaRPr lang="zh-CN" altLang="en-US" sz="1800" b="1" i="0">
              <a:solidFill>
                <a:srgbClr val="1C1F23"/>
              </a:solidFill>
              <a:latin typeface="仿宋" panose="02010609060101010101" charset="-122"/>
              <a:ea typeface="仿宋" panose="02010609060101010101" charset="-122"/>
              <a:cs typeface="华文楷体" panose="02010600040101010101" charset="-122"/>
            </a:endParaRPr>
          </a:p>
          <a:p>
            <a:pPr marL="0" indent="0"/>
            <a:r>
              <a:rPr lang="zh-CN" altLang="en-US" b="1" i="0">
                <a:solidFill>
                  <a:srgbClr val="FF0000"/>
                </a:solidFill>
                <a:latin typeface="华文楷体" panose="02010600040101010101" charset="-122"/>
                <a:ea typeface="华文楷体" panose="02010600040101010101" charset="-122"/>
                <a:cs typeface="华文楷体" panose="02010600040101010101" charset="-122"/>
              </a:rPr>
              <a:t>纯前向推理</a:t>
            </a:r>
            <a:r>
              <a:rPr lang="zh-CN" altLang="en-US" i="0">
                <a:solidFill>
                  <a:srgbClr val="1C1F23"/>
                </a:solidFill>
                <a:latin typeface="华文楷体" panose="02010600040101010101" charset="-122"/>
                <a:ea typeface="华文楷体" panose="02010600040101010101" charset="-122"/>
                <a:cs typeface="华文楷体" panose="02010600040101010101" charset="-122"/>
              </a:rPr>
              <a:t>：基础网络输出</a:t>
            </a:r>
            <a:endParaRPr lang="en-US" altLang="zh-CN" i="0">
              <a:solidFill>
                <a:srgbClr val="1C1F23"/>
              </a:solidFill>
              <a:latin typeface="华文楷体" panose="02010600040101010101" charset="-122"/>
              <a:ea typeface="华文楷体" panose="02010600040101010101" charset="-122"/>
              <a:cs typeface="华文楷体" panose="02010600040101010101" charset="-122"/>
            </a:endParaRPr>
          </a:p>
          <a:p>
            <a:pPr marL="0" indent="0"/>
            <a:r>
              <a:rPr lang="zh-CN" altLang="en-US" b="1" i="0">
                <a:solidFill>
                  <a:srgbClr val="FF0000"/>
                </a:solidFill>
                <a:latin typeface="华文楷体" panose="02010600040101010101" charset="-122"/>
                <a:ea typeface="华文楷体" panose="02010600040101010101" charset="-122"/>
                <a:cs typeface="华文楷体" panose="02010600040101010101" charset="-122"/>
              </a:rPr>
              <a:t>消息传递迭代</a:t>
            </a:r>
            <a:r>
              <a:rPr lang="zh-CN" altLang="en-US" i="0">
                <a:solidFill>
                  <a:srgbClr val="1C1F23"/>
                </a:solidFill>
                <a:latin typeface="华文楷体" panose="02010600040101010101" charset="-122"/>
                <a:ea typeface="华文楷体" panose="02010600040101010101" charset="-122"/>
                <a:cs typeface="华文楷体" panose="02010600040101010101" charset="-122"/>
              </a:rPr>
              <a:t>：</a:t>
            </a:r>
            <a:endParaRPr lang="en-US" altLang="zh-CN" i="0">
              <a:solidFill>
                <a:srgbClr val="1C1F23"/>
              </a:solidFill>
              <a:latin typeface="华文楷体" panose="02010600040101010101" charset="-122"/>
              <a:ea typeface="华文楷体" panose="02010600040101010101" charset="-122"/>
              <a:cs typeface="华文楷体" panose="02010600040101010101" charset="-122"/>
            </a:endParaRPr>
          </a:p>
          <a:p>
            <a:pPr marL="0" indent="457200"/>
            <a:r>
              <a:rPr lang="en-US" altLang="zh-CN" i="0">
                <a:solidFill>
                  <a:srgbClr val="1C1F23"/>
                </a:solidFill>
                <a:latin typeface="华文楷体" panose="02010600040101010101" charset="-122"/>
                <a:ea typeface="华文楷体" panose="02010600040101010101" charset="-122"/>
                <a:cs typeface="华文楷体" panose="02010600040101010101" charset="-122"/>
              </a:rPr>
              <a:t>1</a:t>
            </a:r>
            <a:r>
              <a:rPr lang="zh-CN" altLang="en-US" i="0">
                <a:solidFill>
                  <a:srgbClr val="1C1F23"/>
                </a:solidFill>
                <a:latin typeface="华文楷体" panose="02010600040101010101" charset="-122"/>
                <a:ea typeface="华文楷体" panose="02010600040101010101" charset="-122"/>
                <a:cs typeface="华文楷体" panose="02010600040101010101" charset="-122"/>
              </a:rPr>
              <a:t>次迭代</a:t>
            </a:r>
            <a:endParaRPr lang="en-US" altLang="zh-CN" i="0">
              <a:solidFill>
                <a:srgbClr val="1C1F23"/>
              </a:solidFill>
              <a:latin typeface="华文楷体" panose="02010600040101010101" charset="-122"/>
              <a:ea typeface="华文楷体" panose="02010600040101010101" charset="-122"/>
              <a:cs typeface="华文楷体" panose="02010600040101010101" charset="-122"/>
            </a:endParaRPr>
          </a:p>
          <a:p>
            <a:pPr marL="0" indent="457200"/>
            <a:r>
              <a:rPr lang="en-US" altLang="zh-CN" i="0">
                <a:solidFill>
                  <a:srgbClr val="1C1F23"/>
                </a:solidFill>
                <a:latin typeface="华文楷体" panose="02010600040101010101" charset="-122"/>
                <a:ea typeface="华文楷体" panose="02010600040101010101" charset="-122"/>
                <a:cs typeface="华文楷体" panose="02010600040101010101" charset="-122"/>
              </a:rPr>
              <a:t>2</a:t>
            </a:r>
            <a:r>
              <a:rPr lang="zh-CN" altLang="en-US" i="0">
                <a:solidFill>
                  <a:srgbClr val="1C1F23"/>
                </a:solidFill>
                <a:latin typeface="华文楷体" panose="02010600040101010101" charset="-122"/>
                <a:ea typeface="华文楷体" panose="02010600040101010101" charset="-122"/>
                <a:cs typeface="华文楷体" panose="02010600040101010101" charset="-122"/>
              </a:rPr>
              <a:t>次迭代</a:t>
            </a:r>
            <a:endParaRPr lang="en-US" altLang="zh-CN" i="0">
              <a:solidFill>
                <a:srgbClr val="1C1F23"/>
              </a:solidFill>
              <a:latin typeface="华文楷体" panose="02010600040101010101" charset="-122"/>
              <a:ea typeface="华文楷体" panose="02010600040101010101" charset="-122"/>
              <a:cs typeface="华文楷体" panose="02010600040101010101" charset="-122"/>
            </a:endParaRPr>
          </a:p>
          <a:p>
            <a:pPr marL="0" indent="457200"/>
            <a:r>
              <a:rPr lang="en-US" altLang="zh-CN" i="0">
                <a:solidFill>
                  <a:srgbClr val="1C1F23"/>
                </a:solidFill>
                <a:latin typeface="华文楷体" panose="02010600040101010101" charset="-122"/>
                <a:ea typeface="华文楷体" panose="02010600040101010101" charset="-122"/>
                <a:cs typeface="华文楷体" panose="02010600040101010101" charset="-122"/>
              </a:rPr>
              <a:t>3</a:t>
            </a:r>
            <a:r>
              <a:rPr lang="zh-CN" altLang="en-US" i="0">
                <a:solidFill>
                  <a:srgbClr val="1C1F23"/>
                </a:solidFill>
                <a:latin typeface="华文楷体" panose="02010600040101010101" charset="-122"/>
                <a:ea typeface="华文楷体" panose="02010600040101010101" charset="-122"/>
                <a:cs typeface="华文楷体" panose="02010600040101010101" charset="-122"/>
              </a:rPr>
              <a:t>次迭代</a:t>
            </a:r>
            <a:endParaRPr lang="zh-CN" altLang="en-US" i="0">
              <a:solidFill>
                <a:srgbClr val="1C1F23"/>
              </a:solidFill>
              <a:latin typeface="华文楷体" panose="02010600040101010101" charset="-122"/>
              <a:ea typeface="华文楷体" panose="02010600040101010101" charset="-122"/>
              <a:cs typeface="华文楷体" panose="02010600040101010101" charset="-122"/>
            </a:endParaRPr>
          </a:p>
          <a:p>
            <a:pPr marL="0" indent="0"/>
            <a:r>
              <a:rPr lang="zh-CN" altLang="en-US" b="1" i="0">
                <a:solidFill>
                  <a:srgbClr val="FF0000"/>
                </a:solidFill>
                <a:latin typeface="华文楷体" panose="02010600040101010101" charset="-122"/>
                <a:ea typeface="华文楷体" panose="02010600040101010101" charset="-122"/>
                <a:cs typeface="华文楷体" panose="02010600040101010101" charset="-122"/>
              </a:rPr>
              <a:t>推理速度</a:t>
            </a:r>
            <a:endParaRPr lang="zh-CN" altLang="en-US" b="1" i="0">
              <a:solidFill>
                <a:srgbClr val="FF0000"/>
              </a:solidFill>
              <a:latin typeface="华文楷体" panose="02010600040101010101" charset="-122"/>
              <a:ea typeface="华文楷体" panose="02010600040101010101" charset="-122"/>
              <a:cs typeface="华文楷体" panose="02010600040101010101" charset="-122"/>
            </a:endParaRPr>
          </a:p>
        </p:txBody>
      </p:sp>
      <p:sp>
        <p:nvSpPr>
          <p:cNvPr id="6" name="文本框 5"/>
          <p:cNvSpPr txBox="1"/>
          <p:nvPr/>
        </p:nvSpPr>
        <p:spPr>
          <a:xfrm>
            <a:off x="8126730" y="4590415"/>
            <a:ext cx="3411220" cy="2306955"/>
          </a:xfrm>
          <a:prstGeom prst="rect">
            <a:avLst/>
          </a:prstGeom>
        </p:spPr>
        <p:txBody>
          <a:bodyPr wrap="square">
            <a:spAutoFit/>
          </a:bodyPr>
          <a:p>
            <a:pPr marL="0" indent="0" algn="l"/>
            <a:r>
              <a:rPr lang="zh-CN" altLang="en-US" sz="1800" b="1" i="0">
                <a:solidFill>
                  <a:srgbClr val="1C1F23"/>
                </a:solidFill>
                <a:latin typeface="仿宋" panose="02010609060101010101" charset="-122"/>
                <a:ea typeface="仿宋" panose="02010609060101010101" charset="-122"/>
                <a:cs typeface="华文楷体" panose="02010600040101010101" charset="-122"/>
              </a:rPr>
              <a:t>量化聚合系数</a:t>
            </a:r>
            <a:r>
              <a:rPr lang="zh-CN" altLang="en-US" b="1">
                <a:solidFill>
                  <a:srgbClr val="1C1F23"/>
                </a:solidFill>
                <a:latin typeface="仿宋" panose="02010609060101010101" charset="-122"/>
                <a:ea typeface="仿宋" panose="02010609060101010101" charset="-122"/>
                <a:cs typeface="华文楷体" panose="02010600040101010101" charset="-122"/>
                <a:sym typeface="+mn-ea"/>
              </a:rPr>
              <a:t>分析</a:t>
            </a:r>
            <a:endParaRPr lang="zh-CN" altLang="en-US" sz="1800" b="1" i="0">
              <a:solidFill>
                <a:srgbClr val="1C1F23"/>
              </a:solidFill>
              <a:latin typeface="仿宋" panose="02010609060101010101" charset="-122"/>
              <a:ea typeface="仿宋" panose="02010609060101010101" charset="-122"/>
              <a:cs typeface="华文楷体" panose="02010600040101010101" charset="-122"/>
            </a:endParaRPr>
          </a:p>
          <a:p>
            <a:pPr marL="0" lvl="1" indent="0" algn="l"/>
            <a:r>
              <a:rPr lang="zh-CN" altLang="en-US" i="0">
                <a:solidFill>
                  <a:schemeClr val="tx1"/>
                </a:solidFill>
                <a:latin typeface="华文楷体" panose="02010600040101010101" charset="-122"/>
                <a:ea typeface="华文楷体" panose="02010600040101010101" charset="-122"/>
                <a:cs typeface="华文楷体" panose="02010600040101010101" charset="-122"/>
              </a:rPr>
              <a:t>基于广义均值近似</a:t>
            </a:r>
            <a:r>
              <a:rPr lang="en-US" altLang="zh-CN" i="0">
                <a:solidFill>
                  <a:schemeClr val="tx1"/>
                </a:solidFill>
                <a:latin typeface="华文楷体" panose="02010600040101010101" charset="-122"/>
                <a:ea typeface="华文楷体" panose="02010600040101010101" charset="-122"/>
                <a:cs typeface="华文楷体" panose="02010600040101010101" charset="-122"/>
              </a:rPr>
              <a:t>∀</a:t>
            </a:r>
            <a:r>
              <a:rPr lang="zh-CN" altLang="en-US" i="0">
                <a:solidFill>
                  <a:schemeClr val="tx1"/>
                </a:solidFill>
                <a:latin typeface="华文楷体" panose="02010600040101010101" charset="-122"/>
                <a:ea typeface="华文楷体" panose="02010600040101010101" charset="-122"/>
                <a:cs typeface="华文楷体" panose="02010600040101010101" charset="-122"/>
              </a:rPr>
              <a:t>量词，研究</a:t>
            </a:r>
            <a:r>
              <a:rPr lang="zh-CN" altLang="en-US">
                <a:latin typeface="华文楷体" panose="02010600040101010101" charset="-122"/>
                <a:ea typeface="华文楷体" panose="02010600040101010101" charset="-122"/>
                <a:cs typeface="华文楷体" panose="02010600040101010101" charset="-122"/>
                <a:sym typeface="+mn-ea"/>
              </a:rPr>
              <a:t>模型对语义确定性判断标准严格化，即</a:t>
            </a:r>
            <a:r>
              <a:rPr lang="zh-CN" altLang="en-US" b="1" i="0">
                <a:solidFill>
                  <a:srgbClr val="FF0000"/>
                </a:solidFill>
                <a:latin typeface="华文楷体" panose="02010600040101010101" charset="-122"/>
                <a:ea typeface="华文楷体" panose="02010600040101010101" charset="-122"/>
                <a:cs typeface="华文楷体" panose="02010600040101010101" charset="-122"/>
              </a:rPr>
              <a:t>系数</a:t>
            </a:r>
            <a:r>
              <a:rPr lang="en-US" altLang="zh-CN" b="1" i="0">
                <a:solidFill>
                  <a:srgbClr val="FF0000"/>
                </a:solidFill>
                <a:latin typeface="华文楷体" panose="02010600040101010101" charset="-122"/>
                <a:ea typeface="华文楷体" panose="02010600040101010101" charset="-122"/>
                <a:cs typeface="华文楷体" panose="02010600040101010101" charset="-122"/>
              </a:rPr>
              <a:t>q</a:t>
            </a:r>
            <a:r>
              <a:rPr lang="zh-CN" altLang="en-US" i="0">
                <a:solidFill>
                  <a:schemeClr val="tx1"/>
                </a:solidFill>
                <a:latin typeface="华文楷体" panose="02010600040101010101" charset="-122"/>
                <a:ea typeface="华文楷体" panose="02010600040101010101" charset="-122"/>
                <a:cs typeface="华文楷体" panose="02010600040101010101" charset="-122"/>
              </a:rPr>
              <a:t>的影响：</a:t>
            </a:r>
            <a:endParaRPr lang="en-US" altLang="zh-CN" i="0">
              <a:solidFill>
                <a:schemeClr val="tx1"/>
              </a:solidFill>
              <a:latin typeface="华文楷体" panose="02010600040101010101" charset="-122"/>
              <a:ea typeface="华文楷体" panose="02010600040101010101" charset="-122"/>
              <a:cs typeface="华文楷体" panose="02010600040101010101" charset="-122"/>
            </a:endParaRPr>
          </a:p>
          <a:p>
            <a:pPr marL="457200" lvl="1" indent="0" algn="l"/>
            <a:r>
              <a:rPr lang="en-US" altLang="zh-CN" i="0">
                <a:solidFill>
                  <a:schemeClr val="tx1"/>
                </a:solidFill>
                <a:latin typeface="华文楷体" panose="02010600040101010101" charset="-122"/>
                <a:ea typeface="华文楷体" panose="02010600040101010101" charset="-122"/>
                <a:cs typeface="华文楷体" panose="02010600040101010101" charset="-122"/>
              </a:rPr>
              <a:t>q=1       q=3</a:t>
            </a:r>
            <a:endParaRPr lang="en-US" altLang="zh-CN" i="0">
              <a:solidFill>
                <a:schemeClr val="tx1"/>
              </a:solidFill>
              <a:latin typeface="华文楷体" panose="02010600040101010101" charset="-122"/>
              <a:ea typeface="华文楷体" panose="02010600040101010101" charset="-122"/>
              <a:cs typeface="华文楷体" panose="02010600040101010101" charset="-122"/>
            </a:endParaRPr>
          </a:p>
          <a:p>
            <a:pPr marL="457200" lvl="1" indent="0" algn="l"/>
            <a:r>
              <a:rPr lang="en-US" altLang="zh-CN" i="0">
                <a:solidFill>
                  <a:schemeClr val="tx1"/>
                </a:solidFill>
                <a:latin typeface="华文楷体" panose="02010600040101010101" charset="-122"/>
                <a:ea typeface="华文楷体" panose="02010600040101010101" charset="-122"/>
                <a:cs typeface="华文楷体" panose="02010600040101010101" charset="-122"/>
              </a:rPr>
              <a:t>q=5       q=8</a:t>
            </a:r>
            <a:endParaRPr lang="en-US" altLang="zh-CN" i="0">
              <a:solidFill>
                <a:schemeClr val="tx1"/>
              </a:solidFill>
              <a:latin typeface="华文楷体" panose="02010600040101010101" charset="-122"/>
              <a:ea typeface="华文楷体" panose="02010600040101010101" charset="-122"/>
              <a:cs typeface="华文楷体" panose="02010600040101010101" charset="-122"/>
            </a:endParaRPr>
          </a:p>
          <a:p>
            <a:pPr marL="457200" lvl="1" indent="0" algn="l"/>
            <a:r>
              <a:rPr lang="en-US" altLang="zh-CN" i="0">
                <a:solidFill>
                  <a:schemeClr val="tx1"/>
                </a:solidFill>
                <a:latin typeface="华文楷体" panose="02010600040101010101" charset="-122"/>
                <a:ea typeface="华文楷体" panose="02010600040101010101" charset="-122"/>
                <a:cs typeface="华文楷体" panose="02010600040101010101" charset="-122"/>
              </a:rPr>
              <a:t>q=10</a:t>
            </a:r>
            <a:endParaRPr lang="en-US" altLang="zh-CN" i="0">
              <a:solidFill>
                <a:schemeClr val="tx1"/>
              </a:solidFill>
              <a:latin typeface="华文楷体" panose="02010600040101010101" charset="-122"/>
              <a:ea typeface="华文楷体" panose="02010600040101010101" charset="-122"/>
              <a:cs typeface="华文楷体" panose="02010600040101010101" charset="-122"/>
            </a:endParaRPr>
          </a:p>
          <a:p>
            <a:pPr marL="457200" lvl="1" indent="0" algn="l"/>
            <a:endParaRPr lang="zh-CN" altLang="en-US" i="0">
              <a:solidFill>
                <a:schemeClr val="tx1"/>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7" name="矩形 16"/>
          <p:cNvSpPr>
            <a:spLocks noChangeArrowheads="1"/>
          </p:cNvSpPr>
          <p:nvPr>
            <p:custDataLst>
              <p:tags r:id="rId1"/>
            </p:custDataLst>
          </p:nvPr>
        </p:nvSpPr>
        <p:spPr bwMode="auto">
          <a:xfrm>
            <a:off x="425450" y="2975610"/>
            <a:ext cx="11501755" cy="373443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23" name="矩形 22"/>
          <p:cNvSpPr/>
          <p:nvPr/>
        </p:nvSpPr>
        <p:spPr>
          <a:xfrm>
            <a:off x="1152000" y="288000"/>
            <a:ext cx="24688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lang="zh-CN" altLang="en-US" sz="3600" b="1" kern="0" noProof="0" dirty="0">
                <a:ln>
                  <a:noFill/>
                </a:ln>
                <a:solidFill>
                  <a:prstClr val="black">
                    <a:lumMod val="95000"/>
                    <a:lumOff val="5000"/>
                  </a:prstClr>
                </a:solidFill>
                <a:effectLst/>
                <a:uLnTx/>
                <a:uFillTx/>
                <a:latin typeface="微软雅黑" panose="020B0503020204020204" charset="-122"/>
                <a:ea typeface="微软雅黑" panose="020B0503020204020204" charset="-122"/>
                <a:sym typeface="+mn-ea"/>
              </a:rPr>
              <a:t>诊断性实验</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graphicFrame>
        <p:nvGraphicFramePr>
          <p:cNvPr id="15" name="对象 14">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6038850" y="3321050"/>
                        <a:ext cx="114300" cy="215900"/>
                      </a:xfrm>
                      <a:prstGeom prst="rect">
                        <a:avLst/>
                      </a:prstGeom>
                    </p:spPr>
                  </p:pic>
                </p:oleObj>
              </mc:Fallback>
            </mc:AlternateContent>
          </a:graphicData>
        </a:graphic>
      </p:graphicFrame>
      <p:sp>
        <p:nvSpPr>
          <p:cNvPr id="3" name="文本框 2"/>
          <p:cNvSpPr txBox="1"/>
          <p:nvPr/>
        </p:nvSpPr>
        <p:spPr>
          <a:xfrm>
            <a:off x="523875" y="3054985"/>
            <a:ext cx="11403330" cy="3599815"/>
          </a:xfrm>
          <a:prstGeom prst="rect">
            <a:avLst/>
          </a:prstGeom>
        </p:spPr>
        <p:txBody>
          <a:bodyPr wrap="square">
            <a:spAutoFit/>
          </a:bodyPr>
          <a:p>
            <a:pPr marL="0" lvl="0" indent="0" algn="l">
              <a:lnSpc>
                <a:spcPct val="100000"/>
              </a:lnSpc>
              <a:spcBef>
                <a:spcPts val="600"/>
              </a:spcBef>
              <a:buClrTx/>
              <a:buSzTx/>
              <a:buFont typeface="Arial" panose="020B0604020202020204"/>
            </a:pPr>
            <a:r>
              <a:rPr lang="zh-CN" altLang="en-US" sz="1800" b="1" i="0">
                <a:solidFill>
                  <a:srgbClr val="1C1F23"/>
                </a:solidFill>
                <a:latin typeface="华文楷体" panose="02010600040101010101" charset="-122"/>
                <a:ea typeface="华文楷体" panose="02010600040101010101" charset="-122"/>
                <a:cs typeface="华文楷体" panose="02010600040101010101" charset="-122"/>
              </a:rPr>
              <a:t>表5a验证了</a:t>
            </a:r>
            <a:r>
              <a:rPr lang="zh-CN" altLang="en-US" sz="1800" b="1" i="0">
                <a:solidFill>
                  <a:srgbClr val="FF0000"/>
                </a:solidFill>
                <a:latin typeface="华文楷体" panose="02010600040101010101" charset="-122"/>
                <a:ea typeface="华文楷体" panose="02010600040101010101" charset="-122"/>
                <a:cs typeface="华文楷体" panose="02010600040101010101" charset="-122"/>
              </a:rPr>
              <a:t>逻辑诱导训练策略</a:t>
            </a:r>
            <a:r>
              <a:rPr lang="zh-CN" altLang="en-US" sz="1800" b="1" i="0">
                <a:solidFill>
                  <a:srgbClr val="1C1F23"/>
                </a:solidFill>
                <a:latin typeface="华文楷体" panose="02010600040101010101" charset="-122"/>
                <a:ea typeface="华文楷体" panose="02010600040101010101" charset="-122"/>
                <a:cs typeface="华文楷体" panose="02010600040101010101" charset="-122"/>
              </a:rPr>
              <a:t>的有效性</a:t>
            </a:r>
            <a:r>
              <a:rPr lang="zh-CN" altLang="en-US" sz="1800" b="0" i="0">
                <a:solidFill>
                  <a:srgbClr val="1C1F23"/>
                </a:solidFill>
                <a:latin typeface="华文楷体" panose="02010600040101010101" charset="-122"/>
                <a:ea typeface="华文楷体" panose="02010600040101010101" charset="-122"/>
                <a:cs typeface="华文楷体" panose="02010600040101010101" charset="-122"/>
              </a:rPr>
              <a:t>：</a:t>
            </a:r>
            <a:endParaRPr lang="zh-CN" altLang="en-US" sz="1800" b="0" i="0">
              <a:solidFill>
                <a:srgbClr val="1C1F23"/>
              </a:solidFill>
              <a:latin typeface="华文楷体" panose="02010600040101010101" charset="-122"/>
              <a:ea typeface="华文楷体" panose="02010600040101010101" charset="-122"/>
              <a:cs typeface="华文楷体" panose="02010600040101010101" charset="-122"/>
            </a:endParaRPr>
          </a:p>
          <a:p>
            <a:pPr marL="0" lvl="0" indent="0" algn="l">
              <a:lnSpc>
                <a:spcPct val="100000"/>
              </a:lnSpc>
              <a:spcBef>
                <a:spcPts val="600"/>
              </a:spcBef>
              <a:buClrTx/>
              <a:buSzTx/>
              <a:buFont typeface="Arial" panose="020B0604020202020204"/>
            </a:pP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①每种逻辑损失都能带来稳定性能提升，说明不同逻辑规则能描述语义结构的不同特性，验证了分割模型确实能从逻辑损失中受益</a:t>
            </a:r>
            <a:endParaRPr lang="zh-CN" altLang="en-US">
              <a:solidFill>
                <a:srgbClr val="1C1F23"/>
              </a:solidFill>
              <a:latin typeface="华文楷体" panose="02010600040101010101" charset="-122"/>
              <a:ea typeface="华文楷体" panose="02010600040101010101" charset="-122"/>
              <a:cs typeface="华文楷体" panose="02010600040101010101" charset="-122"/>
              <a:sym typeface="+mn-ea"/>
            </a:endParaRPr>
          </a:p>
          <a:p>
            <a:pPr marL="0" lvl="1" indent="0" algn="l">
              <a:lnSpc>
                <a:spcPct val="100000"/>
              </a:lnSpc>
              <a:spcBef>
                <a:spcPts val="600"/>
              </a:spcBef>
              <a:buClrTx/>
              <a:buSzTx/>
              <a:buFont typeface="Arial" panose="020B0604020202020204"/>
            </a:pP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②组合三种损失可获得最佳效果，表明我们的逻辑规则能全面描述语义层次结构T中的关系知识，支持"利用符号知识对视觉语义解释至关重要并能增强亚符号学习"的核心观点训练速度：如表5a最后一列所示，逻辑诱导训练仅造成微小延迟（约5.0%）</a:t>
            </a:r>
            <a:endParaRPr lang="zh-CN" altLang="en-US" sz="1800" b="0" i="0">
              <a:solidFill>
                <a:srgbClr val="1C1F23"/>
              </a:solidFill>
              <a:latin typeface="华文楷体" panose="02010600040101010101" charset="-122"/>
              <a:ea typeface="华文楷体" panose="02010600040101010101" charset="-122"/>
              <a:cs typeface="华文楷体" panose="02010600040101010101" charset="-122"/>
            </a:endParaRPr>
          </a:p>
          <a:p>
            <a:pPr marL="0" lvl="1" indent="0" algn="l">
              <a:lnSpc>
                <a:spcPct val="100000"/>
              </a:lnSpc>
              <a:spcBef>
                <a:spcPts val="600"/>
              </a:spcBef>
              <a:buClrTx/>
              <a:buSzTx/>
              <a:buFont typeface="Arial" panose="020B0604020202020204"/>
            </a:pPr>
            <a:r>
              <a:rPr lang="zh-CN" altLang="en-US" sz="1800" b="1" i="0">
                <a:solidFill>
                  <a:srgbClr val="1C1F23"/>
                </a:solidFill>
                <a:latin typeface="华文楷体" panose="02010600040101010101" charset="-122"/>
                <a:ea typeface="华文楷体" panose="02010600040101010101" charset="-122"/>
                <a:cs typeface="华文楷体" panose="02010600040101010101" charset="-122"/>
              </a:rPr>
              <a:t>表5b研究了</a:t>
            </a:r>
            <a:r>
              <a:rPr lang="zh-CN" altLang="en-US" sz="1800" b="1" i="0">
                <a:solidFill>
                  <a:srgbClr val="FF0000"/>
                </a:solidFill>
                <a:latin typeface="华文楷体" panose="02010600040101010101" charset="-122"/>
                <a:ea typeface="华文楷体" panose="02010600040101010101" charset="-122"/>
                <a:cs typeface="华文楷体" panose="02010600040101010101" charset="-122"/>
              </a:rPr>
              <a:t>逻辑诱导推理策略</a:t>
            </a:r>
            <a:r>
              <a:rPr lang="zh-CN" altLang="en-US" sz="1800" b="1" i="0">
                <a:solidFill>
                  <a:srgbClr val="1C1F23"/>
                </a:solidFill>
                <a:latin typeface="华文楷体" panose="02010600040101010101" charset="-122"/>
                <a:ea typeface="华文楷体" panose="02010600040101010101" charset="-122"/>
                <a:cs typeface="华文楷体" panose="02010600040101010101" charset="-122"/>
              </a:rPr>
              <a:t>的影响</a:t>
            </a:r>
            <a:r>
              <a:rPr lang="zh-CN" altLang="en-US" sz="1800" b="0" i="0">
                <a:solidFill>
                  <a:srgbClr val="1C1F23"/>
                </a:solidFill>
                <a:latin typeface="华文楷体" panose="02010600040101010101" charset="-122"/>
                <a:ea typeface="华文楷体" panose="02010600040101010101" charset="-122"/>
                <a:cs typeface="华文楷体" panose="02010600040101010101" charset="-122"/>
              </a:rPr>
              <a:t>：</a:t>
            </a:r>
            <a:endParaRPr lang="zh-CN" altLang="en-US" sz="1800" b="0" i="0">
              <a:solidFill>
                <a:srgbClr val="1C1F23"/>
              </a:solidFill>
              <a:latin typeface="华文楷体" panose="02010600040101010101" charset="-122"/>
              <a:ea typeface="华文楷体" panose="02010600040101010101" charset="-122"/>
              <a:cs typeface="华文楷体" panose="02010600040101010101" charset="-122"/>
            </a:endParaRPr>
          </a:p>
          <a:p>
            <a:pPr marL="0" lvl="1" indent="0" algn="l">
              <a:lnSpc>
                <a:spcPct val="100000"/>
              </a:lnSpc>
              <a:spcBef>
                <a:spcPts val="600"/>
              </a:spcBef>
              <a:buClrTx/>
              <a:buSzTx/>
              <a:buFont typeface="Arial" panose="020B0604020202020204"/>
            </a:pPr>
            <a:r>
              <a:rPr lang="zh-CN" altLang="en-US" sz="1800" b="0" i="0">
                <a:solidFill>
                  <a:srgbClr val="1C1F23"/>
                </a:solidFill>
                <a:latin typeface="华文楷体" panose="02010600040101010101" charset="-122"/>
                <a:ea typeface="华文楷体" panose="02010600040101010101" charset="-122"/>
                <a:cs typeface="华文楷体" panose="02010600040101010101" charset="-122"/>
              </a:rPr>
              <a:t>结果表明策略具有显著效果，验证了在推理阶段引入逻辑推理的必要性。默认采用2次迭代以获得最佳性能。推理速度：如表5b所示，逻辑诱导推理仅轻微降低部署时的推理速度（约3.8%）</a:t>
            </a:r>
            <a:endParaRPr lang="zh-CN" altLang="en-US" sz="1800" b="0" i="0">
              <a:solidFill>
                <a:srgbClr val="1C1F23"/>
              </a:solidFill>
              <a:latin typeface="华文楷体" panose="02010600040101010101" charset="-122"/>
              <a:ea typeface="华文楷体" panose="02010600040101010101" charset="-122"/>
              <a:cs typeface="华文楷体" panose="02010600040101010101" charset="-122"/>
            </a:endParaRPr>
          </a:p>
          <a:p>
            <a:pPr marL="0" lvl="1" indent="0" algn="l">
              <a:lnSpc>
                <a:spcPct val="100000"/>
              </a:lnSpc>
              <a:spcBef>
                <a:spcPts val="600"/>
              </a:spcBef>
              <a:buClrTx/>
              <a:buSzTx/>
              <a:buFont typeface="Arial" panose="020B0604020202020204"/>
            </a:pPr>
            <a:r>
              <a:rPr lang="zh-CN" altLang="en-US" b="1">
                <a:solidFill>
                  <a:srgbClr val="1C1F23"/>
                </a:solidFill>
                <a:latin typeface="华文楷体" panose="02010600040101010101" charset="-122"/>
                <a:ea typeface="华文楷体" panose="02010600040101010101" charset="-122"/>
                <a:cs typeface="华文楷体" panose="02010600040101010101" charset="-122"/>
                <a:sym typeface="+mn-ea"/>
              </a:rPr>
              <a:t>表5c展示了</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聚合系数</a:t>
            </a:r>
            <a:r>
              <a:rPr lang="en-US" altLang="zh-CN" b="1">
                <a:solidFill>
                  <a:srgbClr val="1C1F23"/>
                </a:solidFill>
                <a:latin typeface="华文楷体" panose="02010600040101010101" charset="-122"/>
                <a:ea typeface="华文楷体" panose="02010600040101010101" charset="-122"/>
                <a:cs typeface="华文楷体" panose="02010600040101010101" charset="-122"/>
                <a:sym typeface="+mn-ea"/>
              </a:rPr>
              <a:t>q</a:t>
            </a:r>
            <a:r>
              <a:rPr lang="zh-CN" altLang="en-US" b="1">
                <a:solidFill>
                  <a:srgbClr val="1C1F23"/>
                </a:solidFill>
                <a:latin typeface="华文楷体" panose="02010600040101010101" charset="-122"/>
                <a:ea typeface="华文楷体" panose="02010600040101010101" charset="-122"/>
                <a:cs typeface="华文楷体" panose="02010600040101010101" charset="-122"/>
                <a:sym typeface="+mn-ea"/>
              </a:rPr>
              <a:t>的影响</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a:t>
            </a:r>
            <a:endParaRPr lang="zh-CN" altLang="en-US">
              <a:solidFill>
                <a:srgbClr val="1C1F23"/>
              </a:solidFill>
              <a:latin typeface="华文楷体" panose="02010600040101010101" charset="-122"/>
              <a:ea typeface="华文楷体" panose="02010600040101010101" charset="-122"/>
              <a:cs typeface="华文楷体" panose="02010600040101010101" charset="-122"/>
              <a:sym typeface="+mn-ea"/>
            </a:endParaRPr>
          </a:p>
          <a:p>
            <a:pPr marL="0" lvl="1" indent="0" algn="l">
              <a:lnSpc>
                <a:spcPct val="100000"/>
              </a:lnSpc>
              <a:spcBef>
                <a:spcPts val="600"/>
              </a:spcBef>
              <a:buClrTx/>
              <a:buSzTx/>
              <a:buFont typeface="Arial" panose="020B0604020202020204"/>
            </a:pPr>
            <a:r>
              <a:rPr lang="zh-CN" altLang="en-US" sz="1800" b="0" i="0">
                <a:solidFill>
                  <a:srgbClr val="1C1F23"/>
                </a:solidFill>
                <a:latin typeface="华文楷体" panose="02010600040101010101" charset="-122"/>
                <a:ea typeface="华文楷体" panose="02010600040101010101" charset="-122"/>
                <a:cs typeface="华文楷体" panose="02010600040101010101" charset="-122"/>
              </a:rPr>
              <a:t>在∀量词近似计算中，采用广义均值保证训练稳定性。系数q值越高，∀对异常值的关注越强。</a:t>
            </a:r>
            <a:endParaRPr lang="zh-CN" altLang="en-US" sz="1800" b="0" i="0">
              <a:solidFill>
                <a:srgbClr val="1C1F23"/>
              </a:solidFill>
              <a:latin typeface="华文楷体" panose="02010600040101010101" charset="-122"/>
              <a:ea typeface="华文楷体" panose="02010600040101010101" charset="-122"/>
              <a:cs typeface="华文楷体" panose="02010600040101010101" charset="-122"/>
            </a:endParaRPr>
          </a:p>
        </p:txBody>
      </p:sp>
      <p:pic>
        <p:nvPicPr>
          <p:cNvPr id="4" name="图片 3"/>
          <p:cNvPicPr>
            <a:picLocks noChangeAspect="1"/>
          </p:cNvPicPr>
          <p:nvPr/>
        </p:nvPicPr>
        <p:blipFill>
          <a:blip r:embed="rId5"/>
          <a:srcRect t="64109" r="216"/>
          <a:stretch>
            <a:fillRect/>
          </a:stretch>
        </p:blipFill>
        <p:spPr>
          <a:xfrm>
            <a:off x="1523365" y="1045210"/>
            <a:ext cx="8496935" cy="18180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87" y="13684"/>
            <a:ext cx="12191239" cy="6857572"/>
          </a:xfrm>
          <a:prstGeom prst="rect">
            <a:avLst/>
          </a:prstGeom>
        </p:spPr>
      </p:pic>
      <p:sp>
        <p:nvSpPr>
          <p:cNvPr id="8" name="Freeform 5"/>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0" name="Freeform 6"/>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C9C9C9"/>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1" name="Freeform 7"/>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solidFill>
            <a:srgbClr val="0070C0"/>
          </a:solidFill>
          <a:ln>
            <a:noFill/>
          </a:ln>
        </p:spPr>
        <p:txBody>
          <a:bodyPr lIns="91416" tIns="45708" rIns="91416" bIns="45708"/>
          <a:lstStyle/>
          <a:p>
            <a:endParaRPr lang="zh-CN" altLang="en-US" sz="2400"/>
          </a:p>
        </p:txBody>
      </p:sp>
      <p:sp>
        <p:nvSpPr>
          <p:cNvPr id="12" name="Freeform 8"/>
          <p:cNvSpPr/>
          <p:nvPr/>
        </p:nvSpPr>
        <p:spPr bwMode="auto">
          <a:xfrm>
            <a:off x="11227177" y="1908175"/>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3" name="Freeform 9"/>
          <p:cNvSpPr/>
          <p:nvPr/>
        </p:nvSpPr>
        <p:spPr bwMode="auto">
          <a:xfrm>
            <a:off x="10587664" y="6049964"/>
            <a:ext cx="1604336" cy="808037"/>
          </a:xfrm>
          <a:custGeom>
            <a:avLst/>
            <a:gdLst>
              <a:gd name="T0" fmla="*/ 2088 w 2088"/>
              <a:gd name="T1" fmla="*/ 0 h 1048"/>
              <a:gd name="T2" fmla="*/ 2088 w 2088"/>
              <a:gd name="T3" fmla="*/ 1048 h 1048"/>
              <a:gd name="T4" fmla="*/ 0 w 2088"/>
              <a:gd name="T5" fmla="*/ 1048 h 1048"/>
              <a:gd name="T6" fmla="*/ 662 w 2088"/>
              <a:gd name="T7" fmla="*/ 0 h 1048"/>
              <a:gd name="T8" fmla="*/ 2088 w 2088"/>
              <a:gd name="T9" fmla="*/ 0 h 1048"/>
            </a:gdLst>
            <a:ahLst/>
            <a:cxnLst>
              <a:cxn ang="0">
                <a:pos x="T0" y="T1"/>
              </a:cxn>
              <a:cxn ang="0">
                <a:pos x="T2" y="T3"/>
              </a:cxn>
              <a:cxn ang="0">
                <a:pos x="T4" y="T5"/>
              </a:cxn>
              <a:cxn ang="0">
                <a:pos x="T6" y="T7"/>
              </a:cxn>
              <a:cxn ang="0">
                <a:pos x="T8" y="T9"/>
              </a:cxn>
            </a:cxnLst>
            <a:rect l="0" t="0" r="r" b="b"/>
            <a:pathLst>
              <a:path w="2088" h="1048">
                <a:moveTo>
                  <a:pt x="2088" y="0"/>
                </a:moveTo>
                <a:lnTo>
                  <a:pt x="2088" y="1048"/>
                </a:lnTo>
                <a:lnTo>
                  <a:pt x="0" y="1048"/>
                </a:lnTo>
                <a:lnTo>
                  <a:pt x="662" y="0"/>
                </a:lnTo>
                <a:lnTo>
                  <a:pt x="2088" y="0"/>
                </a:lnTo>
                <a:close/>
              </a:path>
            </a:pathLst>
          </a:custGeom>
          <a:solidFill>
            <a:srgbClr val="C1C0C3"/>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4" name="Freeform 10"/>
          <p:cNvSpPr/>
          <p:nvPr/>
        </p:nvSpPr>
        <p:spPr bwMode="auto">
          <a:xfrm>
            <a:off x="10297265" y="6208713"/>
            <a:ext cx="1894735" cy="649287"/>
          </a:xfrm>
          <a:custGeom>
            <a:avLst/>
            <a:gdLst>
              <a:gd name="T0" fmla="*/ 2467 w 2467"/>
              <a:gd name="T1" fmla="*/ 0 h 843"/>
              <a:gd name="T2" fmla="*/ 2467 w 2467"/>
              <a:gd name="T3" fmla="*/ 843 h 843"/>
              <a:gd name="T4" fmla="*/ 0 w 2467"/>
              <a:gd name="T5" fmla="*/ 843 h 843"/>
              <a:gd name="T6" fmla="*/ 533 w 2467"/>
              <a:gd name="T7" fmla="*/ 0 h 843"/>
              <a:gd name="T8" fmla="*/ 2467 w 2467"/>
              <a:gd name="T9" fmla="*/ 0 h 843"/>
            </a:gdLst>
            <a:ahLst/>
            <a:cxnLst>
              <a:cxn ang="0">
                <a:pos x="T0" y="T1"/>
              </a:cxn>
              <a:cxn ang="0">
                <a:pos x="T2" y="T3"/>
              </a:cxn>
              <a:cxn ang="0">
                <a:pos x="T4" y="T5"/>
              </a:cxn>
              <a:cxn ang="0">
                <a:pos x="T6" y="T7"/>
              </a:cxn>
              <a:cxn ang="0">
                <a:pos x="T8" y="T9"/>
              </a:cxn>
            </a:cxnLst>
            <a:rect l="0" t="0" r="r" b="b"/>
            <a:pathLst>
              <a:path w="2467" h="843">
                <a:moveTo>
                  <a:pt x="2467" y="0"/>
                </a:moveTo>
                <a:lnTo>
                  <a:pt x="2467" y="843"/>
                </a:lnTo>
                <a:lnTo>
                  <a:pt x="0" y="843"/>
                </a:lnTo>
                <a:lnTo>
                  <a:pt x="533" y="0"/>
                </a:lnTo>
                <a:lnTo>
                  <a:pt x="2467"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5" name="TextBox 11"/>
          <p:cNvSpPr txBox="1">
            <a:spLocks noChangeArrowheads="1"/>
          </p:cNvSpPr>
          <p:nvPr/>
        </p:nvSpPr>
        <p:spPr bwMode="auto">
          <a:xfrm>
            <a:off x="2708805" y="2568576"/>
            <a:ext cx="2721610" cy="70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6" tIns="45708" rIns="91416" bIns="4570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4000" b="1" dirty="0">
                <a:solidFill>
                  <a:srgbClr val="FFFFFF"/>
                </a:solidFill>
                <a:latin typeface="微软雅黑" panose="020B0503020204020204" charset="-122"/>
                <a:ea typeface="微软雅黑" panose="020B0503020204020204" charset="-122"/>
              </a:rPr>
              <a:t>结论与思考</a:t>
            </a:r>
            <a:endParaRPr lang="zh-CN" altLang="en-US" sz="4000" b="1" dirty="0">
              <a:solidFill>
                <a:srgbClr val="FFFFFF"/>
              </a:solidFill>
              <a:latin typeface="微软雅黑" panose="020B0503020204020204" charset="-122"/>
              <a:ea typeface="微软雅黑" panose="020B0503020204020204" charset="-122"/>
            </a:endParaRPr>
          </a:p>
        </p:txBody>
      </p:sp>
      <p:sp>
        <p:nvSpPr>
          <p:cNvPr id="16" name="TextBox 12"/>
          <p:cNvSpPr txBox="1">
            <a:spLocks noChangeArrowheads="1"/>
          </p:cNvSpPr>
          <p:nvPr/>
        </p:nvSpPr>
        <p:spPr bwMode="auto">
          <a:xfrm>
            <a:off x="1345675" y="2463800"/>
            <a:ext cx="1257935" cy="220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6" tIns="45708" rIns="91416" bIns="4570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735" b="1">
                <a:solidFill>
                  <a:srgbClr val="FFFFFF"/>
                </a:solidFill>
                <a:latin typeface="微软雅黑" panose="020B0503020204020204" charset="-122"/>
                <a:ea typeface="微软雅黑" panose="020B0503020204020204" charset="-122"/>
              </a:rPr>
              <a:t>3</a:t>
            </a:r>
            <a:endParaRPr lang="zh-CN" altLang="en-US" sz="13735" b="1">
              <a:solidFill>
                <a:srgbClr val="FFFFFF"/>
              </a:solidFill>
              <a:latin typeface="微软雅黑" panose="020B0503020204020204" charset="-122"/>
              <a:ea typeface="微软雅黑" panose="020B0503020204020204" charset="-122"/>
            </a:endParaRPr>
          </a:p>
        </p:txBody>
      </p:sp>
      <p:sp>
        <p:nvSpPr>
          <p:cNvPr id="17" name="TextBox 1"/>
          <p:cNvSpPr txBox="1">
            <a:spLocks noChangeArrowheads="1"/>
          </p:cNvSpPr>
          <p:nvPr/>
        </p:nvSpPr>
        <p:spPr bwMode="auto">
          <a:xfrm>
            <a:off x="2776855" y="3435350"/>
            <a:ext cx="6261735" cy="1134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6" tIns="45708" rIns="91416" bIns="45708">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a:solidFill>
                  <a:srgbClr val="FFFFFF"/>
                </a:solidFill>
                <a:latin typeface="华文楷体" panose="02010600040101010101" charset="-122"/>
                <a:ea typeface="华文楷体" panose="02010600040101010101" charset="-122"/>
                <a:cs typeface="华文楷体" panose="02010600040101010101" charset="-122"/>
              </a:rPr>
              <a:t>文章创新性地将符号推理与神经网络相结合，提出</a:t>
            </a:r>
            <a:r>
              <a:rPr lang="en-US" altLang="zh-CN" sz="1600">
                <a:solidFill>
                  <a:srgbClr val="FFFFFF"/>
                </a:solidFill>
                <a:latin typeface="华文楷体" panose="02010600040101010101" charset="-122"/>
                <a:ea typeface="华文楷体" panose="02010600040101010101" charset="-122"/>
                <a:cs typeface="华文楷体" panose="02010600040101010101" charset="-122"/>
              </a:rPr>
              <a:t>LOGICSEG</a:t>
            </a:r>
            <a:r>
              <a:rPr lang="zh-CN" altLang="en-US" sz="1600">
                <a:solidFill>
                  <a:srgbClr val="FFFFFF"/>
                </a:solidFill>
                <a:latin typeface="华文楷体" panose="02010600040101010101" charset="-122"/>
                <a:ea typeface="华文楷体" panose="02010600040101010101" charset="-122"/>
                <a:cs typeface="华文楷体" panose="02010600040101010101" charset="-122"/>
              </a:rPr>
              <a:t>框架，通过层次化语义约束和模糊逻辑技术，在多个基准上实现性能显著提升。这项工作不仅突破了纯数据驱动范式的局限，更揭示了认知建模的新路径，为发展兼具学习与推理能力的智能系统提供了重要启示，推动了神经符号计算在视觉领域的应用。</a:t>
            </a:r>
            <a:endParaRPr lang="zh-CN" altLang="en-US" sz="1600">
              <a:solidFill>
                <a:srgbClr val="FFFFFF"/>
              </a:solidFill>
              <a:latin typeface="华文楷体" panose="02010600040101010101" charset="-122"/>
              <a:ea typeface="华文楷体" panose="02010600040101010101" charset="-122"/>
              <a:cs typeface="华文楷体" panose="02010600040101010101" charset="-122"/>
            </a:endParaRPr>
          </a:p>
          <a:p>
            <a:pPr eaLnBrk="1" hangingPunct="1"/>
            <a:endParaRPr lang="en-US" altLang="zh-CN" sz="1600">
              <a:solidFill>
                <a:srgbClr val="FFFFFF"/>
              </a:solidFill>
              <a:latin typeface="华文楷体" panose="02010600040101010101" charset="-122"/>
              <a:ea typeface="华文楷体" panose="02010600040101010101" charset="-122"/>
              <a:cs typeface="华文楷体" panose="02010600040101010101" charset="-122"/>
            </a:endParaRPr>
          </a:p>
          <a:p>
            <a:pPr eaLnBrk="1" hangingPunct="1"/>
            <a:endParaRPr lang="en-US" altLang="zh-CN" sz="1600">
              <a:solidFill>
                <a:srgbClr val="FFFFFF"/>
              </a:solidFill>
              <a:latin typeface="华文楷体" panose="02010600040101010101" charset="-122"/>
              <a:ea typeface="华文楷体" panose="02010600040101010101" charset="-122"/>
              <a:cs typeface="华文楷体" panose="02010600040101010101" charset="-122"/>
            </a:endParaRPr>
          </a:p>
        </p:txBody>
      </p:sp>
      <p:sp>
        <p:nvSpPr>
          <p:cNvPr id="18" name="TextBox 2"/>
          <p:cNvSpPr txBox="1">
            <a:spLocks noChangeArrowheads="1"/>
          </p:cNvSpPr>
          <p:nvPr/>
        </p:nvSpPr>
        <p:spPr bwMode="auto">
          <a:xfrm>
            <a:off x="490347" y="3813176"/>
            <a:ext cx="83375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6" tIns="45708" rIns="91416" bIns="4570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solidFill>
                  <a:srgbClr val="FFFFFF"/>
                </a:solidFill>
              </a:rPr>
              <a:t>Part</a:t>
            </a:r>
            <a:endParaRPr lang="zh-CN" altLang="en-US" sz="2800">
              <a:solidFill>
                <a:srgbClr val="FFFFFF"/>
              </a:solidFill>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advClick="0" advTm="8000">
        <p14:prism/>
      </p:transition>
    </mc:Choice>
    <mc:Fallback>
      <p:transition spd="slow" advClick="0" advTm="8000">
        <p:fade/>
      </p:transition>
    </mc:Fallback>
  </mc:AlternateContent>
  <p:timing>
    <p:tnLst>
      <p:par>
        <p:cTn id="1" dur="indefinite" restart="never" nodeType="tmRoot"/>
      </p:par>
    </p:tnLst>
    <p:bldLst>
      <p:bldP spid="13"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 name="矩形 9"/>
          <p:cNvSpPr>
            <a:spLocks noChangeArrowheads="1"/>
          </p:cNvSpPr>
          <p:nvPr>
            <p:custDataLst>
              <p:tags r:id="rId1"/>
            </p:custDataLst>
          </p:nvPr>
        </p:nvSpPr>
        <p:spPr bwMode="auto">
          <a:xfrm>
            <a:off x="625475" y="4441825"/>
            <a:ext cx="6116320" cy="1905000"/>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9" name="矩形 8"/>
          <p:cNvSpPr>
            <a:spLocks noChangeArrowheads="1"/>
          </p:cNvSpPr>
          <p:nvPr>
            <p:custDataLst>
              <p:tags r:id="rId2"/>
            </p:custDataLst>
          </p:nvPr>
        </p:nvSpPr>
        <p:spPr bwMode="auto">
          <a:xfrm>
            <a:off x="625475" y="2797175"/>
            <a:ext cx="11076940" cy="139636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17" name="矩形 16"/>
          <p:cNvSpPr>
            <a:spLocks noChangeArrowheads="1"/>
          </p:cNvSpPr>
          <p:nvPr>
            <p:custDataLst>
              <p:tags r:id="rId3"/>
            </p:custDataLst>
          </p:nvPr>
        </p:nvSpPr>
        <p:spPr bwMode="auto">
          <a:xfrm>
            <a:off x="614680" y="1196975"/>
            <a:ext cx="11076940" cy="1390015"/>
          </a:xfrm>
          <a:prstGeom prst="rect">
            <a:avLst/>
          </a:prstGeom>
          <a:gradFill>
            <a:gsLst>
              <a:gs pos="0">
                <a:schemeClr val="bg1">
                  <a:lumMod val="85000"/>
                </a:schemeClr>
              </a:gs>
              <a:gs pos="100000">
                <a:schemeClr val="bg1"/>
              </a:gs>
            </a:gsLst>
            <a:lin ang="5400000" scaled="0"/>
          </a:gradFill>
          <a:ln w="57150" algn="ctr">
            <a:gradFill>
              <a:gsLst>
                <a:gs pos="100000">
                  <a:schemeClr val="bg1">
                    <a:lumMod val="85000"/>
                  </a:schemeClr>
                </a:gs>
                <a:gs pos="0">
                  <a:schemeClr val="bg1"/>
                </a:gs>
              </a:gsLst>
              <a:lin ang="5400000" scaled="0"/>
            </a:gradFill>
            <a:miter lim="800000"/>
          </a:ln>
          <a:effectLst>
            <a:outerShdw blurRad="203200" dist="127000" dir="2700000" algn="tl" rotWithShape="0">
              <a:prstClr val="black">
                <a:alpha val="40000"/>
              </a:prstClr>
            </a:outerShdw>
          </a:effectLst>
        </p:spPr>
        <p:txBody>
          <a:bodyPr anchor="ctr"/>
          <a:p>
            <a:pPr algn="ctr"/>
            <a:endParaRPr lang="zh-CN" altLang="en-US">
              <a:solidFill>
                <a:srgbClr val="FFFFFF"/>
              </a:solidFill>
              <a:cs typeface="+mn-ea"/>
              <a:sym typeface="+mn-lt"/>
            </a:endParaRPr>
          </a:p>
        </p:txBody>
      </p:sp>
      <p:sp>
        <p:nvSpPr>
          <p:cNvPr id="23" name="矩形 22"/>
          <p:cNvSpPr/>
          <p:nvPr/>
        </p:nvSpPr>
        <p:spPr>
          <a:xfrm>
            <a:off x="1152000" y="288000"/>
            <a:ext cx="24688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结论与思考</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graphicFrame>
        <p:nvGraphicFramePr>
          <p:cNvPr id="15" name="对象 14">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5" imgW="114300" imgH="215900" progId="Equation.KSEE3">
                  <p:embed/>
                </p:oleObj>
              </mc:Choice>
              <mc:Fallback>
                <p:oleObj name="" r:id="rId5" imgW="114300" imgH="215900" progId="Equation.KSEE3">
                  <p:embed/>
                  <p:pic>
                    <p:nvPicPr>
                      <p:cNvPr id="0" name="图片 1024"/>
                      <p:cNvPicPr/>
                      <p:nvPr/>
                    </p:nvPicPr>
                    <p:blipFill>
                      <a:blip r:embed="rId6"/>
                      <a:stretch>
                        <a:fillRect/>
                      </a:stretch>
                    </p:blipFill>
                    <p:spPr>
                      <a:xfrm>
                        <a:off x="6038850" y="3321050"/>
                        <a:ext cx="114300" cy="215900"/>
                      </a:xfrm>
                      <a:prstGeom prst="rect">
                        <a:avLst/>
                      </a:prstGeom>
                    </p:spPr>
                  </p:pic>
                </p:oleObj>
              </mc:Fallback>
            </mc:AlternateContent>
          </a:graphicData>
        </a:graphic>
      </p:graphicFrame>
      <p:sp>
        <p:nvSpPr>
          <p:cNvPr id="6" name="文本框 5"/>
          <p:cNvSpPr txBox="1"/>
          <p:nvPr/>
        </p:nvSpPr>
        <p:spPr>
          <a:xfrm>
            <a:off x="810895" y="1313180"/>
            <a:ext cx="10823575" cy="1306830"/>
          </a:xfrm>
          <a:prstGeom prst="rect">
            <a:avLst/>
          </a:prstGeom>
          <a:noFill/>
        </p:spPr>
        <p:txBody>
          <a:bodyPr wrap="square" rtlCol="0" anchor="t">
            <a:spAutoFit/>
          </a:bodyPr>
          <a:p>
            <a:pPr marL="0" algn="l">
              <a:spcBef>
                <a:spcPts val="600"/>
              </a:spcBef>
              <a:buClrTx/>
              <a:buSzTx/>
              <a:buFont typeface="Arial" panose="020B0604020202020204"/>
            </a:pPr>
            <a:r>
              <a:rPr lang="zh-CN" altLang="en-US" sz="2000" b="1">
                <a:solidFill>
                  <a:srgbClr val="1C1F23"/>
                </a:solidFill>
                <a:latin typeface="仿宋" panose="02010609060101010101" charset="-122"/>
                <a:ea typeface="仿宋" panose="02010609060101010101" charset="-122"/>
                <a:cs typeface="华文楷体" panose="02010600040101010101" charset="-122"/>
                <a:sym typeface="+mn-ea"/>
              </a:rPr>
              <a:t>范式创新：突破当前亚符号学习的主导范式</a:t>
            </a:r>
            <a:endParaRPr lang="zh-CN" altLang="en-US" sz="2000" b="1">
              <a:solidFill>
                <a:srgbClr val="1C1F23"/>
              </a:solidFill>
              <a:latin typeface="仿宋" panose="02010609060101010101" charset="-122"/>
              <a:ea typeface="仿宋" panose="02010609060101010101" charset="-122"/>
              <a:cs typeface="华文楷体" panose="02010600040101010101" charset="-122"/>
              <a:sym typeface="+mn-ea"/>
            </a:endParaRPr>
          </a:p>
          <a:p>
            <a:pPr marL="0" algn="l">
              <a:spcBef>
                <a:spcPts val="600"/>
              </a:spcBef>
              <a:buClrTx/>
              <a:buSzTx/>
              <a:buFont typeface="Arial" panose="020B0604020202020204"/>
            </a:pP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通过将一阶逻辑规则深度嵌入神经网络，</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首次</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实现了</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符号推理与亚符号学习</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的有机统一。</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LOGICSEG</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创新性地通过</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模糊逻辑</a:t>
            </a:r>
            <a:r>
              <a:rPr lang="zh-CN" altLang="en-US">
                <a:latin typeface="华文楷体" panose="02010600040101010101" charset="-122"/>
                <a:ea typeface="华文楷体" panose="02010600040101010101" charset="-122"/>
                <a:cs typeface="华文楷体" panose="02010600040101010101" charset="-122"/>
                <a:sym typeface="+mn-ea"/>
              </a:rPr>
              <a:t>的接地过程</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，将层次化语义约束转化为可微损失函数和矩阵化推理模块，并通过实验证明符号知识能有效引导神经网络突破纯数据学习的性能瓶颈。</a:t>
            </a:r>
            <a:endParaRPr lang="zh-CN" altLang="en-US">
              <a:solidFill>
                <a:srgbClr val="1C1F23"/>
              </a:solidFill>
              <a:latin typeface="华文楷体" panose="02010600040101010101" charset="-122"/>
              <a:ea typeface="华文楷体" panose="02010600040101010101" charset="-122"/>
              <a:cs typeface="华文楷体" panose="02010600040101010101" charset="-122"/>
              <a:sym typeface="+mn-ea"/>
            </a:endParaRPr>
          </a:p>
        </p:txBody>
      </p:sp>
      <p:sp>
        <p:nvSpPr>
          <p:cNvPr id="7" name="文本框 6"/>
          <p:cNvSpPr txBox="1"/>
          <p:nvPr/>
        </p:nvSpPr>
        <p:spPr>
          <a:xfrm>
            <a:off x="811530" y="2886710"/>
            <a:ext cx="10823575" cy="1306830"/>
          </a:xfrm>
          <a:prstGeom prst="rect">
            <a:avLst/>
          </a:prstGeom>
          <a:noFill/>
        </p:spPr>
        <p:txBody>
          <a:bodyPr wrap="square" rtlCol="0" anchor="t">
            <a:spAutoFit/>
          </a:bodyPr>
          <a:p>
            <a:pPr marL="0" algn="l">
              <a:spcBef>
                <a:spcPts val="600"/>
              </a:spcBef>
              <a:buClrTx/>
              <a:buSzTx/>
              <a:buFont typeface="Arial" panose="020B0604020202020204"/>
            </a:pPr>
            <a:r>
              <a:rPr lang="zh-CN" altLang="en-US" sz="2000" b="1">
                <a:solidFill>
                  <a:srgbClr val="1C1F23"/>
                </a:solidFill>
                <a:latin typeface="仿宋" panose="02010609060101010101" charset="-122"/>
                <a:ea typeface="仿宋" panose="02010609060101010101" charset="-122"/>
                <a:cs typeface="华文楷体" panose="02010600040101010101" charset="-122"/>
                <a:sym typeface="+mn-ea"/>
              </a:rPr>
              <a:t>方法论启示：为理解人类与机器智能提供新视角</a:t>
            </a:r>
            <a:endParaRPr lang="zh-CN" altLang="en-US" sz="2000" b="1">
              <a:solidFill>
                <a:srgbClr val="1C1F23"/>
              </a:solidFill>
              <a:latin typeface="仿宋" panose="02010609060101010101" charset="-122"/>
              <a:ea typeface="仿宋" panose="02010609060101010101" charset="-122"/>
              <a:cs typeface="华文楷体" panose="02010600040101010101" charset="-122"/>
              <a:sym typeface="+mn-ea"/>
            </a:endParaRPr>
          </a:p>
          <a:p>
            <a:pPr marL="0" algn="l">
              <a:spcBef>
                <a:spcPts val="600"/>
              </a:spcBef>
              <a:buClrTx/>
              <a:buSzTx/>
              <a:buFont typeface="Arial" panose="020B0604020202020204"/>
            </a:pP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揭示人类层次化视觉认知的</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建模新范式</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1</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C-rule</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损失强制网络建立</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部分</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整体</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的语义继承；</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2</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D-rule</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损失确保抽象概念具有可分解性；</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3</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E-rule</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损失编码类别互斥关系。这种多粒度语义约束的数学表达，为理解人类</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有限手段无限使用</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的认知特性提供了可计算模型。</a:t>
            </a:r>
            <a:endParaRPr lang="zh-CN" altLang="en-US">
              <a:solidFill>
                <a:srgbClr val="1C1F23"/>
              </a:solidFill>
              <a:latin typeface="华文楷体" panose="02010600040101010101" charset="-122"/>
              <a:ea typeface="华文楷体" panose="02010600040101010101" charset="-122"/>
              <a:cs typeface="华文楷体" panose="02010600040101010101" charset="-122"/>
              <a:sym typeface="+mn-ea"/>
            </a:endParaRPr>
          </a:p>
        </p:txBody>
      </p:sp>
      <p:sp>
        <p:nvSpPr>
          <p:cNvPr id="8" name="文本框 7"/>
          <p:cNvSpPr txBox="1"/>
          <p:nvPr/>
        </p:nvSpPr>
        <p:spPr>
          <a:xfrm>
            <a:off x="800100" y="4646295"/>
            <a:ext cx="5930900" cy="1565910"/>
          </a:xfrm>
          <a:prstGeom prst="rect">
            <a:avLst/>
          </a:prstGeom>
          <a:noFill/>
        </p:spPr>
        <p:txBody>
          <a:bodyPr wrap="square" rtlCol="0" anchor="t">
            <a:noAutofit/>
          </a:bodyPr>
          <a:p>
            <a:pPr marL="0" algn="l">
              <a:spcBef>
                <a:spcPts val="600"/>
              </a:spcBef>
              <a:buClrTx/>
              <a:buSzTx/>
              <a:buFont typeface="Arial" panose="020B0604020202020204"/>
            </a:pPr>
            <a:r>
              <a:rPr lang="zh-CN" altLang="en-US" sz="2000" b="1">
                <a:solidFill>
                  <a:srgbClr val="1C1F23"/>
                </a:solidFill>
                <a:latin typeface="仿宋" panose="02010609060101010101" charset="-122"/>
                <a:ea typeface="仿宋" panose="02010609060101010101" charset="-122"/>
                <a:cs typeface="华文楷体" panose="02010600040101010101" charset="-122"/>
                <a:sym typeface="+mn-ea"/>
              </a:rPr>
              <a:t>社区影响：激励学界重新思考现有技术路线</a:t>
            </a:r>
            <a:endParaRPr lang="zh-CN" altLang="en-US" sz="2000" b="1">
              <a:solidFill>
                <a:srgbClr val="1C1F23"/>
              </a:solidFill>
              <a:latin typeface="仿宋" panose="02010609060101010101" charset="-122"/>
              <a:ea typeface="仿宋" panose="02010609060101010101" charset="-122"/>
              <a:cs typeface="华文楷体" panose="02010600040101010101" charset="-122"/>
              <a:sym typeface="+mn-ea"/>
            </a:endParaRPr>
          </a:p>
          <a:p>
            <a:pPr marL="0" algn="l">
              <a:spcBef>
                <a:spcPts val="600"/>
              </a:spcBef>
              <a:buClrTx/>
              <a:buSzTx/>
              <a:buFont typeface="Arial" panose="020B0604020202020204"/>
            </a:pP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相比现有层次感知模型，</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LOGICSEG</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首次实现</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1</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）训练时</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完整保留层次约束</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C/D/E</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三规则联合优化）；</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2</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）推理时</a:t>
            </a:r>
            <a:r>
              <a:rPr lang="zh-CN" altLang="en-US" b="1">
                <a:solidFill>
                  <a:srgbClr val="FF0000"/>
                </a:solidFill>
                <a:latin typeface="华文楷体" panose="02010600040101010101" charset="-122"/>
                <a:ea typeface="华文楷体" panose="02010600040101010101" charset="-122"/>
                <a:cs typeface="华文楷体" panose="02010600040101010101" charset="-122"/>
                <a:sym typeface="+mn-ea"/>
              </a:rPr>
              <a:t>实时逻辑校验</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（迭代消息传递）。这种</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学习</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推理</a:t>
            </a:r>
            <a:r>
              <a:rPr lang="en-US" altLang="zh-CN">
                <a:solidFill>
                  <a:srgbClr val="1C1F23"/>
                </a:solidFill>
                <a:latin typeface="华文楷体" panose="02010600040101010101" charset="-122"/>
                <a:ea typeface="华文楷体" panose="02010600040101010101" charset="-122"/>
                <a:cs typeface="华文楷体" panose="02010600040101010101" charset="-122"/>
                <a:sym typeface="+mn-ea"/>
              </a:rPr>
              <a:t>"</a:t>
            </a:r>
            <a:r>
              <a:rPr lang="zh-CN" altLang="en-US">
                <a:solidFill>
                  <a:srgbClr val="1C1F23"/>
                </a:solidFill>
                <a:latin typeface="华文楷体" panose="02010600040101010101" charset="-122"/>
                <a:ea typeface="华文楷体" panose="02010600040101010101" charset="-122"/>
                <a:cs typeface="华文楷体" panose="02010600040101010101" charset="-122"/>
                <a:sym typeface="+mn-ea"/>
              </a:rPr>
              <a:t>的双向融合架构，为视觉大模型提供了新思路。</a:t>
            </a:r>
            <a:endParaRPr lang="zh-CN" altLang="en-US">
              <a:solidFill>
                <a:srgbClr val="1C1F23"/>
              </a:solidFill>
              <a:latin typeface="华文楷体" panose="02010600040101010101" charset="-122"/>
              <a:ea typeface="华文楷体" panose="02010600040101010101" charset="-122"/>
              <a:cs typeface="华文楷体" panose="02010600040101010101" charset="-122"/>
              <a:sym typeface="+mn-ea"/>
            </a:endParaRPr>
          </a:p>
        </p:txBody>
      </p:sp>
      <p:pic>
        <p:nvPicPr>
          <p:cNvPr id="11" name="图片 10"/>
          <p:cNvPicPr>
            <a:picLocks noChangeAspect="1"/>
          </p:cNvPicPr>
          <p:nvPr/>
        </p:nvPicPr>
        <p:blipFill>
          <a:blip r:embed="rId7"/>
          <a:stretch>
            <a:fillRect/>
          </a:stretch>
        </p:blipFill>
        <p:spPr>
          <a:xfrm>
            <a:off x="7124700" y="4376420"/>
            <a:ext cx="3347720" cy="2035175"/>
          </a:xfrm>
          <a:prstGeom prst="rect">
            <a:avLst/>
          </a:prstGeom>
        </p:spPr>
      </p:pic>
      <p:sp>
        <p:nvSpPr>
          <p:cNvPr id="13" name="文本框 12"/>
          <p:cNvSpPr txBox="1"/>
          <p:nvPr/>
        </p:nvSpPr>
        <p:spPr>
          <a:xfrm>
            <a:off x="10448290" y="4639945"/>
            <a:ext cx="1440180" cy="1568450"/>
          </a:xfrm>
          <a:prstGeom prst="rect">
            <a:avLst/>
          </a:prstGeom>
        </p:spPr>
        <p:txBody>
          <a:bodyPr wrap="square">
            <a:spAutoFit/>
          </a:bodyPr>
          <a:p>
            <a:pPr marL="0" indent="0"/>
            <a:r>
              <a:rPr lang="zh-CN" altLang="en-US" sz="1600" b="0" i="0">
                <a:solidFill>
                  <a:srgbClr val="1C1F23"/>
                </a:solidFill>
                <a:latin typeface="华文楷体" panose="02010600040101010101" charset="-122"/>
                <a:ea typeface="华文楷体" panose="02010600040101010101" charset="-122"/>
                <a:cs typeface="华文楷体" panose="02010600040101010101" charset="-122"/>
              </a:rPr>
              <a:t>VISPROG 是一个用于组合式视觉推理的模块化、可解释的神经符号系统。</a:t>
            </a:r>
            <a:endParaRPr lang="zh-CN" altLang="en-US" sz="1600" b="0" i="0">
              <a:latin typeface="Inter"/>
              <a:ea typeface="Inter"/>
            </a:endParaRPr>
          </a:p>
        </p:txBody>
      </p:sp>
      <p:sp>
        <p:nvSpPr>
          <p:cNvPr id="14" name="文本框 13"/>
          <p:cNvSpPr txBox="1"/>
          <p:nvPr/>
        </p:nvSpPr>
        <p:spPr>
          <a:xfrm>
            <a:off x="7110095" y="6359208"/>
            <a:ext cx="5080000" cy="337185"/>
          </a:xfrm>
          <a:prstGeom prst="rect">
            <a:avLst/>
          </a:prstGeom>
        </p:spPr>
        <p:txBody>
          <a:bodyPr>
            <a:spAutoFit/>
          </a:bodyPr>
          <a:p>
            <a:r>
              <a:rPr lang="zh-CN" altLang="en-US" sz="1600">
                <a:solidFill>
                  <a:srgbClr val="1C1F23"/>
                </a:solidFill>
                <a:latin typeface="华文楷体" panose="02010600040101010101" charset="-122"/>
                <a:ea typeface="华文楷体" panose="02010600040101010101" charset="-122"/>
                <a:cs typeface="华文楷体" panose="02010600040101010101" charset="-122"/>
              </a:rPr>
              <a:t>https://prior.allenai.org/projects/visprog</a:t>
            </a:r>
            <a:endParaRPr lang="zh-CN" altLang="en-US" sz="1600">
              <a:solidFill>
                <a:srgbClr val="1C1F23"/>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87" y="13684"/>
            <a:ext cx="12191239" cy="6857572"/>
          </a:xfrm>
          <a:prstGeom prst="rect">
            <a:avLst/>
          </a:prstGeom>
        </p:spPr>
      </p:pic>
      <p:sp>
        <p:nvSpPr>
          <p:cNvPr id="8" name="Freeform 5"/>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0" name="Freeform 6"/>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C9C9C9"/>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1" name="Freeform 7"/>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solidFill>
            <a:srgbClr val="0070C0"/>
          </a:solidFill>
          <a:ln>
            <a:noFill/>
          </a:ln>
        </p:spPr>
        <p:txBody>
          <a:bodyPr lIns="91416" tIns="45708" rIns="91416" bIns="45708"/>
          <a:lstStyle/>
          <a:p>
            <a:endParaRPr lang="zh-CN" altLang="en-US" sz="2400"/>
          </a:p>
        </p:txBody>
      </p:sp>
      <p:sp>
        <p:nvSpPr>
          <p:cNvPr id="12" name="Freeform 8"/>
          <p:cNvSpPr/>
          <p:nvPr/>
        </p:nvSpPr>
        <p:spPr bwMode="auto">
          <a:xfrm>
            <a:off x="11227177" y="1908175"/>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3" name="Freeform 9"/>
          <p:cNvSpPr/>
          <p:nvPr/>
        </p:nvSpPr>
        <p:spPr bwMode="auto">
          <a:xfrm>
            <a:off x="10587664" y="6049964"/>
            <a:ext cx="1604336" cy="808037"/>
          </a:xfrm>
          <a:custGeom>
            <a:avLst/>
            <a:gdLst>
              <a:gd name="T0" fmla="*/ 2088 w 2088"/>
              <a:gd name="T1" fmla="*/ 0 h 1048"/>
              <a:gd name="T2" fmla="*/ 2088 w 2088"/>
              <a:gd name="T3" fmla="*/ 1048 h 1048"/>
              <a:gd name="T4" fmla="*/ 0 w 2088"/>
              <a:gd name="T5" fmla="*/ 1048 h 1048"/>
              <a:gd name="T6" fmla="*/ 662 w 2088"/>
              <a:gd name="T7" fmla="*/ 0 h 1048"/>
              <a:gd name="T8" fmla="*/ 2088 w 2088"/>
              <a:gd name="T9" fmla="*/ 0 h 1048"/>
            </a:gdLst>
            <a:ahLst/>
            <a:cxnLst>
              <a:cxn ang="0">
                <a:pos x="T0" y="T1"/>
              </a:cxn>
              <a:cxn ang="0">
                <a:pos x="T2" y="T3"/>
              </a:cxn>
              <a:cxn ang="0">
                <a:pos x="T4" y="T5"/>
              </a:cxn>
              <a:cxn ang="0">
                <a:pos x="T6" y="T7"/>
              </a:cxn>
              <a:cxn ang="0">
                <a:pos x="T8" y="T9"/>
              </a:cxn>
            </a:cxnLst>
            <a:rect l="0" t="0" r="r" b="b"/>
            <a:pathLst>
              <a:path w="2088" h="1048">
                <a:moveTo>
                  <a:pt x="2088" y="0"/>
                </a:moveTo>
                <a:lnTo>
                  <a:pt x="2088" y="1048"/>
                </a:lnTo>
                <a:lnTo>
                  <a:pt x="0" y="1048"/>
                </a:lnTo>
                <a:lnTo>
                  <a:pt x="662" y="0"/>
                </a:lnTo>
                <a:lnTo>
                  <a:pt x="2088" y="0"/>
                </a:lnTo>
                <a:close/>
              </a:path>
            </a:pathLst>
          </a:custGeom>
          <a:solidFill>
            <a:srgbClr val="C1C0C3"/>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4" name="Freeform 10"/>
          <p:cNvSpPr/>
          <p:nvPr/>
        </p:nvSpPr>
        <p:spPr bwMode="auto">
          <a:xfrm>
            <a:off x="10297265" y="6208713"/>
            <a:ext cx="1894735" cy="649287"/>
          </a:xfrm>
          <a:custGeom>
            <a:avLst/>
            <a:gdLst>
              <a:gd name="T0" fmla="*/ 2467 w 2467"/>
              <a:gd name="T1" fmla="*/ 0 h 843"/>
              <a:gd name="T2" fmla="*/ 2467 w 2467"/>
              <a:gd name="T3" fmla="*/ 843 h 843"/>
              <a:gd name="T4" fmla="*/ 0 w 2467"/>
              <a:gd name="T5" fmla="*/ 843 h 843"/>
              <a:gd name="T6" fmla="*/ 533 w 2467"/>
              <a:gd name="T7" fmla="*/ 0 h 843"/>
              <a:gd name="T8" fmla="*/ 2467 w 2467"/>
              <a:gd name="T9" fmla="*/ 0 h 843"/>
            </a:gdLst>
            <a:ahLst/>
            <a:cxnLst>
              <a:cxn ang="0">
                <a:pos x="T0" y="T1"/>
              </a:cxn>
              <a:cxn ang="0">
                <a:pos x="T2" y="T3"/>
              </a:cxn>
              <a:cxn ang="0">
                <a:pos x="T4" y="T5"/>
              </a:cxn>
              <a:cxn ang="0">
                <a:pos x="T6" y="T7"/>
              </a:cxn>
              <a:cxn ang="0">
                <a:pos x="T8" y="T9"/>
              </a:cxn>
            </a:cxnLst>
            <a:rect l="0" t="0" r="r" b="b"/>
            <a:pathLst>
              <a:path w="2467" h="843">
                <a:moveTo>
                  <a:pt x="2467" y="0"/>
                </a:moveTo>
                <a:lnTo>
                  <a:pt x="2467" y="843"/>
                </a:lnTo>
                <a:lnTo>
                  <a:pt x="0" y="843"/>
                </a:lnTo>
                <a:lnTo>
                  <a:pt x="533" y="0"/>
                </a:lnTo>
                <a:lnTo>
                  <a:pt x="2467"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endParaRPr lang="zh-CN" altLang="en-US" sz="2400"/>
          </a:p>
        </p:txBody>
      </p:sp>
      <p:sp>
        <p:nvSpPr>
          <p:cNvPr id="15" name="TextBox 11"/>
          <p:cNvSpPr txBox="1">
            <a:spLocks noChangeArrowheads="1"/>
          </p:cNvSpPr>
          <p:nvPr/>
        </p:nvSpPr>
        <p:spPr bwMode="auto">
          <a:xfrm>
            <a:off x="2496715" y="2679701"/>
            <a:ext cx="5063490" cy="1567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6" tIns="45708" rIns="91416" bIns="4570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9600" b="1" dirty="0">
                <a:solidFill>
                  <a:srgbClr val="FFFFFF"/>
                </a:solidFill>
                <a:latin typeface="华文楷体" panose="02010600040101010101" charset="-122"/>
                <a:ea typeface="华文楷体" panose="02010600040101010101" charset="-122"/>
              </a:rPr>
              <a:t>谢谢观赏</a:t>
            </a:r>
            <a:endParaRPr lang="zh-CN" altLang="en-US" sz="9600" b="1" dirty="0">
              <a:solidFill>
                <a:srgbClr val="FFFFFF"/>
              </a:solidFill>
              <a:latin typeface="华文楷体" panose="02010600040101010101" charset="-122"/>
              <a:ea typeface="华文楷体" panose="02010600040101010101" charset="-122"/>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4592" y="123667"/>
            <a:ext cx="2514152" cy="6732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advClick="0" advTm="8000">
        <p14:prism/>
      </p:transition>
    </mc:Choice>
    <mc:Fallback>
      <p:transition spd="slow" advClick="0" advTm="8000">
        <p:fade/>
      </p:transition>
    </mc:Fallback>
  </mc:AlternateContent>
  <p:timing>
    <p:tnLst>
      <p:par>
        <p:cTn id="1" dur="indefinite" restart="never" nodeType="tmRoot"/>
      </p:par>
    </p:tnLst>
    <p:bldLst>
      <p:bldP spid="13" grpId="0" bldLvl="0" animBg="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 name="KSO_WM_DIAGRAM_VIRTUALLY_FRAME" val="{&quot;height&quot;:308.45,&quot;left&quot;:279.1,&quot;top&quot;:223.4,&quot;width&quot;:643.5}"/>
</p:tagLst>
</file>

<file path=ppt/tags/tag23.xml><?xml version="1.0" encoding="utf-8"?>
<p:tagLst xmlns:p="http://schemas.openxmlformats.org/presentationml/2006/main">
  <p:tag name="KSO_WM_BEAUTIFY_FLAG" val=""/>
  <p:tag name="KSO_WM_DIAGRAM_VIRTUALLY_FRAME" val="{&quot;height&quot;:308.45,&quot;left&quot;:279.1,&quot;top&quot;:223.4,&quot;width&quot;:643.5}"/>
</p:tagLst>
</file>

<file path=ppt/tags/tag24.xml><?xml version="1.0" encoding="utf-8"?>
<p:tagLst xmlns:p="http://schemas.openxmlformats.org/presentationml/2006/main">
  <p:tag name="KSO_WM_BEAUTIFY_FLAG" val=""/>
  <p:tag name="KSO_WM_DIAGRAM_VIRTUALLY_FRAME" val="{&quot;height&quot;:308.45,&quot;left&quot;:279.1,&quot;top&quot;:223.4,&quot;width&quot;:643.5}"/>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DIAGRAM_VIRTUALLY_FRAME" val="{&quot;height&quot;:308.45,&quot;left&quot;:279.1,&quot;top&quot;:223.4,&quot;width&quot;:643.5}"/>
</p:tagLst>
</file>

<file path=ppt/tags/tag27.xml><?xml version="1.0" encoding="utf-8"?>
<p:tagLst xmlns:p="http://schemas.openxmlformats.org/presentationml/2006/main">
  <p:tag name="KSO_WM_DIAGRAM_VIRTUALLY_FRAME" val="{&quot;height&quot;:308.45,&quot;left&quot;:279.1,&quot;top&quot;:223.4,&quot;width&quot;:643.5}"/>
</p:tagLst>
</file>

<file path=ppt/tags/tag28.xml><?xml version="1.0" encoding="utf-8"?>
<p:tagLst xmlns:p="http://schemas.openxmlformats.org/presentationml/2006/main">
  <p:tag name="KSO_WM_DIAGRAM_VIRTUALLY_FRAME" val="{&quot;height&quot;:308.45,&quot;left&quot;:279.1,&quot;top&quot;:223.4,&quot;width&quot;:643.5}"/>
</p:tagLst>
</file>

<file path=ppt/tags/tag29.xml><?xml version="1.0" encoding="utf-8"?>
<p:tagLst xmlns:p="http://schemas.openxmlformats.org/presentationml/2006/main">
  <p:tag name="KSO_WM_DIAGRAM_VIRTUALLY_FRAME" val="{&quot;height&quot;:308.45,&quot;left&quot;:279.1,&quot;top&quot;:223.4,&quot;width&quot;:643.5}"/>
</p:tagLst>
</file>

<file path=ppt/tags/tag30.xml><?xml version="1.0" encoding="utf-8"?>
<p:tagLst xmlns:p="http://schemas.openxmlformats.org/presentationml/2006/main">
  <p:tag name="KSO_WM_DIAGRAM_VIRTUALLY_FRAME" val="{&quot;height&quot;:308.45,&quot;left&quot;:279.1,&quot;top&quot;:223.4,&quot;width&quot;:643.5}"/>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 name="KSO_WM_DIAGRAM_VIRTUALLY_FRAME" val="{&quot;height&quot;:374.4,&quot;left&quot;:375.6,&quot;top&quot;:75.15,&quot;width&quot;:529.3}"/>
</p:tagLst>
</file>

<file path=ppt/tags/tag33.xml><?xml version="1.0" encoding="utf-8"?>
<p:tagLst xmlns:p="http://schemas.openxmlformats.org/presentationml/2006/main">
  <p:tag name="KSO_WM_BEAUTIFY_FLAG" val=""/>
  <p:tag name="KSO_WM_DIAGRAM_VIRTUALLY_FRAME" val="{&quot;height&quot;:374.4,&quot;left&quot;:375.6,&quot;top&quot;:75.15,&quot;width&quot;:529.3}"/>
</p:tagLst>
</file>

<file path=ppt/tags/tag34.xml><?xml version="1.0" encoding="utf-8"?>
<p:tagLst xmlns:p="http://schemas.openxmlformats.org/presentationml/2006/main">
  <p:tag name="KSO_WM_BEAUTIFY_FLAG" val=""/>
  <p:tag name="KSO_WM_DIAGRAM_VIRTUALLY_FRAME" val="{&quot;height&quot;:374.4,&quot;left&quot;:375.6,&quot;top&quot;:75.15,&quot;width&quot;:529.3}"/>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DIAGRAM_VIRTUALLY_FRAME" val="{&quot;height&quot;:374.4,&quot;left&quot;:375.6,&quot;top&quot;:75.15,&quot;width&quot;:529.3}"/>
</p:tagLst>
</file>

<file path=ppt/tags/tag37.xml><?xml version="1.0" encoding="utf-8"?>
<p:tagLst xmlns:p="http://schemas.openxmlformats.org/presentationml/2006/main">
  <p:tag name="KSO_WM_DIAGRAM_VIRTUALLY_FRAME" val="{&quot;height&quot;:374.4,&quot;left&quot;:375.6,&quot;top&quot;:75.15,&quot;width&quot;:529.3}"/>
</p:tagLst>
</file>

<file path=ppt/tags/tag38.xml><?xml version="1.0" encoding="utf-8"?>
<p:tagLst xmlns:p="http://schemas.openxmlformats.org/presentationml/2006/main">
  <p:tag name="KSO_WM_DIAGRAM_VIRTUALLY_FRAME" val="{&quot;height&quot;:374.4,&quot;left&quot;:375.6,&quot;top&quot;:75.15,&quot;width&quot;:529.3}"/>
</p:tagLst>
</file>

<file path=ppt/tags/tag39.xml><?xml version="1.0" encoding="utf-8"?>
<p:tagLst xmlns:p="http://schemas.openxmlformats.org/presentationml/2006/main">
  <p:tag name="KSO_WM_DIAGRAM_VIRTUALLY_FRAME" val="{&quot;height&quot;:374.4,&quot;left&quot;:375.6,&quot;top&quot;:75.15,&quot;width&quot;:529.3}"/>
</p:tagLst>
</file>

<file path=ppt/tags/tag40.xml><?xml version="1.0" encoding="utf-8"?>
<p:tagLst xmlns:p="http://schemas.openxmlformats.org/presentationml/2006/main">
  <p:tag name="KSO_WM_DIAGRAM_VIRTUALLY_FRAME" val="{&quot;height&quot;:374.4,&quot;left&quot;:375.6,&quot;top&quot;:75.15,&quot;width&quot;:529.3}"/>
</p:tagLst>
</file>

<file path=ppt/tags/tag41.xml><?xml version="1.0" encoding="utf-8"?>
<p:tagLst xmlns:p="http://schemas.openxmlformats.org/presentationml/2006/main">
  <p:tag name="KSO_WM_DIAGRAM_VIRTUALLY_FRAME" val="{&quot;height&quot;:374.4,&quot;left&quot;:375.6,&quot;top&quot;:75.15,&quot;width&quot;:529.3}"/>
</p:tagLst>
</file>

<file path=ppt/tags/tag42.xml><?xml version="1.0" encoding="utf-8"?>
<p:tagLst xmlns:p="http://schemas.openxmlformats.org/presentationml/2006/main">
  <p:tag name="KSO_WM_DIAGRAM_VIRTUALLY_FRAME" val="{&quot;height&quot;:374.4,&quot;left&quot;:375.6,&quot;top&quot;:75.15,&quot;width&quot;:529.3}"/>
</p:tagLst>
</file>

<file path=ppt/tags/tag43.xml><?xml version="1.0" encoding="utf-8"?>
<p:tagLst xmlns:p="http://schemas.openxmlformats.org/presentationml/2006/main">
  <p:tag name="KSO_WM_DIAGRAM_VIRTUALLY_FRAME" val="{&quot;height&quot;:374.4,&quot;left&quot;:375.6,&quot;top&quot;:75.15,&quot;width&quot;:529.3}"/>
</p:tagLst>
</file>

<file path=ppt/tags/tag44.xml><?xml version="1.0" encoding="utf-8"?>
<p:tagLst xmlns:p="http://schemas.openxmlformats.org/presentationml/2006/main">
  <p:tag name="KSO_WM_BEAUTIFY_FLAG" val=""/>
  <p:tag name="KSO_WM_DIAGRAM_VIRTUALLY_FRAME" val="{&quot;height&quot;:374.4,&quot;left&quot;:287.25,&quot;top&quot;:78.5,&quot;width&quot;:428.1}"/>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TABLE_ENDDRAG_ORIGIN_RECT" val="843*463"/>
  <p:tag name="TABLE_ENDDRAG_RECT" val="104*86*843*463"/>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TABLE_ENDDRAG_ORIGIN_RECT" val="843*463"/>
  <p:tag name="TABLE_ENDDRAG_RECT" val="104*86*843*463"/>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resource_record_key" val="{&quot;29&quot;:[50000283]}"/>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7209</Words>
  <Application>WPS 演示</Application>
  <PresentationFormat>宽屏</PresentationFormat>
  <Paragraphs>424</Paragraphs>
  <Slides>19</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11</vt:i4>
      </vt:variant>
      <vt:variant>
        <vt:lpstr>幻灯片标题</vt:lpstr>
      </vt:variant>
      <vt:variant>
        <vt:i4>19</vt:i4>
      </vt:variant>
    </vt:vector>
  </HeadingPairs>
  <TitlesOfParts>
    <vt:vector size="49" baseType="lpstr">
      <vt:lpstr>Arial</vt:lpstr>
      <vt:lpstr>宋体</vt:lpstr>
      <vt:lpstr>Wingdings</vt:lpstr>
      <vt:lpstr>Arial</vt:lpstr>
      <vt:lpstr>黑体</vt:lpstr>
      <vt:lpstr>华文仿宋</vt:lpstr>
      <vt:lpstr>楷体</vt:lpstr>
      <vt:lpstr>NimbusMonL-Regu</vt:lpstr>
      <vt:lpstr>Segoe Print</vt:lpstr>
      <vt:lpstr>微软雅黑</vt:lpstr>
      <vt:lpstr>华文楷体</vt:lpstr>
      <vt:lpstr>仿宋</vt:lpstr>
      <vt:lpstr>Cambria Math</vt:lpstr>
      <vt:lpstr>MS Mincho</vt:lpstr>
      <vt:lpstr>Inter</vt:lpstr>
      <vt:lpstr>Calibri</vt:lpstr>
      <vt:lpstr>Arial Unicode MS</vt:lpstr>
      <vt:lpstr>MS PGothic</vt:lpstr>
      <vt:lpstr>WPS</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立身行道</cp:lastModifiedBy>
  <cp:revision>15</cp:revision>
  <dcterms:created xsi:type="dcterms:W3CDTF">2023-08-09T12:44:00Z</dcterms:created>
  <dcterms:modified xsi:type="dcterms:W3CDTF">2025-04-14T14:38:04Z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2052-12.1.0.20305</vt:lpwstr>
  </property>
</Properties>
</file>