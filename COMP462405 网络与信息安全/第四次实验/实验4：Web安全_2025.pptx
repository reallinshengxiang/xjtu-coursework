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9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0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6.xml" ContentType="application/vnd.openxmlformats-officedocument.presentationml.notesSlide+xml"/>
  <Override PartName="/ppt/ink/ink1.xml" ContentType="application/inkml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7.xml" ContentType="application/vnd.openxmlformats-officedocument.presentationml.notesSlide+xml"/>
  <Override PartName="/ppt/ink/ink2.xml" ContentType="application/inkml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2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2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6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7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3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32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3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8" r:id="rId2"/>
    <p:sldId id="271" r:id="rId3"/>
    <p:sldId id="285" r:id="rId4"/>
    <p:sldId id="283" r:id="rId5"/>
    <p:sldId id="295" r:id="rId6"/>
    <p:sldId id="333" r:id="rId7"/>
    <p:sldId id="366" r:id="rId8"/>
    <p:sldId id="338" r:id="rId9"/>
    <p:sldId id="363" r:id="rId10"/>
    <p:sldId id="339" r:id="rId11"/>
    <p:sldId id="337" r:id="rId12"/>
    <p:sldId id="296" r:id="rId13"/>
    <p:sldId id="341" r:id="rId14"/>
    <p:sldId id="342" r:id="rId15"/>
    <p:sldId id="343" r:id="rId16"/>
    <p:sldId id="345" r:id="rId17"/>
    <p:sldId id="367" r:id="rId18"/>
    <p:sldId id="344" r:id="rId19"/>
    <p:sldId id="346" r:id="rId20"/>
    <p:sldId id="347" r:id="rId21"/>
    <p:sldId id="348" r:id="rId22"/>
    <p:sldId id="349" r:id="rId23"/>
    <p:sldId id="352" r:id="rId24"/>
    <p:sldId id="350" r:id="rId25"/>
    <p:sldId id="351" r:id="rId26"/>
    <p:sldId id="354" r:id="rId27"/>
    <p:sldId id="365" r:id="rId28"/>
    <p:sldId id="355" r:id="rId29"/>
    <p:sldId id="353" r:id="rId30"/>
    <p:sldId id="356" r:id="rId31"/>
    <p:sldId id="359" r:id="rId32"/>
    <p:sldId id="358" r:id="rId33"/>
    <p:sldId id="357" r:id="rId34"/>
    <p:sldId id="332" r:id="rId35"/>
    <p:sldId id="328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8" autoAdjust="0"/>
    <p:restoredTop sz="95044"/>
  </p:normalViewPr>
  <p:slideViewPr>
    <p:cSldViewPr snapToGrid="0">
      <p:cViewPr varScale="1">
        <p:scale>
          <a:sx n="108" d="100"/>
          <a:sy n="108" d="100"/>
        </p:scale>
        <p:origin x="13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12-10T06:55:06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12-10T06:55:06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D27CE-CC9A-49E2-811A-FFF20AABD19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D27CE-CC9A-49E2-811A-FFF20AABD19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603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773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760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312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191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59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081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533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252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20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087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79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86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3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6870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7493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8417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811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11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0304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4318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2522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5318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5610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9873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0066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" t="20739" r="1" b="25266"/>
          <a:stretch>
            <a:fillRect/>
          </a:stretch>
        </p:blipFill>
        <p:spPr>
          <a:xfrm>
            <a:off x="3047" y="0"/>
            <a:ext cx="9140953" cy="3735977"/>
          </a:xfrm>
          <a:prstGeom prst="rect">
            <a:avLst/>
          </a:prstGeom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308107" y="5115164"/>
            <a:ext cx="7729172" cy="512847"/>
          </a:xfrm>
          <a:prstGeom prst="roundRect">
            <a:avLst>
              <a:gd name="adj" fmla="val 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 b="0" baseline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0" y="3526971"/>
            <a:ext cx="9144000" cy="566058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baseline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" name="KSO_CT1"/>
          <p:cNvSpPr>
            <a:spLocks noGrp="1"/>
          </p:cNvSpPr>
          <p:nvPr>
            <p:ph type="ctrTitle" hasCustomPrompt="1"/>
          </p:nvPr>
        </p:nvSpPr>
        <p:spPr>
          <a:xfrm>
            <a:off x="308260" y="4199808"/>
            <a:ext cx="7721043" cy="915355"/>
          </a:xfrm>
          <a:noFill/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单击此处添加您的标题文字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48734" y="1282700"/>
            <a:ext cx="8104715" cy="460981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631825" indent="-26860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412274" y="2628900"/>
            <a:ext cx="4127863" cy="723899"/>
          </a:xfrm>
        </p:spPr>
        <p:txBody>
          <a:bodyPr anchor="b">
            <a:normAutofit/>
          </a:bodyPr>
          <a:lstStyle>
            <a:lvl1pPr algn="ctr">
              <a:defRPr sz="4000" baseline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2412274" y="3417888"/>
            <a:ext cx="4127863" cy="477364"/>
          </a:xfrm>
        </p:spPr>
        <p:txBody>
          <a:bodyPr>
            <a:normAutofit/>
          </a:bodyPr>
          <a:lstStyle>
            <a:lvl1pPr marL="0" indent="0" algn="ctr">
              <a:buNone/>
              <a:defRPr sz="1800" b="1" baseline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grpSp>
        <p:nvGrpSpPr>
          <p:cNvPr id="9" name="组合 8"/>
          <p:cNvGrpSpPr/>
          <p:nvPr/>
        </p:nvGrpSpPr>
        <p:grpSpPr>
          <a:xfrm>
            <a:off x="2412274" y="3370499"/>
            <a:ext cx="4127863" cy="47389"/>
            <a:chOff x="3914775" y="2524125"/>
            <a:chExt cx="2428875" cy="57150"/>
          </a:xfrm>
        </p:grpSpPr>
        <p:sp>
          <p:nvSpPr>
            <p:cNvPr id="10" name="矩形 9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439208" y="1358901"/>
            <a:ext cx="3810000" cy="4495800"/>
          </a:xfrm>
        </p:spPr>
        <p:txBody>
          <a:bodyPr/>
          <a:lstStyle>
            <a:lvl1pPr>
              <a:defRPr baseline="0">
                <a:ea typeface="黑体" panose="02010609060101010101" charset="-122"/>
              </a:defRPr>
            </a:lvl1pPr>
            <a:lvl2pPr>
              <a:defRPr baseline="0">
                <a:ea typeface="黑体" panose="02010609060101010101" charset="-122"/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772020" y="1358901"/>
            <a:ext cx="3820587" cy="4495800"/>
          </a:xfrm>
        </p:spPr>
        <p:txBody>
          <a:bodyPr/>
          <a:lstStyle>
            <a:lvl1pPr>
              <a:defRPr baseline="0">
                <a:ea typeface="黑体" panose="02010609060101010101" charset="-122"/>
              </a:defRPr>
            </a:lvl1pPr>
            <a:lvl2pPr>
              <a:defRPr baseline="0">
                <a:ea typeface="黑体" panose="02010609060101010101" charset="-122"/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24576" y="247384"/>
            <a:ext cx="7886698" cy="71702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6" y="137636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6" y="2200274"/>
            <a:ext cx="3868340" cy="3684588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4" y="137636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4" y="2200274"/>
            <a:ext cx="3887391" cy="3684588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空心弧 6"/>
          <p:cNvSpPr/>
          <p:nvPr/>
        </p:nvSpPr>
        <p:spPr bwMode="auto">
          <a:xfrm rot="7086271">
            <a:off x="5078413" y="2563813"/>
            <a:ext cx="1482725" cy="1482725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2743200" y="2869200"/>
            <a:ext cx="3276000" cy="1008000"/>
          </a:xfrm>
        </p:spPr>
        <p:txBody>
          <a:bodyPr anchor="t" anchorCtr="0">
            <a:normAutofit/>
          </a:bodyPr>
          <a:lstStyle>
            <a:lvl1pPr>
              <a:defRPr sz="6000" b="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3024000" y="3916799"/>
            <a:ext cx="2192400" cy="527615"/>
          </a:xfrm>
        </p:spPr>
        <p:txBody>
          <a:bodyPr>
            <a:normAutofit/>
          </a:bodyPr>
          <a:lstStyle>
            <a:lvl1pPr marL="0" indent="0" algn="dist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/>
              <a:t>编辑副标题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3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439200" y="356400"/>
            <a:ext cx="8154000" cy="576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 hasCustomPrompt="1"/>
          </p:nvPr>
        </p:nvSpPr>
        <p:spPr>
          <a:xfrm>
            <a:off x="4790344" y="1814400"/>
            <a:ext cx="3258000" cy="3740400"/>
          </a:xfrm>
        </p:spPr>
        <p:txBody>
          <a:bodyPr anchor="t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96744" y="1825200"/>
            <a:ext cx="3528000" cy="3729600"/>
          </a:xfrm>
          <a:solidFill>
            <a:srgbClr val="63A6CE"/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7" y="365125"/>
            <a:ext cx="886883" cy="581183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621102" y="365125"/>
            <a:ext cx="6914231" cy="5811838"/>
          </a:xfrm>
        </p:spPr>
        <p:txBody>
          <a:bodyPr vert="eaVert">
            <a:normAutofit/>
          </a:bodyPr>
          <a:lstStyle>
            <a:lvl1pPr>
              <a:defRPr sz="2400">
                <a:latin typeface="+mn-ea"/>
                <a:ea typeface="+mn-ea"/>
              </a:defRPr>
            </a:lvl1pPr>
            <a:lvl2pPr>
              <a:defRPr sz="2000">
                <a:latin typeface="+mn-ea"/>
                <a:ea typeface="+mn-ea"/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200" y="408675"/>
            <a:ext cx="78876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/>
          <p:nvPr/>
        </p:nvCxnSpPr>
        <p:spPr>
          <a:xfrm>
            <a:off x="-63" y="1114425"/>
            <a:ext cx="914406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" t="4593" r="1" b="28553"/>
          <a:stretch>
            <a:fillRect/>
          </a:stretch>
        </p:blipFill>
        <p:spPr>
          <a:xfrm>
            <a:off x="-63" y="1266825"/>
            <a:ext cx="9140953" cy="4625689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314323" y="276225"/>
            <a:ext cx="8524877" cy="6581775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chemeClr val="bg1"/>
            </a:solidFill>
          </a:ln>
          <a:effectLst>
            <a:outerShdw blurRad="76200" dist="25400" dir="16200000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baseline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439208" y="355885"/>
            <a:ext cx="8153399" cy="575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448734" y="1297764"/>
            <a:ext cx="8104715" cy="4594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44" name="燕尾形 43">
            <a:hlinkClick r:id="" action="ppaction://hlinkshowjump?jump=nextslide"/>
          </p:cNvPr>
          <p:cNvSpPr/>
          <p:nvPr/>
        </p:nvSpPr>
        <p:spPr>
          <a:xfrm>
            <a:off x="8621184" y="6426977"/>
            <a:ext cx="90000" cy="90000"/>
          </a:xfrm>
          <a:prstGeom prst="chevron">
            <a:avLst>
              <a:gd name="adj" fmla="val 6326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 baseline="0">
              <a:solidFill>
                <a:schemeClr val="tx1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45" name="燕尾形 44">
            <a:hlinkClick r:id="" action="ppaction://hlinkshowjump?jump=previousslide"/>
          </p:cNvPr>
          <p:cNvSpPr/>
          <p:nvPr/>
        </p:nvSpPr>
        <p:spPr>
          <a:xfrm flipH="1">
            <a:off x="7935384" y="6426977"/>
            <a:ext cx="90000" cy="90000"/>
          </a:xfrm>
          <a:prstGeom prst="chevron">
            <a:avLst>
              <a:gd name="adj" fmla="val 6326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 baseline="0">
              <a:solidFill>
                <a:schemeClr val="tx1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700" spc="-110" baseline="0">
          <a:solidFill>
            <a:schemeClr val="accent1"/>
          </a:solidFill>
          <a:effectLst/>
          <a:latin typeface="Arial" panose="020B0604020202020204" pitchFamily="34" charset="0"/>
          <a:ea typeface="黑体" panose="02010609060101010101" charset="-122"/>
          <a:cs typeface="+mj-cs"/>
        </a:defRPr>
      </a:lvl1pPr>
    </p:titleStyle>
    <p:bodyStyle>
      <a:lvl1pPr marL="361950" indent="-361950" algn="just" defTabSz="914400" rtl="0" eaLnBrk="1" latinLnBrk="0" hangingPunct="1">
        <a:spcBef>
          <a:spcPts val="0"/>
        </a:spcBef>
        <a:spcAft>
          <a:spcPts val="0"/>
        </a:spcAft>
        <a:buSzPct val="60000"/>
        <a:buFont typeface="黑体" panose="02010609060101010101" charset="-122"/>
        <a:buChar char="〉"/>
        <a:defRPr sz="2400" kern="1200" baseline="0">
          <a:solidFill>
            <a:schemeClr val="tx1"/>
          </a:solidFill>
          <a:latin typeface="+mn-ea"/>
          <a:ea typeface="+mn-ea"/>
          <a:cs typeface="+mn-cs"/>
        </a:defRPr>
      </a:lvl1pPr>
      <a:lvl2pPr marL="713105" indent="-268605" algn="just" defTabSz="914400" rtl="0" eaLnBrk="1" latinLnBrk="0" hangingPunct="1"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•"/>
        <a:tabLst>
          <a:tab pos="712470" algn="l"/>
        </a:tabLst>
        <a:defRPr sz="20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hyperlink" Target="https://raw.githubusercontent.com/IamCarron/DVWA-Script/main/Install-DVWA.sh" TargetMode="Externa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hyperlink" Target="https://github.com/digininja/DVWA" TargetMode="Externa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hyperlink" Target="http://localhost/DVWA" TargetMode="Externa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4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hyperlink" Target="http://localhost/DVWA" TargetMode="Externa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7.tiff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6.tiff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7.xml"/><Relationship Id="rId7" Type="http://schemas.openxmlformats.org/officeDocument/2006/relationships/image" Target="../media/image18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customXml" Target="../ink/ink1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50.xml"/><Relationship Id="rId7" Type="http://schemas.openxmlformats.org/officeDocument/2006/relationships/image" Target="../media/image18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customXml" Target="../ink/ink2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16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17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65.xml"/><Relationship Id="rId7" Type="http://schemas.openxmlformats.org/officeDocument/2006/relationships/image" Target="../media/image2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23.tiff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24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25.tiff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7" Type="http://schemas.openxmlformats.org/officeDocument/2006/relationships/image" Target="../media/image27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26.png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28.png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87.xml"/><Relationship Id="rId7" Type="http://schemas.openxmlformats.org/officeDocument/2006/relationships/image" Target="../media/image30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29.png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image" Target="../media/image33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32.png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34.png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96.xml"/><Relationship Id="rId7" Type="http://schemas.openxmlformats.org/officeDocument/2006/relationships/image" Target="../media/image35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hyperlink" Target="http://syxt.xjtu.edu.cn/index.jsp" TargetMode="External"/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8260" y="4199808"/>
            <a:ext cx="7721043" cy="91535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700" spc="-110" baseline="0">
                <a:solidFill>
                  <a:srgbClr val="358CC1">
                    <a:lumMod val="75000"/>
                  </a:srgbClr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</a:defRPr>
            </a:lvl1pPr>
          </a:lstStyle>
          <a:p>
            <a:pPr algn="ctr"/>
            <a:r>
              <a:rPr lang="en-US" altLang="zh-CN" dirty="0">
                <a:latin typeface="Arial" panose="020B0604020202020204" pitchFamily="34" charset="0"/>
                <a:ea typeface="+mn-ea"/>
              </a:rPr>
              <a:t>WEB</a:t>
            </a:r>
            <a:r>
              <a:rPr lang="zh-CN" altLang="en-US">
                <a:latin typeface="Arial" panose="020B0604020202020204" pitchFamily="34" charset="0"/>
                <a:ea typeface="+mn-ea"/>
              </a:rPr>
              <a:t>安全实验</a:t>
            </a:r>
            <a:endParaRPr lang="en-US" altLang="zh-CN" dirty="0">
              <a:latin typeface="Arial" panose="020B0604020202020204" pitchFamily="34" charset="0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39208" y="355885"/>
            <a:ext cx="8153399" cy="575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700" spc="-110" baseline="0">
                <a:solidFill>
                  <a:srgbClr val="358CC1"/>
                </a:solidFill>
                <a:effectLst/>
                <a:latin typeface="Arial" panose="020B0604020202020204" pitchFamily="34" charset="0"/>
                <a:ea typeface="黑体" panose="02010609060101010101" charset="-122"/>
                <a:cs typeface="+mn-ea"/>
              </a:defRPr>
            </a:lvl1pPr>
          </a:lstStyle>
          <a:p>
            <a:r>
              <a:rPr lang="en-US" altLang="zh-CN" dirty="0">
                <a:latin typeface="Arial" panose="020B0604020202020204" pitchFamily="34" charset="0"/>
                <a:ea typeface="+mn-ea"/>
              </a:rPr>
              <a:t>实验目的</a:t>
            </a:r>
          </a:p>
        </p:txBody>
      </p:sp>
      <p:sp>
        <p:nvSpPr>
          <p:cNvPr id="4" name="内容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8734" y="1282700"/>
            <a:ext cx="8104715" cy="4609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just" defTabSz="914400" rtl="0" eaLnBrk="1" latinLnBrk="0" hangingPunct="1">
              <a:spcBef>
                <a:spcPts val="0"/>
              </a:spcBef>
              <a:spcAft>
                <a:spcPts val="0"/>
              </a:spcAft>
              <a:buSzPct val="60000"/>
              <a:buFont typeface="黑体" panose="02010609060101010101" charset="-122"/>
              <a:buChar char="〉"/>
              <a:defRPr sz="2400" kern="1200" baseline="0">
                <a:solidFill>
                  <a:srgbClr val="47494B"/>
                </a:solidFill>
                <a:latin typeface="+mn-ea"/>
                <a:ea typeface="+mn-ea"/>
                <a:cs typeface="+mn-ea"/>
              </a:defRPr>
            </a:lvl1pPr>
            <a:lvl2pPr marL="631825" indent="-268605" algn="just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454749"/>
              </a:buClr>
              <a:buFont typeface="Arial" panose="020B0604020202020204" pitchFamily="34" charset="0"/>
              <a:buChar char="•"/>
              <a:tabLst>
                <a:tab pos="712470" algn="l"/>
              </a:tabLst>
              <a:defRPr sz="2000" kern="1200" baseline="0">
                <a:solidFill>
                  <a:srgbClr val="47494B"/>
                </a:solidFill>
                <a:latin typeface="+mn-ea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94B"/>
                </a:solidFill>
                <a:latin typeface="+mn-ea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94B"/>
                </a:solidFill>
                <a:latin typeface="+mn-ea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94B"/>
                </a:solidFill>
                <a:latin typeface="+mn-ea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94B"/>
                </a:solidFill>
                <a:latin typeface="Arial" panose="020B0604020202020204" pitchFamily="3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94B"/>
                </a:solidFill>
                <a:latin typeface="Arial" panose="020B0604020202020204" pitchFamily="3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94B"/>
                </a:solidFill>
                <a:latin typeface="Arial" panose="020B0604020202020204" pitchFamily="3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94B"/>
                </a:solidFill>
                <a:latin typeface="Arial" panose="020B0604020202020204" pitchFamily="34" charset="0"/>
                <a:ea typeface="+mn-ea"/>
                <a:cs typeface="+mn-ea"/>
              </a:defRPr>
            </a:lvl9pPr>
          </a:lstStyle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搭建安全靶场，熟悉常见的</a:t>
            </a:r>
            <a:r>
              <a:rPr lang="en-US" altLang="zh-CN" dirty="0">
                <a:latin typeface="Arial" panose="020B0604020202020204" pitchFamily="34" charset="0"/>
              </a:rPr>
              <a:t>WEB</a:t>
            </a:r>
            <a:r>
              <a:rPr lang="zh-CN" altLang="en-US" dirty="0">
                <a:latin typeface="Arial" panose="020B0604020202020204" pitchFamily="34" charset="0"/>
              </a:rPr>
              <a:t>安全漏洞</a:t>
            </a: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了解并掌握相关工具寻找漏洞及注入点</a:t>
            </a: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</a:rPr>
              <a:t>掌握</a:t>
            </a:r>
            <a:r>
              <a:rPr lang="zh-CN" altLang="en-US" dirty="0">
                <a:latin typeface="Arial" panose="020B0604020202020204" pitchFamily="34" charset="0"/>
              </a:rPr>
              <a:t>漏洞的保护方式</a:t>
            </a: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15875" indent="-15875" algn="l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zh-CN" altLang="en-US" dirty="0">
                <a:latin typeface="+mj-lt"/>
                <a:ea typeface="+mj-ea"/>
              </a:rPr>
              <a:t>实验内容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爆破登陆</a:t>
            </a:r>
          </a:p>
          <a:p>
            <a:pPr algn="l">
              <a:lnSpc>
                <a:spcPct val="150000"/>
              </a:lnSpc>
            </a:pP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工具拦截包并使用字典暴力破解密码登陆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2.SQL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注入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了解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注入原理并利用漏洞</a:t>
            </a:r>
          </a:p>
          <a:p>
            <a:pPr algn="l">
              <a:lnSpc>
                <a:spcPct val="150000"/>
              </a:lnSpc>
            </a:pP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中间人攻击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Ettercap+driftnet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软件建立中间人攻击并监听图片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latin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endParaRPr lang="zh-CN" altLang="en-US" dirty="0">
              <a:latin typeface="+mj-lt"/>
              <a:ea typeface="+mj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81517" y="1299028"/>
            <a:ext cx="8580966" cy="470988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5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Damn Vulnerable Web Application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）是一个用来进行安全脆弱性鉴定的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PHP/MySQL Web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应用，旨在为安全专业人员测试自己的专业技能和工具提供合法的环境，帮助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开发者更好的理解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应用安全防范的过程。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800" dirty="0"/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共有十个模块，分别是：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 Force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（暴力（破解））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Injection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（命令行注入）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CSRF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（跨站请求伪造）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Inclusion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（文件包含）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（文件上传）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Insecure CAPTCHA 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（不安全的验证码）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注入）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盲注）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）（反射型跨站脚本）</a:t>
            </a: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）（存储型跨站脚本）</a:t>
            </a:r>
          </a:p>
          <a:p>
            <a:endParaRPr lang="en-US" altLang="zh-CN" sz="1800" dirty="0"/>
          </a:p>
          <a:p>
            <a:pPr>
              <a:lnSpc>
                <a:spcPct val="145000"/>
              </a:lnSpc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需要注意的是，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 2.4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的代码分为四种安全级别：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Impossible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。初学者可以通过比较四种级别的代码，接触到一些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代码审计的内容。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靶场搭建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10635" y="1247189"/>
            <a:ext cx="8104715" cy="4609814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实验环境为在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VMWare</a:t>
            </a: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上安装的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 6.11.2</a:t>
            </a: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，其他的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系统亦可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i-FI" altLang="zh-CN" sz="72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Kali, Ubuntu, Kubuntu, Linux Mint, Zorin OS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。这里推荐使用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</a:t>
            </a: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，否则其他实验工具需要额外安装。</a:t>
            </a:r>
            <a:endParaRPr lang="en-US" altLang="zh-C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安装过程参考官方仓库的最新版本，即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 2.4</a:t>
            </a:r>
          </a:p>
          <a:p>
            <a:pPr algn="l">
              <a:lnSpc>
                <a:spcPct val="150000"/>
              </a:lnSpc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https://github.com/digininja/DVWA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官方提供了安装脚本，使用如下命令一键安装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</a:t>
            </a:r>
          </a:p>
          <a:p>
            <a:pPr algn="l">
              <a:lnSpc>
                <a:spcPct val="150000"/>
              </a:lnSpc>
            </a:pPr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bash -c "$(curl --fail --show-error --silent --location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https://raw.githubusercontent.com/IamCarron/DVWA-Script/main/Install-DVWA.sh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)"</a:t>
            </a:r>
          </a:p>
          <a:p>
            <a:pPr algn="l">
              <a:lnSpc>
                <a:spcPct val="150000"/>
              </a:lnSpc>
            </a:pPr>
            <a:endParaRPr lang="en-US" altLang="zh-C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安装过程可能碰到网络问题，需要根据自身网络环境自行设置代理</a:t>
            </a:r>
            <a:endParaRPr lang="en-US" altLang="zh-C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官方仓库还提供了镜像版本的安装方式和手动安装方式，也可自行选择感兴趣的方式安装</a:t>
            </a:r>
            <a:r>
              <a:rPr lang="en-US" altLang="zh-C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DVWA</a:t>
            </a:r>
          </a:p>
          <a:p>
            <a:pPr algn="l">
              <a:lnSpc>
                <a:spcPct val="150000"/>
              </a:lnSpc>
            </a:pPr>
            <a:endParaRPr lang="en-US" altLang="zh-CN" sz="1600" dirty="0">
              <a:latin typeface="+mn-lt"/>
            </a:endParaRPr>
          </a:p>
          <a:p>
            <a:pPr algn="l">
              <a:lnSpc>
                <a:spcPct val="150000"/>
              </a:lnSpc>
            </a:pPr>
            <a:endParaRPr lang="zh-CN" altLang="en-US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+mn-lt"/>
              </a:rPr>
              <a:t>     </a:t>
            </a: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靶场搭建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CN" altLang="en-US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+mn-lt"/>
              </a:rPr>
              <a:t>     </a:t>
            </a: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569088C-E8B0-48EE-9AEF-2A6AAF9EA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009" y="1634815"/>
            <a:ext cx="8559981" cy="425769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C3449FD-DD09-45BC-8FEF-A10411C8D7F3}"/>
              </a:ext>
            </a:extLst>
          </p:cNvPr>
          <p:cNvSpPr txBox="1"/>
          <p:nvPr/>
        </p:nvSpPr>
        <p:spPr>
          <a:xfrm>
            <a:off x="292009" y="1170979"/>
            <a:ext cx="458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j-lt"/>
                <a:ea typeface="+mj-ea"/>
              </a:rPr>
              <a:t>脚本运行过程截图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250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靶场搭建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CN" altLang="en-US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+mn-lt"/>
              </a:rPr>
              <a:t>     </a:t>
            </a: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900258-5A5C-4EA4-B9F8-2066A6BC1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994" y="1882852"/>
            <a:ext cx="8512012" cy="42338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B7476F6-F433-4C40-A155-A9805928FDDD}"/>
              </a:ext>
            </a:extLst>
          </p:cNvPr>
          <p:cNvSpPr txBox="1"/>
          <p:nvPr/>
        </p:nvSpPr>
        <p:spPr>
          <a:xfrm>
            <a:off x="292008" y="1170979"/>
            <a:ext cx="8535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j-lt"/>
                <a:ea typeface="+mj-ea"/>
              </a:rPr>
              <a:t>脚本运行过程截图，安装完成后会给出访问的网址 </a:t>
            </a:r>
            <a:r>
              <a:rPr lang="en-US" altLang="zh-CN" dirty="0">
                <a:latin typeface="+mj-lt"/>
                <a:ea typeface="+mj-ea"/>
                <a:hlinkClick r:id="rId7"/>
              </a:rPr>
              <a:t>http://localhost/DVWA</a:t>
            </a:r>
            <a:r>
              <a:rPr lang="en-US" altLang="zh-CN" dirty="0">
                <a:latin typeface="+mj-lt"/>
                <a:ea typeface="+mj-ea"/>
              </a:rPr>
              <a:t> </a:t>
            </a:r>
            <a:r>
              <a:rPr lang="zh-CN" altLang="en-US" dirty="0">
                <a:latin typeface="+mj-lt"/>
                <a:ea typeface="+mj-ea"/>
              </a:rPr>
              <a:t>和登录</a:t>
            </a:r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时使用的用户名和密码 </a:t>
            </a:r>
            <a:r>
              <a:rPr lang="en-US" altLang="zh-CN" dirty="0">
                <a:latin typeface="+mj-lt"/>
                <a:ea typeface="+mj-ea"/>
              </a:rPr>
              <a:t>admin/password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048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靶场搭建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+mn-lt"/>
              </a:rPr>
              <a:t>在浏览器中打开靶场，访问 </a:t>
            </a:r>
            <a:r>
              <a:rPr lang="en-US" altLang="zh-CN" sz="1800" dirty="0">
                <a:latin typeface="+mn-lt"/>
                <a:hlinkClick r:id="rId6"/>
              </a:rPr>
              <a:t>http://localhost/DVWA</a:t>
            </a:r>
            <a:r>
              <a:rPr lang="zh-CN" altLang="en-US" sz="1800" dirty="0">
                <a:latin typeface="+mn-lt"/>
              </a:rPr>
              <a:t> ，使用上一步中得到的</a:t>
            </a:r>
            <a:r>
              <a:rPr lang="en-US" altLang="zh-CN" sz="1800" dirty="0">
                <a:latin typeface="+mn-lt"/>
              </a:rPr>
              <a:t>admin/password </a:t>
            </a:r>
            <a:r>
              <a:rPr lang="zh-CN" altLang="en-US" sz="1800" dirty="0">
                <a:latin typeface="+mn-lt"/>
              </a:rPr>
              <a:t>登录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917638-A6C8-4092-BC6F-9B4FB3637C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626" y="2136641"/>
            <a:ext cx="7782748" cy="42197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2171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靶场搭建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+mn-lt"/>
              </a:rPr>
              <a:t>登陆成功后，拉到最下面点击创建数据库</a:t>
            </a: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CEA99C-0300-4A3C-92B8-14D3FD03C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23" y="1825774"/>
            <a:ext cx="7966626" cy="42986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622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靶场搭建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+mn-lt"/>
              </a:rPr>
              <a:t>当看到如下提示时说明创建成功，系统会自动跳转到登录页面，重新登录，登陆后到如下页面说明登陆成功。</a:t>
            </a: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800" dirty="0">
              <a:latin typeface="+mn-lt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F98D1B-CDDD-B947-8309-A419A7605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34" y="2392589"/>
            <a:ext cx="3035816" cy="31827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218B334-8AEF-334E-A66F-D4396675DA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679" y="2464809"/>
            <a:ext cx="5438321" cy="30382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6371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/>
          <a:lstStyle/>
          <a:p>
            <a:r>
              <a:rPr lang="en-US" altLang="zh-CN" dirty="0">
                <a:latin typeface="+mj-lt"/>
                <a:ea typeface="+mj-ea"/>
              </a:rPr>
              <a:t>DVWA</a:t>
            </a:r>
            <a:r>
              <a:rPr lang="zh-CN" altLang="en-US" dirty="0">
                <a:latin typeface="+mj-lt"/>
                <a:ea typeface="+mj-ea"/>
              </a:rPr>
              <a:t>靶场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8734" y="1268186"/>
            <a:ext cx="8104715" cy="4609814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+mn-lt"/>
              </a:rPr>
              <a:t>选择 </a:t>
            </a:r>
            <a:r>
              <a:rPr lang="en-US" altLang="zh-CN" sz="1800" dirty="0">
                <a:latin typeface="+mn-lt"/>
              </a:rPr>
              <a:t>DVWA</a:t>
            </a:r>
            <a:r>
              <a:rPr lang="zh-CN" altLang="en-US" sz="1800" dirty="0">
                <a:latin typeface="+mn-lt"/>
              </a:rPr>
              <a:t> </a:t>
            </a:r>
            <a:r>
              <a:rPr lang="en-US" altLang="zh-CN" sz="1800" dirty="0">
                <a:latin typeface="+mn-lt"/>
              </a:rPr>
              <a:t>Security</a:t>
            </a:r>
            <a:r>
              <a:rPr lang="zh-CN" altLang="en-US" sz="1800" dirty="0">
                <a:latin typeface="+mn-lt"/>
              </a:rPr>
              <a:t>标签，将安全等级调整为</a:t>
            </a:r>
            <a:r>
              <a:rPr lang="en-US" altLang="zh-CN" sz="1800" dirty="0">
                <a:latin typeface="+mn-lt"/>
              </a:rPr>
              <a:t>low</a:t>
            </a:r>
            <a:r>
              <a:rPr lang="zh-CN" altLang="en-US" sz="1800" dirty="0">
                <a:latin typeface="+mn-lt"/>
              </a:rPr>
              <a:t>，提交，提交完成后安全等级应该显示为</a:t>
            </a:r>
            <a:r>
              <a:rPr lang="en-US" altLang="zh-CN" sz="1800" dirty="0">
                <a:latin typeface="+mn-lt"/>
              </a:rPr>
              <a:t>low</a:t>
            </a:r>
            <a:r>
              <a:rPr lang="zh-CN" altLang="en-US" sz="1800" dirty="0">
                <a:latin typeface="+mn-lt"/>
              </a:rPr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A2F4D3-7E82-4F79-BE55-63541F6C9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951" y="2341186"/>
            <a:ext cx="6382097" cy="33671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2063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800" dirty="0"/>
              <a:t>Brute Force</a:t>
            </a:r>
            <a:r>
              <a:rPr lang="zh-CN" altLang="en-US" sz="1800" dirty="0"/>
              <a:t>，即暴力（破解），是指黑客利用密码字典，使用穷举法猜解出用户口令，是现在最为广泛使用的攻击手法之一，如</a:t>
            </a:r>
            <a:r>
              <a:rPr lang="en-US" altLang="zh-CN" sz="1800" dirty="0"/>
              <a:t>2014</a:t>
            </a:r>
            <a:r>
              <a:rPr lang="zh-CN" altLang="en-US" sz="1800" dirty="0"/>
              <a:t>年轰动全国的</a:t>
            </a:r>
            <a:r>
              <a:rPr lang="en-US" altLang="zh-CN" sz="1800" dirty="0"/>
              <a:t>12306“</a:t>
            </a:r>
            <a:r>
              <a:rPr lang="zh-CN" altLang="en-US" sz="1800" dirty="0"/>
              <a:t>撞库”事件，实质就是暴力破解攻击。</a:t>
            </a:r>
            <a:endParaRPr lang="en-US" altLang="zh-CN" sz="1800" dirty="0"/>
          </a:p>
          <a:p>
            <a:pPr algn="l">
              <a:lnSpc>
                <a:spcPct val="150000"/>
              </a:lnSpc>
            </a:pPr>
            <a:r>
              <a:rPr lang="zh-CN" altLang="en-US" sz="1800" dirty="0"/>
              <a:t>下图默认密码为</a:t>
            </a:r>
            <a:r>
              <a:rPr lang="en-US" altLang="zh-CN" sz="1800" dirty="0"/>
              <a:t>password</a:t>
            </a:r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2000" dirty="0">
              <a:latin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222BFE-9A82-4931-8C33-CED020B00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9952" y="3066886"/>
            <a:ext cx="5400041" cy="270298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用到的工具：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是一个集成化的渗透测试工具，它集合了多种渗透测试组件，使我们自动化地或手工地能更好的完成对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应用的渗透测试和攻击。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本身已经集成了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，直接打开即可。使用其他操作系统的需要自行安装。</a:t>
            </a:r>
            <a:endParaRPr lang="en-US" altLang="zh-CN" sz="1800" b="1" dirty="0"/>
          </a:p>
          <a:p>
            <a:pPr algn="l">
              <a:lnSpc>
                <a:spcPct val="150000"/>
              </a:lnSpc>
            </a:pPr>
            <a:endParaRPr lang="zh-CN" altLang="en-US" sz="2000" dirty="0">
              <a:latin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3E82AE-D353-49D6-B4C5-31DC531FF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4667" y="3696358"/>
            <a:ext cx="5420948" cy="18789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845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800" dirty="0" err="1"/>
              <a:t>BurpSuite</a:t>
            </a:r>
            <a:r>
              <a:rPr lang="zh-CN" altLang="en-US" sz="1800" dirty="0"/>
              <a:t>界面</a:t>
            </a:r>
            <a:endParaRPr lang="zh-CN" altLang="en-US" sz="2000" dirty="0">
              <a:latin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DBD983-801C-4AC6-BB53-C2CD9544F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86" y="1793557"/>
            <a:ext cx="7838463" cy="44505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9049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首先设置浏览器的代理设置为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latin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3BB5A6-E12A-479B-B0B1-4A563FA9DF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42" y="1917978"/>
            <a:ext cx="6999697" cy="38590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0786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8735" y="1282700"/>
            <a:ext cx="4037464" cy="4609814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Burpsuite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提供的代理端口为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。设置代理为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localhost:8080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。如果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Proxy for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中有内容，需要删去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C2F1939-250C-AE44-8778-9B3AE96D257A}"/>
                  </a:ext>
                </a:extLst>
              </p14:cNvPr>
              <p14:cNvContentPartPr/>
              <p14:nvPr/>
            </p14:nvContentPartPr>
            <p14:xfrm>
              <a:off x="4950766" y="4410137"/>
              <a:ext cx="3960" cy="3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C2F1939-250C-AE44-8778-9B3AE96D25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41766" y="4401497"/>
                <a:ext cx="21600" cy="21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5DE91BC3-A82E-4528-9B14-42FCDCA5DA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803" y="1282700"/>
            <a:ext cx="4163895" cy="46211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91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8734" y="1282700"/>
            <a:ext cx="8215871" cy="4609814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在上一步配置完成后如果无法抓到数据包，需要检查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firefox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本身是否允许抓取环回地址的数据包。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在火狐浏览器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栏输入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about:config</a:t>
            </a:r>
            <a:endParaRPr lang="en-US" altLang="zh-CN" b="0" i="0" dirty="0">
              <a:solidFill>
                <a:srgbClr val="4D4D4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在搜索栏输入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network.proxy.allow_hijacking_localhost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如果其值为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，将值改成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CN" altLang="en-US" sz="2000" dirty="0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C2F1939-250C-AE44-8778-9B3AE96D257A}"/>
                  </a:ext>
                </a:extLst>
              </p14:cNvPr>
              <p14:cNvContentPartPr/>
              <p14:nvPr/>
            </p14:nvContentPartPr>
            <p14:xfrm>
              <a:off x="4950766" y="4410137"/>
              <a:ext cx="3960" cy="3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C2F1939-250C-AE44-8778-9B3AE96D25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41766" y="4401497"/>
                <a:ext cx="21600" cy="21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94E6C77-4631-48C1-8330-325F3314BE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745" y="4190111"/>
            <a:ext cx="7901860" cy="14560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3646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latin typeface="+mn-lt"/>
              </a:rPr>
              <a:t>刷新页面，可发现软件成功拦截到了包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09B477-B339-43D8-8380-80CA8C997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604" y="2246357"/>
            <a:ext cx="8522792" cy="30979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7694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8734" y="1282700"/>
            <a:ext cx="1828041" cy="4609814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latin typeface="+mn-lt"/>
              </a:rPr>
              <a:t>随便填写一个账号密码，然后提交登录。</a:t>
            </a:r>
            <a:endParaRPr lang="en-US" altLang="zh-CN" sz="20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20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latin typeface="+mn-lt"/>
              </a:rPr>
              <a:t>可观察到</a:t>
            </a:r>
            <a:r>
              <a:rPr lang="en-US" altLang="zh-CN" sz="2000" dirty="0" err="1">
                <a:latin typeface="+mn-lt"/>
              </a:rPr>
              <a:t>BurpSuite</a:t>
            </a:r>
            <a:r>
              <a:rPr lang="zh-CN" altLang="en-US" sz="2000" dirty="0">
                <a:latin typeface="+mn-lt"/>
              </a:rPr>
              <a:t>拦截到了包，查看发现账号和密码为明文传输。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A61327-F5B9-4314-A10B-DFDB825CE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2374" y="1344844"/>
            <a:ext cx="6335129" cy="44611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71586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8734" y="1282700"/>
            <a:ext cx="2161301" cy="4609814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latin typeface="+mn-lt"/>
              </a:rPr>
              <a:t>在</a:t>
            </a:r>
            <a:r>
              <a:rPr lang="en-US" altLang="zh-CN" sz="2000" dirty="0">
                <a:latin typeface="+mn-lt"/>
              </a:rPr>
              <a:t>Request</a:t>
            </a:r>
            <a:r>
              <a:rPr lang="zh-CN" altLang="en-US" sz="2000" dirty="0">
                <a:latin typeface="+mn-lt"/>
              </a:rPr>
              <a:t>区域右击鼠标，选择</a:t>
            </a:r>
            <a:r>
              <a:rPr lang="en-US" altLang="zh-CN" sz="2000" dirty="0">
                <a:latin typeface="+mn-lt"/>
              </a:rPr>
              <a:t>Send to Intruder</a:t>
            </a:r>
            <a:r>
              <a:rPr lang="zh-CN" altLang="en-US" sz="2000" dirty="0">
                <a:latin typeface="+mn-lt"/>
              </a:rPr>
              <a:t>，准备爆破。</a:t>
            </a:r>
            <a:endParaRPr lang="en-US" altLang="zh-CN" sz="20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20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latin typeface="+mn-lt"/>
              </a:rPr>
              <a:t>点击上方菜单栏的</a:t>
            </a:r>
            <a:r>
              <a:rPr lang="en-US" altLang="zh-CN" sz="2000" dirty="0">
                <a:latin typeface="+mn-lt"/>
              </a:rPr>
              <a:t>Intruder</a:t>
            </a:r>
            <a:r>
              <a:rPr lang="zh-CN" altLang="en-US" sz="2000" dirty="0">
                <a:latin typeface="+mn-lt"/>
              </a:rPr>
              <a:t>，进入</a:t>
            </a:r>
            <a:r>
              <a:rPr lang="en-US" altLang="zh-CN" sz="2000" dirty="0">
                <a:latin typeface="+mn-lt"/>
              </a:rPr>
              <a:t>Intruder</a:t>
            </a:r>
            <a:r>
              <a:rPr lang="zh-CN" altLang="en-US" sz="2000" dirty="0">
                <a:latin typeface="+mn-lt"/>
              </a:rPr>
              <a:t>界面。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30156E-FB15-40DA-AEBD-10F7EF5B2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276" y="1466749"/>
            <a:ext cx="6023516" cy="42417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4201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8735" y="1282700"/>
            <a:ext cx="2338853" cy="4609814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000" dirty="0">
                <a:latin typeface="+mn-lt"/>
              </a:rPr>
              <a:t>在</a:t>
            </a:r>
            <a:r>
              <a:rPr lang="en-US" altLang="zh-CN" sz="2000" dirty="0">
                <a:latin typeface="+mn-lt"/>
              </a:rPr>
              <a:t>low</a:t>
            </a:r>
            <a:r>
              <a:rPr lang="zh-CN" altLang="en-US" sz="2000" dirty="0">
                <a:latin typeface="+mn-lt"/>
              </a:rPr>
              <a:t>模式下我们只需要爆破密码，点击</a:t>
            </a:r>
            <a:r>
              <a:rPr lang="en-US" altLang="zh-CN" sz="2000" dirty="0">
                <a:latin typeface="+mn-lt"/>
              </a:rPr>
              <a:t>clear</a:t>
            </a:r>
            <a:r>
              <a:rPr lang="zh-CN" altLang="en-US" sz="2000" dirty="0">
                <a:latin typeface="+mn-lt"/>
              </a:rPr>
              <a:t>先清除自动标记的参数（如果有自动标记的话），然后手动选中密码，点击</a:t>
            </a:r>
            <a:r>
              <a:rPr lang="en-US" altLang="zh-CN" sz="2000" dirty="0">
                <a:latin typeface="+mn-lt"/>
              </a:rPr>
              <a:t>add</a:t>
            </a:r>
            <a:r>
              <a:rPr lang="zh-CN" altLang="en-US" sz="2000" dirty="0">
                <a:latin typeface="+mn-lt"/>
              </a:rPr>
              <a:t>标记参数，如右图所示。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910C64-35DC-422E-9733-615C77A418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728" y="1525645"/>
            <a:ext cx="5856244" cy="41239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6071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Brute Force </a:t>
            </a:r>
            <a:r>
              <a:rPr lang="zh-CN" altLang="en-US" dirty="0">
                <a:latin typeface="+mj-lt"/>
                <a:ea typeface="+mj-ea"/>
                <a:sym typeface="+mn-ea"/>
              </a:rPr>
              <a:t>暴力破解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+mn-lt"/>
              </a:rPr>
              <a:t>然后点击</a:t>
            </a:r>
            <a:r>
              <a:rPr lang="en-US" altLang="zh-CN" sz="1400" dirty="0">
                <a:latin typeface="+mn-lt"/>
              </a:rPr>
              <a:t>payload</a:t>
            </a:r>
            <a:r>
              <a:rPr lang="zh-CN" altLang="en-US" sz="1400" dirty="0">
                <a:latin typeface="+mn-lt"/>
              </a:rPr>
              <a:t>标签，在</a:t>
            </a:r>
            <a:r>
              <a:rPr lang="en-US" altLang="zh-CN" sz="1400" dirty="0">
                <a:latin typeface="+mn-lt"/>
              </a:rPr>
              <a:t>simple</a:t>
            </a:r>
            <a:r>
              <a:rPr lang="zh-CN" altLang="en-US" sz="1400" dirty="0">
                <a:latin typeface="+mn-lt"/>
              </a:rPr>
              <a:t> </a:t>
            </a:r>
            <a:r>
              <a:rPr lang="en-US" altLang="zh-CN" sz="1400" dirty="0">
                <a:latin typeface="+mn-lt"/>
              </a:rPr>
              <a:t>list</a:t>
            </a:r>
            <a:r>
              <a:rPr lang="zh-CN" altLang="en-US" sz="1400" dirty="0">
                <a:latin typeface="+mn-lt"/>
              </a:rPr>
              <a:t>中添加字典，随便填加几个或者导入字典文件都行，添加完成后点击</a:t>
            </a:r>
            <a:r>
              <a:rPr lang="en-US" altLang="zh-CN" sz="1400" dirty="0">
                <a:latin typeface="+mn-lt"/>
              </a:rPr>
              <a:t>start</a:t>
            </a:r>
            <a:r>
              <a:rPr lang="zh-CN" altLang="en-US" sz="1400" dirty="0">
                <a:latin typeface="+mn-lt"/>
              </a:rPr>
              <a:t> </a:t>
            </a:r>
            <a:r>
              <a:rPr lang="en-US" altLang="zh-CN" sz="1400" dirty="0">
                <a:latin typeface="+mn-lt"/>
              </a:rPr>
              <a:t>attack.</a:t>
            </a:r>
            <a:r>
              <a:rPr lang="zh-CN" altLang="en-US" sz="1400" dirty="0">
                <a:latin typeface="+mn-lt"/>
              </a:rPr>
              <a:t>查看结果，发现有一个包返回的长度跟别的有明显差异，就是爆破正确的密码，然后返回页面，输入密码登录，可登陆成功。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0AA6B4-49B6-4A97-94F8-3ED6AF6A6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443" y="2815761"/>
            <a:ext cx="3841857" cy="22057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BD7323-E294-4618-84AE-F69271EEC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6205" y="2003357"/>
            <a:ext cx="4490636" cy="22057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6F970A-0280-4002-98FE-183D298FA8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8054" y="4286084"/>
            <a:ext cx="3586937" cy="15294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6041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SQL</a:t>
            </a:r>
            <a:r>
              <a:rPr lang="zh-CN" altLang="en-US" dirty="0">
                <a:latin typeface="+mj-lt"/>
                <a:ea typeface="+mj-ea"/>
                <a:sym typeface="+mn-ea"/>
              </a:rPr>
              <a:t>注入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b="1" dirty="0">
                <a:latin typeface="+mn-lt"/>
              </a:rPr>
              <a:t>SQL</a:t>
            </a:r>
            <a:r>
              <a:rPr lang="zh-CN" altLang="en-US" sz="1400" b="1" dirty="0">
                <a:latin typeface="+mn-lt"/>
              </a:rPr>
              <a:t>注入介绍</a:t>
            </a:r>
            <a:r>
              <a:rPr lang="zh-CN" altLang="en-US" sz="1400" dirty="0">
                <a:latin typeface="+mn-lt"/>
              </a:rPr>
              <a:t>：</a:t>
            </a:r>
            <a:endParaRPr lang="en-US" altLang="zh-CN" sz="14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latin typeface="+mn-lt"/>
              </a:rPr>
              <a:t>SQL</a:t>
            </a:r>
            <a:r>
              <a:rPr lang="zh-CN" altLang="en-US" sz="1400" dirty="0">
                <a:latin typeface="+mn-lt"/>
              </a:rPr>
              <a:t>注入是另一种很常见的攻击方式，主要的攻击方式是通过把</a:t>
            </a:r>
            <a:r>
              <a:rPr lang="en-US" altLang="zh-CN" sz="1400" dirty="0">
                <a:latin typeface="+mn-lt"/>
              </a:rPr>
              <a:t>SQL</a:t>
            </a:r>
            <a:r>
              <a:rPr lang="zh-CN" altLang="en-US" sz="1400" dirty="0">
                <a:latin typeface="+mn-lt"/>
              </a:rPr>
              <a:t>命令插入到</a:t>
            </a:r>
            <a:r>
              <a:rPr lang="en-US" altLang="zh-CN" sz="1400" dirty="0">
                <a:latin typeface="+mn-lt"/>
              </a:rPr>
              <a:t>Web</a:t>
            </a:r>
            <a:r>
              <a:rPr lang="zh-CN" altLang="en-US" sz="1400" dirty="0">
                <a:latin typeface="+mn-lt"/>
              </a:rPr>
              <a:t>表单或页面请求的查询字符串，最终达到欺骗服务器执行恶意的</a:t>
            </a:r>
            <a:r>
              <a:rPr lang="en-US" altLang="zh-CN" sz="1400" dirty="0">
                <a:latin typeface="+mn-lt"/>
              </a:rPr>
              <a:t>SQL</a:t>
            </a:r>
            <a:r>
              <a:rPr lang="zh-CN" altLang="en-US" sz="1400" dirty="0">
                <a:latin typeface="+mn-lt"/>
              </a:rPr>
              <a:t>命令。</a:t>
            </a:r>
            <a:endParaRPr lang="en-US" altLang="zh-CN" sz="14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b="1" dirty="0">
                <a:latin typeface="+mn-lt"/>
              </a:rPr>
              <a:t>注入方式分析</a:t>
            </a:r>
            <a:r>
              <a:rPr lang="zh-CN" altLang="en-US" sz="1400" dirty="0">
                <a:latin typeface="+mn-lt"/>
              </a:rPr>
              <a:t>：</a:t>
            </a:r>
            <a:endParaRPr lang="en-US" altLang="zh-CN" sz="14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+mn-lt"/>
              </a:rPr>
              <a:t>引起</a:t>
            </a:r>
            <a:r>
              <a:rPr lang="en-US" altLang="zh-CN" sz="1400" dirty="0">
                <a:latin typeface="+mn-lt"/>
              </a:rPr>
              <a:t>SQL</a:t>
            </a:r>
            <a:r>
              <a:rPr lang="zh-CN" altLang="en-US" sz="1400" dirty="0">
                <a:latin typeface="+mn-lt"/>
              </a:rPr>
              <a:t>注入</a:t>
            </a:r>
            <a:r>
              <a:rPr lang="zh-CN" altLang="en-US" sz="1400">
                <a:latin typeface="+mn-lt"/>
              </a:rPr>
              <a:t>漏洞的原因，</a:t>
            </a:r>
            <a:r>
              <a:rPr lang="zh-CN" altLang="en-US" sz="1400" dirty="0">
                <a:latin typeface="+mn-lt"/>
              </a:rPr>
              <a:t>一般是由于</a:t>
            </a:r>
            <a:r>
              <a:rPr lang="en-US" altLang="zh-CN" sz="1400" dirty="0">
                <a:latin typeface="+mn-lt"/>
              </a:rPr>
              <a:t>web</a:t>
            </a:r>
            <a:r>
              <a:rPr lang="zh-CN" altLang="en-US" sz="1400" dirty="0">
                <a:latin typeface="+mn-lt"/>
              </a:rPr>
              <a:t>服务没有对传递的数据中的关键词过滤导致的。</a:t>
            </a:r>
            <a:endParaRPr lang="en-US" altLang="zh-CN" sz="14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+mn-lt"/>
              </a:rPr>
              <a:t>在用户的输入有转义字符时 ，它会被传递给一个</a:t>
            </a:r>
            <a:r>
              <a:rPr lang="en-US" altLang="zh-CN" sz="1400" dirty="0">
                <a:latin typeface="+mn-lt"/>
              </a:rPr>
              <a:t>SQL </a:t>
            </a:r>
            <a:r>
              <a:rPr lang="zh-CN" altLang="en-US" sz="1400" dirty="0">
                <a:latin typeface="+mn-lt"/>
              </a:rPr>
              <a:t>语句。这样就会导致应用程序的终端用户对数据库上的语句实施操纵 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4E9F64-C879-1843-8393-1ED01C006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29" y="3735605"/>
            <a:ext cx="5929821" cy="19319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2168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SQL</a:t>
            </a:r>
            <a:r>
              <a:rPr lang="zh-CN" altLang="en-US" dirty="0">
                <a:latin typeface="+mj-lt"/>
                <a:ea typeface="+mj-ea"/>
                <a:sym typeface="+mn-ea"/>
              </a:rPr>
              <a:t>注入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+mn-lt"/>
              </a:rPr>
              <a:t>还是在刚才的界面，在用户名一栏输入 </a:t>
            </a:r>
            <a:r>
              <a:rPr lang="en-US" altLang="zh-CN" sz="1400" dirty="0">
                <a:latin typeface="+mn-lt"/>
              </a:rPr>
              <a:t>admin'</a:t>
            </a:r>
            <a:r>
              <a:rPr lang="zh-CN" altLang="en-US" sz="1400" dirty="0">
                <a:latin typeface="+mn-lt"/>
              </a:rPr>
              <a:t> </a:t>
            </a:r>
            <a:r>
              <a:rPr lang="en-US" altLang="zh-CN" sz="1400" dirty="0">
                <a:latin typeface="+mn-lt"/>
              </a:rPr>
              <a:t>or</a:t>
            </a:r>
            <a:r>
              <a:rPr lang="zh-CN" altLang="en-US" sz="1400" dirty="0">
                <a:latin typeface="+mn-lt"/>
              </a:rPr>
              <a:t> </a:t>
            </a:r>
            <a:r>
              <a:rPr lang="en-US" altLang="zh-CN" sz="1400" dirty="0">
                <a:latin typeface="+mn-lt"/>
              </a:rPr>
              <a:t>'1'='1</a:t>
            </a:r>
            <a:r>
              <a:rPr lang="zh-CN" altLang="en-US" sz="1400" dirty="0">
                <a:latin typeface="+mn-lt"/>
              </a:rPr>
              <a:t> </a:t>
            </a:r>
            <a:r>
              <a:rPr lang="en-US" altLang="zh-CN" sz="1400" dirty="0">
                <a:latin typeface="+mn-lt"/>
              </a:rPr>
              <a:t>,</a:t>
            </a:r>
            <a:r>
              <a:rPr lang="zh-CN" altLang="en-US" sz="1400" dirty="0">
                <a:latin typeface="+mn-lt"/>
              </a:rPr>
              <a:t>密码留空，发现还是可以成功登陆，说明该页面存在</a:t>
            </a:r>
            <a:r>
              <a:rPr lang="en-US" altLang="zh-CN" sz="1400" dirty="0">
                <a:latin typeface="+mn-lt"/>
              </a:rPr>
              <a:t>SQL</a:t>
            </a:r>
            <a:r>
              <a:rPr lang="zh-CN" altLang="en-US" sz="1400" dirty="0">
                <a:latin typeface="+mn-lt"/>
              </a:rPr>
              <a:t>注入漏洞，</a:t>
            </a:r>
            <a:r>
              <a:rPr lang="zh-CN" altLang="en-US" sz="1400" dirty="0">
                <a:solidFill>
                  <a:srgbClr val="FF0000"/>
                </a:solidFill>
                <a:latin typeface="+mn-lt"/>
              </a:rPr>
              <a:t>英文引号</a:t>
            </a:r>
            <a:r>
              <a:rPr lang="zh-CN" altLang="en-US" sz="1400" dirty="0">
                <a:latin typeface="+mn-lt"/>
              </a:rPr>
              <a:t>！！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latin typeface="+mn-lt"/>
              </a:rPr>
              <a:t>	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+mn-lt"/>
              </a:rPr>
              <a:t>界面源码：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745D8F-3467-B340-AC74-599B034FFB7A}"/>
              </a:ext>
            </a:extLst>
          </p:cNvPr>
          <p:cNvSpPr/>
          <p:nvPr/>
        </p:nvSpPr>
        <p:spPr>
          <a:xfrm>
            <a:off x="448734" y="3612638"/>
            <a:ext cx="8372213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2B6EA1"/>
                </a:solidFill>
                <a:latin typeface="Menlo" panose="020B0609030804020204" pitchFamily="49" charset="0"/>
              </a:rPr>
              <a:t>&lt;?</a:t>
            </a:r>
            <a:r>
              <a:rPr lang="en-US" altLang="zh-CN" sz="1100" dirty="0" err="1">
                <a:solidFill>
                  <a:srgbClr val="2B6EA1"/>
                </a:solidFill>
                <a:latin typeface="Menlo" panose="020B0609030804020204" pitchFamily="49" charset="0"/>
              </a:rPr>
              <a:t>php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b="1" dirty="0">
                <a:solidFill>
                  <a:srgbClr val="444444"/>
                </a:solidFill>
                <a:latin typeface="Menlo" panose="020B0609030804020204" pitchFamily="49" charset="0"/>
              </a:rPr>
              <a:t>if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</a:t>
            </a:r>
            <a:r>
              <a:rPr lang="en-US" altLang="zh-CN" sz="1100" b="1" dirty="0" err="1">
                <a:solidFill>
                  <a:srgbClr val="444444"/>
                </a:solidFill>
                <a:latin typeface="Menlo" panose="020B0609030804020204" pitchFamily="49" charset="0"/>
              </a:rPr>
              <a:t>isset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($_GET[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'Login'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])){ </a:t>
            </a:r>
          </a:p>
          <a:p>
            <a:r>
              <a:rPr lang="en-US" altLang="zh-CN" sz="1100" dirty="0">
                <a:solidFill>
                  <a:srgbClr val="888888"/>
                </a:solidFill>
                <a:latin typeface="Menlo" panose="020B0609030804020204" pitchFamily="49" charset="0"/>
              </a:rPr>
              <a:t>//</a:t>
            </a:r>
            <a:r>
              <a:rPr lang="en-US" altLang="zh-CN" sz="1100" dirty="0" err="1">
                <a:solidFill>
                  <a:srgbClr val="888888"/>
                </a:solidFill>
                <a:latin typeface="Menlo" panose="020B0609030804020204" pitchFamily="49" charset="0"/>
              </a:rPr>
              <a:t>Getusername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 $user=$_GET[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'username’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]; </a:t>
            </a:r>
          </a:p>
          <a:p>
            <a:r>
              <a:rPr lang="en-US" altLang="zh-CN" sz="1100" dirty="0">
                <a:solidFill>
                  <a:srgbClr val="888888"/>
                </a:solidFill>
                <a:latin typeface="Menlo" panose="020B0609030804020204" pitchFamily="49" charset="0"/>
              </a:rPr>
              <a:t>//</a:t>
            </a:r>
            <a:r>
              <a:rPr lang="en-US" altLang="zh-CN" sz="1100" dirty="0" err="1">
                <a:solidFill>
                  <a:srgbClr val="888888"/>
                </a:solidFill>
                <a:latin typeface="Menlo" panose="020B0609030804020204" pitchFamily="49" charset="0"/>
              </a:rPr>
              <a:t>Getpassword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 $pass=$_GET[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'password'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]; $pass=md5($pass); </a:t>
            </a:r>
          </a:p>
          <a:p>
            <a:endParaRPr lang="en-US" altLang="zh-CN" sz="1100" dirty="0">
              <a:solidFill>
                <a:srgbClr val="444444"/>
              </a:solidFill>
              <a:latin typeface="Menlo" panose="020B0609030804020204" pitchFamily="49" charset="0"/>
            </a:endParaRPr>
          </a:p>
          <a:p>
            <a:r>
              <a:rPr lang="en-US" altLang="zh-CN" sz="1100" dirty="0">
                <a:solidFill>
                  <a:srgbClr val="888888"/>
                </a:solidFill>
                <a:latin typeface="Menlo" panose="020B0609030804020204" pitchFamily="49" charset="0"/>
              </a:rPr>
              <a:t>//</a:t>
            </a:r>
            <a:r>
              <a:rPr lang="en-US" altLang="zh-CN" sz="1100" dirty="0" err="1">
                <a:solidFill>
                  <a:srgbClr val="888888"/>
                </a:solidFill>
                <a:latin typeface="Menlo" panose="020B0609030804020204" pitchFamily="49" charset="0"/>
              </a:rPr>
              <a:t>Checkthedatabase</a:t>
            </a:r>
            <a:endParaRPr lang="en-US" altLang="zh-CN" sz="1100" dirty="0">
              <a:solidFill>
                <a:srgbClr val="888888"/>
              </a:solidFill>
              <a:latin typeface="Menlo" panose="020B0609030804020204" pitchFamily="49" charset="0"/>
            </a:endParaRPr>
          </a:p>
          <a:p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$query=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"SELECT*</a:t>
            </a:r>
            <a:r>
              <a:rPr lang="en-US" altLang="zh-CN" sz="1100" dirty="0" err="1">
                <a:solidFill>
                  <a:srgbClr val="880000"/>
                </a:solidFill>
                <a:latin typeface="Menlo" panose="020B0609030804020204" pitchFamily="49" charset="0"/>
              </a:rPr>
              <a:t>FROM`users`WHEREuser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='$</a:t>
            </a:r>
            <a:r>
              <a:rPr lang="en-US" altLang="zh-CN" sz="1100" dirty="0" err="1">
                <a:solidFill>
                  <a:srgbClr val="880000"/>
                </a:solidFill>
                <a:latin typeface="Menlo" panose="020B0609030804020204" pitchFamily="49" charset="0"/>
              </a:rPr>
              <a:t>user'ANDpassword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='$pass';"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; $result=</a:t>
            </a:r>
            <a:r>
              <a:rPr lang="en-US" altLang="zh-CN" sz="1100" dirty="0" err="1">
                <a:solidFill>
                  <a:srgbClr val="444444"/>
                </a:solidFill>
                <a:latin typeface="Menlo" panose="020B0609030804020204" pitchFamily="49" charset="0"/>
              </a:rPr>
              <a:t>mysql_query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($query)</a:t>
            </a:r>
            <a:r>
              <a:rPr lang="en-US" altLang="zh-CN" sz="1100" dirty="0" err="1">
                <a:solidFill>
                  <a:srgbClr val="444444"/>
                </a:solidFill>
                <a:latin typeface="Menlo" panose="020B0609030804020204" pitchFamily="49" charset="0"/>
              </a:rPr>
              <a:t>ordie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'&lt;pre&gt;'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.</a:t>
            </a:r>
            <a:r>
              <a:rPr lang="en-US" altLang="zh-CN" sz="1100" dirty="0" err="1">
                <a:solidFill>
                  <a:srgbClr val="444444"/>
                </a:solidFill>
                <a:latin typeface="Menlo" panose="020B0609030804020204" pitchFamily="49" charset="0"/>
              </a:rPr>
              <a:t>mysql_error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().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'&lt;/pre&gt;’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); </a:t>
            </a:r>
          </a:p>
          <a:p>
            <a:endParaRPr lang="en-US" altLang="zh-CN" sz="1100" b="1" dirty="0">
              <a:solidFill>
                <a:srgbClr val="444444"/>
              </a:solidFill>
              <a:latin typeface="Menlo" panose="020B0609030804020204" pitchFamily="49" charset="0"/>
            </a:endParaRPr>
          </a:p>
          <a:p>
            <a:r>
              <a:rPr lang="en-US" altLang="zh-CN" sz="1100" b="1" dirty="0">
                <a:solidFill>
                  <a:srgbClr val="444444"/>
                </a:solidFill>
                <a:latin typeface="Menlo" panose="020B0609030804020204" pitchFamily="49" charset="0"/>
              </a:rPr>
              <a:t>if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($result&amp;&amp;</a:t>
            </a:r>
            <a:r>
              <a:rPr lang="en-US" altLang="zh-CN" sz="1100" dirty="0" err="1">
                <a:solidFill>
                  <a:srgbClr val="444444"/>
                </a:solidFill>
                <a:latin typeface="Menlo" panose="020B0609030804020204" pitchFamily="49" charset="0"/>
              </a:rPr>
              <a:t>mysql_num_rows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($result)==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1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){ </a:t>
            </a:r>
            <a:r>
              <a:rPr lang="en-US" altLang="zh-CN" sz="1100" dirty="0">
                <a:solidFill>
                  <a:srgbClr val="888888"/>
                </a:solidFill>
                <a:latin typeface="Menlo" panose="020B0609030804020204" pitchFamily="49" charset="0"/>
              </a:rPr>
              <a:t>//</a:t>
            </a:r>
            <a:r>
              <a:rPr lang="en-US" altLang="zh-CN" sz="1100" dirty="0" err="1">
                <a:solidFill>
                  <a:srgbClr val="888888"/>
                </a:solidFill>
                <a:latin typeface="Menlo" panose="020B0609030804020204" pitchFamily="49" charset="0"/>
              </a:rPr>
              <a:t>Getusersdetails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 	$avatar=</a:t>
            </a:r>
            <a:r>
              <a:rPr lang="en-US" altLang="zh-CN" sz="1100" dirty="0" err="1">
                <a:solidFill>
                  <a:srgbClr val="444444"/>
                </a:solidFill>
                <a:latin typeface="Menlo" panose="020B0609030804020204" pitchFamily="49" charset="0"/>
              </a:rPr>
              <a:t>mysql_result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($result,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,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"avatar"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); </a:t>
            </a:r>
            <a:r>
              <a:rPr lang="en-US" altLang="zh-CN" sz="1100" dirty="0">
                <a:solidFill>
                  <a:srgbClr val="888888"/>
                </a:solidFill>
                <a:latin typeface="Menlo" panose="020B0609030804020204" pitchFamily="49" charset="0"/>
              </a:rPr>
              <a:t>//</a:t>
            </a:r>
            <a:r>
              <a:rPr lang="en-US" altLang="zh-CN" sz="1100" dirty="0" err="1">
                <a:solidFill>
                  <a:srgbClr val="888888"/>
                </a:solidFill>
                <a:latin typeface="Menlo" panose="020B0609030804020204" pitchFamily="49" charset="0"/>
              </a:rPr>
              <a:t>Loginsuccessful</a:t>
            </a:r>
            <a:endParaRPr lang="en-US" altLang="zh-CN" sz="1100" b="1" dirty="0">
              <a:solidFill>
                <a:srgbClr val="444444"/>
              </a:solidFill>
              <a:latin typeface="Menlo" panose="020B0609030804020204" pitchFamily="49" charset="0"/>
            </a:endParaRPr>
          </a:p>
          <a:p>
            <a:r>
              <a:rPr lang="en-US" altLang="zh-CN" sz="1100" b="1" dirty="0">
                <a:solidFill>
                  <a:srgbClr val="444444"/>
                </a:solidFill>
                <a:latin typeface="Menlo" panose="020B0609030804020204" pitchFamily="49" charset="0"/>
              </a:rPr>
              <a:t>	echo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"&lt;p&gt;</a:t>
            </a:r>
            <a:r>
              <a:rPr lang="en-US" altLang="zh-CN" sz="1100" dirty="0" err="1">
                <a:solidFill>
                  <a:srgbClr val="880000"/>
                </a:solidFill>
                <a:latin typeface="Menlo" panose="020B0609030804020204" pitchFamily="49" charset="0"/>
              </a:rPr>
              <a:t>Welcometothepasswordprotectedarea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{$user}&lt;/p&gt;"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; </a:t>
            </a:r>
          </a:p>
          <a:p>
            <a:r>
              <a:rPr lang="en-US" altLang="zh-CN" sz="1100" b="1" dirty="0">
                <a:solidFill>
                  <a:srgbClr val="444444"/>
                </a:solidFill>
                <a:latin typeface="Menlo" panose="020B0609030804020204" pitchFamily="49" charset="0"/>
              </a:rPr>
              <a:t>	echo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"&lt;</a:t>
            </a:r>
            <a:r>
              <a:rPr lang="en-US" altLang="zh-CN" sz="1100" dirty="0" err="1">
                <a:solidFill>
                  <a:srgbClr val="880000"/>
                </a:solidFill>
                <a:latin typeface="Menlo" panose="020B0609030804020204" pitchFamily="49" charset="0"/>
              </a:rPr>
              <a:t>imgsrc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="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{$avatar}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"/&gt;"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; } </a:t>
            </a:r>
          </a:p>
          <a:p>
            <a:r>
              <a:rPr lang="en-US" altLang="zh-CN" sz="1100" b="1" dirty="0">
                <a:solidFill>
                  <a:srgbClr val="444444"/>
                </a:solidFill>
                <a:latin typeface="Menlo" panose="020B0609030804020204" pitchFamily="49" charset="0"/>
              </a:rPr>
              <a:t>else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{ </a:t>
            </a:r>
          </a:p>
          <a:p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	</a:t>
            </a:r>
            <a:r>
              <a:rPr lang="en-US" altLang="zh-CN" sz="1100" dirty="0">
                <a:solidFill>
                  <a:srgbClr val="888888"/>
                </a:solidFill>
                <a:latin typeface="Menlo" panose="020B0609030804020204" pitchFamily="49" charset="0"/>
              </a:rPr>
              <a:t>//</a:t>
            </a:r>
            <a:r>
              <a:rPr lang="en-US" altLang="zh-CN" sz="1100" dirty="0" err="1">
                <a:solidFill>
                  <a:srgbClr val="888888"/>
                </a:solidFill>
                <a:latin typeface="Menlo" panose="020B0609030804020204" pitchFamily="49" charset="0"/>
              </a:rPr>
              <a:t>Loginfailed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US" altLang="zh-CN" sz="1100" b="1" dirty="0">
                <a:solidFill>
                  <a:srgbClr val="444444"/>
                </a:solidFill>
                <a:latin typeface="Menlo" panose="020B0609030804020204" pitchFamily="49" charset="0"/>
              </a:rPr>
              <a:t>	echo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"&lt;pre&gt;&lt;</a:t>
            </a:r>
            <a:r>
              <a:rPr lang="en-US" altLang="zh-CN" sz="1100" dirty="0" err="1">
                <a:solidFill>
                  <a:srgbClr val="880000"/>
                </a:solidFill>
                <a:latin typeface="Menlo" panose="020B0609030804020204" pitchFamily="49" charset="0"/>
              </a:rPr>
              <a:t>br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/&gt;</a:t>
            </a:r>
            <a:r>
              <a:rPr lang="en-US" altLang="zh-CN" sz="1100" dirty="0" err="1">
                <a:solidFill>
                  <a:srgbClr val="880000"/>
                </a:solidFill>
                <a:latin typeface="Menlo" panose="020B0609030804020204" pitchFamily="49" charset="0"/>
              </a:rPr>
              <a:t>Usernameand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/</a:t>
            </a:r>
            <a:r>
              <a:rPr lang="en-US" altLang="zh-CN" sz="1100" dirty="0" err="1">
                <a:solidFill>
                  <a:srgbClr val="880000"/>
                </a:solidFill>
                <a:latin typeface="Menlo" panose="020B0609030804020204" pitchFamily="49" charset="0"/>
              </a:rPr>
              <a:t>orpasswordincorrect</a:t>
            </a:r>
            <a:r>
              <a:rPr lang="en-US" altLang="zh-CN" sz="1100" dirty="0">
                <a:solidFill>
                  <a:srgbClr val="880000"/>
                </a:solidFill>
                <a:latin typeface="Menlo" panose="020B0609030804020204" pitchFamily="49" charset="0"/>
              </a:rPr>
              <a:t>.&lt;/pre&gt;"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; } </a:t>
            </a:r>
            <a:r>
              <a:rPr lang="en-US" altLang="zh-CN" sz="1100" dirty="0" err="1">
                <a:solidFill>
                  <a:srgbClr val="444444"/>
                </a:solidFill>
                <a:latin typeface="Menlo" panose="020B0609030804020204" pitchFamily="49" charset="0"/>
              </a:rPr>
              <a:t>mysql_close</a:t>
            </a:r>
            <a:r>
              <a:rPr lang="en-US" altLang="zh-CN" sz="1100" dirty="0">
                <a:solidFill>
                  <a:srgbClr val="444444"/>
                </a:solidFill>
                <a:latin typeface="Menlo" panose="020B0609030804020204" pitchFamily="49" charset="0"/>
              </a:rPr>
              <a:t>(); } </a:t>
            </a:r>
            <a:r>
              <a:rPr lang="en-US" altLang="zh-CN" sz="1100" dirty="0">
                <a:solidFill>
                  <a:srgbClr val="2B6EA1"/>
                </a:solidFill>
                <a:latin typeface="Menlo" panose="020B0609030804020204" pitchFamily="49" charset="0"/>
              </a:rPr>
              <a:t>?&gt;</a:t>
            </a:r>
            <a:endParaRPr lang="zh-CN" alt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82F292-EB30-4BD3-B3FC-034A14BA7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290" y="1720655"/>
            <a:ext cx="3608709" cy="15403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6263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latin typeface="+mj-lt"/>
                <a:ea typeface="+mj-ea"/>
                <a:sym typeface="+mn-ea"/>
              </a:rPr>
              <a:t>基于</a:t>
            </a:r>
            <a:r>
              <a:rPr lang="en-US" altLang="zh-CN" dirty="0">
                <a:latin typeface="+mj-lt"/>
                <a:ea typeface="+mj-ea"/>
                <a:sym typeface="+mn-ea"/>
              </a:rPr>
              <a:t>ARP</a:t>
            </a:r>
            <a:r>
              <a:rPr lang="zh-CN" altLang="en-US" dirty="0">
                <a:latin typeface="+mj-lt"/>
                <a:ea typeface="+mj-ea"/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</a:t>
            </a:r>
          </a:p>
          <a:p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Resolution Protocol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，地址解析协议）是一个位于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协议栈中的网络层，负责将某个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地址解析成对应的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地址。</a:t>
            </a:r>
          </a:p>
          <a:p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以太网（局域网）进行信息传输时，不是根据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地址进行通信，因为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地址是可变的，用于通信是不安全的。然而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地址是网卡的硬件地址，一般出厂后就具有唯一性。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协议就是将目标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地址解析成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地址进行验证通信。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通信过程</a:t>
            </a:r>
          </a:p>
          <a:p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每台主机都会在自己的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缓冲区建立一个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列表（生命周期二十分钟），用于表示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地址和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地址的对应关系。</a:t>
            </a:r>
          </a:p>
          <a:p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若想和主机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通信，首先主机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会查询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缓存表（后面称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缓存表）是否有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主机对应的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，有的话就将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主机的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地址封装到数据包发送。若没有的话，主机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会向以太网发送一个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广播包，告诉以太网内的所有主机自己的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，并请求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主机（以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主机）的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地址。当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主机收到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广播包后，确认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主机是想找自己的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地址，就会对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主机进行回应一个自己的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地址。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主机就会更新自己的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缓存表，同时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主机也会接收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对应关系到自己的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缓存表。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协议缺陷</a:t>
            </a:r>
          </a:p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协议信任以太网所有的节点，效率高但是不安全。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这份协议没有其它字协议来保证以太网内部信息传输的安全，它不会检查自己是否接受或发送过请求包，只要它就收到的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广播包，他就会把对应的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更新到自己的缓存表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攻击原理</a:t>
            </a:r>
          </a:p>
          <a:p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根据以上说的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协议缺陷，如果我们冒充网关主机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，不停的向以太网发送自己的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广播包，告知自己的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，此时其它主机就会被欺骗，更新我们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为网关主机的</a:t>
            </a:r>
            <a:r>
              <a:rPr lang="en-US" altLang="zh-C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，那么其它主机的数据包就会发送到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主机上，因为没有发给真正的网关，就会造成其它主机的网络中断。</a:t>
            </a:r>
          </a:p>
          <a:p>
            <a:endParaRPr lang="zh-CN" altLang="en-US" sz="600" dirty="0"/>
          </a:p>
          <a:p>
            <a:endParaRPr lang="zh-CN" altLang="en-US" sz="3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1828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02C2D6AD-A3F9-B74F-B27C-393CCD645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979413" y="1485549"/>
            <a:ext cx="5072987" cy="4316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0655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本次实验需要两个虚拟机，攻击机依旧使用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，被攻击机随意，这里使用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两个虚拟机处于同一网段，能互相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一个正常访问浏览器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另一个用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攻击拦截流量，并进行分析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6694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Ettercap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是一个多用途的开源工具，可以用来执行嗅探、主机分析等。在本教程中，我们使用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Ettercap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进行中间人攻击，完成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欺骗。并在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欺骗完成后使用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driftnet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捕获流量中的图片。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Ettercap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中自带，非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需要手动进行安装。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Driftnet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在最新版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中已经移除，需要手动安装：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driftnet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打开软件，接受默认设置，进入界面后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Ettercap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会自动开始进行嗅探。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400" dirty="0"/>
          </a:p>
          <a:p>
            <a:endParaRPr lang="en-US" altLang="zh-CN" sz="1400" dirty="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1050" dirty="0">
              <a:latin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E943F43-845C-4B65-8144-5DC7BE106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1835" y="3230887"/>
            <a:ext cx="4397944" cy="266162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7FA7DD4-C06A-45EB-8AC6-8173D5B20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1834" y="2031795"/>
            <a:ext cx="3673811" cy="11990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4780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600" dirty="0">
                <a:latin typeface="+mn-lt"/>
              </a:rPr>
              <a:t>如果没有默认进行嗅探，选择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Hosts-&gt;Scan for hosts</a:t>
            </a:r>
            <a:r>
              <a:rPr lang="zh-CN" altLang="en-US" sz="1600" dirty="0">
                <a:latin typeface="+mn-lt"/>
              </a:rPr>
              <a:t>进行嗅探，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完成后查看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Hosts-&gt;Hosts list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，可看到两台机器，第一台是网关，第二台是我们需要攻击的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dirty="0">
              <a:latin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2E81DC-726C-44A1-9C9A-2727FB99E8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0038" y="2175364"/>
            <a:ext cx="6196612" cy="35347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5913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200" dirty="0">
                <a:latin typeface="+mn-lt"/>
              </a:rPr>
              <a:t>点击网关，选择</a:t>
            </a:r>
            <a:r>
              <a:rPr lang="en-US" altLang="zh-CN" sz="1200" dirty="0">
                <a:latin typeface="+mn-lt"/>
              </a:rPr>
              <a:t>add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to target1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,</a:t>
            </a:r>
            <a:r>
              <a:rPr lang="zh-CN" altLang="en-US" sz="1200" dirty="0">
                <a:latin typeface="+mn-lt"/>
              </a:rPr>
              <a:t>再点击受害者的主机，选择</a:t>
            </a:r>
            <a:r>
              <a:rPr lang="en-US" altLang="zh-CN" sz="1200" dirty="0">
                <a:latin typeface="+mn-lt"/>
              </a:rPr>
              <a:t>add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to target2</a:t>
            </a:r>
            <a:r>
              <a:rPr lang="zh-CN" altLang="en-US" sz="1200" dirty="0">
                <a:latin typeface="+mn-lt"/>
              </a:rPr>
              <a:t> </a:t>
            </a: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2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200" dirty="0">
                <a:latin typeface="+mn-lt"/>
              </a:rPr>
              <a:t>完成后选择标签</a:t>
            </a:r>
            <a:r>
              <a:rPr lang="en-US" altLang="zh-CN" sz="1200" dirty="0" err="1">
                <a:latin typeface="+mn-lt"/>
              </a:rPr>
              <a:t>Mitm</a:t>
            </a:r>
            <a:r>
              <a:rPr lang="zh-CN" altLang="en-US" sz="1200" dirty="0">
                <a:latin typeface="+mn-lt"/>
              </a:rPr>
              <a:t>中 </a:t>
            </a:r>
            <a:r>
              <a:rPr lang="en-US" altLang="zh-CN" sz="1200" dirty="0">
                <a:latin typeface="+mn-lt"/>
              </a:rPr>
              <a:t>ARP</a:t>
            </a:r>
            <a:r>
              <a:rPr lang="zh-CN" altLang="en-US" sz="12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poisoning,</a:t>
            </a:r>
            <a:r>
              <a:rPr lang="zh-CN" altLang="en-US" sz="1200" dirty="0">
                <a:latin typeface="+mn-lt"/>
              </a:rPr>
              <a:t>勾选第一个选项然后确定，这个时候就已经成功的发动了中间人攻击，受害者主机与网关之间的通信都会通过当前的攻击机</a:t>
            </a:r>
            <a:endParaRPr lang="zh-CN" altLang="en-US" sz="1050" dirty="0">
              <a:latin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48EE5A-7F83-4936-9093-5DF45E3B8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81" y="1663073"/>
            <a:ext cx="3686890" cy="21123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61900A-A43A-4DFA-9563-38D3E92A88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881" y="4446523"/>
            <a:ext cx="3587866" cy="20555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3869772-7FFB-44B1-A518-0DAFECA9AD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655" y="4446523"/>
            <a:ext cx="3587866" cy="2055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5906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在受害主机上查看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缓存表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arp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–a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可以看到接口的地址是攻击者主机说明攻击成功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96C390-99CC-47E8-80BA-68A745BDC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0763" y="2675947"/>
            <a:ext cx="4314503" cy="25297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D39B65-A19F-4DBA-B401-F851044F54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734" y="2675947"/>
            <a:ext cx="3785915" cy="24868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264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altLang="zh-CN" sz="1600" dirty="0">
              <a:latin typeface="+mn-lt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600" dirty="0">
                <a:latin typeface="+mn-lt"/>
              </a:rPr>
              <a:t>在攻击者主机上打开</a:t>
            </a:r>
            <a:r>
              <a:rPr lang="en-US" altLang="zh-CN" sz="1600" dirty="0" err="1">
                <a:latin typeface="+mn-lt"/>
              </a:rPr>
              <a:t>wireshark</a:t>
            </a:r>
            <a:r>
              <a:rPr lang="zh-CN" altLang="en-US" sz="1600" dirty="0">
                <a:latin typeface="+mn-lt"/>
              </a:rPr>
              <a:t>进行抓包，准备查看</a:t>
            </a:r>
            <a:r>
              <a:rPr lang="en-US" altLang="zh-CN" sz="1600" dirty="0" err="1">
                <a:latin typeface="+mn-lt"/>
              </a:rPr>
              <a:t>arp</a:t>
            </a:r>
            <a:r>
              <a:rPr lang="zh-CN" altLang="en-US" sz="1600" dirty="0">
                <a:latin typeface="+mn-lt"/>
              </a:rPr>
              <a:t>协议数据包的内容并解释</a:t>
            </a:r>
            <a:endParaRPr lang="en-US" altLang="zh-CN" sz="1600" dirty="0">
              <a:latin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E126CA-0161-4450-A841-C80E5F756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44" y="2289998"/>
            <a:ext cx="8417912" cy="31780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056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ARP</a:t>
            </a:r>
            <a:r>
              <a:rPr lang="zh-CN" altLang="en-US" dirty="0">
                <a:sym typeface="+mn-ea"/>
              </a:rPr>
              <a:t>协议漏洞的中间人攻击</a:t>
            </a:r>
            <a:endParaRPr lang="en-US" altLang="zh-CN" dirty="0">
              <a:latin typeface="+mj-lt"/>
              <a:ea typeface="+mj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打开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driftnet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driftnet -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网卡名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然后在受害者主机上随便打开一个未加密的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网页，比如我校的思源学堂。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http://syxt.xjtu.edu.cn/index.jsp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然后观察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driftnet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的嗅探情况，可以发现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driftnet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已经有嗅探到了图片，说明中间人攻击生效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AE6D524-94CA-49BA-A10B-42878C83E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22" y="3707865"/>
            <a:ext cx="3923269" cy="22277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D960CE7-834F-48EB-9E6E-9AF9B1837F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2911" y="3707865"/>
            <a:ext cx="3923269" cy="22277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7256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AB39B-3572-874C-BA3B-80D77146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漏洞的防御方法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69620D-1DCC-4E45-9BA5-E618F05B5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需要大家自己动手实验后，查阅资料并思考如何针对以上的几个漏洞进行防御，并写到实验报告中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021D8-E75A-4E41-BA33-E4076FE3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393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>
                <a:latin typeface="+mj-lt"/>
                <a:ea typeface="+mj-ea"/>
              </a:rPr>
              <a:t>The</a:t>
            </a:r>
            <a:r>
              <a:rPr lang="zh-CN" altLang="en-US" dirty="0">
                <a:latin typeface="+mj-lt"/>
                <a:ea typeface="+mj-ea"/>
              </a:rPr>
              <a:t> </a:t>
            </a:r>
            <a:r>
              <a:rPr lang="en-US" altLang="zh-CN" dirty="0">
                <a:latin typeface="+mj-lt"/>
                <a:ea typeface="+mj-ea"/>
              </a:rPr>
              <a:t>End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</a:rPr>
              <a:t>谢谢聆听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  <a:t>35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、12、16、19、20、24、27、28"/>
  <p:tag name="KSO_WM_SLIDE_ID" val="custom114_1"/>
  <p:tag name="KSO_WM_SLIDE_INDEX" val="1"/>
  <p:tag name="KSO_WM_SLIDE_LAYOUT" val="a_b"/>
  <p:tag name="KSO_WM_SLIDE_LAYOUT_CNT" val="1_1"/>
  <p:tag name="KSO_WM_SLIDE_TYPE" val="title"/>
  <p:tag name="KSO_WM_BEAUTIFY_FLAG" val="#wm#"/>
  <p:tag name="KSO_WM_SLIDE_ITEM_CNT" val="2"/>
  <p:tag name="KSO_WM_TEMPLATE_CATEGORY" val="custom"/>
  <p:tag name="KSO_WM_TEMPLATE_INDEX" val="114"/>
  <p:tag name="KSO_WM_TAG_VERSION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1*a*1"/>
  <p:tag name="KSO_WM_UNIT_CLEAR" val="1"/>
  <p:tag name="KSO_WM_UNIT_LAYERLEVEL" val="1"/>
  <p:tag name="KSO_WM_UNIT_VALUE" val="1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114_2"/>
  <p:tag name="KSO_WM_SLIDE_INDEX" val="2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  <p:tag name="KSO_WM_SLIDE_ITEM_CNT" val="1"/>
  <p:tag name="KSO_WM_TEMPLATE_CATEGORY" val="custom"/>
  <p:tag name="KSO_WM_TEMPLATE_INDEX" val="114"/>
  <p:tag name="KSO_WM_TAG_VERSION" val="1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35*101"/>
  <p:tag name="KSO_WM_SLIDE_SIZE" val="638*36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f"/>
  <p:tag name="KSO_WM_UNIT_INDEX" val="1"/>
  <p:tag name="KSO_WM_UNIT_ID" val="custom114_2*f*1"/>
  <p:tag name="KSO_WM_UNIT_CLEAR" val="1"/>
  <p:tag name="KSO_WM_UNIT_LAYERLEVEL" val="1"/>
  <p:tag name="KSO_WM_UNIT_VALUE" val="200"/>
  <p:tag name="KSO_WM_UNIT_HIGHLIGHT" val="0"/>
  <p:tag name="KSO_WM_UNIT_COMPATIBLE" val="0"/>
  <p:tag name="KSO_WM_UNIT_PRESET_TEXT_INDEX" val="5"/>
  <p:tag name="KSO_WM_UNIT_PRESET_TEXT_LEN" val="23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14"/>
  <p:tag name="KSO_WM_TAG_VERSION" val="1.0"/>
  <p:tag name="KSO_WM_SLIDE_ID" val="custom114_28"/>
  <p:tag name="KSO_WM_SLIDE_INDEX" val="28"/>
  <p:tag name="KSO_WM_SLIDE_ITEM_CNT" val="1"/>
  <p:tag name="KSO_WM_SLIDE_LAYOUT" val="b_a"/>
  <p:tag name="KSO_WM_SLIDE_LAYOUT_CNT" val="1_1"/>
  <p:tag name="KSO_WM_SLIDE_TYPE" val="endPage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a"/>
  <p:tag name="KSO_WM_UNIT_INDEX" val="1"/>
  <p:tag name="KSO_WM_UNIT_ID" val="custom114_28*a*1"/>
  <p:tag name="KSO_WM_UNIT_CLEAR" val="1"/>
  <p:tag name="KSO_WM_UNIT_LAYERLEVEL" val="1"/>
  <p:tag name="KSO_WM_UNIT_VALUE" val="4"/>
  <p:tag name="KSO_WM_UNIT_ISCONTENTSTITLE" val="0"/>
  <p:tag name="KSO_WM_UNIT_HIGHLIGHT" val="0"/>
  <p:tag name="KSO_WM_UNIT_COMPATIBLE" val="0"/>
  <p:tag name="KSO_WM_UNIT_PRESET_TEXT" val="THANKS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14"/>
  <p:tag name="KSO_WM_UNIT_TYPE" val="b"/>
  <p:tag name="KSO_WM_UNIT_INDEX" val="1"/>
  <p:tag name="KSO_WM_UNIT_ID" val="custom114_28*b*1"/>
  <p:tag name="KSO_WM_UNIT_CLEAR" val="1"/>
  <p:tag name="KSO_WM_UNIT_LAYERLEVEL" val="1"/>
  <p:tag name="KSO_WM_UNIT_VALUE" val="8"/>
  <p:tag name="KSO_WM_UNIT_ISCONTENTSTITLE" val="0"/>
  <p:tag name="KSO_WM_UNIT_HIGHLIGHT" val="0"/>
  <p:tag name="KSO_WM_UNIT_COMPATIBLE" val="0"/>
  <p:tag name="KSO_WM_UNIT_PRESET_TEXT" val="谢谢聆听"/>
</p:tagLst>
</file>

<file path=ppt/theme/theme1.xml><?xml version="1.0" encoding="utf-8"?>
<a:theme xmlns:a="http://schemas.openxmlformats.org/drawingml/2006/main" name="1_A000120140530A02PPBG">
  <a:themeElements>
    <a:clrScheme name="自定义 1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2251</Words>
  <Application>Microsoft Office PowerPoint</Application>
  <PresentationFormat>全屏显示(4:3)</PresentationFormat>
  <Paragraphs>255</Paragraphs>
  <Slides>35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1" baseType="lpstr">
      <vt:lpstr>Menlo</vt:lpstr>
      <vt:lpstr>黑体</vt:lpstr>
      <vt:lpstr>Arial</vt:lpstr>
      <vt:lpstr>Calibri</vt:lpstr>
      <vt:lpstr>Times New Roman</vt:lpstr>
      <vt:lpstr>1_A000120140530A02PPBG</vt:lpstr>
      <vt:lpstr>PowerPoint 演示文稿</vt:lpstr>
      <vt:lpstr>PowerPoint 演示文稿</vt:lpstr>
      <vt:lpstr>实验内容</vt:lpstr>
      <vt:lpstr>DVWA</vt:lpstr>
      <vt:lpstr>DVWA靶场搭建</vt:lpstr>
      <vt:lpstr>DVWA靶场搭建</vt:lpstr>
      <vt:lpstr>DVWA靶场搭建</vt:lpstr>
      <vt:lpstr>DVWA靶场搭建</vt:lpstr>
      <vt:lpstr>DVWA靶场搭建</vt:lpstr>
      <vt:lpstr>DVWA靶场搭建</vt:lpstr>
      <vt:lpstr>DVWA靶场</vt:lpstr>
      <vt:lpstr>Brute Force 暴力破解</vt:lpstr>
      <vt:lpstr>Brute Force 暴力破解</vt:lpstr>
      <vt:lpstr>Brute Force 暴力破解</vt:lpstr>
      <vt:lpstr>Brute Force 暴力破解</vt:lpstr>
      <vt:lpstr>Brute Force 暴力破解</vt:lpstr>
      <vt:lpstr>Brute Force 暴力破解</vt:lpstr>
      <vt:lpstr>Brute Force 暴力破解</vt:lpstr>
      <vt:lpstr>Brute Force 暴力破解</vt:lpstr>
      <vt:lpstr>Brute Force 暴力破解</vt:lpstr>
      <vt:lpstr>Brute Force 暴力破解</vt:lpstr>
      <vt:lpstr>Brute Force 暴力破解</vt:lpstr>
      <vt:lpstr>SQL注入</vt:lpstr>
      <vt:lpstr>SQL注入</vt:lpstr>
      <vt:lpstr>基于ARP协议漏洞的中间人攻击</vt:lpstr>
      <vt:lpstr>基于ARP协议漏洞的中间人攻击</vt:lpstr>
      <vt:lpstr>基于ARP协议漏洞的中间人攻击</vt:lpstr>
      <vt:lpstr>基于ARP协议漏洞的中间人攻击</vt:lpstr>
      <vt:lpstr>基于ARP协议漏洞的中间人攻击</vt:lpstr>
      <vt:lpstr>基于ARP协议漏洞的中间人攻击</vt:lpstr>
      <vt:lpstr>基于ARP协议漏洞的中间人攻击</vt:lpstr>
      <vt:lpstr>基于ARP协议漏洞的中间人攻击</vt:lpstr>
      <vt:lpstr>基于ARP协议漏洞的中间人攻击</vt:lpstr>
      <vt:lpstr>漏洞的防御方法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yankang zhao</dc:creator>
  <cp:lastModifiedBy>泳龙 黄</cp:lastModifiedBy>
  <cp:revision>137</cp:revision>
  <dcterms:created xsi:type="dcterms:W3CDTF">2015-05-05T08:02:00Z</dcterms:created>
  <dcterms:modified xsi:type="dcterms:W3CDTF">2024-12-19T13:17:07Z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2052-10.1.0.6029</vt:lpwstr>
  </property>
</Properties>
</file>