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2" r:id="rId3"/>
    <p:sldMasterId id="2147483676" r:id="rId4"/>
  </p:sldMasterIdLst>
  <p:notesMasterIdLst>
    <p:notesMasterId r:id="rId6"/>
  </p:notesMasterIdLst>
  <p:handoutMasterIdLst>
    <p:handoutMasterId r:id="rId88"/>
  </p:handoutMasterIdLst>
  <p:sldIdLst>
    <p:sldId id="518" r:id="rId5"/>
    <p:sldId id="2108" r:id="rId7"/>
    <p:sldId id="542" r:id="rId8"/>
    <p:sldId id="543" r:id="rId9"/>
    <p:sldId id="562" r:id="rId10"/>
    <p:sldId id="547" r:id="rId11"/>
    <p:sldId id="609" r:id="rId12"/>
    <p:sldId id="549" r:id="rId13"/>
    <p:sldId id="572" r:id="rId14"/>
    <p:sldId id="573" r:id="rId15"/>
    <p:sldId id="552" r:id="rId16"/>
    <p:sldId id="596" r:id="rId17"/>
    <p:sldId id="595" r:id="rId18"/>
    <p:sldId id="574" r:id="rId19"/>
    <p:sldId id="678" r:id="rId20"/>
    <p:sldId id="2110" r:id="rId21"/>
    <p:sldId id="2111" r:id="rId22"/>
    <p:sldId id="2112" r:id="rId23"/>
    <p:sldId id="2113" r:id="rId24"/>
    <p:sldId id="679" r:id="rId25"/>
    <p:sldId id="563" r:id="rId26"/>
    <p:sldId id="550" r:id="rId27"/>
    <p:sldId id="551" r:id="rId28"/>
    <p:sldId id="564" r:id="rId29"/>
    <p:sldId id="544" r:id="rId30"/>
    <p:sldId id="568" r:id="rId31"/>
    <p:sldId id="569" r:id="rId32"/>
    <p:sldId id="570" r:id="rId33"/>
    <p:sldId id="2114" r:id="rId34"/>
    <p:sldId id="571" r:id="rId35"/>
    <p:sldId id="2109" r:id="rId36"/>
    <p:sldId id="585" r:id="rId37"/>
    <p:sldId id="586" r:id="rId38"/>
    <p:sldId id="587" r:id="rId39"/>
    <p:sldId id="588" r:id="rId40"/>
    <p:sldId id="589" r:id="rId41"/>
    <p:sldId id="590" r:id="rId42"/>
    <p:sldId id="634" r:id="rId43"/>
    <p:sldId id="635" r:id="rId44"/>
    <p:sldId id="636" r:id="rId45"/>
    <p:sldId id="638" r:id="rId46"/>
    <p:sldId id="639" r:id="rId47"/>
    <p:sldId id="640" r:id="rId48"/>
    <p:sldId id="555" r:id="rId49"/>
    <p:sldId id="623" r:id="rId50"/>
    <p:sldId id="624" r:id="rId51"/>
    <p:sldId id="594" r:id="rId52"/>
    <p:sldId id="625" r:id="rId53"/>
    <p:sldId id="560" r:id="rId54"/>
    <p:sldId id="553" r:id="rId55"/>
    <p:sldId id="561" r:id="rId56"/>
    <p:sldId id="575" r:id="rId57"/>
    <p:sldId id="576" r:id="rId58"/>
    <p:sldId id="577" r:id="rId59"/>
    <p:sldId id="578" r:id="rId60"/>
    <p:sldId id="580" r:id="rId61"/>
    <p:sldId id="581" r:id="rId62"/>
    <p:sldId id="582" r:id="rId63"/>
    <p:sldId id="583" r:id="rId64"/>
    <p:sldId id="612" r:id="rId65"/>
    <p:sldId id="611" r:id="rId66"/>
    <p:sldId id="613" r:id="rId67"/>
    <p:sldId id="614" r:id="rId68"/>
    <p:sldId id="615" r:id="rId69"/>
    <p:sldId id="618" r:id="rId70"/>
    <p:sldId id="621" r:id="rId71"/>
    <p:sldId id="619" r:id="rId72"/>
    <p:sldId id="620" r:id="rId73"/>
    <p:sldId id="622" r:id="rId74"/>
    <p:sldId id="641" r:id="rId75"/>
    <p:sldId id="650" r:id="rId76"/>
    <p:sldId id="642" r:id="rId77"/>
    <p:sldId id="643" r:id="rId78"/>
    <p:sldId id="645" r:id="rId79"/>
    <p:sldId id="646" r:id="rId80"/>
    <p:sldId id="647" r:id="rId81"/>
    <p:sldId id="648" r:id="rId82"/>
    <p:sldId id="649" r:id="rId83"/>
    <p:sldId id="651" r:id="rId84"/>
    <p:sldId id="656" r:id="rId85"/>
    <p:sldId id="658" r:id="rId86"/>
    <p:sldId id="608" r:id="rId87"/>
  </p:sldIdLst>
  <p:sldSz cx="9144000" cy="6858000" type="screen4x3"/>
  <p:notesSz cx="6858000" cy="9144000"/>
  <p:embeddedFontLst>
    <p:embeddedFont>
      <p:font typeface="Verdana" panose="020B0604030504040204" pitchFamily="34" charset="0"/>
      <p:regular r:id="rId92"/>
    </p:embeddedFont>
    <p:embeddedFont>
      <p:font typeface="微软雅黑" panose="020B0503020204020204" charset="-122"/>
      <p:regular r:id="rId93"/>
    </p:embeddedFont>
    <p:embeddedFont>
      <p:font typeface="黑体" panose="02010609060101010101" pitchFamily="49" charset="-122"/>
      <p:regular r:id="rId94"/>
    </p:embeddedFont>
    <p:embeddedFont>
      <p:font typeface="Wingdings 2" panose="05020102010507070707" pitchFamily="18" charset="2"/>
      <p:regular r:id="rId95"/>
    </p:embeddedFont>
    <p:embeddedFont>
      <p:font typeface="Franklin Gothic Medium" panose="020B0603020102020204" charset="0"/>
      <p:regular r:id="rId96"/>
      <p:italic r:id="rId97"/>
    </p:embeddedFont>
    <p:embeddedFont>
      <p:font typeface="Arial Unicode MS" panose="020B0604020202020204" charset="-122"/>
      <p:regular r:id="rId98"/>
    </p:embeddedFont>
    <p:embeddedFont>
      <p:font typeface="Calibri" panose="020F0502020204030204" pitchFamily="34" charset="0"/>
      <p:regular r:id="rId99"/>
      <p:bold r:id="rId100"/>
      <p:italic r:id="rId101"/>
      <p:boldItalic r:id="rId102"/>
    </p:embeddedFont>
    <p:embeddedFont>
      <p:font typeface="方正兰亭中黑_GBK" panose="02000000000000000000" pitchFamily="2" charset="-122"/>
      <p:regular r:id="rId103"/>
    </p:embeddedFont>
    <p:embeddedFont>
      <p:font typeface="隶书" panose="02010509060101010101" charset="-122"/>
      <p:regular r:id="rId104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7AE"/>
    <a:srgbClr val="0000FF"/>
    <a:srgbClr val="FF9933"/>
    <a:srgbClr val="FFFFCC"/>
    <a:srgbClr val="FFFFFF"/>
    <a:srgbClr val="CCFF99"/>
    <a:srgbClr val="99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9" autoAdjust="0"/>
    <p:restoredTop sz="95447" autoAdjust="0"/>
  </p:normalViewPr>
  <p:slideViewPr>
    <p:cSldViewPr showGuides="1">
      <p:cViewPr varScale="1">
        <p:scale>
          <a:sx n="106" d="100"/>
          <a:sy n="106" d="100"/>
        </p:scale>
        <p:origin x="1632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8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8.fntdata"/><Relationship Id="rId98" Type="http://schemas.openxmlformats.org/officeDocument/2006/relationships/font" Target="fonts/font7.fntdata"/><Relationship Id="rId97" Type="http://schemas.openxmlformats.org/officeDocument/2006/relationships/font" Target="fonts/font6.fntdata"/><Relationship Id="rId96" Type="http://schemas.openxmlformats.org/officeDocument/2006/relationships/font" Target="fonts/font5.fntdata"/><Relationship Id="rId95" Type="http://schemas.openxmlformats.org/officeDocument/2006/relationships/font" Target="fonts/font4.fntdata"/><Relationship Id="rId94" Type="http://schemas.openxmlformats.org/officeDocument/2006/relationships/font" Target="fonts/font3.fntdata"/><Relationship Id="rId93" Type="http://schemas.openxmlformats.org/officeDocument/2006/relationships/font" Target="fonts/font2.fntdata"/><Relationship Id="rId92" Type="http://schemas.openxmlformats.org/officeDocument/2006/relationships/font" Target="fonts/font1.fntdata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4.xml"/><Relationship Id="rId89" Type="http://schemas.openxmlformats.org/officeDocument/2006/relationships/presProps" Target="presProps.xml"/><Relationship Id="rId88" Type="http://schemas.openxmlformats.org/officeDocument/2006/relationships/handoutMaster" Target="handoutMasters/handoutMaster1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4" Type="http://schemas.openxmlformats.org/officeDocument/2006/relationships/font" Target="fonts/font13.fntdata"/><Relationship Id="rId103" Type="http://schemas.openxmlformats.org/officeDocument/2006/relationships/font" Target="fonts/font12.fntdata"/><Relationship Id="rId102" Type="http://schemas.openxmlformats.org/officeDocument/2006/relationships/font" Target="fonts/font11.fntdata"/><Relationship Id="rId101" Type="http://schemas.openxmlformats.org/officeDocument/2006/relationships/font" Target="fonts/font10.fntdata"/><Relationship Id="rId100" Type="http://schemas.openxmlformats.org/officeDocument/2006/relationships/font" Target="fonts/font9.fntdata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8330AB-FD57-4F24-943F-B43B1DA1E5B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9624EA7F-A502-459B-B551-74E9DBED7969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Computer 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[support=10%]</a:t>
          </a:r>
        </a:p>
      </dgm:t>
    </dgm:pt>
    <dgm:pt modelId="{D5DA1F72-7ECB-446F-B06C-E58777D788C8}" cxnId="{95F3CE2D-67F1-4207-8FF5-BDA31A3BE443}" type="parTrans">
      <dgm:prSet/>
      <dgm:spPr/>
      <dgm:t>
        <a:bodyPr/>
        <a:lstStyle/>
        <a:p>
          <a:endParaRPr lang="zh-CN" altLang="en-US"/>
        </a:p>
      </dgm:t>
    </dgm:pt>
    <dgm:pt modelId="{51B38BBD-C54F-4507-954B-39CC0A944D77}" cxnId="{95F3CE2D-67F1-4207-8FF5-BDA31A3BE443}" type="sibTrans">
      <dgm:prSet/>
      <dgm:spPr/>
      <dgm:t>
        <a:bodyPr/>
        <a:lstStyle/>
        <a:p>
          <a:endParaRPr lang="zh-CN" altLang="en-US"/>
        </a:p>
      </dgm:t>
    </dgm:pt>
    <dgm:pt modelId="{B9AE3D6A-EC7A-44C3-9833-D6A21580C918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Laptop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[support=6%]</a:t>
          </a:r>
        </a:p>
      </dgm:t>
    </dgm:pt>
    <dgm:pt modelId="{C492574B-B1C3-4292-B709-2C504E62391A}" cxnId="{FBA7A396-805E-46E1-AC89-6BB96384A914}" type="parTrans">
      <dgm:prSet/>
      <dgm:spPr/>
      <dgm:t>
        <a:bodyPr/>
        <a:lstStyle/>
        <a:p>
          <a:endParaRPr lang="zh-CN" altLang="en-US"/>
        </a:p>
      </dgm:t>
    </dgm:pt>
    <dgm:pt modelId="{906E582A-8B38-44AA-9EDA-C92919548734}" cxnId="{FBA7A396-805E-46E1-AC89-6BB96384A914}" type="sibTrans">
      <dgm:prSet/>
      <dgm:spPr/>
      <dgm:t>
        <a:bodyPr/>
        <a:lstStyle/>
        <a:p>
          <a:endParaRPr lang="zh-CN" altLang="en-US"/>
        </a:p>
      </dgm:t>
    </dgm:pt>
    <dgm:pt modelId="{9270D4BE-88DB-4F8A-8DDF-C3F56CF46B83}">
      <dgm:prSet/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Desktop</a:t>
          </a: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rPr>
            <a:t>[support=4%]</a:t>
          </a:r>
        </a:p>
      </dgm:t>
    </dgm:pt>
    <dgm:pt modelId="{20222196-2FD4-4CC1-8152-A7C875D81FDB}" cxnId="{B8434AED-CC7B-41C9-863B-CF72D2EAC35A}" type="parTrans">
      <dgm:prSet/>
      <dgm:spPr/>
      <dgm:t>
        <a:bodyPr/>
        <a:lstStyle/>
        <a:p>
          <a:endParaRPr lang="zh-CN" altLang="en-US"/>
        </a:p>
      </dgm:t>
    </dgm:pt>
    <dgm:pt modelId="{D0D4A262-317B-416C-8157-1A9AD5A47BF6}" cxnId="{B8434AED-CC7B-41C9-863B-CF72D2EAC35A}" type="sibTrans">
      <dgm:prSet/>
      <dgm:spPr/>
      <dgm:t>
        <a:bodyPr/>
        <a:lstStyle/>
        <a:p>
          <a:endParaRPr lang="zh-CN" altLang="en-US"/>
        </a:p>
      </dgm:t>
    </dgm:pt>
    <dgm:pt modelId="{85AA5833-4AD9-4324-B08F-D9293DE3B975}" type="pres">
      <dgm:prSet presAssocID="{538330AB-FD57-4F24-943F-B43B1DA1E5B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AE0CF9C-8107-4064-96A6-104E3AD2244F}" type="pres">
      <dgm:prSet presAssocID="{9624EA7F-A502-459B-B551-74E9DBED7969}" presName="hierRoot1" presStyleCnt="0">
        <dgm:presLayoutVars>
          <dgm:hierBranch/>
        </dgm:presLayoutVars>
      </dgm:prSet>
      <dgm:spPr/>
    </dgm:pt>
    <dgm:pt modelId="{04F0F23A-F707-4229-9333-E951FD1526A8}" type="pres">
      <dgm:prSet presAssocID="{9624EA7F-A502-459B-B551-74E9DBED7969}" presName="rootComposite1" presStyleCnt="0"/>
      <dgm:spPr/>
    </dgm:pt>
    <dgm:pt modelId="{699AE976-C373-4B2C-8271-B32D2F012CEB}" type="pres">
      <dgm:prSet presAssocID="{9624EA7F-A502-459B-B551-74E9DBED7969}" presName="rootText1" presStyleLbl="node0" presStyleIdx="0" presStyleCnt="1">
        <dgm:presLayoutVars>
          <dgm:chPref val="3"/>
        </dgm:presLayoutVars>
      </dgm:prSet>
      <dgm:spPr/>
    </dgm:pt>
    <dgm:pt modelId="{92E03CB6-E6AC-4BE9-9C60-9A4CA456848F}" type="pres">
      <dgm:prSet presAssocID="{9624EA7F-A502-459B-B551-74E9DBED7969}" presName="rootConnector1" presStyleLbl="node1" presStyleIdx="0" presStyleCnt="0"/>
      <dgm:spPr/>
    </dgm:pt>
    <dgm:pt modelId="{44179E54-0D99-440D-B82F-BD2D1D228A25}" type="pres">
      <dgm:prSet presAssocID="{9624EA7F-A502-459B-B551-74E9DBED7969}" presName="hierChild2" presStyleCnt="0"/>
      <dgm:spPr/>
    </dgm:pt>
    <dgm:pt modelId="{B1A9E984-14E8-4767-B4D4-DAF1FA2766D1}" type="pres">
      <dgm:prSet presAssocID="{C492574B-B1C3-4292-B709-2C504E62391A}" presName="Name35" presStyleLbl="parChTrans1D2" presStyleIdx="0" presStyleCnt="2"/>
      <dgm:spPr/>
    </dgm:pt>
    <dgm:pt modelId="{DB65E12A-9480-4164-8E49-DCBB59063986}" type="pres">
      <dgm:prSet presAssocID="{B9AE3D6A-EC7A-44C3-9833-D6A21580C918}" presName="hierRoot2" presStyleCnt="0">
        <dgm:presLayoutVars>
          <dgm:hierBranch/>
        </dgm:presLayoutVars>
      </dgm:prSet>
      <dgm:spPr/>
    </dgm:pt>
    <dgm:pt modelId="{46ED9701-8C8B-4A88-AD44-A7CA083FC08F}" type="pres">
      <dgm:prSet presAssocID="{B9AE3D6A-EC7A-44C3-9833-D6A21580C918}" presName="rootComposite" presStyleCnt="0"/>
      <dgm:spPr/>
    </dgm:pt>
    <dgm:pt modelId="{294C716C-55C4-4EBF-AA66-6F646914C981}" type="pres">
      <dgm:prSet presAssocID="{B9AE3D6A-EC7A-44C3-9833-D6A21580C918}" presName="rootText" presStyleLbl="node2" presStyleIdx="0" presStyleCnt="2">
        <dgm:presLayoutVars>
          <dgm:chPref val="3"/>
        </dgm:presLayoutVars>
      </dgm:prSet>
      <dgm:spPr/>
    </dgm:pt>
    <dgm:pt modelId="{23F18CB8-F4FA-4018-A7D2-AF29F28E2A6F}" type="pres">
      <dgm:prSet presAssocID="{B9AE3D6A-EC7A-44C3-9833-D6A21580C918}" presName="rootConnector" presStyleLbl="node2" presStyleIdx="0" presStyleCnt="2"/>
      <dgm:spPr/>
    </dgm:pt>
    <dgm:pt modelId="{A3FAA3F2-7111-4C59-8EE6-480C894C7609}" type="pres">
      <dgm:prSet presAssocID="{B9AE3D6A-EC7A-44C3-9833-D6A21580C918}" presName="hierChild4" presStyleCnt="0"/>
      <dgm:spPr/>
    </dgm:pt>
    <dgm:pt modelId="{2C4823DC-5C7A-4315-BA99-EBEEEE4DCD33}" type="pres">
      <dgm:prSet presAssocID="{B9AE3D6A-EC7A-44C3-9833-D6A21580C918}" presName="hierChild5" presStyleCnt="0"/>
      <dgm:spPr/>
    </dgm:pt>
    <dgm:pt modelId="{E3E86351-53AE-413B-8467-3F95F8B4C02D}" type="pres">
      <dgm:prSet presAssocID="{20222196-2FD4-4CC1-8152-A7C875D81FDB}" presName="Name35" presStyleLbl="parChTrans1D2" presStyleIdx="1" presStyleCnt="2"/>
      <dgm:spPr/>
    </dgm:pt>
    <dgm:pt modelId="{0C09858C-891F-4A9A-BD09-AAE8E8E3CB85}" type="pres">
      <dgm:prSet presAssocID="{9270D4BE-88DB-4F8A-8DDF-C3F56CF46B83}" presName="hierRoot2" presStyleCnt="0">
        <dgm:presLayoutVars>
          <dgm:hierBranch/>
        </dgm:presLayoutVars>
      </dgm:prSet>
      <dgm:spPr/>
    </dgm:pt>
    <dgm:pt modelId="{5CAA1A77-DDBC-4BB7-8F91-CC234E4841C2}" type="pres">
      <dgm:prSet presAssocID="{9270D4BE-88DB-4F8A-8DDF-C3F56CF46B83}" presName="rootComposite" presStyleCnt="0"/>
      <dgm:spPr/>
    </dgm:pt>
    <dgm:pt modelId="{AF839BEC-B58C-4132-9216-06B82B9C6E28}" type="pres">
      <dgm:prSet presAssocID="{9270D4BE-88DB-4F8A-8DDF-C3F56CF46B83}" presName="rootText" presStyleLbl="node2" presStyleIdx="1" presStyleCnt="2">
        <dgm:presLayoutVars>
          <dgm:chPref val="3"/>
        </dgm:presLayoutVars>
      </dgm:prSet>
      <dgm:spPr/>
    </dgm:pt>
    <dgm:pt modelId="{2941566C-C133-4116-B5DC-4B361039F51A}" type="pres">
      <dgm:prSet presAssocID="{9270D4BE-88DB-4F8A-8DDF-C3F56CF46B83}" presName="rootConnector" presStyleLbl="node2" presStyleIdx="1" presStyleCnt="2"/>
      <dgm:spPr/>
    </dgm:pt>
    <dgm:pt modelId="{811637F4-EF3A-475D-8378-8C0D859BBFCB}" type="pres">
      <dgm:prSet presAssocID="{9270D4BE-88DB-4F8A-8DDF-C3F56CF46B83}" presName="hierChild4" presStyleCnt="0"/>
      <dgm:spPr/>
    </dgm:pt>
    <dgm:pt modelId="{45735665-85AF-41F3-863B-AC0A4204878C}" type="pres">
      <dgm:prSet presAssocID="{9270D4BE-88DB-4F8A-8DDF-C3F56CF46B83}" presName="hierChild5" presStyleCnt="0"/>
      <dgm:spPr/>
    </dgm:pt>
    <dgm:pt modelId="{318AD04F-FA42-4D0D-ADB4-0B73BFF8594A}" type="pres">
      <dgm:prSet presAssocID="{9624EA7F-A502-459B-B551-74E9DBED7969}" presName="hierChild3" presStyleCnt="0"/>
      <dgm:spPr/>
    </dgm:pt>
  </dgm:ptLst>
  <dgm:cxnLst>
    <dgm:cxn modelId="{95F3CE2D-67F1-4207-8FF5-BDA31A3BE443}" srcId="{538330AB-FD57-4F24-943F-B43B1DA1E5BC}" destId="{9624EA7F-A502-459B-B551-74E9DBED7969}" srcOrd="0" destOrd="0" parTransId="{D5DA1F72-7ECB-446F-B06C-E58777D788C8}" sibTransId="{51B38BBD-C54F-4507-954B-39CC0A944D77}"/>
    <dgm:cxn modelId="{0A59375B-275D-4966-8D57-1F1FDE529E04}" type="presOf" srcId="{9624EA7F-A502-459B-B551-74E9DBED7969}" destId="{699AE976-C373-4B2C-8271-B32D2F012CEB}" srcOrd="0" destOrd="0" presId="urn:microsoft.com/office/officeart/2005/8/layout/orgChart1"/>
    <dgm:cxn modelId="{15109754-F062-4F83-A1D9-4104E7585128}" type="presOf" srcId="{B9AE3D6A-EC7A-44C3-9833-D6A21580C918}" destId="{294C716C-55C4-4EBF-AA66-6F646914C981}" srcOrd="0" destOrd="0" presId="urn:microsoft.com/office/officeart/2005/8/layout/orgChart1"/>
    <dgm:cxn modelId="{0DEF0486-2082-4408-9C1F-9145A1FB28D2}" type="presOf" srcId="{9624EA7F-A502-459B-B551-74E9DBED7969}" destId="{92E03CB6-E6AC-4BE9-9C60-9A4CA456848F}" srcOrd="1" destOrd="0" presId="urn:microsoft.com/office/officeart/2005/8/layout/orgChart1"/>
    <dgm:cxn modelId="{31C9F68B-76E4-40A6-A3A8-5A4571EBC16F}" type="presOf" srcId="{20222196-2FD4-4CC1-8152-A7C875D81FDB}" destId="{E3E86351-53AE-413B-8467-3F95F8B4C02D}" srcOrd="0" destOrd="0" presId="urn:microsoft.com/office/officeart/2005/8/layout/orgChart1"/>
    <dgm:cxn modelId="{FBA7A396-805E-46E1-AC89-6BB96384A914}" srcId="{9624EA7F-A502-459B-B551-74E9DBED7969}" destId="{B9AE3D6A-EC7A-44C3-9833-D6A21580C918}" srcOrd="0" destOrd="0" parTransId="{C492574B-B1C3-4292-B709-2C504E62391A}" sibTransId="{906E582A-8B38-44AA-9EDA-C92919548734}"/>
    <dgm:cxn modelId="{5DE4279A-4B38-439F-A9D2-B520E4F832F3}" type="presOf" srcId="{538330AB-FD57-4F24-943F-B43B1DA1E5BC}" destId="{85AA5833-4AD9-4324-B08F-D9293DE3B975}" srcOrd="0" destOrd="0" presId="urn:microsoft.com/office/officeart/2005/8/layout/orgChart1"/>
    <dgm:cxn modelId="{BF2290A4-0B0F-4420-914C-C04C12C3C456}" type="presOf" srcId="{9270D4BE-88DB-4F8A-8DDF-C3F56CF46B83}" destId="{2941566C-C133-4116-B5DC-4B361039F51A}" srcOrd="1" destOrd="0" presId="urn:microsoft.com/office/officeart/2005/8/layout/orgChart1"/>
    <dgm:cxn modelId="{5205BAC1-CC7A-4537-B959-BF02B2687780}" type="presOf" srcId="{B9AE3D6A-EC7A-44C3-9833-D6A21580C918}" destId="{23F18CB8-F4FA-4018-A7D2-AF29F28E2A6F}" srcOrd="1" destOrd="0" presId="urn:microsoft.com/office/officeart/2005/8/layout/orgChart1"/>
    <dgm:cxn modelId="{A6CA00CC-14C0-4B54-8C49-D7EF3F1DE1E0}" type="presOf" srcId="{9270D4BE-88DB-4F8A-8DDF-C3F56CF46B83}" destId="{AF839BEC-B58C-4132-9216-06B82B9C6E28}" srcOrd="0" destOrd="0" presId="urn:microsoft.com/office/officeart/2005/8/layout/orgChart1"/>
    <dgm:cxn modelId="{97CE44D8-9D9C-4583-B942-821B01D30119}" type="presOf" srcId="{C492574B-B1C3-4292-B709-2C504E62391A}" destId="{B1A9E984-14E8-4767-B4D4-DAF1FA2766D1}" srcOrd="0" destOrd="0" presId="urn:microsoft.com/office/officeart/2005/8/layout/orgChart1"/>
    <dgm:cxn modelId="{B8434AED-CC7B-41C9-863B-CF72D2EAC35A}" srcId="{9624EA7F-A502-459B-B551-74E9DBED7969}" destId="{9270D4BE-88DB-4F8A-8DDF-C3F56CF46B83}" srcOrd="1" destOrd="0" parTransId="{20222196-2FD4-4CC1-8152-A7C875D81FDB}" sibTransId="{D0D4A262-317B-416C-8157-1A9AD5A47BF6}"/>
    <dgm:cxn modelId="{12DC75FB-4935-4981-8705-E091916C14A1}" type="presParOf" srcId="{85AA5833-4AD9-4324-B08F-D9293DE3B975}" destId="{5AE0CF9C-8107-4064-96A6-104E3AD2244F}" srcOrd="0" destOrd="0" presId="urn:microsoft.com/office/officeart/2005/8/layout/orgChart1"/>
    <dgm:cxn modelId="{B41287F6-379C-4B6C-8B3A-BFDEC114E2B2}" type="presParOf" srcId="{5AE0CF9C-8107-4064-96A6-104E3AD2244F}" destId="{04F0F23A-F707-4229-9333-E951FD1526A8}" srcOrd="0" destOrd="0" presId="urn:microsoft.com/office/officeart/2005/8/layout/orgChart1"/>
    <dgm:cxn modelId="{2CD199D5-20FB-4073-850B-66037354FEFD}" type="presParOf" srcId="{04F0F23A-F707-4229-9333-E951FD1526A8}" destId="{699AE976-C373-4B2C-8271-B32D2F012CEB}" srcOrd="0" destOrd="0" presId="urn:microsoft.com/office/officeart/2005/8/layout/orgChart1"/>
    <dgm:cxn modelId="{894FF224-7542-4EFE-915F-7F991B55F5FB}" type="presParOf" srcId="{04F0F23A-F707-4229-9333-E951FD1526A8}" destId="{92E03CB6-E6AC-4BE9-9C60-9A4CA456848F}" srcOrd="1" destOrd="0" presId="urn:microsoft.com/office/officeart/2005/8/layout/orgChart1"/>
    <dgm:cxn modelId="{C527ED77-D37B-4134-8F71-FC50E662CB34}" type="presParOf" srcId="{5AE0CF9C-8107-4064-96A6-104E3AD2244F}" destId="{44179E54-0D99-440D-B82F-BD2D1D228A25}" srcOrd="1" destOrd="0" presId="urn:microsoft.com/office/officeart/2005/8/layout/orgChart1"/>
    <dgm:cxn modelId="{DD89B2C9-A9E8-4840-A638-39E1DC842206}" type="presParOf" srcId="{44179E54-0D99-440D-B82F-BD2D1D228A25}" destId="{B1A9E984-14E8-4767-B4D4-DAF1FA2766D1}" srcOrd="0" destOrd="0" presId="urn:microsoft.com/office/officeart/2005/8/layout/orgChart1"/>
    <dgm:cxn modelId="{C59A6AC7-2F60-4F7C-BB22-216B33489002}" type="presParOf" srcId="{44179E54-0D99-440D-B82F-BD2D1D228A25}" destId="{DB65E12A-9480-4164-8E49-DCBB59063986}" srcOrd="1" destOrd="0" presId="urn:microsoft.com/office/officeart/2005/8/layout/orgChart1"/>
    <dgm:cxn modelId="{C59064F9-F60E-43F8-94D1-B8ED2946663B}" type="presParOf" srcId="{DB65E12A-9480-4164-8E49-DCBB59063986}" destId="{46ED9701-8C8B-4A88-AD44-A7CA083FC08F}" srcOrd="0" destOrd="0" presId="urn:microsoft.com/office/officeart/2005/8/layout/orgChart1"/>
    <dgm:cxn modelId="{C262C987-64AD-4915-8185-67DAB42B0EDA}" type="presParOf" srcId="{46ED9701-8C8B-4A88-AD44-A7CA083FC08F}" destId="{294C716C-55C4-4EBF-AA66-6F646914C981}" srcOrd="0" destOrd="0" presId="urn:microsoft.com/office/officeart/2005/8/layout/orgChart1"/>
    <dgm:cxn modelId="{6A52F8BF-C569-4C41-9742-C8224BECB458}" type="presParOf" srcId="{46ED9701-8C8B-4A88-AD44-A7CA083FC08F}" destId="{23F18CB8-F4FA-4018-A7D2-AF29F28E2A6F}" srcOrd="1" destOrd="0" presId="urn:microsoft.com/office/officeart/2005/8/layout/orgChart1"/>
    <dgm:cxn modelId="{7DBF5ACA-BF4A-47AC-BAAA-CC4F6425B645}" type="presParOf" srcId="{DB65E12A-9480-4164-8E49-DCBB59063986}" destId="{A3FAA3F2-7111-4C59-8EE6-480C894C7609}" srcOrd="1" destOrd="0" presId="urn:microsoft.com/office/officeart/2005/8/layout/orgChart1"/>
    <dgm:cxn modelId="{E1D8AFFC-A2FD-4F6C-B968-6E1FBF9DE8FE}" type="presParOf" srcId="{DB65E12A-9480-4164-8E49-DCBB59063986}" destId="{2C4823DC-5C7A-4315-BA99-EBEEEE4DCD33}" srcOrd="2" destOrd="0" presId="urn:microsoft.com/office/officeart/2005/8/layout/orgChart1"/>
    <dgm:cxn modelId="{13D96508-FDF7-4B96-BAEB-79BE29EF5558}" type="presParOf" srcId="{44179E54-0D99-440D-B82F-BD2D1D228A25}" destId="{E3E86351-53AE-413B-8467-3F95F8B4C02D}" srcOrd="2" destOrd="0" presId="urn:microsoft.com/office/officeart/2005/8/layout/orgChart1"/>
    <dgm:cxn modelId="{889E787B-B9E0-40FB-93FC-CA17508C8DD5}" type="presParOf" srcId="{44179E54-0D99-440D-B82F-BD2D1D228A25}" destId="{0C09858C-891F-4A9A-BD09-AAE8E8E3CB85}" srcOrd="3" destOrd="0" presId="urn:microsoft.com/office/officeart/2005/8/layout/orgChart1"/>
    <dgm:cxn modelId="{BB22537A-DE5D-482A-81CE-21E8E7B13839}" type="presParOf" srcId="{0C09858C-891F-4A9A-BD09-AAE8E8E3CB85}" destId="{5CAA1A77-DDBC-4BB7-8F91-CC234E4841C2}" srcOrd="0" destOrd="0" presId="urn:microsoft.com/office/officeart/2005/8/layout/orgChart1"/>
    <dgm:cxn modelId="{72CCB6C5-43CC-46A8-ACBB-FADE049B92ED}" type="presParOf" srcId="{5CAA1A77-DDBC-4BB7-8F91-CC234E4841C2}" destId="{AF839BEC-B58C-4132-9216-06B82B9C6E28}" srcOrd="0" destOrd="0" presId="urn:microsoft.com/office/officeart/2005/8/layout/orgChart1"/>
    <dgm:cxn modelId="{AAC1FF8B-DC5B-46FC-807F-5AE3CFC80080}" type="presParOf" srcId="{5CAA1A77-DDBC-4BB7-8F91-CC234E4841C2}" destId="{2941566C-C133-4116-B5DC-4B361039F51A}" srcOrd="1" destOrd="0" presId="urn:microsoft.com/office/officeart/2005/8/layout/orgChart1"/>
    <dgm:cxn modelId="{F850EF80-41BB-4E33-AA64-1A4CB5FEF55F}" type="presParOf" srcId="{0C09858C-891F-4A9A-BD09-AAE8E8E3CB85}" destId="{811637F4-EF3A-475D-8378-8C0D859BBFCB}" srcOrd="1" destOrd="0" presId="urn:microsoft.com/office/officeart/2005/8/layout/orgChart1"/>
    <dgm:cxn modelId="{C1D9EC07-1D6C-47DB-8915-37205DD50693}" type="presParOf" srcId="{0C09858C-891F-4A9A-BD09-AAE8E8E3CB85}" destId="{45735665-85AF-41F3-863B-AC0A4204878C}" srcOrd="2" destOrd="0" presId="urn:microsoft.com/office/officeart/2005/8/layout/orgChart1"/>
    <dgm:cxn modelId="{077BB154-A5FF-49F9-AB44-8000F409E95C}" type="presParOf" srcId="{5AE0CF9C-8107-4064-96A6-104E3AD2244F}" destId="{318AD04F-FA42-4D0D-ADB4-0B73BFF8594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611438" cy="2659856"/>
        <a:chOff x="0" y="0"/>
        <a:chExt cx="3611438" cy="2659856"/>
      </a:xfrm>
    </dsp:grpSpPr>
    <dsp:sp modelId="{B1A9E984-14E8-4767-B4D4-DAF1FA2766D1}">
      <dsp:nvSpPr>
        <dsp:cNvPr id="5" name="任意多边形 4"/>
        <dsp:cNvSpPr/>
      </dsp:nvSpPr>
      <dsp:spPr bwMode="white">
        <a:xfrm>
          <a:off x="817067" y="1158344"/>
          <a:ext cx="988652" cy="343168"/>
        </a:xfrm>
        <a:custGeom>
          <a:avLst/>
          <a:gdLst/>
          <a:ahLst/>
          <a:cxnLst/>
          <a:pathLst>
            <a:path w="1557" h="540">
              <a:moveTo>
                <a:pt x="1557" y="0"/>
              </a:moveTo>
              <a:lnTo>
                <a:pt x="1557" y="270"/>
              </a:lnTo>
              <a:lnTo>
                <a:pt x="0" y="270"/>
              </a:lnTo>
              <a:lnTo>
                <a:pt x="0" y="54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817067" y="1158344"/>
        <a:ext cx="988652" cy="343168"/>
      </dsp:txXfrm>
    </dsp:sp>
    <dsp:sp modelId="{E3E86351-53AE-413B-8467-3F95F8B4C02D}">
      <dsp:nvSpPr>
        <dsp:cNvPr id="8" name="任意多边形 7"/>
        <dsp:cNvSpPr/>
      </dsp:nvSpPr>
      <dsp:spPr bwMode="white">
        <a:xfrm>
          <a:off x="1805719" y="1158344"/>
          <a:ext cx="988652" cy="343168"/>
        </a:xfrm>
        <a:custGeom>
          <a:avLst/>
          <a:gdLst/>
          <a:ahLst/>
          <a:cxnLst/>
          <a:pathLst>
            <a:path w="1557" h="540">
              <a:moveTo>
                <a:pt x="0" y="0"/>
              </a:moveTo>
              <a:lnTo>
                <a:pt x="0" y="270"/>
              </a:lnTo>
              <a:lnTo>
                <a:pt x="1557" y="270"/>
              </a:lnTo>
              <a:lnTo>
                <a:pt x="1557" y="54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05719" y="1158344"/>
        <a:ext cx="988652" cy="343168"/>
      </dsp:txXfrm>
    </dsp:sp>
    <dsp:sp modelId="{699AE976-C373-4B2C-8271-B32D2F012CEB}">
      <dsp:nvSpPr>
        <dsp:cNvPr id="3" name="矩形 2"/>
        <dsp:cNvSpPr/>
      </dsp:nvSpPr>
      <dsp:spPr bwMode="white">
        <a:xfrm>
          <a:off x="988652" y="341276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Computer 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[support=10%]</a:t>
          </a:r>
        </a:p>
      </dsp:txBody>
      <dsp:txXfrm>
        <a:off x="988652" y="341276"/>
        <a:ext cx="1634135" cy="817067"/>
      </dsp:txXfrm>
    </dsp:sp>
    <dsp:sp modelId="{294C716C-55C4-4EBF-AA66-6F646914C981}">
      <dsp:nvSpPr>
        <dsp:cNvPr id="6" name="矩形 5"/>
        <dsp:cNvSpPr/>
      </dsp:nvSpPr>
      <dsp:spPr bwMode="white">
        <a:xfrm>
          <a:off x="0" y="1501512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Laptop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[support=6%]</a:t>
          </a:r>
        </a:p>
      </dsp:txBody>
      <dsp:txXfrm>
        <a:off x="0" y="1501512"/>
        <a:ext cx="1634135" cy="817067"/>
      </dsp:txXfrm>
    </dsp:sp>
    <dsp:sp modelId="{AF839BEC-B58C-4132-9216-06B82B9C6E28}">
      <dsp:nvSpPr>
        <dsp:cNvPr id="9" name="矩形 8"/>
        <dsp:cNvSpPr/>
      </dsp:nvSpPr>
      <dsp:spPr bwMode="white">
        <a:xfrm>
          <a:off x="1977303" y="1501512"/>
          <a:ext cx="1634135" cy="817067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700" tIns="12700" rIns="12700" bIns="127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Desktop</a:t>
          </a:r>
          <a:endParaRPr kumimoji="0" lang="en-US" altLang="zh-CN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黑体" pitchFamily="49" charset="-122"/>
          </a:endParaRPr>
        </a:p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黑体" pitchFamily="49" charset="-122"/>
            </a:rPr>
            <a:t>[support=4%]</a:t>
          </a:r>
        </a:p>
      </dsp:txBody>
      <dsp:txXfrm>
        <a:off x="1977303" y="1501512"/>
        <a:ext cx="1634135" cy="817067"/>
      </dsp:txXfrm>
    </dsp:sp>
    <dsp:sp modelId="{92E03CB6-E6AC-4BE9-9C60-9A4CA456848F}">
      <dsp:nvSpPr>
        <dsp:cNvPr id="4" name="矩形 3" hidden="1"/>
        <dsp:cNvSpPr/>
      </dsp:nvSpPr>
      <dsp:spPr>
        <a:xfrm>
          <a:off x="2295959" y="341276"/>
          <a:ext cx="326827" cy="817067"/>
        </a:xfrm>
        <a:prstGeom prst="rect">
          <a:avLst/>
        </a:prstGeom>
      </dsp:spPr>
      <dsp:txXfrm>
        <a:off x="2295959" y="341276"/>
        <a:ext cx="326827" cy="817067"/>
      </dsp:txXfrm>
    </dsp:sp>
    <dsp:sp modelId="{23F18CB8-F4FA-4018-A7D2-AF29F28E2A6F}">
      <dsp:nvSpPr>
        <dsp:cNvPr id="7" name="矩形 6" hidden="1"/>
        <dsp:cNvSpPr/>
      </dsp:nvSpPr>
      <dsp:spPr>
        <a:xfrm>
          <a:off x="1307308" y="1501512"/>
          <a:ext cx="326827" cy="817067"/>
        </a:xfrm>
        <a:prstGeom prst="rect">
          <a:avLst/>
        </a:prstGeom>
      </dsp:spPr>
      <dsp:txXfrm>
        <a:off x="1307308" y="1501512"/>
        <a:ext cx="326827" cy="817067"/>
      </dsp:txXfrm>
    </dsp:sp>
    <dsp:sp modelId="{2941566C-C133-4116-B5DC-4B361039F51A}">
      <dsp:nvSpPr>
        <dsp:cNvPr id="10" name="矩形 9" hidden="1"/>
        <dsp:cNvSpPr/>
      </dsp:nvSpPr>
      <dsp:spPr>
        <a:xfrm>
          <a:off x="3284611" y="1501512"/>
          <a:ext cx="326827" cy="817067"/>
        </a:xfrm>
        <a:prstGeom prst="rect">
          <a:avLst/>
        </a:prstGeom>
      </dsp:spPr>
      <dsp:txXfrm>
        <a:off x="3284611" y="1501512"/>
        <a:ext cx="326827" cy="817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7" Type="http://schemas.openxmlformats.org/officeDocument/2006/relationships/image" Target="../media/image24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e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rawings/_rels/vmlDrawing12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336AF0-FD95-4CF5-A438-479299AB1BA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1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51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1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9EFB9A-8B46-45D9-B71E-980BFFE1559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黑体" panose="02010609060101010101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黑体" panose="02010609060101010101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黑体" panose="02010609060101010101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黑体" panose="02010609060101010101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黑体" panose="02010609060101010101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6E274669-CBB0-4554-8702-40A53EE91C5A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5383F0-6439-477D-BAF5-722A5F7F0433}" type="slidenum">
              <a:rPr lang="en-US" altLang="zh-CN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26087FC-593F-4567-920E-F6419824B0EC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A77A8FA-FC33-4623-A684-E4B431780ED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4E0AF01-CFC7-40AA-B523-CA86C4F7F3D7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47E6D00-CE06-49CB-83DC-459C8C50D161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A10518C-5813-49C9-AD74-460DA8975CC2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DC81DE2-EF93-42B6-8198-E5A5826E29BA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CDC06E4-89CC-43FD-9AE5-33DB07869BC7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1DBF4B6-F4C1-4445-BAD0-0D07F46D97E8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B24A4D3-79A3-4AE0-92EE-B058EE802D7C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3D595D5-DC9E-4069-808A-A9DFD8595ACC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A49EB4C-DF9A-4B08-9695-3580E6A2B683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5577C612-C355-4949-9DDF-4383BF0686EB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闭集模式是指在数据集中，如果一个项集是频繁的，并且没有超过它的超集具有相同的支持度，那么该项集被称为闭集模式。换句话说，闭集模式是指没有比它更特定的具有相同支持度的频繁项集。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最大模式指的是在一个数据集中，不能再添加任何其他项使得该模式仍然频繁的项集。换句话说，最大模式是指在不损失频繁性的前提下，不再能向其中添加更多项的项集。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28A2E1E4-E416-43C3-A2DB-9858244776AE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D47D110-7448-4CC5-91DF-BE500E8358BB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0688BED-2DF7-4E64-BA20-F2BF30D960BE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BA43D4CE-5123-470C-84D9-BD9DBD8BCC3D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8E221C3F-D196-4EE4-990A-A543F12B38F6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047E7CF1-DE92-4C5F-AA95-C35524AE1812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Minimum support = 2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C^2 </a:t>
            </a:r>
            <a:r>
              <a:rPr lang="he-IL" altLang="zh-CN">
                <a:latin typeface="Arial" panose="020B0604020202020204" pitchFamily="34" charset="0"/>
                <a:cs typeface="Arial" panose="020B0604020202020204" pitchFamily="34" charset="0"/>
              </a:rPr>
              <a:t> גדול יותר אבל בשלב הבא נהיה קטן.</a:t>
            </a:r>
            <a:endParaRPr lang="he-IL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减少扫描次数：由于AprioriTid算法预先对数据库进行排序和压缩，它可以显著减少对数据库的多次扫描，从而提高了效率。</a:t>
            </a:r>
            <a:endParaRPr lang="zh-CN" altLang="en-US"/>
          </a:p>
          <a:p>
            <a:r>
              <a:rPr lang="zh-CN" altLang="en-US"/>
              <a:t>节省内存消耗：通过使用事务的排序列表表示，AprioriTid算法可以显著减少内存消耗，特别是在处理大规模数据时尤为明显。</a:t>
            </a:r>
            <a:endParaRPr lang="zh-CN" altLang="en-US"/>
          </a:p>
          <a:p>
            <a:r>
              <a:rPr lang="zh-CN" altLang="en-US"/>
              <a:t>适用于大规模数据集：由于其高效的扫描和计算支持度的方法，AprioriTid算法特别适合处理大规模数据集，例如在市场篮分析和Web点击流分析等领域。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05B09E1-0F02-480F-94D8-750D740B2406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893ECF1-0C91-436F-97E4-2FE4CA56751F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C4B4B92-C750-420D-A40A-88670881462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2F3F3FB-4AF7-46DB-A921-CA0CEAAC606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ECA63C44-B036-4D36-B088-F45C4DD558F1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DD80573-CC1B-44EA-B6FB-AEA4F1364C6E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03CF0DD7-9691-4380-928A-1D465D335562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14B6D89-4143-48A9-AFA3-C514E41DDD8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27F484C4-F779-427D-925A-285CB24CFDBE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41CAA16-1E33-431E-BECC-EF9464D6AFB6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BB01997-38DA-4CB5-84CA-EA00938B7B6B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597AA0F-CAE3-4891-A86B-32CB0604DC7D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2C50CEE-541D-4C78-9CD3-DEF86A01008C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97D768DC-70EF-415F-86AD-99B6018579F2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7FB154F2-0BCF-4DC7-92AE-6929D0CF00E5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1A30C32-578A-4BE6-AF1E-81C0F146E370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F45BF3E-34C4-4306-A53A-CDC74C8E1643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697AE7E-291C-4C41-BE8B-E4BFF3754007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A5CF10AF-C568-463E-B991-43316AD12D1A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9737E4A-F2BF-44B5-8C60-C27F5C7E4002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636F26BA-9253-4984-B14F-895E1778D54B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7FA24B0-7F7C-43E3-981E-84D769EF7F91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B0F3D950-7968-4FE5-BB7E-B2D23941A764}" type="slidenum">
              <a:rPr lang="en-US" altLang="zh-CN" smtClean="0">
                <a:ea typeface="宋体" panose="02010600030101010101" pitchFamily="2" charset="-122"/>
              </a:rPr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C6A04A-AA56-492A-8878-EDD9284AADFD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89BA9A-9530-405F-934E-D96F740057D2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6BF49CA-D8F9-409A-BAD2-442A8C9D8CE6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02974D7-5D61-4A94-BA41-7F84791CC87D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37ECFAD-BB43-42C2-98CA-3FBB8E0D27D9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0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26782C-3986-4AE2-8E8E-77B6D6467763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097190-E3A1-4FA2-B195-0110D1C18A65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3951DC-F6B7-468C-A46C-A1C8FC3E458A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</p:spPr>
        <p:txBody>
          <a:bodyPr/>
          <a:lstStyle>
            <a:lvl1pPr>
              <a:defRPr sz="4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3EBB3839-8ED0-4D6B-8067-BDAFE9D53A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60A0E-19C6-413F-9AA3-9D1276ECD8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4BF57-F09F-4696-94D6-FA47B56C77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0DD62-A29D-46E5-8C20-AFC9856A3F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6016" y="1916832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00AB7CE6-F591-405E-8A38-12A2D86674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05762-F71A-4581-B611-E0396DF3B7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2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20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2000">
                <a:latin typeface="微软雅黑" panose="020B0503020204020204" charset="-122"/>
                <a:ea typeface="微软雅黑" panose="020B050302020402020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2D840480-578B-45A1-8741-A511486F11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98507-C97E-44E5-BF98-5C02AA312D9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8FE1D-5254-4CDD-8924-F7AC9C0F96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19CF2-7D2B-47A0-86D1-783E306464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3621C-35FC-4204-AC78-B463AD59F9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/>
            <p:nvPr userDrawn="1"/>
          </p:nvGrpSpPr>
          <p:grpSpPr bwMode="auto">
            <a:xfrm rot="-215207">
              <a:off x="3692" y="232"/>
              <a:ext cx="1856" cy="3627"/>
              <a:chOff x="3010" y="776"/>
              <a:chExt cx="1856" cy="3627"/>
            </a:xfrm>
          </p:grpSpPr>
          <p:sp>
            <p:nvSpPr>
              <p:cNvPr id="39" name="Freeform 4"/>
              <p:cNvSpPr/>
              <p:nvPr userDrawn="1"/>
            </p:nvSpPr>
            <p:spPr bwMode="ltGray">
              <a:xfrm rot="12185230" flipV="1">
                <a:off x="3533" y="775"/>
                <a:ext cx="1333" cy="1485"/>
              </a:xfrm>
              <a:custGeom>
                <a:avLst/>
                <a:gdLst>
                  <a:gd name="T0" fmla="*/ 2147483646 w 596"/>
                  <a:gd name="T1" fmla="*/ 2147483646 h 666"/>
                  <a:gd name="T2" fmla="*/ 1422315941 w 596"/>
                  <a:gd name="T3" fmla="*/ 2147483646 h 666"/>
                  <a:gd name="T4" fmla="*/ 0 w 596"/>
                  <a:gd name="T5" fmla="*/ 2147483646 h 666"/>
                  <a:gd name="T6" fmla="*/ 989876552 w 596"/>
                  <a:gd name="T7" fmla="*/ 2147483646 h 666"/>
                  <a:gd name="T8" fmla="*/ 2147483646 w 596"/>
                  <a:gd name="T9" fmla="*/ 2147483646 h 666"/>
                  <a:gd name="T10" fmla="*/ 2147483646 w 596"/>
                  <a:gd name="T11" fmla="*/ 2147483646 h 666"/>
                  <a:gd name="T12" fmla="*/ 2147483646 w 596"/>
                  <a:gd name="T13" fmla="*/ 2147483646 h 666"/>
                  <a:gd name="T14" fmla="*/ 2147483646 w 596"/>
                  <a:gd name="T15" fmla="*/ 413694843 h 666"/>
                  <a:gd name="T16" fmla="*/ 2147483646 w 596"/>
                  <a:gd name="T17" fmla="*/ 2056764444 h 666"/>
                  <a:gd name="T18" fmla="*/ 2147483646 w 596"/>
                  <a:gd name="T19" fmla="*/ 2147483646 h 666"/>
                  <a:gd name="T20" fmla="*/ 2147483646 w 596"/>
                  <a:gd name="T21" fmla="*/ 2147483646 h 666"/>
                  <a:gd name="T22" fmla="*/ 2147483646 w 596"/>
                  <a:gd name="T23" fmla="*/ 2147483646 h 666"/>
                  <a:gd name="T24" fmla="*/ 2147483646 w 596"/>
                  <a:gd name="T25" fmla="*/ 2147483646 h 666"/>
                  <a:gd name="T26" fmla="*/ 2147483646 w 596"/>
                  <a:gd name="T27" fmla="*/ 2147483646 h 666"/>
                  <a:gd name="T28" fmla="*/ 2147483646 w 596"/>
                  <a:gd name="T29" fmla="*/ 2147483646 h 666"/>
                  <a:gd name="T30" fmla="*/ 2147483646 w 596"/>
                  <a:gd name="T31" fmla="*/ 2147483646 h 666"/>
                  <a:gd name="T32" fmla="*/ 2147483646 w 596"/>
                  <a:gd name="T33" fmla="*/ 2147483646 h 666"/>
                  <a:gd name="T34" fmla="*/ 2147483646 w 596"/>
                  <a:gd name="T35" fmla="*/ 2147483646 h 666"/>
                  <a:gd name="T36" fmla="*/ 2147483646 w 596"/>
                  <a:gd name="T37" fmla="*/ 2147483646 h 666"/>
                  <a:gd name="T38" fmla="*/ 2147483646 w 596"/>
                  <a:gd name="T39" fmla="*/ 2147483646 h 666"/>
                  <a:gd name="T40" fmla="*/ 2147483646 w 596"/>
                  <a:gd name="T41" fmla="*/ 2147483646 h 666"/>
                  <a:gd name="T42" fmla="*/ 2147483646 w 596"/>
                  <a:gd name="T43" fmla="*/ 2147483646 h 666"/>
                  <a:gd name="T44" fmla="*/ 2147483646 w 596"/>
                  <a:gd name="T45" fmla="*/ 2147483646 h 666"/>
                  <a:gd name="T46" fmla="*/ 2147483646 w 596"/>
                  <a:gd name="T47" fmla="*/ 2147483646 h 666"/>
                  <a:gd name="T48" fmla="*/ 2147483646 w 596"/>
                  <a:gd name="T49" fmla="*/ 2147483646 h 666"/>
                  <a:gd name="T50" fmla="*/ 2147483646 w 596"/>
                  <a:gd name="T51" fmla="*/ 2147483646 h 666"/>
                  <a:gd name="T52" fmla="*/ 2147483646 w 596"/>
                  <a:gd name="T53" fmla="*/ 2147483646 h 666"/>
                  <a:gd name="T54" fmla="*/ 2147483646 w 596"/>
                  <a:gd name="T55" fmla="*/ 2147483646 h 666"/>
                  <a:gd name="T56" fmla="*/ 2147483646 w 596"/>
                  <a:gd name="T57" fmla="*/ 2147483646 h 666"/>
                  <a:gd name="T58" fmla="*/ 2147483646 w 596"/>
                  <a:gd name="T59" fmla="*/ 2147483646 h 666"/>
                  <a:gd name="T60" fmla="*/ 2147483646 w 596"/>
                  <a:gd name="T61" fmla="*/ 2147483646 h 666"/>
                  <a:gd name="T62" fmla="*/ 2147483646 w 596"/>
                  <a:gd name="T63" fmla="*/ 214748364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5"/>
              <p:cNvSpPr/>
              <p:nvPr userDrawn="1"/>
            </p:nvSpPr>
            <p:spPr bwMode="ltGray">
              <a:xfrm rot="12185230" flipV="1">
                <a:off x="4028" y="1799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147483646 h 237"/>
                  <a:gd name="T4" fmla="*/ 687877657 w 257"/>
                  <a:gd name="T5" fmla="*/ 2147483646 h 237"/>
                  <a:gd name="T6" fmla="*/ 1218048353 w 257"/>
                  <a:gd name="T7" fmla="*/ 2147483646 h 237"/>
                  <a:gd name="T8" fmla="*/ 2147483646 w 257"/>
                  <a:gd name="T9" fmla="*/ 2147483646 h 237"/>
                  <a:gd name="T10" fmla="*/ 2147483646 w 257"/>
                  <a:gd name="T11" fmla="*/ 2147483646 h 237"/>
                  <a:gd name="T12" fmla="*/ 2147483646 w 257"/>
                  <a:gd name="T13" fmla="*/ 2147483646 h 237"/>
                  <a:gd name="T14" fmla="*/ 2147483646 w 257"/>
                  <a:gd name="T15" fmla="*/ 2147483646 h 237"/>
                  <a:gd name="T16" fmla="*/ 2147483646 w 257"/>
                  <a:gd name="T17" fmla="*/ 2147483646 h 237"/>
                  <a:gd name="T18" fmla="*/ 2147483646 w 257"/>
                  <a:gd name="T19" fmla="*/ 2147483646 h 237"/>
                  <a:gd name="T20" fmla="*/ 2147483646 w 257"/>
                  <a:gd name="T21" fmla="*/ 2147483646 h 237"/>
                  <a:gd name="T22" fmla="*/ 2147483646 w 257"/>
                  <a:gd name="T23" fmla="*/ 2147483646 h 237"/>
                  <a:gd name="T24" fmla="*/ 2147483646 w 257"/>
                  <a:gd name="T25" fmla="*/ 2147483646 h 237"/>
                  <a:gd name="T26" fmla="*/ 2147483646 w 257"/>
                  <a:gd name="T27" fmla="*/ 2147483646 h 237"/>
                  <a:gd name="T28" fmla="*/ 2147483646 w 257"/>
                  <a:gd name="T29" fmla="*/ 2147483646 h 237"/>
                  <a:gd name="T30" fmla="*/ 2147483646 w 257"/>
                  <a:gd name="T31" fmla="*/ 2147483646 h 237"/>
                  <a:gd name="T32" fmla="*/ 2147483646 w 257"/>
                  <a:gd name="T33" fmla="*/ 2147483646 h 237"/>
                  <a:gd name="T34" fmla="*/ 2147483646 w 257"/>
                  <a:gd name="T35" fmla="*/ 2147483646 h 237"/>
                  <a:gd name="T36" fmla="*/ 2147483646 w 257"/>
                  <a:gd name="T37" fmla="*/ 2147483646 h 237"/>
                  <a:gd name="T38" fmla="*/ 2147483646 w 257"/>
                  <a:gd name="T39" fmla="*/ 2147483646 h 237"/>
                  <a:gd name="T40" fmla="*/ 2147483646 w 257"/>
                  <a:gd name="T41" fmla="*/ 2147483646 h 237"/>
                  <a:gd name="T42" fmla="*/ 2147483646 w 257"/>
                  <a:gd name="T43" fmla="*/ 2147483646 h 237"/>
                  <a:gd name="T44" fmla="*/ 2147483646 w 257"/>
                  <a:gd name="T45" fmla="*/ 2147483646 h 237"/>
                  <a:gd name="T46" fmla="*/ 2147483646 w 257"/>
                  <a:gd name="T47" fmla="*/ 2147483646 h 237"/>
                  <a:gd name="T48" fmla="*/ 2147483646 w 257"/>
                  <a:gd name="T49" fmla="*/ 2147483646 h 237"/>
                  <a:gd name="T50" fmla="*/ 2147483646 w 257"/>
                  <a:gd name="T51" fmla="*/ 2147483646 h 237"/>
                  <a:gd name="T52" fmla="*/ 2147483646 w 257"/>
                  <a:gd name="T53" fmla="*/ 2147483646 h 237"/>
                  <a:gd name="T54" fmla="*/ 2147483646 w 257"/>
                  <a:gd name="T55" fmla="*/ 2147483646 h 237"/>
                  <a:gd name="T56" fmla="*/ 2147483646 w 257"/>
                  <a:gd name="T57" fmla="*/ 2147483646 h 237"/>
                  <a:gd name="T58" fmla="*/ 2147483646 w 257"/>
                  <a:gd name="T59" fmla="*/ 2147483646 h 237"/>
                  <a:gd name="T60" fmla="*/ 2147483646 w 257"/>
                  <a:gd name="T61" fmla="*/ 2147483646 h 237"/>
                  <a:gd name="T62" fmla="*/ 2147483646 w 257"/>
                  <a:gd name="T63" fmla="*/ 2147483646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6"/>
              <p:cNvSpPr/>
              <p:nvPr userDrawn="1"/>
            </p:nvSpPr>
            <p:spPr bwMode="ltGray">
              <a:xfrm rot="12185230" flipV="1">
                <a:off x="3636" y="2164"/>
                <a:ext cx="277" cy="249"/>
              </a:xfrm>
              <a:custGeom>
                <a:avLst/>
                <a:gdLst>
                  <a:gd name="T0" fmla="*/ 2147483646 w 124"/>
                  <a:gd name="T1" fmla="*/ 0 h 110"/>
                  <a:gd name="T2" fmla="*/ 2147483646 w 124"/>
                  <a:gd name="T3" fmla="*/ 2147483646 h 110"/>
                  <a:gd name="T4" fmla="*/ 2147483646 w 124"/>
                  <a:gd name="T5" fmla="*/ 2147483646 h 110"/>
                  <a:gd name="T6" fmla="*/ 2147483646 w 124"/>
                  <a:gd name="T7" fmla="*/ 2147483646 h 110"/>
                  <a:gd name="T8" fmla="*/ 2147483646 w 124"/>
                  <a:gd name="T9" fmla="*/ 2147483646 h 110"/>
                  <a:gd name="T10" fmla="*/ 2147483646 w 124"/>
                  <a:gd name="T11" fmla="*/ 2147483646 h 110"/>
                  <a:gd name="T12" fmla="*/ 2147483646 w 124"/>
                  <a:gd name="T13" fmla="*/ 2147483646 h 110"/>
                  <a:gd name="T14" fmla="*/ 2147483646 w 124"/>
                  <a:gd name="T15" fmla="*/ 2147483646 h 110"/>
                  <a:gd name="T16" fmla="*/ 2147483646 w 124"/>
                  <a:gd name="T17" fmla="*/ 2147483646 h 110"/>
                  <a:gd name="T18" fmla="*/ 0 w 124"/>
                  <a:gd name="T19" fmla="*/ 2147483646 h 110"/>
                  <a:gd name="T20" fmla="*/ 968924700 w 124"/>
                  <a:gd name="T21" fmla="*/ 2147483646 h 110"/>
                  <a:gd name="T22" fmla="*/ 1906946431 w 124"/>
                  <a:gd name="T23" fmla="*/ 2147483646 h 110"/>
                  <a:gd name="T24" fmla="*/ 2147483646 w 124"/>
                  <a:gd name="T25" fmla="*/ 2147483646 h 110"/>
                  <a:gd name="T26" fmla="*/ 2147483646 w 124"/>
                  <a:gd name="T27" fmla="*/ 2147483646 h 110"/>
                  <a:gd name="T28" fmla="*/ 2147483646 w 124"/>
                  <a:gd name="T29" fmla="*/ 2147483646 h 110"/>
                  <a:gd name="T30" fmla="*/ 2147483646 w 124"/>
                  <a:gd name="T31" fmla="*/ 2147483646 h 110"/>
                  <a:gd name="T32" fmla="*/ 2147483646 w 124"/>
                  <a:gd name="T33" fmla="*/ 2147483646 h 110"/>
                  <a:gd name="T34" fmla="*/ 2147483646 w 124"/>
                  <a:gd name="T35" fmla="*/ 2147483646 h 110"/>
                  <a:gd name="T36" fmla="*/ 2147483646 w 124"/>
                  <a:gd name="T37" fmla="*/ 2147483646 h 110"/>
                  <a:gd name="T38" fmla="*/ 2147483646 w 124"/>
                  <a:gd name="T39" fmla="*/ 2147483646 h 110"/>
                  <a:gd name="T40" fmla="*/ 2147483646 w 124"/>
                  <a:gd name="T41" fmla="*/ 2147483646 h 110"/>
                  <a:gd name="T42" fmla="*/ 2147483646 w 124"/>
                  <a:gd name="T43" fmla="*/ 2147483646 h 110"/>
                  <a:gd name="T44" fmla="*/ 2147483646 w 124"/>
                  <a:gd name="T45" fmla="*/ 2147483646 h 110"/>
                  <a:gd name="T46" fmla="*/ 2147483646 w 124"/>
                  <a:gd name="T47" fmla="*/ 2147483646 h 110"/>
                  <a:gd name="T48" fmla="*/ 2147483646 w 124"/>
                  <a:gd name="T49" fmla="*/ 2147483646 h 110"/>
                  <a:gd name="T50" fmla="*/ 2147483646 w 124"/>
                  <a:gd name="T51" fmla="*/ 2147483646 h 110"/>
                  <a:gd name="T52" fmla="*/ 2147483646 w 124"/>
                  <a:gd name="T53" fmla="*/ 2147483646 h 110"/>
                  <a:gd name="T54" fmla="*/ 2147483646 w 124"/>
                  <a:gd name="T55" fmla="*/ 2147483646 h 110"/>
                  <a:gd name="T56" fmla="*/ 2147483646 w 124"/>
                  <a:gd name="T57" fmla="*/ 2147483646 h 110"/>
                  <a:gd name="T58" fmla="*/ 2147483646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7"/>
              <p:cNvSpPr/>
              <p:nvPr userDrawn="1"/>
            </p:nvSpPr>
            <p:spPr bwMode="ltGray">
              <a:xfrm rot="12185230" flipV="1">
                <a:off x="3977" y="974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364139335 w 109"/>
                  <a:gd name="T3" fmla="*/ 174203051 h 156"/>
                  <a:gd name="T4" fmla="*/ 2147483646 w 109"/>
                  <a:gd name="T5" fmla="*/ 1036152412 h 156"/>
                  <a:gd name="T6" fmla="*/ 2147483646 w 109"/>
                  <a:gd name="T7" fmla="*/ 2147483646 h 156"/>
                  <a:gd name="T8" fmla="*/ 2147483646 w 109"/>
                  <a:gd name="T9" fmla="*/ 2147483646 h 156"/>
                  <a:gd name="T10" fmla="*/ 2147483646 w 109"/>
                  <a:gd name="T11" fmla="*/ 2147483646 h 156"/>
                  <a:gd name="T12" fmla="*/ 2147483646 w 109"/>
                  <a:gd name="T13" fmla="*/ 2147483646 h 156"/>
                  <a:gd name="T14" fmla="*/ 2147483646 w 109"/>
                  <a:gd name="T15" fmla="*/ 2147483646 h 156"/>
                  <a:gd name="T16" fmla="*/ 2147483646 w 109"/>
                  <a:gd name="T17" fmla="*/ 2147483646 h 156"/>
                  <a:gd name="T18" fmla="*/ 2147483646 w 109"/>
                  <a:gd name="T19" fmla="*/ 2147483646 h 156"/>
                  <a:gd name="T20" fmla="*/ 2147483646 w 109"/>
                  <a:gd name="T21" fmla="*/ 2147483646 h 156"/>
                  <a:gd name="T22" fmla="*/ 2147483646 w 109"/>
                  <a:gd name="T23" fmla="*/ 2147483646 h 156"/>
                  <a:gd name="T24" fmla="*/ 2147483646 w 109"/>
                  <a:gd name="T25" fmla="*/ 2147483646 h 156"/>
                  <a:gd name="T26" fmla="*/ 2147483646 w 109"/>
                  <a:gd name="T27" fmla="*/ 2147483646 h 156"/>
                  <a:gd name="T28" fmla="*/ 2147483646 w 109"/>
                  <a:gd name="T29" fmla="*/ 2147483646 h 156"/>
                  <a:gd name="T30" fmla="*/ 2147483646 w 109"/>
                  <a:gd name="T31" fmla="*/ 2147483646 h 156"/>
                  <a:gd name="T32" fmla="*/ 2147483646 w 109"/>
                  <a:gd name="T33" fmla="*/ 2147483646 h 156"/>
                  <a:gd name="T34" fmla="*/ 2147483646 w 109"/>
                  <a:gd name="T35" fmla="*/ 2147483646 h 156"/>
                  <a:gd name="T36" fmla="*/ 2147483646 w 109"/>
                  <a:gd name="T37" fmla="*/ 2147483646 h 156"/>
                  <a:gd name="T38" fmla="*/ 2147483646 w 109"/>
                  <a:gd name="T39" fmla="*/ 2147483646 h 156"/>
                  <a:gd name="T40" fmla="*/ 2147483646 w 109"/>
                  <a:gd name="T41" fmla="*/ 2147483646 h 156"/>
                  <a:gd name="T42" fmla="*/ 2147483646 w 109"/>
                  <a:gd name="T43" fmla="*/ 2147483646 h 156"/>
                  <a:gd name="T44" fmla="*/ 2147483646 w 109"/>
                  <a:gd name="T45" fmla="*/ 2147483646 h 156"/>
                  <a:gd name="T46" fmla="*/ 2147483646 w 109"/>
                  <a:gd name="T47" fmla="*/ 2147483646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8"/>
              <p:cNvSpPr/>
              <p:nvPr userDrawn="1"/>
            </p:nvSpPr>
            <p:spPr bwMode="ltGray">
              <a:xfrm rot="12185230" flipV="1">
                <a:off x="3842" y="2207"/>
                <a:ext cx="103" cy="209"/>
              </a:xfrm>
              <a:custGeom>
                <a:avLst/>
                <a:gdLst>
                  <a:gd name="T0" fmla="*/ 2147483646 w 46"/>
                  <a:gd name="T1" fmla="*/ 0 h 94"/>
                  <a:gd name="T2" fmla="*/ 2147483646 w 46"/>
                  <a:gd name="T3" fmla="*/ 2147483646 h 94"/>
                  <a:gd name="T4" fmla="*/ 2147483646 w 46"/>
                  <a:gd name="T5" fmla="*/ 2147483646 h 94"/>
                  <a:gd name="T6" fmla="*/ 2147483646 w 46"/>
                  <a:gd name="T7" fmla="*/ 2147483646 h 94"/>
                  <a:gd name="T8" fmla="*/ 0 w 46"/>
                  <a:gd name="T9" fmla="*/ 2147483646 h 94"/>
                  <a:gd name="T10" fmla="*/ 2147483646 w 46"/>
                  <a:gd name="T11" fmla="*/ 2147483646 h 94"/>
                  <a:gd name="T12" fmla="*/ 2147483646 w 46"/>
                  <a:gd name="T13" fmla="*/ 2147483646 h 94"/>
                  <a:gd name="T14" fmla="*/ 2147483646 w 46"/>
                  <a:gd name="T15" fmla="*/ 2147483646 h 94"/>
                  <a:gd name="T16" fmla="*/ 2147483646 w 46"/>
                  <a:gd name="T17" fmla="*/ 2147483646 h 94"/>
                  <a:gd name="T18" fmla="*/ 2147483646 w 46"/>
                  <a:gd name="T19" fmla="*/ 2147483646 h 94"/>
                  <a:gd name="T20" fmla="*/ 2147483646 w 46"/>
                  <a:gd name="T21" fmla="*/ 2147483646 h 94"/>
                  <a:gd name="T22" fmla="*/ 2147483646 w 46"/>
                  <a:gd name="T23" fmla="*/ 2147483646 h 94"/>
                  <a:gd name="T24" fmla="*/ 2147483646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9"/>
              <p:cNvSpPr/>
              <p:nvPr userDrawn="1"/>
            </p:nvSpPr>
            <p:spPr bwMode="ltGray">
              <a:xfrm rot="12185230" flipV="1">
                <a:off x="3892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71236391 w 54"/>
                  <a:gd name="T3" fmla="*/ 275780644 h 40"/>
                  <a:gd name="T4" fmla="*/ 1226089022 w 54"/>
                  <a:gd name="T5" fmla="*/ 896047171 h 40"/>
                  <a:gd name="T6" fmla="*/ 2147483646 w 54"/>
                  <a:gd name="T7" fmla="*/ 2147483646 h 40"/>
                  <a:gd name="T8" fmla="*/ 2147483646 w 54"/>
                  <a:gd name="T9" fmla="*/ 2147483646 h 40"/>
                  <a:gd name="T10" fmla="*/ 2147483646 w 54"/>
                  <a:gd name="T11" fmla="*/ 2147483646 h 40"/>
                  <a:gd name="T12" fmla="*/ 2147483646 w 54"/>
                  <a:gd name="T13" fmla="*/ 2147483646 h 40"/>
                  <a:gd name="T14" fmla="*/ 2147483646 w 54"/>
                  <a:gd name="T15" fmla="*/ 2147483646 h 40"/>
                  <a:gd name="T16" fmla="*/ 2147483646 w 54"/>
                  <a:gd name="T17" fmla="*/ 2147483646 h 40"/>
                  <a:gd name="T18" fmla="*/ 2147483646 w 54"/>
                  <a:gd name="T19" fmla="*/ 2147483646 h 40"/>
                  <a:gd name="T20" fmla="*/ 2147483646 w 54"/>
                  <a:gd name="T21" fmla="*/ 2147483646 h 40"/>
                  <a:gd name="T22" fmla="*/ 2147483646 w 54"/>
                  <a:gd name="T23" fmla="*/ 2147483646 h 40"/>
                  <a:gd name="T24" fmla="*/ 2147483646 w 54"/>
                  <a:gd name="T25" fmla="*/ 2147483646 h 40"/>
                  <a:gd name="T26" fmla="*/ 2147483646 w 54"/>
                  <a:gd name="T27" fmla="*/ 2147483646 h 40"/>
                  <a:gd name="T28" fmla="*/ 2147483646 w 54"/>
                  <a:gd name="T29" fmla="*/ 2147483646 h 40"/>
                  <a:gd name="T30" fmla="*/ 2089162504 w 54"/>
                  <a:gd name="T31" fmla="*/ 2147483646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0"/>
              <p:cNvSpPr/>
              <p:nvPr userDrawn="1"/>
            </p:nvSpPr>
            <p:spPr bwMode="ltGray">
              <a:xfrm rot="12185230" flipV="1">
                <a:off x="3009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142476438 w 149"/>
                  <a:gd name="T3" fmla="*/ 2147483646 h 704"/>
                  <a:gd name="T4" fmla="*/ 2147483646 w 149"/>
                  <a:gd name="T5" fmla="*/ 2147483646 h 704"/>
                  <a:gd name="T6" fmla="*/ 2147483646 w 149"/>
                  <a:gd name="T7" fmla="*/ 2147483646 h 704"/>
                  <a:gd name="T8" fmla="*/ 2147483646 w 149"/>
                  <a:gd name="T9" fmla="*/ 2147483646 h 704"/>
                  <a:gd name="T10" fmla="*/ 2147483646 w 149"/>
                  <a:gd name="T11" fmla="*/ 2147483646 h 704"/>
                  <a:gd name="T12" fmla="*/ 2147483646 w 149"/>
                  <a:gd name="T13" fmla="*/ 2147483646 h 704"/>
                  <a:gd name="T14" fmla="*/ 2147483646 w 149"/>
                  <a:gd name="T15" fmla="*/ 2147483646 h 704"/>
                  <a:gd name="T16" fmla="*/ 2147483646 w 149"/>
                  <a:gd name="T17" fmla="*/ 2147483646 h 704"/>
                  <a:gd name="T18" fmla="*/ 2147483646 w 149"/>
                  <a:gd name="T19" fmla="*/ 2147483646 h 704"/>
                  <a:gd name="T20" fmla="*/ 2147483646 w 149"/>
                  <a:gd name="T21" fmla="*/ 2147483646 h 704"/>
                  <a:gd name="T22" fmla="*/ 2147483646 w 149"/>
                  <a:gd name="T23" fmla="*/ 2147483646 h 704"/>
                  <a:gd name="T24" fmla="*/ 2147483646 w 149"/>
                  <a:gd name="T25" fmla="*/ 2147483646 h 704"/>
                  <a:gd name="T26" fmla="*/ 2147483646 w 149"/>
                  <a:gd name="T27" fmla="*/ 2147483646 h 704"/>
                  <a:gd name="T28" fmla="*/ 2147483646 w 149"/>
                  <a:gd name="T29" fmla="*/ 2147483646 h 704"/>
                  <a:gd name="T30" fmla="*/ 2147483646 w 149"/>
                  <a:gd name="T31" fmla="*/ 2147483646 h 704"/>
                  <a:gd name="T32" fmla="*/ 2147483646 w 149"/>
                  <a:gd name="T33" fmla="*/ 2147483646 h 704"/>
                  <a:gd name="T34" fmla="*/ 2147483646 w 149"/>
                  <a:gd name="T35" fmla="*/ 2147483646 h 704"/>
                  <a:gd name="T36" fmla="*/ 2147483646 w 149"/>
                  <a:gd name="T37" fmla="*/ 2147483646 h 704"/>
                  <a:gd name="T38" fmla="*/ 1944836536 w 149"/>
                  <a:gd name="T39" fmla="*/ 2147483646 h 704"/>
                  <a:gd name="T40" fmla="*/ 1142476438 w 149"/>
                  <a:gd name="T41" fmla="*/ 2147483646 h 704"/>
                  <a:gd name="T42" fmla="*/ 1142476438 w 149"/>
                  <a:gd name="T43" fmla="*/ 2147483646 h 704"/>
                  <a:gd name="T44" fmla="*/ 1587558277 w 149"/>
                  <a:gd name="T45" fmla="*/ 2147483646 h 704"/>
                  <a:gd name="T46" fmla="*/ 2147483646 w 149"/>
                  <a:gd name="T47" fmla="*/ 2147483646 h 704"/>
                  <a:gd name="T48" fmla="*/ 2147483646 w 149"/>
                  <a:gd name="T49" fmla="*/ 2147483646 h 704"/>
                  <a:gd name="T50" fmla="*/ 2147483646 w 149"/>
                  <a:gd name="T51" fmla="*/ 2147483646 h 704"/>
                  <a:gd name="T52" fmla="*/ 2147483646 w 149"/>
                  <a:gd name="T53" fmla="*/ 2147483646 h 704"/>
                  <a:gd name="T54" fmla="*/ 2147483646 w 149"/>
                  <a:gd name="T55" fmla="*/ 2147483646 h 704"/>
                  <a:gd name="T56" fmla="*/ 2147483646 w 149"/>
                  <a:gd name="T57" fmla="*/ 2147483646 h 704"/>
                  <a:gd name="T58" fmla="*/ 2147483646 w 149"/>
                  <a:gd name="T59" fmla="*/ 2147483646 h 704"/>
                  <a:gd name="T60" fmla="*/ 2147483646 w 149"/>
                  <a:gd name="T61" fmla="*/ 2147483646 h 704"/>
                  <a:gd name="T62" fmla="*/ 2147483646 w 149"/>
                  <a:gd name="T63" fmla="*/ 2147483646 h 704"/>
                  <a:gd name="T64" fmla="*/ 2147483646 w 149"/>
                  <a:gd name="T65" fmla="*/ 2147483646 h 704"/>
                  <a:gd name="T66" fmla="*/ 2147483646 w 149"/>
                  <a:gd name="T67" fmla="*/ 2147483646 h 704"/>
                  <a:gd name="T68" fmla="*/ 2147483646 w 149"/>
                  <a:gd name="T69" fmla="*/ 2147483646 h 704"/>
                  <a:gd name="T70" fmla="*/ 2147483646 w 149"/>
                  <a:gd name="T71" fmla="*/ 2147483646 h 704"/>
                  <a:gd name="T72" fmla="*/ 2147483646 w 149"/>
                  <a:gd name="T73" fmla="*/ 2147483646 h 704"/>
                  <a:gd name="T74" fmla="*/ 2147483646 w 149"/>
                  <a:gd name="T75" fmla="*/ 2147483646 h 704"/>
                  <a:gd name="T76" fmla="*/ 2147483646 w 149"/>
                  <a:gd name="T77" fmla="*/ 2147483646 h 704"/>
                  <a:gd name="T78" fmla="*/ 2147483646 w 149"/>
                  <a:gd name="T79" fmla="*/ 2147483646 h 704"/>
                  <a:gd name="T80" fmla="*/ 2147483646 w 149"/>
                  <a:gd name="T81" fmla="*/ 2147483646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11"/>
            <p:cNvSpPr/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2147483646 w 128"/>
                <a:gd name="T1" fmla="*/ 0 h 217"/>
                <a:gd name="T2" fmla="*/ 2147483646 w 128"/>
                <a:gd name="T3" fmla="*/ 2147483646 h 217"/>
                <a:gd name="T4" fmla="*/ 2147483646 w 128"/>
                <a:gd name="T5" fmla="*/ 2147483646 h 217"/>
                <a:gd name="T6" fmla="*/ 2147483646 w 128"/>
                <a:gd name="T7" fmla="*/ 2147483646 h 217"/>
                <a:gd name="T8" fmla="*/ 2147483646 w 128"/>
                <a:gd name="T9" fmla="*/ 2147483646 h 217"/>
                <a:gd name="T10" fmla="*/ 2147483646 w 128"/>
                <a:gd name="T11" fmla="*/ 2147483646 h 217"/>
                <a:gd name="T12" fmla="*/ 2147483646 w 128"/>
                <a:gd name="T13" fmla="*/ 2147483646 h 217"/>
                <a:gd name="T14" fmla="*/ 2147483646 w 128"/>
                <a:gd name="T15" fmla="*/ 2147483646 h 217"/>
                <a:gd name="T16" fmla="*/ 2147483646 w 128"/>
                <a:gd name="T17" fmla="*/ 2147483646 h 217"/>
                <a:gd name="T18" fmla="*/ 2147483646 w 128"/>
                <a:gd name="T19" fmla="*/ 2147483646 h 217"/>
                <a:gd name="T20" fmla="*/ 2147483646 w 128"/>
                <a:gd name="T21" fmla="*/ 2147483646 h 217"/>
                <a:gd name="T22" fmla="*/ 2147483646 w 128"/>
                <a:gd name="T23" fmla="*/ 2147483646 h 217"/>
                <a:gd name="T24" fmla="*/ 2147483646 w 128"/>
                <a:gd name="T25" fmla="*/ 2147483646 h 217"/>
                <a:gd name="T26" fmla="*/ 2147483646 w 128"/>
                <a:gd name="T27" fmla="*/ 2147483646 h 217"/>
                <a:gd name="T28" fmla="*/ 2147483646 w 128"/>
                <a:gd name="T29" fmla="*/ 2147483646 h 217"/>
                <a:gd name="T30" fmla="*/ 0 w 128"/>
                <a:gd name="T31" fmla="*/ 2147483646 h 217"/>
                <a:gd name="T32" fmla="*/ 2147483646 w 128"/>
                <a:gd name="T33" fmla="*/ 2147483646 h 217"/>
                <a:gd name="T34" fmla="*/ 2147483646 w 128"/>
                <a:gd name="T35" fmla="*/ 2147483646 h 217"/>
                <a:gd name="T36" fmla="*/ 2147483646 w 128"/>
                <a:gd name="T37" fmla="*/ 2147483646 h 217"/>
                <a:gd name="T38" fmla="*/ 2147483646 w 128"/>
                <a:gd name="T39" fmla="*/ 2147483646 h 217"/>
                <a:gd name="T40" fmla="*/ 2147483646 w 128"/>
                <a:gd name="T41" fmla="*/ 2147483646 h 217"/>
                <a:gd name="T42" fmla="*/ 2147483646 w 128"/>
                <a:gd name="T43" fmla="*/ 2147483646 h 217"/>
                <a:gd name="T44" fmla="*/ 2147483646 w 128"/>
                <a:gd name="T45" fmla="*/ 2147483646 h 217"/>
                <a:gd name="T46" fmla="*/ 2147483646 w 128"/>
                <a:gd name="T47" fmla="*/ 2147483646 h 217"/>
                <a:gd name="T48" fmla="*/ 2147483646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2"/>
            <p:cNvSpPr/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3"/>
            <p:cNvSpPr/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"/>
            <p:cNvSpPr/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2147483646 w 117"/>
                <a:gd name="T1" fmla="*/ 0 h 132"/>
                <a:gd name="T2" fmla="*/ 0 w 117"/>
                <a:gd name="T3" fmla="*/ 2147483646 h 132"/>
                <a:gd name="T4" fmla="*/ 2147483646 w 117"/>
                <a:gd name="T5" fmla="*/ 2147483646 h 132"/>
                <a:gd name="T6" fmla="*/ 2147483646 w 117"/>
                <a:gd name="T7" fmla="*/ 2147483646 h 132"/>
                <a:gd name="T8" fmla="*/ 2147483646 w 117"/>
                <a:gd name="T9" fmla="*/ 2147483646 h 132"/>
                <a:gd name="T10" fmla="*/ 2147483646 w 117"/>
                <a:gd name="T11" fmla="*/ 2147483646 h 132"/>
                <a:gd name="T12" fmla="*/ 2147483646 w 117"/>
                <a:gd name="T13" fmla="*/ 2147483646 h 132"/>
                <a:gd name="T14" fmla="*/ 2147483646 w 117"/>
                <a:gd name="T15" fmla="*/ 2147483646 h 132"/>
                <a:gd name="T16" fmla="*/ 2147483646 w 117"/>
                <a:gd name="T17" fmla="*/ 2147483646 h 132"/>
                <a:gd name="T18" fmla="*/ 2147483646 w 117"/>
                <a:gd name="T19" fmla="*/ 2147483646 h 132"/>
                <a:gd name="T20" fmla="*/ 2147483646 w 117"/>
                <a:gd name="T21" fmla="*/ 2147483646 h 132"/>
                <a:gd name="T22" fmla="*/ 2147483646 w 117"/>
                <a:gd name="T23" fmla="*/ 2147483646 h 132"/>
                <a:gd name="T24" fmla="*/ 2147483646 w 117"/>
                <a:gd name="T25" fmla="*/ 2147483646 h 132"/>
                <a:gd name="T26" fmla="*/ 2147483646 w 117"/>
                <a:gd name="T27" fmla="*/ 2147483646 h 132"/>
                <a:gd name="T28" fmla="*/ 2147483646 w 117"/>
                <a:gd name="T29" fmla="*/ 2147483646 h 132"/>
                <a:gd name="T30" fmla="*/ 2147483646 w 117"/>
                <a:gd name="T31" fmla="*/ 2147483646 h 132"/>
                <a:gd name="T32" fmla="*/ 2147483646 w 117"/>
                <a:gd name="T33" fmla="*/ 2147483646 h 132"/>
                <a:gd name="T34" fmla="*/ 2147483646 w 117"/>
                <a:gd name="T35" fmla="*/ 2147483646 h 132"/>
                <a:gd name="T36" fmla="*/ 2147483646 w 117"/>
                <a:gd name="T37" fmla="*/ 2147483646 h 132"/>
                <a:gd name="T38" fmla="*/ 2147483646 w 117"/>
                <a:gd name="T39" fmla="*/ 2147483646 h 132"/>
                <a:gd name="T40" fmla="*/ 2147483646 w 117"/>
                <a:gd name="T41" fmla="*/ 2147483646 h 132"/>
                <a:gd name="T42" fmla="*/ 2147483646 w 117"/>
                <a:gd name="T43" fmla="*/ 2147483646 h 132"/>
                <a:gd name="T44" fmla="*/ 2147483646 w 117"/>
                <a:gd name="T45" fmla="*/ 2147483646 h 132"/>
                <a:gd name="T46" fmla="*/ 2147483646 w 117"/>
                <a:gd name="T47" fmla="*/ 2147483646 h 132"/>
                <a:gd name="T48" fmla="*/ 2147483646 w 117"/>
                <a:gd name="T49" fmla="*/ 2147483646 h 132"/>
                <a:gd name="T50" fmla="*/ 2147483646 w 117"/>
                <a:gd name="T51" fmla="*/ 2147483646 h 132"/>
                <a:gd name="T52" fmla="*/ 2147483646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"/>
            <p:cNvSpPr/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147483646 w 29"/>
                <a:gd name="T1" fmla="*/ 0 h 77"/>
                <a:gd name="T2" fmla="*/ 2147483646 w 29"/>
                <a:gd name="T3" fmla="*/ 0 h 77"/>
                <a:gd name="T4" fmla="*/ 2147483646 w 29"/>
                <a:gd name="T5" fmla="*/ 2147483646 h 77"/>
                <a:gd name="T6" fmla="*/ 2147483646 w 29"/>
                <a:gd name="T7" fmla="*/ 2147483646 h 77"/>
                <a:gd name="T8" fmla="*/ 2147483646 w 29"/>
                <a:gd name="T9" fmla="*/ 2147483646 h 77"/>
                <a:gd name="T10" fmla="*/ 2147483646 w 29"/>
                <a:gd name="T11" fmla="*/ 2147483646 h 77"/>
                <a:gd name="T12" fmla="*/ 0 w 29"/>
                <a:gd name="T13" fmla="*/ 2147483646 h 77"/>
                <a:gd name="T14" fmla="*/ 2147483646 w 29"/>
                <a:gd name="T15" fmla="*/ 2147483646 h 77"/>
                <a:gd name="T16" fmla="*/ 2147483646 w 29"/>
                <a:gd name="T17" fmla="*/ 2147483646 h 77"/>
                <a:gd name="T18" fmla="*/ 2147483646 w 29"/>
                <a:gd name="T19" fmla="*/ 2147483646 h 77"/>
                <a:gd name="T20" fmla="*/ 2147483646 w 29"/>
                <a:gd name="T21" fmla="*/ 2147483646 h 77"/>
                <a:gd name="T22" fmla="*/ 2147483646 w 29"/>
                <a:gd name="T23" fmla="*/ 2147483646 h 77"/>
                <a:gd name="T24" fmla="*/ 2147483646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/>
            <p:cNvSpPr/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7"/>
            <p:cNvGrpSpPr/>
            <p:nvPr userDrawn="1"/>
          </p:nvGrpSpPr>
          <p:grpSpPr bwMode="auto">
            <a:xfrm rot="3220060">
              <a:off x="2636" y="751"/>
              <a:ext cx="569" cy="636"/>
              <a:chOff x="1727" y="866"/>
              <a:chExt cx="129" cy="157"/>
            </a:xfrm>
          </p:grpSpPr>
          <p:sp>
            <p:nvSpPr>
              <p:cNvPr id="36" name="Freeform 18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9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0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1"/>
            <p:cNvGrpSpPr/>
            <p:nvPr userDrawn="1"/>
          </p:nvGrpSpPr>
          <p:grpSpPr bwMode="auto">
            <a:xfrm rot="-6691250">
              <a:off x="3641" y="125"/>
              <a:ext cx="356" cy="608"/>
              <a:chOff x="1729" y="866"/>
              <a:chExt cx="129" cy="157"/>
            </a:xfrm>
          </p:grpSpPr>
          <p:sp>
            <p:nvSpPr>
              <p:cNvPr id="33" name="Freeform 22"/>
              <p:cNvSpPr/>
              <p:nvPr userDrawn="1"/>
            </p:nvSpPr>
            <p:spPr bwMode="ltGray">
              <a:xfrm>
                <a:off x="1730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3"/>
              <p:cNvSpPr/>
              <p:nvPr userDrawn="1"/>
            </p:nvSpPr>
            <p:spPr bwMode="ltGray">
              <a:xfrm>
                <a:off x="1789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4"/>
              <p:cNvSpPr/>
              <p:nvPr userDrawn="1"/>
            </p:nvSpPr>
            <p:spPr bwMode="ltGray">
              <a:xfrm>
                <a:off x="1773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5"/>
            <p:cNvGrpSpPr/>
            <p:nvPr userDrawn="1"/>
          </p:nvGrpSpPr>
          <p:grpSpPr bwMode="auto">
            <a:xfrm rot="8524840">
              <a:off x="677" y="3307"/>
              <a:ext cx="500" cy="500"/>
              <a:chOff x="1727" y="868"/>
              <a:chExt cx="129" cy="156"/>
            </a:xfrm>
          </p:grpSpPr>
          <p:sp>
            <p:nvSpPr>
              <p:cNvPr id="30" name="Freeform 26"/>
              <p:cNvSpPr/>
              <p:nvPr userDrawn="1"/>
            </p:nvSpPr>
            <p:spPr bwMode="ltGray">
              <a:xfrm>
                <a:off x="1727" y="869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/>
              <p:cNvSpPr/>
              <p:nvPr userDrawn="1"/>
            </p:nvSpPr>
            <p:spPr bwMode="ltGray">
              <a:xfrm>
                <a:off x="1786" y="897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28"/>
              <p:cNvSpPr/>
              <p:nvPr userDrawn="1"/>
            </p:nvSpPr>
            <p:spPr bwMode="ltGray">
              <a:xfrm>
                <a:off x="1772" y="1000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9"/>
            <p:cNvGrpSpPr/>
            <p:nvPr userDrawn="1"/>
          </p:nvGrpSpPr>
          <p:grpSpPr bwMode="auto">
            <a:xfrm rot="4106450" flipH="1">
              <a:off x="404" y="268"/>
              <a:ext cx="708" cy="891"/>
              <a:chOff x="1727" y="866"/>
              <a:chExt cx="129" cy="157"/>
            </a:xfrm>
          </p:grpSpPr>
          <p:sp>
            <p:nvSpPr>
              <p:cNvPr id="27" name="Freeform 30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31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2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3"/>
            <p:cNvGrpSpPr/>
            <p:nvPr userDrawn="1"/>
          </p:nvGrpSpPr>
          <p:grpSpPr bwMode="auto">
            <a:xfrm rot="10015322" flipH="1">
              <a:off x="4618" y="2392"/>
              <a:ext cx="708" cy="891"/>
              <a:chOff x="1727" y="866"/>
              <a:chExt cx="129" cy="157"/>
            </a:xfrm>
          </p:grpSpPr>
          <p:sp>
            <p:nvSpPr>
              <p:cNvPr id="24" name="Freeform 34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35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36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Freeform 37"/>
            <p:cNvSpPr/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38"/>
            <p:cNvSpPr/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147483646 h 237"/>
                <a:gd name="T4" fmla="*/ 2147483646 w 257"/>
                <a:gd name="T5" fmla="*/ 2147483646 h 237"/>
                <a:gd name="T6" fmla="*/ 2147483646 w 257"/>
                <a:gd name="T7" fmla="*/ 2147483646 h 237"/>
                <a:gd name="T8" fmla="*/ 2147483646 w 257"/>
                <a:gd name="T9" fmla="*/ 2147483646 h 237"/>
                <a:gd name="T10" fmla="*/ 2147483646 w 257"/>
                <a:gd name="T11" fmla="*/ 2147483646 h 237"/>
                <a:gd name="T12" fmla="*/ 2147483646 w 257"/>
                <a:gd name="T13" fmla="*/ 2147483646 h 237"/>
                <a:gd name="T14" fmla="*/ 2147483646 w 257"/>
                <a:gd name="T15" fmla="*/ 2147483646 h 237"/>
                <a:gd name="T16" fmla="*/ 2147483646 w 257"/>
                <a:gd name="T17" fmla="*/ 2147483646 h 237"/>
                <a:gd name="T18" fmla="*/ 2147483646 w 257"/>
                <a:gd name="T19" fmla="*/ 2147483646 h 237"/>
                <a:gd name="T20" fmla="*/ 2147483646 w 257"/>
                <a:gd name="T21" fmla="*/ 2147483646 h 237"/>
                <a:gd name="T22" fmla="*/ 2147483646 w 257"/>
                <a:gd name="T23" fmla="*/ 2147483646 h 237"/>
                <a:gd name="T24" fmla="*/ 2147483646 w 257"/>
                <a:gd name="T25" fmla="*/ 2147483646 h 237"/>
                <a:gd name="T26" fmla="*/ 2147483646 w 257"/>
                <a:gd name="T27" fmla="*/ 2147483646 h 237"/>
                <a:gd name="T28" fmla="*/ 2147483646 w 257"/>
                <a:gd name="T29" fmla="*/ 2147483646 h 237"/>
                <a:gd name="T30" fmla="*/ 2147483646 w 257"/>
                <a:gd name="T31" fmla="*/ 2147483646 h 237"/>
                <a:gd name="T32" fmla="*/ 2147483646 w 257"/>
                <a:gd name="T33" fmla="*/ 2147483646 h 237"/>
                <a:gd name="T34" fmla="*/ 2147483646 w 257"/>
                <a:gd name="T35" fmla="*/ 2147483646 h 237"/>
                <a:gd name="T36" fmla="*/ 2147483646 w 257"/>
                <a:gd name="T37" fmla="*/ 2147483646 h 237"/>
                <a:gd name="T38" fmla="*/ 2147483646 w 257"/>
                <a:gd name="T39" fmla="*/ 2147483646 h 237"/>
                <a:gd name="T40" fmla="*/ 2147483646 w 257"/>
                <a:gd name="T41" fmla="*/ 2147483646 h 237"/>
                <a:gd name="T42" fmla="*/ 2147483646 w 257"/>
                <a:gd name="T43" fmla="*/ 2147483646 h 237"/>
                <a:gd name="T44" fmla="*/ 2147483646 w 257"/>
                <a:gd name="T45" fmla="*/ 2147483646 h 237"/>
                <a:gd name="T46" fmla="*/ 2147483646 w 257"/>
                <a:gd name="T47" fmla="*/ 2147483646 h 237"/>
                <a:gd name="T48" fmla="*/ 2147483646 w 257"/>
                <a:gd name="T49" fmla="*/ 2147483646 h 237"/>
                <a:gd name="T50" fmla="*/ 2147483646 w 257"/>
                <a:gd name="T51" fmla="*/ 2147483646 h 237"/>
                <a:gd name="T52" fmla="*/ 2147483646 w 257"/>
                <a:gd name="T53" fmla="*/ 2147483646 h 237"/>
                <a:gd name="T54" fmla="*/ 2147483646 w 257"/>
                <a:gd name="T55" fmla="*/ 2147483646 h 237"/>
                <a:gd name="T56" fmla="*/ 2147483646 w 257"/>
                <a:gd name="T57" fmla="*/ 2147483646 h 237"/>
                <a:gd name="T58" fmla="*/ 2147483646 w 257"/>
                <a:gd name="T59" fmla="*/ 2147483646 h 237"/>
                <a:gd name="T60" fmla="*/ 2147483646 w 257"/>
                <a:gd name="T61" fmla="*/ 2147483646 h 237"/>
                <a:gd name="T62" fmla="*/ 2147483646 w 257"/>
                <a:gd name="T63" fmla="*/ 2147483646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39"/>
            <p:cNvSpPr/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2147483646 w 124"/>
                <a:gd name="T1" fmla="*/ 0 h 110"/>
                <a:gd name="T2" fmla="*/ 2147483646 w 124"/>
                <a:gd name="T3" fmla="*/ 2147483646 h 110"/>
                <a:gd name="T4" fmla="*/ 2147483646 w 124"/>
                <a:gd name="T5" fmla="*/ 2147483646 h 110"/>
                <a:gd name="T6" fmla="*/ 2147483646 w 124"/>
                <a:gd name="T7" fmla="*/ 2147483646 h 110"/>
                <a:gd name="T8" fmla="*/ 2147483646 w 124"/>
                <a:gd name="T9" fmla="*/ 2147483646 h 110"/>
                <a:gd name="T10" fmla="*/ 2147483646 w 124"/>
                <a:gd name="T11" fmla="*/ 2147483646 h 110"/>
                <a:gd name="T12" fmla="*/ 2147483646 w 124"/>
                <a:gd name="T13" fmla="*/ 2147483646 h 110"/>
                <a:gd name="T14" fmla="*/ 2147483646 w 124"/>
                <a:gd name="T15" fmla="*/ 2147483646 h 110"/>
                <a:gd name="T16" fmla="*/ 2147483646 w 124"/>
                <a:gd name="T17" fmla="*/ 2147483646 h 110"/>
                <a:gd name="T18" fmla="*/ 0 w 124"/>
                <a:gd name="T19" fmla="*/ 2147483646 h 110"/>
                <a:gd name="T20" fmla="*/ 2147483646 w 124"/>
                <a:gd name="T21" fmla="*/ 2147483646 h 110"/>
                <a:gd name="T22" fmla="*/ 2147483646 w 124"/>
                <a:gd name="T23" fmla="*/ 2147483646 h 110"/>
                <a:gd name="T24" fmla="*/ 2147483646 w 124"/>
                <a:gd name="T25" fmla="*/ 2147483646 h 110"/>
                <a:gd name="T26" fmla="*/ 2147483646 w 124"/>
                <a:gd name="T27" fmla="*/ 2147483646 h 110"/>
                <a:gd name="T28" fmla="*/ 2147483646 w 124"/>
                <a:gd name="T29" fmla="*/ 2147483646 h 110"/>
                <a:gd name="T30" fmla="*/ 2147483646 w 124"/>
                <a:gd name="T31" fmla="*/ 2147483646 h 110"/>
                <a:gd name="T32" fmla="*/ 2147483646 w 124"/>
                <a:gd name="T33" fmla="*/ 2147483646 h 110"/>
                <a:gd name="T34" fmla="*/ 2147483646 w 124"/>
                <a:gd name="T35" fmla="*/ 2147483646 h 110"/>
                <a:gd name="T36" fmla="*/ 2147483646 w 124"/>
                <a:gd name="T37" fmla="*/ 2147483646 h 110"/>
                <a:gd name="T38" fmla="*/ 2147483646 w 124"/>
                <a:gd name="T39" fmla="*/ 2147483646 h 110"/>
                <a:gd name="T40" fmla="*/ 2147483646 w 124"/>
                <a:gd name="T41" fmla="*/ 2147483646 h 110"/>
                <a:gd name="T42" fmla="*/ 2147483646 w 124"/>
                <a:gd name="T43" fmla="*/ 2147483646 h 110"/>
                <a:gd name="T44" fmla="*/ 2147483646 w 124"/>
                <a:gd name="T45" fmla="*/ 2147483646 h 110"/>
                <a:gd name="T46" fmla="*/ 2147483646 w 124"/>
                <a:gd name="T47" fmla="*/ 2147483646 h 110"/>
                <a:gd name="T48" fmla="*/ 2147483646 w 124"/>
                <a:gd name="T49" fmla="*/ 2147483646 h 110"/>
                <a:gd name="T50" fmla="*/ 2147483646 w 124"/>
                <a:gd name="T51" fmla="*/ 2147483646 h 110"/>
                <a:gd name="T52" fmla="*/ 2147483646 w 124"/>
                <a:gd name="T53" fmla="*/ 2147483646 h 110"/>
                <a:gd name="T54" fmla="*/ 2147483646 w 124"/>
                <a:gd name="T55" fmla="*/ 2147483646 h 110"/>
                <a:gd name="T56" fmla="*/ 2147483646 w 124"/>
                <a:gd name="T57" fmla="*/ 2147483646 h 110"/>
                <a:gd name="T58" fmla="*/ 2147483646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0"/>
            <p:cNvSpPr/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2147483646 w 46"/>
                <a:gd name="T1" fmla="*/ 0 h 94"/>
                <a:gd name="T2" fmla="*/ 2147483646 w 46"/>
                <a:gd name="T3" fmla="*/ 2147483646 h 94"/>
                <a:gd name="T4" fmla="*/ 2147483646 w 46"/>
                <a:gd name="T5" fmla="*/ 2147483646 h 94"/>
                <a:gd name="T6" fmla="*/ 2147483646 w 46"/>
                <a:gd name="T7" fmla="*/ 2147483646 h 94"/>
                <a:gd name="T8" fmla="*/ 0 w 46"/>
                <a:gd name="T9" fmla="*/ 2147483646 h 94"/>
                <a:gd name="T10" fmla="*/ 2147483646 w 46"/>
                <a:gd name="T11" fmla="*/ 2147483646 h 94"/>
                <a:gd name="T12" fmla="*/ 2147483646 w 46"/>
                <a:gd name="T13" fmla="*/ 2147483646 h 94"/>
                <a:gd name="T14" fmla="*/ 2147483646 w 46"/>
                <a:gd name="T15" fmla="*/ 2147483646 h 94"/>
                <a:gd name="T16" fmla="*/ 2147483646 w 46"/>
                <a:gd name="T17" fmla="*/ 2147483646 h 94"/>
                <a:gd name="T18" fmla="*/ 2147483646 w 46"/>
                <a:gd name="T19" fmla="*/ 2147483646 h 94"/>
                <a:gd name="T20" fmla="*/ 2147483646 w 46"/>
                <a:gd name="T21" fmla="*/ 2147483646 h 94"/>
                <a:gd name="T22" fmla="*/ 2147483646 w 46"/>
                <a:gd name="T23" fmla="*/ 2147483646 h 94"/>
                <a:gd name="T24" fmla="*/ 2147483646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1"/>
            <p:cNvSpPr/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"/>
            <p:cNvSpPr/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2147483646 w 149"/>
                <a:gd name="T3" fmla="*/ 2147483646 h 704"/>
                <a:gd name="T4" fmla="*/ 2147483646 w 149"/>
                <a:gd name="T5" fmla="*/ 2147483646 h 704"/>
                <a:gd name="T6" fmla="*/ 2147483646 w 149"/>
                <a:gd name="T7" fmla="*/ 2147483646 h 704"/>
                <a:gd name="T8" fmla="*/ 2147483646 w 149"/>
                <a:gd name="T9" fmla="*/ 2147483646 h 704"/>
                <a:gd name="T10" fmla="*/ 2147483646 w 149"/>
                <a:gd name="T11" fmla="*/ 2147483646 h 704"/>
                <a:gd name="T12" fmla="*/ 2147483646 w 149"/>
                <a:gd name="T13" fmla="*/ 2147483646 h 704"/>
                <a:gd name="T14" fmla="*/ 2147483646 w 149"/>
                <a:gd name="T15" fmla="*/ 2147483646 h 704"/>
                <a:gd name="T16" fmla="*/ 2147483646 w 149"/>
                <a:gd name="T17" fmla="*/ 2147483646 h 704"/>
                <a:gd name="T18" fmla="*/ 2147483646 w 149"/>
                <a:gd name="T19" fmla="*/ 2147483646 h 704"/>
                <a:gd name="T20" fmla="*/ 2147483646 w 149"/>
                <a:gd name="T21" fmla="*/ 2147483646 h 704"/>
                <a:gd name="T22" fmla="*/ 2147483646 w 149"/>
                <a:gd name="T23" fmla="*/ 2147483646 h 704"/>
                <a:gd name="T24" fmla="*/ 2147483646 w 149"/>
                <a:gd name="T25" fmla="*/ 2147483646 h 704"/>
                <a:gd name="T26" fmla="*/ 2147483646 w 149"/>
                <a:gd name="T27" fmla="*/ 2147483646 h 704"/>
                <a:gd name="T28" fmla="*/ 2147483646 w 149"/>
                <a:gd name="T29" fmla="*/ 2147483646 h 704"/>
                <a:gd name="T30" fmla="*/ 2147483646 w 149"/>
                <a:gd name="T31" fmla="*/ 2147483646 h 704"/>
                <a:gd name="T32" fmla="*/ 2147483646 w 149"/>
                <a:gd name="T33" fmla="*/ 2147483646 h 704"/>
                <a:gd name="T34" fmla="*/ 2147483646 w 149"/>
                <a:gd name="T35" fmla="*/ 2147483646 h 704"/>
                <a:gd name="T36" fmla="*/ 2147483646 w 149"/>
                <a:gd name="T37" fmla="*/ 2147483646 h 704"/>
                <a:gd name="T38" fmla="*/ 2147483646 w 149"/>
                <a:gd name="T39" fmla="*/ 2147483646 h 704"/>
                <a:gd name="T40" fmla="*/ 2147483646 w 149"/>
                <a:gd name="T41" fmla="*/ 2147483646 h 704"/>
                <a:gd name="T42" fmla="*/ 2147483646 w 149"/>
                <a:gd name="T43" fmla="*/ 2147483646 h 704"/>
                <a:gd name="T44" fmla="*/ 2147483646 w 149"/>
                <a:gd name="T45" fmla="*/ 2147483646 h 704"/>
                <a:gd name="T46" fmla="*/ 2147483646 w 149"/>
                <a:gd name="T47" fmla="*/ 2147483646 h 704"/>
                <a:gd name="T48" fmla="*/ 2147483646 w 149"/>
                <a:gd name="T49" fmla="*/ 2147483646 h 704"/>
                <a:gd name="T50" fmla="*/ 2147483646 w 149"/>
                <a:gd name="T51" fmla="*/ 2147483646 h 704"/>
                <a:gd name="T52" fmla="*/ 2147483646 w 149"/>
                <a:gd name="T53" fmla="*/ 2147483646 h 704"/>
                <a:gd name="T54" fmla="*/ 2147483646 w 149"/>
                <a:gd name="T55" fmla="*/ 2147483646 h 704"/>
                <a:gd name="T56" fmla="*/ 2147483646 w 149"/>
                <a:gd name="T57" fmla="*/ 2147483646 h 704"/>
                <a:gd name="T58" fmla="*/ 2147483646 w 149"/>
                <a:gd name="T59" fmla="*/ 2147483646 h 704"/>
                <a:gd name="T60" fmla="*/ 2147483646 w 149"/>
                <a:gd name="T61" fmla="*/ 2147483646 h 704"/>
                <a:gd name="T62" fmla="*/ 2147483646 w 149"/>
                <a:gd name="T63" fmla="*/ 2147483646 h 704"/>
                <a:gd name="T64" fmla="*/ 2147483646 w 149"/>
                <a:gd name="T65" fmla="*/ 2147483646 h 704"/>
                <a:gd name="T66" fmla="*/ 2147483646 w 149"/>
                <a:gd name="T67" fmla="*/ 2147483646 h 704"/>
                <a:gd name="T68" fmla="*/ 2147483646 w 149"/>
                <a:gd name="T69" fmla="*/ 2147483646 h 704"/>
                <a:gd name="T70" fmla="*/ 2147483646 w 149"/>
                <a:gd name="T71" fmla="*/ 2147483646 h 704"/>
                <a:gd name="T72" fmla="*/ 2147483646 w 149"/>
                <a:gd name="T73" fmla="*/ 2147483646 h 704"/>
                <a:gd name="T74" fmla="*/ 2147483646 w 149"/>
                <a:gd name="T75" fmla="*/ 2147483646 h 704"/>
                <a:gd name="T76" fmla="*/ 2147483646 w 149"/>
                <a:gd name="T77" fmla="*/ 2147483646 h 704"/>
                <a:gd name="T78" fmla="*/ 2147483646 w 149"/>
                <a:gd name="T79" fmla="*/ 2147483646 h 704"/>
                <a:gd name="T80" fmla="*/ 2147483646 w 149"/>
                <a:gd name="T81" fmla="*/ 21474836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3"/>
            <p:cNvSpPr/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423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1424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AAB8CF1-0305-475B-8289-644791F81C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BD47168-B9C6-4222-A8C5-0BE89ED94D7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4C78096-6700-4B15-AC76-AFC2D60383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E2012C4-04E8-47F1-8CD0-7EDB81B5467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25C7BEF-8B59-4634-AE54-C217A94456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D5A71C2-A26D-4361-BF35-0EFB153FEC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9C96C27-F0F9-48B4-B6B8-CDFC200610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9FFB206-4508-4696-8376-C4950E4B4B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A6322E8-71AD-4F3C-BD39-54E319E1B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FB5E4B5-156F-4C04-8062-05C298D230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FF92877-7D03-4E26-B714-F752E5ACFD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4C012CA1-213D-4FBC-9987-48436323BB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7A35290-7557-418B-ACE3-1691840A4CC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流程图: 过程 8"/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>
            <a:cxnSpLocks noChangeShapeType="1"/>
          </p:cNvCxnSpPr>
          <p:nvPr userDrawn="1"/>
        </p:nvCxnSpPr>
        <p:spPr bwMode="auto">
          <a:xfrm>
            <a:off x="276225" y="828675"/>
            <a:ext cx="8591550" cy="0"/>
          </a:xfrm>
          <a:prstGeom prst="line">
            <a:avLst/>
          </a:prstGeom>
          <a:noFill/>
          <a:ln w="19050" algn="ctr">
            <a:solidFill>
              <a:srgbClr val="1557A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:\WORK\工作\PPT\PPT新校徽\L15副本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8638" y="188913"/>
            <a:ext cx="8001000" cy="6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 userDrawn="1"/>
        </p:nvSpPr>
        <p:spPr bwMode="auto">
          <a:xfrm>
            <a:off x="485775" y="879475"/>
            <a:ext cx="80899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noFill/>
          <a:ln w="19050">
            <a:solidFill>
              <a:srgbClr val="1557AE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41818BBA-4A6E-4D81-B2D7-7E422B57831E}" type="slidenum">
              <a:rPr lang="en-US" altLang="zh-CN"/>
            </a:fld>
            <a:endParaRPr lang="en-US" altLang="zh-CN"/>
          </a:p>
        </p:txBody>
      </p:sp>
      <p:sp>
        <p:nvSpPr>
          <p:cNvPr id="15" name="流程图: 过程 14"/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流程图: 过程 8"/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34" name="图片 16"/>
          <p:cNvPicPr>
            <a:picLocks noChangeAspect="1"/>
          </p:cNvPicPr>
          <p:nvPr userDrawn="1"/>
        </p:nvPicPr>
        <p:blipFill>
          <a:blip r:embed="rId14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blinds dir="vert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2056" name="Freeform 3"/>
            <p:cNvSpPr/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057" name="Group 4"/>
            <p:cNvGrpSpPr/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2095" name="Freeform 5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96" name="Freeform 6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97" name="Freeform 7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058" name="Freeform 8"/>
            <p:cNvSpPr/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059" name="Group 9"/>
            <p:cNvGrpSpPr/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2086" name="Freeform 10"/>
              <p:cNvSpPr/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301757 w 217"/>
                  <a:gd name="T1" fmla="*/ 1391177 h 210"/>
                  <a:gd name="T2" fmla="*/ 241098 w 217"/>
                  <a:gd name="T3" fmla="*/ 1315348 h 210"/>
                  <a:gd name="T4" fmla="*/ 173204 w 217"/>
                  <a:gd name="T5" fmla="*/ 1200981 h 210"/>
                  <a:gd name="T6" fmla="*/ 100555 w 217"/>
                  <a:gd name="T7" fmla="*/ 1050251 h 210"/>
                  <a:gd name="T8" fmla="*/ 30918 w 217"/>
                  <a:gd name="T9" fmla="*/ 893274 h 210"/>
                  <a:gd name="T10" fmla="*/ 0 w 217"/>
                  <a:gd name="T11" fmla="*/ 722832 h 210"/>
                  <a:gd name="T12" fmla="*/ 1 w 217"/>
                  <a:gd name="T13" fmla="*/ 541129 h 210"/>
                  <a:gd name="T14" fmla="*/ 59457 w 217"/>
                  <a:gd name="T15" fmla="*/ 375040 h 210"/>
                  <a:gd name="T16" fmla="*/ 178426 w 217"/>
                  <a:gd name="T17" fmla="*/ 235316 h 210"/>
                  <a:gd name="T18" fmla="*/ 297550 w 217"/>
                  <a:gd name="T19" fmla="*/ 145781 h 210"/>
                  <a:gd name="T20" fmla="*/ 395028 w 217"/>
                  <a:gd name="T21" fmla="*/ 79555 h 210"/>
                  <a:gd name="T22" fmla="*/ 473775 w 217"/>
                  <a:gd name="T23" fmla="*/ 44822 h 210"/>
                  <a:gd name="T24" fmla="*/ 535442 w 217"/>
                  <a:gd name="T25" fmla="*/ 31065 h 210"/>
                  <a:gd name="T26" fmla="*/ 579275 w 217"/>
                  <a:gd name="T27" fmla="*/ 31065 h 210"/>
                  <a:gd name="T28" fmla="*/ 683371 w 217"/>
                  <a:gd name="T29" fmla="*/ 0 h 210"/>
                  <a:gd name="T30" fmla="*/ 971405 w 217"/>
                  <a:gd name="T31" fmla="*/ 55137 h 210"/>
                  <a:gd name="T32" fmla="*/ 1051625 w 217"/>
                  <a:gd name="T33" fmla="*/ 79555 h 210"/>
                  <a:gd name="T34" fmla="*/ 1130598 w 217"/>
                  <a:gd name="T35" fmla="*/ 101036 h 210"/>
                  <a:gd name="T36" fmla="*/ 1198333 w 217"/>
                  <a:gd name="T37" fmla="*/ 124319 h 210"/>
                  <a:gd name="T38" fmla="*/ 1249835 w 217"/>
                  <a:gd name="T39" fmla="*/ 152770 h 210"/>
                  <a:gd name="T40" fmla="*/ 1306158 w 217"/>
                  <a:gd name="T41" fmla="*/ 179375 h 210"/>
                  <a:gd name="T42" fmla="*/ 1350465 w 217"/>
                  <a:gd name="T43" fmla="*/ 210341 h 210"/>
                  <a:gd name="T44" fmla="*/ 1385280 w 217"/>
                  <a:gd name="T45" fmla="*/ 250808 h 210"/>
                  <a:gd name="T46" fmla="*/ 1426011 w 217"/>
                  <a:gd name="T47" fmla="*/ 299782 h 210"/>
                  <a:gd name="T48" fmla="*/ 1350465 w 217"/>
                  <a:gd name="T49" fmla="*/ 268239 h 210"/>
                  <a:gd name="T50" fmla="*/ 1278122 w 217"/>
                  <a:gd name="T51" fmla="*/ 238967 h 210"/>
                  <a:gd name="T52" fmla="*/ 1205186 w 217"/>
                  <a:gd name="T53" fmla="*/ 220425 h 210"/>
                  <a:gd name="T54" fmla="*/ 1130598 w 217"/>
                  <a:gd name="T55" fmla="*/ 196014 h 210"/>
                  <a:gd name="T56" fmla="*/ 1071268 w 217"/>
                  <a:gd name="T57" fmla="*/ 179375 h 210"/>
                  <a:gd name="T58" fmla="*/ 1009284 w 217"/>
                  <a:gd name="T59" fmla="*/ 173827 h 210"/>
                  <a:gd name="T60" fmla="*/ 937830 w 217"/>
                  <a:gd name="T61" fmla="*/ 163090 h 210"/>
                  <a:gd name="T62" fmla="*/ 878617 w 217"/>
                  <a:gd name="T63" fmla="*/ 163090 h 210"/>
                  <a:gd name="T64" fmla="*/ 821859 w 217"/>
                  <a:gd name="T65" fmla="*/ 163090 h 210"/>
                  <a:gd name="T66" fmla="*/ 762439 w 217"/>
                  <a:gd name="T67" fmla="*/ 165621 h 210"/>
                  <a:gd name="T68" fmla="*/ 701533 w 217"/>
                  <a:gd name="T69" fmla="*/ 179375 h 210"/>
                  <a:gd name="T70" fmla="*/ 650189 w 217"/>
                  <a:gd name="T71" fmla="*/ 194261 h 210"/>
                  <a:gd name="T72" fmla="*/ 597816 w 217"/>
                  <a:gd name="T73" fmla="*/ 220425 h 210"/>
                  <a:gd name="T74" fmla="*/ 536224 w 217"/>
                  <a:gd name="T75" fmla="*/ 238967 h 210"/>
                  <a:gd name="T76" fmla="*/ 486366 w 217"/>
                  <a:gd name="T77" fmla="*/ 270217 h 210"/>
                  <a:gd name="T78" fmla="*/ 435253 w 217"/>
                  <a:gd name="T79" fmla="*/ 303492 h 210"/>
                  <a:gd name="T80" fmla="*/ 342145 w 217"/>
                  <a:gd name="T81" fmla="*/ 404420 h 210"/>
                  <a:gd name="T82" fmla="*/ 278430 w 217"/>
                  <a:gd name="T83" fmla="*/ 528905 h 210"/>
                  <a:gd name="T84" fmla="*/ 241098 w 217"/>
                  <a:gd name="T85" fmla="*/ 683649 h 210"/>
                  <a:gd name="T86" fmla="*/ 227721 w 217"/>
                  <a:gd name="T87" fmla="*/ 835841 h 210"/>
                  <a:gd name="T88" fmla="*/ 227721 w 217"/>
                  <a:gd name="T89" fmla="*/ 1004953 h 210"/>
                  <a:gd name="T90" fmla="*/ 249829 w 217"/>
                  <a:gd name="T91" fmla="*/ 1151114 h 210"/>
                  <a:gd name="T92" fmla="*/ 268920 w 217"/>
                  <a:gd name="T93" fmla="*/ 1285395 h 210"/>
                  <a:gd name="T94" fmla="*/ 301757 w 217"/>
                  <a:gd name="T95" fmla="*/ 1391177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7" name="Freeform 11"/>
              <p:cNvSpPr/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683801 w 182"/>
                  <a:gd name="T1" fmla="*/ 0 h 213"/>
                  <a:gd name="T2" fmla="*/ 701997 w 182"/>
                  <a:gd name="T3" fmla="*/ 14087 h 213"/>
                  <a:gd name="T4" fmla="*/ 741286 w 182"/>
                  <a:gd name="T5" fmla="*/ 57167 h 213"/>
                  <a:gd name="T6" fmla="*/ 797203 w 182"/>
                  <a:gd name="T7" fmla="*/ 128450 h 213"/>
                  <a:gd name="T8" fmla="*/ 861151 w 182"/>
                  <a:gd name="T9" fmla="*/ 232372 h 213"/>
                  <a:gd name="T10" fmla="*/ 909962 w 182"/>
                  <a:gd name="T11" fmla="*/ 361411 h 213"/>
                  <a:gd name="T12" fmla="*/ 942460 w 182"/>
                  <a:gd name="T13" fmla="*/ 532583 h 213"/>
                  <a:gd name="T14" fmla="*/ 942460 w 182"/>
                  <a:gd name="T15" fmla="*/ 734741 h 213"/>
                  <a:gd name="T16" fmla="*/ 902997 w 182"/>
                  <a:gd name="T17" fmla="*/ 973261 h 213"/>
                  <a:gd name="T18" fmla="*/ 880953 w 182"/>
                  <a:gd name="T19" fmla="*/ 1039711 h 213"/>
                  <a:gd name="T20" fmla="*/ 853596 w 182"/>
                  <a:gd name="T21" fmla="*/ 1094606 h 213"/>
                  <a:gd name="T22" fmla="*/ 824151 w 182"/>
                  <a:gd name="T23" fmla="*/ 1154539 h 213"/>
                  <a:gd name="T24" fmla="*/ 784455 w 182"/>
                  <a:gd name="T25" fmla="*/ 1207278 h 213"/>
                  <a:gd name="T26" fmla="*/ 731539 w 182"/>
                  <a:gd name="T27" fmla="*/ 1257672 h 213"/>
                  <a:gd name="T28" fmla="*/ 688157 w 182"/>
                  <a:gd name="T29" fmla="*/ 1295697 h 213"/>
                  <a:gd name="T30" fmla="*/ 641510 w 182"/>
                  <a:gd name="T31" fmla="*/ 1332570 h 213"/>
                  <a:gd name="T32" fmla="*/ 575158 w 182"/>
                  <a:gd name="T33" fmla="*/ 1362138 h 213"/>
                  <a:gd name="T34" fmla="*/ 514939 w 182"/>
                  <a:gd name="T35" fmla="*/ 1376782 h 213"/>
                  <a:gd name="T36" fmla="*/ 454782 w 182"/>
                  <a:gd name="T37" fmla="*/ 1394270 h 213"/>
                  <a:gd name="T38" fmla="*/ 384688 w 182"/>
                  <a:gd name="T39" fmla="*/ 1407345 h 213"/>
                  <a:gd name="T40" fmla="*/ 309559 w 182"/>
                  <a:gd name="T41" fmla="*/ 1407345 h 213"/>
                  <a:gd name="T42" fmla="*/ 229214 w 182"/>
                  <a:gd name="T43" fmla="*/ 1394270 h 213"/>
                  <a:gd name="T44" fmla="*/ 157122 w 182"/>
                  <a:gd name="T45" fmla="*/ 1376782 h 213"/>
                  <a:gd name="T46" fmla="*/ 73562 w 182"/>
                  <a:gd name="T47" fmla="*/ 1346628 h 213"/>
                  <a:gd name="T48" fmla="*/ 0 w 182"/>
                  <a:gd name="T49" fmla="*/ 1310842 h 213"/>
                  <a:gd name="T50" fmla="*/ 70239 w 182"/>
                  <a:gd name="T51" fmla="*/ 1362138 h 213"/>
                  <a:gd name="T52" fmla="*/ 139293 w 182"/>
                  <a:gd name="T53" fmla="*/ 1394270 h 213"/>
                  <a:gd name="T54" fmla="*/ 209540 w 182"/>
                  <a:gd name="T55" fmla="*/ 1428890 h 213"/>
                  <a:gd name="T56" fmla="*/ 268442 w 182"/>
                  <a:gd name="T57" fmla="*/ 1453863 h 213"/>
                  <a:gd name="T58" fmla="*/ 329967 w 182"/>
                  <a:gd name="T59" fmla="*/ 1474648 h 213"/>
                  <a:gd name="T60" fmla="*/ 397692 w 182"/>
                  <a:gd name="T61" fmla="*/ 1482917 h 213"/>
                  <a:gd name="T62" fmla="*/ 455536 w 182"/>
                  <a:gd name="T63" fmla="*/ 1485529 h 213"/>
                  <a:gd name="T64" fmla="*/ 517698 w 182"/>
                  <a:gd name="T65" fmla="*/ 1485529 h 213"/>
                  <a:gd name="T66" fmla="*/ 572502 w 182"/>
                  <a:gd name="T67" fmla="*/ 1482917 h 213"/>
                  <a:gd name="T68" fmla="*/ 627273 w 182"/>
                  <a:gd name="T69" fmla="*/ 1469062 h 213"/>
                  <a:gd name="T70" fmla="*/ 674772 w 182"/>
                  <a:gd name="T71" fmla="*/ 1453863 h 213"/>
                  <a:gd name="T72" fmla="*/ 725249 w 182"/>
                  <a:gd name="T73" fmla="*/ 1439187 h 213"/>
                  <a:gd name="T74" fmla="*/ 771024 w 182"/>
                  <a:gd name="T75" fmla="*/ 1421365 h 213"/>
                  <a:gd name="T76" fmla="*/ 814293 w 182"/>
                  <a:gd name="T77" fmla="*/ 1389605 h 213"/>
                  <a:gd name="T78" fmla="*/ 853596 w 182"/>
                  <a:gd name="T79" fmla="*/ 1362138 h 213"/>
                  <a:gd name="T80" fmla="*/ 889798 w 182"/>
                  <a:gd name="T81" fmla="*/ 1332570 h 213"/>
                  <a:gd name="T82" fmla="*/ 990644 w 182"/>
                  <a:gd name="T83" fmla="*/ 1228158 h 213"/>
                  <a:gd name="T84" fmla="*/ 1060215 w 182"/>
                  <a:gd name="T85" fmla="*/ 1124979 h 213"/>
                  <a:gd name="T86" fmla="*/ 1101363 w 182"/>
                  <a:gd name="T87" fmla="*/ 1005431 h 213"/>
                  <a:gd name="T88" fmla="*/ 1123909 w 182"/>
                  <a:gd name="T89" fmla="*/ 896050 h 213"/>
                  <a:gd name="T90" fmla="*/ 1137492 w 182"/>
                  <a:gd name="T91" fmla="*/ 777989 h 213"/>
                  <a:gd name="T92" fmla="*/ 1137492 w 182"/>
                  <a:gd name="T93" fmla="*/ 661259 h 213"/>
                  <a:gd name="T94" fmla="*/ 1142963 w 182"/>
                  <a:gd name="T95" fmla="*/ 552162 h 213"/>
                  <a:gd name="T96" fmla="*/ 1082647 w 182"/>
                  <a:gd name="T97" fmla="*/ 322145 h 213"/>
                  <a:gd name="T98" fmla="*/ 980321 w 182"/>
                  <a:gd name="T99" fmla="*/ 143392 h 213"/>
                  <a:gd name="T100" fmla="*/ 944023 w 182"/>
                  <a:gd name="T101" fmla="*/ 128450 h 213"/>
                  <a:gd name="T102" fmla="*/ 923492 w 182"/>
                  <a:gd name="T103" fmla="*/ 106546 h 213"/>
                  <a:gd name="T104" fmla="*/ 889798 w 182"/>
                  <a:gd name="T105" fmla="*/ 89057 h 213"/>
                  <a:gd name="T106" fmla="*/ 866414 w 182"/>
                  <a:gd name="T107" fmla="*/ 76855 h 213"/>
                  <a:gd name="T108" fmla="*/ 827975 w 182"/>
                  <a:gd name="T109" fmla="*/ 61588 h 213"/>
                  <a:gd name="T110" fmla="*/ 790166 w 182"/>
                  <a:gd name="T111" fmla="*/ 42592 h 213"/>
                  <a:gd name="T112" fmla="*/ 745258 w 182"/>
                  <a:gd name="T113" fmla="*/ 20370 h 213"/>
                  <a:gd name="T114" fmla="*/ 683801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8" name="Freeform 12"/>
              <p:cNvSpPr/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1 w 128"/>
                  <a:gd name="T1" fmla="*/ 0 h 217"/>
                  <a:gd name="T2" fmla="*/ 1 w 128"/>
                  <a:gd name="T3" fmla="*/ 1 h 217"/>
                  <a:gd name="T4" fmla="*/ 1 w 128"/>
                  <a:gd name="T5" fmla="*/ 1 h 217"/>
                  <a:gd name="T6" fmla="*/ 1 w 128"/>
                  <a:gd name="T7" fmla="*/ 1 h 217"/>
                  <a:gd name="T8" fmla="*/ 1 w 128"/>
                  <a:gd name="T9" fmla="*/ 1 h 217"/>
                  <a:gd name="T10" fmla="*/ 1 w 128"/>
                  <a:gd name="T11" fmla="*/ 1 h 217"/>
                  <a:gd name="T12" fmla="*/ 1 w 128"/>
                  <a:gd name="T13" fmla="*/ 1 h 217"/>
                  <a:gd name="T14" fmla="*/ 1 w 128"/>
                  <a:gd name="T15" fmla="*/ 1 h 217"/>
                  <a:gd name="T16" fmla="*/ 1 w 128"/>
                  <a:gd name="T17" fmla="*/ 1 h 217"/>
                  <a:gd name="T18" fmla="*/ 1 w 128"/>
                  <a:gd name="T19" fmla="*/ 1 h 217"/>
                  <a:gd name="T20" fmla="*/ 1 w 128"/>
                  <a:gd name="T21" fmla="*/ 1 h 217"/>
                  <a:gd name="T22" fmla="*/ 1 w 128"/>
                  <a:gd name="T23" fmla="*/ 1 h 217"/>
                  <a:gd name="T24" fmla="*/ 1 w 128"/>
                  <a:gd name="T25" fmla="*/ 1 h 217"/>
                  <a:gd name="T26" fmla="*/ 1 w 128"/>
                  <a:gd name="T27" fmla="*/ 1 h 217"/>
                  <a:gd name="T28" fmla="*/ 1 w 128"/>
                  <a:gd name="T29" fmla="*/ 1 h 217"/>
                  <a:gd name="T30" fmla="*/ 0 w 128"/>
                  <a:gd name="T31" fmla="*/ 1 h 217"/>
                  <a:gd name="T32" fmla="*/ 1 w 128"/>
                  <a:gd name="T33" fmla="*/ 1 h 217"/>
                  <a:gd name="T34" fmla="*/ 1 w 128"/>
                  <a:gd name="T35" fmla="*/ 1 h 217"/>
                  <a:gd name="T36" fmla="*/ 1 w 128"/>
                  <a:gd name="T37" fmla="*/ 1 h 217"/>
                  <a:gd name="T38" fmla="*/ 1 w 128"/>
                  <a:gd name="T39" fmla="*/ 1 h 217"/>
                  <a:gd name="T40" fmla="*/ 1 w 128"/>
                  <a:gd name="T41" fmla="*/ 1 h 217"/>
                  <a:gd name="T42" fmla="*/ 1 w 128"/>
                  <a:gd name="T43" fmla="*/ 1 h 217"/>
                  <a:gd name="T44" fmla="*/ 1 w 128"/>
                  <a:gd name="T45" fmla="*/ 1 h 217"/>
                  <a:gd name="T46" fmla="*/ 1 w 128"/>
                  <a:gd name="T47" fmla="*/ 1 h 217"/>
                  <a:gd name="T48" fmla="*/ 1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9" name="Freeform 13"/>
              <p:cNvSpPr/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1 w 117"/>
                  <a:gd name="T1" fmla="*/ 0 h 132"/>
                  <a:gd name="T2" fmla="*/ 0 w 117"/>
                  <a:gd name="T3" fmla="*/ 1 h 132"/>
                  <a:gd name="T4" fmla="*/ 1 w 117"/>
                  <a:gd name="T5" fmla="*/ 1 h 132"/>
                  <a:gd name="T6" fmla="*/ 1 w 117"/>
                  <a:gd name="T7" fmla="*/ 1 h 132"/>
                  <a:gd name="T8" fmla="*/ 1 w 117"/>
                  <a:gd name="T9" fmla="*/ 1 h 132"/>
                  <a:gd name="T10" fmla="*/ 1 w 117"/>
                  <a:gd name="T11" fmla="*/ 1 h 132"/>
                  <a:gd name="T12" fmla="*/ 1 w 117"/>
                  <a:gd name="T13" fmla="*/ 1 h 132"/>
                  <a:gd name="T14" fmla="*/ 1 w 117"/>
                  <a:gd name="T15" fmla="*/ 1 h 132"/>
                  <a:gd name="T16" fmla="*/ 1 w 117"/>
                  <a:gd name="T17" fmla="*/ 1 h 132"/>
                  <a:gd name="T18" fmla="*/ 1 w 117"/>
                  <a:gd name="T19" fmla="*/ 1 h 132"/>
                  <a:gd name="T20" fmla="*/ 1 w 117"/>
                  <a:gd name="T21" fmla="*/ 1 h 132"/>
                  <a:gd name="T22" fmla="*/ 1 w 117"/>
                  <a:gd name="T23" fmla="*/ 1 h 132"/>
                  <a:gd name="T24" fmla="*/ 1 w 117"/>
                  <a:gd name="T25" fmla="*/ 1 h 132"/>
                  <a:gd name="T26" fmla="*/ 1 w 117"/>
                  <a:gd name="T27" fmla="*/ 1 h 132"/>
                  <a:gd name="T28" fmla="*/ 1 w 117"/>
                  <a:gd name="T29" fmla="*/ 1 h 132"/>
                  <a:gd name="T30" fmla="*/ 1 w 117"/>
                  <a:gd name="T31" fmla="*/ 1 h 132"/>
                  <a:gd name="T32" fmla="*/ 1 w 117"/>
                  <a:gd name="T33" fmla="*/ 1 h 132"/>
                  <a:gd name="T34" fmla="*/ 1 w 117"/>
                  <a:gd name="T35" fmla="*/ 1 h 132"/>
                  <a:gd name="T36" fmla="*/ 1 w 117"/>
                  <a:gd name="T37" fmla="*/ 1 h 132"/>
                  <a:gd name="T38" fmla="*/ 1 w 117"/>
                  <a:gd name="T39" fmla="*/ 1 h 132"/>
                  <a:gd name="T40" fmla="*/ 1 w 117"/>
                  <a:gd name="T41" fmla="*/ 1 h 132"/>
                  <a:gd name="T42" fmla="*/ 1 w 117"/>
                  <a:gd name="T43" fmla="*/ 1 h 132"/>
                  <a:gd name="T44" fmla="*/ 1 w 117"/>
                  <a:gd name="T45" fmla="*/ 1 h 132"/>
                  <a:gd name="T46" fmla="*/ 1 w 117"/>
                  <a:gd name="T47" fmla="*/ 1 h 132"/>
                  <a:gd name="T48" fmla="*/ 1 w 117"/>
                  <a:gd name="T49" fmla="*/ 1 h 132"/>
                  <a:gd name="T50" fmla="*/ 1 w 117"/>
                  <a:gd name="T51" fmla="*/ 1 h 132"/>
                  <a:gd name="T52" fmla="*/ 1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90" name="Freeform 14"/>
              <p:cNvSpPr/>
              <p:nvPr userDrawn="1"/>
            </p:nvSpPr>
            <p:spPr bwMode="ltGray">
              <a:xfrm rot="373331" flipH="1">
                <a:off x="289" y="3133"/>
                <a:ext cx="21" cy="55"/>
              </a:xfrm>
              <a:custGeom>
                <a:avLst/>
                <a:gdLst>
                  <a:gd name="T0" fmla="*/ 1 w 29"/>
                  <a:gd name="T1" fmla="*/ 0 h 77"/>
                  <a:gd name="T2" fmla="*/ 1 w 29"/>
                  <a:gd name="T3" fmla="*/ 0 h 77"/>
                  <a:gd name="T4" fmla="*/ 1 w 29"/>
                  <a:gd name="T5" fmla="*/ 1 h 77"/>
                  <a:gd name="T6" fmla="*/ 1 w 29"/>
                  <a:gd name="T7" fmla="*/ 1 h 77"/>
                  <a:gd name="T8" fmla="*/ 1 w 29"/>
                  <a:gd name="T9" fmla="*/ 1 h 77"/>
                  <a:gd name="T10" fmla="*/ 1 w 29"/>
                  <a:gd name="T11" fmla="*/ 1 h 77"/>
                  <a:gd name="T12" fmla="*/ 0 w 29"/>
                  <a:gd name="T13" fmla="*/ 1 h 77"/>
                  <a:gd name="T14" fmla="*/ 1 w 29"/>
                  <a:gd name="T15" fmla="*/ 1 h 77"/>
                  <a:gd name="T16" fmla="*/ 1 w 29"/>
                  <a:gd name="T17" fmla="*/ 1 h 77"/>
                  <a:gd name="T18" fmla="*/ 1 w 29"/>
                  <a:gd name="T19" fmla="*/ 1 h 77"/>
                  <a:gd name="T20" fmla="*/ 1 w 29"/>
                  <a:gd name="T21" fmla="*/ 1 h 77"/>
                  <a:gd name="T22" fmla="*/ 1 w 29"/>
                  <a:gd name="T23" fmla="*/ 1 h 77"/>
                  <a:gd name="T24" fmla="*/ 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091" name="Group 15"/>
              <p:cNvGrpSpPr/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2092" name="Freeform 16"/>
                <p:cNvSpPr/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 w 207"/>
                    <a:gd name="T1" fmla="*/ 1 h 564"/>
                    <a:gd name="T2" fmla="*/ 1 w 207"/>
                    <a:gd name="T3" fmla="*/ 1 h 564"/>
                    <a:gd name="T4" fmla="*/ 1 w 207"/>
                    <a:gd name="T5" fmla="*/ 1 h 564"/>
                    <a:gd name="T6" fmla="*/ 0 w 207"/>
                    <a:gd name="T7" fmla="*/ 1 h 564"/>
                    <a:gd name="T8" fmla="*/ 0 w 207"/>
                    <a:gd name="T9" fmla="*/ 1 h 564"/>
                    <a:gd name="T10" fmla="*/ 1 w 207"/>
                    <a:gd name="T11" fmla="*/ 1 h 564"/>
                    <a:gd name="T12" fmla="*/ 1 w 207"/>
                    <a:gd name="T13" fmla="*/ 1 h 564"/>
                    <a:gd name="T14" fmla="*/ 1 w 207"/>
                    <a:gd name="T15" fmla="*/ 1 h 564"/>
                    <a:gd name="T16" fmla="*/ 1 w 207"/>
                    <a:gd name="T17" fmla="*/ 1 h 564"/>
                    <a:gd name="T18" fmla="*/ 1 w 207"/>
                    <a:gd name="T19" fmla="*/ 1 h 564"/>
                    <a:gd name="T20" fmla="*/ 1 w 207"/>
                    <a:gd name="T21" fmla="*/ 1 h 564"/>
                    <a:gd name="T22" fmla="*/ 1 w 207"/>
                    <a:gd name="T23" fmla="*/ 1 h 564"/>
                    <a:gd name="T24" fmla="*/ 1 w 207"/>
                    <a:gd name="T25" fmla="*/ 1 h 564"/>
                    <a:gd name="T26" fmla="*/ 1 w 207"/>
                    <a:gd name="T27" fmla="*/ 1 h 564"/>
                    <a:gd name="T28" fmla="*/ 1 w 207"/>
                    <a:gd name="T29" fmla="*/ 1 h 564"/>
                    <a:gd name="T30" fmla="*/ 1 w 207"/>
                    <a:gd name="T31" fmla="*/ 1 h 564"/>
                    <a:gd name="T32" fmla="*/ 1 w 207"/>
                    <a:gd name="T33" fmla="*/ 1 h 564"/>
                    <a:gd name="T34" fmla="*/ 1 w 207"/>
                    <a:gd name="T35" fmla="*/ 1 h 564"/>
                    <a:gd name="T36" fmla="*/ 1 w 207"/>
                    <a:gd name="T37" fmla="*/ 1 h 564"/>
                    <a:gd name="T38" fmla="*/ 1 w 207"/>
                    <a:gd name="T39" fmla="*/ 1 h 564"/>
                    <a:gd name="T40" fmla="*/ 1 w 207"/>
                    <a:gd name="T41" fmla="*/ 1 h 564"/>
                    <a:gd name="T42" fmla="*/ 1 w 207"/>
                    <a:gd name="T43" fmla="*/ 1 h 564"/>
                    <a:gd name="T44" fmla="*/ 1 w 207"/>
                    <a:gd name="T45" fmla="*/ 1 h 564"/>
                    <a:gd name="T46" fmla="*/ 1 w 207"/>
                    <a:gd name="T47" fmla="*/ 1 h 564"/>
                    <a:gd name="T48" fmla="*/ 1 w 207"/>
                    <a:gd name="T49" fmla="*/ 1 h 564"/>
                    <a:gd name="T50" fmla="*/ 1 w 207"/>
                    <a:gd name="T51" fmla="*/ 1 h 564"/>
                    <a:gd name="T52" fmla="*/ 1 w 207"/>
                    <a:gd name="T53" fmla="*/ 1 h 564"/>
                    <a:gd name="T54" fmla="*/ 1 w 207"/>
                    <a:gd name="T55" fmla="*/ 1 h 564"/>
                    <a:gd name="T56" fmla="*/ 1 w 207"/>
                    <a:gd name="T57" fmla="*/ 0 h 564"/>
                    <a:gd name="T58" fmla="*/ 1 w 207"/>
                    <a:gd name="T59" fmla="*/ 1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093" name="Freeform 17"/>
                <p:cNvSpPr/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 h 232"/>
                    <a:gd name="T2" fmla="*/ 1 w 47"/>
                    <a:gd name="T3" fmla="*/ 1 h 232"/>
                    <a:gd name="T4" fmla="*/ 1 w 47"/>
                    <a:gd name="T5" fmla="*/ 1 h 232"/>
                    <a:gd name="T6" fmla="*/ 1 w 47"/>
                    <a:gd name="T7" fmla="*/ 1 h 232"/>
                    <a:gd name="T8" fmla="*/ 1 w 47"/>
                    <a:gd name="T9" fmla="*/ 1 h 232"/>
                    <a:gd name="T10" fmla="*/ 1 w 47"/>
                    <a:gd name="T11" fmla="*/ 1 h 232"/>
                    <a:gd name="T12" fmla="*/ 1 w 47"/>
                    <a:gd name="T13" fmla="*/ 1 h 232"/>
                    <a:gd name="T14" fmla="*/ 1 w 47"/>
                    <a:gd name="T15" fmla="*/ 1 h 232"/>
                    <a:gd name="T16" fmla="*/ 1 w 47"/>
                    <a:gd name="T17" fmla="*/ 1 h 232"/>
                    <a:gd name="T18" fmla="*/ 1 w 47"/>
                    <a:gd name="T19" fmla="*/ 1 h 232"/>
                    <a:gd name="T20" fmla="*/ 1 w 47"/>
                    <a:gd name="T21" fmla="*/ 1 h 232"/>
                    <a:gd name="T22" fmla="*/ 1 w 47"/>
                    <a:gd name="T23" fmla="*/ 1 h 232"/>
                    <a:gd name="T24" fmla="*/ 1 w 47"/>
                    <a:gd name="T25" fmla="*/ 1 h 232"/>
                    <a:gd name="T26" fmla="*/ 1 w 47"/>
                    <a:gd name="T27" fmla="*/ 0 h 232"/>
                    <a:gd name="T28" fmla="*/ 0 w 47"/>
                    <a:gd name="T29" fmla="*/ 1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094" name="Freeform 18"/>
                <p:cNvSpPr/>
                <p:nvPr userDrawn="1"/>
              </p:nvSpPr>
              <p:spPr bwMode="ltGray">
                <a:xfrm rot="4200091">
                  <a:off x="195" y="1722"/>
                  <a:ext cx="60" cy="27"/>
                </a:xfrm>
                <a:custGeom>
                  <a:avLst/>
                  <a:gdLst>
                    <a:gd name="T0" fmla="*/ 1 w 87"/>
                    <a:gd name="T1" fmla="*/ 1 h 40"/>
                    <a:gd name="T2" fmla="*/ 1 w 87"/>
                    <a:gd name="T3" fmla="*/ 1 h 40"/>
                    <a:gd name="T4" fmla="*/ 1 w 87"/>
                    <a:gd name="T5" fmla="*/ 1 h 40"/>
                    <a:gd name="T6" fmla="*/ 1 w 87"/>
                    <a:gd name="T7" fmla="*/ 1 h 40"/>
                    <a:gd name="T8" fmla="*/ 1 w 87"/>
                    <a:gd name="T9" fmla="*/ 1 h 40"/>
                    <a:gd name="T10" fmla="*/ 1 w 87"/>
                    <a:gd name="T11" fmla="*/ 1 h 40"/>
                    <a:gd name="T12" fmla="*/ 1 w 87"/>
                    <a:gd name="T13" fmla="*/ 1 h 40"/>
                    <a:gd name="T14" fmla="*/ 1 w 87"/>
                    <a:gd name="T15" fmla="*/ 0 h 40"/>
                    <a:gd name="T16" fmla="*/ 0 w 87"/>
                    <a:gd name="T17" fmla="*/ 1 h 40"/>
                    <a:gd name="T18" fmla="*/ 1 w 87"/>
                    <a:gd name="T19" fmla="*/ 1 h 40"/>
                    <a:gd name="T20" fmla="*/ 1 w 87"/>
                    <a:gd name="T21" fmla="*/ 1 h 40"/>
                    <a:gd name="T22" fmla="*/ 1 w 87"/>
                    <a:gd name="T23" fmla="*/ 1 h 40"/>
                    <a:gd name="T24" fmla="*/ 1 w 87"/>
                    <a:gd name="T25" fmla="*/ 1 h 40"/>
                    <a:gd name="T26" fmla="*/ 1 w 87"/>
                    <a:gd name="T27" fmla="*/ 1 h 40"/>
                    <a:gd name="T28" fmla="*/ 1 w 87"/>
                    <a:gd name="T29" fmla="*/ 1 h 40"/>
                    <a:gd name="T30" fmla="*/ 1 w 87"/>
                    <a:gd name="T31" fmla="*/ 1 h 40"/>
                    <a:gd name="T32" fmla="*/ 1 w 87"/>
                    <a:gd name="T33" fmla="*/ 1 h 40"/>
                    <a:gd name="T34" fmla="*/ 1 w 87"/>
                    <a:gd name="T35" fmla="*/ 1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060" name="Group 19"/>
            <p:cNvGrpSpPr/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2083" name="Freeform 20"/>
              <p:cNvSpPr/>
              <p:nvPr userDrawn="1"/>
            </p:nvSpPr>
            <p:spPr bwMode="ltGray">
              <a:xfrm>
                <a:off x="1727" y="868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4" name="Freeform 21"/>
              <p:cNvSpPr/>
              <p:nvPr userDrawn="1"/>
            </p:nvSpPr>
            <p:spPr bwMode="ltGray">
              <a:xfrm>
                <a:off x="1786" y="896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5" name="Freeform 22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61" name="Group 23"/>
            <p:cNvGrpSpPr/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2080" name="Freeform 24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1" name="Freeform 25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82" name="Freeform 26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62" name="Group 27"/>
            <p:cNvGrpSpPr/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2077" name="Freeform 28"/>
              <p:cNvSpPr/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0 w 83"/>
                  <a:gd name="T1" fmla="*/ 1 h 117"/>
                  <a:gd name="T2" fmla="*/ 0 w 83"/>
                  <a:gd name="T3" fmla="*/ 0 h 117"/>
                  <a:gd name="T4" fmla="*/ 0 w 83"/>
                  <a:gd name="T5" fmla="*/ 1 h 117"/>
                  <a:gd name="T6" fmla="*/ 0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78" name="Freeform 29"/>
              <p:cNvSpPr/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1 h 98"/>
                  <a:gd name="T2" fmla="*/ 1 w 140"/>
                  <a:gd name="T3" fmla="*/ 0 h 98"/>
                  <a:gd name="T4" fmla="*/ 1 w 140"/>
                  <a:gd name="T5" fmla="*/ 1 h 98"/>
                  <a:gd name="T6" fmla="*/ 0 w 140"/>
                  <a:gd name="T7" fmla="*/ 1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79" name="Freeform 30"/>
              <p:cNvSpPr/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1 w 145"/>
                  <a:gd name="T3" fmla="*/ 0 h 49"/>
                  <a:gd name="T4" fmla="*/ 1 w 145"/>
                  <a:gd name="T5" fmla="*/ 1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2063" name="Freeform 31"/>
            <p:cNvSpPr/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4" name="Freeform 32"/>
            <p:cNvSpPr/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478 w 109"/>
                <a:gd name="T3" fmla="*/ 1 h 156"/>
                <a:gd name="T4" fmla="*/ 1826 w 109"/>
                <a:gd name="T5" fmla="*/ 5 h 156"/>
                <a:gd name="T6" fmla="*/ 3637 w 109"/>
                <a:gd name="T7" fmla="*/ 59 h 156"/>
                <a:gd name="T8" fmla="*/ 5760 w 109"/>
                <a:gd name="T9" fmla="*/ 124 h 156"/>
                <a:gd name="T10" fmla="*/ 7698 w 109"/>
                <a:gd name="T11" fmla="*/ 227 h 156"/>
                <a:gd name="T12" fmla="*/ 9471 w 109"/>
                <a:gd name="T13" fmla="*/ 365 h 156"/>
                <a:gd name="T14" fmla="*/ 10571 w 109"/>
                <a:gd name="T15" fmla="*/ 553 h 156"/>
                <a:gd name="T16" fmla="*/ 10834 w 109"/>
                <a:gd name="T17" fmla="*/ 811 h 156"/>
                <a:gd name="T18" fmla="*/ 10319 w 109"/>
                <a:gd name="T19" fmla="*/ 811 h 156"/>
                <a:gd name="T20" fmla="*/ 9806 w 109"/>
                <a:gd name="T21" fmla="*/ 811 h 156"/>
                <a:gd name="T22" fmla="*/ 9213 w 109"/>
                <a:gd name="T23" fmla="*/ 811 h 156"/>
                <a:gd name="T24" fmla="*/ 8521 w 109"/>
                <a:gd name="T25" fmla="*/ 784 h 156"/>
                <a:gd name="T26" fmla="*/ 8023 w 109"/>
                <a:gd name="T27" fmla="*/ 783 h 156"/>
                <a:gd name="T28" fmla="*/ 7387 w 109"/>
                <a:gd name="T29" fmla="*/ 771 h 156"/>
                <a:gd name="T30" fmla="*/ 6514 w 109"/>
                <a:gd name="T31" fmla="*/ 744 h 156"/>
                <a:gd name="T32" fmla="*/ 5760 w 109"/>
                <a:gd name="T33" fmla="*/ 714 h 156"/>
                <a:gd name="T34" fmla="*/ 5249 w 109"/>
                <a:gd name="T35" fmla="*/ 649 h 156"/>
                <a:gd name="T36" fmla="*/ 5249 w 109"/>
                <a:gd name="T37" fmla="*/ 576 h 156"/>
                <a:gd name="T38" fmla="*/ 5521 w 109"/>
                <a:gd name="T39" fmla="*/ 494 h 156"/>
                <a:gd name="T40" fmla="*/ 5790 w 109"/>
                <a:gd name="T41" fmla="*/ 411 h 156"/>
                <a:gd name="T42" fmla="*/ 5521 w 109"/>
                <a:gd name="T43" fmla="*/ 319 h 156"/>
                <a:gd name="T44" fmla="*/ 4756 w 109"/>
                <a:gd name="T45" fmla="*/ 221 h 156"/>
                <a:gd name="T46" fmla="*/ 3109 w 109"/>
                <a:gd name="T47" fmla="*/ 119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5" name="Freeform 33"/>
            <p:cNvSpPr/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21 w 54"/>
                <a:gd name="T5" fmla="*/ 3 h 40"/>
                <a:gd name="T6" fmla="*/ 1608 w 54"/>
                <a:gd name="T7" fmla="*/ 49 h 40"/>
                <a:gd name="T8" fmla="*/ 2684 w 54"/>
                <a:gd name="T9" fmla="*/ 66 h 40"/>
                <a:gd name="T10" fmla="*/ 3588 w 54"/>
                <a:gd name="T11" fmla="*/ 82 h 40"/>
                <a:gd name="T12" fmla="*/ 4545 w 54"/>
                <a:gd name="T13" fmla="*/ 95 h 40"/>
                <a:gd name="T14" fmla="*/ 5555 w 54"/>
                <a:gd name="T15" fmla="*/ 102 h 40"/>
                <a:gd name="T16" fmla="*/ 6704 w 54"/>
                <a:gd name="T17" fmla="*/ 88 h 40"/>
                <a:gd name="T18" fmla="*/ 6550 w 54"/>
                <a:gd name="T19" fmla="*/ 139 h 40"/>
                <a:gd name="T20" fmla="*/ 6184 w 54"/>
                <a:gd name="T21" fmla="*/ 185 h 40"/>
                <a:gd name="T22" fmla="*/ 5485 w 54"/>
                <a:gd name="T23" fmla="*/ 214 h 40"/>
                <a:gd name="T24" fmla="*/ 4497 w 54"/>
                <a:gd name="T25" fmla="*/ 228 h 40"/>
                <a:gd name="T26" fmla="*/ 3448 w 54"/>
                <a:gd name="T27" fmla="*/ 226 h 40"/>
                <a:gd name="T28" fmla="*/ 2308 w 54"/>
                <a:gd name="T29" fmla="*/ 183 h 40"/>
                <a:gd name="T30" fmla="*/ 1212 w 54"/>
                <a:gd name="T31" fmla="*/ 118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6" name="Freeform 34"/>
            <p:cNvSpPr/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7" name="Freeform 35"/>
            <p:cNvSpPr/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8" name="Freeform 36"/>
            <p:cNvSpPr/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69" name="Freeform 37"/>
            <p:cNvSpPr/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0" name="Freeform 38"/>
            <p:cNvSpPr/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53 h 237"/>
                <a:gd name="T4" fmla="*/ 2978 w 257"/>
                <a:gd name="T5" fmla="*/ 110 h 237"/>
                <a:gd name="T6" fmla="*/ 6816 w 257"/>
                <a:gd name="T7" fmla="*/ 167 h 237"/>
                <a:gd name="T8" fmla="*/ 12211 w 257"/>
                <a:gd name="T9" fmla="*/ 217 h 237"/>
                <a:gd name="T10" fmla="*/ 19730 w 257"/>
                <a:gd name="T11" fmla="*/ 264 h 237"/>
                <a:gd name="T12" fmla="*/ 29284 w 257"/>
                <a:gd name="T13" fmla="*/ 313 h 237"/>
                <a:gd name="T14" fmla="*/ 41483 w 257"/>
                <a:gd name="T15" fmla="*/ 358 h 237"/>
                <a:gd name="T16" fmla="*/ 55526 w 257"/>
                <a:gd name="T17" fmla="*/ 395 h 237"/>
                <a:gd name="T18" fmla="*/ 73581 w 257"/>
                <a:gd name="T19" fmla="*/ 431 h 237"/>
                <a:gd name="T20" fmla="*/ 94000 w 257"/>
                <a:gd name="T21" fmla="*/ 461 h 237"/>
                <a:gd name="T22" fmla="*/ 115778 w 257"/>
                <a:gd name="T23" fmla="*/ 485 h 237"/>
                <a:gd name="T24" fmla="*/ 142720 w 257"/>
                <a:gd name="T25" fmla="*/ 506 h 237"/>
                <a:gd name="T26" fmla="*/ 172130 w 257"/>
                <a:gd name="T27" fmla="*/ 518 h 237"/>
                <a:gd name="T28" fmla="*/ 205753 w 257"/>
                <a:gd name="T29" fmla="*/ 527 h 237"/>
                <a:gd name="T30" fmla="*/ 240472 w 257"/>
                <a:gd name="T31" fmla="*/ 523 h 237"/>
                <a:gd name="T32" fmla="*/ 281120 w 257"/>
                <a:gd name="T33" fmla="*/ 515 h 237"/>
                <a:gd name="T34" fmla="*/ 245505 w 257"/>
                <a:gd name="T35" fmla="*/ 502 h 237"/>
                <a:gd name="T36" fmla="*/ 213003 w 257"/>
                <a:gd name="T37" fmla="*/ 486 h 237"/>
                <a:gd name="T38" fmla="*/ 186016 w 257"/>
                <a:gd name="T39" fmla="*/ 469 h 237"/>
                <a:gd name="T40" fmla="*/ 161904 w 257"/>
                <a:gd name="T41" fmla="*/ 453 h 237"/>
                <a:gd name="T42" fmla="*/ 139920 w 257"/>
                <a:gd name="T43" fmla="*/ 429 h 237"/>
                <a:gd name="T44" fmla="*/ 122586 w 257"/>
                <a:gd name="T45" fmla="*/ 403 h 237"/>
                <a:gd name="T46" fmla="*/ 106593 w 257"/>
                <a:gd name="T47" fmla="*/ 375 h 237"/>
                <a:gd name="T48" fmla="*/ 91583 w 257"/>
                <a:gd name="T49" fmla="*/ 345 h 237"/>
                <a:gd name="T50" fmla="*/ 78096 w 257"/>
                <a:gd name="T51" fmla="*/ 313 h 237"/>
                <a:gd name="T52" fmla="*/ 67088 w 257"/>
                <a:gd name="T53" fmla="*/ 275 h 237"/>
                <a:gd name="T54" fmla="*/ 57650 w 257"/>
                <a:gd name="T55" fmla="*/ 239 h 237"/>
                <a:gd name="T56" fmla="*/ 47315 w 257"/>
                <a:gd name="T57" fmla="*/ 194 h 237"/>
                <a:gd name="T58" fmla="*/ 36068 w 257"/>
                <a:gd name="T59" fmla="*/ 152 h 237"/>
                <a:gd name="T60" fmla="*/ 25329 w 257"/>
                <a:gd name="T61" fmla="*/ 105 h 237"/>
                <a:gd name="T62" fmla="*/ 12794 w 257"/>
                <a:gd name="T63" fmla="*/ 51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1" name="Freeform 39"/>
            <p:cNvSpPr/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98199 w 124"/>
                <a:gd name="T1" fmla="*/ 0 h 110"/>
                <a:gd name="T2" fmla="*/ 156989 w 124"/>
                <a:gd name="T3" fmla="*/ 313 h 110"/>
                <a:gd name="T4" fmla="*/ 152559 w 124"/>
                <a:gd name="T5" fmla="*/ 312 h 110"/>
                <a:gd name="T6" fmla="*/ 135526 w 124"/>
                <a:gd name="T7" fmla="*/ 306 h 110"/>
                <a:gd name="T8" fmla="*/ 113277 w 124"/>
                <a:gd name="T9" fmla="*/ 296 h 110"/>
                <a:gd name="T10" fmla="*/ 86553 w 124"/>
                <a:gd name="T11" fmla="*/ 290 h 110"/>
                <a:gd name="T12" fmla="*/ 56960 w 124"/>
                <a:gd name="T13" fmla="*/ 283 h 110"/>
                <a:gd name="T14" fmla="*/ 32335 w 124"/>
                <a:gd name="T15" fmla="*/ 285 h 110"/>
                <a:gd name="T16" fmla="*/ 11511 w 124"/>
                <a:gd name="T17" fmla="*/ 298 h 110"/>
                <a:gd name="T18" fmla="*/ 0 w 124"/>
                <a:gd name="T19" fmla="*/ 320 h 110"/>
                <a:gd name="T20" fmla="*/ 4712 w 124"/>
                <a:gd name="T21" fmla="*/ 285 h 110"/>
                <a:gd name="T22" fmla="*/ 10353 w 124"/>
                <a:gd name="T23" fmla="*/ 259 h 110"/>
                <a:gd name="T24" fmla="*/ 20879 w 124"/>
                <a:gd name="T25" fmla="*/ 239 h 110"/>
                <a:gd name="T26" fmla="*/ 32335 w 124"/>
                <a:gd name="T27" fmla="*/ 221 h 110"/>
                <a:gd name="T28" fmla="*/ 45871 w 124"/>
                <a:gd name="T29" fmla="*/ 209 h 110"/>
                <a:gd name="T30" fmla="*/ 59230 w 124"/>
                <a:gd name="T31" fmla="*/ 208 h 110"/>
                <a:gd name="T32" fmla="*/ 74273 w 124"/>
                <a:gd name="T33" fmla="*/ 208 h 110"/>
                <a:gd name="T34" fmla="*/ 91292 w 124"/>
                <a:gd name="T35" fmla="*/ 217 h 110"/>
                <a:gd name="T36" fmla="*/ 92507 w 124"/>
                <a:gd name="T37" fmla="*/ 208 h 110"/>
                <a:gd name="T38" fmla="*/ 88824 w 124"/>
                <a:gd name="T39" fmla="*/ 166 h 110"/>
                <a:gd name="T40" fmla="*/ 84735 w 124"/>
                <a:gd name="T41" fmla="*/ 111 h 110"/>
                <a:gd name="T42" fmla="*/ 83201 w 124"/>
                <a:gd name="T43" fmla="*/ 87 h 110"/>
                <a:gd name="T44" fmla="*/ 79769 w 124"/>
                <a:gd name="T45" fmla="*/ 87 h 110"/>
                <a:gd name="T46" fmla="*/ 76712 w 124"/>
                <a:gd name="T47" fmla="*/ 83 h 110"/>
                <a:gd name="T48" fmla="*/ 74273 w 124"/>
                <a:gd name="T49" fmla="*/ 73 h 110"/>
                <a:gd name="T50" fmla="*/ 72914 w 124"/>
                <a:gd name="T51" fmla="*/ 64 h 110"/>
                <a:gd name="T52" fmla="*/ 72914 w 124"/>
                <a:gd name="T53" fmla="*/ 53 h 110"/>
                <a:gd name="T54" fmla="*/ 74273 w 124"/>
                <a:gd name="T55" fmla="*/ 43 h 110"/>
                <a:gd name="T56" fmla="*/ 84110 w 124"/>
                <a:gd name="T57" fmla="*/ 8 h 110"/>
                <a:gd name="T58" fmla="*/ 98199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2" name="Freeform 40"/>
            <p:cNvSpPr/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6440 w 109"/>
                <a:gd name="T3" fmla="*/ 1 h 156"/>
                <a:gd name="T4" fmla="*/ 22954 w 109"/>
                <a:gd name="T5" fmla="*/ 5 h 156"/>
                <a:gd name="T6" fmla="*/ 48053 w 109"/>
                <a:gd name="T7" fmla="*/ 12 h 156"/>
                <a:gd name="T8" fmla="*/ 75930 w 109"/>
                <a:gd name="T9" fmla="*/ 48 h 156"/>
                <a:gd name="T10" fmla="*/ 102401 w 109"/>
                <a:gd name="T11" fmla="*/ 77 h 156"/>
                <a:gd name="T12" fmla="*/ 125638 w 109"/>
                <a:gd name="T13" fmla="*/ 129 h 156"/>
                <a:gd name="T14" fmla="*/ 139806 w 109"/>
                <a:gd name="T15" fmla="*/ 198 h 156"/>
                <a:gd name="T16" fmla="*/ 142586 w 109"/>
                <a:gd name="T17" fmla="*/ 286 h 156"/>
                <a:gd name="T18" fmla="*/ 138100 w 109"/>
                <a:gd name="T19" fmla="*/ 286 h 156"/>
                <a:gd name="T20" fmla="*/ 130505 w 109"/>
                <a:gd name="T21" fmla="*/ 286 h 156"/>
                <a:gd name="T22" fmla="*/ 121662 w 109"/>
                <a:gd name="T23" fmla="*/ 286 h 156"/>
                <a:gd name="T24" fmla="*/ 113663 w 109"/>
                <a:gd name="T25" fmla="*/ 282 h 156"/>
                <a:gd name="T26" fmla="*/ 105727 w 109"/>
                <a:gd name="T27" fmla="*/ 280 h 156"/>
                <a:gd name="T28" fmla="*/ 96869 w 109"/>
                <a:gd name="T29" fmla="*/ 275 h 156"/>
                <a:gd name="T30" fmla="*/ 86259 w 109"/>
                <a:gd name="T31" fmla="*/ 266 h 156"/>
                <a:gd name="T32" fmla="*/ 75930 w 109"/>
                <a:gd name="T33" fmla="*/ 255 h 156"/>
                <a:gd name="T34" fmla="*/ 69078 w 109"/>
                <a:gd name="T35" fmla="*/ 230 h 156"/>
                <a:gd name="T36" fmla="*/ 69078 w 109"/>
                <a:gd name="T37" fmla="*/ 203 h 156"/>
                <a:gd name="T38" fmla="*/ 73825 w 109"/>
                <a:gd name="T39" fmla="*/ 177 h 156"/>
                <a:gd name="T40" fmla="*/ 78197 w 109"/>
                <a:gd name="T41" fmla="*/ 145 h 156"/>
                <a:gd name="T42" fmla="*/ 73825 w 109"/>
                <a:gd name="T43" fmla="*/ 116 h 156"/>
                <a:gd name="T44" fmla="*/ 63315 w 109"/>
                <a:gd name="T45" fmla="*/ 75 h 156"/>
                <a:gd name="T46" fmla="*/ 41200 w 109"/>
                <a:gd name="T47" fmla="*/ 47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3" name="Freeform 41"/>
            <p:cNvSpPr/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40796 w 46"/>
                <a:gd name="T1" fmla="*/ 0 h 94"/>
                <a:gd name="T2" fmla="*/ 25865 w 46"/>
                <a:gd name="T3" fmla="*/ 77 h 94"/>
                <a:gd name="T4" fmla="*/ 19190 w 46"/>
                <a:gd name="T5" fmla="*/ 130 h 94"/>
                <a:gd name="T6" fmla="*/ 14238 w 46"/>
                <a:gd name="T7" fmla="*/ 169 h 94"/>
                <a:gd name="T8" fmla="*/ 0 w 46"/>
                <a:gd name="T9" fmla="*/ 198 h 94"/>
                <a:gd name="T10" fmla="*/ 15628 w 46"/>
                <a:gd name="T11" fmla="*/ 186 h 94"/>
                <a:gd name="T12" fmla="*/ 30268 w 46"/>
                <a:gd name="T13" fmla="*/ 172 h 94"/>
                <a:gd name="T14" fmla="*/ 40995 w 46"/>
                <a:gd name="T15" fmla="*/ 144 h 94"/>
                <a:gd name="T16" fmla="*/ 51576 w 46"/>
                <a:gd name="T17" fmla="*/ 120 h 94"/>
                <a:gd name="T18" fmla="*/ 58710 w 46"/>
                <a:gd name="T19" fmla="*/ 94 h 94"/>
                <a:gd name="T20" fmla="*/ 59430 w 46"/>
                <a:gd name="T21" fmla="*/ 61 h 94"/>
                <a:gd name="T22" fmla="*/ 54986 w 46"/>
                <a:gd name="T23" fmla="*/ 15 h 94"/>
                <a:gd name="T24" fmla="*/ 40796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4" name="Freeform 42"/>
            <p:cNvSpPr/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343 w 54"/>
                <a:gd name="T5" fmla="*/ 3 h 40"/>
                <a:gd name="T6" fmla="*/ 12857 w 54"/>
                <a:gd name="T7" fmla="*/ 8 h 40"/>
                <a:gd name="T8" fmla="*/ 20671 w 54"/>
                <a:gd name="T9" fmla="*/ 12 h 40"/>
                <a:gd name="T10" fmla="*/ 29129 w 54"/>
                <a:gd name="T11" fmla="*/ 15 h 40"/>
                <a:gd name="T12" fmla="*/ 38231 w 54"/>
                <a:gd name="T13" fmla="*/ 17 h 40"/>
                <a:gd name="T14" fmla="*/ 45439 w 54"/>
                <a:gd name="T15" fmla="*/ 18 h 40"/>
                <a:gd name="T16" fmla="*/ 53903 w 54"/>
                <a:gd name="T17" fmla="*/ 16 h 40"/>
                <a:gd name="T18" fmla="*/ 53212 w 54"/>
                <a:gd name="T19" fmla="*/ 49 h 40"/>
                <a:gd name="T20" fmla="*/ 50225 w 54"/>
                <a:gd name="T21" fmla="*/ 57 h 40"/>
                <a:gd name="T22" fmla="*/ 44231 w 54"/>
                <a:gd name="T23" fmla="*/ 63 h 40"/>
                <a:gd name="T24" fmla="*/ 36748 w 54"/>
                <a:gd name="T25" fmla="*/ 67 h 40"/>
                <a:gd name="T26" fmla="*/ 27561 w 54"/>
                <a:gd name="T27" fmla="*/ 65 h 40"/>
                <a:gd name="T28" fmla="*/ 18660 w 54"/>
                <a:gd name="T29" fmla="*/ 56 h 40"/>
                <a:gd name="T30" fmla="*/ 9643 w 54"/>
                <a:gd name="T31" fmla="*/ 44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5" name="Freeform 43"/>
            <p:cNvSpPr/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6" name="Freeform 44"/>
            <p:cNvSpPr/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21433 w 596"/>
                <a:gd name="T1" fmla="*/ 750 h 666"/>
                <a:gd name="T2" fmla="*/ 7943 w 596"/>
                <a:gd name="T3" fmla="*/ 695 h 666"/>
                <a:gd name="T4" fmla="*/ 0 w 596"/>
                <a:gd name="T5" fmla="*/ 588 h 666"/>
                <a:gd name="T6" fmla="*/ 4798 w 596"/>
                <a:gd name="T7" fmla="*/ 452 h 666"/>
                <a:gd name="T8" fmla="*/ 33398 w 596"/>
                <a:gd name="T9" fmla="*/ 308 h 666"/>
                <a:gd name="T10" fmla="*/ 90727 w 596"/>
                <a:gd name="T11" fmla="*/ 173 h 666"/>
                <a:gd name="T12" fmla="*/ 187514 w 596"/>
                <a:gd name="T13" fmla="*/ 60 h 666"/>
                <a:gd name="T14" fmla="*/ 325395 w 596"/>
                <a:gd name="T15" fmla="*/ 2 h 666"/>
                <a:gd name="T16" fmla="*/ 501786 w 596"/>
                <a:gd name="T17" fmla="*/ 9 h 666"/>
                <a:gd name="T18" fmla="*/ 638353 w 596"/>
                <a:gd name="T19" fmla="*/ 137 h 666"/>
                <a:gd name="T20" fmla="*/ 730659 w 596"/>
                <a:gd name="T21" fmla="*/ 334 h 666"/>
                <a:gd name="T22" fmla="*/ 779133 w 596"/>
                <a:gd name="T23" fmla="*/ 580 h 666"/>
                <a:gd name="T24" fmla="*/ 785134 w 596"/>
                <a:gd name="T25" fmla="*/ 834 h 666"/>
                <a:gd name="T26" fmla="*/ 747121 w 596"/>
                <a:gd name="T27" fmla="*/ 1067 h 666"/>
                <a:gd name="T28" fmla="*/ 668531 w 596"/>
                <a:gd name="T29" fmla="*/ 1249 h 666"/>
                <a:gd name="T30" fmla="*/ 550006 w 596"/>
                <a:gd name="T31" fmla="*/ 1349 h 666"/>
                <a:gd name="T32" fmla="*/ 513220 w 596"/>
                <a:gd name="T33" fmla="*/ 1342 h 666"/>
                <a:gd name="T34" fmla="*/ 582015 w 596"/>
                <a:gd name="T35" fmla="*/ 1260 h 666"/>
                <a:gd name="T36" fmla="*/ 635516 w 596"/>
                <a:gd name="T37" fmla="*/ 1104 h 666"/>
                <a:gd name="T38" fmla="*/ 672317 w 596"/>
                <a:gd name="T39" fmla="*/ 923 h 666"/>
                <a:gd name="T40" fmla="*/ 685383 w 596"/>
                <a:gd name="T41" fmla="*/ 723 h 666"/>
                <a:gd name="T42" fmla="*/ 677477 w 596"/>
                <a:gd name="T43" fmla="*/ 524 h 666"/>
                <a:gd name="T44" fmla="*/ 639199 w 596"/>
                <a:gd name="T45" fmla="*/ 353 h 666"/>
                <a:gd name="T46" fmla="*/ 571010 w 596"/>
                <a:gd name="T47" fmla="*/ 228 h 666"/>
                <a:gd name="T48" fmla="*/ 450067 w 596"/>
                <a:gd name="T49" fmla="*/ 150 h 666"/>
                <a:gd name="T50" fmla="*/ 324600 w 596"/>
                <a:gd name="T51" fmla="*/ 122 h 666"/>
                <a:gd name="T52" fmla="*/ 229709 w 596"/>
                <a:gd name="T53" fmla="*/ 142 h 666"/>
                <a:gd name="T54" fmla="*/ 159852 w 596"/>
                <a:gd name="T55" fmla="*/ 204 h 666"/>
                <a:gd name="T56" fmla="*/ 110603 w 596"/>
                <a:gd name="T57" fmla="*/ 303 h 666"/>
                <a:gd name="T58" fmla="*/ 75268 w 596"/>
                <a:gd name="T59" fmla="*/ 420 h 666"/>
                <a:gd name="T60" fmla="*/ 52615 w 596"/>
                <a:gd name="T61" fmla="*/ 552 h 666"/>
                <a:gd name="T62" fmla="*/ 36958 w 596"/>
                <a:gd name="T63" fmla="*/ 686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0397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0399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400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401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defRPr/>
            </a:pPr>
            <a:fld id="{7DFFCD63-DEA8-430F-B258-6A669F0F35F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1.e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21.e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20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8.emf"/><Relationship Id="rId19" Type="http://schemas.openxmlformats.org/officeDocument/2006/relationships/notesSlide" Target="../notesSlides/notesSlide24.xml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5.e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24.e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22.emf"/><Relationship Id="rId1" Type="http://schemas.openxmlformats.org/officeDocument/2006/relationships/oleObject" Target="../embeddings/oleObject6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4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1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6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0.bin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21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42.wmf"/><Relationship Id="rId11" Type="http://schemas.openxmlformats.org/officeDocument/2006/relationships/notesSlide" Target="../notesSlides/notesSlide37.xml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23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7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oleObject" Target="../embeddings/oleObject30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50.png"/><Relationship Id="rId13" Type="http://schemas.openxmlformats.org/officeDocument/2006/relationships/notesSlide" Target="../notesSlides/notesSlide47.xml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31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5.emf"/><Relationship Id="rId1" Type="http://schemas.openxmlformats.org/officeDocument/2006/relationships/oleObject" Target="../embeddings/oleObject36.bin"/></Relationships>
</file>

<file path=ppt/slides/_rels/slide7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0.xml"/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7.e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56.emf"/><Relationship Id="rId1" Type="http://schemas.openxmlformats.org/officeDocument/2006/relationships/oleObject" Target="../embeddings/oleObject37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0.png"/><Relationship Id="rId2" Type="http://schemas.openxmlformats.org/officeDocument/2006/relationships/image" Target="../media/image59.wmf"/><Relationship Id="rId1" Type="http://schemas.openxmlformats.org/officeDocument/2006/relationships/oleObject" Target="../embeddings/oleObject39.bin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1.wmf"/><Relationship Id="rId1" Type="http://schemas.openxmlformats.org/officeDocument/2006/relationships/oleObject" Target="../embeddings/oleObject40.bin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4.xml"/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6.emf"/><Relationship Id="rId1" Type="http://schemas.openxmlformats.org/officeDocument/2006/relationships/oleObject" Target="../embeddings/oleObject41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0" y="1700213"/>
            <a:ext cx="9144000" cy="2089150"/>
          </a:xfrm>
          <a:prstGeom prst="rect">
            <a:avLst/>
          </a:prstGeom>
          <a:solidFill>
            <a:srgbClr val="1557AE"/>
          </a:solidFill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6000" b="0" kern="0" dirty="0">
                <a:solidFill>
                  <a:schemeClr val="bg1"/>
                </a:solidFill>
              </a:rPr>
              <a:t>数据挖掘    </a:t>
            </a:r>
            <a:br>
              <a:rPr lang="en-US" altLang="zh-CN" sz="6000" b="0" kern="0" dirty="0"/>
            </a:br>
            <a:r>
              <a:rPr lang="zh-CN" altLang="en-US" sz="6000" b="0" kern="0">
                <a:solidFill>
                  <a:schemeClr val="bg1"/>
                </a:solidFill>
              </a:rPr>
              <a:t>第三章</a:t>
            </a:r>
            <a:r>
              <a:rPr lang="zh-CN" altLang="en-US" sz="6000" b="0" kern="0" dirty="0">
                <a:solidFill>
                  <a:schemeClr val="bg1"/>
                </a:solidFill>
              </a:rPr>
              <a:t>：关联规则挖掘</a:t>
            </a:r>
            <a:endParaRPr lang="zh-CN" altLang="en-US" sz="6000" b="0" kern="0" dirty="0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duotone>
              <a:srgbClr val="4472C4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179512" y="-24773"/>
            <a:ext cx="3724832" cy="1308467"/>
          </a:xfrm>
          <a:prstGeom prst="rect">
            <a:avLst/>
          </a:prstGeom>
        </p:spPr>
      </p:pic>
      <p:sp>
        <p:nvSpPr>
          <p:cNvPr id="4" name="Rectangle 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4077072"/>
            <a:ext cx="9144000" cy="22047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375D8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</a:t>
            </a:r>
            <a:r>
              <a:rPr lang="en-US" altLang="zh-CN" sz="280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80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铭</a:t>
            </a:r>
            <a:endParaRPr lang="zh-CN" altLang="en-US" sz="28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endParaRPr lang="en-US" altLang="zh-CN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智能网络与网络安全教育部重点实验室</a:t>
            </a:r>
            <a:endParaRPr lang="en-US" altLang="zh-CN" sz="28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西安交通大学网络空间安全学院</a:t>
            </a:r>
            <a:endParaRPr lang="zh-CN" altLang="en-US" sz="2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 rot="5400000">
            <a:off x="0" y="0"/>
            <a:ext cx="1080000" cy="1080000"/>
          </a:xfrm>
          <a:prstGeom prst="rtTriangle">
            <a:avLst/>
          </a:prstGeom>
          <a:gradFill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064000" y="5793483"/>
            <a:ext cx="1080000" cy="1080000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608" name="组合 5"/>
          <p:cNvGrpSpPr/>
          <p:nvPr/>
        </p:nvGrpSpPr>
        <p:grpSpPr bwMode="auto">
          <a:xfrm>
            <a:off x="1192213" y="1557338"/>
            <a:ext cx="7331075" cy="665162"/>
            <a:chOff x="3507234" y="1752600"/>
            <a:chExt cx="7331828" cy="665163"/>
          </a:xfrm>
        </p:grpSpPr>
        <p:grpSp>
          <p:nvGrpSpPr>
            <p:cNvPr id="25648" name="Group 5"/>
            <p:cNvGrpSpPr/>
            <p:nvPr/>
          </p:nvGrpSpPr>
          <p:grpSpPr bwMode="auto">
            <a:xfrm>
              <a:off x="3507234" y="1752600"/>
              <a:ext cx="762000" cy="665163"/>
              <a:chOff x="0" y="0"/>
              <a:chExt cx="1549" cy="1351"/>
            </a:xfrm>
          </p:grpSpPr>
          <p:sp>
            <p:nvSpPr>
              <p:cNvPr id="25652" name="AutoShape 6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653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5654" name="AutoShape 8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55" name="AutoShape 8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5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9216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649" name="Line 13"/>
            <p:cNvSpPr>
              <a:spLocks noChangeShapeType="1"/>
            </p:cNvSpPr>
            <p:nvPr/>
          </p:nvSpPr>
          <p:spPr bwMode="auto">
            <a:xfrm flipV="1">
              <a:off x="4116834" y="2340974"/>
              <a:ext cx="4127574" cy="1805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Text Box 15"/>
            <p:cNvSpPr txBox="1">
              <a:spLocks noChangeArrowheads="1"/>
            </p:cNvSpPr>
            <p:nvPr/>
          </p:nvSpPr>
          <p:spPr bwMode="auto">
            <a:xfrm>
              <a:off x="3688569" y="1825625"/>
              <a:ext cx="3850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51" name="Text Box 17"/>
            <p:cNvSpPr txBox="1">
              <a:spLocks noChangeArrowheads="1"/>
            </p:cNvSpPr>
            <p:nvPr/>
          </p:nvSpPr>
          <p:spPr bwMode="auto">
            <a:xfrm>
              <a:off x="4390617" y="1772816"/>
              <a:ext cx="644844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panose="020B0503020204020204" charset="-122"/>
                  <a:ea typeface="微软雅黑" panose="020B0503020204020204" charset="-122"/>
                </a:rPr>
                <a:t>由事务数据库挖掘单维布尔关联规则</a:t>
              </a:r>
              <a:endParaRPr lang="zh-CN" altLang="en-US" sz="3000">
                <a:solidFill>
                  <a:srgbClr val="31589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609" name="组合 1"/>
          <p:cNvGrpSpPr/>
          <p:nvPr/>
        </p:nvGrpSpPr>
        <p:grpSpPr bwMode="auto">
          <a:xfrm>
            <a:off x="1200150" y="2446338"/>
            <a:ext cx="5019675" cy="665162"/>
            <a:chOff x="3507234" y="2813050"/>
            <a:chExt cx="5019038" cy="665163"/>
          </a:xfrm>
        </p:grpSpPr>
        <p:grpSp>
          <p:nvGrpSpPr>
            <p:cNvPr id="25639" name="Group 9"/>
            <p:cNvGrpSpPr/>
            <p:nvPr/>
          </p:nvGrpSpPr>
          <p:grpSpPr bwMode="auto">
            <a:xfrm>
              <a:off x="3507234" y="2813050"/>
              <a:ext cx="762000" cy="665163"/>
              <a:chOff x="0" y="0"/>
              <a:chExt cx="1549" cy="1351"/>
            </a:xfrm>
          </p:grpSpPr>
          <p:sp>
            <p:nvSpPr>
              <p:cNvPr id="25643" name="AutoShape 10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644" name="AutoShap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5645" name="AutoShape 12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46" name="AutoShape 12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4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8962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640" name="Line 16"/>
            <p:cNvSpPr>
              <a:spLocks noChangeShapeType="1"/>
            </p:cNvSpPr>
            <p:nvPr/>
          </p:nvSpPr>
          <p:spPr bwMode="auto">
            <a:xfrm flipV="1">
              <a:off x="4116834" y="3411429"/>
              <a:ext cx="4127574" cy="1122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Text Box 18"/>
            <p:cNvSpPr txBox="1">
              <a:spLocks noChangeArrowheads="1"/>
            </p:cNvSpPr>
            <p:nvPr/>
          </p:nvSpPr>
          <p:spPr bwMode="auto">
            <a:xfrm>
              <a:off x="3687768" y="2911475"/>
              <a:ext cx="3866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42" name="Text Box 24"/>
            <p:cNvSpPr txBox="1">
              <a:spLocks noChangeArrowheads="1"/>
            </p:cNvSpPr>
            <p:nvPr/>
          </p:nvSpPr>
          <p:spPr bwMode="auto">
            <a:xfrm>
              <a:off x="4423107" y="2846107"/>
              <a:ext cx="410316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panose="020B0503020204020204" charset="-122"/>
                  <a:ea typeface="微软雅黑" panose="020B0503020204020204" charset="-122"/>
                </a:rPr>
                <a:t>多层关联规则挖掘</a:t>
              </a:r>
              <a:endParaRPr lang="zh-CN" altLang="en-US" sz="3000">
                <a:solidFill>
                  <a:srgbClr val="31589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610" name="Group 19"/>
          <p:cNvGrpSpPr/>
          <p:nvPr/>
        </p:nvGrpSpPr>
        <p:grpSpPr bwMode="auto">
          <a:xfrm>
            <a:off x="1200150" y="3302000"/>
            <a:ext cx="762000" cy="665163"/>
            <a:chOff x="0" y="0"/>
            <a:chExt cx="1549" cy="1351"/>
          </a:xfrm>
        </p:grpSpPr>
        <p:sp>
          <p:nvSpPr>
            <p:cNvPr id="25634" name="AutoShape 20"/>
            <p:cNvSpPr>
              <a:spLocks noChangeArrowheads="1"/>
            </p:cNvSpPr>
            <p:nvPr/>
          </p:nvSpPr>
          <p:spPr bwMode="auto">
            <a:xfrm>
              <a:off x="13" y="23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35" name="AutoShape 21"/>
            <p:cNvSpPr>
              <a:spLocks noChangeArrowheads="1"/>
            </p:cNvSpPr>
            <p:nvPr/>
          </p:nvSpPr>
          <p:spPr bwMode="auto">
            <a:xfrm>
              <a:off x="0" y="0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189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5636" name="AutoShape 22"/>
            <p:cNvGrpSpPr/>
            <p:nvPr/>
          </p:nvGrpSpPr>
          <p:grpSpPr bwMode="auto">
            <a:xfrm>
              <a:off x="68" y="53"/>
              <a:ext cx="1400" cy="1213"/>
              <a:chOff x="0" y="0"/>
              <a:chExt cx="688848" cy="597408"/>
            </a:xfrm>
          </p:grpSpPr>
          <p:pic>
            <p:nvPicPr>
              <p:cNvPr id="25637" name="AutoShape 22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8848" cy="597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8" name="Text Box 24"/>
              <p:cNvSpPr txBox="1">
                <a:spLocks noChangeArrowheads="1"/>
              </p:cNvSpPr>
              <p:nvPr/>
            </p:nvSpPr>
            <p:spPr bwMode="auto">
              <a:xfrm>
                <a:off x="121410" y="109470"/>
                <a:ext cx="442286" cy="382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5611" name="Text Box 25"/>
          <p:cNvSpPr txBox="1">
            <a:spLocks noChangeArrowheads="1"/>
          </p:cNvSpPr>
          <p:nvPr/>
        </p:nvSpPr>
        <p:spPr bwMode="auto">
          <a:xfrm>
            <a:off x="1379538" y="3402013"/>
            <a:ext cx="390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2" name="Text Box 24"/>
          <p:cNvSpPr txBox="1">
            <a:spLocks noChangeArrowheads="1"/>
          </p:cNvSpPr>
          <p:nvPr/>
        </p:nvSpPr>
        <p:spPr bwMode="auto">
          <a:xfrm>
            <a:off x="2103438" y="3371850"/>
            <a:ext cx="37639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rgbClr val="31589C"/>
                </a:solidFill>
                <a:latin typeface="微软雅黑" panose="020B0503020204020204" charset="-122"/>
                <a:ea typeface="微软雅黑" panose="020B0503020204020204" charset="-122"/>
              </a:rPr>
              <a:t>多维关联规则挖掘</a:t>
            </a:r>
            <a:endParaRPr lang="zh-CN" altLang="en-US" sz="3000">
              <a:solidFill>
                <a:srgbClr val="3158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613" name="Group 19"/>
          <p:cNvGrpSpPr/>
          <p:nvPr/>
        </p:nvGrpSpPr>
        <p:grpSpPr bwMode="auto">
          <a:xfrm>
            <a:off x="1206500" y="4211638"/>
            <a:ext cx="762000" cy="665162"/>
            <a:chOff x="0" y="0"/>
            <a:chExt cx="1549" cy="1351"/>
          </a:xfrm>
        </p:grpSpPr>
        <p:sp>
          <p:nvSpPr>
            <p:cNvPr id="25629" name="AutoShape 20"/>
            <p:cNvSpPr>
              <a:spLocks noChangeArrowheads="1"/>
            </p:cNvSpPr>
            <p:nvPr/>
          </p:nvSpPr>
          <p:spPr bwMode="auto">
            <a:xfrm>
              <a:off x="13" y="23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30" name="AutoShape 21"/>
            <p:cNvSpPr>
              <a:spLocks noChangeArrowheads="1"/>
            </p:cNvSpPr>
            <p:nvPr/>
          </p:nvSpPr>
          <p:spPr bwMode="auto">
            <a:xfrm>
              <a:off x="0" y="0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18900000" scaled="1"/>
            </a:gradFill>
            <a:ln w="9525">
              <a:solidFill>
                <a:srgbClr val="C0C0C0"/>
              </a:solidFill>
              <a:miter lim="800000"/>
            </a:ln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5631" name="AutoShape 22"/>
            <p:cNvGrpSpPr/>
            <p:nvPr/>
          </p:nvGrpSpPr>
          <p:grpSpPr bwMode="auto">
            <a:xfrm>
              <a:off x="68" y="53"/>
              <a:ext cx="1400" cy="1213"/>
              <a:chOff x="0" y="0"/>
              <a:chExt cx="688848" cy="597408"/>
            </a:xfrm>
          </p:grpSpPr>
          <p:pic>
            <p:nvPicPr>
              <p:cNvPr id="25632" name="AutoShape 22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8848" cy="597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3" name="Text Box 24"/>
              <p:cNvSpPr txBox="1">
                <a:spLocks noChangeArrowheads="1"/>
              </p:cNvSpPr>
              <p:nvPr/>
            </p:nvSpPr>
            <p:spPr bwMode="auto">
              <a:xfrm>
                <a:off x="121410" y="109470"/>
                <a:ext cx="442286" cy="382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5614" name="Text Box 25"/>
          <p:cNvSpPr txBox="1">
            <a:spLocks noChangeArrowheads="1"/>
          </p:cNvSpPr>
          <p:nvPr/>
        </p:nvSpPr>
        <p:spPr bwMode="auto">
          <a:xfrm>
            <a:off x="1384300" y="431006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zh-CN" sz="2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5" name="Text Box 24"/>
          <p:cNvSpPr txBox="1">
            <a:spLocks noChangeArrowheads="1"/>
          </p:cNvSpPr>
          <p:nvPr/>
        </p:nvSpPr>
        <p:spPr bwMode="auto">
          <a:xfrm>
            <a:off x="2117725" y="4241800"/>
            <a:ext cx="63341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rgbClr val="31589C"/>
                </a:solidFill>
                <a:latin typeface="微软雅黑" panose="020B0503020204020204" charset="-122"/>
                <a:ea typeface="微软雅黑" panose="020B0503020204020204" charset="-122"/>
              </a:rPr>
              <a:t>关联规则、相关性、因果关系的区别</a:t>
            </a:r>
            <a:endParaRPr lang="zh-CN" altLang="en-US" sz="3000">
              <a:solidFill>
                <a:srgbClr val="3158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V="1">
            <a:off x="1876425" y="3908425"/>
            <a:ext cx="4103688" cy="28575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6"/>
          <p:cNvSpPr>
            <a:spLocks noChangeShapeType="1"/>
          </p:cNvSpPr>
          <p:nvPr/>
        </p:nvSpPr>
        <p:spPr bwMode="auto">
          <a:xfrm flipV="1">
            <a:off x="1812925" y="4845050"/>
            <a:ext cx="4127500" cy="11113"/>
          </a:xfrm>
          <a:prstGeom prst="line">
            <a:avLst/>
          </a:prstGeom>
          <a:noFill/>
          <a:ln w="25400">
            <a:solidFill>
              <a:srgbClr val="969696"/>
            </a:solidFill>
            <a:prstDash val="sysDot"/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618" name="组合 46"/>
          <p:cNvGrpSpPr/>
          <p:nvPr/>
        </p:nvGrpSpPr>
        <p:grpSpPr bwMode="auto">
          <a:xfrm>
            <a:off x="1187450" y="676275"/>
            <a:ext cx="5313363" cy="665163"/>
            <a:chOff x="3507234" y="1752600"/>
            <a:chExt cx="5313323" cy="665163"/>
          </a:xfrm>
        </p:grpSpPr>
        <p:grpSp>
          <p:nvGrpSpPr>
            <p:cNvPr id="25620" name="Group 5"/>
            <p:cNvGrpSpPr/>
            <p:nvPr/>
          </p:nvGrpSpPr>
          <p:grpSpPr bwMode="auto">
            <a:xfrm>
              <a:off x="3507234" y="1752600"/>
              <a:ext cx="762000" cy="665163"/>
              <a:chOff x="0" y="0"/>
              <a:chExt cx="1549" cy="1351"/>
            </a:xfrm>
          </p:grpSpPr>
          <p:sp>
            <p:nvSpPr>
              <p:cNvPr id="25624" name="AutoShape 6"/>
              <p:cNvSpPr>
                <a:spLocks noChangeArrowheads="1"/>
              </p:cNvSpPr>
              <p:nvPr/>
            </p:nvSpPr>
            <p:spPr bwMode="auto">
              <a:xfrm>
                <a:off x="13" y="23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625" name="AutoShap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18900000" scaled="1"/>
              </a:gradFill>
              <a:ln w="9525">
                <a:solidFill>
                  <a:srgbClr val="C0C0C0"/>
                </a:solidFill>
                <a:miter lim="800000"/>
              </a:ln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5626" name="AutoShape 8"/>
              <p:cNvGrpSpPr/>
              <p:nvPr/>
            </p:nvGrpSpPr>
            <p:grpSpPr bwMode="auto">
              <a:xfrm>
                <a:off x="68" y="54"/>
                <a:ext cx="1400" cy="1213"/>
                <a:chOff x="0" y="0"/>
                <a:chExt cx="688848" cy="597408"/>
              </a:xfrm>
            </p:grpSpPr>
            <p:pic>
              <p:nvPicPr>
                <p:cNvPr id="25627" name="AutoShape 8"/>
                <p:cNvPicPr>
                  <a:picLocks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688848" cy="5974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2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21410" y="109216"/>
                  <a:ext cx="442286" cy="3829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buFont typeface="Arial" panose="020B0604020202020204" pitchFamily="34" charset="0"/>
                    <a:buNone/>
                  </a:pPr>
                  <a:endParaRPr lang="zh-CN" altLang="en-US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621" name="Line 13"/>
            <p:cNvSpPr>
              <a:spLocks noChangeShapeType="1"/>
            </p:cNvSpPr>
            <p:nvPr/>
          </p:nvSpPr>
          <p:spPr bwMode="auto">
            <a:xfrm flipV="1">
              <a:off x="4116834" y="2340974"/>
              <a:ext cx="4127574" cy="1805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Text Box 15"/>
            <p:cNvSpPr txBox="1">
              <a:spLocks noChangeArrowheads="1"/>
            </p:cNvSpPr>
            <p:nvPr/>
          </p:nvSpPr>
          <p:spPr bwMode="auto">
            <a:xfrm>
              <a:off x="3694180" y="1825625"/>
              <a:ext cx="373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2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23" name="Text Box 17"/>
            <p:cNvSpPr txBox="1">
              <a:spLocks noChangeArrowheads="1"/>
            </p:cNvSpPr>
            <p:nvPr/>
          </p:nvSpPr>
          <p:spPr bwMode="auto">
            <a:xfrm>
              <a:off x="4390617" y="1772816"/>
              <a:ext cx="442994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3000">
                  <a:solidFill>
                    <a:srgbClr val="31589C"/>
                  </a:solidFill>
                  <a:latin typeface="微软雅黑" panose="020B0503020204020204" charset="-122"/>
                  <a:ea typeface="微软雅黑" panose="020B0503020204020204" charset="-122"/>
                </a:rPr>
                <a:t>关联规则挖掘的基本概念</a:t>
              </a:r>
              <a:endParaRPr lang="zh-CN" altLang="en-US" sz="3000">
                <a:solidFill>
                  <a:srgbClr val="31589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5619" name="圆角矩形 1"/>
          <p:cNvSpPr>
            <a:spLocks noChangeArrowheads="1"/>
          </p:cNvSpPr>
          <p:nvPr/>
        </p:nvSpPr>
        <p:spPr bwMode="auto">
          <a:xfrm>
            <a:off x="323528" y="5280446"/>
            <a:ext cx="8496943" cy="1179932"/>
          </a:xfrm>
          <a:prstGeom prst="roundRect">
            <a:avLst>
              <a:gd name="adj" fmla="val 3553"/>
            </a:avLst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tailEnd type="triangle" w="lg" len="lg"/>
              </a14:hiddenLine>
            </a:ext>
          </a:extLst>
        </p:spPr>
        <p:txBody>
          <a:bodyPr tIns="72000" bIns="108000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rgbClr val="CC0000"/>
              </a:buClr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基本要求</a:t>
            </a:r>
            <a:r>
              <a:rPr lang="zh-CN" altLang="en-US" sz="28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掌握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关联规则、多层关联规则、多维关联规则</a:t>
            </a:r>
            <a:r>
              <a:rPr lang="zh-CN" alt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的基本概念，掌握各种关联规则挖掘的算法</a:t>
            </a:r>
            <a:endParaRPr lang="zh-CN" altLang="zh-CN" sz="2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Tm="225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276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1038" y="1916113"/>
            <a:ext cx="7781925" cy="3025775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3.1  </a:t>
            </a:r>
            <a:r>
              <a:rPr lang="zh-CN" altLang="zh-CN" sz="2800" b="0">
                <a:solidFill>
                  <a:srgbClr val="FF0000"/>
                </a:solidFill>
                <a:cs typeface="微软雅黑" panose="020B0503020204020204" charset="-122"/>
              </a:rPr>
              <a:t>关联规则挖掘的基本概念</a:t>
            </a:r>
            <a:endParaRPr lang="zh-CN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多层关联规则挖掘</a:t>
            </a:r>
            <a:endParaRPr lang="en-US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en-US" sz="3600">
                <a:solidFill>
                  <a:srgbClr val="1557AE"/>
                </a:solidFill>
                <a:cs typeface="微软雅黑" panose="020B0503020204020204" charset="-122"/>
              </a:rPr>
              <a:t>基本概念</a:t>
            </a:r>
            <a:endParaRPr lang="zh-CN" altLang="en-US" sz="360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296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568952" cy="3024187"/>
          </a:xfrm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关联规则挖掘：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从事务数据库中发现项集之间有趣的关联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.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应用：</a:t>
            </a:r>
            <a:r>
              <a:rPr lang="zh-CN" altLang="en-US" sz="2800" b="0" dirty="0">
                <a:solidFill>
                  <a:srgbClr val="C00000"/>
                </a:solidFill>
                <a:cs typeface="微软雅黑" panose="020B0503020204020204" charset="-122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购物篮分析（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Basket data analysis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）、交叉营销（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cross-marketing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）、产品目录设计（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catalog design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）等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例子：</a:t>
            </a: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 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规则形式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: 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“Body →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 Head [support, confidence]”.</a:t>
            </a:r>
            <a:endParaRPr lang="en-US" altLang="zh-CN" sz="20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buys(x, “diapers”) →  buys(x, “beers”) [0.5%, 60%]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98525" lvl="1" indent="-441325" eaLnBrk="1" hangingPunct="1">
              <a:lnSpc>
                <a:spcPct val="15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major(x, “CS”) ^ takes(x, “DB”) →  grade(x, “A”) [1%, 75%]</a:t>
            </a:r>
            <a:endParaRPr lang="zh-CN" altLang="en-US" sz="24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1124744"/>
            <a:ext cx="8353425" cy="4104456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布尔型与数值型关联规则</a:t>
            </a:r>
            <a:r>
              <a:rPr lang="en-US" altLang="zh-CN" sz="2400" b="0" dirty="0">
                <a:solidFill>
                  <a:srgbClr val="FF0000"/>
                </a:solidFill>
                <a:cs typeface="微软雅黑" panose="020B0503020204020204" charset="-122"/>
              </a:rPr>
              <a:t> 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(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基于要处理的数据类型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)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panose="020B0503020204020204" charset="-122"/>
              </a:rPr>
              <a:t>SQLServer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”) ^ 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panose="020B0503020204020204" charset="-122"/>
              </a:rPr>
              <a:t>DMBook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”) → buys(x, “</a:t>
            </a:r>
            <a:r>
              <a:rPr lang="en-US" altLang="zh-CN" sz="2000" b="0" dirty="0" err="1">
                <a:solidFill>
                  <a:srgbClr val="1557AE"/>
                </a:solidFill>
                <a:cs typeface="微软雅黑" panose="020B0503020204020204" charset="-122"/>
              </a:rPr>
              <a:t>DBMiner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”) [0.2%, 60%]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age(x, “30..39”) ^ income(x, “42..48K”) → buys(x, “PC”) [1%, 75%]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单维与多维关联规则</a:t>
            </a:r>
            <a:endParaRPr lang="en-US" altLang="zh-CN" sz="24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单层与多层关联规则</a:t>
            </a:r>
            <a:endParaRPr lang="en-US" altLang="zh-CN" sz="24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What brands of beers are associated with what brands of diapers?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en-US" sz="3600">
                <a:solidFill>
                  <a:srgbClr val="1557AE"/>
                </a:solidFill>
                <a:cs typeface="微软雅黑" panose="020B0503020204020204" charset="-122"/>
              </a:rPr>
              <a:t>基本概念</a:t>
            </a:r>
            <a:endParaRPr lang="zh-CN" altLang="en-US" sz="3600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3528" y="1117600"/>
            <a:ext cx="7993063" cy="720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</a:rPr>
              <a:t>规则度量：支持度和置信度</a:t>
            </a:r>
            <a:endParaRPr lang="zh-CN" altLang="en-US" sz="2800" b="0" dirty="0">
              <a:solidFill>
                <a:srgbClr val="FF0000"/>
              </a:solidFill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533400" y="4868863"/>
          <a:ext cx="352107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name="工作表" r:id="rId1" imgW="6604000" imgH="3390900" progId="Excel.Sheet.8">
                  <p:embed/>
                </p:oleObj>
              </mc:Choice>
              <mc:Fallback>
                <p:oleObj name="工作表" r:id="rId1" imgW="6604000" imgH="339090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68863"/>
                        <a:ext cx="352107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Oval 6"/>
          <p:cNvSpPr>
            <a:spLocks noChangeArrowheads="1"/>
          </p:cNvSpPr>
          <p:nvPr/>
        </p:nvSpPr>
        <p:spPr bwMode="auto">
          <a:xfrm>
            <a:off x="685800" y="2598738"/>
            <a:ext cx="1905000" cy="1371600"/>
          </a:xfrm>
          <a:prstGeom prst="ellipse">
            <a:avLst/>
          </a:prstGeom>
          <a:solidFill>
            <a:srgbClr val="333399">
              <a:alpha val="59999"/>
            </a:srgbClr>
          </a:solidFill>
          <a:ln w="25400">
            <a:solidFill>
              <a:schemeClr val="tx2"/>
            </a:solidFill>
            <a:rou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97" name="Oval 7"/>
          <p:cNvSpPr>
            <a:spLocks noChangeArrowheads="1"/>
          </p:cNvSpPr>
          <p:nvPr/>
        </p:nvSpPr>
        <p:spPr bwMode="auto">
          <a:xfrm>
            <a:off x="1371600" y="2598738"/>
            <a:ext cx="1905000" cy="1524000"/>
          </a:xfrm>
          <a:prstGeom prst="ellipse">
            <a:avLst/>
          </a:prstGeom>
          <a:solidFill>
            <a:srgbClr val="B05800">
              <a:alpha val="30196"/>
            </a:srgbClr>
          </a:solidFill>
          <a:ln w="25400">
            <a:solidFill>
              <a:schemeClr val="hlink"/>
            </a:solidFill>
            <a:rou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98" name="Line 8"/>
          <p:cNvSpPr>
            <a:spLocks noChangeShapeType="1"/>
          </p:cNvSpPr>
          <p:nvPr/>
        </p:nvSpPr>
        <p:spPr bwMode="auto">
          <a:xfrm flipH="1">
            <a:off x="914400" y="3284538"/>
            <a:ext cx="228600" cy="762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9" name="Line 9"/>
          <p:cNvSpPr>
            <a:spLocks noChangeShapeType="1"/>
          </p:cNvSpPr>
          <p:nvPr/>
        </p:nvSpPr>
        <p:spPr bwMode="auto">
          <a:xfrm flipV="1">
            <a:off x="2819400" y="2674938"/>
            <a:ext cx="228600" cy="6858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0" name="Line 10"/>
          <p:cNvSpPr>
            <a:spLocks noChangeShapeType="1"/>
          </p:cNvSpPr>
          <p:nvPr/>
        </p:nvSpPr>
        <p:spPr bwMode="auto">
          <a:xfrm flipH="1" flipV="1">
            <a:off x="1905000" y="2446338"/>
            <a:ext cx="76200" cy="914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Text Box 11"/>
          <p:cNvSpPr txBox="1">
            <a:spLocks noChangeArrowheads="1"/>
          </p:cNvSpPr>
          <p:nvPr/>
        </p:nvSpPr>
        <p:spPr bwMode="auto">
          <a:xfrm>
            <a:off x="2705100" y="2141538"/>
            <a:ext cx="1409700" cy="8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FF8119"/>
                </a:solidFill>
                <a:latin typeface="微软雅黑" panose="020B0503020204020204" charset="-122"/>
                <a:ea typeface="微软雅黑" panose="020B0503020204020204" charset="-122"/>
              </a:rPr>
              <a:t>Customer</a:t>
            </a:r>
            <a:endParaRPr lang="en-US" altLang="zh-CN" sz="1600" b="0" dirty="0">
              <a:solidFill>
                <a:srgbClr val="FF811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FF8119"/>
                </a:solidFill>
                <a:latin typeface="微软雅黑" panose="020B0503020204020204" charset="-122"/>
                <a:ea typeface="微软雅黑" panose="020B0503020204020204" charset="-122"/>
              </a:rPr>
              <a:t>buys diaper</a:t>
            </a:r>
            <a:endParaRPr lang="en-US" altLang="zh-CN" sz="1800" b="0" u="sng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02" name="Text Box 12"/>
          <p:cNvSpPr txBox="1">
            <a:spLocks noChangeArrowheads="1"/>
          </p:cNvSpPr>
          <p:nvPr/>
        </p:nvSpPr>
        <p:spPr bwMode="auto">
          <a:xfrm>
            <a:off x="1043608" y="1989138"/>
            <a:ext cx="1294780" cy="62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2DA2BF"/>
                </a:solidFill>
                <a:latin typeface="微软雅黑" panose="020B0503020204020204" charset="-122"/>
                <a:ea typeface="微软雅黑" panose="020B0503020204020204" charset="-122"/>
              </a:rPr>
              <a:t>Customer</a:t>
            </a:r>
            <a:endParaRPr lang="en-US" altLang="zh-CN" sz="1600" b="0" dirty="0">
              <a:solidFill>
                <a:srgbClr val="2DA2B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rgbClr val="2DA2BF"/>
                </a:solidFill>
                <a:latin typeface="微软雅黑" panose="020B0503020204020204" charset="-122"/>
                <a:ea typeface="微软雅黑" panose="020B0503020204020204" charset="-122"/>
              </a:rPr>
              <a:t>buys both</a:t>
            </a:r>
            <a:endParaRPr lang="en-US" altLang="zh-CN" sz="1800" b="0" u="sng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03" name="Text Box 13"/>
          <p:cNvSpPr txBox="1">
            <a:spLocks noChangeArrowheads="1"/>
          </p:cNvSpPr>
          <p:nvPr/>
        </p:nvSpPr>
        <p:spPr bwMode="auto">
          <a:xfrm>
            <a:off x="533400" y="4046538"/>
            <a:ext cx="126365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Customer</a:t>
            </a:r>
            <a:endParaRPr lang="en-US" altLang="zh-CN" sz="1600" b="0">
              <a:solidFill>
                <a:srgbClr val="46464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</a:rPr>
              <a:t>buys beer</a:t>
            </a:r>
            <a:endParaRPr lang="en-US" altLang="zh-CN" sz="1800" b="0" u="sng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288925" y="2074863"/>
            <a:ext cx="3665538" cy="25542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805" name="Rectangle 15"/>
          <p:cNvSpPr txBox="1">
            <a:spLocks noChangeArrowheads="1"/>
          </p:cNvSpPr>
          <p:nvPr/>
        </p:nvSpPr>
        <p:spPr bwMode="auto">
          <a:xfrm>
            <a:off x="4114800" y="2189163"/>
            <a:ext cx="4867275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621030" indent="-3543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859155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支持度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是指事务集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中包含 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Verdana" panose="020B0604030504040204" pitchFamily="34" charset="0"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B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的百分比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Support (A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)= P(A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B)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325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是指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2000" b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中包含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的事务同时也包含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的百分比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Confidence(A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)= P(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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DA1F28"/>
              </a:buClr>
              <a:buFont typeface="Wingdings 2" panose="05020102010507070707" pitchFamily="18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	 =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P(A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B)/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P(A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806" name="矩形 1"/>
          <p:cNvSpPr>
            <a:spLocks noChangeArrowheads="1"/>
          </p:cNvSpPr>
          <p:nvPr/>
        </p:nvSpPr>
        <p:spPr bwMode="auto">
          <a:xfrm>
            <a:off x="4932040" y="5840892"/>
            <a:ext cx="28488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 → C  ?      C → A  ?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7993063" cy="720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规则度量：支持度和置信度</a:t>
            </a:r>
            <a:endParaRPr lang="zh-CN" altLang="en-US" sz="2800" b="0">
              <a:solidFill>
                <a:srgbClr val="FF0000"/>
              </a:solidFill>
            </a:endParaRPr>
          </a:p>
        </p:txBody>
      </p:sp>
      <p:sp>
        <p:nvSpPr>
          <p:cNvPr id="35843" name="Rectangle 15"/>
          <p:cNvSpPr txBox="1">
            <a:spLocks noChangeArrowheads="1"/>
          </p:cNvSpPr>
          <p:nvPr/>
        </p:nvSpPr>
        <p:spPr bwMode="auto">
          <a:xfrm>
            <a:off x="431800" y="4760912"/>
            <a:ext cx="835183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621030" indent="-3543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859155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最小支持度阈值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最小置信度阈值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 C  (50%, 66.6%)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2" eaLnBrk="1" hangingPunct="1"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 A  (50%, 100%)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同时满足最小支持度阈值和最小置信度阈值的规则称作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强规则</a:t>
            </a:r>
            <a:endParaRPr lang="en-US" altLang="zh-CN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844" name="Picture 2054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908175"/>
            <a:ext cx="5688012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93725" y="981075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关联规则的形式化表示</a:t>
            </a:r>
            <a:endParaRPr lang="zh-CN" altLang="en-US" sz="2800" b="0">
              <a:solidFill>
                <a:srgbClr val="FF0000"/>
              </a:solidFill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/>
        </p:nvSpPr>
        <p:spPr bwMode="auto">
          <a:xfrm>
            <a:off x="107950" y="1673225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{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</a:t>
            </a:r>
            <a:r>
              <a:rPr lang="en-US" altLang="zh-CN" sz="20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0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 a set of items. Let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 a set of transactions, where each transaction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 a set of items such that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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 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A transaction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contains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a set of some items 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if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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 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An association rule is an implication of the form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where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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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I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and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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= Ø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 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holds in the transaction set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with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confidence</a:t>
            </a:r>
            <a:r>
              <a:rPr lang="en-US" altLang="zh-CN" sz="2000" b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 if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c%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of transactions 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that contain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also contain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has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support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s% in the transaction set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if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s%</a:t>
            </a:r>
            <a:r>
              <a:rPr lang="en-US" altLang="zh-CN" sz="20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of transactions in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contain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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Y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7" y="980728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</a:rPr>
              <a:t>事务</a:t>
            </a:r>
            <a:r>
              <a:rPr lang="zh-CN" altLang="en-US" sz="2400" b="0" dirty="0">
                <a:solidFill>
                  <a:srgbClr val="FF0000"/>
                </a:solidFill>
              </a:rPr>
              <a:t>数据：商场购物数据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/>
        </p:nvSpPr>
        <p:spPr bwMode="auto">
          <a:xfrm>
            <a:off x="179512" y="1412528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Market basket transactions: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t1: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{bread, cheese, milk}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t2: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{apple, eggs, salt, yogurt}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 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Tx/>
              <a:buNone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altLang="zh-CN" sz="2000" b="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tn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{biscuit, eggs, milk}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Concepts: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item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item/article in a basket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000" b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set of all items sold in the store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3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transaction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items purchased in a basket; it may have TID (transaction ID)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4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transactional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dataset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A set of transactions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80400" cy="8636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</a:rPr>
              <a:t>事务数据：文档数据集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/>
        </p:nvSpPr>
        <p:spPr bwMode="auto">
          <a:xfrm>
            <a:off x="250825" y="1916113"/>
            <a:ext cx="856932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8985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每个文档都可以看作一个词袋（</a:t>
            </a:r>
            <a:r>
              <a:rPr lang="en-US" altLang="ja-JP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bag of words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ja-JP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doc1: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Student, Teach, School 	 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doc2: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Student, School </a:t>
            </a: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endParaRPr lang="en-US" altLang="zh-CN" sz="2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doc3: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Teach, School, City, Game 	</a:t>
            </a: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doc4: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Baseball, Basketball	</a:t>
            </a: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zh-CN" sz="2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doc5: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Basketball, Player, Spectator  </a:t>
            </a: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endParaRPr lang="en-US" altLang="zh-CN" sz="22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doc6: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Baseball, Coach, Game, Team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bg2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doc7: 	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Basketball, Team, City, Game 	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 </a:t>
            </a:r>
            <a:r>
              <a:rPr lang="zh-CN" altLang="en-US" sz="36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3.2  </a:t>
            </a:r>
            <a:r>
              <a:rPr lang="zh-CN" altLang="zh-CN" sz="2800" b="0">
                <a:solidFill>
                  <a:srgbClr val="FF0000"/>
                </a:solidFill>
                <a:cs typeface="微软雅黑" panose="020B0503020204020204" charset="-122"/>
              </a:rPr>
              <a:t>由事务数据库挖掘单维布尔关联规则</a:t>
            </a:r>
            <a:endParaRPr lang="zh-CN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多层关联规则挖掘</a:t>
            </a:r>
            <a:endParaRPr lang="en-US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en-US" sz="28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本章内容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-120650"/>
            <a:ext cx="8640763" cy="892175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panose="020B0503020204020204" charset="-122"/>
              </a:rPr>
              <a:t>3.2 </a:t>
            </a:r>
            <a:r>
              <a:rPr lang="zh-CN" altLang="en-US" sz="3600">
                <a:solidFill>
                  <a:srgbClr val="1557AE"/>
                </a:solidFill>
                <a:cs typeface="微软雅黑" panose="020B0503020204020204" charset="-122"/>
              </a:rPr>
              <a:t>由事务数据库挖掘布尔关联规则</a:t>
            </a:r>
            <a:endParaRPr lang="zh-CN" altLang="en-US" sz="360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6220" y="1019969"/>
            <a:ext cx="8732244" cy="469900"/>
          </a:xfrm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panose="020B0503020204020204" charset="-122"/>
              </a:rPr>
              <a:t> 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关联规则挖掘的原始算法：枚举每个可能的规则，计算其支持度与置信度。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包含</a:t>
            </a:r>
            <a:r>
              <a:rPr lang="en-US" altLang="zh-CN" sz="2400" b="0" i="1" dirty="0">
                <a:solidFill>
                  <a:srgbClr val="1557AE"/>
                </a:solidFill>
                <a:cs typeface="微软雅黑" panose="020B0503020204020204" charset="-122"/>
              </a:rPr>
              <a:t>d 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个项目的数据集中可能的规则数目为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30000"/>
              </a:lnSpc>
              <a:spcBef>
                <a:spcPts val="600"/>
              </a:spcBef>
              <a:buClrTx/>
              <a:buFont typeface="Wingdings" panose="05000000000000000000" pitchFamily="2" charset="2"/>
              <a:buNone/>
            </a:pPr>
            <a:endParaRPr lang="en-US" altLang="zh-CN" sz="2400" b="0" dirty="0">
              <a:solidFill>
                <a:srgbClr val="0000FF"/>
              </a:solidFill>
              <a:cs typeface="微软雅黑" panose="020B0503020204020204" charset="-122"/>
            </a:endParaRPr>
          </a:p>
        </p:txBody>
      </p:sp>
      <p:graphicFrame>
        <p:nvGraphicFramePr>
          <p:cNvPr id="46084" name="对象 1"/>
          <p:cNvGraphicFramePr>
            <a:graphicFrameLocks noChangeAspect="1"/>
          </p:cNvGraphicFramePr>
          <p:nvPr/>
        </p:nvGraphicFramePr>
        <p:xfrm>
          <a:off x="1259632" y="2947798"/>
          <a:ext cx="264953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2" name="Formula" r:id="rId1" imgW="873760" imgH="146050" progId="Equation.Ribbit">
                  <p:embed/>
                </p:oleObj>
              </mc:Choice>
              <mc:Fallback>
                <p:oleObj name="Formula" r:id="rId1" imgW="873760" imgH="146050" progId="Equation.Ribbit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947798"/>
                        <a:ext cx="264953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4"/>
          <p:cNvGraphicFramePr>
            <a:graphicFrameLocks noChangeAspect="1"/>
          </p:cNvGraphicFramePr>
          <p:nvPr/>
        </p:nvGraphicFramePr>
        <p:xfrm>
          <a:off x="4572000" y="3997325"/>
          <a:ext cx="3240088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3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997325"/>
                        <a:ext cx="3240088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827584" y="3573016"/>
            <a:ext cx="3411538" cy="263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7" name="Text Box 5"/>
          <p:cNvSpPr txBox="1">
            <a:spLocks noChangeArrowheads="1"/>
          </p:cNvSpPr>
          <p:nvPr/>
        </p:nvSpPr>
        <p:spPr bwMode="auto">
          <a:xfrm>
            <a:off x="4787900" y="5732463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If d=</a:t>
            </a: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6,  R = 602 rules</a:t>
            </a:r>
            <a:endParaRPr lang="en-US" altLang="zh-CN" sz="2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92125" y="1412875"/>
            <a:ext cx="8041005" cy="251206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panose="020B0503020204020204" charset="-122"/>
              </a:rPr>
              <a:t> 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频繁项集性质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向下封闭性质（</a:t>
            </a:r>
            <a:r>
              <a:rPr lang="en-US" altLang="zh-CN" sz="2400" b="0" dirty="0">
                <a:solidFill>
                  <a:srgbClr val="FF0000"/>
                </a:solidFill>
                <a:cs typeface="微软雅黑" panose="020B0503020204020204" charset="-122"/>
              </a:rPr>
              <a:t>Downward closure</a:t>
            </a: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）：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频繁项集的任意子集都是频繁的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如果</a:t>
            </a:r>
            <a:r>
              <a:rPr lang="zh-CN" altLang="en-US" sz="2000" b="0" dirty="0">
                <a:solidFill>
                  <a:srgbClr val="1C1C1C"/>
                </a:solidFill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{beer, diaper, nuts} 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是频繁的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, </a:t>
            </a:r>
            <a:r>
              <a:rPr lang="zh-CN" altLang="en-US" sz="2000" b="0" dirty="0">
                <a:solidFill>
                  <a:srgbClr val="FF0000"/>
                </a:solidFill>
                <a:cs typeface="微软雅黑" panose="020B0503020204020204" charset="-122"/>
              </a:rPr>
              <a:t>则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 {beer, diaper}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也是频繁的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任何含有</a:t>
            </a:r>
            <a:r>
              <a:rPr lang="en-US" altLang="zh-CN" sz="2000" b="0" dirty="0">
                <a:solidFill>
                  <a:srgbClr val="1C1C1C"/>
                </a:solidFill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{beer, diaper, nuts} 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的事务数据也</a:t>
            </a:r>
            <a:r>
              <a:rPr lang="zh-CN" altLang="en-US" sz="2000" b="0" dirty="0">
                <a:solidFill>
                  <a:srgbClr val="FF0000"/>
                </a:solidFill>
                <a:cs typeface="微软雅黑" panose="020B0503020204020204" charset="-122"/>
              </a:rPr>
              <a:t>包含</a:t>
            </a:r>
            <a:r>
              <a:rPr lang="en-US" altLang="zh-CN" sz="2000" b="0" dirty="0">
                <a:solidFill>
                  <a:srgbClr val="FF0000"/>
                </a:solidFill>
                <a:cs typeface="微软雅黑" panose="020B0503020204020204" charset="-122"/>
              </a:rPr>
              <a:t> {beer, diaper} </a:t>
            </a:r>
            <a:endParaRPr lang="en-US" altLang="zh-CN" sz="20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lnSpc>
                <a:spcPct val="14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en-US" altLang="zh-CN" sz="2400" b="0" dirty="0">
                <a:solidFill>
                  <a:srgbClr val="FF0000"/>
                </a:solidFill>
                <a:cs typeface="微软雅黑" panose="020B0503020204020204" charset="-122"/>
              </a:rPr>
              <a:t> </a:t>
            </a: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修剪原理：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非频繁项集的任意超集都是非频繁的，无需生成与测试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781050" lvl="1" indent="-342900" eaLnBrk="1" hangingPunct="1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rgbClr val="0000FF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2"/>
          <p:cNvGrpSpPr/>
          <p:nvPr/>
        </p:nvGrpSpPr>
        <p:grpSpPr bwMode="auto">
          <a:xfrm>
            <a:off x="-12911" y="980728"/>
            <a:ext cx="8831262" cy="5235575"/>
            <a:chOff x="144" y="686"/>
            <a:chExt cx="5563" cy="3298"/>
          </a:xfrm>
        </p:grpSpPr>
        <p:sp>
          <p:nvSpPr>
            <p:cNvPr id="50183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4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C6D9C"/>
                  </a:solidFill>
                  <a:latin typeface="微软雅黑" panose="020B0503020204020204" charset="-122"/>
                  <a:ea typeface="微软雅黑" panose="020B0503020204020204" charset="-122"/>
                </a:rPr>
                <a:t>Found to be Infrequent</a:t>
              </a:r>
              <a:endParaRPr lang="en-US" altLang="zh-CN" sz="2000">
                <a:solidFill>
                  <a:srgbClr val="0C6D9C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0185" name="Object 3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0" name="Visio" r:id="rId1" imgW="9958705" imgH="7446010" progId="Visio.Drawing.6">
                    <p:embed/>
                  </p:oleObj>
                </mc:Choice>
                <mc:Fallback>
                  <p:oleObj name="Visio" r:id="rId1" imgW="9958705" imgH="7446010" progId="Visio.Drawing.6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7"/>
          <p:cNvGrpSpPr/>
          <p:nvPr/>
        </p:nvGrpSpPr>
        <p:grpSpPr bwMode="auto">
          <a:xfrm>
            <a:off x="1912727" y="980728"/>
            <a:ext cx="6905624" cy="5235575"/>
            <a:chOff x="1357" y="686"/>
            <a:chExt cx="4350" cy="3298"/>
          </a:xfrm>
        </p:grpSpPr>
        <p:graphicFrame>
          <p:nvGraphicFramePr>
            <p:cNvPr id="50181" name="Object 2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1" name="Visio" r:id="rId3" imgW="9958705" imgH="7446010" progId="Visio.Drawing.6">
                    <p:embed/>
                  </p:oleObj>
                </mc:Choice>
                <mc:Fallback>
                  <p:oleObj name="Visio" r:id="rId3" imgW="9958705" imgH="7446010" progId="Visio.Drawing.6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2" name="Text Box 9"/>
            <p:cNvSpPr txBox="1">
              <a:spLocks noChangeArrowheads="1"/>
            </p:cNvSpPr>
            <p:nvPr/>
          </p:nvSpPr>
          <p:spPr bwMode="auto">
            <a:xfrm>
              <a:off x="1357" y="3346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Pruned supersets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1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矩形 1"/>
          <p:cNvSpPr>
            <a:spLocks noChangeArrowheads="1"/>
          </p:cNvSpPr>
          <p:nvPr/>
        </p:nvSpPr>
        <p:spPr bwMode="auto">
          <a:xfrm>
            <a:off x="467544" y="1340768"/>
            <a:ext cx="8405813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long pattern contains a combinatorial number of sub-patterns, e.g., {a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a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contains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+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+ … + (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= 2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1 = 1.27*10</a:t>
            </a:r>
            <a:r>
              <a:rPr lang="en-US" altLang="zh-CN" sz="2000" b="0" baseline="30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sub-patterns!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Solution: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Mine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closed patterns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0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max-patterns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instead</a:t>
            </a:r>
            <a:endParaRPr lang="en-US" altLang="zh-CN" sz="2000" b="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itemset X is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closed</a:t>
            </a:r>
            <a:r>
              <a:rPr lang="en-US" altLang="zh-CN" sz="2000" b="0" dirty="0">
                <a:solidFill>
                  <a:srgbClr val="3366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X is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frequent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and there exists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 super-pattern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Y </a:t>
            </a:r>
            <a:r>
              <a:rPr lang="he-IL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כ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,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 the same support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 X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itemset X is a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max-pattern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X is frequent and there exists no frequent super-pattern Y </a:t>
            </a:r>
            <a:r>
              <a:rPr lang="he-IL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כ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Closed pattern is a lossless compression of freq. patterns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196975"/>
            <a:ext cx="7572375" cy="50482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052830"/>
            <a:ext cx="7667625" cy="52673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340485"/>
            <a:ext cx="7562850" cy="3286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" y="1090295"/>
            <a:ext cx="7785100" cy="48945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196752"/>
            <a:ext cx="8208962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en-US" altLang="zh-CN" sz="2400" b="0" dirty="0">
                <a:solidFill>
                  <a:srgbClr val="FF0000"/>
                </a:solidFill>
              </a:rPr>
              <a:t>Closed Patterns and Max-Patterns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>
                <a:srgbClr val="1557AE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1557AE"/>
                </a:solidFill>
              </a:rPr>
              <a:t>a maximal itemset is a closed itemset but a closed itemset is not necessarily a maximal itemset. </a:t>
            </a:r>
            <a:endParaRPr lang="en-US" altLang="zh-CN" sz="2400" b="0" dirty="0">
              <a:solidFill>
                <a:srgbClr val="1557AE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  <a:defRPr/>
            </a:pPr>
            <a:endParaRPr lang="zh-CN" altLang="en-US" sz="2400" b="0" dirty="0">
              <a:solidFill>
                <a:srgbClr val="C00000"/>
              </a:solidFill>
            </a:endParaRPr>
          </a:p>
        </p:txBody>
      </p:sp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780928"/>
            <a:ext cx="3727450" cy="352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92125" y="1412875"/>
            <a:ext cx="315912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 Apriori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/>
        </p:nvSpPr>
        <p:spPr bwMode="auto">
          <a:xfrm>
            <a:off x="1042988" y="2060575"/>
            <a:ext cx="7581900" cy="34845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</a:t>
            </a:r>
            <a:r>
              <a:rPr lang="en-US" altLang="zh-CN" sz="24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k-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</a:t>
            </a:r>
            <a:r>
              <a:rPr lang="en-US" altLang="zh-CN" sz="24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频繁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 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4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24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k-1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链接而成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Prune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任何包含非频繁的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(k-1)-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项集都不可能是频繁的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36191" y="1196429"/>
            <a:ext cx="315912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>
                <a:solidFill>
                  <a:srgbClr val="FF0000"/>
                </a:solidFill>
                <a:cs typeface="微软雅黑" panose="020B0503020204020204" charset="-122"/>
              </a:rPr>
              <a:t> Apriori</a:t>
            </a:r>
            <a:r>
              <a:rPr lang="zh-CN" altLang="en-US" sz="280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/>
        </p:nvSpPr>
        <p:spPr bwMode="auto">
          <a:xfrm>
            <a:off x="1115616" y="1556792"/>
            <a:ext cx="75819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73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None/>
            </a:pP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2000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{large 1-itemsets};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2;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000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 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Ø;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++ )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do begin</a:t>
            </a:r>
            <a:endParaRPr lang="en-US" altLang="zh-CN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 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= apriori-gen(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-1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);    // New candidates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forall 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transactions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do begin</a:t>
            </a:r>
            <a:endParaRPr lang="en-US" altLang="zh-CN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	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= subset(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,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);   //Candidates contained in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endParaRPr lang="en-US" altLang="zh-CN" sz="2000" i="1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	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forall 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candidates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t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do</a:t>
            </a:r>
            <a:endParaRPr lang="en-US" altLang="zh-CN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		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.count++;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 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end</a:t>
            </a:r>
            <a:endParaRPr lang="en-US" altLang="zh-CN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	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= {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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|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.count  minsup}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end</a:t>
            </a:r>
            <a:endParaRPr lang="en-US" altLang="zh-CN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AutoNum type="arabicParenR"/>
            </a:pP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Answer = 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00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L</a:t>
            </a:r>
            <a:r>
              <a:rPr lang="en-US" altLang="zh-CN" sz="200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;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7544" y="1052736"/>
            <a:ext cx="448627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C00000"/>
                </a:solidFill>
                <a:cs typeface="微软雅黑" panose="020B0503020204020204" charset="-122"/>
              </a:rPr>
              <a:t> </a:t>
            </a:r>
            <a:r>
              <a:rPr lang="en-US" altLang="zh-CN" sz="28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候选集生成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3568" y="1628800"/>
            <a:ext cx="8064896" cy="45942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413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1259205" indent="-3492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200" b="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-gen 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函数以所有的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- 1) </a:t>
            </a: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的集合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22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2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为输入，返回所有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的集合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22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zh-CN" altLang="en-US" sz="2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</a:t>
            </a:r>
            <a:r>
              <a:rPr lang="en-US" altLang="zh-CN" sz="22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2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 into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endParaRPr lang="en-US" altLang="zh-CN" sz="1800" b="0" i="1" baseline="-25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endParaRPr lang="en-US" altLang="zh-CN" sz="1800" b="0" i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9955" lvl="1" indent="0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…,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–2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–2,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 </a:t>
            </a:r>
            <a:r>
              <a:rPr lang="en-US" altLang="zh-CN" sz="18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q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.item</a:t>
            </a:r>
            <a:r>
              <a:rPr lang="en-US" altLang="zh-CN" sz="1800" b="0" i="1" baseline="-2500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–1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其次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prune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删除所有的满足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(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1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子集不在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2000" b="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2000" b="0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1 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的项集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 </a:t>
            </a:r>
            <a:r>
              <a:rPr lang="en-US" altLang="zh-CN" sz="20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2000" b="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: </a:t>
            </a:r>
            <a:endParaRPr lang="en-US" altLang="zh-CN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forall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itemsets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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do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</a:t>
            </a:r>
            <a:r>
              <a:rPr lang="en-US" altLang="zh-CN" sz="18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forall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1)-subsets s of c do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if (s 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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en-US" altLang="zh-CN" sz="1800" b="0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1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then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		delete c from </a:t>
            </a:r>
            <a:r>
              <a:rPr lang="en-US" altLang="zh-CN" sz="18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</a:t>
            </a:r>
            <a:r>
              <a:rPr lang="en-US" altLang="zh-CN" sz="1800" b="0" i="1" baseline="-25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k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;</a:t>
            </a:r>
            <a:endParaRPr lang="en-US" altLang="zh-CN" sz="1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 txBox="1">
            <a:spLocks noChangeArrowheads="1"/>
          </p:cNvSpPr>
          <p:nvPr/>
        </p:nvSpPr>
        <p:spPr bwMode="auto">
          <a:xfrm>
            <a:off x="684213" y="1700213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abc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abd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acd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, ace,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bcd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40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Self-joining: 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*L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abcd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from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abc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and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abd</a:t>
            </a:r>
            <a:endParaRPr lang="en-US" altLang="zh-CN" sz="240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acde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 from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acd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and 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ace</a:t>
            </a:r>
            <a:endParaRPr lang="en-US" altLang="zh-CN" sz="240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Pruning:</a:t>
            </a:r>
            <a:endParaRPr lang="en-US" altLang="zh-CN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40000"/>
              </a:lnSpc>
              <a:buClr>
                <a:schemeClr val="hlink"/>
              </a:buClr>
              <a:buSzPct val="55000"/>
            </a:pP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acde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is removed because 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ade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 is not in </a:t>
            </a: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i="1" baseline="-2500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40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={</a:t>
            </a:r>
            <a:r>
              <a:rPr lang="en-US" altLang="zh-CN" sz="240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abcd</a:t>
            </a:r>
            <a:r>
              <a:rPr lang="en-US" altLang="zh-CN" sz="24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sz="240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67544" y="1039814"/>
            <a:ext cx="3432175" cy="4699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C00000"/>
                </a:solidFill>
                <a:cs typeface="微软雅黑" panose="020B0503020204020204" charset="-122"/>
              </a:rPr>
              <a:t> </a:t>
            </a: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算法举例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661988" y="2100263"/>
          <a:ext cx="18669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4" name="工作表" r:id="rId1" imgW="2870200" imgH="2654300" progId="Excel.Sheet.8">
                  <p:embed/>
                </p:oleObj>
              </mc:Choice>
              <mc:Fallback>
                <p:oleObj name="工作表" r:id="rId1" imgW="2870200" imgH="26543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100263"/>
                        <a:ext cx="18669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733425" y="1717675"/>
            <a:ext cx="179228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Database D</a:t>
            </a:r>
            <a:endParaRPr lang="en-US" altLang="zh-CN" sz="20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5542" name="Object 5"/>
          <p:cNvGraphicFramePr>
            <a:graphicFrameLocks noChangeAspect="1"/>
          </p:cNvGraphicFramePr>
          <p:nvPr/>
        </p:nvGraphicFramePr>
        <p:xfrm>
          <a:off x="3621088" y="1585913"/>
          <a:ext cx="187007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5" name="工作表" r:id="rId3" imgW="2781300" imgH="3175000" progId="Excel.Sheet.8">
                  <p:embed/>
                </p:oleObj>
              </mc:Choice>
              <mc:Fallback>
                <p:oleObj name="工作表" r:id="rId3" imgW="2781300" imgH="31750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1585913"/>
                        <a:ext cx="1870075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6"/>
          <p:cNvGraphicFramePr>
            <a:graphicFrameLocks noChangeAspect="1"/>
          </p:cNvGraphicFramePr>
          <p:nvPr/>
        </p:nvGraphicFramePr>
        <p:xfrm>
          <a:off x="6418263" y="1677988"/>
          <a:ext cx="1824037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6" name="工作表" r:id="rId5" imgW="2781300" imgH="2654300" progId="Excel.Sheet.8">
                  <p:embed/>
                </p:oleObj>
              </mc:Choice>
              <mc:Fallback>
                <p:oleObj name="工作表" r:id="rId5" imgW="2781300" imgH="26543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263" y="1677988"/>
                        <a:ext cx="1824037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2540000" y="2435225"/>
            <a:ext cx="1073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Scan D</a:t>
            </a:r>
            <a:endParaRPr lang="en-US" altLang="zh-CN" sz="1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>
            <a:off x="2655888" y="2836863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5546" name="Text Box 9"/>
          <p:cNvSpPr txBox="1">
            <a:spLocks noChangeArrowheads="1"/>
          </p:cNvSpPr>
          <p:nvPr/>
        </p:nvSpPr>
        <p:spPr bwMode="auto">
          <a:xfrm>
            <a:off x="3108325" y="1865313"/>
            <a:ext cx="5080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47" name="Text Box 10"/>
          <p:cNvSpPr txBox="1">
            <a:spLocks noChangeArrowheads="1"/>
          </p:cNvSpPr>
          <p:nvPr/>
        </p:nvSpPr>
        <p:spPr bwMode="auto">
          <a:xfrm>
            <a:off x="5703888" y="1708150"/>
            <a:ext cx="458787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5548" name="Object 11"/>
          <p:cNvGraphicFramePr>
            <a:graphicFrameLocks noChangeAspect="1"/>
          </p:cNvGraphicFramePr>
          <p:nvPr/>
        </p:nvGraphicFramePr>
        <p:xfrm>
          <a:off x="6969125" y="3465513"/>
          <a:ext cx="1146175" cy="212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7" name="工作表" r:id="rId7" imgW="1701800" imgH="3695700" progId="Excel.Sheet.8">
                  <p:embed/>
                </p:oleObj>
              </mc:Choice>
              <mc:Fallback>
                <p:oleObj name="工作表" r:id="rId7" imgW="1701800" imgH="3695700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3465513"/>
                        <a:ext cx="1146175" cy="212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9" name="Object 12"/>
          <p:cNvGraphicFramePr>
            <a:graphicFrameLocks noChangeAspect="1"/>
          </p:cNvGraphicFramePr>
          <p:nvPr/>
        </p:nvGraphicFramePr>
        <p:xfrm>
          <a:off x="3559175" y="3544888"/>
          <a:ext cx="1781175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8" name="工作表" r:id="rId9" imgW="2717800" imgH="3695700" progId="Excel.Sheet.8">
                  <p:embed/>
                </p:oleObj>
              </mc:Choice>
              <mc:Fallback>
                <p:oleObj name="工作表" r:id="rId9" imgW="2717800" imgH="3695700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3544888"/>
                        <a:ext cx="1781175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0" name="Object 13"/>
          <p:cNvGraphicFramePr>
            <a:graphicFrameLocks noChangeAspect="1"/>
          </p:cNvGraphicFramePr>
          <p:nvPr/>
        </p:nvGraphicFramePr>
        <p:xfrm>
          <a:off x="1171575" y="3914775"/>
          <a:ext cx="1649413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9" name="工作表" r:id="rId11" imgW="2717800" imgH="2654300" progId="Excel.Sheet.8">
                  <p:embed/>
                </p:oleObj>
              </mc:Choice>
              <mc:Fallback>
                <p:oleObj name="工作表" r:id="rId11" imgW="2717800" imgH="2654300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3914775"/>
                        <a:ext cx="1649413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1" name="Text Box 14"/>
          <p:cNvSpPr txBox="1">
            <a:spLocks noChangeArrowheads="1"/>
          </p:cNvSpPr>
          <p:nvPr/>
        </p:nvSpPr>
        <p:spPr bwMode="auto">
          <a:xfrm>
            <a:off x="654050" y="3759200"/>
            <a:ext cx="468313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2" name="Text Box 15"/>
          <p:cNvSpPr txBox="1">
            <a:spLocks noChangeArrowheads="1"/>
          </p:cNvSpPr>
          <p:nvPr/>
        </p:nvSpPr>
        <p:spPr bwMode="auto">
          <a:xfrm>
            <a:off x="3074988" y="336232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3" name="Text Box 16"/>
          <p:cNvSpPr txBox="1">
            <a:spLocks noChangeArrowheads="1"/>
          </p:cNvSpPr>
          <p:nvPr/>
        </p:nvSpPr>
        <p:spPr bwMode="auto">
          <a:xfrm>
            <a:off x="6362700" y="341312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4" name="Line 17"/>
          <p:cNvSpPr>
            <a:spLocks noChangeShapeType="1"/>
          </p:cNvSpPr>
          <p:nvPr/>
        </p:nvSpPr>
        <p:spPr bwMode="auto">
          <a:xfrm flipH="1">
            <a:off x="5486400" y="4581525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55" name="Text Box 18"/>
          <p:cNvSpPr txBox="1">
            <a:spLocks noChangeArrowheads="1"/>
          </p:cNvSpPr>
          <p:nvPr/>
        </p:nvSpPr>
        <p:spPr bwMode="auto">
          <a:xfrm>
            <a:off x="5457825" y="4124325"/>
            <a:ext cx="1171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Scan D</a:t>
            </a:r>
            <a:endParaRPr lang="en-US" altLang="zh-CN" sz="2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6" name="AutoShape 19"/>
          <p:cNvSpPr>
            <a:spLocks noChangeArrowheads="1"/>
          </p:cNvSpPr>
          <p:nvPr/>
        </p:nvSpPr>
        <p:spPr bwMode="auto">
          <a:xfrm>
            <a:off x="8220075" y="3317875"/>
            <a:ext cx="627063" cy="368300"/>
          </a:xfrm>
          <a:prstGeom prst="curvedLeftArrow">
            <a:avLst>
              <a:gd name="adj1" fmla="val 27287"/>
              <a:gd name="adj2" fmla="val 54583"/>
              <a:gd name="adj3" fmla="val 3342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7" name="Line 20"/>
          <p:cNvSpPr>
            <a:spLocks noChangeShapeType="1"/>
          </p:cNvSpPr>
          <p:nvPr/>
        </p:nvSpPr>
        <p:spPr bwMode="auto">
          <a:xfrm>
            <a:off x="2894013" y="623728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58" name="Text Box 21"/>
          <p:cNvSpPr txBox="1">
            <a:spLocks noChangeArrowheads="1"/>
          </p:cNvSpPr>
          <p:nvPr/>
        </p:nvSpPr>
        <p:spPr bwMode="auto">
          <a:xfrm>
            <a:off x="1044575" y="5832475"/>
            <a:ext cx="514350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59" name="Text Box 22"/>
          <p:cNvSpPr txBox="1">
            <a:spLocks noChangeArrowheads="1"/>
          </p:cNvSpPr>
          <p:nvPr/>
        </p:nvSpPr>
        <p:spPr bwMode="auto">
          <a:xfrm>
            <a:off x="4467225" y="5821363"/>
            <a:ext cx="468313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2000" b="0" i="1" baseline="-25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0" i="1" baseline="-25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5560" name="Object 23"/>
          <p:cNvGraphicFramePr>
            <a:graphicFrameLocks noChangeAspect="1"/>
          </p:cNvGraphicFramePr>
          <p:nvPr/>
        </p:nvGraphicFramePr>
        <p:xfrm>
          <a:off x="1525588" y="5734050"/>
          <a:ext cx="11493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0" name="工作表" r:id="rId13" imgW="1701800" imgH="1092200" progId="Excel.Sheet.8">
                  <p:embed/>
                </p:oleObj>
              </mc:Choice>
              <mc:Fallback>
                <p:oleObj name="工作表" r:id="rId13" imgW="1701800" imgH="10922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5734050"/>
                        <a:ext cx="11493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1" name="Text Box 24"/>
          <p:cNvSpPr txBox="1">
            <a:spLocks noChangeArrowheads="1"/>
          </p:cNvSpPr>
          <p:nvPr/>
        </p:nvSpPr>
        <p:spPr bwMode="auto">
          <a:xfrm>
            <a:off x="3041650" y="5911850"/>
            <a:ext cx="11715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Scan D</a:t>
            </a:r>
            <a:endParaRPr lang="en-US" altLang="zh-CN" sz="2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5562" name="Object 25"/>
          <p:cNvGraphicFramePr>
            <a:graphicFrameLocks noChangeAspect="1"/>
          </p:cNvGraphicFramePr>
          <p:nvPr/>
        </p:nvGraphicFramePr>
        <p:xfrm>
          <a:off x="4927600" y="5789613"/>
          <a:ext cx="18002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1" name="工作表" r:id="rId15" imgW="2717800" imgH="1079500" progId="Excel.Sheet.8">
                  <p:embed/>
                </p:oleObj>
              </mc:Choice>
              <mc:Fallback>
                <p:oleObj name="工作表" r:id="rId15" imgW="2717800" imgH="1079500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5789613"/>
                        <a:ext cx="18002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3" name="AutoShape 26"/>
          <p:cNvSpPr>
            <a:spLocks noChangeArrowheads="1"/>
          </p:cNvSpPr>
          <p:nvPr/>
        </p:nvSpPr>
        <p:spPr bwMode="auto">
          <a:xfrm>
            <a:off x="688975" y="5291138"/>
            <a:ext cx="184150" cy="368300"/>
          </a:xfrm>
          <a:prstGeom prst="curvedRightArrow">
            <a:avLst>
              <a:gd name="adj1" fmla="val 56630"/>
              <a:gd name="adj2" fmla="val 113278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64" name="Line 27"/>
          <p:cNvSpPr>
            <a:spLocks noChangeShapeType="1"/>
          </p:cNvSpPr>
          <p:nvPr/>
        </p:nvSpPr>
        <p:spPr bwMode="auto">
          <a:xfrm>
            <a:off x="5540375" y="2555875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5565" name="Line 28"/>
          <p:cNvSpPr>
            <a:spLocks noChangeShapeType="1"/>
          </p:cNvSpPr>
          <p:nvPr/>
        </p:nvSpPr>
        <p:spPr bwMode="auto">
          <a:xfrm flipH="1">
            <a:off x="3025775" y="4651375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6" grpId="0"/>
      <p:bldP spid="65547" grpId="0"/>
      <p:bldP spid="65551" grpId="0"/>
      <p:bldP spid="65552" grpId="0"/>
      <p:bldP spid="65553" grpId="0"/>
      <p:bldP spid="65555" grpId="0"/>
      <p:bldP spid="65556" grpId="0" animBg="1"/>
      <p:bldP spid="65558" grpId="0"/>
      <p:bldP spid="65559" grpId="0"/>
      <p:bldP spid="65561" grpId="0"/>
      <p:bldP spid="655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1268413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由频繁项集产生关联规则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同时满足最小支持度和最小置信度的才是强关联规则，从频繁项集产生的规则都满足支持度要求，而其置信度则可由以下公式计算：</a:t>
            </a:r>
            <a:endParaRPr lang="zh-CN" altLang="en-US" sz="24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/>
            <a:endParaRPr lang="zh-CN" altLang="en-US" b="0"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cs typeface="微软雅黑" panose="020B0503020204020204" charset="-122"/>
              </a:rPr>
              <a:t>每个关联规则可由如下过程产生：</a:t>
            </a:r>
            <a:endParaRPr lang="zh-CN" altLang="en-US" sz="24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对于每个频繁项集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l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，产生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l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的所有非空子集；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对于每个非空子集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s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，如果            	            	</a:t>
            </a:r>
            <a:endParaRPr lang="en-US" altLang="zh-CN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       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则输出规则“       	       ”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graphicFrame>
        <p:nvGraphicFramePr>
          <p:cNvPr id="65540" name="对象 2"/>
          <p:cNvGraphicFramePr>
            <a:graphicFrameLocks noChangeAspect="1"/>
          </p:cNvGraphicFramePr>
          <p:nvPr/>
        </p:nvGraphicFramePr>
        <p:xfrm>
          <a:off x="4643438" y="5013325"/>
          <a:ext cx="36004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公式" r:id="rId1" imgW="2032000" imgH="431800" progId="Equation.3">
                  <p:embed/>
                </p:oleObj>
              </mc:Choice>
              <mc:Fallback>
                <p:oleObj name="公式" r:id="rId1" imgW="2032000" imgH="4318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13325"/>
                        <a:ext cx="36004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对象 3"/>
          <p:cNvGraphicFramePr>
            <a:graphicFrameLocks noChangeAspect="1"/>
          </p:cNvGraphicFramePr>
          <p:nvPr/>
        </p:nvGraphicFramePr>
        <p:xfrm>
          <a:off x="3124200" y="5611813"/>
          <a:ext cx="151288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公式" r:id="rId3" imgW="711200" imgH="203200" progId="Equation.3">
                  <p:embed/>
                </p:oleObj>
              </mc:Choice>
              <mc:Fallback>
                <p:oleObj name="公式" r:id="rId3" imgW="711200" imgH="203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611813"/>
                        <a:ext cx="151288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矩形 1"/>
          <p:cNvSpPr>
            <a:spLocks noChangeArrowheads="1"/>
          </p:cNvSpPr>
          <p:nvPr/>
        </p:nvSpPr>
        <p:spPr bwMode="auto">
          <a:xfrm>
            <a:off x="2747963" y="5997575"/>
            <a:ext cx="3432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有多少个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候选规则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6825" y="3357245"/>
            <a:ext cx="752538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rgbClr val="DA1F28"/>
              </a:buClr>
              <a:buFont typeface="Wingdings 2" panose="05020102010507070707" pitchFamily="18" charset="2"/>
              <a:buChar char="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Confidence(A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B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)= P(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B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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)=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P(A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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B)/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P(A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)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95400"/>
            <a:ext cx="8001000" cy="4267200"/>
          </a:xfrm>
        </p:spPr>
        <p:txBody>
          <a:bodyPr/>
          <a:lstStyle/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如果</a:t>
            </a: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{A,B,C,D} 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频繁项集，候选规则为</a:t>
            </a: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:</a:t>
            </a:r>
            <a:endParaRPr lang="en-US" altLang="zh-CN" sz="2800" b="0" dirty="0">
              <a:solidFill>
                <a:srgbClr val="1557AE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marL="808355" lvl="2" indent="0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ABC D, 	ABD C, 	ACD B, 	BCD A, </a:t>
            </a:r>
            <a:b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A BCD,	B ACD,	C ABD, 	D ABC</a:t>
            </a:r>
            <a:b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AB CD,	AC  BD, 	AD  BC, 	BC AD, </a:t>
            </a:r>
            <a:b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</a:b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BD AC, 	CD AB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如果</a:t>
            </a: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|L| = k, 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那么有</a:t>
            </a: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2</a:t>
            </a:r>
            <a:r>
              <a:rPr lang="en-US" altLang="zh-CN" sz="2800" b="0" baseline="30000" dirty="0">
                <a:solidFill>
                  <a:srgbClr val="FF0000"/>
                </a:solidFill>
                <a:cs typeface="微软雅黑" panose="020B0503020204020204" charset="-122"/>
              </a:rPr>
              <a:t>k</a:t>
            </a: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 – 2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候选规则</a:t>
            </a: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 </a:t>
            </a: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(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</a:rPr>
              <a:t>忽略</a:t>
            </a: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L </a:t>
            </a: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  and   L)</a:t>
            </a:r>
            <a:endParaRPr lang="en-US" altLang="zh-CN" sz="2800" b="0" dirty="0">
              <a:solidFill>
                <a:srgbClr val="1557AE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marL="342900" lvl="1" indent="-342900" eaLnBrk="1" hangingPunct="1">
              <a:lnSpc>
                <a:spcPct val="140000"/>
              </a:lnSpc>
              <a:buClrTx/>
            </a:pP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候选规则天生满足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最小支持度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  <a:sym typeface="Symbol" panose="05050102010706020507" pitchFamily="18" charset="2"/>
              </a:rPr>
              <a:t>，关键是需要判断是否满足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最小置信度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marL="808355" lvl="2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0" dirty="0">
              <a:cs typeface="微软雅黑" panose="020B0503020204020204" charset="-122"/>
              <a:sym typeface="Symbol" panose="05050102010706020507" pitchFamily="18" charset="2"/>
            </a:endParaRPr>
          </a:p>
          <a:p>
            <a:pPr marL="808355" lvl="2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b="0" dirty="0"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 txBox="1">
            <a:spLocks noChangeArrowheads="1"/>
          </p:cNvSpPr>
          <p:nvPr/>
        </p:nvSpPr>
        <p:spPr bwMode="auto">
          <a:xfrm>
            <a:off x="468313" y="1052513"/>
            <a:ext cx="867568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如何有效地从频繁项集生成关联规则</a:t>
            </a:r>
            <a:endParaRPr lang="en-US" altLang="zh-CN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一般来说，置信度不具有反单调性</a:t>
            </a:r>
            <a:endParaRPr lang="en-US" altLang="zh-CN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c(ABC D) can be larger or smaller than c(AB D)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 </a:t>
            </a:r>
            <a:endParaRPr lang="en-US" altLang="zh-CN" sz="22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endParaRPr lang="en-US" altLang="zh-CN" sz="1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3429000"/>
            <a:ext cx="7467600" cy="28098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 txBox="1">
            <a:spLocks noChangeArrowheads="1"/>
          </p:cNvSpPr>
          <p:nvPr/>
        </p:nvSpPr>
        <p:spPr bwMode="auto">
          <a:xfrm>
            <a:off x="468313" y="1052513"/>
            <a:ext cx="8675687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lvl="1" eaLnBrk="1" hangingPunct="1">
              <a:lnSpc>
                <a:spcPct val="120000"/>
              </a:lnSpc>
              <a:buClrTx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如何有效地从频繁项集生成关联规则</a:t>
            </a:r>
            <a:endParaRPr lang="en-US" altLang="zh-CN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8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一般来说，置信度不具有反单调性</a:t>
            </a:r>
            <a:endParaRPr lang="en-US" altLang="zh-CN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c(ABC D) can be larger or smaller than c(AB D)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5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有相同项集生成的规则的置信度具有反单调性</a:t>
            </a:r>
            <a:endParaRPr lang="en-US" altLang="zh-CN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</a:t>
            </a:r>
            <a:endParaRPr lang="en-US" altLang="zh-CN" sz="22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 </a:t>
            </a:r>
            <a:endParaRPr lang="en-US" altLang="zh-CN" sz="22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e.g., L = {A,B,C,D}:  	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              c(ABC  D)  c(AB  CD)  c(A  BCD)</a:t>
            </a:r>
            <a:endParaRPr lang="en-US" altLang="zh-CN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</a:t>
            </a:r>
            <a:endParaRPr lang="en-US" altLang="zh-CN" sz="1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pic>
        <p:nvPicPr>
          <p:cNvPr id="6758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3937000"/>
            <a:ext cx="855821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4368800"/>
            <a:ext cx="41719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589" name="矩形 1"/>
          <p:cNvSpPr>
            <a:spLocks noChangeArrowheads="1"/>
          </p:cNvSpPr>
          <p:nvPr/>
        </p:nvSpPr>
        <p:spPr bwMode="auto">
          <a:xfrm>
            <a:off x="6516688" y="4941888"/>
            <a:ext cx="1627187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algn="ctr" eaLnBrk="1" hangingPunct="1">
              <a:lnSpc>
                <a:spcPct val="120000"/>
              </a:lnSpc>
              <a:buSzPct val="100000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为什么？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 txBox="1">
            <a:spLocks noChangeArrowheads="1"/>
          </p:cNvSpPr>
          <p:nvPr/>
        </p:nvSpPr>
        <p:spPr bwMode="auto">
          <a:xfrm>
            <a:off x="385837" y="1844824"/>
            <a:ext cx="490688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441325" indent="-441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对于频繁</a:t>
            </a:r>
            <a:r>
              <a:rPr lang="en-GB" altLang="zh-CN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项集 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GB" altLang="zh-CN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&gt; 2)</a:t>
            </a:r>
            <a:endParaRPr lang="en-GB" altLang="zh-CN" sz="2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计算规则头中只有一个项的规则的置信度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利用这些规则，迭代方法增加规则头中项集大小，计算置信度</a:t>
            </a:r>
            <a:endParaRPr lang="en-GB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如果置信度小于阈值，则裁剪</a:t>
            </a:r>
            <a:endParaRPr lang="en-GB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611" name="Rectangle 4"/>
          <p:cNvSpPr txBox="1">
            <a:spLocks noChangeArrowheads="1"/>
          </p:cNvSpPr>
          <p:nvPr/>
        </p:nvSpPr>
        <p:spPr bwMode="auto">
          <a:xfrm>
            <a:off x="5292725" y="1268413"/>
            <a:ext cx="396081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72000" bIns="72000"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GB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{Bread, Milk, Diaper}</a:t>
            </a:r>
            <a:endParaRPr lang="en-GB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1-item rules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{Bread, Milk} 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{Diaper}</a:t>
            </a:r>
            <a:endParaRPr lang="en-GB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{Milk, Diaper} 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{Bread}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{Diaper, Bread} 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 {Milk} 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2-item rules 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{Bread}  {Milk, Diaper} </a:t>
            </a:r>
            <a:b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</a:b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{Diaper}  {Milk, Bread}  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	{Milk}  {Diaper, Bread}</a:t>
            </a:r>
            <a:endParaRPr lang="en-US" altLang="zh-CN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 txBox="1">
            <a:spLocks noChangeArrowheads="1"/>
          </p:cNvSpPr>
          <p:nvPr/>
        </p:nvSpPr>
        <p:spPr bwMode="auto">
          <a:xfrm>
            <a:off x="1475656" y="3284984"/>
            <a:ext cx="670748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90000"/>
              </a:lnSpc>
              <a:buClr>
                <a:srgbClr val="FF0000"/>
              </a:buClr>
              <a:buNone/>
            </a:pPr>
            <a:r>
              <a:rPr lang="zh-CN" altLang="en-US" sz="3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</a:t>
            </a:r>
            <a:r>
              <a:rPr lang="en-US" altLang="zh-CN" sz="3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(Association </a:t>
            </a:r>
            <a:r>
              <a:rPr lang="en-US" altLang="zh-CN" sz="3200" b="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Rule.ipynb</a:t>
            </a:r>
            <a:r>
              <a:rPr lang="en-US" altLang="zh-CN" sz="3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GB" altLang="zh-CN" sz="3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0"/>
          <p:cNvGraphicFramePr>
            <a:graphicFrameLocks noGrp="1"/>
          </p:cNvGraphicFramePr>
          <p:nvPr/>
        </p:nvGraphicFramePr>
        <p:xfrm>
          <a:off x="1115616" y="2132856"/>
          <a:ext cx="7129463" cy="3582989"/>
        </p:xfrm>
        <a:graphic>
          <a:graphicData uri="http://schemas.openxmlformats.org/drawingml/2006/table">
            <a:tbl>
              <a:tblPr/>
              <a:tblGrid>
                <a:gridCol w="1817688"/>
                <a:gridCol w="5311775"/>
              </a:tblGrid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TID</a:t>
                      </a:r>
                      <a:endParaRPr kumimoji="0" lang="de-DE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List of Items</a:t>
                      </a:r>
                      <a:endParaRPr kumimoji="0" lang="de-DE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1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Beer,Diaper,Baby Powder,Bread,Umbrella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3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Beer,Diaper,Detergent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63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5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Beer,Milk,Coca-Cola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T="45728" marB="45728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03848" y="1484784"/>
            <a:ext cx="3227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b="0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Min_sup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 40% (2/5)</a:t>
            </a:r>
            <a:endParaRPr lang="en-US" altLang="zh-CN" sz="24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196975"/>
            <a:ext cx="45466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endParaRPr lang="zh-CN" altLang="en-US" sz="2800" b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12813" y="2060848"/>
            <a:ext cx="8110537" cy="373194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C1 </a:t>
            </a:r>
            <a:r>
              <a:rPr 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</a:t>
            </a:r>
            <a:r>
              <a:rPr 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L1</a:t>
            </a:r>
            <a:endParaRPr lang="en-US" sz="2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Group 42"/>
          <p:cNvGraphicFramePr>
            <a:graphicFrameLocks noGrp="1"/>
          </p:cNvGraphicFramePr>
          <p:nvPr/>
        </p:nvGraphicFramePr>
        <p:xfrm>
          <a:off x="533400" y="2644775"/>
          <a:ext cx="4267200" cy="3571875"/>
        </p:xfrm>
        <a:graphic>
          <a:graphicData uri="http://schemas.openxmlformats.org/drawingml/2006/table">
            <a:tbl>
              <a:tblPr/>
              <a:tblGrid>
                <a:gridCol w="2454275"/>
                <a:gridCol w="1812925"/>
              </a:tblGrid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Beer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Bread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Umbrella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Detergent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Coca-Cola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86" marB="45686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Group 68"/>
          <p:cNvGraphicFramePr>
            <a:graphicFrameLocks noGrp="1"/>
          </p:cNvGraphicFramePr>
          <p:nvPr/>
        </p:nvGraphicFramePr>
        <p:xfrm>
          <a:off x="5292725" y="3170238"/>
          <a:ext cx="3527425" cy="2624190"/>
        </p:xfrm>
        <a:graphic>
          <a:graphicData uri="http://schemas.openxmlformats.org/drawingml/2006/table">
            <a:tbl>
              <a:tblPr/>
              <a:tblGrid>
                <a:gridCol w="1938033"/>
                <a:gridCol w="1589392"/>
              </a:tblGrid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"4/5"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09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07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 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32" marR="91432" marT="45699" marB="45699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683" name="Rectangle 3"/>
          <p:cNvSpPr txBox="1">
            <a:spLocks noChangeArrowheads="1"/>
          </p:cNvSpPr>
          <p:nvPr/>
        </p:nvSpPr>
        <p:spPr bwMode="auto">
          <a:xfrm>
            <a:off x="1908175" y="2079625"/>
            <a:ext cx="6767513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C2                   </a:t>
            </a: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</a:t>
            </a: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L2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Group 35"/>
          <p:cNvGraphicFramePr>
            <a:graphicFrameLocks noGrp="1"/>
          </p:cNvGraphicFramePr>
          <p:nvPr/>
        </p:nvGraphicFramePr>
        <p:xfrm>
          <a:off x="152400" y="2667000"/>
          <a:ext cx="4564063" cy="3511548"/>
        </p:xfrm>
        <a:graphic>
          <a:graphicData uri="http://schemas.openxmlformats.org/drawingml/2006/table">
            <a:tbl>
              <a:tblPr/>
              <a:tblGrid>
                <a:gridCol w="2906998"/>
                <a:gridCol w="1657065"/>
              </a:tblGrid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"3/5"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1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83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Baby Powder,Milk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"0"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9" marR="91449"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57"/>
          <p:cNvGraphicFramePr>
            <a:graphicFrameLocks noGrp="1"/>
          </p:cNvGraphicFramePr>
          <p:nvPr/>
        </p:nvGraphicFramePr>
        <p:xfrm>
          <a:off x="4889500" y="3284538"/>
          <a:ext cx="4254500" cy="2235199"/>
        </p:xfrm>
        <a:graphic>
          <a:graphicData uri="http://schemas.openxmlformats.org/drawingml/2006/table">
            <a:tbl>
              <a:tblPr/>
              <a:tblGrid>
                <a:gridCol w="2765837"/>
                <a:gridCol w="1488663"/>
              </a:tblGrid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"3/5"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113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12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"2/5"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3" marR="91443"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07" name="Rectangle 3"/>
          <p:cNvSpPr txBox="1">
            <a:spLocks noChangeArrowheads="1"/>
          </p:cNvSpPr>
          <p:nvPr/>
        </p:nvSpPr>
        <p:spPr bwMode="auto">
          <a:xfrm>
            <a:off x="2124075" y="2205038"/>
            <a:ext cx="669607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                    </a:t>
            </a: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Wingdings" panose="05000000000000000000" pitchFamily="2" charset="2"/>
              </a:rPr>
              <a:t></a:t>
            </a: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empty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Group 28"/>
          <p:cNvGraphicFramePr>
            <a:graphicFrameLocks noGrp="1"/>
          </p:cNvGraphicFramePr>
          <p:nvPr/>
        </p:nvGraphicFramePr>
        <p:xfrm>
          <a:off x="611188" y="3213100"/>
          <a:ext cx="5473700" cy="1600200"/>
        </p:xfrm>
        <a:graphic>
          <a:graphicData uri="http://schemas.openxmlformats.org/drawingml/2006/table">
            <a:tbl>
              <a:tblPr/>
              <a:tblGrid>
                <a:gridCol w="3910012"/>
                <a:gridCol w="1563688"/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Support</a:t>
                      </a:r>
                      <a:endParaRPr kumimoji="0" lang="de-DE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Beer, 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Beer, Diaper,Milk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  <a:cs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"1/5"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 txBox="1">
            <a:spLocks noChangeArrowheads="1"/>
          </p:cNvSpPr>
          <p:nvPr/>
        </p:nvSpPr>
        <p:spPr bwMode="auto">
          <a:xfrm>
            <a:off x="420688" y="1203325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31" name="Rectangle 3"/>
          <p:cNvSpPr txBox="1">
            <a:spLocks noChangeArrowheads="1"/>
          </p:cNvSpPr>
          <p:nvPr/>
        </p:nvSpPr>
        <p:spPr bwMode="auto">
          <a:xfrm>
            <a:off x="912813" y="1962150"/>
            <a:ext cx="8110537" cy="389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min_sup=40%    min_conf=70%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Group 57"/>
          <p:cNvGraphicFramePr>
            <a:graphicFrameLocks noGrp="1"/>
          </p:cNvGraphicFramePr>
          <p:nvPr/>
        </p:nvGraphicFramePr>
        <p:xfrm>
          <a:off x="250825" y="2924175"/>
          <a:ext cx="8772525" cy="3044825"/>
        </p:xfrm>
        <a:graphic>
          <a:graphicData uri="http://schemas.openxmlformats.org/drawingml/2006/table">
            <a:tbl>
              <a:tblPr/>
              <a:tblGrid>
                <a:gridCol w="3344354"/>
                <a:gridCol w="2148722"/>
                <a:gridCol w="1557738"/>
                <a:gridCol w="1721711"/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Item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Support(A,B)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Suport A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Confidence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60%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75%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Beer, Milk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50%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Diaper,Baby Powder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50%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Diaper,Beer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60%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80%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75%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Milk,Beer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100%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Baby Powder, Diaper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40%</a:t>
                      </a:r>
                      <a:endParaRPr kumimoji="0" lang="de-DE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6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1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5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de-DE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100%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8" marR="91448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5466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755" name="Rectangle 3"/>
          <p:cNvSpPr txBox="1">
            <a:spLocks noChangeArrowheads="1"/>
          </p:cNvSpPr>
          <p:nvPr/>
        </p:nvSpPr>
        <p:spPr bwMode="auto">
          <a:xfrm>
            <a:off x="2222500" y="2133600"/>
            <a:ext cx="6237288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support 60%, confidence 75%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support 60%,  confidence 75%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support 40%, confidence 100%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support 40%, confidence 100%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1614488" y="2209800"/>
          <a:ext cx="2670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5" name="Equation" r:id="rId1" imgW="990600" imgH="165100" progId="Equation.3">
                  <p:embed/>
                </p:oleObj>
              </mc:Choice>
              <mc:Fallback>
                <p:oleObj name="Equation" r:id="rId1" imgW="990600" imgH="165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2209800"/>
                        <a:ext cx="2670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1614488" y="3284538"/>
          <a:ext cx="2670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6" name="Equation" r:id="rId3" imgW="990600" imgH="165100" progId="Equation.3">
                  <p:embed/>
                </p:oleObj>
              </mc:Choice>
              <mc:Fallback>
                <p:oleObj name="Equation" r:id="rId3" imgW="990600" imgH="165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3284538"/>
                        <a:ext cx="2670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1690688" y="4292600"/>
          <a:ext cx="2305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7" name="Equation" r:id="rId5" imgW="850900" imgH="139700" progId="Equation.3">
                  <p:embed/>
                </p:oleObj>
              </mc:Choice>
              <mc:Fallback>
                <p:oleObj name="Equation" r:id="rId5" imgW="850900" imgH="139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292600"/>
                        <a:ext cx="2305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689100" y="5300663"/>
          <a:ext cx="43227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28" name="Equation" r:id="rId7" imgW="1612900" imgH="177800" progId="Equation.3">
                  <p:embed/>
                </p:oleObj>
              </mc:Choice>
              <mc:Fallback>
                <p:oleObj name="Equation" r:id="rId7" imgW="16129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5300663"/>
                        <a:ext cx="43227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981075"/>
            <a:ext cx="8392988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en-US" altLang="zh-CN" sz="24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算法通常是可行的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（三个因素：单调性、稀疏性、支持度）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提高</a:t>
            </a:r>
            <a:r>
              <a:rPr lang="en-US" altLang="zh-CN" sz="24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算法的有效性</a:t>
            </a:r>
            <a:endParaRPr lang="en-US" altLang="zh-CN" sz="24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4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算法主要的挑战</a:t>
            </a:r>
            <a:endParaRPr lang="zh-CN" altLang="en-US" sz="24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要对数据进行多次扫描；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会产生大量的候选项集；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对候选项集的支持度计算非常繁琐；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pic>
        <p:nvPicPr>
          <p:cNvPr id="75779" name="Picture 4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363" y="3789363"/>
            <a:ext cx="4613275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2776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提高</a:t>
            </a:r>
            <a:r>
              <a:rPr lang="en-US" altLang="zh-CN" sz="28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算法的有效性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解决思路</a:t>
            </a:r>
            <a:endParaRPr lang="zh-CN" altLang="en-US" sz="24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减少对数据的扫描次数；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缩小产生的候选项集；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001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改进对候选项集的支持度计算方法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>
          <a:xfrm>
            <a:off x="570706" y="1340768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panose="020B0503020204020204" charset="-122"/>
              </a:rPr>
              <a:t>AprioriTid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同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算法一样利用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Apriori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-gen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过程生成候选项集；</a:t>
            </a:r>
            <a:endParaRPr lang="en-US" altLang="zh-CN" sz="22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与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Apriori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算法的重要区别是支持度的确定：仅用扫描一次数据库</a:t>
            </a:r>
            <a:endParaRPr lang="en-US" altLang="zh-CN" sz="22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用集合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C’k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代替数据库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endParaRPr lang="en-US" altLang="zh-CN" sz="22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每个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C’k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的元素形如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&lt;TID, {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X</a:t>
            </a:r>
            <a:r>
              <a:rPr lang="en-US" altLang="zh-CN" sz="2200" b="0" baseline="-25000" dirty="0" err="1">
                <a:solidFill>
                  <a:srgbClr val="1557AE"/>
                </a:solidFill>
                <a:cs typeface="微软雅黑" panose="020B0503020204020204" charset="-122"/>
              </a:rPr>
              <a:t>k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} &gt;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，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每个</a:t>
            </a:r>
            <a:r>
              <a:rPr lang="en-US" altLang="zh-CN" sz="2200" b="0" dirty="0" err="1">
                <a:solidFill>
                  <a:srgbClr val="1557AE"/>
                </a:solidFill>
                <a:cs typeface="微软雅黑" panose="020B0503020204020204" charset="-122"/>
              </a:rPr>
              <a:t>X</a:t>
            </a:r>
            <a:r>
              <a:rPr lang="en-US" altLang="zh-CN" sz="2200" b="0" baseline="-25000" dirty="0" err="1">
                <a:solidFill>
                  <a:srgbClr val="1557AE"/>
                </a:solidFill>
                <a:cs typeface="微软雅黑" panose="020B0503020204020204" charset="-122"/>
              </a:rPr>
              <a:t>k</a:t>
            </a:r>
            <a:r>
              <a:rPr lang="en-US" altLang="zh-CN" sz="2200" b="0" baseline="-2500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是事务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TID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包含的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k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项集</a:t>
            </a:r>
            <a:endParaRPr lang="en-US" altLang="zh-CN" sz="22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 typeface="Verdana" panose="020B0604030504040204" pitchFamily="34" charset="0"/>
              <a:buAutoNum type="arabicPeriod"/>
            </a:pP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C’1 </a:t>
            </a:r>
            <a:r>
              <a:rPr lang="zh-CN" altLang="en-US" sz="2200" b="0" dirty="0">
                <a:solidFill>
                  <a:srgbClr val="1557AE"/>
                </a:solidFill>
                <a:cs typeface="微软雅黑" panose="020B0503020204020204" charset="-122"/>
              </a:rPr>
              <a:t>对应于数据库</a:t>
            </a:r>
            <a:r>
              <a:rPr lang="en-US" altLang="zh-CN" sz="2200" b="0" dirty="0">
                <a:solidFill>
                  <a:srgbClr val="1557AE"/>
                </a:solidFill>
                <a:cs typeface="微软雅黑" panose="020B0503020204020204" charset="-122"/>
              </a:rPr>
              <a:t> D.</a:t>
            </a:r>
            <a:endParaRPr lang="en-US" altLang="zh-CN" sz="22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22" name="Group 2"/>
          <p:cNvGraphicFramePr>
            <a:graphicFrameLocks noGrp="1"/>
          </p:cNvGraphicFramePr>
          <p:nvPr/>
        </p:nvGraphicFramePr>
        <p:xfrm>
          <a:off x="611188" y="692150"/>
          <a:ext cx="1600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609600"/>
              </a:tblGrid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1 3 4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2 3 5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1 2 3 5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2 5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44" name="Group 24"/>
          <p:cNvGraphicFramePr>
            <a:graphicFrameLocks noGrp="1"/>
          </p:cNvGraphicFramePr>
          <p:nvPr/>
        </p:nvGraphicFramePr>
        <p:xfrm>
          <a:off x="3048000" y="609600"/>
          <a:ext cx="2362200" cy="1920876"/>
        </p:xfrm>
        <a:graphic>
          <a:graphicData uri="http://schemas.openxmlformats.org/drawingml/2006/table">
            <a:tbl>
              <a:tblPr/>
              <a:tblGrid>
                <a:gridCol w="1711325"/>
                <a:gridCol w="650875"/>
              </a:tblGrid>
              <a:tr h="579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Set-of-itemsets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{1},{3},{4}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{2},{3},{5}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{1},{2},{3},{5}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{2},{5}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66" name="Group 46"/>
          <p:cNvGraphicFramePr>
            <a:graphicFrameLocks noGrp="1"/>
          </p:cNvGraphicFramePr>
          <p:nvPr/>
        </p:nvGraphicFramePr>
        <p:xfrm>
          <a:off x="6400800" y="609600"/>
          <a:ext cx="1981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{1}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586" name="Group 66"/>
          <p:cNvGraphicFramePr>
            <a:graphicFrameLocks noGrp="1"/>
          </p:cNvGraphicFramePr>
          <p:nvPr/>
        </p:nvGraphicFramePr>
        <p:xfrm>
          <a:off x="755650" y="3141663"/>
          <a:ext cx="1219200" cy="2346344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{1 2}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{1 3}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{1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3}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{3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04" name="Group 84"/>
          <p:cNvGraphicFramePr>
            <a:graphicFrameLocks noGrp="1"/>
          </p:cNvGraphicFramePr>
          <p:nvPr/>
        </p:nvGraphicFramePr>
        <p:xfrm>
          <a:off x="2971800" y="3200400"/>
          <a:ext cx="2667000" cy="1968518"/>
        </p:xfrm>
        <a:graphic>
          <a:graphicData uri="http://schemas.openxmlformats.org/drawingml/2006/table">
            <a:tbl>
              <a:tblPr/>
              <a:tblGrid>
                <a:gridCol w="1976437"/>
                <a:gridCol w="690563"/>
              </a:tblGrid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Set-of-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{1 3}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 3},{2 5} {3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7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{1 2},{1 3},{1 5},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3}, {2 5}, {3 5} }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 5} 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26" name="Group 106"/>
          <p:cNvGraphicFramePr>
            <a:graphicFrameLocks noGrp="1"/>
          </p:cNvGraphicFramePr>
          <p:nvPr/>
        </p:nvGraphicFramePr>
        <p:xfrm>
          <a:off x="6477000" y="3276600"/>
          <a:ext cx="1981200" cy="167640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{1 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3}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{3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46" name="Group 126"/>
          <p:cNvGraphicFramePr>
            <a:graphicFrameLocks noGrp="1"/>
          </p:cNvGraphicFramePr>
          <p:nvPr/>
        </p:nvGraphicFramePr>
        <p:xfrm>
          <a:off x="684213" y="5949950"/>
          <a:ext cx="1219200" cy="669932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3 5}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54" name="Group 134"/>
          <p:cNvGraphicFramePr>
            <a:graphicFrameLocks noGrp="1"/>
          </p:cNvGraphicFramePr>
          <p:nvPr/>
        </p:nvGraphicFramePr>
        <p:xfrm>
          <a:off x="2895600" y="5638800"/>
          <a:ext cx="2667000" cy="1006476"/>
        </p:xfrm>
        <a:graphic>
          <a:graphicData uri="http://schemas.openxmlformats.org/drawingml/2006/table">
            <a:tbl>
              <a:tblPr/>
              <a:tblGrid>
                <a:gridCol w="1976437"/>
                <a:gridCol w="690563"/>
              </a:tblGrid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Set-of-itemsets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TID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 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 {2 3 5} }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91670" name="Group 150"/>
          <p:cNvGraphicFramePr>
            <a:graphicFrameLocks noGrp="1"/>
          </p:cNvGraphicFramePr>
          <p:nvPr/>
        </p:nvGraphicFramePr>
        <p:xfrm>
          <a:off x="6477000" y="5791200"/>
          <a:ext cx="1981200" cy="669932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Support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Itemset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{2 3 5}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001" name="Text Box 161"/>
          <p:cNvSpPr txBox="1">
            <a:spLocks noChangeArrowheads="1"/>
          </p:cNvSpPr>
          <p:nvPr/>
        </p:nvSpPr>
        <p:spPr bwMode="auto">
          <a:xfrm>
            <a:off x="323850" y="188913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Database</a:t>
            </a:r>
            <a:endParaRPr lang="en-US" altLang="zh-CN" sz="1800" b="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02" name="Text Box 162"/>
          <p:cNvSpPr txBox="1">
            <a:spLocks noChangeArrowheads="1"/>
          </p:cNvSpPr>
          <p:nvPr/>
        </p:nvSpPr>
        <p:spPr bwMode="auto">
          <a:xfrm>
            <a:off x="3203575" y="188913"/>
            <a:ext cx="129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3" name="Text Box 163"/>
          <p:cNvSpPr txBox="1">
            <a:spLocks noChangeArrowheads="1"/>
          </p:cNvSpPr>
          <p:nvPr/>
        </p:nvSpPr>
        <p:spPr bwMode="auto">
          <a:xfrm>
            <a:off x="6877050" y="27813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4" name="Text Box 164"/>
          <p:cNvSpPr txBox="1">
            <a:spLocks noChangeArrowheads="1"/>
          </p:cNvSpPr>
          <p:nvPr/>
        </p:nvSpPr>
        <p:spPr bwMode="auto">
          <a:xfrm>
            <a:off x="755650" y="263683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rtl="1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5" name="Rectangle 165"/>
          <p:cNvSpPr>
            <a:spLocks noChangeArrowheads="1"/>
          </p:cNvSpPr>
          <p:nvPr/>
        </p:nvSpPr>
        <p:spPr bwMode="auto">
          <a:xfrm>
            <a:off x="3467100" y="2708275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6" name="Rectangle 166"/>
          <p:cNvSpPr>
            <a:spLocks noChangeArrowheads="1"/>
          </p:cNvSpPr>
          <p:nvPr/>
        </p:nvSpPr>
        <p:spPr bwMode="auto">
          <a:xfrm>
            <a:off x="3400425" y="5257800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C^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07" name="Text Box 167"/>
          <p:cNvSpPr txBox="1">
            <a:spLocks noChangeArrowheads="1"/>
          </p:cNvSpPr>
          <p:nvPr/>
        </p:nvSpPr>
        <p:spPr bwMode="auto">
          <a:xfrm>
            <a:off x="6804025" y="18891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8" name="Text Box 168"/>
          <p:cNvSpPr txBox="1">
            <a:spLocks noChangeArrowheads="1"/>
          </p:cNvSpPr>
          <p:nvPr/>
        </p:nvSpPr>
        <p:spPr bwMode="auto">
          <a:xfrm>
            <a:off x="6781800" y="52578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689" name="Text Box 169"/>
          <p:cNvSpPr txBox="1">
            <a:spLocks noChangeArrowheads="1"/>
          </p:cNvSpPr>
          <p:nvPr/>
        </p:nvSpPr>
        <p:spPr bwMode="auto">
          <a:xfrm>
            <a:off x="755650" y="5516563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rtl="1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sz="1800" b="0" baseline="-25000">
                <a:solidFill>
                  <a:srgbClr val="00669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1800" b="0" baseline="-25000">
              <a:solidFill>
                <a:srgbClr val="0066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1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9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9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83" grpId="0" autoUpdateAnimBg="0"/>
      <p:bldP spid="491684" grpId="0" autoUpdateAnimBg="0"/>
      <p:bldP spid="491685" grpId="0" autoUpdateAnimBg="0"/>
      <p:bldP spid="491686" grpId="0" autoUpdateAnimBg="0"/>
      <p:bldP spid="491688" grpId="0" autoUpdateAnimBg="0"/>
      <p:bldP spid="491689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计算项集的支持度需要花费大量时间，需要检查数据库中的每个事务，涉及大量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I/O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资源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 dirty="0" err="1">
                <a:solidFill>
                  <a:srgbClr val="FF0000"/>
                </a:solidFill>
                <a:cs typeface="微软雅黑" panose="020B0503020204020204" charset="-122"/>
              </a:rPr>
              <a:t>AprioriTid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初始阶段候选项集较大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.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时间开销和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en-US" altLang="zh-CN" sz="2400" b="0" dirty="0" err="1">
                <a:solidFill>
                  <a:srgbClr val="1557AE"/>
                </a:solidFill>
                <a:cs typeface="微软雅黑" panose="020B0503020204020204" charset="-122"/>
              </a:rPr>
              <a:t>Apriori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相当，并且要占用大量的内存开销</a:t>
            </a:r>
            <a:endParaRPr lang="en-US" altLang="zh-CN" sz="24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Apriori Hybrid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算法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初始阶段</a:t>
            </a:r>
            <a:r>
              <a:rPr lang="en-US" altLang="zh-CN" sz="2400" b="0">
                <a:solidFill>
                  <a:srgbClr val="1557AE"/>
                </a:solidFill>
                <a:cs typeface="微软雅黑" panose="020B0503020204020204" charset="-122"/>
              </a:rPr>
              <a:t>: </a:t>
            </a:r>
            <a:r>
              <a:rPr lang="en-US" altLang="zh-CN" sz="2400" b="0">
                <a:solidFill>
                  <a:srgbClr val="FF0000"/>
                </a:solidFill>
                <a:cs typeface="微软雅黑" panose="020B0503020204020204" charset="-122"/>
              </a:rPr>
              <a:t>Apriori </a:t>
            </a:r>
            <a:r>
              <a:rPr lang="en-US" altLang="zh-CN" sz="2400" b="0">
                <a:solidFill>
                  <a:srgbClr val="0000FF"/>
                </a:solidFill>
                <a:cs typeface="微软雅黑" panose="020B0503020204020204" charset="-122"/>
              </a:rPr>
              <a:t> </a:t>
            </a: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性能较好</a:t>
            </a:r>
            <a:endParaRPr lang="en-US" altLang="zh-CN" sz="24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后续阶段</a:t>
            </a:r>
            <a:r>
              <a:rPr lang="en-US" altLang="zh-CN" sz="2400" b="0">
                <a:solidFill>
                  <a:srgbClr val="1557AE"/>
                </a:solidFill>
                <a:cs typeface="微软雅黑" panose="020B0503020204020204" charset="-122"/>
              </a:rPr>
              <a:t>: </a:t>
            </a:r>
            <a:r>
              <a:rPr lang="en-US" altLang="zh-CN" sz="2400" b="0">
                <a:solidFill>
                  <a:srgbClr val="FF0000"/>
                </a:solidFill>
                <a:cs typeface="微软雅黑" panose="020B0503020204020204" charset="-122"/>
              </a:rPr>
              <a:t>AprioriTid</a:t>
            </a: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性能较好</a:t>
            </a:r>
            <a:endParaRPr lang="en-US" altLang="zh-CN" sz="24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838200" lvl="2" indent="-441325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sz="2400" b="0">
                <a:solidFill>
                  <a:srgbClr val="FF0000"/>
                </a:solidFill>
                <a:cs typeface="微软雅黑" panose="020B0503020204020204" charset="-122"/>
              </a:rPr>
              <a:t>Apriori Hybrid:</a:t>
            </a:r>
            <a:endParaRPr lang="en-US" altLang="zh-CN" sz="24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在初始阶段使用</a:t>
            </a:r>
            <a:r>
              <a:rPr lang="en-US" altLang="zh-CN" sz="2000" b="0">
                <a:solidFill>
                  <a:srgbClr val="FF0000"/>
                </a:solidFill>
                <a:cs typeface="微软雅黑" panose="020B0503020204020204" charset="-122"/>
              </a:rPr>
              <a:t>Apriori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算法，后续使用</a:t>
            </a:r>
            <a:r>
              <a:rPr lang="en-US" altLang="zh-CN" sz="2000" b="0">
                <a:solidFill>
                  <a:srgbClr val="FF0000"/>
                </a:solidFill>
                <a:cs typeface="微软雅黑" panose="020B0503020204020204" charset="-122"/>
              </a:rPr>
              <a:t>AprioriTid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算法</a:t>
            </a:r>
            <a:endParaRPr lang="en-US" altLang="zh-CN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缺点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: </a:t>
            </a:r>
            <a:r>
              <a:rPr lang="en-US" altLang="zh-CN" sz="2000" b="0">
                <a:solidFill>
                  <a:srgbClr val="FF0000"/>
                </a:solidFill>
                <a:cs typeface="微软雅黑" panose="020B0503020204020204" charset="-122"/>
              </a:rPr>
              <a:t>Apriori 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向</a:t>
            </a:r>
            <a:r>
              <a:rPr lang="en-US" altLang="zh-CN" sz="2000" b="0">
                <a:solidFill>
                  <a:srgbClr val="FF0000"/>
                </a:solidFill>
                <a:cs typeface="微软雅黑" panose="020B0503020204020204" charset="-122"/>
              </a:rPr>
              <a:t>AprioriTid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过度会带来额外开销</a:t>
            </a:r>
            <a:endParaRPr lang="en-US" altLang="zh-CN" sz="20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0010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关联规则的兴趣度度量</a:t>
            </a:r>
            <a:endParaRPr lang="en-US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客观度量</a:t>
            </a:r>
            <a:r>
              <a:rPr lang="en-US" altLang="zh-CN" sz="2400" b="0" dirty="0">
                <a:solidFill>
                  <a:srgbClr val="FF0000"/>
                </a:solidFill>
                <a:cs typeface="微软雅黑" panose="020B0503020204020204" charset="-122"/>
              </a:rPr>
              <a:t>: 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支持度、置信度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  <a:cs typeface="微软雅黑" panose="020B0503020204020204" charset="-122"/>
              </a:rPr>
              <a:t>主观度量：</a:t>
            </a: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最终，只有用户才能确定一个规则是否有趣的，而且这种判断是主观的，因不同的用户而异；通常认为一个规则（模式）是有趣的，如果：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它是出人意料的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可行动的（用户可以使用该规则做某些事情）</a:t>
            </a:r>
            <a:endParaRPr lang="zh-CN" altLang="en-US" sz="20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</a:rPr>
              <a:t>关联规则可视化</a:t>
            </a:r>
            <a:endParaRPr lang="en-US" altLang="zh-CN" sz="28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</a:rPr>
              <a:t>表格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pic>
        <p:nvPicPr>
          <p:cNvPr id="83971" name="tabl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78100"/>
            <a:ext cx="813593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AutoShape 1060"/>
          <p:cNvSpPr>
            <a:spLocks noChangeArrowheads="1"/>
          </p:cNvSpPr>
          <p:nvPr/>
        </p:nvSpPr>
        <p:spPr bwMode="auto">
          <a:xfrm>
            <a:off x="2843213" y="3314700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73" name="AutoShape 1061"/>
          <p:cNvSpPr>
            <a:spLocks noChangeArrowheads="1"/>
          </p:cNvSpPr>
          <p:nvPr/>
        </p:nvSpPr>
        <p:spPr bwMode="auto">
          <a:xfrm>
            <a:off x="2844800" y="3860800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974" name="AutoShape 1062"/>
          <p:cNvSpPr>
            <a:spLocks noChangeArrowheads="1"/>
          </p:cNvSpPr>
          <p:nvPr/>
        </p:nvSpPr>
        <p:spPr bwMode="auto">
          <a:xfrm>
            <a:off x="2844800" y="4365625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496680" y="1268760"/>
            <a:ext cx="835342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0000"/>
                </a:solidFill>
              </a:rPr>
              <a:t>关联规则可视化</a:t>
            </a:r>
            <a:endParaRPr lang="en-US" altLang="zh-CN" sz="28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0" dirty="0">
                <a:solidFill>
                  <a:srgbClr val="FF0000"/>
                </a:solidFill>
              </a:rPr>
              <a:t>有向图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  <p:sp>
        <p:nvSpPr>
          <p:cNvPr id="84995" name="AutoShape 4"/>
          <p:cNvSpPr>
            <a:spLocks noChangeArrowheads="1"/>
          </p:cNvSpPr>
          <p:nvPr/>
        </p:nvSpPr>
        <p:spPr bwMode="auto">
          <a:xfrm>
            <a:off x="744330" y="2324448"/>
            <a:ext cx="707214" cy="576262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96" name="AutoShape 5"/>
          <p:cNvSpPr>
            <a:spLocks noChangeArrowheads="1"/>
          </p:cNvSpPr>
          <p:nvPr/>
        </p:nvSpPr>
        <p:spPr bwMode="auto">
          <a:xfrm>
            <a:off x="744330" y="47009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97" name="AutoShape 6"/>
          <p:cNvSpPr>
            <a:spLocks noChangeArrowheads="1"/>
          </p:cNvSpPr>
          <p:nvPr/>
        </p:nvSpPr>
        <p:spPr bwMode="auto">
          <a:xfrm>
            <a:off x="2976355" y="29007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98" name="AutoShape 7"/>
          <p:cNvSpPr>
            <a:spLocks noChangeArrowheads="1"/>
          </p:cNvSpPr>
          <p:nvPr/>
        </p:nvSpPr>
        <p:spPr bwMode="auto">
          <a:xfrm>
            <a:off x="2976355" y="41961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99" name="Text Box 8"/>
          <p:cNvSpPr txBox="1">
            <a:spLocks noChangeArrowheads="1"/>
          </p:cNvSpPr>
          <p:nvPr/>
        </p:nvSpPr>
        <p:spPr bwMode="auto">
          <a:xfrm>
            <a:off x="815768" y="2900710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PC	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00" name="Text Box 9"/>
          <p:cNvSpPr txBox="1">
            <a:spLocks noChangeArrowheads="1"/>
          </p:cNvSpPr>
          <p:nvPr/>
        </p:nvSpPr>
        <p:spPr bwMode="auto">
          <a:xfrm>
            <a:off x="2760455" y="3476973"/>
            <a:ext cx="1336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001" name="AutoShape 10"/>
          <p:cNvCxnSpPr>
            <a:cxnSpLocks noChangeShapeType="1"/>
            <a:stCxn id="84995" idx="6"/>
            <a:endCxn id="84997" idx="2"/>
          </p:cNvCxnSpPr>
          <p:nvPr/>
        </p:nvCxnSpPr>
        <p:spPr bwMode="auto">
          <a:xfrm>
            <a:off x="1451544" y="2612579"/>
            <a:ext cx="1524811" cy="5762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2" name="Text Box 11"/>
          <p:cNvSpPr txBox="1">
            <a:spLocks noChangeArrowheads="1"/>
          </p:cNvSpPr>
          <p:nvPr/>
        </p:nvSpPr>
        <p:spPr bwMode="auto">
          <a:xfrm>
            <a:off x="2760455" y="4748560"/>
            <a:ext cx="1336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03" name="Text Box 12"/>
          <p:cNvSpPr txBox="1">
            <a:spLocks noChangeArrowheads="1"/>
          </p:cNvSpPr>
          <p:nvPr/>
        </p:nvSpPr>
        <p:spPr bwMode="auto">
          <a:xfrm>
            <a:off x="815768" y="5324823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PC 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04" name="AutoShape 13"/>
          <p:cNvSpPr>
            <a:spLocks noChangeArrowheads="1"/>
          </p:cNvSpPr>
          <p:nvPr/>
        </p:nvSpPr>
        <p:spPr bwMode="auto">
          <a:xfrm>
            <a:off x="2976355" y="5277198"/>
            <a:ext cx="707214" cy="576262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05" name="Text Box 14"/>
          <p:cNvSpPr txBox="1">
            <a:spLocks noChangeArrowheads="1"/>
          </p:cNvSpPr>
          <p:nvPr/>
        </p:nvSpPr>
        <p:spPr bwMode="auto">
          <a:xfrm>
            <a:off x="2689018" y="5828060"/>
            <a:ext cx="1494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Monitor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006" name="AutoShape 15"/>
          <p:cNvCxnSpPr>
            <a:cxnSpLocks noChangeShapeType="1"/>
            <a:stCxn id="84996" idx="6"/>
            <a:endCxn id="84998" idx="2"/>
          </p:cNvCxnSpPr>
          <p:nvPr/>
        </p:nvCxnSpPr>
        <p:spPr bwMode="auto">
          <a:xfrm flipV="1">
            <a:off x="1451544" y="4484242"/>
            <a:ext cx="15248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7" name="AutoShape 16"/>
          <p:cNvCxnSpPr>
            <a:cxnSpLocks noChangeShapeType="1"/>
            <a:stCxn id="84996" idx="6"/>
            <a:endCxn id="85004" idx="2"/>
          </p:cNvCxnSpPr>
          <p:nvPr/>
        </p:nvCxnSpPr>
        <p:spPr bwMode="auto">
          <a:xfrm>
            <a:off x="1451544" y="4989067"/>
            <a:ext cx="1524811" cy="5762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08" name="Text Box 17"/>
          <p:cNvSpPr txBox="1">
            <a:spLocks noChangeArrowheads="1"/>
          </p:cNvSpPr>
          <p:nvPr/>
        </p:nvSpPr>
        <p:spPr bwMode="auto">
          <a:xfrm>
            <a:off x="7584868" y="4269135"/>
            <a:ext cx="133642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PC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09" name="AutoShape 18"/>
          <p:cNvSpPr>
            <a:spLocks noChangeArrowheads="1"/>
          </p:cNvSpPr>
          <p:nvPr/>
        </p:nvSpPr>
        <p:spPr bwMode="auto">
          <a:xfrm>
            <a:off x="7800768" y="36214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10" name="AutoShape 19"/>
          <p:cNvSpPr>
            <a:spLocks noChangeArrowheads="1"/>
          </p:cNvSpPr>
          <p:nvPr/>
        </p:nvSpPr>
        <p:spPr bwMode="auto">
          <a:xfrm>
            <a:off x="5136943" y="3116610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11" name="AutoShape 20"/>
          <p:cNvSpPr>
            <a:spLocks noChangeArrowheads="1"/>
          </p:cNvSpPr>
          <p:nvPr/>
        </p:nvSpPr>
        <p:spPr bwMode="auto">
          <a:xfrm>
            <a:off x="5136943" y="42691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12" name="Text Box 21"/>
          <p:cNvSpPr txBox="1">
            <a:spLocks noChangeArrowheads="1"/>
          </p:cNvSpPr>
          <p:nvPr/>
        </p:nvSpPr>
        <p:spPr bwMode="auto">
          <a:xfrm>
            <a:off x="4848018" y="3692873"/>
            <a:ext cx="157216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Monitor 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13" name="Text Box 22"/>
          <p:cNvSpPr txBox="1">
            <a:spLocks noChangeArrowheads="1"/>
          </p:cNvSpPr>
          <p:nvPr/>
        </p:nvSpPr>
        <p:spPr bwMode="auto">
          <a:xfrm>
            <a:off x="4921043" y="4845398"/>
            <a:ext cx="1336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Printer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014" name="AutoShape 23"/>
          <p:cNvCxnSpPr>
            <a:cxnSpLocks noChangeShapeType="1"/>
            <a:stCxn id="85010" idx="6"/>
            <a:endCxn id="85009" idx="2"/>
          </p:cNvCxnSpPr>
          <p:nvPr/>
        </p:nvCxnSpPr>
        <p:spPr bwMode="auto">
          <a:xfrm>
            <a:off x="5844157" y="3404742"/>
            <a:ext cx="19566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15" name="AutoShape 24"/>
          <p:cNvCxnSpPr>
            <a:cxnSpLocks noChangeShapeType="1"/>
            <a:stCxn id="85011" idx="6"/>
            <a:endCxn id="85009" idx="2"/>
          </p:cNvCxnSpPr>
          <p:nvPr/>
        </p:nvCxnSpPr>
        <p:spPr bwMode="auto">
          <a:xfrm flipV="1">
            <a:off x="5844157" y="3909567"/>
            <a:ext cx="1956611" cy="647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5016" name="AutoShape 25"/>
          <p:cNvSpPr>
            <a:spLocks noChangeArrowheads="1"/>
          </p:cNvSpPr>
          <p:nvPr/>
        </p:nvSpPr>
        <p:spPr bwMode="auto">
          <a:xfrm>
            <a:off x="744330" y="3405535"/>
            <a:ext cx="707214" cy="576263"/>
          </a:xfrm>
          <a:prstGeom prst="flowChartConnector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17" name="Text Box 26"/>
          <p:cNvSpPr txBox="1">
            <a:spLocks noChangeArrowheads="1"/>
          </p:cNvSpPr>
          <p:nvPr/>
        </p:nvSpPr>
        <p:spPr bwMode="auto">
          <a:xfrm>
            <a:off x="528430" y="3981798"/>
            <a:ext cx="1494163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Monitor	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5018" name="AutoShape 27"/>
          <p:cNvCxnSpPr>
            <a:cxnSpLocks noChangeShapeType="1"/>
            <a:stCxn id="85016" idx="6"/>
            <a:endCxn id="84997" idx="2"/>
          </p:cNvCxnSpPr>
          <p:nvPr/>
        </p:nvCxnSpPr>
        <p:spPr bwMode="auto">
          <a:xfrm flipV="1">
            <a:off x="1451544" y="3188842"/>
            <a:ext cx="1524811" cy="5048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4675" y="304800"/>
            <a:ext cx="8001000" cy="892175"/>
          </a:xfrm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14641"/>
            <a:ext cx="8136135" cy="610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 b="0"/>
          </a:p>
        </p:txBody>
      </p:sp>
      <p:pic>
        <p:nvPicPr>
          <p:cNvPr id="88067" name="Picture 1027" descr="mmm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98538"/>
            <a:ext cx="825658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Rectangle 3"/>
          <p:cNvSpPr txBox="1">
            <a:spLocks noChangeArrowheads="1"/>
          </p:cNvSpPr>
          <p:nvPr/>
        </p:nvSpPr>
        <p:spPr bwMode="auto">
          <a:xfrm>
            <a:off x="539750" y="981075"/>
            <a:ext cx="835342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关联规则可视化</a:t>
            </a:r>
            <a:endParaRPr lang="en-US" altLang="zh-CN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endParaRPr lang="zh-CN" altLang="en-US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250825" y="-120650"/>
            <a:ext cx="8640763" cy="892175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由事务数据库挖掘布尔关联规则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关联规则挖掘的基本概念</a:t>
            </a:r>
            <a:endParaRPr lang="zh-CN" altLang="zh-CN" sz="28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3.2  </a:t>
            </a:r>
            <a:r>
              <a:rPr lang="zh-CN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由事务数据库挖掘单维布尔关联规则</a:t>
            </a:r>
            <a:endParaRPr lang="zh-CN" altLang="zh-CN" sz="28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3.3  </a:t>
            </a:r>
            <a:r>
              <a:rPr lang="zh-CN" altLang="zh-CN" sz="2800" b="0" dirty="0">
                <a:solidFill>
                  <a:srgbClr val="FF0000"/>
                </a:solidFill>
                <a:cs typeface="微软雅黑" panose="020B0503020204020204" charset="-122"/>
              </a:rPr>
              <a:t>多层关联规则挖掘</a:t>
            </a:r>
            <a:endParaRPr lang="zh-CN" altLang="zh-CN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3.4  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</a:rPr>
              <a:t>多维关联规则</a:t>
            </a:r>
            <a:r>
              <a:rPr lang="zh-CN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挖掘</a:t>
            </a:r>
            <a:endParaRPr lang="en-US" altLang="zh-CN" sz="28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1557AE"/>
                </a:solidFill>
                <a:cs typeface="微软雅黑" panose="020B0503020204020204" charset="-122"/>
              </a:rPr>
              <a:t>3.5  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en-US" sz="28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panose="020B0503020204020204" charset="-122"/>
              </a:rPr>
              <a:t>3.3  </a:t>
            </a:r>
            <a:r>
              <a:rPr lang="zh-CN" altLang="en-US" sz="3600">
                <a:solidFill>
                  <a:srgbClr val="1557AE"/>
                </a:solidFill>
                <a:cs typeface="微软雅黑" panose="020B0503020204020204" charset="-122"/>
              </a:rPr>
              <a:t>多层关联规则挖掘</a:t>
            </a:r>
            <a:endParaRPr lang="zh-CN" altLang="en-US" sz="360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91139" name="Rectangle 3"/>
          <p:cNvSpPr txBox="1">
            <a:spLocks noChangeArrowheads="1"/>
          </p:cNvSpPr>
          <p:nvPr/>
        </p:nvSpPr>
        <p:spPr bwMode="auto">
          <a:xfrm>
            <a:off x="395288" y="1319213"/>
            <a:ext cx="3700462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数据项中经常会形成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概念分层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底层数据项，其支持度往往也较低</a:t>
            </a:r>
            <a:endParaRPr lang="zh-CN" altLang="en-US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挖掘底层数据项之间的关联规则必须定义不同的支持度</a:t>
            </a:r>
            <a:endParaRPr lang="zh-CN" altLang="en-US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1140" name="组合 5"/>
          <p:cNvGrpSpPr/>
          <p:nvPr/>
        </p:nvGrpSpPr>
        <p:grpSpPr bwMode="auto">
          <a:xfrm>
            <a:off x="3978275" y="981075"/>
            <a:ext cx="5091113" cy="3111500"/>
            <a:chOff x="3915990" y="533968"/>
            <a:chExt cx="5368485" cy="3351936"/>
          </a:xfrm>
        </p:grpSpPr>
        <p:sp>
          <p:nvSpPr>
            <p:cNvPr id="91197" name="Rectangle 4"/>
            <p:cNvSpPr>
              <a:spLocks noChangeArrowheads="1"/>
            </p:cNvSpPr>
            <p:nvPr/>
          </p:nvSpPr>
          <p:spPr bwMode="auto">
            <a:xfrm>
              <a:off x="6587466" y="533968"/>
              <a:ext cx="641080" cy="497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0">
                  <a:latin typeface="微软雅黑" panose="020B0503020204020204" charset="-122"/>
                  <a:ea typeface="微软雅黑" panose="020B0503020204020204" charset="-122"/>
                </a:rPr>
                <a:t>All</a:t>
              </a:r>
              <a:endParaRPr lang="en-US" altLang="zh-CN" sz="2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198" name="Rectangle 5"/>
            <p:cNvSpPr>
              <a:spLocks noChangeArrowheads="1"/>
            </p:cNvSpPr>
            <p:nvPr/>
          </p:nvSpPr>
          <p:spPr bwMode="auto">
            <a:xfrm>
              <a:off x="7694980" y="1245531"/>
              <a:ext cx="1388330" cy="6299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panose="020B0503020204020204" charset="-122"/>
                  <a:ea typeface="微软雅黑" panose="020B0503020204020204" charset="-122"/>
                </a:rPr>
                <a:t>Computer</a:t>
              </a:r>
              <a:endParaRPr lang="en-US" altLang="zh-CN" sz="1600" b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600" b="0">
                  <a:latin typeface="微软雅黑" panose="020B0503020204020204" charset="-122"/>
                  <a:ea typeface="微软雅黑" panose="020B0503020204020204" charset="-122"/>
                </a:rPr>
                <a:t>accessory</a:t>
              </a:r>
              <a:endParaRPr lang="en-US" altLang="zh-CN" sz="16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199" name="Rectangle 6"/>
            <p:cNvSpPr>
              <a:spLocks noChangeArrowheads="1"/>
            </p:cNvSpPr>
            <p:nvPr/>
          </p:nvSpPr>
          <p:spPr bwMode="auto">
            <a:xfrm>
              <a:off x="5684578" y="1392442"/>
              <a:ext cx="1200672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panose="020B0503020204020204" charset="-122"/>
                  <a:ea typeface="微软雅黑" panose="020B0503020204020204" charset="-122"/>
                </a:rPr>
                <a:t>software</a:t>
              </a:r>
              <a:endParaRPr lang="en-US" altLang="zh-CN" sz="16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00" name="Rectangle 7"/>
            <p:cNvSpPr>
              <a:spLocks noChangeArrowheads="1"/>
            </p:cNvSpPr>
            <p:nvPr/>
          </p:nvSpPr>
          <p:spPr bwMode="auto">
            <a:xfrm>
              <a:off x="4844690" y="2313896"/>
              <a:ext cx="813523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laptop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01" name="Rectangle 8"/>
            <p:cNvSpPr>
              <a:spLocks noChangeArrowheads="1"/>
            </p:cNvSpPr>
            <p:nvPr/>
          </p:nvSpPr>
          <p:spPr bwMode="auto">
            <a:xfrm>
              <a:off x="5541147" y="2313896"/>
              <a:ext cx="1036682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financial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02" name="Line 9"/>
            <p:cNvSpPr>
              <a:spLocks noChangeShapeType="1"/>
            </p:cNvSpPr>
            <p:nvPr/>
          </p:nvSpPr>
          <p:spPr bwMode="auto">
            <a:xfrm flipH="1">
              <a:off x="6300788" y="981075"/>
              <a:ext cx="503237" cy="43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3" name="Line 10"/>
            <p:cNvSpPr>
              <a:spLocks noChangeShapeType="1"/>
            </p:cNvSpPr>
            <p:nvPr/>
          </p:nvSpPr>
          <p:spPr bwMode="auto">
            <a:xfrm>
              <a:off x="7148513" y="1000125"/>
              <a:ext cx="1239837" cy="268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4" name="Line 11"/>
            <p:cNvSpPr>
              <a:spLocks noChangeShapeType="1"/>
            </p:cNvSpPr>
            <p:nvPr/>
          </p:nvSpPr>
          <p:spPr bwMode="auto">
            <a:xfrm>
              <a:off x="5219700" y="1773238"/>
              <a:ext cx="73025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5" name="Line 12"/>
            <p:cNvSpPr>
              <a:spLocks noChangeShapeType="1"/>
            </p:cNvSpPr>
            <p:nvPr/>
          </p:nvSpPr>
          <p:spPr bwMode="auto">
            <a:xfrm flipH="1">
              <a:off x="6011863" y="1700213"/>
              <a:ext cx="144462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6" name="Line 13"/>
            <p:cNvSpPr>
              <a:spLocks noChangeShapeType="1"/>
            </p:cNvSpPr>
            <p:nvPr/>
          </p:nvSpPr>
          <p:spPr bwMode="auto">
            <a:xfrm flipH="1">
              <a:off x="7524750" y="1773238"/>
              <a:ext cx="0" cy="503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07" name="Rectangle 14"/>
            <p:cNvSpPr>
              <a:spLocks noChangeArrowheads="1"/>
            </p:cNvSpPr>
            <p:nvPr/>
          </p:nvSpPr>
          <p:spPr bwMode="auto">
            <a:xfrm>
              <a:off x="7767907" y="2313896"/>
              <a:ext cx="871003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mouse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08" name="Rectangle 15"/>
            <p:cNvSpPr>
              <a:spLocks noChangeArrowheads="1"/>
            </p:cNvSpPr>
            <p:nvPr/>
          </p:nvSpPr>
          <p:spPr bwMode="auto">
            <a:xfrm>
              <a:off x="7184254" y="2313896"/>
              <a:ext cx="696870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color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09" name="Line 16"/>
            <p:cNvSpPr>
              <a:spLocks noChangeShapeType="1"/>
            </p:cNvSpPr>
            <p:nvPr/>
          </p:nvSpPr>
          <p:spPr bwMode="auto">
            <a:xfrm>
              <a:off x="8101013" y="1844675"/>
              <a:ext cx="0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0" name="Line 17"/>
            <p:cNvSpPr>
              <a:spLocks noChangeShapeType="1"/>
            </p:cNvSpPr>
            <p:nvPr/>
          </p:nvSpPr>
          <p:spPr bwMode="auto">
            <a:xfrm flipH="1">
              <a:off x="5003800" y="2636838"/>
              <a:ext cx="14446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1" name="Rectangle 18"/>
            <p:cNvSpPr>
              <a:spLocks noChangeArrowheads="1"/>
            </p:cNvSpPr>
            <p:nvPr/>
          </p:nvSpPr>
          <p:spPr bwMode="auto">
            <a:xfrm>
              <a:off x="6821610" y="1387680"/>
              <a:ext cx="953843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panose="020B0503020204020204" charset="-122"/>
                  <a:ea typeface="微软雅黑" panose="020B0503020204020204" charset="-122"/>
                </a:rPr>
                <a:t>printer</a:t>
              </a:r>
              <a:endParaRPr lang="en-US" altLang="zh-CN" sz="16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12" name="Rectangle 19"/>
            <p:cNvSpPr>
              <a:spLocks noChangeArrowheads="1"/>
            </p:cNvSpPr>
            <p:nvPr/>
          </p:nvSpPr>
          <p:spPr bwMode="auto">
            <a:xfrm>
              <a:off x="4387496" y="1401968"/>
              <a:ext cx="1281821" cy="364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600" b="0">
                  <a:latin typeface="微软雅黑" panose="020B0503020204020204" charset="-122"/>
                  <a:ea typeface="微软雅黑" panose="020B0503020204020204" charset="-122"/>
                </a:rPr>
                <a:t>computer</a:t>
              </a:r>
              <a:endParaRPr lang="en-US" altLang="zh-CN" sz="16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13" name="Line 20"/>
            <p:cNvSpPr>
              <a:spLocks noChangeShapeType="1"/>
            </p:cNvSpPr>
            <p:nvPr/>
          </p:nvSpPr>
          <p:spPr bwMode="auto">
            <a:xfrm flipH="1">
              <a:off x="5076825" y="981075"/>
              <a:ext cx="1541463" cy="431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4" name="Line 21"/>
            <p:cNvSpPr>
              <a:spLocks noChangeShapeType="1"/>
            </p:cNvSpPr>
            <p:nvPr/>
          </p:nvSpPr>
          <p:spPr bwMode="auto">
            <a:xfrm>
              <a:off x="7019925" y="1052513"/>
              <a:ext cx="288925" cy="360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5" name="Rectangle 22"/>
            <p:cNvSpPr>
              <a:spLocks noChangeArrowheads="1"/>
            </p:cNvSpPr>
            <p:nvPr/>
          </p:nvSpPr>
          <p:spPr bwMode="auto">
            <a:xfrm>
              <a:off x="3915990" y="2313896"/>
              <a:ext cx="996107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desktop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16" name="Line 23"/>
            <p:cNvSpPr>
              <a:spLocks noChangeShapeType="1"/>
            </p:cNvSpPr>
            <p:nvPr/>
          </p:nvSpPr>
          <p:spPr bwMode="auto">
            <a:xfrm flipH="1">
              <a:off x="4527550" y="1773238"/>
              <a:ext cx="260350" cy="550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17" name="Rectangle 24"/>
            <p:cNvSpPr>
              <a:spLocks noChangeArrowheads="1"/>
            </p:cNvSpPr>
            <p:nvPr/>
          </p:nvSpPr>
          <p:spPr bwMode="auto">
            <a:xfrm>
              <a:off x="4673385" y="3133046"/>
              <a:ext cx="600505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IBM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18" name="Rectangle 25"/>
            <p:cNvSpPr>
              <a:spLocks noChangeArrowheads="1"/>
            </p:cNvSpPr>
            <p:nvPr/>
          </p:nvSpPr>
          <p:spPr bwMode="auto">
            <a:xfrm>
              <a:off x="6462951" y="2313896"/>
              <a:ext cx="63769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edu.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19" name="Line 26"/>
            <p:cNvSpPr>
              <a:spLocks noChangeShapeType="1"/>
            </p:cNvSpPr>
            <p:nvPr/>
          </p:nvSpPr>
          <p:spPr bwMode="auto">
            <a:xfrm>
              <a:off x="6443663" y="1700213"/>
              <a:ext cx="288925" cy="5762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0" name="Line 27"/>
            <p:cNvSpPr>
              <a:spLocks noChangeShapeType="1"/>
            </p:cNvSpPr>
            <p:nvPr/>
          </p:nvSpPr>
          <p:spPr bwMode="auto">
            <a:xfrm flipH="1">
              <a:off x="5880100" y="2636838"/>
              <a:ext cx="14446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1" name="Rectangle 28"/>
            <p:cNvSpPr>
              <a:spLocks noChangeArrowheads="1"/>
            </p:cNvSpPr>
            <p:nvPr/>
          </p:nvSpPr>
          <p:spPr bwMode="auto">
            <a:xfrm>
              <a:off x="5284054" y="3133046"/>
              <a:ext cx="113811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Microsoft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22" name="Rectangle 29"/>
            <p:cNvSpPr>
              <a:spLocks noChangeArrowheads="1"/>
            </p:cNvSpPr>
            <p:nvPr/>
          </p:nvSpPr>
          <p:spPr bwMode="auto">
            <a:xfrm>
              <a:off x="6885681" y="2699658"/>
              <a:ext cx="544715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b/w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23" name="Line 30"/>
            <p:cNvSpPr>
              <a:spLocks noChangeShapeType="1"/>
            </p:cNvSpPr>
            <p:nvPr/>
          </p:nvSpPr>
          <p:spPr bwMode="auto">
            <a:xfrm>
              <a:off x="7092950" y="1773238"/>
              <a:ext cx="0" cy="9350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4" name="Line 31"/>
            <p:cNvSpPr>
              <a:spLocks noChangeShapeType="1"/>
            </p:cNvSpPr>
            <p:nvPr/>
          </p:nvSpPr>
          <p:spPr bwMode="auto">
            <a:xfrm flipH="1">
              <a:off x="6858000" y="2997200"/>
              <a:ext cx="161925" cy="144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5" name="Rectangle 32"/>
            <p:cNvSpPr>
              <a:spLocks noChangeArrowheads="1"/>
            </p:cNvSpPr>
            <p:nvPr/>
          </p:nvSpPr>
          <p:spPr bwMode="auto">
            <a:xfrm>
              <a:off x="6574975" y="3133046"/>
              <a:ext cx="504141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HP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26" name="Line 33"/>
            <p:cNvSpPr>
              <a:spLocks noChangeShapeType="1"/>
            </p:cNvSpPr>
            <p:nvPr/>
          </p:nvSpPr>
          <p:spPr bwMode="auto">
            <a:xfrm>
              <a:off x="7451725" y="2636838"/>
              <a:ext cx="3651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27" name="Rectangle 34"/>
            <p:cNvSpPr>
              <a:spLocks noChangeArrowheads="1"/>
            </p:cNvSpPr>
            <p:nvPr/>
          </p:nvSpPr>
          <p:spPr bwMode="auto">
            <a:xfrm>
              <a:off x="7100447" y="3133046"/>
              <a:ext cx="712086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Sony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28" name="Rectangle 35"/>
            <p:cNvSpPr>
              <a:spLocks noChangeArrowheads="1"/>
            </p:cNvSpPr>
            <p:nvPr/>
          </p:nvSpPr>
          <p:spPr bwMode="auto">
            <a:xfrm>
              <a:off x="8538906" y="2558212"/>
              <a:ext cx="679964" cy="5636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wrist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pad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29" name="Line 36"/>
            <p:cNvSpPr>
              <a:spLocks noChangeShapeType="1"/>
            </p:cNvSpPr>
            <p:nvPr/>
          </p:nvSpPr>
          <p:spPr bwMode="auto">
            <a:xfrm>
              <a:off x="8748713" y="1844675"/>
              <a:ext cx="0" cy="720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0" name="Line 37"/>
            <p:cNvSpPr>
              <a:spLocks noChangeShapeType="1"/>
            </p:cNvSpPr>
            <p:nvPr/>
          </p:nvSpPr>
          <p:spPr bwMode="auto">
            <a:xfrm>
              <a:off x="8248650" y="2636838"/>
              <a:ext cx="36513" cy="504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1" name="Rectangle 38"/>
            <p:cNvSpPr>
              <a:spLocks noChangeArrowheads="1"/>
            </p:cNvSpPr>
            <p:nvPr/>
          </p:nvSpPr>
          <p:spPr bwMode="auto">
            <a:xfrm>
              <a:off x="7728207" y="3133046"/>
              <a:ext cx="1053589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Logitech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232" name="Line 110"/>
            <p:cNvSpPr>
              <a:spLocks noChangeShapeType="1"/>
            </p:cNvSpPr>
            <p:nvPr/>
          </p:nvSpPr>
          <p:spPr bwMode="auto">
            <a:xfrm flipH="1">
              <a:off x="8795542" y="3068637"/>
              <a:ext cx="24607" cy="4943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233" name="Rectangle 111"/>
            <p:cNvSpPr>
              <a:spLocks noChangeArrowheads="1"/>
            </p:cNvSpPr>
            <p:nvPr/>
          </p:nvSpPr>
          <p:spPr bwMode="auto">
            <a:xfrm>
              <a:off x="8197075" y="3554344"/>
              <a:ext cx="1087400" cy="3315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0">
                  <a:latin typeface="微软雅黑" panose="020B0503020204020204" charset="-122"/>
                  <a:ea typeface="微软雅黑" panose="020B0503020204020204" charset="-122"/>
                </a:rPr>
                <a:t>Ergoway</a:t>
              </a:r>
              <a:endParaRPr lang="en-US" altLang="zh-CN" sz="1400" b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1141" name="Rectangle 40"/>
          <p:cNvSpPr>
            <a:spLocks noChangeArrowheads="1"/>
          </p:cNvSpPr>
          <p:nvPr/>
        </p:nvSpPr>
        <p:spPr bwMode="auto">
          <a:xfrm>
            <a:off x="4343400" y="4186238"/>
            <a:ext cx="61436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TID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2" name="Rectangle 41"/>
          <p:cNvSpPr>
            <a:spLocks noChangeArrowheads="1"/>
          </p:cNvSpPr>
          <p:nvPr/>
        </p:nvSpPr>
        <p:spPr bwMode="auto">
          <a:xfrm>
            <a:off x="4984750" y="4186238"/>
            <a:ext cx="9429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Items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3" name="Rectangle 42"/>
          <p:cNvSpPr>
            <a:spLocks noChangeArrowheads="1"/>
          </p:cNvSpPr>
          <p:nvPr/>
        </p:nvSpPr>
        <p:spPr bwMode="auto">
          <a:xfrm>
            <a:off x="4248150" y="416401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4" name="Rectangle 43"/>
          <p:cNvSpPr>
            <a:spLocks noChangeArrowheads="1"/>
          </p:cNvSpPr>
          <p:nvPr/>
        </p:nvSpPr>
        <p:spPr bwMode="auto">
          <a:xfrm>
            <a:off x="4248150" y="4164013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5" name="Rectangle 44"/>
          <p:cNvSpPr>
            <a:spLocks noChangeArrowheads="1"/>
          </p:cNvSpPr>
          <p:nvPr/>
        </p:nvSpPr>
        <p:spPr bwMode="auto">
          <a:xfrm>
            <a:off x="4254500" y="416401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6" name="Rectangle 47"/>
          <p:cNvSpPr>
            <a:spLocks noChangeArrowheads="1"/>
          </p:cNvSpPr>
          <p:nvPr/>
        </p:nvSpPr>
        <p:spPr bwMode="auto">
          <a:xfrm>
            <a:off x="4975225" y="416401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7" name="Rectangle 48"/>
          <p:cNvSpPr>
            <a:spLocks noChangeArrowheads="1"/>
          </p:cNvSpPr>
          <p:nvPr/>
        </p:nvSpPr>
        <p:spPr bwMode="auto">
          <a:xfrm>
            <a:off x="8493125" y="416401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8" name="Rectangle 49"/>
          <p:cNvSpPr>
            <a:spLocks noChangeArrowheads="1"/>
          </p:cNvSpPr>
          <p:nvPr/>
        </p:nvSpPr>
        <p:spPr bwMode="auto">
          <a:xfrm>
            <a:off x="8493125" y="4164013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49" name="Rectangle 50"/>
          <p:cNvSpPr>
            <a:spLocks noChangeArrowheads="1"/>
          </p:cNvSpPr>
          <p:nvPr/>
        </p:nvSpPr>
        <p:spPr bwMode="auto">
          <a:xfrm>
            <a:off x="4248150" y="417512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0" name="Rectangle 52"/>
          <p:cNvSpPr>
            <a:spLocks noChangeArrowheads="1"/>
          </p:cNvSpPr>
          <p:nvPr/>
        </p:nvSpPr>
        <p:spPr bwMode="auto">
          <a:xfrm>
            <a:off x="8493125" y="417512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1" name="Rectangle 53"/>
          <p:cNvSpPr>
            <a:spLocks noChangeArrowheads="1"/>
          </p:cNvSpPr>
          <p:nvPr/>
        </p:nvSpPr>
        <p:spPr bwMode="auto">
          <a:xfrm>
            <a:off x="4349750" y="4562475"/>
            <a:ext cx="4286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T1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2" name="Rectangle 54"/>
          <p:cNvSpPr>
            <a:spLocks noChangeArrowheads="1"/>
          </p:cNvSpPr>
          <p:nvPr/>
        </p:nvSpPr>
        <p:spPr bwMode="auto">
          <a:xfrm>
            <a:off x="5032375" y="4562475"/>
            <a:ext cx="2803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IBM D/C, Sony b/w</a:t>
            </a:r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3" name="Rectangle 55"/>
          <p:cNvSpPr>
            <a:spLocks noChangeArrowheads="1"/>
          </p:cNvSpPr>
          <p:nvPr/>
        </p:nvSpPr>
        <p:spPr bwMode="auto">
          <a:xfrm>
            <a:off x="4248150" y="453866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4" name="Rectangle 56"/>
          <p:cNvSpPr>
            <a:spLocks noChangeArrowheads="1"/>
          </p:cNvSpPr>
          <p:nvPr/>
        </p:nvSpPr>
        <p:spPr bwMode="auto">
          <a:xfrm>
            <a:off x="4254500" y="453866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5" name="Rectangle 58"/>
          <p:cNvSpPr>
            <a:spLocks noChangeArrowheads="1"/>
          </p:cNvSpPr>
          <p:nvPr/>
        </p:nvSpPr>
        <p:spPr bwMode="auto">
          <a:xfrm>
            <a:off x="4975225" y="453866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6" name="Rectangle 59"/>
          <p:cNvSpPr>
            <a:spLocks noChangeArrowheads="1"/>
          </p:cNvSpPr>
          <p:nvPr/>
        </p:nvSpPr>
        <p:spPr bwMode="auto">
          <a:xfrm>
            <a:off x="8493125" y="4538663"/>
            <a:ext cx="6350" cy="111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7" name="Rectangle 60"/>
          <p:cNvSpPr>
            <a:spLocks noChangeArrowheads="1"/>
          </p:cNvSpPr>
          <p:nvPr/>
        </p:nvSpPr>
        <p:spPr bwMode="auto">
          <a:xfrm>
            <a:off x="4248150" y="454977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8" name="Rectangle 62"/>
          <p:cNvSpPr>
            <a:spLocks noChangeArrowheads="1"/>
          </p:cNvSpPr>
          <p:nvPr/>
        </p:nvSpPr>
        <p:spPr bwMode="auto">
          <a:xfrm>
            <a:off x="8493125" y="4549775"/>
            <a:ext cx="6350" cy="36353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59" name="Rectangle 63"/>
          <p:cNvSpPr>
            <a:spLocks noChangeArrowheads="1"/>
          </p:cNvSpPr>
          <p:nvPr/>
        </p:nvSpPr>
        <p:spPr bwMode="auto">
          <a:xfrm>
            <a:off x="4343400" y="4937125"/>
            <a:ext cx="4413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T2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0" name="Rectangle 64"/>
          <p:cNvSpPr>
            <a:spLocks noChangeArrowheads="1"/>
          </p:cNvSpPr>
          <p:nvPr/>
        </p:nvSpPr>
        <p:spPr bwMode="auto">
          <a:xfrm>
            <a:off x="4957763" y="4927600"/>
            <a:ext cx="3908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Ms. edu. Sw., Ms. fin. Sw.</a:t>
            </a:r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1" name="Rectangle 65"/>
          <p:cNvSpPr>
            <a:spLocks noChangeArrowheads="1"/>
          </p:cNvSpPr>
          <p:nvPr/>
        </p:nvSpPr>
        <p:spPr bwMode="auto">
          <a:xfrm>
            <a:off x="4248150" y="4913313"/>
            <a:ext cx="6350" cy="127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2" name="Rectangle 66"/>
          <p:cNvSpPr>
            <a:spLocks noChangeArrowheads="1"/>
          </p:cNvSpPr>
          <p:nvPr/>
        </p:nvSpPr>
        <p:spPr bwMode="auto">
          <a:xfrm>
            <a:off x="4254500" y="4913313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3" name="Rectangle 68"/>
          <p:cNvSpPr>
            <a:spLocks noChangeArrowheads="1"/>
          </p:cNvSpPr>
          <p:nvPr/>
        </p:nvSpPr>
        <p:spPr bwMode="auto">
          <a:xfrm>
            <a:off x="4975225" y="4913313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4" name="Rectangle 69"/>
          <p:cNvSpPr>
            <a:spLocks noChangeArrowheads="1"/>
          </p:cNvSpPr>
          <p:nvPr/>
        </p:nvSpPr>
        <p:spPr bwMode="auto">
          <a:xfrm>
            <a:off x="8493125" y="4913313"/>
            <a:ext cx="6350" cy="127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5" name="Rectangle 70"/>
          <p:cNvSpPr>
            <a:spLocks noChangeArrowheads="1"/>
          </p:cNvSpPr>
          <p:nvPr/>
        </p:nvSpPr>
        <p:spPr bwMode="auto">
          <a:xfrm>
            <a:off x="4248150" y="49260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6" name="Rectangle 72"/>
          <p:cNvSpPr>
            <a:spLocks noChangeArrowheads="1"/>
          </p:cNvSpPr>
          <p:nvPr/>
        </p:nvSpPr>
        <p:spPr bwMode="auto">
          <a:xfrm>
            <a:off x="8493125" y="49260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7" name="Rectangle 73"/>
          <p:cNvSpPr>
            <a:spLocks noChangeArrowheads="1"/>
          </p:cNvSpPr>
          <p:nvPr/>
        </p:nvSpPr>
        <p:spPr bwMode="auto">
          <a:xfrm>
            <a:off x="4343400" y="5311775"/>
            <a:ext cx="442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T3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8" name="Rectangle 74"/>
          <p:cNvSpPr>
            <a:spLocks noChangeArrowheads="1"/>
          </p:cNvSpPr>
          <p:nvPr/>
        </p:nvSpPr>
        <p:spPr bwMode="auto">
          <a:xfrm>
            <a:off x="4913313" y="5302250"/>
            <a:ext cx="4327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altLang="zh-CN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Logi. mouse, Ergoway wrist pad</a:t>
            </a:r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endParaRPr lang="en-US" altLang="zh-CN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69" name="Rectangle 75"/>
          <p:cNvSpPr>
            <a:spLocks noChangeArrowheads="1"/>
          </p:cNvSpPr>
          <p:nvPr/>
        </p:nvSpPr>
        <p:spPr bwMode="auto">
          <a:xfrm>
            <a:off x="4248150" y="52895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0" name="Rectangle 76"/>
          <p:cNvSpPr>
            <a:spLocks noChangeArrowheads="1"/>
          </p:cNvSpPr>
          <p:nvPr/>
        </p:nvSpPr>
        <p:spPr bwMode="auto">
          <a:xfrm>
            <a:off x="4254500" y="5289550"/>
            <a:ext cx="714375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1" name="Rectangle 78"/>
          <p:cNvSpPr>
            <a:spLocks noChangeArrowheads="1"/>
          </p:cNvSpPr>
          <p:nvPr/>
        </p:nvSpPr>
        <p:spPr bwMode="auto">
          <a:xfrm>
            <a:off x="4975225" y="5289550"/>
            <a:ext cx="3517900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2" name="Rectangle 79"/>
          <p:cNvSpPr>
            <a:spLocks noChangeArrowheads="1"/>
          </p:cNvSpPr>
          <p:nvPr/>
        </p:nvSpPr>
        <p:spPr bwMode="auto">
          <a:xfrm>
            <a:off x="8493125" y="52895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3" name="Rectangle 80"/>
          <p:cNvSpPr>
            <a:spLocks noChangeArrowheads="1"/>
          </p:cNvSpPr>
          <p:nvPr/>
        </p:nvSpPr>
        <p:spPr bwMode="auto">
          <a:xfrm>
            <a:off x="4248150" y="53006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4" name="Rectangle 82"/>
          <p:cNvSpPr>
            <a:spLocks noChangeArrowheads="1"/>
          </p:cNvSpPr>
          <p:nvPr/>
        </p:nvSpPr>
        <p:spPr bwMode="auto">
          <a:xfrm>
            <a:off x="8493125" y="53006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5" name="Rectangle 83"/>
          <p:cNvSpPr>
            <a:spLocks noChangeArrowheads="1"/>
          </p:cNvSpPr>
          <p:nvPr/>
        </p:nvSpPr>
        <p:spPr bwMode="auto">
          <a:xfrm>
            <a:off x="4340225" y="5686425"/>
            <a:ext cx="4476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T4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6" name="Rectangle 84"/>
          <p:cNvSpPr>
            <a:spLocks noChangeArrowheads="1"/>
          </p:cNvSpPr>
          <p:nvPr/>
        </p:nvSpPr>
        <p:spPr bwMode="auto">
          <a:xfrm>
            <a:off x="5046663" y="5748338"/>
            <a:ext cx="2879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{IBM D/C, Ms. Fin. Sw.}</a:t>
            </a:r>
            <a:endParaRPr lang="en-US" altLang="zh-CN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7" name="Rectangle 85"/>
          <p:cNvSpPr>
            <a:spLocks noChangeArrowheads="1"/>
          </p:cNvSpPr>
          <p:nvPr/>
        </p:nvSpPr>
        <p:spPr bwMode="auto">
          <a:xfrm>
            <a:off x="4248150" y="566420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8" name="Rectangle 86"/>
          <p:cNvSpPr>
            <a:spLocks noChangeArrowheads="1"/>
          </p:cNvSpPr>
          <p:nvPr/>
        </p:nvSpPr>
        <p:spPr bwMode="auto">
          <a:xfrm>
            <a:off x="4254500" y="5664200"/>
            <a:ext cx="714375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79" name="Rectangle 88"/>
          <p:cNvSpPr>
            <a:spLocks noChangeArrowheads="1"/>
          </p:cNvSpPr>
          <p:nvPr/>
        </p:nvSpPr>
        <p:spPr bwMode="auto">
          <a:xfrm>
            <a:off x="4975225" y="5664200"/>
            <a:ext cx="3517900" cy="476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0" name="Rectangle 89"/>
          <p:cNvSpPr>
            <a:spLocks noChangeArrowheads="1"/>
          </p:cNvSpPr>
          <p:nvPr/>
        </p:nvSpPr>
        <p:spPr bwMode="auto">
          <a:xfrm>
            <a:off x="8493125" y="566420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1" name="Rectangle 90"/>
          <p:cNvSpPr>
            <a:spLocks noChangeArrowheads="1"/>
          </p:cNvSpPr>
          <p:nvPr/>
        </p:nvSpPr>
        <p:spPr bwMode="auto">
          <a:xfrm>
            <a:off x="4248150" y="56753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2" name="Rectangle 92"/>
          <p:cNvSpPr>
            <a:spLocks noChangeArrowheads="1"/>
          </p:cNvSpPr>
          <p:nvPr/>
        </p:nvSpPr>
        <p:spPr bwMode="auto">
          <a:xfrm>
            <a:off x="8493125" y="567531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3" name="Rectangle 93"/>
          <p:cNvSpPr>
            <a:spLocks noChangeArrowheads="1"/>
          </p:cNvSpPr>
          <p:nvPr/>
        </p:nvSpPr>
        <p:spPr bwMode="auto">
          <a:xfrm>
            <a:off x="4341813" y="6061075"/>
            <a:ext cx="44608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5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T5</a:t>
            </a:r>
            <a:endParaRPr lang="en-US" altLang="zh-CN" sz="25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4" name="Rectangle 94"/>
          <p:cNvSpPr>
            <a:spLocks noChangeArrowheads="1"/>
          </p:cNvSpPr>
          <p:nvPr/>
        </p:nvSpPr>
        <p:spPr bwMode="auto">
          <a:xfrm>
            <a:off x="5807075" y="6061075"/>
            <a:ext cx="13477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{IBM D/C}</a:t>
            </a:r>
            <a:endParaRPr lang="en-US" altLang="zh-CN" sz="2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5" name="Rectangle 95"/>
          <p:cNvSpPr>
            <a:spLocks noChangeArrowheads="1"/>
          </p:cNvSpPr>
          <p:nvPr/>
        </p:nvSpPr>
        <p:spPr bwMode="auto">
          <a:xfrm>
            <a:off x="4248150" y="60388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6" name="Rectangle 96"/>
          <p:cNvSpPr>
            <a:spLocks noChangeArrowheads="1"/>
          </p:cNvSpPr>
          <p:nvPr/>
        </p:nvSpPr>
        <p:spPr bwMode="auto">
          <a:xfrm>
            <a:off x="4254500" y="6038850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7" name="Rectangle 98"/>
          <p:cNvSpPr>
            <a:spLocks noChangeArrowheads="1"/>
          </p:cNvSpPr>
          <p:nvPr/>
        </p:nvSpPr>
        <p:spPr bwMode="auto">
          <a:xfrm>
            <a:off x="4975225" y="6038850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8" name="Rectangle 99"/>
          <p:cNvSpPr>
            <a:spLocks noChangeArrowheads="1"/>
          </p:cNvSpPr>
          <p:nvPr/>
        </p:nvSpPr>
        <p:spPr bwMode="auto">
          <a:xfrm>
            <a:off x="8493125" y="6038850"/>
            <a:ext cx="6350" cy="11113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89" name="Rectangle 100"/>
          <p:cNvSpPr>
            <a:spLocks noChangeArrowheads="1"/>
          </p:cNvSpPr>
          <p:nvPr/>
        </p:nvSpPr>
        <p:spPr bwMode="auto">
          <a:xfrm>
            <a:off x="4248150" y="60499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0" name="Rectangle 101"/>
          <p:cNvSpPr>
            <a:spLocks noChangeArrowheads="1"/>
          </p:cNvSpPr>
          <p:nvPr/>
        </p:nvSpPr>
        <p:spPr bwMode="auto">
          <a:xfrm>
            <a:off x="4248150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1" name="Rectangle 102"/>
          <p:cNvSpPr>
            <a:spLocks noChangeArrowheads="1"/>
          </p:cNvSpPr>
          <p:nvPr/>
        </p:nvSpPr>
        <p:spPr bwMode="auto">
          <a:xfrm>
            <a:off x="4248150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2" name="Rectangle 103"/>
          <p:cNvSpPr>
            <a:spLocks noChangeArrowheads="1"/>
          </p:cNvSpPr>
          <p:nvPr/>
        </p:nvSpPr>
        <p:spPr bwMode="auto">
          <a:xfrm>
            <a:off x="4254500" y="6413500"/>
            <a:ext cx="714375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3" name="Rectangle 106"/>
          <p:cNvSpPr>
            <a:spLocks noChangeArrowheads="1"/>
          </p:cNvSpPr>
          <p:nvPr/>
        </p:nvSpPr>
        <p:spPr bwMode="auto">
          <a:xfrm>
            <a:off x="4975225" y="6413500"/>
            <a:ext cx="351790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4" name="Rectangle 107"/>
          <p:cNvSpPr>
            <a:spLocks noChangeArrowheads="1"/>
          </p:cNvSpPr>
          <p:nvPr/>
        </p:nvSpPr>
        <p:spPr bwMode="auto">
          <a:xfrm>
            <a:off x="8493125" y="6049963"/>
            <a:ext cx="6350" cy="363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5" name="Rectangle 108"/>
          <p:cNvSpPr>
            <a:spLocks noChangeArrowheads="1"/>
          </p:cNvSpPr>
          <p:nvPr/>
        </p:nvSpPr>
        <p:spPr bwMode="auto">
          <a:xfrm>
            <a:off x="8493125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96" name="Rectangle 109"/>
          <p:cNvSpPr>
            <a:spLocks noChangeArrowheads="1"/>
          </p:cNvSpPr>
          <p:nvPr/>
        </p:nvSpPr>
        <p:spPr bwMode="auto">
          <a:xfrm>
            <a:off x="8493125" y="6413500"/>
            <a:ext cx="6350" cy="63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4525963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</a:rPr>
              <a:t>在适当的等级挖掘出来的数据项间的关联规则可能是非常有用的</a:t>
            </a:r>
            <a:endParaRPr lang="zh-CN" altLang="en-US" sz="2800" b="0" dirty="0">
              <a:solidFill>
                <a:srgbClr val="FF0000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</a:rPr>
              <a:t>事务数据库中的数据也是根据</a:t>
            </a:r>
            <a:r>
              <a:rPr lang="zh-CN" altLang="en-US" sz="2800" b="0" dirty="0">
                <a:solidFill>
                  <a:srgbClr val="FF0000"/>
                </a:solidFill>
              </a:rPr>
              <a:t>维</a:t>
            </a:r>
            <a:r>
              <a:rPr lang="zh-CN" altLang="en-US" sz="2800" b="0" dirty="0">
                <a:solidFill>
                  <a:srgbClr val="1557AE"/>
                </a:solidFill>
              </a:rPr>
              <a:t>和</a:t>
            </a:r>
            <a:r>
              <a:rPr lang="zh-CN" altLang="en-US" sz="2800" b="0" dirty="0">
                <a:solidFill>
                  <a:srgbClr val="FF0000"/>
                </a:solidFill>
              </a:rPr>
              <a:t>概念</a:t>
            </a:r>
            <a:r>
              <a:rPr lang="zh-CN" altLang="en-US" sz="2800" b="0" dirty="0">
                <a:solidFill>
                  <a:srgbClr val="1557AE"/>
                </a:solidFill>
              </a:rPr>
              <a:t>分层来进行储存的</a:t>
            </a:r>
            <a:endParaRPr lang="zh-CN" altLang="en-US" sz="2800" b="0" dirty="0">
              <a:solidFill>
                <a:srgbClr val="1557AE"/>
              </a:solidFill>
            </a:endParaRPr>
          </a:p>
          <a:p>
            <a:pPr lvl="1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</a:rPr>
              <a:t>这为从事务数据库中挖掘不同层次的关联规则提供了可能。</a:t>
            </a:r>
            <a:endParaRPr lang="zh-CN" altLang="en-US" sz="2400" b="0" dirty="0">
              <a:solidFill>
                <a:srgbClr val="1557AE"/>
              </a:solidFill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</a:rPr>
              <a:t>在多个抽象层挖掘关联规则，并在不同的抽象层进行转化，是数据挖掘系统应该提供的能力</a:t>
            </a:r>
            <a:endParaRPr lang="zh-CN" altLang="en-US" sz="2800" b="0" dirty="0">
              <a:solidFill>
                <a:srgbClr val="1557AE"/>
              </a:solidFill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</a:rPr>
              <a:t>多层关联规则的挖掘还是使用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置信度－支持度框架</a:t>
            </a:r>
            <a:r>
              <a:rPr lang="zh-CN" altLang="en-US" sz="2800" b="0" dirty="0">
                <a:solidFill>
                  <a:srgbClr val="1557AE"/>
                </a:solidFill>
                <a:cs typeface="微软雅黑" panose="020B0503020204020204" charset="-122"/>
              </a:rPr>
              <a:t>，可以采用</a:t>
            </a:r>
            <a:r>
              <a:rPr lang="zh-CN" altLang="en-US" sz="2800" b="0" dirty="0">
                <a:solidFill>
                  <a:srgbClr val="FF0000"/>
                </a:solidFill>
                <a:cs typeface="微软雅黑" panose="020B0503020204020204" charset="-122"/>
              </a:rPr>
              <a:t>自顶向下策略</a:t>
            </a:r>
            <a:endParaRPr lang="zh-CN" altLang="en-US" sz="2800" b="0" dirty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概念分层中，一个节点的支持度肯定不小于该节点的任何子节点的支持度（为什么？）</a:t>
            </a:r>
            <a:endParaRPr lang="zh-CN" altLang="en-US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由概念层</a:t>
            </a:r>
            <a:r>
              <a:rPr lang="en-US" altLang="zh-CN" sz="2400" b="0" dirty="0">
                <a:solidFill>
                  <a:srgbClr val="1557AE"/>
                </a:solidFill>
                <a:cs typeface="微软雅黑" panose="020B0503020204020204" charset="-122"/>
              </a:rPr>
              <a:t>1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开始向下，到较低的更特定的概念层，对每个概念层的频繁项计算累加计数</a:t>
            </a:r>
            <a:endParaRPr lang="zh-CN" altLang="en-US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每一层的关联规则挖掘可以使用</a:t>
            </a:r>
            <a:r>
              <a:rPr lang="en-US" altLang="zh-CN" sz="2400" b="0" dirty="0" err="1">
                <a:solidFill>
                  <a:srgbClr val="1557AE"/>
                </a:solidFill>
                <a:cs typeface="微软雅黑" panose="020B0503020204020204" charset="-122"/>
              </a:rPr>
              <a:t>Apriori</a:t>
            </a: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等多种方法</a:t>
            </a:r>
            <a:endParaRPr lang="zh-CN" altLang="en-US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1557AE"/>
                </a:solidFill>
                <a:cs typeface="微软雅黑" panose="020B0503020204020204" charset="-122"/>
              </a:rPr>
              <a:t>例如：</a:t>
            </a:r>
            <a:endParaRPr lang="zh-CN" altLang="en-US" sz="24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1196975" lvl="2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先找高层的关联规则：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computer -&gt; printer [20%, 60%]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1196975" lvl="2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cs typeface="微软雅黑" panose="020B0503020204020204" charset="-122"/>
              </a:rPr>
              <a:t>再找较低层的关联规则：</a:t>
            </a:r>
            <a:r>
              <a:rPr lang="en-US" altLang="zh-CN" sz="2000" b="0" dirty="0">
                <a:solidFill>
                  <a:srgbClr val="1557AE"/>
                </a:solidFill>
                <a:cs typeface="微软雅黑" panose="020B0503020204020204" charset="-122"/>
              </a:rPr>
              <a:t>laptop -&gt; color printer [10%, 50%]</a:t>
            </a:r>
            <a:endParaRPr lang="en-US" altLang="zh-CN" sz="2000" b="0" dirty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</a:rPr>
              <a:t>一致支持度：</a:t>
            </a:r>
            <a:r>
              <a:rPr lang="zh-CN" altLang="en-US" sz="2800" b="0">
                <a:solidFill>
                  <a:srgbClr val="1557AE"/>
                </a:solidFill>
              </a:rPr>
              <a:t>对所有层都使用一致的最小支持度</a:t>
            </a:r>
            <a:endParaRPr lang="zh-CN" altLang="en-US" sz="2800" b="0">
              <a:solidFill>
                <a:srgbClr val="1557AE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</a:rPr>
              <a:t>优点：</a:t>
            </a:r>
            <a:r>
              <a:rPr lang="zh-CN" altLang="en-US" sz="2400" b="0">
                <a:solidFill>
                  <a:srgbClr val="1557AE"/>
                </a:solidFill>
              </a:rPr>
              <a:t>搜索时容易采用优化策略，即一个项如果不满足最小支持度，它的所有子项都可以不用搜索</a:t>
            </a:r>
            <a:endParaRPr lang="zh-CN" altLang="en-US" sz="2400" b="0">
              <a:solidFill>
                <a:srgbClr val="1557AE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</a:rPr>
              <a:t>缺点：</a:t>
            </a:r>
            <a:r>
              <a:rPr lang="zh-CN" altLang="en-US" sz="2400" b="0">
                <a:solidFill>
                  <a:srgbClr val="1557AE"/>
                </a:solidFill>
              </a:rPr>
              <a:t>最小支持度值设置困难</a:t>
            </a:r>
            <a:endParaRPr lang="zh-CN" altLang="en-US" sz="2400" b="0">
              <a:solidFill>
                <a:srgbClr val="1557AE"/>
              </a:solidFill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</a:rPr>
              <a:t>太高：将丢掉出现在较低抽象层中有意义的关联规则</a:t>
            </a:r>
            <a:endParaRPr lang="zh-CN" altLang="en-US" sz="2000" b="0">
              <a:solidFill>
                <a:srgbClr val="1557AE"/>
              </a:solidFill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000" b="0">
                <a:solidFill>
                  <a:srgbClr val="1557AE"/>
                </a:solidFill>
              </a:rPr>
              <a:t>太低：会在较高层产生太多的无兴趣的规则</a:t>
            </a:r>
            <a:endParaRPr lang="zh-CN" altLang="en-US" sz="2000" b="0">
              <a:solidFill>
                <a:srgbClr val="1557AE"/>
              </a:solidFill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 txBox="1">
            <a:spLocks noChangeArrowheads="1"/>
          </p:cNvSpPr>
          <p:nvPr/>
        </p:nvSpPr>
        <p:spPr bwMode="auto">
          <a:xfrm>
            <a:off x="395536" y="1273175"/>
            <a:ext cx="433705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使用递减支持度</a:t>
            </a:r>
            <a:r>
              <a:rPr lang="zh-CN" alt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，可以解决使用一致支持度时在最小支持度值上设定的困难</a:t>
            </a:r>
            <a:endParaRPr lang="zh-CN" altLang="en-US" sz="2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递减支持度：</a:t>
            </a:r>
            <a:r>
              <a:rPr lang="zh-CN" altLang="en-US" sz="2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在较低层使用递减的最小支持度</a:t>
            </a:r>
            <a:endParaRPr lang="zh-CN" altLang="en-US" sz="2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每一层都有自己的一个独立的最小支持度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抽象层越低，对应的最小支持度越小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5353050" y="2437284"/>
          <a:ext cx="3611438" cy="2659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99332" name="Text Box 11"/>
          <p:cNvSpPr txBox="1">
            <a:spLocks noChangeArrowheads="1"/>
          </p:cNvSpPr>
          <p:nvPr/>
        </p:nvSpPr>
        <p:spPr bwMode="auto">
          <a:xfrm>
            <a:off x="4859338" y="3538538"/>
            <a:ext cx="1871662" cy="369887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charset="-122"/>
                <a:ea typeface="微软雅黑" panose="020B0503020204020204" charset="-122"/>
              </a:rPr>
              <a:t>min_sup = 5%</a:t>
            </a:r>
            <a:endParaRPr lang="en-US" altLang="zh-CN" sz="18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333" name="Text Box 12"/>
          <p:cNvSpPr txBox="1">
            <a:spLocks noChangeArrowheads="1"/>
          </p:cNvSpPr>
          <p:nvPr/>
        </p:nvSpPr>
        <p:spPr bwMode="auto">
          <a:xfrm>
            <a:off x="4860925" y="4841875"/>
            <a:ext cx="1871663" cy="36988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charset="-122"/>
                <a:ea typeface="微软雅黑" panose="020B0503020204020204" charset="-122"/>
              </a:rPr>
              <a:t>min_sup = 5%</a:t>
            </a:r>
            <a:endParaRPr lang="en-US" altLang="zh-CN" sz="18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4860925" y="4841875"/>
            <a:ext cx="1871663" cy="36988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sz="1800" b="0">
                <a:latin typeface="微软雅黑" panose="020B0503020204020204" charset="-122"/>
                <a:ea typeface="微软雅黑" panose="020B0503020204020204" charset="-122"/>
              </a:rPr>
              <a:t>min_sup = </a:t>
            </a:r>
            <a:r>
              <a:rPr lang="en-US" altLang="zh-CN" sz="1800" b="0">
                <a:solidFill>
                  <a:srgbClr val="CC0000"/>
                </a:solidFill>
                <a:latin typeface="微软雅黑" panose="020B0503020204020204" charset="-122"/>
                <a:ea typeface="微软雅黑" panose="020B0503020204020204" charset="-122"/>
              </a:rPr>
              <a:t>3%</a:t>
            </a:r>
            <a:endParaRPr lang="en-US" altLang="zh-CN" sz="1800" b="0">
              <a:solidFill>
                <a:srgbClr val="CC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多层关联</a:t>
            </a: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——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基于分组的支持度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cs typeface="微软雅黑" panose="020B0503020204020204" charset="-122"/>
              </a:rPr>
              <a:t>用户和专家清楚哪些分组比其他分组更加重要，在挖掘多层关联规则时，使用用户指定的基于项或者基于分组的最小支持度阈值</a:t>
            </a:r>
            <a:endParaRPr lang="en-US" altLang="zh-CN" sz="24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1196975" lvl="2" indent="-342900" eaLnBrk="1" hangingPunct="1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E.g. 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对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laptop_computer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或者</a:t>
            </a: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flash_drives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设置特别低的支持度阈值，以便特别关注这类商品的管理模式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5"/>
          <p:cNvGraphicFramePr>
            <a:graphicFrameLocks noChangeAspect="1"/>
          </p:cNvGraphicFramePr>
          <p:nvPr/>
        </p:nvGraphicFramePr>
        <p:xfrm>
          <a:off x="990600" y="2590800"/>
          <a:ext cx="7643813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5" name="Document" r:id="rId1" imgW="5629910" imgH="2685415" progId="Word.Document.8">
                  <p:embed/>
                </p:oleObj>
              </mc:Choice>
              <mc:Fallback>
                <p:oleObj name="Document" r:id="rId1" imgW="5629910" imgH="268541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7643813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7" name="Text Box 6"/>
          <p:cNvSpPr txBox="1">
            <a:spLocks noChangeArrowheads="1"/>
          </p:cNvSpPr>
          <p:nvPr/>
        </p:nvSpPr>
        <p:spPr bwMode="auto">
          <a:xfrm>
            <a:off x="1498600" y="1676400"/>
            <a:ext cx="559435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Hierarchy-information encoded 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transaction table: T[1] 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608013" y="1508125"/>
            <a:ext cx="5867400" cy="398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minsup[1] = 4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475" name="Text Box 3"/>
          <p:cNvSpPr txBox="1">
            <a:spLocks noChangeArrowheads="1"/>
          </p:cNvSpPr>
          <p:nvPr/>
        </p:nvSpPr>
        <p:spPr bwMode="auto">
          <a:xfrm>
            <a:off x="4763" y="2422525"/>
            <a:ext cx="370363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Level-1 large 1-itemsets: L[1, 1]</a:t>
            </a:r>
            <a:endParaRPr lang="en-US" altLang="zh-CN" sz="16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608013" y="2571574"/>
          <a:ext cx="56308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6" name="Document" r:id="rId1" imgW="5629910" imgH="1047750" progId="Word.Document.8">
                  <p:embed/>
                </p:oleObj>
              </mc:Choice>
              <mc:Fallback>
                <p:oleObj name="Document" r:id="rId1" imgW="5629910" imgH="104775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571574"/>
                        <a:ext cx="563086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3995936" y="2429493"/>
            <a:ext cx="3719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Level-1 large 2-itemsets: L[1, 2]</a:t>
            </a:r>
            <a:endParaRPr lang="en-US" altLang="zh-CN" sz="160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5478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7" name="Document" r:id="rId3" imgW="5629910" imgH="1891030" progId="Word.Document.8">
                  <p:embed/>
                </p:oleObj>
              </mc:Choice>
              <mc:Fallback>
                <p:oleObj name="Document" r:id="rId3" imgW="5629910" imgH="189103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9" name="Text Box 8"/>
          <p:cNvSpPr txBox="1">
            <a:spLocks noChangeArrowheads="1"/>
          </p:cNvSpPr>
          <p:nvPr/>
        </p:nvSpPr>
        <p:spPr bwMode="auto">
          <a:xfrm>
            <a:off x="307975" y="4327525"/>
            <a:ext cx="34591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Filtered transaction table: T[2]</a:t>
            </a:r>
            <a:endParaRPr lang="en-US" altLang="zh-CN" sz="16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5480" name="Group 17"/>
          <p:cNvGrpSpPr/>
          <p:nvPr/>
        </p:nvGrpSpPr>
        <p:grpSpPr bwMode="auto">
          <a:xfrm>
            <a:off x="4189413" y="2017713"/>
            <a:ext cx="382587" cy="431800"/>
            <a:chOff x="4440" y="2352"/>
            <a:chExt cx="241" cy="272"/>
          </a:xfrm>
        </p:grpSpPr>
        <p:sp>
          <p:nvSpPr>
            <p:cNvPr id="105490" name="Oval 12"/>
            <p:cNvSpPr>
              <a:spLocks noChangeArrowheads="1"/>
            </p:cNvSpPr>
            <p:nvPr/>
          </p:nvSpPr>
          <p:spPr bwMode="auto">
            <a:xfrm>
              <a:off x="4440" y="238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4459" y="2352"/>
              <a:ext cx="22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Calibri" panose="020F0502020204030204" pitchFamily="34" charset="0"/>
                </a:rPr>
                <a:t>3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endParaRPr>
            </a:p>
          </p:txBody>
        </p:sp>
      </p:grpSp>
      <p:grpSp>
        <p:nvGrpSpPr>
          <p:cNvPr id="105481" name="Group 18"/>
          <p:cNvGrpSpPr/>
          <p:nvPr/>
        </p:nvGrpSpPr>
        <p:grpSpPr bwMode="auto">
          <a:xfrm>
            <a:off x="531813" y="3794125"/>
            <a:ext cx="381000" cy="444500"/>
            <a:chOff x="4040" y="1968"/>
            <a:chExt cx="240" cy="280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4055" y="1968"/>
              <a:ext cx="221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Calibri" panose="020F0502020204030204" pitchFamily="34" charset="0"/>
                </a:rPr>
                <a:t>2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endParaRPr>
            </a:p>
          </p:txBody>
        </p:sp>
        <p:sp>
          <p:nvSpPr>
            <p:cNvPr id="105489" name="Oval 15"/>
            <p:cNvSpPr>
              <a:spLocks noChangeArrowheads="1"/>
            </p:cNvSpPr>
            <p:nvPr/>
          </p:nvSpPr>
          <p:spPr bwMode="auto">
            <a:xfrm>
              <a:off x="4040" y="2008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5482" name="Group 19"/>
          <p:cNvGrpSpPr/>
          <p:nvPr/>
        </p:nvGrpSpPr>
        <p:grpSpPr bwMode="auto">
          <a:xfrm>
            <a:off x="608013" y="1965325"/>
            <a:ext cx="381000" cy="431800"/>
            <a:chOff x="3912" y="2688"/>
            <a:chExt cx="240" cy="272"/>
          </a:xfrm>
        </p:grpSpPr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3934" y="26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rgbClr val="1557AE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Calibri" panose="020F0502020204030204" pitchFamily="34" charset="0"/>
                </a:rPr>
                <a:t>1</a:t>
              </a:r>
              <a:endParaRPr lang="en-US" altLang="zh-CN" sz="2000" dirty="0">
                <a:solidFill>
                  <a:srgbClr val="1557A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endParaRPr>
            </a:p>
          </p:txBody>
        </p:sp>
        <p:sp>
          <p:nvSpPr>
            <p:cNvPr id="105487" name="Oval 16"/>
            <p:cNvSpPr>
              <a:spLocks noChangeArrowheads="1"/>
            </p:cNvSpPr>
            <p:nvPr/>
          </p:nvSpPr>
          <p:spPr bwMode="auto">
            <a:xfrm>
              <a:off x="3912" y="27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6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5483" name="Text Box 20"/>
          <p:cNvSpPr txBox="1">
            <a:spLocks noChangeArrowheads="1"/>
          </p:cNvSpPr>
          <p:nvPr/>
        </p:nvSpPr>
        <p:spPr bwMode="auto">
          <a:xfrm>
            <a:off x="4942344" y="4274059"/>
            <a:ext cx="3640460" cy="191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L[1,1] is used to filter:</a:t>
            </a:r>
            <a:endParaRPr lang="en-US" altLang="zh-CN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(1) any item which is not large in a transaction</a:t>
            </a:r>
            <a:endParaRPr lang="en-US" altLang="zh-CN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(2) the transactions in T[1] which contain only small items</a:t>
            </a:r>
            <a:endParaRPr lang="en-US" altLang="zh-CN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484" name="Text Box 21"/>
          <p:cNvSpPr txBox="1">
            <a:spLocks noChangeArrowheads="1"/>
          </p:cNvSpPr>
          <p:nvPr/>
        </p:nvSpPr>
        <p:spPr bwMode="auto">
          <a:xfrm>
            <a:off x="3805238" y="2973388"/>
            <a:ext cx="2414587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- Use L[1,1] and T[2]</a:t>
            </a:r>
            <a:endParaRPr lang="en-US" altLang="zh-CN" sz="16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757238" y="1712913"/>
            <a:ext cx="7910512" cy="30670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minsup[2] = 3</a:t>
            </a:r>
            <a:endParaRPr lang="en-US" altLang="zh-CN" sz="14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699096" y="2566988"/>
          <a:ext cx="6494462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89" name="Document" r:id="rId1" imgW="5629910" imgH="1469390" progId="Word.Document.8">
                  <p:embed/>
                </p:oleObj>
              </mc:Choice>
              <mc:Fallback>
                <p:oleObj name="Document" r:id="rId1" imgW="5629910" imgH="146939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096" y="2566988"/>
                        <a:ext cx="6494462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542925" y="2060575"/>
            <a:ext cx="2668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Level-2 large 1-itemsets: </a:t>
            </a:r>
            <a:endParaRPr lang="en-US" altLang="zh-CN" sz="1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L[2, 1]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(Note 1)</a:t>
            </a:r>
            <a:endParaRPr lang="en-US" altLang="zh-CN" sz="1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2843808" y="2584450"/>
          <a:ext cx="6494463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0" name="Document" r:id="rId3" imgW="5629910" imgH="1680210" progId="Word.Document.8">
                  <p:embed/>
                </p:oleObj>
              </mc:Choice>
              <mc:Fallback>
                <p:oleObj name="Document" r:id="rId3" imgW="5629910" imgH="168021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584450"/>
                        <a:ext cx="6494463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3049588" y="2073275"/>
            <a:ext cx="2674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Level-2 large 2-itemsets: </a:t>
            </a:r>
            <a:endParaRPr lang="en-US" altLang="zh-CN" sz="1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L[2, 2]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(Note 2)</a:t>
            </a:r>
            <a:endParaRPr lang="en-US" altLang="zh-CN" sz="1400" b="0" baseline="30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527" name="Text Box 8"/>
          <p:cNvSpPr txBox="1">
            <a:spLocks noChangeArrowheads="1"/>
          </p:cNvSpPr>
          <p:nvPr/>
        </p:nvSpPr>
        <p:spPr bwMode="auto">
          <a:xfrm>
            <a:off x="5568950" y="2093913"/>
            <a:ext cx="2674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Level-2 large 3-itemsets: </a:t>
            </a:r>
            <a:endParaRPr lang="en-US" altLang="zh-CN" sz="1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sz="1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L[2, 3] </a:t>
            </a:r>
            <a:r>
              <a:rPr lang="en-US" altLang="zh-CN" sz="1400" b="0" baseline="30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(Note 3)</a:t>
            </a:r>
            <a:endParaRPr lang="en-US" altLang="zh-CN" sz="1400" b="0" baseline="30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7534" name="对象 1"/>
          <p:cNvGraphicFramePr>
            <a:graphicFrameLocks noChangeAspect="1"/>
          </p:cNvGraphicFramePr>
          <p:nvPr/>
        </p:nvGraphicFramePr>
        <p:xfrm>
          <a:off x="5292081" y="2852936"/>
          <a:ext cx="640871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1" name="Document" r:id="rId5" imgW="5629910" imgH="784860" progId="Word.Document.8">
                  <p:embed/>
                </p:oleObj>
              </mc:Choice>
              <mc:Fallback>
                <p:oleObj name="Document" r:id="rId5" imgW="5629910" imgH="784860" progId="Word.Document.8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1" y="2852936"/>
                        <a:ext cx="640871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2" name="Document" r:id="rId7" imgW="5635625" imgH="1892935" progId="Word.Document.8">
                  <p:embed/>
                </p:oleObj>
              </mc:Choice>
              <mc:Fallback>
                <p:oleObj name="Document" r:id="rId7" imgW="5635625" imgH="1892935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1143000" y="1593850"/>
            <a:ext cx="5867400" cy="398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minsup[3] = 3</a:t>
            </a:r>
            <a:endParaRPr lang="en-US" altLang="zh-CN" sz="2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1120775" y="2692400"/>
          <a:ext cx="64754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7" name="Document" r:id="rId1" imgW="5629910" imgH="1258570" progId="Word.Document.8">
                  <p:embed/>
                </p:oleObj>
              </mc:Choice>
              <mc:Fallback>
                <p:oleObj name="Document" r:id="rId1" imgW="5629910" imgH="125857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2692400"/>
                        <a:ext cx="647541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361950" y="2205038"/>
            <a:ext cx="344646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Level-3  large 1-itemsets: </a:t>
            </a:r>
            <a:endParaRPr lang="en-US" altLang="zh-CN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L[3, 1] </a:t>
            </a:r>
            <a:r>
              <a:rPr lang="en-US" altLang="zh-CN" b="0" baseline="3000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(Note 1)</a:t>
            </a:r>
            <a:endParaRPr lang="en-US" altLang="zh-CN" b="0" baseline="3000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4090988" y="2692400"/>
          <a:ext cx="689451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8" name="Document" r:id="rId3" imgW="5629910" imgH="836930" progId="Word.Document.8">
                  <p:embed/>
                </p:oleObj>
              </mc:Choice>
              <mc:Fallback>
                <p:oleObj name="Document" r:id="rId3" imgW="5629910" imgH="8369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88" y="2692400"/>
                        <a:ext cx="689451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3625850" y="2278063"/>
            <a:ext cx="345281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Level-3  large 2-itemsets: </a:t>
            </a:r>
            <a:endParaRPr lang="en-US" altLang="zh-CN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/>
            <a:r>
              <a:rPr lang="en-US" altLang="zh-CN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L[3, 2]</a:t>
            </a:r>
            <a:endParaRPr lang="en-US" altLang="zh-CN" b="0" baseline="3000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6"/>
          <p:cNvSpPr txBox="1">
            <a:spLocks noChangeArrowheads="1"/>
          </p:cNvSpPr>
          <p:nvPr/>
        </p:nvSpPr>
        <p:spPr bwMode="auto">
          <a:xfrm>
            <a:off x="571500" y="-100013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671538" y="4496594"/>
          <a:ext cx="5630862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9" name="Document" r:id="rId5" imgW="5635625" imgH="1892935" progId="Word.Document.8">
                  <p:embed/>
                </p:oleObj>
              </mc:Choice>
              <mc:Fallback>
                <p:oleObj name="Document" r:id="rId5" imgW="5635625" imgH="1892935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38" y="4496594"/>
                        <a:ext cx="5630862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116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多层关联规则挖掘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3.4  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多维关联规则</a:t>
            </a:r>
            <a:r>
              <a:rPr lang="zh-CN" altLang="zh-CN" sz="2800" b="0">
                <a:solidFill>
                  <a:srgbClr val="FF0000"/>
                </a:solidFill>
                <a:cs typeface="微软雅黑" panose="020B0503020204020204" charset="-122"/>
              </a:rPr>
              <a:t>挖掘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3.5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en-US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22238"/>
            <a:ext cx="8001000" cy="892176"/>
          </a:xfrm>
        </p:spPr>
        <p:txBody>
          <a:bodyPr/>
          <a:lstStyle/>
          <a:p>
            <a:pPr algn="ctr" eaLnBrk="1" hangingPunct="1"/>
            <a:r>
              <a:rPr lang="en-US" altLang="zh-CN" sz="3600">
                <a:solidFill>
                  <a:srgbClr val="1557AE"/>
                </a:solidFill>
                <a:cs typeface="微软雅黑" panose="020B0503020204020204" charset="-122"/>
              </a:rPr>
              <a:t>3.4 </a:t>
            </a:r>
            <a:r>
              <a:rPr lang="zh-CN" altLang="en-US" sz="3600">
                <a:solidFill>
                  <a:srgbClr val="1557AE"/>
                </a:solidFill>
                <a:cs typeface="微软雅黑" panose="020B0503020204020204" charset="-122"/>
              </a:rPr>
              <a:t>多维关联规则挖掘</a:t>
            </a:r>
            <a:endParaRPr lang="zh-CN" altLang="en-US" sz="360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11366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4359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单维关联规则：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buys(X, “milk”) 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＝ 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buys(X, “bread”)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多维关联规则：</a:t>
            </a: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涉及两个或多个维或谓词的关联规则</a:t>
            </a:r>
            <a:endParaRPr lang="zh-CN" altLang="en-US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维间关联规则：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不包含重复的谓词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"/>
            </a:pPr>
            <a:r>
              <a:rPr lang="en-US" altLang="zh-CN" sz="1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age(X,”19-25”) ∧occupation(</a:t>
            </a:r>
            <a:r>
              <a:rPr lang="en-US" altLang="zh-CN" sz="1800" b="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X,“student</a:t>
            </a:r>
            <a:r>
              <a:rPr lang="en-US" altLang="zh-CN" sz="1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 =&gt; buys(</a:t>
            </a:r>
            <a:r>
              <a:rPr lang="en-US" altLang="zh-CN" sz="1800" b="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X,“coke</a:t>
            </a:r>
            <a:r>
              <a:rPr lang="en-US" altLang="zh-CN" sz="1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”)</a:t>
            </a:r>
            <a:endParaRPr lang="en-US" altLang="zh-CN" sz="1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混合维关联规则：包含某些谓词的多次出现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"/>
            </a:pPr>
            <a:r>
              <a:rPr lang="en-US" altLang="zh-CN" sz="18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age(X,”19-25”) ∧buys(X, “popcorn”) =&gt; buys(X, “coke”)</a:t>
            </a:r>
            <a:endParaRPr lang="en-US" altLang="zh-CN" sz="18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在多维关联规则挖掘中，搜索的不是频繁项集，而是频繁谓词集。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谓词集是包含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个合取谓词的集合。</a:t>
            </a:r>
            <a:endParaRPr lang="zh-CN" altLang="en-US" sz="24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{age, occupation, buys}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谓词集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 txBox="1">
            <a:spLocks noChangeArrowheads="1"/>
          </p:cNvSpPr>
          <p:nvPr/>
        </p:nvSpPr>
        <p:spPr bwMode="auto">
          <a:xfrm>
            <a:off x="354013" y="1181100"/>
            <a:ext cx="84359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数据属性可以分为类别属性和数值属性</a:t>
            </a:r>
            <a:endParaRPr lang="zh-CN" altLang="en-US" sz="26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类别属性</a:t>
            </a: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具有有限个不同值，值之间无序</a:t>
            </a:r>
            <a:endParaRPr lang="zh-CN" altLang="en-US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数值属性</a:t>
            </a: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数值类型，并且值之间有一个隐含的序</a:t>
            </a:r>
            <a:endParaRPr lang="zh-CN" altLang="en-US" sz="2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对量化属性的处理：</a:t>
            </a:r>
            <a:endParaRPr lang="zh-CN" altLang="en-US" sz="26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静态离散化：</a:t>
            </a: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使用预定义的概念分层对数值属性进行静态地离散化</a:t>
            </a:r>
            <a:endParaRPr lang="zh-CN" altLang="en-US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量化关联规则：</a:t>
            </a: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根据数据的分布，将数值属性离散化到“箱”</a:t>
            </a:r>
            <a:endParaRPr lang="zh-CN" altLang="en-US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基于距离的关联规则：</a:t>
            </a: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考虑数据点之间的距离，动态地离散化量化</a:t>
            </a:r>
            <a:endParaRPr lang="zh-CN" altLang="en-US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 txBox="1">
            <a:spLocks noChangeArrowheads="1"/>
          </p:cNvSpPr>
          <p:nvPr/>
        </p:nvSpPr>
        <p:spPr bwMode="auto">
          <a:xfrm>
            <a:off x="11113" y="4868863"/>
            <a:ext cx="10490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&lt;Age: 30..39&gt; and &lt;Married: Yes&gt; =&gt; &lt;NumCars: 2&gt;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</a:rPr>
              <a:t>Support = 40%, Conf = 100%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Group 57"/>
          <p:cNvGraphicFramePr>
            <a:graphicFrameLocks noGrp="1"/>
          </p:cNvGraphicFramePr>
          <p:nvPr>
            <p:ph sz="half" idx="1"/>
          </p:nvPr>
        </p:nvGraphicFramePr>
        <p:xfrm>
          <a:off x="476250" y="1557338"/>
          <a:ext cx="8191500" cy="2925792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979850"/>
                <a:gridCol w="1673243"/>
                <a:gridCol w="1827339"/>
                <a:gridCol w="2711068"/>
              </a:tblGrid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RecordID</a:t>
                      </a:r>
                      <a:endParaRPr kumimoji="0" lang="en-US" sz="2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Age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Married</a:t>
                      </a:r>
                      <a:endParaRPr kumimoji="0" 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NumCars</a:t>
                      </a:r>
                      <a:endParaRPr kumimoji="0" lang="en-US" sz="2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23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No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25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300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29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No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34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  <a:tr h="487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500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38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Yes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1557AE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</a:t>
                      </a: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1557AE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46" marR="91446" marT="45696" marB="45696" horzOverflow="overflow"/>
                </a:tc>
              </a:tr>
            </a:tbl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矩形 3"/>
          <p:cNvSpPr>
            <a:spLocks noChangeArrowheads="1"/>
          </p:cNvSpPr>
          <p:nvPr/>
        </p:nvSpPr>
        <p:spPr bwMode="auto">
          <a:xfrm>
            <a:off x="88900" y="1081088"/>
            <a:ext cx="89662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14400" indent="-4572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基本思路：</a:t>
            </a:r>
            <a:r>
              <a:rPr lang="zh-CN" altLang="en-US" sz="28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将数值型关联规则挖掘转化为布尔型关联规则挖掘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</a:t>
            </a: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&lt;attribute: value&gt; </a:t>
            </a:r>
            <a:r>
              <a:rPr lang="zh-CN" altLang="en-US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作为新属性，这个属性是布尔型</a:t>
            </a:r>
            <a:endParaRPr lang="zh-CN" altLang="en-US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Group 104"/>
          <p:cNvGraphicFramePr>
            <a:graphicFrameLocks noGrp="1"/>
          </p:cNvGraphicFramePr>
          <p:nvPr>
            <p:ph sz="half" idx="4294967295"/>
          </p:nvPr>
        </p:nvGraphicFramePr>
        <p:xfrm>
          <a:off x="198438" y="3008313"/>
          <a:ext cx="8747126" cy="2952751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80891"/>
                <a:gridCol w="1038037"/>
                <a:gridCol w="1039624"/>
                <a:gridCol w="1263421"/>
                <a:gridCol w="1261833"/>
                <a:gridCol w="1539596"/>
                <a:gridCol w="1523724"/>
              </a:tblGrid>
              <a:tr h="771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ID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Age: 20..29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Age: 30..39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Married: Yes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Married: 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NumCars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: 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NumCars</a:t>
                      </a: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: 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200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300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  <a:tr h="4362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500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 pitchFamily="34" charset="0"/>
                      </a:endParaRPr>
                    </a:p>
                  </a:txBody>
                  <a:tcPr marL="91423" marR="91423" marT="45738" marB="45738" anchor="ctr" anchorCtr="1" horzOverflow="overflow"/>
                </a:tc>
              </a:tr>
            </a:tbl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"/>
          <p:cNvSpPr txBox="1">
            <a:spLocks noChangeArrowheads="1"/>
          </p:cNvSpPr>
          <p:nvPr/>
        </p:nvSpPr>
        <p:spPr bwMode="auto">
          <a:xfrm>
            <a:off x="207925" y="1124744"/>
            <a:ext cx="8291512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聚焦于以下形式的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维量化关联规则</a:t>
            </a:r>
            <a:r>
              <a:rPr lang="zh-CN" altLang="en-US" sz="24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2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两个量化属性和一个分类属性间的关联：</a:t>
            </a:r>
            <a:endParaRPr lang="en-US" altLang="zh-CN" sz="22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Tx/>
              <a:buNone/>
            </a:pPr>
            <a:r>
              <a:rPr lang="en-US" altLang="zh-CN" sz="2200" b="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200" b="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quan1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 A</a:t>
            </a:r>
            <a:r>
              <a:rPr lang="en-US" altLang="zh-CN" sz="2200" b="0" i="1" baseline="-2500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quan2 </a:t>
            </a:r>
            <a:r>
              <a:rPr lang="en-US" altLang="zh-CN" sz="2200" b="0" i="1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 </a:t>
            </a:r>
            <a:r>
              <a:rPr lang="en-US" altLang="zh-CN" sz="2200" b="0" i="1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A</a:t>
            </a:r>
            <a:r>
              <a:rPr lang="en-US" altLang="zh-CN" sz="2200" b="0" i="1" baseline="-25000" dirty="0" err="1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cat</a:t>
            </a:r>
            <a:endParaRPr lang="en-US" altLang="zh-CN" sz="2200" b="0" i="1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如：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age(X,”30-39”) 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 income(X,”42K - 48K”)  buys(</a:t>
            </a:r>
            <a:r>
              <a:rPr lang="en-US" altLang="zh-CN" sz="2200" b="0" i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X,”high</a:t>
            </a:r>
            <a:r>
              <a:rPr lang="en-US" altLang="zh-CN" sz="2200" b="0" i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 resolution TV”)</a:t>
            </a:r>
            <a:endParaRPr lang="en-US" altLang="zh-CN" sz="2200" b="0" i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179388" y="3551238"/>
            <a:ext cx="9002712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关联规则聚类系统 </a:t>
            </a:r>
            <a:r>
              <a:rPr lang="en-US" altLang="zh-CN" sz="24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(Association Rule Clustering System, ARCS)</a:t>
            </a:r>
            <a:endParaRPr lang="en-US" altLang="zh-CN" sz="24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pic>
        <p:nvPicPr>
          <p:cNvPr id="12186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588" y="4149725"/>
            <a:ext cx="3736975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5496" y="4622800"/>
            <a:ext cx="5279454" cy="28067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lvl="1" indent="-342900" eaLnBrk="1" hangingPunct="1">
              <a:lnSpc>
                <a:spcPct val="120000"/>
              </a:lnSpc>
              <a:spcBef>
                <a:spcPct val="20000"/>
              </a:spcBef>
              <a:buClr>
                <a:srgbClr val="1557AE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2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源于图像处理技术，该技术将量化属性对映射到满足给定分类属性条件的</a:t>
            </a:r>
            <a:r>
              <a:rPr lang="en-US" altLang="zh-CN" sz="22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2-D</a:t>
            </a:r>
            <a:r>
              <a:rPr lang="zh-CN" altLang="en-US" sz="2200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pitchFamily="18" charset="2"/>
              </a:rPr>
              <a:t>栅格上，然后通过搜索栅格点的聚类而产生关联规则</a:t>
            </a:r>
            <a:endParaRPr lang="zh-CN" altLang="en-US" sz="22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3"/>
          <p:cNvSpPr txBox="1">
            <a:spLocks noChangeArrowheads="1"/>
          </p:cNvSpPr>
          <p:nvPr/>
        </p:nvSpPr>
        <p:spPr bwMode="auto">
          <a:xfrm>
            <a:off x="323850" y="1628775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3907" name="对象 1"/>
          <p:cNvGraphicFramePr>
            <a:graphicFrameLocks noChangeAspect="1"/>
          </p:cNvGraphicFramePr>
          <p:nvPr/>
        </p:nvGraphicFramePr>
        <p:xfrm>
          <a:off x="3759200" y="1987550"/>
          <a:ext cx="4764088" cy="420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6" name="Paint Shop Pro Image" r:id="rId1" imgW="6614795" imgH="7393305" progId="PaintShopPro">
                  <p:embed/>
                </p:oleObj>
              </mc:Choice>
              <mc:Fallback>
                <p:oleObj name="Paint Shop Pro Image" r:id="rId1" imgW="6614795" imgH="7393305" progId="PaintShopPro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1987550"/>
                        <a:ext cx="4764088" cy="420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8" name="Rectangle 5"/>
          <p:cNvSpPr txBox="1">
            <a:spLocks noChangeArrowheads="1"/>
          </p:cNvSpPr>
          <p:nvPr/>
        </p:nvSpPr>
        <p:spPr bwMode="auto">
          <a:xfrm>
            <a:off x="350838" y="2378075"/>
            <a:ext cx="34290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1. Binning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2. Find frequent predicateset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3. Clustering</a:t>
            </a: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4. Optimize</a:t>
            </a:r>
            <a:endParaRPr lang="en-US" altLang="zh-CN" sz="28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3"/>
          <p:cNvSpPr txBox="1">
            <a:spLocks noChangeArrowheads="1"/>
          </p:cNvSpPr>
          <p:nvPr/>
        </p:nvSpPr>
        <p:spPr bwMode="auto">
          <a:xfrm>
            <a:off x="251520" y="1268760"/>
            <a:ext cx="8712646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85725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ARCS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zh-CN" altLang="en-US" sz="28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buClr>
                <a:srgbClr val="FF0000"/>
              </a:buClr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分箱（根据不同分箱方法创建一个</a:t>
            </a:r>
            <a:r>
              <a:rPr lang="en-US" altLang="zh-CN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2-D</a:t>
            </a: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数组），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目的在于减少量化属性相对应的巨大的值个数，使得</a:t>
            </a:r>
            <a:r>
              <a:rPr lang="en-US" altLang="zh-CN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2-D</a:t>
            </a:r>
            <a:r>
              <a:rPr lang="zh-CN" altLang="en-US" sz="22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栅格的大小可控</a:t>
            </a:r>
            <a:endParaRPr lang="zh-CN" altLang="en-US" sz="22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等宽分箱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等深分箱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基于同质的分箱（每个箱中元组一致分布）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50000"/>
              </a:lnSpc>
              <a:buClr>
                <a:srgbClr val="FF0000"/>
              </a:buClr>
              <a:buFont typeface="Verdana" panose="020B0604030504040204" pitchFamily="34" charset="0"/>
              <a:buAutoNum type="arabicPeriod"/>
            </a:pPr>
            <a:r>
              <a:rPr lang="zh-CN" altLang="en-US" sz="2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找出频繁谓词集</a:t>
            </a:r>
            <a:endParaRPr lang="zh-CN" altLang="en-US" sz="22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5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扫描分箱后形成的</a:t>
            </a:r>
            <a:r>
              <a:rPr lang="en-US" altLang="zh-CN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2-D</a:t>
            </a:r>
            <a:r>
              <a:rPr lang="zh-CN" altLang="en-US" sz="2000" b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数组，找出满足最小支持度和置信度的频繁谓词集</a:t>
            </a:r>
            <a:endParaRPr lang="zh-CN" altLang="en-US" sz="2000" b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200" b="0" i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3"/>
          <p:cNvSpPr txBox="1">
            <a:spLocks noChangeArrowheads="1"/>
          </p:cNvSpPr>
          <p:nvPr/>
        </p:nvSpPr>
        <p:spPr bwMode="auto">
          <a:xfrm>
            <a:off x="323850" y="1052513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85725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FF0000"/>
              </a:buClr>
              <a:buFont typeface="Verdana" panose="020B0604030504040204" pitchFamily="34" charset="0"/>
              <a:buAutoNum type="arabicPeriod" startAt="3"/>
            </a:pPr>
            <a:r>
              <a:rPr lang="zh-CN" altLang="en-US" sz="2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关联规则聚类</a:t>
            </a:r>
            <a:endParaRPr lang="zh-CN" altLang="en-US" sz="2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buClr>
                <a:schemeClr val="tx2"/>
              </a:buClr>
              <a:buFontTx/>
              <a:buChar char="•"/>
            </a:pPr>
            <a:r>
              <a:rPr lang="zh-CN" altLang="en-US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将上一步得到的强关联规则映射到</a:t>
            </a:r>
            <a:r>
              <a:rPr lang="en-US" altLang="zh-CN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2-D</a:t>
            </a:r>
            <a:r>
              <a:rPr lang="zh-CN" altLang="en-US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栅格上，使用聚类算法，扫描栅格，搜索规则的矩形聚类</a:t>
            </a:r>
            <a:endParaRPr lang="zh-CN" altLang="en-US" sz="20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200" b="0" i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128003" name="Rectangle 4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04" name="Rectangle 6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05" name="Rectangle 8"/>
          <p:cNvSpPr>
            <a:spLocks noChangeArrowheads="1"/>
          </p:cNvSpPr>
          <p:nvPr/>
        </p:nvSpPr>
        <p:spPr bwMode="auto">
          <a:xfrm>
            <a:off x="4657725" y="2838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06" name="AutoShape 12"/>
          <p:cNvSpPr>
            <a:spLocks noChangeArrowheads="1"/>
          </p:cNvSpPr>
          <p:nvPr/>
        </p:nvSpPr>
        <p:spPr bwMode="auto">
          <a:xfrm>
            <a:off x="7216775" y="3046413"/>
            <a:ext cx="541338" cy="1036637"/>
          </a:xfrm>
          <a:prstGeom prst="rightArrowCallout">
            <a:avLst>
              <a:gd name="adj1" fmla="val 38636"/>
              <a:gd name="adj2" fmla="val 44984"/>
              <a:gd name="adj3" fmla="val 16667"/>
              <a:gd name="adj4" fmla="val 15431"/>
            </a:avLst>
          </a:prstGeom>
          <a:solidFill>
            <a:srgbClr val="800000"/>
          </a:solidFill>
          <a:ln w="1270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8007" name="Object 1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238625" y="4171950"/>
          <a:ext cx="4038600" cy="224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5" name="Image" r:id="rId1" imgW="5372100" imgH="2984500" progId="Photoshop.Image.5">
                  <p:embed/>
                </p:oleObj>
              </mc:Choice>
              <mc:Fallback>
                <p:oleObj name="Image" r:id="rId1" imgW="5372100" imgH="2984500" progId="Photoshop.Image.5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4171950"/>
                        <a:ext cx="4038600" cy="224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8" name="AutoShape 14"/>
          <p:cNvSpPr>
            <a:spLocks noChangeArrowheads="1"/>
          </p:cNvSpPr>
          <p:nvPr/>
        </p:nvSpPr>
        <p:spPr bwMode="auto">
          <a:xfrm rot="4863239">
            <a:off x="7966075" y="3867151"/>
            <a:ext cx="1057275" cy="431800"/>
          </a:xfrm>
          <a:prstGeom prst="curvedDownArrow">
            <a:avLst>
              <a:gd name="adj1" fmla="val 48971"/>
              <a:gd name="adj2" fmla="val 97941"/>
              <a:gd name="adj3" fmla="val 33333"/>
            </a:avLst>
          </a:prstGeom>
          <a:solidFill>
            <a:srgbClr val="800000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009" name="AutoShape 17"/>
          <p:cNvSpPr>
            <a:spLocks noChangeArrowheads="1"/>
          </p:cNvSpPr>
          <p:nvPr/>
        </p:nvSpPr>
        <p:spPr bwMode="auto">
          <a:xfrm rot="3761063">
            <a:off x="3634582" y="4814094"/>
            <a:ext cx="431800" cy="649287"/>
          </a:xfrm>
          <a:prstGeom prst="downArrow">
            <a:avLst>
              <a:gd name="adj1" fmla="val 50000"/>
              <a:gd name="adj2" fmla="val 37592"/>
            </a:avLst>
          </a:prstGeom>
          <a:solidFill>
            <a:srgbClr val="800000"/>
          </a:solidFill>
          <a:ln w="1270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8010" name="对象 1"/>
          <p:cNvGraphicFramePr>
            <a:graphicFrameLocks noChangeAspect="1"/>
          </p:cNvGraphicFramePr>
          <p:nvPr/>
        </p:nvGraphicFramePr>
        <p:xfrm>
          <a:off x="323850" y="3124200"/>
          <a:ext cx="655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6" name="公式" r:id="rId3" imgW="5080000" imgH="215900" progId="Equation.3">
                  <p:embed/>
                </p:oleObj>
              </mc:Choice>
              <mc:Fallback>
                <p:oleObj name="公式" r:id="rId3" imgW="5080000" imgH="2159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124200"/>
                        <a:ext cx="6553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1" name="对象 2"/>
          <p:cNvGraphicFramePr>
            <a:graphicFrameLocks noChangeAspect="1"/>
          </p:cNvGraphicFramePr>
          <p:nvPr/>
        </p:nvGraphicFramePr>
        <p:xfrm>
          <a:off x="341313" y="3448050"/>
          <a:ext cx="653415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7" name="公式" r:id="rId5" imgW="5092700" imgH="215900" progId="Equation.3">
                  <p:embed/>
                </p:oleObj>
              </mc:Choice>
              <mc:Fallback>
                <p:oleObj name="公式" r:id="rId5" imgW="5092700" imgH="2159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3448050"/>
                        <a:ext cx="6534150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2" name="对象 15"/>
          <p:cNvGraphicFramePr>
            <a:graphicFrameLocks noChangeAspect="1"/>
          </p:cNvGraphicFramePr>
          <p:nvPr/>
        </p:nvGraphicFramePr>
        <p:xfrm>
          <a:off x="177800" y="5480050"/>
          <a:ext cx="36544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8" name="公式" r:id="rId7" imgW="2933700" imgH="457200" progId="Equation.3">
                  <p:embed/>
                </p:oleObj>
              </mc:Choice>
              <mc:Fallback>
                <p:oleObj name="公式" r:id="rId7" imgW="2933700" imgH="457200" progId="Equation.3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5480050"/>
                        <a:ext cx="36544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3" name="对象 17"/>
          <p:cNvGraphicFramePr>
            <a:graphicFrameLocks noChangeAspect="1"/>
          </p:cNvGraphicFramePr>
          <p:nvPr/>
        </p:nvGraphicFramePr>
        <p:xfrm>
          <a:off x="355600" y="3808413"/>
          <a:ext cx="6303963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99" name="公式" r:id="rId9" imgW="5080000" imgH="215900" progId="Equation.3">
                  <p:embed/>
                </p:oleObj>
              </mc:Choice>
              <mc:Fallback>
                <p:oleObj name="公式" r:id="rId9" imgW="5080000" imgH="215900" progId="Equation.3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3808413"/>
                        <a:ext cx="6303963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3"/>
          <p:cNvSpPr txBox="1">
            <a:spLocks noChangeArrowheads="1"/>
          </p:cNvSpPr>
          <p:nvPr/>
        </p:nvSpPr>
        <p:spPr bwMode="auto">
          <a:xfrm>
            <a:off x="323850" y="1484313"/>
            <a:ext cx="8496300" cy="456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ARCS</a:t>
            </a:r>
            <a:r>
              <a:rPr lang="zh-CN" altLang="en-US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的局限性</a:t>
            </a:r>
            <a:r>
              <a:rPr lang="en-US" altLang="zh-CN" sz="28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zh-CN" altLang="en-US" sz="28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规则的左手边只能有两个量化属性（</a:t>
            </a:r>
            <a:r>
              <a:rPr lang="en-US" altLang="zh-CN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2-D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栅格的限制）</a:t>
            </a:r>
            <a:endParaRPr lang="zh-CN" altLang="en-US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571500" y="-122238"/>
            <a:ext cx="800100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</a:t>
            </a:r>
            <a:r>
              <a:rPr lang="zh-CN" altLang="en-US" sz="3600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多维关联规则挖掘</a:t>
            </a:r>
            <a:endParaRPr lang="zh-CN" altLang="en-US" sz="3600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-100013"/>
            <a:ext cx="8001000" cy="892176"/>
          </a:xfrm>
        </p:spPr>
        <p:txBody>
          <a:bodyPr/>
          <a:lstStyle/>
          <a:p>
            <a:pPr algn="ctr" eaLnBrk="1" hangingPunct="1"/>
            <a:r>
              <a:rPr lang="zh-CN" altLang="en-US" sz="3600">
                <a:solidFill>
                  <a:srgbClr val="1557AE"/>
                </a:solidFill>
              </a:rPr>
              <a:t>本章内容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341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80338" cy="3024188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3.1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关联规则挖掘的基本概念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3.2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由事务数据库挖掘单维布尔关联规则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3.3  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多层关联规则挖掘</a:t>
            </a:r>
            <a:endParaRPr lang="zh-CN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3.4 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多维关联规则</a:t>
            </a:r>
            <a:r>
              <a:rPr lang="zh-CN" altLang="zh-CN" sz="2800" b="0">
                <a:solidFill>
                  <a:srgbClr val="1557AE"/>
                </a:solidFill>
                <a:cs typeface="微软雅黑" panose="020B0503020204020204" charset="-122"/>
              </a:rPr>
              <a:t>挖掘</a:t>
            </a:r>
            <a:endParaRPr lang="en-US" altLang="zh-CN" sz="28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3.5  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en-US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zh-CN" altLang="en-US" sz="2800" b="0"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1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：强关联规则是否是正相关的？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2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：强关联规则是否存在因果关系？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3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：相关性是否意味着因果关系？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4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：如何定义因果关系？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136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61925" y="-100013"/>
            <a:ext cx="9036050" cy="892176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1557AE"/>
                </a:solidFill>
                <a:cs typeface="微软雅黑" panose="020B0503020204020204" charset="-122"/>
              </a:rPr>
              <a:t>3.5 </a:t>
            </a:r>
            <a:r>
              <a:rPr lang="zh-CN" altLang="en-US">
                <a:solidFill>
                  <a:srgbClr val="1557AE"/>
                </a:solidFill>
                <a:cs typeface="微软雅黑" panose="020B0503020204020204" charset="-122"/>
              </a:rPr>
              <a:t>关联规则、相关性、因果关系的区别</a:t>
            </a:r>
            <a:endParaRPr lang="zh-CN" altLang="en-US">
              <a:solidFill>
                <a:srgbClr val="1557AE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1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：强关联规则是否是正相关的？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相关性：</a:t>
            </a:r>
            <a:r>
              <a:rPr lang="zh-CN" altLang="en-US" sz="3200" b="0">
                <a:solidFill>
                  <a:srgbClr val="1557AE"/>
                </a:solidFill>
                <a:cs typeface="微软雅黑" panose="020B0503020204020204" charset="-122"/>
              </a:rPr>
              <a:t>两个变量存在联系，一个变量会随着另一个变量变化，分为正相关和负相关</a:t>
            </a:r>
            <a:endParaRPr lang="en-US" altLang="zh-CN" sz="32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2465388"/>
            <a:ext cx="8218488" cy="287972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例：</a:t>
            </a: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(Aggarwal &amp; Yu, PODS98)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在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5000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个学生中</a:t>
            </a:r>
            <a:endParaRPr lang="zh-CN" altLang="en-US" sz="2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3000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个打篮球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3750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个喝麦片粥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2000" b="0">
                <a:solidFill>
                  <a:srgbClr val="1557AE"/>
                </a:solidFill>
                <a:cs typeface="微软雅黑" panose="020B0503020204020204" charset="-122"/>
              </a:rPr>
              <a:t>2000</a:t>
            </a:r>
            <a:r>
              <a:rPr lang="zh-CN" altLang="en-US" sz="2000" b="0">
                <a:solidFill>
                  <a:srgbClr val="1557AE"/>
                </a:solidFill>
                <a:cs typeface="微软雅黑" panose="020B0503020204020204" charset="-122"/>
              </a:rPr>
              <a:t>个学生既打篮球又喝麦片粥</a:t>
            </a:r>
            <a:endParaRPr lang="zh-CN" altLang="en-US" sz="20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1557AE"/>
                </a:solidFill>
                <a:cs typeface="微软雅黑" panose="020B0503020204020204" charset="-122"/>
              </a:rPr>
              <a:t>然而，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打篮球 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=&gt; 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喝麦片粥 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[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？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%, 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？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%]</a:t>
            </a:r>
            <a:r>
              <a:rPr lang="zh-CN" altLang="en-US" sz="2200" b="0">
                <a:solidFill>
                  <a:srgbClr val="1557AE"/>
                </a:solidFill>
                <a:cs typeface="微软雅黑" panose="020B0503020204020204" charset="-122"/>
              </a:rPr>
              <a:t>是无趣的，因为全部学生中喝麦片粥的比率是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75%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，</a:t>
            </a:r>
            <a:r>
              <a:rPr lang="zh-CN" altLang="en-US" sz="2200" b="0">
                <a:solidFill>
                  <a:srgbClr val="1557AE"/>
                </a:solidFill>
                <a:cs typeface="微软雅黑" panose="020B0503020204020204" charset="-122"/>
              </a:rPr>
              <a:t>比打篮球学生的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66.7%</a:t>
            </a:r>
            <a:r>
              <a:rPr lang="zh-CN" altLang="en-US" sz="2200" b="0">
                <a:solidFill>
                  <a:srgbClr val="1557AE"/>
                </a:solidFill>
                <a:cs typeface="微软雅黑" panose="020B0503020204020204" charset="-122"/>
              </a:rPr>
              <a:t>要高</a:t>
            </a:r>
            <a:endParaRPr lang="zh-CN" altLang="en-US" sz="22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441325" lvl="1" indent="-441325" eaLnBrk="1" hangingPunct="1">
              <a:lnSpc>
                <a:spcPct val="120000"/>
              </a:lnSpc>
              <a:spcBef>
                <a:spcPts val="600"/>
              </a:spcBef>
              <a:buClr>
                <a:srgbClr val="1557AE"/>
              </a:buClr>
              <a:buFont typeface="Wingdings" panose="05000000000000000000" pitchFamily="2" charset="2"/>
              <a:buChar char="Ø"/>
            </a:pP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打篮球 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=&gt; </a:t>
            </a:r>
            <a:r>
              <a:rPr lang="zh-CN" altLang="en-US" sz="2200" b="0">
                <a:solidFill>
                  <a:srgbClr val="FF0000"/>
                </a:solidFill>
                <a:cs typeface="微软雅黑" panose="020B0503020204020204" charset="-122"/>
              </a:rPr>
              <a:t>不喝麦片粥 </a:t>
            </a:r>
            <a:r>
              <a:rPr lang="en-US" altLang="zh-CN" sz="2200" b="0">
                <a:solidFill>
                  <a:srgbClr val="FF0000"/>
                </a:solidFill>
                <a:cs typeface="微软雅黑" panose="020B0503020204020204" charset="-122"/>
              </a:rPr>
              <a:t>[20%, 33.3%]</a:t>
            </a:r>
            <a:r>
              <a:rPr lang="zh-CN" altLang="en-US" sz="2200" b="0">
                <a:solidFill>
                  <a:srgbClr val="1557AE"/>
                </a:solidFill>
                <a:cs typeface="微软雅黑" panose="020B0503020204020204" charset="-122"/>
              </a:rPr>
              <a:t>这个规则远比上面那个要精确，尽管支持度和置信度都要低的多</a:t>
            </a:r>
            <a:endParaRPr lang="zh-CN" altLang="en-US" sz="22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graphicFrame>
        <p:nvGraphicFramePr>
          <p:cNvPr id="138243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763713" y="1125538"/>
          <a:ext cx="5337175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1" name="Worksheet" r:id="rId1" imgW="3699510" imgH="922655" progId="Excel.Sheet.8">
                  <p:embed/>
                </p:oleObj>
              </mc:Choice>
              <mc:Fallback>
                <p:oleObj name="Worksheet" r:id="rId1" imgW="3699510" imgH="922655" progId="Excel.Shee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5337175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565400"/>
            <a:ext cx="5108575" cy="189547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400" b="0"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sz="2400" b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X and Y</a:t>
            </a:r>
            <a:r>
              <a:rPr lang="zh-CN" altLang="en-US" sz="2400" b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：正相关</a:t>
            </a:r>
            <a:endParaRPr lang="en-US" altLang="zh-CN" sz="2400" b="0">
              <a:solidFill>
                <a:srgbClr val="FF0000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</a:pPr>
            <a:r>
              <a:rPr lang="en-US" altLang="zh-CN" sz="2400" b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X and Z</a:t>
            </a:r>
            <a:r>
              <a:rPr lang="zh-CN" altLang="en-US" sz="2400" b="0">
                <a:solidFill>
                  <a:srgbClr val="FF0000"/>
                </a:solidFill>
                <a:cs typeface="微软雅黑" panose="020B0503020204020204" charset="-122"/>
                <a:sym typeface="Symbol" panose="05050102010706020507" pitchFamily="18" charset="2"/>
              </a:rPr>
              <a:t>：负相关</a:t>
            </a:r>
            <a:endParaRPr lang="en-US" altLang="zh-CN" sz="2400" b="0">
              <a:solidFill>
                <a:srgbClr val="FF0000"/>
              </a:solidFill>
              <a:cs typeface="微软雅黑" panose="020B0503020204020204" charset="-122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0"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graphicFrame>
        <p:nvGraphicFramePr>
          <p:cNvPr id="139267" name="Object 4"/>
          <p:cNvGraphicFramePr>
            <a:graphicFrameLocks noChangeAspect="1"/>
          </p:cNvGraphicFramePr>
          <p:nvPr/>
        </p:nvGraphicFramePr>
        <p:xfrm>
          <a:off x="4211638" y="2276475"/>
          <a:ext cx="3659187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3" name="工作表" r:id="rId1" imgW="4711700" imgH="1866900" progId="Excel.Sheet.8">
                  <p:embed/>
                </p:oleObj>
              </mc:Choice>
              <mc:Fallback>
                <p:oleObj name="工作表" r:id="rId1" imgW="4711700" imgH="18669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276475"/>
                        <a:ext cx="3659187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5"/>
          <p:cNvGraphicFramePr>
            <a:graphicFrameLocks noChangeAspect="1"/>
          </p:cNvGraphicFramePr>
          <p:nvPr/>
        </p:nvGraphicFramePr>
        <p:xfrm>
          <a:off x="4211638" y="4076700"/>
          <a:ext cx="408305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4" name="工作表" r:id="rId3" imgW="5956300" imgH="1866900" progId="Excel.Sheet.8">
                  <p:embed/>
                </p:oleObj>
              </mc:Choice>
              <mc:Fallback>
                <p:oleObj name="工作表" r:id="rId3" imgW="5956300" imgH="18669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076700"/>
                        <a:ext cx="408305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9" name="矩形 1"/>
          <p:cNvSpPr>
            <a:spLocks noChangeArrowheads="1"/>
          </p:cNvSpPr>
          <p:nvPr/>
        </p:nvSpPr>
        <p:spPr bwMode="auto">
          <a:xfrm>
            <a:off x="1870075" y="5330825"/>
            <a:ext cx="56197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SzPct val="100000"/>
            </a:pPr>
            <a:r>
              <a:rPr lang="zh-CN" altLang="en-US" sz="4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强关联规则 ≠ 正相关！</a:t>
            </a:r>
            <a:endParaRPr lang="zh-CN" altLang="en-US" sz="4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7495" y="6151880"/>
            <a:ext cx="655383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4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陷阱：高置信度规则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en-US" altLang="zh-CN" sz="2000" b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→ B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可能具有误导性。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133600"/>
            <a:ext cx="6840537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5" name="Rectangle 4"/>
          <p:cNvSpPr>
            <a:spLocks noChangeArrowheads="1"/>
          </p:cNvSpPr>
          <p:nvPr/>
        </p:nvSpPr>
        <p:spPr bwMode="auto">
          <a:xfrm>
            <a:off x="4067175" y="4005263"/>
            <a:ext cx="40322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</a:t>
            </a:r>
            <a:b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（未去除无趣规则）</a:t>
            </a:r>
            <a:endParaRPr lang="zh-CN" altLang="en-US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316" name="Rectangle 5"/>
          <p:cNvSpPr>
            <a:spLocks noChangeArrowheads="1"/>
          </p:cNvSpPr>
          <p:nvPr/>
        </p:nvSpPr>
        <p:spPr bwMode="auto">
          <a:xfrm>
            <a:off x="2700338" y="3284538"/>
            <a:ext cx="1944687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正相关</a:t>
            </a:r>
            <a:endParaRPr lang="zh-CN" altLang="en-US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sp>
        <p:nvSpPr>
          <p:cNvPr id="141317" name="Rectangle 6"/>
          <p:cNvSpPr>
            <a:spLocks noChangeArrowheads="1"/>
          </p:cNvSpPr>
          <p:nvPr/>
        </p:nvSpPr>
        <p:spPr bwMode="auto">
          <a:xfrm>
            <a:off x="2268538" y="5084763"/>
            <a:ext cx="24479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负相关</a:t>
            </a:r>
            <a:endParaRPr lang="zh-CN" altLang="en-US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sp>
        <p:nvSpPr>
          <p:cNvPr id="141318" name="Rectangle 7"/>
          <p:cNvSpPr>
            <a:spLocks noChangeArrowheads="1"/>
          </p:cNvSpPr>
          <p:nvPr/>
        </p:nvSpPr>
        <p:spPr bwMode="auto">
          <a:xfrm>
            <a:off x="468313" y="1557338"/>
            <a:ext cx="3887787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sz="32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charset="-122"/>
              </a:rPr>
              <a:t>关联规则与相关性</a:t>
            </a:r>
            <a:endParaRPr lang="zh-CN" altLang="en-US" sz="3200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charset="-122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724400"/>
            <a:ext cx="8505825" cy="1717675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可使用</a:t>
            </a: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相关度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来扩充关联规则的</a:t>
            </a: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支持度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---</a:t>
            </a: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置信度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框架</a:t>
            </a:r>
            <a:endParaRPr lang="en-US" altLang="zh-CN" sz="26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en-US" altLang="zh-CN" sz="21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24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需要一种度量事件间的相关性或者是依赖性的指标</a:t>
            </a:r>
            <a:endParaRPr lang="zh-CN" altLang="en-US" sz="2600" b="0">
              <a:solidFill>
                <a:srgbClr val="1557AE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panose="020B0503020204020204" charset="-122"/>
            </a:endParaRPr>
          </a:p>
        </p:txBody>
      </p:sp>
      <p:graphicFrame>
        <p:nvGraphicFramePr>
          <p:cNvPr id="143363" name="对象 3"/>
          <p:cNvGraphicFramePr>
            <a:graphicFrameLocks noChangeAspect="1"/>
          </p:cNvGraphicFramePr>
          <p:nvPr/>
        </p:nvGraphicFramePr>
        <p:xfrm>
          <a:off x="1630363" y="5373688"/>
          <a:ext cx="5368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2" name="Equation" r:id="rId1" imgW="2527300" imgH="203200" progId="Equation.3">
                  <p:embed/>
                </p:oleObj>
              </mc:Choice>
              <mc:Fallback>
                <p:oleObj name="Equation" r:id="rId1" imgW="2527300" imgH="203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5373688"/>
                        <a:ext cx="53689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557338"/>
            <a:ext cx="5184775" cy="312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507413" cy="4525963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ts val="240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提升度指标（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lift</a:t>
            </a: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）</a:t>
            </a:r>
            <a:endParaRPr lang="zh-CN" altLang="en-US" sz="26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zh-CN" altLang="en-US" sz="2100" b="0"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当项集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的出现独立于项集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时，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P(A∪B)=P(A)P(B)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，即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lift(A,B)</a:t>
            </a:r>
            <a:r>
              <a:rPr lang="zh-CN" altLang="en-US" sz="2600" b="0">
                <a:solidFill>
                  <a:srgbClr val="FF0000"/>
                </a:solidFill>
                <a:cs typeface="微软雅黑" panose="020B0503020204020204" charset="-122"/>
              </a:rPr>
              <a:t>＝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1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，表明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无关，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 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lift(A,B) &gt;1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表明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正相关， </a:t>
            </a:r>
            <a:r>
              <a:rPr lang="en-US" altLang="zh-CN" sz="2600" b="0">
                <a:solidFill>
                  <a:srgbClr val="FF0000"/>
                </a:solidFill>
                <a:cs typeface="微软雅黑" panose="020B0503020204020204" charset="-122"/>
              </a:rPr>
              <a:t>lift(A,B) &lt;1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表明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A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与</a:t>
            </a:r>
            <a:r>
              <a:rPr lang="en-US" altLang="zh-CN" sz="2600" b="0">
                <a:solidFill>
                  <a:srgbClr val="1557AE"/>
                </a:solidFill>
                <a:cs typeface="微软雅黑" panose="020B0503020204020204" charset="-122"/>
              </a:rPr>
              <a:t>B</a:t>
            </a:r>
            <a:r>
              <a:rPr lang="zh-CN" altLang="en-US" sz="2600" b="0">
                <a:solidFill>
                  <a:srgbClr val="1557AE"/>
                </a:solidFill>
                <a:cs typeface="微软雅黑" panose="020B0503020204020204" charset="-122"/>
              </a:rPr>
              <a:t>负相关</a:t>
            </a:r>
            <a:endParaRPr lang="zh-CN" altLang="en-US" sz="26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graphicFrame>
        <p:nvGraphicFramePr>
          <p:cNvPr id="145411" name="对象 4"/>
          <p:cNvGraphicFramePr>
            <a:graphicFrameLocks noChangeAspect="1"/>
          </p:cNvGraphicFramePr>
          <p:nvPr/>
        </p:nvGraphicFramePr>
        <p:xfrm>
          <a:off x="971550" y="2133600"/>
          <a:ext cx="69278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29" name="Equation" r:id="rId1" imgW="3657600" imgH="419100" progId="Equation.3">
                  <p:embed/>
                </p:oleObj>
              </mc:Choice>
              <mc:Fallback>
                <p:oleObj name="Equation" r:id="rId1" imgW="3657600" imgH="4191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33600"/>
                        <a:ext cx="69278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58" name="Object 4"/>
          <p:cNvGraphicFramePr>
            <a:graphicFrameLocks noChangeAspect="1"/>
          </p:cNvGraphicFramePr>
          <p:nvPr/>
        </p:nvGraphicFramePr>
        <p:xfrm>
          <a:off x="2124075" y="1700213"/>
          <a:ext cx="4751388" cy="185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93" name="工作表" r:id="rId1" imgW="4711700" imgH="1866900" progId="Excel.Sheet.8">
                  <p:embed/>
                </p:oleObj>
              </mc:Choice>
              <mc:Fallback>
                <p:oleObj name="工作表" r:id="rId1" imgW="4711700" imgH="18669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00213"/>
                        <a:ext cx="4751388" cy="185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方正兰亭中黑_GBK" panose="02000000000000000000" pitchFamily="2" charset="-122"/>
              <a:ea typeface="方正兰亭中黑_GBK" panose="02000000000000000000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47495" y="4509135"/>
          <a:ext cx="5751830" cy="1562100"/>
        </p:xfrm>
        <a:graphic>
          <a:graphicData uri="http://schemas.openxmlformats.org/drawingml/2006/table">
            <a:tbl>
              <a:tblPr/>
              <a:tblGrid>
                <a:gridCol w="1698625"/>
                <a:gridCol w="2235200"/>
                <a:gridCol w="1817688"/>
              </a:tblGrid>
              <a:tr h="355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Itemset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Support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lift</a:t>
                      </a:r>
                      <a:endParaRPr lang="en-US" altLang="en-US" sz="20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X,Y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25%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X,Z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37.50%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0.9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  <a:tr h="406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Y,Z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12.50%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0.57</a:t>
                      </a:r>
                      <a:endParaRPr lang="en-US" altLang="en-US" sz="2200" b="1">
                        <a:solidFill>
                          <a:srgbClr val="00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80400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2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：强关联规则是否存在因果关系？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因果关系：</a:t>
            </a:r>
            <a:r>
              <a:rPr lang="zh-CN" altLang="zh-CN" sz="3200" b="0">
                <a:solidFill>
                  <a:srgbClr val="1557AE"/>
                </a:solidFill>
                <a:cs typeface="微软雅黑" panose="020B0503020204020204" charset="-122"/>
              </a:rPr>
              <a:t>变量或事件之间的直接作用关系</a:t>
            </a:r>
            <a:endParaRPr lang="en-US" altLang="zh-CN" sz="3200" b="0">
              <a:solidFill>
                <a:srgbClr val="1557AE"/>
              </a:solidFill>
              <a:cs typeface="微软雅黑" panose="020B0503020204020204" charset="-122"/>
            </a:endParaRPr>
          </a:p>
        </p:txBody>
      </p:sp>
      <p:sp>
        <p:nvSpPr>
          <p:cNvPr id="149507" name="矩形 1"/>
          <p:cNvSpPr>
            <a:spLocks noChangeArrowheads="1"/>
          </p:cNvSpPr>
          <p:nvPr/>
        </p:nvSpPr>
        <p:spPr bwMode="auto">
          <a:xfrm>
            <a:off x="1558925" y="5181600"/>
            <a:ext cx="61341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SzPct val="100000"/>
            </a:pPr>
            <a:r>
              <a:rPr lang="zh-CN" altLang="en-US" sz="4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强关联规则 ≠ 因果关系！</a:t>
            </a:r>
            <a:endParaRPr lang="zh-CN" altLang="en-US" sz="4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508" name="矩形 1"/>
          <p:cNvSpPr>
            <a:spLocks noChangeArrowheads="1"/>
          </p:cNvSpPr>
          <p:nvPr/>
        </p:nvSpPr>
        <p:spPr bwMode="auto">
          <a:xfrm>
            <a:off x="3003550" y="3409950"/>
            <a:ext cx="741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=&gt;</a:t>
            </a:r>
            <a:endParaRPr lang="en-US" altLang="zh-CN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509" name="矩形 7"/>
          <p:cNvSpPr>
            <a:spLocks noChangeArrowheads="1"/>
          </p:cNvSpPr>
          <p:nvPr/>
        </p:nvSpPr>
        <p:spPr bwMode="auto">
          <a:xfrm>
            <a:off x="3780155" y="3216910"/>
            <a:ext cx="142081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太阳东</a:t>
            </a:r>
            <a:endParaRPr lang="en-US" altLang="zh-CN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方升起</a:t>
            </a:r>
            <a:endParaRPr lang="zh-CN" altLang="en-US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510" name="矩形 8"/>
          <p:cNvSpPr>
            <a:spLocks noChangeArrowheads="1"/>
          </p:cNvSpPr>
          <p:nvPr/>
        </p:nvSpPr>
        <p:spPr bwMode="auto">
          <a:xfrm>
            <a:off x="5568950" y="3398838"/>
            <a:ext cx="2579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[1/7, 100%]</a:t>
            </a:r>
            <a:endParaRPr lang="en-US" altLang="zh-CN" sz="32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511" name="矩形 9"/>
          <p:cNvSpPr>
            <a:spLocks noChangeArrowheads="1"/>
          </p:cNvSpPr>
          <p:nvPr/>
        </p:nvSpPr>
        <p:spPr bwMode="auto">
          <a:xfrm>
            <a:off x="1486833" y="3216275"/>
            <a:ext cx="141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周一上</a:t>
            </a:r>
            <a:endParaRPr lang="en-US" altLang="zh-CN" sz="32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</a:t>
            </a:r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</a:t>
            </a:r>
            <a:endParaRPr lang="zh-CN" altLang="en-US" sz="32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118475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 相关性有助于为发现因果关系提供线索</a:t>
            </a:r>
            <a:endParaRPr lang="zh-CN" altLang="en-US" sz="32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2457450" y="3213100"/>
            <a:ext cx="1223963" cy="1152525"/>
          </a:xfrm>
          <a:prstGeom prst="ellipse">
            <a:avLst/>
          </a:prstGeom>
          <a:solidFill>
            <a:srgbClr val="FFFFCC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LRRK2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defRPr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携带者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线形标注 2(无边框) 4"/>
          <p:cNvSpPr/>
          <p:nvPr/>
        </p:nvSpPr>
        <p:spPr bwMode="auto">
          <a:xfrm>
            <a:off x="4302125" y="2767013"/>
            <a:ext cx="1944688" cy="500062"/>
          </a:xfrm>
          <a:prstGeom prst="callout2">
            <a:avLst>
              <a:gd name="adj1" fmla="val 18750"/>
              <a:gd name="adj2" fmla="val 60287"/>
              <a:gd name="adj3" fmla="val 18750"/>
              <a:gd name="adj4" fmla="val -16667"/>
              <a:gd name="adj5" fmla="val 112500"/>
              <a:gd name="adj6" fmla="val -46667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0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1" name="矩形 5"/>
          <p:cNvSpPr>
            <a:spLocks noChangeArrowheads="1"/>
          </p:cNvSpPr>
          <p:nvPr/>
        </p:nvSpPr>
        <p:spPr bwMode="auto">
          <a:xfrm>
            <a:off x="3968750" y="2492375"/>
            <a:ext cx="180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G2029S</a:t>
            </a:r>
            <a:r>
              <a:rPr lang="zh-CN" altLang="en-US" sz="2000" b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变异</a:t>
            </a:r>
            <a:endParaRPr lang="zh-CN" altLang="en-US" sz="2000" b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702" name="圆角矩形 7"/>
          <p:cNvSpPr>
            <a:spLocks noChangeArrowheads="1"/>
          </p:cNvSpPr>
          <p:nvPr/>
        </p:nvSpPr>
        <p:spPr bwMode="auto">
          <a:xfrm>
            <a:off x="5803900" y="2441575"/>
            <a:ext cx="2376488" cy="720725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患帕金森病</a:t>
            </a:r>
            <a:endParaRPr lang="zh-CN" altLang="en-US" sz="24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线形标注 2(无边框) 8"/>
          <p:cNvSpPr/>
          <p:nvPr/>
        </p:nvSpPr>
        <p:spPr bwMode="auto">
          <a:xfrm>
            <a:off x="4454525" y="2919413"/>
            <a:ext cx="1944688" cy="500062"/>
          </a:xfrm>
          <a:prstGeom prst="callout2">
            <a:avLst>
              <a:gd name="adj1" fmla="val 373177"/>
              <a:gd name="adj2" fmla="val 52577"/>
              <a:gd name="adj3" fmla="val 373177"/>
              <a:gd name="adj4" fmla="val -23606"/>
              <a:gd name="adj5" fmla="val 283706"/>
              <a:gd name="adj6" fmla="val -56690"/>
            </a:avLst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0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5805488" y="4381500"/>
            <a:ext cx="2376487" cy="7207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400" b="0" dirty="0">
                <a:solidFill>
                  <a:srgbClr val="8B0000"/>
                </a:solidFill>
                <a:latin typeface="微软雅黑" panose="020B0503020204020204" charset="-122"/>
                <a:ea typeface="微软雅黑" panose="020B0503020204020204" charset="-122"/>
              </a:rPr>
              <a:t>不患帕金森病</a:t>
            </a:r>
            <a:endParaRPr lang="zh-CN" altLang="en-US" sz="2400" b="0" dirty="0">
              <a:solidFill>
                <a:srgbClr val="8B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5" name="矩形 10"/>
          <p:cNvSpPr>
            <a:spLocks noChangeArrowheads="1"/>
          </p:cNvSpPr>
          <p:nvPr/>
        </p:nvSpPr>
        <p:spPr bwMode="auto">
          <a:xfrm>
            <a:off x="4211638" y="4422775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未变异</a:t>
            </a:r>
            <a:endParaRPr lang="zh-CN" altLang="en-US" sz="2000" b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6" name="流程图: 汇总连接 12"/>
          <p:cNvSpPr>
            <a:spLocks noChangeArrowheads="1"/>
          </p:cNvSpPr>
          <p:nvPr/>
        </p:nvSpPr>
        <p:spPr bwMode="auto">
          <a:xfrm>
            <a:off x="3198813" y="2751138"/>
            <a:ext cx="287337" cy="287337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7" name="流程图: 汇总连接 13"/>
          <p:cNvSpPr>
            <a:spLocks noChangeArrowheads="1"/>
          </p:cNvSpPr>
          <p:nvPr/>
        </p:nvSpPr>
        <p:spPr bwMode="auto">
          <a:xfrm>
            <a:off x="2670175" y="2776538"/>
            <a:ext cx="288925" cy="287337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8" name="流程图: 汇总连接 14"/>
          <p:cNvSpPr>
            <a:spLocks noChangeArrowheads="1"/>
          </p:cNvSpPr>
          <p:nvPr/>
        </p:nvSpPr>
        <p:spPr bwMode="auto">
          <a:xfrm>
            <a:off x="2236788" y="2949575"/>
            <a:ext cx="287337" cy="287338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9" name="流程图: 汇总连接 15"/>
          <p:cNvSpPr>
            <a:spLocks noChangeArrowheads="1"/>
          </p:cNvSpPr>
          <p:nvPr/>
        </p:nvSpPr>
        <p:spPr bwMode="auto">
          <a:xfrm>
            <a:off x="1927225" y="3305175"/>
            <a:ext cx="288925" cy="288925"/>
          </a:xfrm>
          <a:prstGeom prst="flowChartSummingJunction">
            <a:avLst/>
          </a:prstGeom>
          <a:solidFill>
            <a:srgbClr val="CCFFFF"/>
          </a:solidFill>
          <a:ln w="9525">
            <a:solidFill>
              <a:srgbClr val="00B050"/>
            </a:solidFill>
            <a:round/>
          </a:ln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 b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7710" name="直接连接符 17"/>
          <p:cNvCxnSpPr>
            <a:cxnSpLocks noChangeShapeType="1"/>
            <a:stCxn id="157709" idx="5"/>
          </p:cNvCxnSpPr>
          <p:nvPr/>
        </p:nvCxnSpPr>
        <p:spPr bwMode="auto">
          <a:xfrm>
            <a:off x="2173288" y="3551238"/>
            <a:ext cx="309562" cy="42862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1" name="直接连接符 24"/>
          <p:cNvCxnSpPr>
            <a:cxnSpLocks noChangeShapeType="1"/>
            <a:stCxn id="157708" idx="5"/>
            <a:endCxn id="3" idx="1"/>
          </p:cNvCxnSpPr>
          <p:nvPr/>
        </p:nvCxnSpPr>
        <p:spPr bwMode="auto">
          <a:xfrm>
            <a:off x="2482850" y="3195638"/>
            <a:ext cx="153988" cy="185737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2" name="直接连接符 29"/>
          <p:cNvCxnSpPr>
            <a:cxnSpLocks noChangeShapeType="1"/>
            <a:stCxn id="157707" idx="5"/>
          </p:cNvCxnSpPr>
          <p:nvPr/>
        </p:nvCxnSpPr>
        <p:spPr bwMode="auto">
          <a:xfrm>
            <a:off x="2916238" y="3022600"/>
            <a:ext cx="3175" cy="214313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713" name="直接连接符 35"/>
          <p:cNvCxnSpPr>
            <a:cxnSpLocks noChangeShapeType="1"/>
            <a:stCxn id="157706" idx="4"/>
          </p:cNvCxnSpPr>
          <p:nvPr/>
        </p:nvCxnSpPr>
        <p:spPr bwMode="auto">
          <a:xfrm flipH="1">
            <a:off x="3232150" y="3038475"/>
            <a:ext cx="111125" cy="19843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流程图: 联系 38"/>
          <p:cNvSpPr/>
          <p:nvPr/>
        </p:nvSpPr>
        <p:spPr bwMode="auto">
          <a:xfrm>
            <a:off x="2124075" y="4221163"/>
            <a:ext cx="307975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>
              <a:solidFill>
                <a:srgbClr val="8B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流程图: 联系 41"/>
          <p:cNvSpPr/>
          <p:nvPr/>
        </p:nvSpPr>
        <p:spPr bwMode="auto">
          <a:xfrm>
            <a:off x="2573338" y="4506913"/>
            <a:ext cx="307975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>
              <a:solidFill>
                <a:srgbClr val="8B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流程图: 联系 42"/>
          <p:cNvSpPr/>
          <p:nvPr/>
        </p:nvSpPr>
        <p:spPr bwMode="auto">
          <a:xfrm>
            <a:off x="3133725" y="4510088"/>
            <a:ext cx="306388" cy="30956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514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30086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658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923030" indent="-39878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zh-CN" altLang="en-US" sz="2400" b="0">
              <a:solidFill>
                <a:srgbClr val="8B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直接连接符 43"/>
          <p:cNvCxnSpPr>
            <a:stCxn id="39" idx="7"/>
          </p:cNvCxnSpPr>
          <p:nvPr/>
        </p:nvCxnSpPr>
        <p:spPr bwMode="auto">
          <a:xfrm flipV="1">
            <a:off x="2386013" y="4121150"/>
            <a:ext cx="187325" cy="146050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cxnSp>
        <p:nvCxnSpPr>
          <p:cNvPr id="47" name="直接连接符 46"/>
          <p:cNvCxnSpPr>
            <a:stCxn id="42" idx="0"/>
          </p:cNvCxnSpPr>
          <p:nvPr/>
        </p:nvCxnSpPr>
        <p:spPr bwMode="auto">
          <a:xfrm flipV="1">
            <a:off x="2727325" y="4365625"/>
            <a:ext cx="179388" cy="141288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cxnSp>
        <p:nvCxnSpPr>
          <p:cNvPr id="50" name="直接连接符 49"/>
          <p:cNvCxnSpPr>
            <a:endCxn id="43" idx="0"/>
          </p:cNvCxnSpPr>
          <p:nvPr/>
        </p:nvCxnSpPr>
        <p:spPr bwMode="auto">
          <a:xfrm>
            <a:off x="3198813" y="4365625"/>
            <a:ext cx="88900" cy="144463"/>
          </a:xfrm>
          <a:prstGeom prst="lin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/>
        </p:spPr>
      </p:cxnSp>
      <p:sp>
        <p:nvSpPr>
          <p:cNvPr id="157720" name="Rectangle 3"/>
          <p:cNvSpPr>
            <a:spLocks noGrp="1" noChangeArrowheads="1"/>
          </p:cNvSpPr>
          <p:nvPr>
            <p:ph idx="1"/>
          </p:nvPr>
        </p:nvSpPr>
        <p:spPr>
          <a:xfrm>
            <a:off x="177800" y="2698750"/>
            <a:ext cx="1735138" cy="3663950"/>
          </a:xfr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panose="020B0503020204020204" charset="-122"/>
              </a:rPr>
              <a:t>饮食</a:t>
            </a:r>
            <a:endParaRPr lang="en-US" altLang="zh-CN" sz="20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panose="020B0503020204020204" charset="-122"/>
              </a:rPr>
              <a:t>除草剂</a:t>
            </a:r>
            <a:endParaRPr lang="en-US" altLang="zh-CN" sz="20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panose="020B0503020204020204" charset="-122"/>
              </a:rPr>
              <a:t>锻炼</a:t>
            </a:r>
            <a:endParaRPr lang="en-US" altLang="zh-CN" sz="20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rgbClr val="FF0000"/>
                </a:solidFill>
                <a:cs typeface="微软雅黑" panose="020B0503020204020204" charset="-122"/>
              </a:rPr>
              <a:t>咖啡</a:t>
            </a:r>
            <a:endParaRPr lang="en-US" altLang="zh-CN" sz="20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0" indent="0" algn="ctr" eaLnBrk="1" hangingPunct="1">
              <a:lnSpc>
                <a:spcPct val="120000"/>
              </a:lnSpc>
              <a:buClrTx/>
              <a:buFont typeface="Wingdings" panose="05000000000000000000" pitchFamily="2" charset="2"/>
              <a:buNone/>
            </a:pPr>
            <a:r>
              <a:rPr lang="en-US" altLang="zh-CN" sz="2000" b="0">
                <a:solidFill>
                  <a:srgbClr val="FF0000"/>
                </a:solidFill>
                <a:cs typeface="微软雅黑" panose="020B0503020204020204" charset="-122"/>
              </a:rPr>
              <a:t>……</a:t>
            </a:r>
            <a:endParaRPr lang="en-US" altLang="zh-CN" sz="20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sp>
        <p:nvSpPr>
          <p:cNvPr id="157721" name="矩形 57"/>
          <p:cNvSpPr>
            <a:spLocks noChangeArrowheads="1"/>
          </p:cNvSpPr>
          <p:nvPr/>
        </p:nvSpPr>
        <p:spPr bwMode="auto">
          <a:xfrm>
            <a:off x="395288" y="5483225"/>
            <a:ext cx="8208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LRRK2</a:t>
            </a:r>
            <a:r>
              <a:rPr lang="zh-CN" altLang="en-US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携带者患帕金森的几率达到</a:t>
            </a:r>
            <a:r>
              <a:rPr lang="zh-CN" alt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30%-75%</a:t>
            </a:r>
            <a:r>
              <a:rPr lang="zh-CN" altLang="en-US" sz="2000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，普通患症的几率只有</a:t>
            </a:r>
            <a:r>
              <a:rPr lang="en-US" altLang="zh-CN" sz="20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1%</a:t>
            </a:r>
            <a:endParaRPr lang="zh-CN" altLang="en-US" sz="20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5976938" cy="4267200"/>
          </a:xfrm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问题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4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：如何定义因果关系？</a:t>
            </a:r>
            <a:endParaRPr lang="en-US" altLang="zh-CN" sz="3200" b="0">
              <a:solidFill>
                <a:srgbClr val="FF0000"/>
              </a:solidFill>
              <a:cs typeface="微软雅黑" panose="020B0503020204020204" charset="-122"/>
            </a:endParaRPr>
          </a:p>
          <a:p>
            <a:pPr marL="342900" indent="-342900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n"/>
            </a:pP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Granger</a:t>
            </a:r>
            <a:r>
              <a:rPr lang="zh-CN" altLang="en-US" sz="3200" b="0">
                <a:solidFill>
                  <a:srgbClr val="FF0000"/>
                </a:solidFill>
                <a:cs typeface="微软雅黑" panose="020B0503020204020204" charset="-122"/>
              </a:rPr>
              <a:t>因果关系</a:t>
            </a:r>
            <a:r>
              <a:rPr lang="en-US" altLang="zh-CN" sz="3200" b="0">
                <a:solidFill>
                  <a:srgbClr val="FF0000"/>
                </a:solidFill>
                <a:cs typeface="微软雅黑" panose="020B0503020204020204" charset="-122"/>
              </a:rPr>
              <a:t>: 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若在包含了变量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、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的过去信息的条件下，对变量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的预测效果要优于只单独由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的过去信息对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的预测效果，即变量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 、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有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因果关系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，变量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X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是变量</a:t>
            </a:r>
            <a:r>
              <a:rPr lang="en-US" altLang="zh-CN" sz="2800" b="0">
                <a:solidFill>
                  <a:srgbClr val="1557AE"/>
                </a:solidFill>
                <a:cs typeface="微软雅黑" panose="020B0503020204020204" charset="-122"/>
              </a:rPr>
              <a:t>Y</a:t>
            </a:r>
            <a:r>
              <a:rPr lang="zh-CN" altLang="en-US" sz="2800" b="0">
                <a:solidFill>
                  <a:srgbClr val="1557AE"/>
                </a:solidFill>
                <a:cs typeface="微软雅黑" panose="020B0503020204020204" charset="-122"/>
              </a:rPr>
              <a:t>的</a:t>
            </a:r>
            <a:r>
              <a:rPr lang="en-US" altLang="zh-CN" sz="2800" b="0">
                <a:solidFill>
                  <a:srgbClr val="FF0000"/>
                </a:solidFill>
                <a:cs typeface="微软雅黑" panose="020B0503020204020204" charset="-122"/>
              </a:rPr>
              <a:t>Granger</a:t>
            </a:r>
            <a:r>
              <a:rPr lang="zh-CN" altLang="en-US" sz="2800" b="0">
                <a:solidFill>
                  <a:srgbClr val="FF0000"/>
                </a:solidFill>
                <a:cs typeface="微软雅黑" panose="020B0503020204020204" charset="-122"/>
              </a:rPr>
              <a:t>原因</a:t>
            </a:r>
            <a:endParaRPr lang="en-US" altLang="zh-CN" sz="2800" b="0">
              <a:solidFill>
                <a:srgbClr val="FF0000"/>
              </a:solidFill>
              <a:cs typeface="微软雅黑" panose="020B0503020204020204" charset="-122"/>
            </a:endParaRPr>
          </a:p>
        </p:txBody>
      </p:sp>
      <p:pic>
        <p:nvPicPr>
          <p:cNvPr id="15974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1584325"/>
            <a:ext cx="2089150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8" name="矩形 3"/>
          <p:cNvSpPr>
            <a:spLocks noChangeArrowheads="1"/>
          </p:cNvSpPr>
          <p:nvPr/>
        </p:nvSpPr>
        <p:spPr bwMode="auto">
          <a:xfrm>
            <a:off x="6197600" y="4799013"/>
            <a:ext cx="2914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Clive W.J.Granger</a:t>
            </a:r>
            <a:endParaRPr lang="en-US" altLang="zh-CN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诺贝尔经济学奖获奖者</a:t>
            </a:r>
            <a:endParaRPr lang="zh-CN" altLang="en-US" b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6"/>
          <p:cNvSpPr txBox="1">
            <a:spLocks noChangeArrowheads="1"/>
          </p:cNvSpPr>
          <p:nvPr/>
        </p:nvSpPr>
        <p:spPr bwMode="auto">
          <a:xfrm>
            <a:off x="161925" y="-100013"/>
            <a:ext cx="9036050" cy="892176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 </a:t>
            </a:r>
            <a:r>
              <a:rPr lang="zh-CN" altLang="en-US" b="0" kern="0" dirty="0">
                <a:solidFill>
                  <a:srgbClr val="1557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关联规则、相关性、因果关系的区别</a:t>
            </a:r>
            <a:endParaRPr lang="zh-CN" altLang="en-US" b="0" kern="0" dirty="0">
              <a:solidFill>
                <a:srgbClr val="1557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-100013"/>
            <a:ext cx="8001000" cy="892176"/>
          </a:xfrm>
        </p:spPr>
        <p:txBody>
          <a:bodyPr/>
          <a:lstStyle/>
          <a:p>
            <a:pPr algn="ctr"/>
            <a:r>
              <a:rPr lang="zh-CN" altLang="en-US" sz="3600">
                <a:solidFill>
                  <a:srgbClr val="1557AE"/>
                </a:solidFill>
              </a:rPr>
              <a:t>总结</a:t>
            </a:r>
            <a:endParaRPr lang="zh-CN" altLang="en-US" sz="3600">
              <a:solidFill>
                <a:srgbClr val="1557AE"/>
              </a:solidFill>
            </a:endParaRPr>
          </a:p>
        </p:txBody>
      </p:sp>
      <p:sp>
        <p:nvSpPr>
          <p:cNvPr id="161795" name="内容占位符 2"/>
          <p:cNvSpPr>
            <a:spLocks noGrp="1" noChangeArrowheads="1"/>
          </p:cNvSpPr>
          <p:nvPr>
            <p:ph idx="1"/>
          </p:nvPr>
        </p:nvSpPr>
        <p:spPr>
          <a:xfrm>
            <a:off x="571500" y="1412875"/>
            <a:ext cx="8248972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Association rule mining consists of first finding frequent </a:t>
            </a:r>
            <a:r>
              <a:rPr lang="en-US" altLang="zh-CN" sz="2000" b="0" dirty="0" err="1">
                <a:solidFill>
                  <a:srgbClr val="FF0000"/>
                </a:solidFill>
              </a:rPr>
              <a:t>itemsets</a:t>
            </a:r>
            <a:r>
              <a:rPr lang="en-US" altLang="zh-CN" sz="2000" b="0" dirty="0">
                <a:solidFill>
                  <a:srgbClr val="FF0000"/>
                </a:solidFill>
              </a:rPr>
              <a:t>, from which strong association are generated. </a:t>
            </a:r>
            <a:r>
              <a:rPr lang="en-US" altLang="zh-CN" sz="2000" b="0" dirty="0">
                <a:solidFill>
                  <a:srgbClr val="1557AE"/>
                </a:solidFill>
              </a:rPr>
              <a:t>Associations can be further analyzed to uncover correlation rules, which convey statistical correlations between </a:t>
            </a:r>
            <a:r>
              <a:rPr lang="en-US" altLang="zh-CN" sz="2000" b="0" dirty="0" err="1">
                <a:solidFill>
                  <a:srgbClr val="1557AE"/>
                </a:solidFill>
              </a:rPr>
              <a:t>itemsets</a:t>
            </a:r>
            <a:r>
              <a:rPr lang="en-US" altLang="zh-CN" sz="2000" b="0" dirty="0">
                <a:solidFill>
                  <a:srgbClr val="1557AE"/>
                </a:solidFill>
              </a:rPr>
              <a:t> A and B.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The </a:t>
            </a:r>
            <a:r>
              <a:rPr lang="en-US" altLang="zh-CN" sz="2000" b="0" dirty="0" err="1">
                <a:solidFill>
                  <a:srgbClr val="FF0000"/>
                </a:solidFill>
              </a:rPr>
              <a:t>Apriori</a:t>
            </a:r>
            <a:r>
              <a:rPr lang="en-US" altLang="zh-CN" sz="2000" b="0" dirty="0">
                <a:solidFill>
                  <a:srgbClr val="FF0000"/>
                </a:solidFill>
              </a:rPr>
              <a:t> algorithm </a:t>
            </a:r>
            <a:r>
              <a:rPr lang="en-US" altLang="zh-CN" sz="2000" b="0" dirty="0">
                <a:solidFill>
                  <a:srgbClr val="1557AE"/>
                </a:solidFill>
              </a:rPr>
              <a:t>is a seminal algorithm for mining frequent item sets for Boolean association rules.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1557AE"/>
                </a:solidFill>
              </a:rPr>
              <a:t>Mining frequent </a:t>
            </a:r>
            <a:r>
              <a:rPr lang="en-US" altLang="zh-CN" sz="2000" b="0" dirty="0" err="1">
                <a:solidFill>
                  <a:srgbClr val="1557AE"/>
                </a:solidFill>
              </a:rPr>
              <a:t>itemsets</a:t>
            </a:r>
            <a:r>
              <a:rPr lang="en-US" altLang="zh-CN" sz="2000" b="0" dirty="0">
                <a:solidFill>
                  <a:srgbClr val="1557AE"/>
                </a:solidFill>
              </a:rPr>
              <a:t> and associations has been extended in various ways to include mining multilevel association rules and multidimensional association rules.</a:t>
            </a:r>
            <a:endParaRPr lang="zh-CN" altLang="zh-CN" sz="2000" b="0" dirty="0">
              <a:solidFill>
                <a:srgbClr val="1557AE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n"/>
            </a:pPr>
            <a:r>
              <a:rPr lang="en-US" altLang="zh-CN" sz="2000" b="0" dirty="0">
                <a:solidFill>
                  <a:srgbClr val="FF0000"/>
                </a:solidFill>
              </a:rPr>
              <a:t>Not all strong association rules are interesting. </a:t>
            </a:r>
            <a:endParaRPr lang="zh-CN" altLang="zh-CN" sz="2000" b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黑体" panose="02010609060101010101" pitchFamily="49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13163</Words>
  <Application>WPS 演示</Application>
  <PresentationFormat>全屏显示(4:3)</PresentationFormat>
  <Paragraphs>1340</Paragraphs>
  <Slides>82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41</vt:i4>
      </vt:variant>
      <vt:variant>
        <vt:lpstr>幻灯片标题</vt:lpstr>
      </vt:variant>
      <vt:variant>
        <vt:i4>82</vt:i4>
      </vt:variant>
    </vt:vector>
  </HeadingPairs>
  <TitlesOfParts>
    <vt:vector size="142" baseType="lpstr">
      <vt:lpstr>Arial</vt:lpstr>
      <vt:lpstr>宋体</vt:lpstr>
      <vt:lpstr>Wingdings</vt:lpstr>
      <vt:lpstr>Verdana</vt:lpstr>
      <vt:lpstr>微软雅黑</vt:lpstr>
      <vt:lpstr>黑体</vt:lpstr>
      <vt:lpstr>Tahoma</vt:lpstr>
      <vt:lpstr>Symbol</vt:lpstr>
      <vt:lpstr>Wingdings 2</vt:lpstr>
      <vt:lpstr>Franklin Gothic Medium</vt:lpstr>
      <vt:lpstr>Arial Unicode MS</vt:lpstr>
      <vt:lpstr>Calibri</vt:lpstr>
      <vt:lpstr>Times New Roman</vt:lpstr>
      <vt:lpstr>方正兰亭中黑_GBK</vt:lpstr>
      <vt:lpstr>隶书</vt:lpstr>
      <vt:lpstr>Franklin Gothic Book</vt:lpstr>
      <vt:lpstr>Profile</vt:lpstr>
      <vt:lpstr>Balloons</vt:lpstr>
      <vt:lpstr>默认设计模板</vt:lpstr>
      <vt:lpstr>Excel.Sheet.8</vt:lpstr>
      <vt:lpstr>Excel.Sheet.8</vt:lpstr>
      <vt:lpstr>Excel.Sheet.8</vt:lpstr>
      <vt:lpstr>Excel.Sheet.8</vt:lpstr>
      <vt:lpstr>Excel.Sheet.8</vt:lpstr>
      <vt:lpstr>Equation.3</vt:lpstr>
      <vt:lpstr>Equation.3</vt:lpstr>
      <vt:lpstr>Equation.3</vt:lpstr>
      <vt:lpstr>Equation.3</vt:lpstr>
      <vt:lpstr>Equation.3</vt:lpstr>
      <vt:lpstr>Equation.3</vt:lpstr>
      <vt:lpstr>Equation.Ribbit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PaintShopPro</vt:lpstr>
      <vt:lpstr>Photoshop.Image.5</vt:lpstr>
      <vt:lpstr>Equation.3</vt:lpstr>
      <vt:lpstr>Equation.3</vt:lpstr>
      <vt:lpstr>Equation.3</vt:lpstr>
      <vt:lpstr>Equation.3</vt:lpstr>
      <vt:lpstr>Excel.Sheet.8</vt:lpstr>
      <vt:lpstr>Excel.Sheet.8</vt:lpstr>
      <vt:lpstr>Excel.Sheet.8</vt:lpstr>
      <vt:lpstr>Equation.3</vt:lpstr>
      <vt:lpstr>Visio.Drawing.6</vt:lpstr>
      <vt:lpstr>Equation.3</vt:lpstr>
      <vt:lpstr>Excel.Sheet.8</vt:lpstr>
      <vt:lpstr>Visio.Drawing.6</vt:lpstr>
      <vt:lpstr>Excel.Sheet.8</vt:lpstr>
      <vt:lpstr>Excel.Sheet.8</vt:lpstr>
      <vt:lpstr>Excel.Sheet.8</vt:lpstr>
      <vt:lpstr>Excel.Sheet.8</vt:lpstr>
      <vt:lpstr>PowerPoint 演示文稿</vt:lpstr>
      <vt:lpstr>PowerPoint 演示文稿</vt:lpstr>
      <vt:lpstr>本章内容</vt:lpstr>
      <vt:lpstr>3.1  基本概念</vt:lpstr>
      <vt:lpstr>3.1  基本概念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由事务数据库挖掘布尔关联规则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3.3  多层关联规则挖掘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3.4 多维关联规则挖掘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本章内容</vt:lpstr>
      <vt:lpstr>3.5 关联规则、相关性、因果关系的区别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Company>CCNU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知识服务的内涵与模式</dc:title>
  <dc:creator>CCNUITBXL</dc:creator>
  <cp:lastModifiedBy>林圣翔</cp:lastModifiedBy>
  <cp:revision>817</cp:revision>
  <dcterms:created xsi:type="dcterms:W3CDTF">2025-11-23T03:52:00Z</dcterms:created>
  <dcterms:modified xsi:type="dcterms:W3CDTF">2025-11-24T04:40:43Z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E0E9E0075863A5B7CFA5E26604E615E1_42</vt:lpwstr>
  </property>
  <property fmtid="{D5CDD505-2E9C-101B-9397-08002B2CF9AE}" pid="3" name="KSOProductBuildVer">
    <vt:lpwstr>2052-11.8.2.12094</vt:lpwstr>
  </property>
</Properties>
</file>