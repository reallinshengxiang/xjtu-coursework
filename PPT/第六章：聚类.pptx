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
  </p:notesMasterIdLst>
  <p:handoutMasterIdLst>
    <p:handoutMasterId r:id="rId100"/>
  </p:handoutMasterIdLst>
  <p:sldIdLst>
    <p:sldId id="1739" r:id="rId3"/>
    <p:sldId id="2324" r:id="rId4"/>
    <p:sldId id="2303" r:id="rId6"/>
    <p:sldId id="2325" r:id="rId7"/>
    <p:sldId id="2326" r:id="rId8"/>
    <p:sldId id="2327" r:id="rId9"/>
    <p:sldId id="2328" r:id="rId10"/>
    <p:sldId id="2329" r:id="rId11"/>
    <p:sldId id="2330" r:id="rId12"/>
    <p:sldId id="2331" r:id="rId13"/>
    <p:sldId id="2334" r:id="rId14"/>
    <p:sldId id="2332" r:id="rId15"/>
    <p:sldId id="2335" r:id="rId16"/>
    <p:sldId id="2337" r:id="rId17"/>
    <p:sldId id="2338" r:id="rId18"/>
    <p:sldId id="2339" r:id="rId19"/>
    <p:sldId id="2340" r:id="rId20"/>
    <p:sldId id="2341" r:id="rId21"/>
    <p:sldId id="2342" r:id="rId22"/>
    <p:sldId id="2343" r:id="rId23"/>
    <p:sldId id="2344" r:id="rId24"/>
    <p:sldId id="2345" r:id="rId25"/>
    <p:sldId id="2346" r:id="rId26"/>
    <p:sldId id="2347" r:id="rId27"/>
    <p:sldId id="2350" r:id="rId28"/>
    <p:sldId id="2348" r:id="rId29"/>
    <p:sldId id="2349" r:id="rId30"/>
    <p:sldId id="2351" r:id="rId31"/>
    <p:sldId id="2354" r:id="rId32"/>
    <p:sldId id="2352" r:id="rId33"/>
    <p:sldId id="2353" r:id="rId34"/>
    <p:sldId id="2355" r:id="rId35"/>
    <p:sldId id="2356" r:id="rId36"/>
    <p:sldId id="2357" r:id="rId37"/>
    <p:sldId id="2358" r:id="rId38"/>
    <p:sldId id="2359" r:id="rId39"/>
    <p:sldId id="2360" r:id="rId40"/>
    <p:sldId id="2361" r:id="rId41"/>
    <p:sldId id="2362" r:id="rId42"/>
    <p:sldId id="2363" r:id="rId43"/>
    <p:sldId id="2364" r:id="rId44"/>
    <p:sldId id="2365" r:id="rId45"/>
    <p:sldId id="2366" r:id="rId46"/>
    <p:sldId id="2367" r:id="rId47"/>
    <p:sldId id="2368" r:id="rId48"/>
    <p:sldId id="2370" r:id="rId49"/>
    <p:sldId id="2371" r:id="rId50"/>
    <p:sldId id="2372" r:id="rId51"/>
    <p:sldId id="2373" r:id="rId52"/>
    <p:sldId id="2374" r:id="rId53"/>
    <p:sldId id="2375" r:id="rId54"/>
    <p:sldId id="2376" r:id="rId55"/>
    <p:sldId id="2377" r:id="rId56"/>
    <p:sldId id="2378" r:id="rId57"/>
    <p:sldId id="2379" r:id="rId58"/>
    <p:sldId id="2380" r:id="rId59"/>
    <p:sldId id="2382" r:id="rId60"/>
    <p:sldId id="2381" r:id="rId61"/>
    <p:sldId id="2383" r:id="rId62"/>
    <p:sldId id="2384" r:id="rId63"/>
    <p:sldId id="2385" r:id="rId64"/>
    <p:sldId id="2386" r:id="rId65"/>
    <p:sldId id="2387" r:id="rId66"/>
    <p:sldId id="2388" r:id="rId67"/>
    <p:sldId id="2389" r:id="rId68"/>
    <p:sldId id="2390" r:id="rId69"/>
    <p:sldId id="2391" r:id="rId70"/>
    <p:sldId id="2392" r:id="rId71"/>
    <p:sldId id="2393" r:id="rId72"/>
    <p:sldId id="2394" r:id="rId73"/>
    <p:sldId id="2395" r:id="rId74"/>
    <p:sldId id="2396" r:id="rId75"/>
    <p:sldId id="2397" r:id="rId76"/>
    <p:sldId id="2398" r:id="rId77"/>
    <p:sldId id="2399" r:id="rId78"/>
    <p:sldId id="2401" r:id="rId79"/>
    <p:sldId id="2404" r:id="rId80"/>
    <p:sldId id="2400" r:id="rId81"/>
    <p:sldId id="2402" r:id="rId82"/>
    <p:sldId id="2403" r:id="rId83"/>
    <p:sldId id="2405" r:id="rId84"/>
    <p:sldId id="2407" r:id="rId85"/>
    <p:sldId id="2406" r:id="rId86"/>
    <p:sldId id="2408" r:id="rId87"/>
    <p:sldId id="2409" r:id="rId88"/>
    <p:sldId id="2410" r:id="rId89"/>
    <p:sldId id="2411" r:id="rId90"/>
    <p:sldId id="2412" r:id="rId91"/>
    <p:sldId id="2413" r:id="rId92"/>
    <p:sldId id="2414" r:id="rId93"/>
    <p:sldId id="2415" r:id="rId94"/>
    <p:sldId id="2416" r:id="rId95"/>
    <p:sldId id="2417" r:id="rId96"/>
    <p:sldId id="2419" r:id="rId97"/>
    <p:sldId id="2420" r:id="rId98"/>
    <p:sldId id="2418" r:id="rId99"/>
  </p:sldIdLst>
  <p:sldSz cx="9144000" cy="6858000" type="screen4x3"/>
  <p:notesSz cx="9947275" cy="6858000"/>
  <p:embeddedFontLst>
    <p:embeddedFont>
      <p:font typeface="黑体" panose="02010609060101010101" pitchFamily="49" charset="-122"/>
      <p:regular r:id="rId104"/>
    </p:embeddedFont>
    <p:embeddedFont>
      <p:font typeface="Tahoma" panose="020B0604030504040204" pitchFamily="34" charset="0"/>
      <p:regular r:id="rId105"/>
      <p:bold r:id="rId106"/>
    </p:embeddedFont>
    <p:embeddedFont>
      <p:font typeface="微软雅黑" panose="020B0503020204020204" pitchFamily="34" charset="-122"/>
      <p:regular r:id="rId107"/>
    </p:embeddedFont>
    <p:embeddedFont>
      <p:font typeface="Calibri" panose="020F0502020204030204" pitchFamily="34" charset="0"/>
      <p:regular r:id="rId108"/>
      <p:bold r:id="rId109"/>
      <p:italic r:id="rId110"/>
      <p:boldItalic r:id="rId111"/>
    </p:embeddedFont>
    <p:embeddedFont>
      <p:font typeface="方正兰亭中黑_GBK" panose="02000000000000000000" pitchFamily="2" charset="-122"/>
      <p:regular r:id="rId112"/>
    </p:embeddedFont>
    <p:embeddedFont>
      <p:font typeface="Verdana" panose="020B0604030504040204" pitchFamily="34" charset="0"/>
      <p:regular r:id="rId113"/>
      <p:bold r:id="rId114"/>
      <p:italic r:id="rId115"/>
      <p:boldItalic r:id="rId116"/>
    </p:embeddedFont>
    <p:embeddedFont>
      <p:font typeface="Palatino Linotype" panose="02040502050505030304" pitchFamily="18" charset="0"/>
      <p:regular r:id="rId117"/>
      <p:bold r:id="rId118"/>
      <p:italic r:id="rId119"/>
      <p:boldItalic r:id="rId120"/>
    </p:embeddedFont>
    <p:embeddedFont>
      <p:font typeface="Arial Unicode MS" panose="02010600030101010101" charset="-122"/>
      <p:regular r:id="rId121"/>
    </p:embeddedFont>
    <p:embeddedFont>
      <p:font typeface="Monotype Sorts" panose="05000000000000000000" pitchFamily="2" charset="2"/>
      <p:regular r:id="rId122"/>
    </p:embeddedFont>
    <p:embeddedFont>
      <p:font typeface="MS PGothic" panose="020B0600070205080204" pitchFamily="34" charset="-128"/>
      <p:regular r:id="rId123"/>
    </p:embeddedFont>
    <p:embeddedFont>
      <p:font typeface="Berlin Sans FB Demi" panose="020E0802020502020306" pitchFamily="34" charset="0"/>
      <p:bold r:id="rId124"/>
    </p:embeddedFont>
  </p:embeddedFontLst>
  <p:defaultTextStyle>
    <a:defPPr>
      <a:defRPr lang="zh-CN"/>
    </a:defPPr>
    <a:lvl1pPr algn="l" rtl="0" eaLnBrk="0" fontAlgn="base" hangingPunct="0">
      <a:spcBef>
        <a:spcPct val="0"/>
      </a:spcBef>
      <a:spcAft>
        <a:spcPct val="0"/>
      </a:spcAft>
      <a:defRPr b="1" kern="1200">
        <a:solidFill>
          <a:schemeClr val="bg1"/>
        </a:solidFill>
        <a:latin typeface="黑体" panose="02010609060101010101" pitchFamily="49" charset="-122"/>
        <a:ea typeface="宋体" panose="02010600030101010101" pitchFamily="2" charset="-122"/>
        <a:cs typeface="+mn-cs"/>
      </a:defRPr>
    </a:lvl1pPr>
    <a:lvl2pPr marL="457200" algn="l" rtl="0" eaLnBrk="0" fontAlgn="base" hangingPunct="0">
      <a:spcBef>
        <a:spcPct val="0"/>
      </a:spcBef>
      <a:spcAft>
        <a:spcPct val="0"/>
      </a:spcAft>
      <a:defRPr b="1" kern="1200">
        <a:solidFill>
          <a:schemeClr val="bg1"/>
        </a:solidFill>
        <a:latin typeface="黑体" panose="02010609060101010101" pitchFamily="49" charset="-122"/>
        <a:ea typeface="宋体" panose="02010600030101010101" pitchFamily="2" charset="-122"/>
        <a:cs typeface="+mn-cs"/>
      </a:defRPr>
    </a:lvl2pPr>
    <a:lvl3pPr marL="914400" algn="l" rtl="0" eaLnBrk="0" fontAlgn="base" hangingPunct="0">
      <a:spcBef>
        <a:spcPct val="0"/>
      </a:spcBef>
      <a:spcAft>
        <a:spcPct val="0"/>
      </a:spcAft>
      <a:defRPr b="1" kern="1200">
        <a:solidFill>
          <a:schemeClr val="bg1"/>
        </a:solidFill>
        <a:latin typeface="黑体" panose="02010609060101010101" pitchFamily="49" charset="-122"/>
        <a:ea typeface="宋体" panose="02010600030101010101" pitchFamily="2" charset="-122"/>
        <a:cs typeface="+mn-cs"/>
      </a:defRPr>
    </a:lvl3pPr>
    <a:lvl4pPr marL="1371600" algn="l" rtl="0" eaLnBrk="0" fontAlgn="base" hangingPunct="0">
      <a:spcBef>
        <a:spcPct val="0"/>
      </a:spcBef>
      <a:spcAft>
        <a:spcPct val="0"/>
      </a:spcAft>
      <a:defRPr b="1" kern="1200">
        <a:solidFill>
          <a:schemeClr val="bg1"/>
        </a:solidFill>
        <a:latin typeface="黑体" panose="02010609060101010101" pitchFamily="49" charset="-122"/>
        <a:ea typeface="宋体" panose="02010600030101010101" pitchFamily="2" charset="-122"/>
        <a:cs typeface="+mn-cs"/>
      </a:defRPr>
    </a:lvl4pPr>
    <a:lvl5pPr marL="1828800" algn="l" rtl="0" eaLnBrk="0" fontAlgn="base" hangingPunct="0">
      <a:spcBef>
        <a:spcPct val="0"/>
      </a:spcBef>
      <a:spcAft>
        <a:spcPct val="0"/>
      </a:spcAft>
      <a:defRPr b="1" kern="1200">
        <a:solidFill>
          <a:schemeClr val="bg1"/>
        </a:solidFill>
        <a:latin typeface="黑体" panose="02010609060101010101" pitchFamily="49" charset="-122"/>
        <a:ea typeface="宋体" panose="02010600030101010101" pitchFamily="2" charset="-122"/>
        <a:cs typeface="+mn-cs"/>
      </a:defRPr>
    </a:lvl5pPr>
    <a:lvl6pPr marL="2286000" algn="l" defTabSz="914400" rtl="0" eaLnBrk="1" latinLnBrk="0" hangingPunct="1">
      <a:defRPr b="1" kern="1200">
        <a:solidFill>
          <a:schemeClr val="bg1"/>
        </a:solidFill>
        <a:latin typeface="黑体" panose="02010609060101010101" pitchFamily="49" charset="-122"/>
        <a:ea typeface="宋体" panose="02010600030101010101" pitchFamily="2" charset="-122"/>
        <a:cs typeface="+mn-cs"/>
      </a:defRPr>
    </a:lvl6pPr>
    <a:lvl7pPr marL="2743200" algn="l" defTabSz="914400" rtl="0" eaLnBrk="1" latinLnBrk="0" hangingPunct="1">
      <a:defRPr b="1" kern="1200">
        <a:solidFill>
          <a:schemeClr val="bg1"/>
        </a:solidFill>
        <a:latin typeface="黑体" panose="02010609060101010101" pitchFamily="49" charset="-122"/>
        <a:ea typeface="宋体" panose="02010600030101010101" pitchFamily="2" charset="-122"/>
        <a:cs typeface="+mn-cs"/>
      </a:defRPr>
    </a:lvl7pPr>
    <a:lvl8pPr marL="3200400" algn="l" defTabSz="914400" rtl="0" eaLnBrk="1" latinLnBrk="0" hangingPunct="1">
      <a:defRPr b="1" kern="1200">
        <a:solidFill>
          <a:schemeClr val="bg1"/>
        </a:solidFill>
        <a:latin typeface="黑体" panose="02010609060101010101" pitchFamily="49" charset="-122"/>
        <a:ea typeface="宋体" panose="02010600030101010101" pitchFamily="2" charset="-122"/>
        <a:cs typeface="+mn-cs"/>
      </a:defRPr>
    </a:lvl8pPr>
    <a:lvl9pPr marL="3657600" algn="l" defTabSz="914400" rtl="0" eaLnBrk="1" latinLnBrk="0" hangingPunct="1">
      <a:defRPr b="1" kern="1200">
        <a:solidFill>
          <a:schemeClr val="bg1"/>
        </a:solidFill>
        <a:latin typeface="黑体" panose="02010609060101010101" pitchFamily="49"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9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57AE"/>
    <a:srgbClr val="0000FF"/>
    <a:srgbClr val="0070C0"/>
    <a:srgbClr val="0099CC"/>
    <a:srgbClr val="CCFFFF"/>
    <a:srgbClr val="E7F0F9"/>
    <a:srgbClr val="F8DCDF"/>
    <a:srgbClr val="CC2C3A"/>
    <a:srgbClr val="EEE9EF"/>
    <a:srgbClr val="6E53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62" autoAdjust="0"/>
    <p:restoredTop sz="84409" autoAdjust="0"/>
  </p:normalViewPr>
  <p:slideViewPr>
    <p:cSldViewPr showGuides="1">
      <p:cViewPr varScale="1">
        <p:scale>
          <a:sx n="93" d="100"/>
          <a:sy n="93" d="100"/>
        </p:scale>
        <p:origin x="2214" y="48"/>
      </p:cViewPr>
      <p:guideLst>
        <p:guide orient="horz" pos="2160"/>
        <p:guide pos="2963"/>
      </p:guideLst>
    </p:cSldViewPr>
  </p:slideViewPr>
  <p:notesTextViewPr>
    <p:cViewPr>
      <p:scale>
        <a:sx n="100" d="100"/>
        <a:sy n="100" d="100"/>
      </p:scale>
      <p:origin x="0" y="0"/>
    </p:cViewPr>
  </p:notesTextViewPr>
  <p:sorterViewPr>
    <p:cViewPr>
      <p:scale>
        <a:sx n="100" d="100"/>
        <a:sy n="100" d="100"/>
      </p:scale>
      <p:origin x="0" y="15180"/>
    </p:cViewPr>
  </p:sorterViewPr>
  <p:notesViewPr>
    <p:cSldViewPr>
      <p:cViewPr varScale="1">
        <p:scale>
          <a:sx n="116" d="100"/>
          <a:sy n="116" d="100"/>
        </p:scale>
        <p:origin x="990" y="84"/>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4" Type="http://schemas.openxmlformats.org/officeDocument/2006/relationships/font" Target="fonts/font21.fntdata"/><Relationship Id="rId123" Type="http://schemas.openxmlformats.org/officeDocument/2006/relationships/font" Target="fonts/font20.fntdata"/><Relationship Id="rId122" Type="http://schemas.openxmlformats.org/officeDocument/2006/relationships/font" Target="fonts/font19.fntdata"/><Relationship Id="rId121" Type="http://schemas.openxmlformats.org/officeDocument/2006/relationships/font" Target="fonts/font18.fntdata"/><Relationship Id="rId120" Type="http://schemas.openxmlformats.org/officeDocument/2006/relationships/font" Target="fonts/font17.fntdata"/><Relationship Id="rId12" Type="http://schemas.openxmlformats.org/officeDocument/2006/relationships/slide" Target="slides/slide9.xml"/><Relationship Id="rId119" Type="http://schemas.openxmlformats.org/officeDocument/2006/relationships/font" Target="fonts/font16.fntdata"/><Relationship Id="rId118" Type="http://schemas.openxmlformats.org/officeDocument/2006/relationships/font" Target="fonts/font15.fntdata"/><Relationship Id="rId117" Type="http://schemas.openxmlformats.org/officeDocument/2006/relationships/font" Target="fonts/font14.fntdata"/><Relationship Id="rId116" Type="http://schemas.openxmlformats.org/officeDocument/2006/relationships/font" Target="fonts/font13.fntdata"/><Relationship Id="rId115" Type="http://schemas.openxmlformats.org/officeDocument/2006/relationships/font" Target="fonts/font12.fntdata"/><Relationship Id="rId114" Type="http://schemas.openxmlformats.org/officeDocument/2006/relationships/font" Target="fonts/font11.fntdata"/><Relationship Id="rId113" Type="http://schemas.openxmlformats.org/officeDocument/2006/relationships/font" Target="fonts/font10.fntdata"/><Relationship Id="rId112" Type="http://schemas.openxmlformats.org/officeDocument/2006/relationships/font" Target="fonts/font9.fntdata"/><Relationship Id="rId111" Type="http://schemas.openxmlformats.org/officeDocument/2006/relationships/font" Target="fonts/font8.fntdata"/><Relationship Id="rId110" Type="http://schemas.openxmlformats.org/officeDocument/2006/relationships/font" Target="fonts/font7.fntdata"/><Relationship Id="rId11" Type="http://schemas.openxmlformats.org/officeDocument/2006/relationships/slide" Target="slides/slide8.xml"/><Relationship Id="rId109" Type="http://schemas.openxmlformats.org/officeDocument/2006/relationships/font" Target="fonts/font6.fntdata"/><Relationship Id="rId108" Type="http://schemas.openxmlformats.org/officeDocument/2006/relationships/font" Target="fonts/font5.fntdata"/><Relationship Id="rId107" Type="http://schemas.openxmlformats.org/officeDocument/2006/relationships/font" Target="fonts/font4.fntdata"/><Relationship Id="rId106" Type="http://schemas.openxmlformats.org/officeDocument/2006/relationships/font" Target="fonts/font3.fntdata"/><Relationship Id="rId105" Type="http://schemas.openxmlformats.org/officeDocument/2006/relationships/font" Target="fonts/font2.fntdata"/><Relationship Id="rId104" Type="http://schemas.openxmlformats.org/officeDocument/2006/relationships/font" Target="fonts/font1.fntdata"/><Relationship Id="rId103" Type="http://schemas.openxmlformats.org/officeDocument/2006/relationships/tableStyles" Target="tableStyles.xml"/><Relationship Id="rId102" Type="http://schemas.openxmlformats.org/officeDocument/2006/relationships/viewProps" Target="viewProps.xml"/><Relationship Id="rId101" Type="http://schemas.openxmlformats.org/officeDocument/2006/relationships/presProps" Target="presProps.xml"/><Relationship Id="rId100" Type="http://schemas.openxmlformats.org/officeDocument/2006/relationships/handoutMaster" Target="handoutMasters/handout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16.wmf"/><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21.wmf"/><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28.wmf"/><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image" Target="../media/image3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62.emf"/><Relationship Id="rId7" Type="http://schemas.openxmlformats.org/officeDocument/2006/relationships/image" Target="../media/image61.emf"/><Relationship Id="rId6" Type="http://schemas.openxmlformats.org/officeDocument/2006/relationships/image" Target="../media/image60.emf"/><Relationship Id="rId5" Type="http://schemas.openxmlformats.org/officeDocument/2006/relationships/image" Target="../media/image59.emf"/><Relationship Id="rId4" Type="http://schemas.openxmlformats.org/officeDocument/2006/relationships/image" Target="../media/image58.emf"/><Relationship Id="rId3" Type="http://schemas.openxmlformats.org/officeDocument/2006/relationships/image" Target="../media/image55.emf"/><Relationship Id="rId2" Type="http://schemas.openxmlformats.org/officeDocument/2006/relationships/image" Target="../media/image57.wmf"/><Relationship Id="rId1" Type="http://schemas.openxmlformats.org/officeDocument/2006/relationships/image" Target="../media/image5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10063" cy="3444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34038" y="0"/>
            <a:ext cx="4311650" cy="344488"/>
          </a:xfrm>
          <a:prstGeom prst="rect">
            <a:avLst/>
          </a:prstGeom>
        </p:spPr>
        <p:txBody>
          <a:bodyPr vert="horz" lIns="91440" tIns="45720" rIns="91440" bIns="45720" rtlCol="0"/>
          <a:lstStyle>
            <a:lvl1pPr algn="r">
              <a:defRPr sz="1200"/>
            </a:lvl1pPr>
          </a:lstStyle>
          <a:p>
            <a:fld id="{BC9D1FD6-10AD-41C3-8C4C-7C950D8FD543}" type="datetimeFigureOut">
              <a:rPr lang="zh-CN" altLang="en-US" smtClean="0"/>
            </a:fld>
            <a:endParaRPr lang="zh-CN" altLang="en-US"/>
          </a:p>
        </p:txBody>
      </p:sp>
      <p:sp>
        <p:nvSpPr>
          <p:cNvPr id="4" name="页脚占位符 3"/>
          <p:cNvSpPr>
            <a:spLocks noGrp="1"/>
          </p:cNvSpPr>
          <p:nvPr>
            <p:ph type="ftr" sz="quarter" idx="2"/>
          </p:nvPr>
        </p:nvSpPr>
        <p:spPr>
          <a:xfrm>
            <a:off x="0" y="6513513"/>
            <a:ext cx="4310063" cy="3444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34038" y="6513513"/>
            <a:ext cx="4311650" cy="344487"/>
          </a:xfrm>
          <a:prstGeom prst="rect">
            <a:avLst/>
          </a:prstGeom>
        </p:spPr>
        <p:txBody>
          <a:bodyPr vert="horz" lIns="91440" tIns="45720" rIns="91440" bIns="45720" rtlCol="0" anchor="b"/>
          <a:lstStyle>
            <a:lvl1pPr algn="r">
              <a:defRPr sz="1200"/>
            </a:lvl1pPr>
          </a:lstStyle>
          <a:p>
            <a:fld id="{33B49C96-090A-4778-A480-5A3AEF2A6C28}"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页眉占位符 1"/>
          <p:cNvSpPr>
            <a:spLocks noGrp="1" noChangeArrowheads="1"/>
          </p:cNvSpPr>
          <p:nvPr>
            <p:ph type="hdr" sz="quarter"/>
          </p:nvPr>
        </p:nvSpPr>
        <p:spPr bwMode="auto">
          <a:xfrm>
            <a:off x="0" y="0"/>
            <a:ext cx="4310063" cy="342900"/>
          </a:xfrm>
          <a:prstGeom prst="rect">
            <a:avLst/>
          </a:prstGeom>
          <a:noFill/>
          <a:ln w="9525">
            <a:noFill/>
            <a:miter lim="800000"/>
          </a:ln>
        </p:spPr>
        <p:txBody>
          <a:bodyPr vert="horz" wrap="square" lIns="91440" tIns="45720" rIns="91440" bIns="45720" numCol="1" anchor="t" anchorCtr="0" compatLnSpc="1"/>
          <a:lstStyle>
            <a:lvl1pPr eaLnBrk="1" hangingPunct="1">
              <a:lnSpc>
                <a:spcPct val="130000"/>
              </a:lnSpc>
              <a:spcBef>
                <a:spcPct val="20000"/>
              </a:spcBef>
              <a:buFont typeface="Arial" panose="020B0604020202020204" pitchFamily="34" charset="0"/>
              <a:buChar char="•"/>
              <a:defRPr sz="1200" b="0" dirty="0">
                <a:solidFill>
                  <a:srgbClr val="1A1A4E"/>
                </a:solidFill>
                <a:latin typeface="微软雅黑" panose="020B0503020204020204" pitchFamily="34" charset="-122"/>
                <a:ea typeface="微软雅黑" panose="020B0503020204020204" pitchFamily="34" charset="-122"/>
              </a:defRPr>
            </a:lvl1pPr>
          </a:lstStyle>
          <a:p>
            <a:pPr>
              <a:defRPr/>
            </a:pPr>
            <a:endParaRPr lang="zh-CN" altLang="en-US"/>
          </a:p>
        </p:txBody>
      </p:sp>
      <p:sp>
        <p:nvSpPr>
          <p:cNvPr id="5123" name="日期占位符 2"/>
          <p:cNvSpPr>
            <a:spLocks noGrp="1" noChangeArrowheads="1"/>
          </p:cNvSpPr>
          <p:nvPr>
            <p:ph type="dt" idx="1"/>
          </p:nvPr>
        </p:nvSpPr>
        <p:spPr bwMode="auto">
          <a:xfrm>
            <a:off x="5634038" y="0"/>
            <a:ext cx="4311650" cy="342900"/>
          </a:xfrm>
          <a:prstGeom prst="rect">
            <a:avLst/>
          </a:prstGeom>
          <a:noFill/>
          <a:ln w="9525">
            <a:noFill/>
            <a:miter lim="800000"/>
          </a:ln>
        </p:spPr>
        <p:txBody>
          <a:bodyPr vert="horz" wrap="square" lIns="91440" tIns="45720" rIns="91440" bIns="45720" numCol="1" anchor="t" anchorCtr="0" compatLnSpc="1"/>
          <a:lstStyle>
            <a:lvl1pPr algn="r" eaLnBrk="1" hangingPunct="1">
              <a:lnSpc>
                <a:spcPct val="130000"/>
              </a:lnSpc>
              <a:spcBef>
                <a:spcPct val="20000"/>
              </a:spcBef>
              <a:buFont typeface="Arial" panose="020B0604020202020204" pitchFamily="34" charset="0"/>
              <a:buChar char="•"/>
              <a:defRPr sz="1200" b="0" dirty="0">
                <a:solidFill>
                  <a:srgbClr val="1A1A4E"/>
                </a:solidFill>
                <a:latin typeface="微软雅黑" panose="020B0503020204020204" pitchFamily="34" charset="-122"/>
                <a:ea typeface="微软雅黑" panose="020B0503020204020204" pitchFamily="34" charset="-122"/>
              </a:defRPr>
            </a:lvl1pPr>
          </a:lstStyle>
          <a:p>
            <a:pPr>
              <a:defRPr/>
            </a:pPr>
            <a:endParaRPr lang="zh-CN" altLang="en-US"/>
          </a:p>
        </p:txBody>
      </p:sp>
      <p:sp>
        <p:nvSpPr>
          <p:cNvPr id="4100" name="幻灯片图像占位符 3"/>
          <p:cNvSpPr>
            <a:spLocks noGrp="1" noRot="1" noChangeAspect="1" noChangeArrowheads="1"/>
          </p:cNvSpPr>
          <p:nvPr>
            <p:ph type="sldImg" idx="2"/>
          </p:nvPr>
        </p:nvSpPr>
        <p:spPr bwMode="auto">
          <a:xfrm>
            <a:off x="3260725" y="514350"/>
            <a:ext cx="342900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sp>
      <p:sp>
        <p:nvSpPr>
          <p:cNvPr id="5125" name="备注占位符 4"/>
          <p:cNvSpPr>
            <a:spLocks noGrp="1" noChangeArrowheads="1"/>
          </p:cNvSpPr>
          <p:nvPr>
            <p:ph type="body" sz="quarter" idx="3"/>
          </p:nvPr>
        </p:nvSpPr>
        <p:spPr bwMode="auto">
          <a:xfrm>
            <a:off x="995363" y="3257550"/>
            <a:ext cx="7956550" cy="3086100"/>
          </a:xfrm>
          <a:prstGeom prst="rect">
            <a:avLst/>
          </a:prstGeom>
          <a:noFill/>
          <a:ln w="12700" cmpd="sng">
            <a:noFill/>
            <a:miter lim="800000"/>
          </a:ln>
        </p:spPr>
        <p:txBody>
          <a:bodyPr vert="horz" wrap="square" lIns="91440" tIns="45720" rIns="91440" bIns="45720" numCol="1" anchor="ctr" anchorCtr="0" compatLnSpc="1"/>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zh-CN" altLang="en-US" noProof="0" dirty="0"/>
          </a:p>
        </p:txBody>
      </p:sp>
      <p:sp>
        <p:nvSpPr>
          <p:cNvPr id="5126" name="页脚占位符 5"/>
          <p:cNvSpPr>
            <a:spLocks noGrp="1" noChangeArrowheads="1"/>
          </p:cNvSpPr>
          <p:nvPr>
            <p:ph type="ftr" sz="quarter" idx="4"/>
          </p:nvPr>
        </p:nvSpPr>
        <p:spPr bwMode="auto">
          <a:xfrm>
            <a:off x="0" y="6515100"/>
            <a:ext cx="4310063" cy="341313"/>
          </a:xfrm>
          <a:prstGeom prst="rect">
            <a:avLst/>
          </a:prstGeom>
          <a:noFill/>
          <a:ln w="9525">
            <a:noFill/>
            <a:miter lim="800000"/>
          </a:ln>
        </p:spPr>
        <p:txBody>
          <a:bodyPr vert="horz" wrap="square" lIns="91440" tIns="45720" rIns="91440" bIns="45720" numCol="1" anchor="b" anchorCtr="0" compatLnSpc="1"/>
          <a:lstStyle>
            <a:lvl1pPr eaLnBrk="1" hangingPunct="1">
              <a:lnSpc>
                <a:spcPct val="130000"/>
              </a:lnSpc>
              <a:spcBef>
                <a:spcPct val="20000"/>
              </a:spcBef>
              <a:buFont typeface="Arial" panose="020B0604020202020204" pitchFamily="34" charset="0"/>
              <a:buChar char="•"/>
              <a:defRPr sz="1200" b="0" dirty="0">
                <a:solidFill>
                  <a:srgbClr val="1A1A4E"/>
                </a:solidFill>
                <a:latin typeface="微软雅黑" panose="020B0503020204020204" pitchFamily="34" charset="-122"/>
                <a:ea typeface="微软雅黑" panose="020B0503020204020204" pitchFamily="34" charset="-122"/>
              </a:defRPr>
            </a:lvl1pPr>
          </a:lstStyle>
          <a:p>
            <a:pPr>
              <a:defRPr/>
            </a:pPr>
            <a:endParaRPr lang="zh-CN" altLang="en-US"/>
          </a:p>
        </p:txBody>
      </p:sp>
      <p:sp>
        <p:nvSpPr>
          <p:cNvPr id="5127" name="灯片编号占位符 6"/>
          <p:cNvSpPr>
            <a:spLocks noGrp="1" noChangeArrowheads="1"/>
          </p:cNvSpPr>
          <p:nvPr>
            <p:ph type="sldNum" sz="quarter" idx="5"/>
          </p:nvPr>
        </p:nvSpPr>
        <p:spPr bwMode="auto">
          <a:xfrm>
            <a:off x="5634038" y="6515100"/>
            <a:ext cx="4311650" cy="341313"/>
          </a:xfrm>
          <a:prstGeom prst="rect">
            <a:avLst/>
          </a:prstGeom>
          <a:noFill/>
          <a:ln w="9525">
            <a:noFill/>
            <a:miter lim="800000"/>
          </a:ln>
        </p:spPr>
        <p:txBody>
          <a:bodyPr vert="horz" wrap="square" lIns="91440" tIns="45720" rIns="91440" bIns="45720" numCol="1" anchor="b" anchorCtr="0" compatLnSpc="1"/>
          <a:lstStyle>
            <a:lvl1pPr algn="r" eaLnBrk="1" hangingPunct="1">
              <a:lnSpc>
                <a:spcPct val="130000"/>
              </a:lnSpc>
              <a:spcBef>
                <a:spcPct val="20000"/>
              </a:spcBef>
              <a:buFont typeface="Arial" panose="020B0604020202020204" pitchFamily="34" charset="0"/>
              <a:buChar char="•"/>
              <a:defRPr sz="1200" b="0" smtClean="0">
                <a:solidFill>
                  <a:srgbClr val="1A1A4E"/>
                </a:solidFill>
                <a:latin typeface="微软雅黑" panose="020B0503020204020204" pitchFamily="34" charset="-122"/>
                <a:ea typeface="微软雅黑" panose="020B0503020204020204" pitchFamily="34" charset="-122"/>
              </a:defRPr>
            </a:lvl1pPr>
          </a:lstStyle>
          <a:p>
            <a:pPr>
              <a:defRPr/>
            </a:pPr>
            <a:fld id="{CF1D8E48-98DB-4BAA-8DAA-00E694147933}" type="slidenum">
              <a:rPr lang="zh-CN" altLang="en-US"/>
            </a:fld>
            <a:endParaRPr lang="zh-CN"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黑体" panose="02010609060101010101" pitchFamily="49"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黑体" panose="02010609060101010101" pitchFamily="49"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黑体" panose="02010609060101010101" pitchFamily="49"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黑体" panose="02010609060101010101" pitchFamily="49"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黑体"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sz="1200" kern="1200" dirty="0">
              <a:solidFill>
                <a:srgbClr val="002060"/>
              </a:solidFill>
              <a:latin typeface="+mj-ea"/>
              <a:ea typeface="黑体" panose="02010609060101010101" pitchFamily="49" charset="-122"/>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pPr>
              <a:defRPr/>
            </a:pPr>
            <a:fld id="{CF1D8E48-98DB-4BAA-8DAA-00E694147933}" type="slidenum">
              <a:rPr lang="zh-CN" altLang="en-US"/>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2" name="流程图: 过程 1"/>
          <p:cNvSpPr/>
          <p:nvPr userDrawn="1"/>
        </p:nvSpPr>
        <p:spPr>
          <a:xfrm rot="5400000">
            <a:off x="4486275" y="2200275"/>
            <a:ext cx="171450" cy="9144000"/>
          </a:xfrm>
          <a:prstGeom prst="flowChartProcess">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流程图: 过程 8"/>
          <p:cNvSpPr/>
          <p:nvPr userDrawn="1"/>
        </p:nvSpPr>
        <p:spPr>
          <a:xfrm rot="5400000" flipH="1">
            <a:off x="8183563" y="5849938"/>
            <a:ext cx="328612" cy="1592262"/>
          </a:xfrm>
          <a:custGeom>
            <a:avLst/>
            <a:gdLst>
              <a:gd name="connsiteX0" fmla="*/ 0 w 10000"/>
              <a:gd name="connsiteY0" fmla="*/ 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0 h 10000"/>
              <a:gd name="connsiteX0-1" fmla="*/ 0 w 10000"/>
              <a:gd name="connsiteY0-2" fmla="*/ 0 h 10000"/>
              <a:gd name="connsiteX1-3" fmla="*/ 10000 w 10000"/>
              <a:gd name="connsiteY1-4" fmla="*/ 0 h 10000"/>
              <a:gd name="connsiteX2-5" fmla="*/ 9474 w 10000"/>
              <a:gd name="connsiteY2-6" fmla="*/ 9062 h 10000"/>
              <a:gd name="connsiteX3-7" fmla="*/ 0 w 10000"/>
              <a:gd name="connsiteY3-8" fmla="*/ 10000 h 10000"/>
              <a:gd name="connsiteX4-9" fmla="*/ 0 w 10000"/>
              <a:gd name="connsiteY4-10" fmla="*/ 0 h 10000"/>
              <a:gd name="connsiteX0-11" fmla="*/ 0 w 10075"/>
              <a:gd name="connsiteY0-12" fmla="*/ 0 h 10000"/>
              <a:gd name="connsiteX1-13" fmla="*/ 10000 w 10075"/>
              <a:gd name="connsiteY1-14" fmla="*/ 0 h 10000"/>
              <a:gd name="connsiteX2-15" fmla="*/ 10028 w 10075"/>
              <a:gd name="connsiteY2-16" fmla="*/ 8891 h 10000"/>
              <a:gd name="connsiteX3-17" fmla="*/ 0 w 10075"/>
              <a:gd name="connsiteY3-18" fmla="*/ 10000 h 10000"/>
              <a:gd name="connsiteX4-19" fmla="*/ 0 w 10075"/>
              <a:gd name="connsiteY4-20" fmla="*/ 0 h 10000"/>
              <a:gd name="connsiteX0-21" fmla="*/ 0 w 10335"/>
              <a:gd name="connsiteY0-22" fmla="*/ 0 h 10000"/>
              <a:gd name="connsiteX1-23" fmla="*/ 10000 w 10335"/>
              <a:gd name="connsiteY1-24" fmla="*/ 0 h 10000"/>
              <a:gd name="connsiteX2-25" fmla="*/ 10305 w 10335"/>
              <a:gd name="connsiteY2-26" fmla="*/ 8891 h 10000"/>
              <a:gd name="connsiteX3-27" fmla="*/ 0 w 10335"/>
              <a:gd name="connsiteY3-28" fmla="*/ 10000 h 10000"/>
              <a:gd name="connsiteX4-29" fmla="*/ 0 w 10335"/>
              <a:gd name="connsiteY4-30" fmla="*/ 0 h 10000"/>
              <a:gd name="connsiteX0-31" fmla="*/ 0 w 10000"/>
              <a:gd name="connsiteY0-32" fmla="*/ 0 h 10000"/>
              <a:gd name="connsiteX1-33" fmla="*/ 10000 w 10000"/>
              <a:gd name="connsiteY1-34" fmla="*/ 0 h 10000"/>
              <a:gd name="connsiteX2-35" fmla="*/ 9751 w 10000"/>
              <a:gd name="connsiteY2-36" fmla="*/ 9062 h 10000"/>
              <a:gd name="connsiteX3-37" fmla="*/ 0 w 10000"/>
              <a:gd name="connsiteY3-38" fmla="*/ 10000 h 10000"/>
              <a:gd name="connsiteX4-39" fmla="*/ 0 w 10000"/>
              <a:gd name="connsiteY4-40" fmla="*/ 0 h 100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10000">
                <a:moveTo>
                  <a:pt x="0" y="0"/>
                </a:moveTo>
                <a:lnTo>
                  <a:pt x="10000" y="0"/>
                </a:lnTo>
                <a:cubicBezTo>
                  <a:pt x="9825" y="3021"/>
                  <a:pt x="9926" y="6041"/>
                  <a:pt x="9751" y="9062"/>
                </a:cubicBezTo>
                <a:lnTo>
                  <a:pt x="0" y="10000"/>
                </a:lnTo>
                <a:lnTo>
                  <a:pt x="0" y="0"/>
                </a:lnTo>
                <a:close/>
              </a:path>
            </a:pathLst>
          </a:cu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 name="图片 3"/>
          <p:cNvPicPr>
            <a:picLocks noChangeAspect="1"/>
          </p:cNvPicPr>
          <p:nvPr userDrawn="1"/>
        </p:nvPicPr>
        <p:blipFill>
          <a:blip r:embed="rId2" cstate="hqprint">
            <a:biLevel thresh="50000"/>
            <a:grayscl/>
          </a:blip>
          <a:srcRect/>
          <a:stretch>
            <a:fillRect/>
          </a:stretch>
        </p:blipFill>
        <p:spPr bwMode="auto">
          <a:xfrm>
            <a:off x="7829550" y="6523038"/>
            <a:ext cx="115411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连接符 4"/>
          <p:cNvCxnSpPr/>
          <p:nvPr userDrawn="1"/>
        </p:nvCxnSpPr>
        <p:spPr bwMode="auto">
          <a:xfrm>
            <a:off x="276225" y="828675"/>
            <a:ext cx="8591550" cy="0"/>
          </a:xfrm>
          <a:prstGeom prst="line">
            <a:avLst/>
          </a:prstGeom>
          <a:solidFill>
            <a:schemeClr val="accent1"/>
          </a:solidFill>
          <a:ln w="19050" cap="flat" cmpd="sng" algn="ctr">
            <a:solidFill>
              <a:srgbClr val="1557AE"/>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pic>
        <p:nvPicPr>
          <p:cNvPr id="2" name="Picture 4" descr="E:\WORK\工作\PPT\PPT新校徽\L15副本.jpg"/>
          <p:cNvPicPr>
            <a:picLocks noChangeAspect="1" noChangeArrowheads="1"/>
          </p:cNvPicPr>
          <p:nvPr userDrawn="1"/>
        </p:nvPicPr>
        <p:blipFill>
          <a:blip r:embed="rId2"/>
          <a:srcRect/>
          <a:stretch>
            <a:fillRect/>
          </a:stretch>
        </p:blipFill>
        <p:spPr bwMode="auto">
          <a:xfrm>
            <a:off x="0" y="14288"/>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rgbClr val="FFFFFF"/>
            </a:gs>
            <a:gs pos="97000">
              <a:srgbClr val="F6FAFD"/>
            </a:gs>
            <a:gs pos="100000">
              <a:srgbClr val="F6FAFD"/>
            </a:gs>
          </a:gsLst>
          <a:lin ang="5400000" scaled="1"/>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ahoma" panose="020B0604030504040204" pitchFamily="34" charset="0"/>
          <a:ea typeface="黑体" panose="02010609060101010101" pitchFamily="49" charset="-122"/>
        </a:defRPr>
      </a:lvl2pPr>
      <a:lvl3pPr algn="ctr" rtl="0" eaLnBrk="0" fontAlgn="base" hangingPunct="0">
        <a:spcBef>
          <a:spcPct val="0"/>
        </a:spcBef>
        <a:spcAft>
          <a:spcPct val="0"/>
        </a:spcAft>
        <a:defRPr sz="4400">
          <a:solidFill>
            <a:schemeClr val="tx2"/>
          </a:solidFill>
          <a:latin typeface="Tahoma" panose="020B0604030504040204" pitchFamily="34" charset="0"/>
          <a:ea typeface="黑体" panose="02010609060101010101" pitchFamily="49" charset="-122"/>
        </a:defRPr>
      </a:lvl3pPr>
      <a:lvl4pPr algn="ctr" rtl="0" eaLnBrk="0" fontAlgn="base" hangingPunct="0">
        <a:spcBef>
          <a:spcPct val="0"/>
        </a:spcBef>
        <a:spcAft>
          <a:spcPct val="0"/>
        </a:spcAft>
        <a:defRPr sz="4400">
          <a:solidFill>
            <a:schemeClr val="tx2"/>
          </a:solidFill>
          <a:latin typeface="Tahoma" panose="020B0604030504040204" pitchFamily="34" charset="0"/>
          <a:ea typeface="黑体" panose="02010609060101010101" pitchFamily="49" charset="-122"/>
        </a:defRPr>
      </a:lvl4pPr>
      <a:lvl5pPr algn="ctr" rtl="0" eaLnBrk="0" fontAlgn="base" hangingPunct="0">
        <a:spcBef>
          <a:spcPct val="0"/>
        </a:spcBef>
        <a:spcAft>
          <a:spcPct val="0"/>
        </a:spcAft>
        <a:defRPr sz="4400">
          <a:solidFill>
            <a:schemeClr val="tx2"/>
          </a:solidFill>
          <a:latin typeface="Tahoma" panose="020B0604030504040204" pitchFamily="34" charset="0"/>
          <a:ea typeface="黑体" panose="02010609060101010101" pitchFamily="49" charset="-122"/>
        </a:defRPr>
      </a:lvl5pPr>
      <a:lvl6pPr marL="457200" algn="ctr" rtl="0" eaLnBrk="0" fontAlgn="base" hangingPunct="0">
        <a:spcBef>
          <a:spcPct val="0"/>
        </a:spcBef>
        <a:spcAft>
          <a:spcPct val="0"/>
        </a:spcAft>
        <a:defRPr sz="4400">
          <a:solidFill>
            <a:schemeClr val="tx2"/>
          </a:solidFill>
          <a:latin typeface="Tahoma" panose="020B0604030504040204" pitchFamily="34" charset="0"/>
          <a:ea typeface="黑体" panose="02010609060101010101" pitchFamily="49" charset="-122"/>
        </a:defRPr>
      </a:lvl6pPr>
      <a:lvl7pPr marL="914400" algn="ctr" rtl="0" eaLnBrk="0" fontAlgn="base" hangingPunct="0">
        <a:spcBef>
          <a:spcPct val="0"/>
        </a:spcBef>
        <a:spcAft>
          <a:spcPct val="0"/>
        </a:spcAft>
        <a:defRPr sz="4400">
          <a:solidFill>
            <a:schemeClr val="tx2"/>
          </a:solidFill>
          <a:latin typeface="Tahoma" panose="020B0604030504040204" pitchFamily="34" charset="0"/>
          <a:ea typeface="黑体" panose="02010609060101010101" pitchFamily="49" charset="-122"/>
        </a:defRPr>
      </a:lvl7pPr>
      <a:lvl8pPr marL="1371600" algn="ctr" rtl="0" eaLnBrk="0" fontAlgn="base" hangingPunct="0">
        <a:spcBef>
          <a:spcPct val="0"/>
        </a:spcBef>
        <a:spcAft>
          <a:spcPct val="0"/>
        </a:spcAft>
        <a:defRPr sz="4400">
          <a:solidFill>
            <a:schemeClr val="tx2"/>
          </a:solidFill>
          <a:latin typeface="Tahoma" panose="020B0604030504040204" pitchFamily="34" charset="0"/>
          <a:ea typeface="黑体" panose="02010609060101010101" pitchFamily="49" charset="-122"/>
        </a:defRPr>
      </a:lvl8pPr>
      <a:lvl9pPr marL="1828800" algn="ctr" rtl="0" eaLnBrk="0" fontAlgn="base" hangingPunct="0">
        <a:spcBef>
          <a:spcPct val="0"/>
        </a:spcBef>
        <a:spcAft>
          <a:spcPct val="0"/>
        </a:spcAft>
        <a:defRPr sz="4400">
          <a:solidFill>
            <a:schemeClr val="tx2"/>
          </a:solidFill>
          <a:latin typeface="Tahoma" panose="020B060403050404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5.wmf"/></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9.wmf"/><Relationship Id="rId1" Type="http://schemas.openxmlformats.org/officeDocument/2006/relationships/image" Target="../media/image8.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6.wmf"/><Relationship Id="rId7" Type="http://schemas.openxmlformats.org/officeDocument/2006/relationships/oleObject" Target="../embeddings/oleObject4.bin"/><Relationship Id="rId6" Type="http://schemas.openxmlformats.org/officeDocument/2006/relationships/image" Target="../media/image15.wmf"/><Relationship Id="rId5" Type="http://schemas.openxmlformats.org/officeDocument/2006/relationships/oleObject" Target="../embeddings/oleObject3.bin"/><Relationship Id="rId4" Type="http://schemas.openxmlformats.org/officeDocument/2006/relationships/image" Target="../media/image14.wmf"/><Relationship Id="rId3" Type="http://schemas.openxmlformats.org/officeDocument/2006/relationships/oleObject" Target="../embeddings/oleObject2.bin"/><Relationship Id="rId2" Type="http://schemas.openxmlformats.org/officeDocument/2006/relationships/image" Target="../media/image13.wmf"/><Relationship Id="rId11" Type="http://schemas.openxmlformats.org/officeDocument/2006/relationships/notesSlide" Target="../notesSlides/notesSlide15.xml"/><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20.wmf"/><Relationship Id="rId7" Type="http://schemas.openxmlformats.org/officeDocument/2006/relationships/oleObject" Target="../embeddings/oleObject8.bin"/><Relationship Id="rId6" Type="http://schemas.openxmlformats.org/officeDocument/2006/relationships/image" Target="../media/image19.wmf"/><Relationship Id="rId5" Type="http://schemas.openxmlformats.org/officeDocument/2006/relationships/oleObject" Target="../embeddings/oleObject7.bin"/><Relationship Id="rId4" Type="http://schemas.openxmlformats.org/officeDocument/2006/relationships/image" Target="../media/image18.wmf"/><Relationship Id="rId3" Type="http://schemas.openxmlformats.org/officeDocument/2006/relationships/oleObject" Target="../embeddings/oleObject6.bin"/><Relationship Id="rId2" Type="http://schemas.openxmlformats.org/officeDocument/2006/relationships/image" Target="../media/image17.wmf"/><Relationship Id="rId13" Type="http://schemas.openxmlformats.org/officeDocument/2006/relationships/notesSlide" Target="../notesSlides/notesSlide16.xml"/><Relationship Id="rId12" Type="http://schemas.openxmlformats.org/officeDocument/2006/relationships/vmlDrawing" Target="../drawings/vmlDrawing2.vml"/><Relationship Id="rId11" Type="http://schemas.openxmlformats.org/officeDocument/2006/relationships/slideLayout" Target="../slideLayouts/slideLayout1.xml"/><Relationship Id="rId10" Type="http://schemas.openxmlformats.org/officeDocument/2006/relationships/image" Target="../media/image21.wmf"/><Relationship Id="rId1"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23.wmf"/><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14.bin"/><Relationship Id="rId8" Type="http://schemas.openxmlformats.org/officeDocument/2006/relationships/image" Target="../media/image27.wmf"/><Relationship Id="rId7" Type="http://schemas.openxmlformats.org/officeDocument/2006/relationships/oleObject" Target="../embeddings/oleObject13.bin"/><Relationship Id="rId6" Type="http://schemas.openxmlformats.org/officeDocument/2006/relationships/image" Target="../media/image26.wmf"/><Relationship Id="rId5" Type="http://schemas.openxmlformats.org/officeDocument/2006/relationships/oleObject" Target="../embeddings/oleObject12.bin"/><Relationship Id="rId4" Type="http://schemas.openxmlformats.org/officeDocument/2006/relationships/image" Target="../media/image25.wmf"/><Relationship Id="rId3" Type="http://schemas.openxmlformats.org/officeDocument/2006/relationships/oleObject" Target="../embeddings/oleObject11.bin"/><Relationship Id="rId2" Type="http://schemas.openxmlformats.org/officeDocument/2006/relationships/image" Target="../media/image24.wmf"/><Relationship Id="rId13" Type="http://schemas.openxmlformats.org/officeDocument/2006/relationships/notesSlide" Target="../notesSlides/notesSlide18.xml"/><Relationship Id="rId12" Type="http://schemas.openxmlformats.org/officeDocument/2006/relationships/vmlDrawing" Target="../drawings/vmlDrawing3.vml"/><Relationship Id="rId11" Type="http://schemas.openxmlformats.org/officeDocument/2006/relationships/slideLayout" Target="../slideLayouts/slideLayout1.xml"/><Relationship Id="rId10" Type="http://schemas.openxmlformats.org/officeDocument/2006/relationships/image" Target="../media/image28.wmf"/><Relationship Id="rId1" Type="http://schemas.openxmlformats.org/officeDocument/2006/relationships/oleObject" Target="../embeddings/oleObject10.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29.wmf"/></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31.wmf"/><Relationship Id="rId1" Type="http://schemas.openxmlformats.org/officeDocument/2006/relationships/image" Target="../media/image30.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32.w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33.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35.png"/><Relationship Id="rId1"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36.wmf"/></Relationships>
</file>

<file path=ppt/slides/_rels/slide31.xml.rels><?xml version="1.0" encoding="UTF-8" standalone="yes"?>
<Relationships xmlns="http://schemas.openxmlformats.org/package/2006/relationships"><Relationship Id="rId9" Type="http://schemas.openxmlformats.org/officeDocument/2006/relationships/notesSlide" Target="../notesSlides/notesSlide30.xml"/><Relationship Id="rId8" Type="http://schemas.openxmlformats.org/officeDocument/2006/relationships/vmlDrawing" Target="../drawings/vmlDrawing4.vml"/><Relationship Id="rId7" Type="http://schemas.openxmlformats.org/officeDocument/2006/relationships/slideLayout" Target="../slideLayouts/slideLayout1.xml"/><Relationship Id="rId6" Type="http://schemas.openxmlformats.org/officeDocument/2006/relationships/image" Target="../media/image39.emf"/><Relationship Id="rId5" Type="http://schemas.openxmlformats.org/officeDocument/2006/relationships/oleObject" Target="../embeddings/oleObject17.bin"/><Relationship Id="rId4" Type="http://schemas.openxmlformats.org/officeDocument/2006/relationships/image" Target="../media/image38.emf"/><Relationship Id="rId3" Type="http://schemas.openxmlformats.org/officeDocument/2006/relationships/oleObject" Target="../embeddings/oleObject16.bin"/><Relationship Id="rId2" Type="http://schemas.openxmlformats.org/officeDocument/2006/relationships/image" Target="../media/image37.emf"/><Relationship Id="rId1" Type="http://schemas.openxmlformats.org/officeDocument/2006/relationships/oleObject" Target="../embeddings/oleObject15.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40.png"/></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1.xml"/><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wmf"/><Relationship Id="rId1" Type="http://schemas.openxmlformats.org/officeDocument/2006/relationships/image" Target="../media/image41.wmf"/></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image" Target="../media/image46.png"/><Relationship Id="rId1" Type="http://schemas.openxmlformats.org/officeDocument/2006/relationships/image" Target="../media/image45.wmf"/></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xml"/><Relationship Id="rId2" Type="http://schemas.openxmlformats.org/officeDocument/2006/relationships/image" Target="../media/image47.png"/><Relationship Id="rId1" Type="http://schemas.openxmlformats.org/officeDocument/2006/relationships/image" Target="../media/image46.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image" Target="../media/image49.wmf"/><Relationship Id="rId1" Type="http://schemas.openxmlformats.org/officeDocument/2006/relationships/image" Target="../media/image48.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image" Target="../media/image50.png"/><Relationship Id="rId1" Type="http://schemas.openxmlformats.org/officeDocument/2006/relationships/image" Target="../media/image4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image" Target="../media/image51.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xml"/><Relationship Id="rId2" Type="http://schemas.openxmlformats.org/officeDocument/2006/relationships/image" Target="../media/image53.png"/><Relationship Id="rId1" Type="http://schemas.openxmlformats.org/officeDocument/2006/relationships/image" Target="../media/image5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54.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45.xml"/><Relationship Id="rId5" Type="http://schemas.openxmlformats.org/officeDocument/2006/relationships/vmlDrawing" Target="../drawings/vmlDrawing5.vml"/><Relationship Id="rId4" Type="http://schemas.openxmlformats.org/officeDocument/2006/relationships/slideLayout" Target="../slideLayouts/slideLayout1.xml"/><Relationship Id="rId3" Type="http://schemas.openxmlformats.org/officeDocument/2006/relationships/oleObject" Target="../embeddings/oleObject19.bin"/><Relationship Id="rId2" Type="http://schemas.openxmlformats.org/officeDocument/2006/relationships/image" Target="../media/image55.emf"/><Relationship Id="rId1" Type="http://schemas.openxmlformats.org/officeDocument/2006/relationships/oleObject" Target="../embeddings/oleObject18.bin"/></Relationships>
</file>

<file path=ppt/slides/_rels/slide47.xml.rels><?xml version="1.0" encoding="UTF-8" standalone="yes"?>
<Relationships xmlns="http://schemas.openxmlformats.org/package/2006/relationships"><Relationship Id="rId9" Type="http://schemas.openxmlformats.org/officeDocument/2006/relationships/oleObject" Target="../embeddings/oleObject24.bin"/><Relationship Id="rId8" Type="http://schemas.openxmlformats.org/officeDocument/2006/relationships/image" Target="../media/image58.emf"/><Relationship Id="rId7" Type="http://schemas.openxmlformats.org/officeDocument/2006/relationships/oleObject" Target="../embeddings/oleObject23.bin"/><Relationship Id="rId6" Type="http://schemas.openxmlformats.org/officeDocument/2006/relationships/image" Target="../media/image55.emf"/><Relationship Id="rId5" Type="http://schemas.openxmlformats.org/officeDocument/2006/relationships/oleObject" Target="../embeddings/oleObject22.bin"/><Relationship Id="rId4" Type="http://schemas.openxmlformats.org/officeDocument/2006/relationships/image" Target="../media/image57.wmf"/><Relationship Id="rId3" Type="http://schemas.openxmlformats.org/officeDocument/2006/relationships/oleObject" Target="../embeddings/oleObject21.bin"/><Relationship Id="rId2" Type="http://schemas.openxmlformats.org/officeDocument/2006/relationships/image" Target="../media/image56.emf"/><Relationship Id="rId19" Type="http://schemas.openxmlformats.org/officeDocument/2006/relationships/notesSlide" Target="../notesSlides/notesSlide46.xml"/><Relationship Id="rId18" Type="http://schemas.openxmlformats.org/officeDocument/2006/relationships/vmlDrawing" Target="../drawings/vmlDrawing6.vml"/><Relationship Id="rId17" Type="http://schemas.openxmlformats.org/officeDocument/2006/relationships/slideLayout" Target="../slideLayouts/slideLayout1.xml"/><Relationship Id="rId16" Type="http://schemas.openxmlformats.org/officeDocument/2006/relationships/image" Target="../media/image62.emf"/><Relationship Id="rId15" Type="http://schemas.openxmlformats.org/officeDocument/2006/relationships/oleObject" Target="../embeddings/oleObject27.bin"/><Relationship Id="rId14" Type="http://schemas.openxmlformats.org/officeDocument/2006/relationships/image" Target="../media/image61.emf"/><Relationship Id="rId13" Type="http://schemas.openxmlformats.org/officeDocument/2006/relationships/oleObject" Target="../embeddings/oleObject26.bin"/><Relationship Id="rId12" Type="http://schemas.openxmlformats.org/officeDocument/2006/relationships/image" Target="../media/image60.emf"/><Relationship Id="rId11" Type="http://schemas.openxmlformats.org/officeDocument/2006/relationships/oleObject" Target="../embeddings/oleObject25.bin"/><Relationship Id="rId10" Type="http://schemas.openxmlformats.org/officeDocument/2006/relationships/image" Target="../media/image59.emf"/><Relationship Id="rId1" Type="http://schemas.openxmlformats.org/officeDocument/2006/relationships/oleObject" Target="../embeddings/oleObject20.bin"/></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xml"/><Relationship Id="rId1" Type="http://schemas.openxmlformats.org/officeDocument/2006/relationships/image" Target="../media/image63.emf"/></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63.emf"/></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1.xml"/><Relationship Id="rId2" Type="http://schemas.openxmlformats.org/officeDocument/2006/relationships/image" Target="../media/image65.emf"/><Relationship Id="rId1" Type="http://schemas.openxmlformats.org/officeDocument/2006/relationships/image" Target="../media/image64.emf"/></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7" Type="http://schemas.openxmlformats.org/officeDocument/2006/relationships/notesSlide" Target="../notesSlides/notesSlide59.xml"/><Relationship Id="rId6" Type="http://schemas.openxmlformats.org/officeDocument/2006/relationships/vmlDrawing" Target="../drawings/vmlDrawing7.vml"/><Relationship Id="rId5" Type="http://schemas.openxmlformats.org/officeDocument/2006/relationships/slideLayout" Target="../slideLayouts/slideLayout1.xml"/><Relationship Id="rId4" Type="http://schemas.openxmlformats.org/officeDocument/2006/relationships/oleObject" Target="../embeddings/oleObject30.bin"/><Relationship Id="rId3" Type="http://schemas.openxmlformats.org/officeDocument/2006/relationships/oleObject" Target="../embeddings/oleObject29.bin"/><Relationship Id="rId2" Type="http://schemas.openxmlformats.org/officeDocument/2006/relationships/image" Target="../media/image66.emf"/><Relationship Id="rId1" Type="http://schemas.openxmlformats.org/officeDocument/2006/relationships/oleObject" Target="../embeddings/oleObject28.bin"/></Relationships>
</file>

<file path=ppt/slides/_rels/slide61.xml.rels><?xml version="1.0" encoding="UTF-8" standalone="yes"?>
<Relationships xmlns="http://schemas.openxmlformats.org/package/2006/relationships"><Relationship Id="rId7" Type="http://schemas.openxmlformats.org/officeDocument/2006/relationships/notesSlide" Target="../notesSlides/notesSlide60.xml"/><Relationship Id="rId6" Type="http://schemas.openxmlformats.org/officeDocument/2006/relationships/vmlDrawing" Target="../drawings/vmlDrawing8.vml"/><Relationship Id="rId5" Type="http://schemas.openxmlformats.org/officeDocument/2006/relationships/slideLayout" Target="../slideLayouts/slideLayout1.xml"/><Relationship Id="rId4" Type="http://schemas.openxmlformats.org/officeDocument/2006/relationships/oleObject" Target="../embeddings/oleObject33.bin"/><Relationship Id="rId3" Type="http://schemas.openxmlformats.org/officeDocument/2006/relationships/oleObject" Target="../embeddings/oleObject32.bin"/><Relationship Id="rId2" Type="http://schemas.openxmlformats.org/officeDocument/2006/relationships/image" Target="../media/image66.emf"/><Relationship Id="rId1" Type="http://schemas.openxmlformats.org/officeDocument/2006/relationships/oleObject" Target="../embeddings/oleObject31.bin"/></Relationships>
</file>

<file path=ppt/slides/_rels/slide62.xml.rels><?xml version="1.0" encoding="UTF-8" standalone="yes"?>
<Relationships xmlns="http://schemas.openxmlformats.org/package/2006/relationships"><Relationship Id="rId5" Type="http://schemas.openxmlformats.org/officeDocument/2006/relationships/notesSlide" Target="../notesSlides/notesSlide61.xml"/><Relationship Id="rId4" Type="http://schemas.openxmlformats.org/officeDocument/2006/relationships/slideLayout" Target="../slideLayouts/slideLayout1.xml"/><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67.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1.xml"/><Relationship Id="rId2" Type="http://schemas.openxmlformats.org/officeDocument/2006/relationships/image" Target="../media/image71.png"/><Relationship Id="rId1" Type="http://schemas.openxmlformats.org/officeDocument/2006/relationships/image" Target="../media/image70.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1.xml"/><Relationship Id="rId2" Type="http://schemas.openxmlformats.org/officeDocument/2006/relationships/image" Target="../media/image73.png"/><Relationship Id="rId1" Type="http://schemas.openxmlformats.org/officeDocument/2006/relationships/image" Target="../media/image72.png"/></Relationships>
</file>

<file path=ppt/slides/_rels/slide68.xml.rels><?xml version="1.0" encoding="UTF-8" standalone="yes"?>
<Relationships xmlns="http://schemas.openxmlformats.org/package/2006/relationships"><Relationship Id="rId5" Type="http://schemas.openxmlformats.org/officeDocument/2006/relationships/notesSlide" Target="../notesSlides/notesSlide67.xml"/><Relationship Id="rId4" Type="http://schemas.openxmlformats.org/officeDocument/2006/relationships/slideLayout" Target="../slideLayouts/slideLayout1.xml"/><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image" Target="../media/image74.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xml"/><Relationship Id="rId1" Type="http://schemas.openxmlformats.org/officeDocument/2006/relationships/image" Target="../media/image77.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1.xml"/><Relationship Id="rId2" Type="http://schemas.openxmlformats.org/officeDocument/2006/relationships/image" Target="../media/image76.png"/><Relationship Id="rId1" Type="http://schemas.openxmlformats.org/officeDocument/2006/relationships/image" Target="../media/image78.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xml"/><Relationship Id="rId1" Type="http://schemas.openxmlformats.org/officeDocument/2006/relationships/image" Target="../media/image79.png"/></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1.xml"/><Relationship Id="rId2" Type="http://schemas.openxmlformats.org/officeDocument/2006/relationships/image" Target="../media/image75.png"/><Relationship Id="rId1" Type="http://schemas.openxmlformats.org/officeDocument/2006/relationships/image" Target="../media/image76.png"/></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72.xml"/><Relationship Id="rId3" Type="http://schemas.openxmlformats.org/officeDocument/2006/relationships/slideLayout" Target="../slideLayouts/slideLayout1.xml"/><Relationship Id="rId2" Type="http://schemas.openxmlformats.org/officeDocument/2006/relationships/image" Target="../media/image81.png"/><Relationship Id="rId1" Type="http://schemas.openxmlformats.org/officeDocument/2006/relationships/image" Target="../media/image80.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xml"/><Relationship Id="rId1" Type="http://schemas.openxmlformats.org/officeDocument/2006/relationships/image" Target="../media/image82.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1.xml"/><Relationship Id="rId1" Type="http://schemas.openxmlformats.org/officeDocument/2006/relationships/image" Target="../media/image83.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4" Type="http://schemas.openxmlformats.org/officeDocument/2006/relationships/notesSlide" Target="../notesSlides/notesSlide85.xml"/><Relationship Id="rId3" Type="http://schemas.openxmlformats.org/officeDocument/2006/relationships/slideLayout" Target="../slideLayouts/slideLayout1.xml"/><Relationship Id="rId2" Type="http://schemas.openxmlformats.org/officeDocument/2006/relationships/image" Target="../media/image85.jpeg"/><Relationship Id="rId1" Type="http://schemas.openxmlformats.org/officeDocument/2006/relationships/image" Target="../media/image84.jpe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1.xml"/><Relationship Id="rId1" Type="http://schemas.openxmlformats.org/officeDocument/2006/relationships/image" Target="../media/image86.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1.xml"/><Relationship Id="rId1" Type="http://schemas.openxmlformats.org/officeDocument/2006/relationships/image" Target="../media/image87.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1.xml"/><Relationship Id="rId1" Type="http://schemas.openxmlformats.org/officeDocument/2006/relationships/image" Target="../media/image88.GIF"/></Relationships>
</file>

<file path=ppt/slides/_rels/slide94.xml.rels><?xml version="1.0" encoding="UTF-8" standalone="yes"?>
<Relationships xmlns="http://schemas.openxmlformats.org/package/2006/relationships"><Relationship Id="rId5" Type="http://schemas.openxmlformats.org/officeDocument/2006/relationships/notesSlide" Target="../notesSlides/notesSlide93.xml"/><Relationship Id="rId4" Type="http://schemas.openxmlformats.org/officeDocument/2006/relationships/slideLayout" Target="../slideLayouts/slideLayout1.xml"/><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image" Target="../media/image89.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1.xml"/><Relationship Id="rId1" Type="http://schemas.openxmlformats.org/officeDocument/2006/relationships/image" Target="../media/image92.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Box 5"/>
          <p:cNvSpPr txBox="1">
            <a:spLocks noChangeArrowheads="1"/>
          </p:cNvSpPr>
          <p:nvPr/>
        </p:nvSpPr>
        <p:spPr bwMode="auto">
          <a:xfrm>
            <a:off x="-9484" y="1412776"/>
            <a:ext cx="9123574" cy="2160240"/>
          </a:xfrm>
          <a:prstGeom prst="rect">
            <a:avLst/>
          </a:prstGeom>
          <a:solidFill>
            <a:srgbClr val="325AA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b="1">
                <a:solidFill>
                  <a:schemeClr val="bg1"/>
                </a:solidFill>
                <a:latin typeface="黑体" panose="02010609060101010101" pitchFamily="49" charset="-122"/>
                <a:ea typeface="宋体" panose="02010600030101010101" pitchFamily="2" charset="-122"/>
              </a:defRPr>
            </a:lvl1pPr>
            <a:lvl2pPr marL="742950" indent="-285750">
              <a:defRPr b="1">
                <a:solidFill>
                  <a:schemeClr val="bg1"/>
                </a:solidFill>
                <a:latin typeface="黑体" panose="02010609060101010101" pitchFamily="49" charset="-122"/>
                <a:ea typeface="宋体" panose="02010600030101010101" pitchFamily="2" charset="-122"/>
              </a:defRPr>
            </a:lvl2pPr>
            <a:lvl3pPr marL="1143000" indent="-228600">
              <a:defRPr b="1">
                <a:solidFill>
                  <a:schemeClr val="bg1"/>
                </a:solidFill>
                <a:latin typeface="黑体" panose="02010609060101010101" pitchFamily="49" charset="-122"/>
                <a:ea typeface="宋体" panose="02010600030101010101" pitchFamily="2" charset="-122"/>
              </a:defRPr>
            </a:lvl3pPr>
            <a:lvl4pPr marL="1600200" indent="-228600">
              <a:defRPr b="1">
                <a:solidFill>
                  <a:schemeClr val="bg1"/>
                </a:solidFill>
                <a:latin typeface="黑体" panose="02010609060101010101" pitchFamily="49" charset="-122"/>
                <a:ea typeface="宋体" panose="02010600030101010101" pitchFamily="2" charset="-122"/>
              </a:defRPr>
            </a:lvl4pPr>
            <a:lvl5pPr marL="2057400" indent="-228600">
              <a:defRPr b="1">
                <a:solidFill>
                  <a:schemeClr val="bg1"/>
                </a:solidFill>
                <a:latin typeface="黑体" panose="02010609060101010101" pitchFamily="49" charset="-122"/>
                <a:ea typeface="宋体" panose="02010600030101010101" pitchFamily="2" charset="-122"/>
              </a:defRPr>
            </a:lvl5pPr>
            <a:lvl6pPr marL="25146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6pPr>
            <a:lvl7pPr marL="29718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7pPr>
            <a:lvl8pPr marL="34290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8pPr>
            <a:lvl9pPr marL="3886200" indent="-228600" eaLnBrk="0" fontAlgn="base" hangingPunct="0">
              <a:spcBef>
                <a:spcPct val="0"/>
              </a:spcBef>
              <a:spcAft>
                <a:spcPct val="0"/>
              </a:spcAft>
              <a:defRPr b="1">
                <a:solidFill>
                  <a:schemeClr val="bg1"/>
                </a:solidFill>
                <a:latin typeface="黑体" panose="02010609060101010101" pitchFamily="49" charset="-122"/>
                <a:ea typeface="宋体" panose="02010600030101010101" pitchFamily="2" charset="-122"/>
              </a:defRPr>
            </a:lvl9pPr>
          </a:lstStyle>
          <a:p>
            <a:pPr algn="ctr" eaLnBrk="1" hangingPunct="1">
              <a:lnSpc>
                <a:spcPct val="120000"/>
              </a:lnSpc>
              <a:buFont typeface="Arial" panose="020B0604020202020204" pitchFamily="34" charset="0"/>
              <a:buNone/>
            </a:pPr>
            <a:r>
              <a:rPr lang="zh-CN" altLang="en-US" sz="4800" dirty="0">
                <a:latin typeface="方正兰亭中黑_GBK" panose="02000000000000000000" pitchFamily="2" charset="-122"/>
                <a:ea typeface="方正兰亭中黑_GBK" panose="02000000000000000000" pitchFamily="2" charset="-122"/>
              </a:rPr>
              <a:t>数据挖掘    </a:t>
            </a:r>
            <a:endParaRPr lang="en-US" altLang="zh-CN" sz="4800" dirty="0">
              <a:latin typeface="方正兰亭中黑_GBK" panose="02000000000000000000" pitchFamily="2" charset="-122"/>
              <a:ea typeface="方正兰亭中黑_GBK" panose="02000000000000000000" pitchFamily="2" charset="-122"/>
            </a:endParaRPr>
          </a:p>
          <a:p>
            <a:pPr algn="ctr" eaLnBrk="1" hangingPunct="1">
              <a:lnSpc>
                <a:spcPct val="120000"/>
              </a:lnSpc>
              <a:buFont typeface="Arial" panose="020B0604020202020204" pitchFamily="34" charset="0"/>
              <a:buNone/>
            </a:pPr>
            <a:r>
              <a:rPr lang="zh-CN" altLang="en-US" sz="4800" dirty="0">
                <a:latin typeface="方正兰亭中黑_GBK" panose="02000000000000000000" pitchFamily="2" charset="-122"/>
                <a:ea typeface="方正兰亭中黑_GBK" panose="02000000000000000000" pitchFamily="2" charset="-122"/>
              </a:rPr>
              <a:t>第六章：聚类</a:t>
            </a:r>
            <a:endParaRPr lang="zh-CN" altLang="en-US" sz="4800" dirty="0">
              <a:latin typeface="方正兰亭中黑_GBK" panose="02000000000000000000" pitchFamily="2" charset="-122"/>
              <a:ea typeface="方正兰亭中黑_GBK" panose="02000000000000000000" pitchFamily="2" charset="-122"/>
            </a:endParaRPr>
          </a:p>
        </p:txBody>
      </p:sp>
      <p:pic>
        <p:nvPicPr>
          <p:cNvPr id="6" name="图片 5"/>
          <p:cNvPicPr>
            <a:picLocks noChangeAspect="1"/>
          </p:cNvPicPr>
          <p:nvPr/>
        </p:nvPicPr>
        <p:blipFill>
          <a:blip r:embed="rId1" cstate="print">
            <a:duotone>
              <a:schemeClr val="accent5">
                <a:shade val="45000"/>
                <a:satMod val="135000"/>
              </a:schemeClr>
              <a:prstClr val="white"/>
            </a:duotone>
          </a:blip>
          <a:stretch>
            <a:fillRect/>
          </a:stretch>
        </p:blipFill>
        <p:spPr>
          <a:xfrm>
            <a:off x="179512" y="-24773"/>
            <a:ext cx="3724832" cy="1308467"/>
          </a:xfrm>
          <a:prstGeom prst="rect">
            <a:avLst/>
          </a:prstGeom>
        </p:spPr>
      </p:pic>
      <p:sp>
        <p:nvSpPr>
          <p:cNvPr id="4" name="文本框 3"/>
          <p:cNvSpPr txBox="1"/>
          <p:nvPr/>
        </p:nvSpPr>
        <p:spPr>
          <a:xfrm>
            <a:off x="4067810" y="3933190"/>
            <a:ext cx="1849120" cy="645160"/>
          </a:xfrm>
          <a:prstGeom prst="rect">
            <a:avLst/>
          </a:prstGeom>
          <a:noFill/>
        </p:spPr>
        <p:txBody>
          <a:bodyPr wrap="square" rtlCol="0">
            <a:spAutoFit/>
          </a:bodyPr>
          <a:p>
            <a:r>
              <a:rPr lang="zh-CN" altLang="en-US" sz="3600">
                <a:solidFill>
                  <a:srgbClr val="1557AE"/>
                </a:solidFill>
                <a:latin typeface="宋体" panose="02010600030101010101" pitchFamily="2" charset="-122"/>
              </a:rPr>
              <a:t>王海军</a:t>
            </a:r>
            <a:endParaRPr lang="zh-CN" altLang="en-US" sz="3600">
              <a:solidFill>
                <a:srgbClr val="1557AE"/>
              </a:solidFill>
              <a:latin typeface="宋体" panose="02010600030101010101" pitchFamily="2" charset="-122"/>
            </a:endParaRPr>
          </a:p>
        </p:txBody>
      </p:sp>
      <p:sp>
        <p:nvSpPr>
          <p:cNvPr id="5" name="文本框 4"/>
          <p:cNvSpPr txBox="1"/>
          <p:nvPr/>
        </p:nvSpPr>
        <p:spPr>
          <a:xfrm>
            <a:off x="1331595" y="4869180"/>
            <a:ext cx="6936740" cy="891540"/>
          </a:xfrm>
          <a:prstGeom prst="rect">
            <a:avLst/>
          </a:prstGeom>
          <a:noFill/>
        </p:spPr>
        <p:txBody>
          <a:bodyPr wrap="square" rtlCol="0" anchor="t">
            <a:spAutoFit/>
          </a:bodyPr>
          <a:p>
            <a:pPr algn="ctr"/>
            <a:r>
              <a:rPr lang="zh-CN" altLang="en-US" sz="2600" kern="0" dirty="0" err="1">
                <a:solidFill>
                  <a:srgbClr val="0070C0"/>
                </a:solidFill>
                <a:latin typeface="宋体" panose="02010600030101010101" pitchFamily="2" charset="-122"/>
                <a:cs typeface="Calibri" panose="020F0502020204030204" pitchFamily="34" charset="0"/>
                <a:sym typeface="+mn-ea"/>
              </a:rPr>
              <a:t>智能网络与网络安全教育部重点实验室</a:t>
            </a:r>
            <a:endParaRPr lang="zh-CN" altLang="en-US" sz="2600" kern="0" dirty="0" err="1">
              <a:solidFill>
                <a:srgbClr val="0070C0"/>
              </a:solidFill>
              <a:latin typeface="宋体" panose="02010600030101010101" pitchFamily="2" charset="-122"/>
              <a:cs typeface="Calibri" panose="020F0502020204030204" pitchFamily="34" charset="0"/>
              <a:sym typeface="+mn-ea"/>
            </a:endParaRPr>
          </a:p>
          <a:p>
            <a:pPr algn="ctr"/>
            <a:r>
              <a:rPr lang="zh-CN" altLang="en-US" sz="2600" kern="0" dirty="0" err="1">
                <a:solidFill>
                  <a:srgbClr val="0070C0"/>
                </a:solidFill>
                <a:latin typeface="宋体" panose="02010600030101010101" pitchFamily="2" charset="-122"/>
                <a:cs typeface="Calibri" panose="020F0502020204030204" pitchFamily="34" charset="0"/>
                <a:sym typeface="+mn-ea"/>
              </a:rPr>
              <a:t>西安交通大学网络空间安全学院</a:t>
            </a:r>
            <a:endParaRPr lang="zh-CN" altLang="en-US" sz="2600" kern="0" dirty="0" err="1">
              <a:solidFill>
                <a:srgbClr val="0070C0"/>
              </a:solidFill>
              <a:latin typeface="宋体" panose="02010600030101010101" pitchFamily="2" charset="-122"/>
              <a:cs typeface="Calibri" panose="020F0502020204030204" pitchFamily="3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12250"/>
    </mc:Choice>
    <mc:Fallback>
      <p:transition spd="slow" advTm="1225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646331"/>
          </a:xfrm>
          <a:prstGeom prst="rect">
            <a:avLst/>
          </a:prstGeom>
        </p:spPr>
        <p:txBody>
          <a:bodyPr wrap="square">
            <a:spAutoFit/>
          </a:bodyPr>
          <a:lstStyle/>
          <a:p>
            <a:pPr algn="ct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本章内容</a:t>
            </a:r>
            <a:endPar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6" name="内容占位符 2"/>
          <p:cNvSpPr txBox="1">
            <a:spLocks noChangeArrowheads="1"/>
          </p:cNvSpPr>
          <p:nvPr/>
        </p:nvSpPr>
        <p:spPr>
          <a:xfrm>
            <a:off x="611560" y="1094492"/>
            <a:ext cx="8137525" cy="29825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20000"/>
              </a:lnSpc>
              <a:spcBef>
                <a:spcPts val="600"/>
              </a:spcBef>
              <a:buFont typeface="Wingdings" panose="05000000000000000000" pitchFamily="2" charset="2"/>
              <a:buNone/>
            </a:pPr>
            <a:r>
              <a:rPr lang="en-US" altLang="zh-CN" sz="2800" b="0" kern="0" dirty="0">
                <a:solidFill>
                  <a:srgbClr val="FF0000"/>
                </a:solidFill>
                <a:latin typeface="Times New Roman" panose="02020603050405020304" pitchFamily="18" charset="0"/>
                <a:cs typeface="Times New Roman" panose="02020603050405020304" pitchFamily="18" charset="0"/>
              </a:rPr>
              <a:t>6.1  </a:t>
            </a:r>
            <a:r>
              <a:rPr lang="zh-CN" altLang="zh-CN" sz="2800" b="0" kern="0" dirty="0">
                <a:solidFill>
                  <a:srgbClr val="FF0000"/>
                </a:solidFill>
                <a:latin typeface="方正兰亭中黑_GBK" panose="02000000000000000000" pitchFamily="2" charset="-122"/>
                <a:ea typeface="方正兰亭中黑_GBK" panose="02000000000000000000" pitchFamily="2" charset="-122"/>
                <a:cs typeface="Times New Roman" panose="02020603050405020304" pitchFamily="18" charset="0"/>
              </a:rPr>
              <a:t>什么是聚类分析</a:t>
            </a:r>
            <a:endParaRPr lang="zh-CN" altLang="zh-CN" sz="2800" b="0" kern="0" dirty="0">
              <a:solidFill>
                <a:srgbClr val="FF000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6.2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聚类分析中的数据类型</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6.3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划分方法</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6.4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层次方法</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6.5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基于密度的方法</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p:txBody>
      </p:sp>
      <p:sp>
        <p:nvSpPr>
          <p:cNvPr id="8" name="圆角矩形 3"/>
          <p:cNvSpPr/>
          <p:nvPr/>
        </p:nvSpPr>
        <p:spPr bwMode="auto">
          <a:xfrm>
            <a:off x="395511" y="4437112"/>
            <a:ext cx="8208962" cy="1512887"/>
          </a:xfrm>
          <a:prstGeom prst="roundRect">
            <a:avLst/>
          </a:prstGeom>
          <a:solidFill>
            <a:srgbClr val="FFFFE7"/>
          </a:solidFill>
          <a:ln w="25400" cap="flat" cmpd="sng" algn="ctr">
            <a:solidFill>
              <a:srgbClr val="FF9933"/>
            </a:solidFill>
            <a:prstDash val="solid"/>
            <a:round/>
            <a:headEnd type="none" w="med" len="med"/>
            <a:tailEnd type="triangle" w="lg" len="lg"/>
          </a:ln>
          <a:effectLst>
            <a:outerShdw blurRad="50800" dist="38100" dir="2700000" algn="tl" rotWithShape="0">
              <a:prstClr val="black">
                <a:alpha val="40000"/>
              </a:prstClr>
            </a:outerShdw>
          </a:effectLst>
        </p:spPr>
        <p:txBody>
          <a:bodyPr tIns="72000" bIns="108000"/>
          <a:lstStyle/>
          <a:p>
            <a:pPr>
              <a:lnSpc>
                <a:spcPct val="130000"/>
              </a:lnSpc>
              <a:spcBef>
                <a:spcPts val="600"/>
              </a:spcBef>
              <a:spcAft>
                <a:spcPts val="600"/>
              </a:spcAft>
              <a:buClr>
                <a:srgbClr val="CC0000"/>
              </a:buClr>
              <a:defRPr/>
            </a:pPr>
            <a:r>
              <a:rPr lang="zh-CN" altLang="en-US" sz="2800" b="0" dirty="0">
                <a:solidFill>
                  <a:srgbClr val="C00000"/>
                </a:solidFill>
                <a:effectLst>
                  <a:outerShdw blurRad="38100" dist="38100" dir="2700000" algn="tl">
                    <a:srgbClr val="000000"/>
                  </a:outerShdw>
                </a:effectLst>
                <a:latin typeface="Times New Roman" panose="02020603050405020304" pitchFamily="18" charset="0"/>
                <a:ea typeface="黑体" panose="02010609060101010101" pitchFamily="49" charset="-122"/>
              </a:rPr>
              <a:t>基本要求</a:t>
            </a:r>
            <a:r>
              <a:rPr lang="zh-CN" altLang="en-US" sz="2800" b="0" dirty="0">
                <a:solidFill>
                  <a:srgbClr val="0070C0"/>
                </a:solidFill>
                <a:latin typeface="方正兰亭中黑_GBK" panose="02000000000000000000" pitchFamily="2" charset="-122"/>
                <a:ea typeface="方正兰亭中黑_GBK" panose="02000000000000000000" pitchFamily="2" charset="-122"/>
              </a:rPr>
              <a:t>：</a:t>
            </a:r>
            <a:r>
              <a:rPr lang="zh-CN" altLang="zh-CN" sz="2800" b="0" dirty="0">
                <a:solidFill>
                  <a:srgbClr val="0070C0"/>
                </a:solidFill>
                <a:latin typeface="方正兰亭中黑_GBK" panose="02000000000000000000" pitchFamily="2" charset="-122"/>
                <a:ea typeface="方正兰亭中黑_GBK" panose="02000000000000000000" pitchFamily="2" charset="-122"/>
              </a:rPr>
              <a:t>掌握聚类的</a:t>
            </a:r>
            <a:r>
              <a:rPr lang="zh-CN" altLang="zh-CN" sz="2800" b="0" dirty="0">
                <a:solidFill>
                  <a:srgbClr val="C00000"/>
                </a:solidFill>
                <a:latin typeface="黑体" panose="02010609060101010101" pitchFamily="49" charset="-122"/>
                <a:ea typeface="黑体" panose="02010609060101010101" pitchFamily="49" charset="-122"/>
              </a:rPr>
              <a:t>定义</a:t>
            </a:r>
            <a:r>
              <a:rPr lang="zh-CN" altLang="zh-CN" sz="2800" b="0" dirty="0">
                <a:solidFill>
                  <a:srgbClr val="0070C0"/>
                </a:solidFill>
                <a:latin typeface="方正兰亭中黑_GBK" panose="02000000000000000000" pitchFamily="2" charset="-122"/>
                <a:ea typeface="方正兰亭中黑_GBK" panose="02000000000000000000" pitchFamily="2" charset="-122"/>
              </a:rPr>
              <a:t>、</a:t>
            </a:r>
            <a:r>
              <a:rPr lang="zh-CN" altLang="zh-CN" sz="2800" b="0" dirty="0">
                <a:solidFill>
                  <a:srgbClr val="C00000"/>
                </a:solidFill>
                <a:latin typeface="黑体" panose="02010609060101010101" pitchFamily="49" charset="-122"/>
                <a:ea typeface="黑体" panose="02010609060101010101" pitchFamily="49" charset="-122"/>
              </a:rPr>
              <a:t>相似度</a:t>
            </a:r>
            <a:r>
              <a:rPr lang="zh-CN" altLang="zh-CN" sz="2800" b="0" dirty="0">
                <a:solidFill>
                  <a:srgbClr val="0070C0"/>
                </a:solidFill>
                <a:latin typeface="方正兰亭中黑_GBK" panose="02000000000000000000" pitchFamily="2" charset="-122"/>
                <a:ea typeface="方正兰亭中黑_GBK" panose="02000000000000000000" pitchFamily="2" charset="-122"/>
              </a:rPr>
              <a:t>的量化方法问题，掌握</a:t>
            </a:r>
            <a:r>
              <a:rPr lang="zh-CN" altLang="en-US" sz="2800" b="0" dirty="0">
                <a:solidFill>
                  <a:srgbClr val="0070C0"/>
                </a:solidFill>
                <a:latin typeface="方正兰亭中黑_GBK" panose="02000000000000000000" pitchFamily="2" charset="-122"/>
                <a:ea typeface="方正兰亭中黑_GBK" panose="02000000000000000000" pitchFamily="2" charset="-122"/>
              </a:rPr>
              <a:t>基于</a:t>
            </a:r>
            <a:r>
              <a:rPr lang="zh-CN" altLang="zh-CN" sz="2800" b="0" dirty="0">
                <a:solidFill>
                  <a:srgbClr val="C00000"/>
                </a:solidFill>
                <a:latin typeface="黑体" panose="02010609060101010101" pitchFamily="49" charset="-122"/>
                <a:ea typeface="黑体" panose="02010609060101010101" pitchFamily="49" charset="-122"/>
              </a:rPr>
              <a:t>划分</a:t>
            </a:r>
            <a:r>
              <a:rPr lang="zh-CN" altLang="zh-CN" sz="2800" b="0" dirty="0">
                <a:solidFill>
                  <a:srgbClr val="0070C0"/>
                </a:solidFill>
                <a:latin typeface="方正兰亭中黑_GBK" panose="02000000000000000000" pitchFamily="2" charset="-122"/>
                <a:ea typeface="方正兰亭中黑_GBK" panose="02000000000000000000" pitchFamily="2" charset="-122"/>
              </a:rPr>
              <a:t>、</a:t>
            </a:r>
            <a:r>
              <a:rPr lang="zh-CN" altLang="zh-CN" sz="2800" b="0" dirty="0">
                <a:solidFill>
                  <a:srgbClr val="C00000"/>
                </a:solidFill>
                <a:latin typeface="黑体" panose="02010609060101010101" pitchFamily="49" charset="-122"/>
                <a:ea typeface="黑体" panose="02010609060101010101" pitchFamily="49" charset="-122"/>
              </a:rPr>
              <a:t>层次</a:t>
            </a:r>
            <a:r>
              <a:rPr lang="zh-CN" altLang="zh-CN" sz="2800" b="0" dirty="0">
                <a:solidFill>
                  <a:srgbClr val="0070C0"/>
                </a:solidFill>
                <a:latin typeface="方正兰亭中黑_GBK" panose="02000000000000000000" pitchFamily="2" charset="-122"/>
                <a:ea typeface="方正兰亭中黑_GBK" panose="02000000000000000000" pitchFamily="2" charset="-122"/>
              </a:rPr>
              <a:t>、</a:t>
            </a:r>
            <a:r>
              <a:rPr lang="zh-CN" altLang="zh-CN" sz="2800" b="0" dirty="0">
                <a:solidFill>
                  <a:srgbClr val="C00000"/>
                </a:solidFill>
                <a:latin typeface="黑体" panose="02010609060101010101" pitchFamily="49" charset="-122"/>
                <a:ea typeface="黑体" panose="02010609060101010101" pitchFamily="49" charset="-122"/>
              </a:rPr>
              <a:t>密度</a:t>
            </a:r>
            <a:r>
              <a:rPr lang="zh-CN" altLang="en-US" sz="2800" b="0" dirty="0">
                <a:solidFill>
                  <a:srgbClr val="0070C0"/>
                </a:solidFill>
                <a:latin typeface="方正兰亭中黑_GBK" panose="02000000000000000000" pitchFamily="2" charset="-122"/>
                <a:ea typeface="方正兰亭中黑_GBK" panose="02000000000000000000" pitchFamily="2" charset="-122"/>
              </a:rPr>
              <a:t>等</a:t>
            </a:r>
            <a:r>
              <a:rPr lang="zh-CN" altLang="zh-CN" sz="2800" b="0" dirty="0">
                <a:solidFill>
                  <a:srgbClr val="0070C0"/>
                </a:solidFill>
                <a:latin typeface="方正兰亭中黑_GBK" panose="02000000000000000000" pitchFamily="2" charset="-122"/>
                <a:ea typeface="方正兰亭中黑_GBK" panose="02000000000000000000" pitchFamily="2" charset="-122"/>
              </a:rPr>
              <a:t>典型聚类算法</a:t>
            </a:r>
            <a:endParaRPr lang="zh-CN" altLang="zh-CN" sz="2800" b="0" dirty="0">
              <a:solidFill>
                <a:srgbClr val="0070C0"/>
              </a:solidFill>
              <a:latin typeface="方正兰亭中黑_GBK" panose="02000000000000000000" pitchFamily="2" charset="-122"/>
              <a:ea typeface="方正兰亭中黑_GBK"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6.1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什么是聚类分析（</a:t>
            </a:r>
            <a:r>
              <a:rPr lang="en-US" altLang="zh-CN" sz="3600" b="0" kern="0" dirty="0" err="1">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Clusting</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analysis</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a:t>
            </a:r>
            <a:endPar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4" name="Rectangle 3"/>
          <p:cNvSpPr txBox="1">
            <a:spLocks noChangeArrowheads="1"/>
          </p:cNvSpPr>
          <p:nvPr/>
        </p:nvSpPr>
        <p:spPr>
          <a:xfrm>
            <a:off x="307152" y="980728"/>
            <a:ext cx="8686800" cy="5068887"/>
          </a:xfrm>
          <a:prstGeom prst="rect">
            <a:avLst/>
          </a:prstGeom>
        </p:spPr>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30000"/>
              </a:lnSpc>
              <a:buFont typeface="Wingdings" panose="05000000000000000000" pitchFamily="2" charset="2"/>
              <a:buChar char="n"/>
              <a:defRPr/>
            </a:pPr>
            <a:r>
              <a:rPr lang="zh-CN" altLang="en-US" sz="2800" b="0" kern="0" dirty="0">
                <a:solidFill>
                  <a:srgbClr val="FF0000"/>
                </a:solidFill>
                <a:latin typeface="方正兰亭中黑_GBK" panose="02000000000000000000" pitchFamily="2" charset="-122"/>
                <a:ea typeface="方正兰亭中黑_GBK" panose="02000000000000000000" pitchFamily="2" charset="-122"/>
                <a:cs typeface="Times New Roman" panose="02020603050405020304" pitchFamily="18" charset="0"/>
              </a:rPr>
              <a:t>聚类分析（简称聚类）</a:t>
            </a:r>
            <a:r>
              <a:rPr lang="zh-CN" altLang="en-US" sz="28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：把一个数据对象划分为子集的过程。每个子集称为一个簇（</a:t>
            </a:r>
            <a:r>
              <a:rPr lang="en-US" altLang="zh-CN" sz="28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cluster</a:t>
            </a:r>
            <a:r>
              <a:rPr lang="zh-CN" altLang="en-US" sz="28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a:t>
            </a:r>
            <a:r>
              <a:rPr lang="en-US" altLang="zh-CN" sz="28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a:t>
            </a:r>
            <a:endParaRPr lang="en-US" altLang="zh-CN" sz="28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endParaRPr>
          </a:p>
          <a:p>
            <a:pPr lvl="1" eaLnBrk="1" hangingPunct="1">
              <a:lnSpc>
                <a:spcPct val="130000"/>
              </a:lnSpc>
              <a:buFont typeface="Wingdings" panose="05000000000000000000" pitchFamily="2" charset="2"/>
              <a:buChar char="ü"/>
              <a:defRPr/>
            </a:pPr>
            <a:r>
              <a:rPr lang="zh-CN" altLang="en-US" sz="24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同一簇中的数据对象尽可能相似</a:t>
            </a:r>
            <a:endParaRPr lang="en-US" altLang="zh-CN" sz="24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endParaRPr>
          </a:p>
          <a:p>
            <a:pPr lvl="1" eaLnBrk="1" hangingPunct="1">
              <a:lnSpc>
                <a:spcPct val="130000"/>
              </a:lnSpc>
              <a:buFont typeface="Wingdings" panose="05000000000000000000" pitchFamily="2" charset="2"/>
              <a:buChar char="ü"/>
              <a:defRPr/>
            </a:pPr>
            <a:r>
              <a:rPr lang="zh-CN" altLang="en-US" sz="24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不同簇中的数据对象尽可能不相似</a:t>
            </a:r>
            <a:endParaRPr lang="en-US" altLang="zh-CN" sz="24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endParaRPr>
          </a:p>
          <a:p>
            <a:pPr lvl="1" eaLnBrk="1" hangingPunct="1">
              <a:lnSpc>
                <a:spcPct val="130000"/>
              </a:lnSpc>
              <a:buFont typeface="Wingdings" panose="05000000000000000000" pitchFamily="2" charset="2"/>
              <a:buChar char="ü"/>
              <a:defRPr/>
            </a:pPr>
            <a:r>
              <a:rPr lang="zh-CN" altLang="en-US" sz="24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社团分析</a:t>
            </a:r>
            <a:endParaRPr lang="en-US" altLang="zh-CN" sz="24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endParaRPr>
          </a:p>
          <a:p>
            <a:pPr marL="450850" indent="-450850">
              <a:lnSpc>
                <a:spcPct val="130000"/>
              </a:lnSpc>
              <a:spcBef>
                <a:spcPts val="1200"/>
              </a:spcBef>
              <a:buFont typeface="Wingdings" panose="05000000000000000000" pitchFamily="2" charset="2"/>
              <a:buChar char="n"/>
              <a:defRPr/>
            </a:pPr>
            <a:r>
              <a:rPr lang="zh-CN" altLang="en-US" sz="2800" b="0" kern="0" dirty="0">
                <a:solidFill>
                  <a:srgbClr val="FF0000"/>
                </a:solidFill>
                <a:latin typeface="方正兰亭中黑_GBK" panose="02000000000000000000" pitchFamily="2" charset="-122"/>
                <a:ea typeface="方正兰亭中黑_GBK" panose="02000000000000000000" pitchFamily="2" charset="-122"/>
                <a:cs typeface="Times New Roman" panose="02020603050405020304" pitchFamily="18" charset="0"/>
              </a:rPr>
              <a:t>无监督学习（</a:t>
            </a:r>
            <a:r>
              <a:rPr lang="en-US" altLang="zh-CN" sz="2800" b="0" kern="0" dirty="0">
                <a:solidFill>
                  <a:srgbClr val="FF0000"/>
                </a:solidFill>
                <a:latin typeface="Calibri" panose="020F0502020204030204" pitchFamily="34" charset="0"/>
                <a:ea typeface="方正兰亭中黑_GBK" panose="02000000000000000000" pitchFamily="2" charset="-122"/>
                <a:cs typeface="Calibri" panose="020F0502020204030204" pitchFamily="34" charset="0"/>
              </a:rPr>
              <a:t>unsupervised learning</a:t>
            </a:r>
            <a:r>
              <a:rPr lang="zh-CN" altLang="en-US" sz="2800" b="0" kern="0" dirty="0">
                <a:solidFill>
                  <a:srgbClr val="FF0000"/>
                </a:solidFill>
                <a:latin typeface="方正兰亭中黑_GBK" panose="02000000000000000000" pitchFamily="2" charset="-122"/>
                <a:ea typeface="方正兰亭中黑_GBK" panose="02000000000000000000" pitchFamily="2" charset="-122"/>
                <a:cs typeface="Times New Roman" panose="02020603050405020304" pitchFamily="18" charset="0"/>
              </a:rPr>
              <a:t>）</a:t>
            </a:r>
            <a:endParaRPr lang="en-US" altLang="zh-CN" sz="2800" b="0" kern="0" dirty="0">
              <a:solidFill>
                <a:srgbClr val="FF000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lvl="1" eaLnBrk="1" hangingPunct="1">
              <a:lnSpc>
                <a:spcPct val="130000"/>
              </a:lnSpc>
              <a:buFont typeface="Wingdings" panose="05000000000000000000" pitchFamily="2" charset="2"/>
              <a:buChar char="ü"/>
              <a:defRPr/>
            </a:pPr>
            <a:r>
              <a:rPr lang="zh-CN" altLang="en-US" sz="24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未指定类标签</a:t>
            </a:r>
            <a:endParaRPr lang="en-US" altLang="zh-CN" sz="24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endParaRPr>
          </a:p>
          <a:p>
            <a:pPr lvl="1" eaLnBrk="1" hangingPunct="1">
              <a:lnSpc>
                <a:spcPct val="130000"/>
              </a:lnSpc>
              <a:buFont typeface="Wingdings" panose="05000000000000000000" pitchFamily="2" charset="2"/>
              <a:buChar char="ü"/>
              <a:defRPr/>
            </a:pPr>
            <a:r>
              <a:rPr lang="zh-CN" altLang="en-US" sz="24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不是通过样本学习</a:t>
            </a:r>
            <a:endParaRPr lang="en-US" altLang="zh-CN" sz="24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endParaRPr>
          </a:p>
          <a:p>
            <a:pPr lvl="1" eaLnBrk="1" hangingPunct="1">
              <a:lnSpc>
                <a:spcPct val="130000"/>
              </a:lnSpc>
              <a:buFont typeface="Wingdings" panose="05000000000000000000" pitchFamily="2" charset="2"/>
              <a:buChar char="ü"/>
              <a:defRPr/>
            </a:pPr>
            <a:r>
              <a:rPr lang="zh-CN" altLang="en-US" sz="24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簇的数目也是未知的</a:t>
            </a:r>
            <a:endParaRPr lang="en-US" altLang="zh-CN" sz="24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6.1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什么是聚类分析</a:t>
            </a:r>
            <a:endPar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5" name="Rectangle 6"/>
          <p:cNvSpPr txBox="1">
            <a:spLocks noChangeArrowheads="1"/>
          </p:cNvSpPr>
          <p:nvPr/>
        </p:nvSpPr>
        <p:spPr bwMode="auto">
          <a:xfrm>
            <a:off x="659656" y="1268760"/>
            <a:ext cx="8280400"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0850" indent="-450850" eaLnBrk="0" hangingPunct="0">
              <a:defRPr b="1">
                <a:solidFill>
                  <a:schemeClr val="tx1"/>
                </a:solidFill>
                <a:latin typeface="Verdana" panose="020B0604030504040204" pitchFamily="34" charset="0"/>
                <a:ea typeface="宋体" panose="02010600030101010101" pitchFamily="2" charset="-122"/>
              </a:defRPr>
            </a:lvl1pPr>
            <a:lvl2pPr marL="669925" indent="-325755"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nSpc>
                <a:spcPct val="130000"/>
              </a:lnSpc>
              <a:spcBef>
                <a:spcPct val="20000"/>
              </a:spcBef>
              <a:spcAft>
                <a:spcPts val="600"/>
              </a:spcAft>
              <a:buClr>
                <a:schemeClr val="accent2"/>
              </a:buClr>
              <a:buFont typeface="Wingdings" panose="05000000000000000000" pitchFamily="2" charset="2"/>
              <a:buChar char="n"/>
              <a:defRPr/>
            </a:pPr>
            <a:r>
              <a:rPr lang="en-US" altLang="zh-CN" sz="2800"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Hard Clustering </a:t>
            </a:r>
            <a:r>
              <a:rPr lang="en-US" altLang="zh-CN" sz="2800" dirty="0">
                <a:solidFill>
                  <a:srgbClr val="C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 </a:t>
            </a:r>
            <a:r>
              <a:rPr lang="zh-CN" altLang="en-US" sz="2800" b="0" dirty="0">
                <a:solidFill>
                  <a:srgbClr val="0070C0"/>
                </a:solidFill>
                <a:effectLst>
                  <a:outerShdw blurRad="38100" dist="38100" dir="2700000" algn="tl">
                    <a:srgbClr val="C0C0C0"/>
                  </a:outerShdw>
                </a:effectLst>
                <a:latin typeface="方正兰亭中黑_GBK" panose="02000000000000000000" pitchFamily="2" charset="-122"/>
                <a:ea typeface="方正兰亭中黑_GBK" panose="02000000000000000000" pitchFamily="2" charset="-122"/>
              </a:rPr>
              <a:t>每个数据对象仅属于一个簇</a:t>
            </a:r>
            <a:endParaRPr lang="en-US" altLang="zh-CN" sz="2800" b="0" dirty="0">
              <a:solidFill>
                <a:srgbClr val="0070C0"/>
              </a:solidFill>
              <a:effectLst>
                <a:outerShdw blurRad="38100" dist="38100" dir="2700000" algn="tl">
                  <a:srgbClr val="C0C0C0"/>
                </a:outerShdw>
              </a:effectLst>
              <a:latin typeface="方正兰亭中黑_GBK" panose="02000000000000000000" pitchFamily="2" charset="-122"/>
              <a:ea typeface="方正兰亭中黑_GBK" panose="02000000000000000000" pitchFamily="2" charset="-122"/>
            </a:endParaRPr>
          </a:p>
          <a:p>
            <a:pPr>
              <a:lnSpc>
                <a:spcPct val="130000"/>
              </a:lnSpc>
              <a:spcBef>
                <a:spcPct val="20000"/>
              </a:spcBef>
              <a:buClr>
                <a:schemeClr val="accent2"/>
              </a:buClr>
              <a:buFont typeface="Wingdings" panose="05000000000000000000" pitchFamily="2" charset="2"/>
              <a:buNone/>
              <a:defRPr/>
            </a:pPr>
            <a:endParaRPr lang="en-US" altLang="zh-CN" sz="3200" b="0" dirty="0">
              <a:latin typeface="Palatino Linotype" panose="02040502050505030304" pitchFamily="18" charset="0"/>
              <a:ea typeface="黑体" panose="02010609060101010101" pitchFamily="49" charset="-122"/>
            </a:endParaRPr>
          </a:p>
          <a:p>
            <a:pPr marL="344170" lvl="1" indent="0" eaLnBrk="1" hangingPunct="1">
              <a:spcBef>
                <a:spcPct val="20000"/>
              </a:spcBef>
              <a:buClr>
                <a:schemeClr val="accent2"/>
              </a:buClr>
              <a:defRPr/>
            </a:pPr>
            <a:endParaRPr lang="en-US" altLang="zh-CN" sz="3200" u="sng" dirty="0">
              <a:ea typeface="黑体" panose="02010609060101010101" pitchFamily="49" charset="-122"/>
            </a:endParaRPr>
          </a:p>
          <a:p>
            <a:pPr marL="450850" lvl="1" indent="-450850">
              <a:lnSpc>
                <a:spcPct val="130000"/>
              </a:lnSpc>
              <a:spcBef>
                <a:spcPct val="20000"/>
              </a:spcBef>
              <a:spcAft>
                <a:spcPts val="600"/>
              </a:spcAft>
              <a:buClr>
                <a:schemeClr val="accent2"/>
              </a:buClr>
              <a:buFont typeface="Wingdings" panose="05000000000000000000" pitchFamily="2" charset="2"/>
              <a:buChar char="n"/>
              <a:defRPr/>
            </a:pPr>
            <a:r>
              <a:rPr lang="en-US" altLang="zh-CN" sz="2800"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Soft Clustering </a:t>
            </a:r>
            <a:r>
              <a:rPr lang="en-US" altLang="zh-CN" sz="2800" dirty="0">
                <a:solidFill>
                  <a:srgbClr val="C00000"/>
                </a:solidFill>
                <a:effectLst>
                  <a:outerShdw blurRad="38100" dist="38100" dir="2700000" algn="tl">
                    <a:srgbClr val="C0C0C0"/>
                  </a:outerShdw>
                </a:effectLst>
                <a:latin typeface="Times New Roman" panose="02020603050405020304" pitchFamily="18" charset="0"/>
                <a:ea typeface="黑体" panose="02010609060101010101" pitchFamily="49" charset="-122"/>
              </a:rPr>
              <a:t>–  </a:t>
            </a:r>
            <a:r>
              <a:rPr lang="zh-CN" altLang="en-US" sz="2800" b="0" dirty="0">
                <a:solidFill>
                  <a:srgbClr val="0070C0"/>
                </a:solidFill>
                <a:effectLst>
                  <a:outerShdw blurRad="38100" dist="38100" dir="2700000" algn="tl">
                    <a:srgbClr val="C0C0C0"/>
                  </a:outerShdw>
                </a:effectLst>
                <a:latin typeface="方正兰亭中黑_GBK" panose="02000000000000000000" pitchFamily="2" charset="-122"/>
                <a:ea typeface="方正兰亭中黑_GBK" panose="02000000000000000000" pitchFamily="2" charset="-122"/>
              </a:rPr>
              <a:t>每个数据对象可能属于多个簇</a:t>
            </a:r>
            <a:endParaRPr lang="en-US" altLang="zh-CN" sz="2800" b="0" dirty="0">
              <a:solidFill>
                <a:srgbClr val="0070C0"/>
              </a:solidFill>
              <a:effectLst>
                <a:outerShdw blurRad="38100" dist="38100" dir="2700000" algn="tl">
                  <a:srgbClr val="C0C0C0"/>
                </a:outerShdw>
              </a:effectLst>
              <a:latin typeface="方正兰亭中黑_GBK" panose="02000000000000000000" pitchFamily="2" charset="-122"/>
              <a:ea typeface="方正兰亭中黑_GBK" panose="02000000000000000000" pitchFamily="2" charset="-122"/>
            </a:endParaRPr>
          </a:p>
          <a:p>
            <a:pPr marL="344170" lvl="1" indent="0">
              <a:lnSpc>
                <a:spcPct val="130000"/>
              </a:lnSpc>
              <a:spcBef>
                <a:spcPct val="20000"/>
              </a:spcBef>
              <a:buClr>
                <a:schemeClr val="accent2"/>
              </a:buClr>
              <a:defRPr/>
            </a:pPr>
            <a:endParaRPr lang="en-US" altLang="zh-CN" sz="2800" dirty="0">
              <a:solidFill>
                <a:srgbClr val="C00000"/>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sp>
        <p:nvSpPr>
          <p:cNvPr id="6" name="Oval 2"/>
          <p:cNvSpPr>
            <a:spLocks noChangeArrowheads="1"/>
          </p:cNvSpPr>
          <p:nvPr/>
        </p:nvSpPr>
        <p:spPr bwMode="auto">
          <a:xfrm>
            <a:off x="5409456" y="2573288"/>
            <a:ext cx="1219200" cy="685800"/>
          </a:xfrm>
          <a:prstGeom prst="ellipse">
            <a:avLst/>
          </a:prstGeom>
          <a:solidFill>
            <a:srgbClr val="FFFFFF"/>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7" name="Oval 3"/>
          <p:cNvSpPr>
            <a:spLocks noChangeArrowheads="1"/>
          </p:cNvSpPr>
          <p:nvPr/>
        </p:nvSpPr>
        <p:spPr bwMode="auto">
          <a:xfrm>
            <a:off x="6247656" y="2039888"/>
            <a:ext cx="838200" cy="609600"/>
          </a:xfrm>
          <a:prstGeom prst="ellipse">
            <a:avLst/>
          </a:prstGeom>
          <a:solidFill>
            <a:srgbClr val="FFFFFF"/>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8" name="Oval 4"/>
          <p:cNvSpPr>
            <a:spLocks noChangeArrowheads="1"/>
          </p:cNvSpPr>
          <p:nvPr/>
        </p:nvSpPr>
        <p:spPr bwMode="auto">
          <a:xfrm>
            <a:off x="5104656" y="2116088"/>
            <a:ext cx="990600" cy="457200"/>
          </a:xfrm>
          <a:prstGeom prst="ellipse">
            <a:avLst/>
          </a:prstGeom>
          <a:solidFill>
            <a:srgbClr val="FFFFFF"/>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9" name="Oval 7"/>
          <p:cNvSpPr>
            <a:spLocks noChangeArrowheads="1"/>
          </p:cNvSpPr>
          <p:nvPr/>
        </p:nvSpPr>
        <p:spPr bwMode="auto">
          <a:xfrm>
            <a:off x="1980456" y="22684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0" name="Oval 8"/>
          <p:cNvSpPr>
            <a:spLocks noChangeArrowheads="1"/>
          </p:cNvSpPr>
          <p:nvPr/>
        </p:nvSpPr>
        <p:spPr bwMode="auto">
          <a:xfrm>
            <a:off x="2209056" y="27256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1" name="Oval 9"/>
          <p:cNvSpPr>
            <a:spLocks noChangeArrowheads="1"/>
          </p:cNvSpPr>
          <p:nvPr/>
        </p:nvSpPr>
        <p:spPr bwMode="auto">
          <a:xfrm>
            <a:off x="3275856" y="24208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2" name="Oval 10"/>
          <p:cNvSpPr>
            <a:spLocks noChangeArrowheads="1"/>
          </p:cNvSpPr>
          <p:nvPr/>
        </p:nvSpPr>
        <p:spPr bwMode="auto">
          <a:xfrm>
            <a:off x="2361456" y="23446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3" name="Oval 11"/>
          <p:cNvSpPr>
            <a:spLocks noChangeArrowheads="1"/>
          </p:cNvSpPr>
          <p:nvPr/>
        </p:nvSpPr>
        <p:spPr bwMode="auto">
          <a:xfrm>
            <a:off x="2590056" y="29542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4" name="Oval 12"/>
          <p:cNvSpPr>
            <a:spLocks noChangeArrowheads="1"/>
          </p:cNvSpPr>
          <p:nvPr/>
        </p:nvSpPr>
        <p:spPr bwMode="auto">
          <a:xfrm>
            <a:off x="2971056" y="28780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5" name="Oval 13"/>
          <p:cNvSpPr>
            <a:spLocks noChangeArrowheads="1"/>
          </p:cNvSpPr>
          <p:nvPr/>
        </p:nvSpPr>
        <p:spPr bwMode="auto">
          <a:xfrm>
            <a:off x="2894856" y="22684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7" name="Oval 14"/>
          <p:cNvSpPr>
            <a:spLocks noChangeArrowheads="1"/>
          </p:cNvSpPr>
          <p:nvPr/>
        </p:nvSpPr>
        <p:spPr bwMode="auto">
          <a:xfrm>
            <a:off x="5257056" y="21922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8" name="Oval 15"/>
          <p:cNvSpPr>
            <a:spLocks noChangeArrowheads="1"/>
          </p:cNvSpPr>
          <p:nvPr/>
        </p:nvSpPr>
        <p:spPr bwMode="auto">
          <a:xfrm>
            <a:off x="5638056" y="22684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9" name="Oval 16"/>
          <p:cNvSpPr>
            <a:spLocks noChangeArrowheads="1"/>
          </p:cNvSpPr>
          <p:nvPr/>
        </p:nvSpPr>
        <p:spPr bwMode="auto">
          <a:xfrm>
            <a:off x="5561856" y="27256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0" name="Oval 17"/>
          <p:cNvSpPr>
            <a:spLocks noChangeArrowheads="1"/>
          </p:cNvSpPr>
          <p:nvPr/>
        </p:nvSpPr>
        <p:spPr bwMode="auto">
          <a:xfrm>
            <a:off x="6704856" y="22684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1" name="Oval 18"/>
          <p:cNvSpPr>
            <a:spLocks noChangeArrowheads="1"/>
          </p:cNvSpPr>
          <p:nvPr/>
        </p:nvSpPr>
        <p:spPr bwMode="auto">
          <a:xfrm>
            <a:off x="5866656" y="28780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2" name="Oval 19"/>
          <p:cNvSpPr>
            <a:spLocks noChangeArrowheads="1"/>
          </p:cNvSpPr>
          <p:nvPr/>
        </p:nvSpPr>
        <p:spPr bwMode="auto">
          <a:xfrm>
            <a:off x="6247656" y="27256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3" name="Oval 20"/>
          <p:cNvSpPr>
            <a:spLocks noChangeArrowheads="1"/>
          </p:cNvSpPr>
          <p:nvPr/>
        </p:nvSpPr>
        <p:spPr bwMode="auto">
          <a:xfrm>
            <a:off x="6323856" y="21160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dirty="0"/>
          </a:p>
        </p:txBody>
      </p:sp>
      <p:sp>
        <p:nvSpPr>
          <p:cNvPr id="24" name="Line 21"/>
          <p:cNvSpPr>
            <a:spLocks noChangeShapeType="1"/>
          </p:cNvSpPr>
          <p:nvPr/>
        </p:nvSpPr>
        <p:spPr bwMode="auto">
          <a:xfrm>
            <a:off x="3961656" y="2725688"/>
            <a:ext cx="838200" cy="1588"/>
          </a:xfrm>
          <a:prstGeom prst="line">
            <a:avLst/>
          </a:prstGeom>
          <a:noFill/>
          <a:ln w="19050">
            <a:solidFill>
              <a:schemeClr val="tx1"/>
            </a:solidFill>
            <a:round/>
            <a:tailEnd type="stealth" w="lg"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Oval 22"/>
          <p:cNvSpPr>
            <a:spLocks noChangeArrowheads="1"/>
          </p:cNvSpPr>
          <p:nvPr/>
        </p:nvSpPr>
        <p:spPr bwMode="auto">
          <a:xfrm>
            <a:off x="5517406" y="4770388"/>
            <a:ext cx="1219200" cy="685800"/>
          </a:xfrm>
          <a:prstGeom prst="ellipse">
            <a:avLst/>
          </a:prstGeom>
          <a:solidFill>
            <a:srgbClr val="FFFFFF"/>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6" name="Oval 23"/>
          <p:cNvSpPr>
            <a:spLocks noChangeArrowheads="1"/>
          </p:cNvSpPr>
          <p:nvPr/>
        </p:nvSpPr>
        <p:spPr bwMode="auto">
          <a:xfrm rot="1800000">
            <a:off x="6273056" y="4183013"/>
            <a:ext cx="822325" cy="1077913"/>
          </a:xfrm>
          <a:prstGeom prst="ellipse">
            <a:avLst/>
          </a:prstGeom>
          <a:solidFill>
            <a:srgbClr val="FFFFFF">
              <a:alpha val="0"/>
            </a:srgbClr>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7" name="Oval 24"/>
          <p:cNvSpPr>
            <a:spLocks noChangeArrowheads="1"/>
          </p:cNvSpPr>
          <p:nvPr/>
        </p:nvSpPr>
        <p:spPr bwMode="auto">
          <a:xfrm>
            <a:off x="5288806" y="4236988"/>
            <a:ext cx="804862" cy="1077913"/>
          </a:xfrm>
          <a:prstGeom prst="ellipse">
            <a:avLst/>
          </a:prstGeom>
          <a:solidFill>
            <a:srgbClr val="FFFFFF">
              <a:alpha val="0"/>
            </a:srgbClr>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8" name="Oval 25"/>
          <p:cNvSpPr>
            <a:spLocks noChangeArrowheads="1"/>
          </p:cNvSpPr>
          <p:nvPr/>
        </p:nvSpPr>
        <p:spPr bwMode="auto">
          <a:xfrm>
            <a:off x="2088406" y="44655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9" name="Oval 26"/>
          <p:cNvSpPr>
            <a:spLocks noChangeArrowheads="1"/>
          </p:cNvSpPr>
          <p:nvPr/>
        </p:nvSpPr>
        <p:spPr bwMode="auto">
          <a:xfrm>
            <a:off x="2317006" y="49227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30" name="Oval 27"/>
          <p:cNvSpPr>
            <a:spLocks noChangeArrowheads="1"/>
          </p:cNvSpPr>
          <p:nvPr/>
        </p:nvSpPr>
        <p:spPr bwMode="auto">
          <a:xfrm>
            <a:off x="3383806" y="46179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31" name="Oval 28"/>
          <p:cNvSpPr>
            <a:spLocks noChangeArrowheads="1"/>
          </p:cNvSpPr>
          <p:nvPr/>
        </p:nvSpPr>
        <p:spPr bwMode="auto">
          <a:xfrm>
            <a:off x="2469406" y="45417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32" name="Oval 29"/>
          <p:cNvSpPr>
            <a:spLocks noChangeArrowheads="1"/>
          </p:cNvSpPr>
          <p:nvPr/>
        </p:nvSpPr>
        <p:spPr bwMode="auto">
          <a:xfrm>
            <a:off x="2698006" y="51513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33" name="Oval 30"/>
          <p:cNvSpPr>
            <a:spLocks noChangeArrowheads="1"/>
          </p:cNvSpPr>
          <p:nvPr/>
        </p:nvSpPr>
        <p:spPr bwMode="auto">
          <a:xfrm>
            <a:off x="3079006" y="50751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34" name="Oval 31"/>
          <p:cNvSpPr>
            <a:spLocks noChangeArrowheads="1"/>
          </p:cNvSpPr>
          <p:nvPr/>
        </p:nvSpPr>
        <p:spPr bwMode="auto">
          <a:xfrm>
            <a:off x="3002806" y="44655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35" name="Oval 32"/>
          <p:cNvSpPr>
            <a:spLocks noChangeArrowheads="1"/>
          </p:cNvSpPr>
          <p:nvPr/>
        </p:nvSpPr>
        <p:spPr bwMode="auto">
          <a:xfrm>
            <a:off x="5365006" y="43893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36" name="Oval 33"/>
          <p:cNvSpPr>
            <a:spLocks noChangeArrowheads="1"/>
          </p:cNvSpPr>
          <p:nvPr/>
        </p:nvSpPr>
        <p:spPr bwMode="auto">
          <a:xfrm>
            <a:off x="5746006" y="44655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37" name="Oval 34"/>
          <p:cNvSpPr>
            <a:spLocks noChangeArrowheads="1"/>
          </p:cNvSpPr>
          <p:nvPr/>
        </p:nvSpPr>
        <p:spPr bwMode="auto">
          <a:xfrm>
            <a:off x="5669806" y="49227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38" name="Oval 35"/>
          <p:cNvSpPr>
            <a:spLocks noChangeArrowheads="1"/>
          </p:cNvSpPr>
          <p:nvPr/>
        </p:nvSpPr>
        <p:spPr bwMode="auto">
          <a:xfrm>
            <a:off x="6812806" y="44655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39" name="Oval 36"/>
          <p:cNvSpPr>
            <a:spLocks noChangeArrowheads="1"/>
          </p:cNvSpPr>
          <p:nvPr/>
        </p:nvSpPr>
        <p:spPr bwMode="auto">
          <a:xfrm>
            <a:off x="5974606" y="50751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40" name="Oval 37"/>
          <p:cNvSpPr>
            <a:spLocks noChangeArrowheads="1"/>
          </p:cNvSpPr>
          <p:nvPr/>
        </p:nvSpPr>
        <p:spPr bwMode="auto">
          <a:xfrm>
            <a:off x="6355606" y="49227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41" name="Oval 38"/>
          <p:cNvSpPr>
            <a:spLocks noChangeArrowheads="1"/>
          </p:cNvSpPr>
          <p:nvPr/>
        </p:nvSpPr>
        <p:spPr bwMode="auto">
          <a:xfrm>
            <a:off x="6431806" y="4313188"/>
            <a:ext cx="304800" cy="228600"/>
          </a:xfrm>
          <a:prstGeom prst="ellipse">
            <a:avLst/>
          </a:prstGeom>
          <a:solidFill>
            <a:schemeClr val="accent1"/>
          </a:solidFill>
          <a:ln w="9525">
            <a:solidFill>
              <a:schemeClr val="tx1"/>
            </a:solidFill>
            <a:round/>
          </a:ln>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42" name="Line 39"/>
          <p:cNvSpPr>
            <a:spLocks noChangeShapeType="1"/>
          </p:cNvSpPr>
          <p:nvPr/>
        </p:nvSpPr>
        <p:spPr bwMode="auto">
          <a:xfrm>
            <a:off x="4069606" y="4922788"/>
            <a:ext cx="838200" cy="1588"/>
          </a:xfrm>
          <a:prstGeom prst="line">
            <a:avLst/>
          </a:prstGeom>
          <a:noFill/>
          <a:ln w="19050">
            <a:solidFill>
              <a:schemeClr val="tx1"/>
            </a:solidFill>
            <a:round/>
            <a:tailEnd type="stealth" w="lg"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6.1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什么是聚类分析</a:t>
            </a:r>
            <a:endPar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6"/>
          <p:cNvSpPr txBox="1">
            <a:spLocks noChangeArrowheads="1"/>
          </p:cNvSpPr>
          <p:nvPr/>
        </p:nvSpPr>
        <p:spPr bwMode="auto">
          <a:xfrm>
            <a:off x="576288" y="1268761"/>
            <a:ext cx="8280400"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0850" indent="-450850" eaLnBrk="0" hangingPunct="0">
              <a:defRPr b="1">
                <a:solidFill>
                  <a:schemeClr val="tx1"/>
                </a:solidFill>
                <a:latin typeface="Verdana" panose="020B0604030504040204" pitchFamily="34" charset="0"/>
                <a:ea typeface="宋体" panose="02010600030101010101" pitchFamily="2" charset="-122"/>
              </a:defRPr>
            </a:lvl1pPr>
            <a:lvl2pPr marL="908050" indent="-43688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nSpc>
                <a:spcPct val="130000"/>
              </a:lnSpc>
              <a:spcBef>
                <a:spcPct val="20000"/>
              </a:spcBef>
              <a:spcAft>
                <a:spcPts val="600"/>
              </a:spcAft>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rPr>
              <a:t>好的聚类算法能产生高质量的簇：</a:t>
            </a:r>
            <a:endParaRPr lang="en-US" altLang="zh-CN" sz="2800" b="0" dirty="0">
              <a:solidFill>
                <a:srgbClr val="FF0000"/>
              </a:solidFill>
              <a:latin typeface="方正兰亭中黑_GBK" panose="02000000000000000000" pitchFamily="2" charset="-122"/>
              <a:ea typeface="方正兰亭中黑_GBK" panose="02000000000000000000" pitchFamily="2" charset="-122"/>
            </a:endParaRPr>
          </a:p>
          <a:p>
            <a:pPr lvl="1">
              <a:lnSpc>
                <a:spcPct val="120000"/>
              </a:lnSpc>
              <a:spcBef>
                <a:spcPts val="600"/>
              </a:spcBef>
              <a:buClr>
                <a:schemeClr val="accent2"/>
              </a:buClr>
              <a:buFont typeface="Wingdings" panose="05000000000000000000" pitchFamily="2" charset="2"/>
              <a:buChar char="ü"/>
              <a:defRPr/>
            </a:pPr>
            <a:r>
              <a:rPr lang="zh-CN" altLang="en-US" sz="2400" b="0" dirty="0">
                <a:solidFill>
                  <a:srgbClr val="0070C0"/>
                </a:solidFill>
                <a:latin typeface="方正兰亭中黑_GBK" panose="02000000000000000000" pitchFamily="2" charset="-122"/>
                <a:ea typeface="方正兰亭中黑_GBK" panose="02000000000000000000" pitchFamily="2" charset="-122"/>
              </a:rPr>
              <a:t>较高的簇内相似度</a:t>
            </a:r>
            <a:endParaRPr lang="en-US" altLang="zh-CN" sz="2400" b="0" dirty="0">
              <a:solidFill>
                <a:srgbClr val="0070C0"/>
              </a:solidFill>
              <a:latin typeface="方正兰亭中黑_GBK" panose="02000000000000000000" pitchFamily="2" charset="-122"/>
              <a:ea typeface="方正兰亭中黑_GBK" panose="02000000000000000000" pitchFamily="2" charset="-122"/>
            </a:endParaRPr>
          </a:p>
          <a:p>
            <a:pPr lvl="1">
              <a:lnSpc>
                <a:spcPct val="120000"/>
              </a:lnSpc>
              <a:spcBef>
                <a:spcPts val="600"/>
              </a:spcBef>
              <a:buClr>
                <a:schemeClr val="accent2"/>
              </a:buClr>
              <a:buFont typeface="Wingdings" panose="05000000000000000000" pitchFamily="2" charset="2"/>
              <a:buChar char="ü"/>
              <a:defRPr/>
            </a:pPr>
            <a:r>
              <a:rPr lang="zh-CN" altLang="en-US" sz="2400" b="0" dirty="0">
                <a:solidFill>
                  <a:srgbClr val="0070C0"/>
                </a:solidFill>
                <a:latin typeface="方正兰亭中黑_GBK" panose="02000000000000000000" pitchFamily="2" charset="-122"/>
                <a:ea typeface="方正兰亭中黑_GBK" panose="02000000000000000000" pitchFamily="2" charset="-122"/>
              </a:rPr>
              <a:t>较低的簇间相似度</a:t>
            </a:r>
            <a:endParaRPr lang="en-US" altLang="zh-CN" sz="2400" b="0" dirty="0">
              <a:solidFill>
                <a:srgbClr val="0070C0"/>
              </a:solidFill>
              <a:latin typeface="方正兰亭中黑_GBK" panose="02000000000000000000" pitchFamily="2" charset="-122"/>
              <a:ea typeface="方正兰亭中黑_GBK" panose="02000000000000000000" pitchFamily="2" charset="-122"/>
            </a:endParaRPr>
          </a:p>
          <a:p>
            <a:pPr marL="450850" lvl="1" indent="-450850">
              <a:lnSpc>
                <a:spcPct val="130000"/>
              </a:lnSpc>
              <a:spcBef>
                <a:spcPct val="20000"/>
              </a:spcBef>
              <a:spcAft>
                <a:spcPts val="600"/>
              </a:spcAft>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rPr>
              <a:t>好的聚类结果同时依赖于相似度计算方法与聚类算法</a:t>
            </a:r>
            <a:endParaRPr lang="en-US" altLang="zh-CN" sz="2800" b="0" dirty="0">
              <a:solidFill>
                <a:srgbClr val="FF0000"/>
              </a:solidFill>
              <a:latin typeface="方正兰亭中黑_GBK" panose="02000000000000000000" pitchFamily="2" charset="-122"/>
              <a:ea typeface="方正兰亭中黑_GBK" panose="02000000000000000000" pitchFamily="2" charset="-122"/>
            </a:endParaRPr>
          </a:p>
          <a:p>
            <a:pPr marL="450850" lvl="1" indent="-450850">
              <a:lnSpc>
                <a:spcPct val="130000"/>
              </a:lnSpc>
              <a:spcBef>
                <a:spcPct val="20000"/>
              </a:spcBef>
              <a:spcAft>
                <a:spcPts val="600"/>
              </a:spcAft>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rPr>
              <a:t>相似度计算方法通常比聚类算法更重要</a:t>
            </a:r>
            <a:endParaRPr lang="en-US" altLang="zh-CN" sz="2800" b="0" dirty="0">
              <a:solidFill>
                <a:srgbClr val="FF0000"/>
              </a:solidFill>
              <a:latin typeface="方正兰亭中黑_GBK" panose="02000000000000000000" pitchFamily="2" charset="-122"/>
              <a:ea typeface="方正兰亭中黑_GBK" panose="02000000000000000000" pitchFamily="2" charset="-122"/>
            </a:endParaRPr>
          </a:p>
          <a:p>
            <a:pPr>
              <a:lnSpc>
                <a:spcPct val="130000"/>
              </a:lnSpc>
              <a:spcBef>
                <a:spcPct val="20000"/>
              </a:spcBef>
              <a:buClr>
                <a:schemeClr val="accent2"/>
              </a:buClr>
              <a:buFont typeface="Wingdings" panose="05000000000000000000" pitchFamily="2" charset="2"/>
              <a:buNone/>
              <a:defRPr/>
            </a:pPr>
            <a:endParaRPr lang="en-US" altLang="zh-CN" sz="3200" b="0" dirty="0">
              <a:latin typeface="Palatino Linotype" panose="02040502050505030304" pitchFamily="18" charset="0"/>
              <a:ea typeface="黑体" panose="02010609060101010101" pitchFamily="49" charset="-122"/>
            </a:endParaRPr>
          </a:p>
          <a:p>
            <a:pPr lvl="1">
              <a:lnSpc>
                <a:spcPct val="130000"/>
              </a:lnSpc>
              <a:spcBef>
                <a:spcPct val="20000"/>
              </a:spcBef>
              <a:buClr>
                <a:schemeClr val="accent2"/>
              </a:buClr>
              <a:buFont typeface="Wingdings" panose="05000000000000000000" pitchFamily="2" charset="2"/>
              <a:buChar char="n"/>
              <a:defRPr/>
            </a:pPr>
            <a:endParaRPr lang="en-US" altLang="zh-CN" sz="2800" dirty="0">
              <a:solidFill>
                <a:srgbClr val="C00000"/>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eaLnBrk="1" hangingPunct="1">
              <a:spcBef>
                <a:spcPct val="20000"/>
              </a:spcBef>
              <a:buClr>
                <a:schemeClr val="accent2"/>
              </a:buClr>
              <a:buFont typeface="Wingdings" panose="05000000000000000000" pitchFamily="2" charset="2"/>
              <a:buChar char="n"/>
              <a:defRPr/>
            </a:pPr>
            <a:endParaRPr lang="en-US" altLang="zh-CN" sz="3200" u="sng" dirty="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6.1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什么是聚类分析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难点</a:t>
            </a:r>
            <a:endPar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3" name="Picture 2"/>
          <p:cNvPicPr>
            <a:picLocks noChangeAspect="1" noChangeArrowheads="1"/>
          </p:cNvPicPr>
          <p:nvPr/>
        </p:nvPicPr>
        <p:blipFill>
          <a:blip r:embed="rId1">
            <a:extLst>
              <a:ext uri="{28A0092B-C50C-407E-A947-70E740481C1C}">
                <a14:useLocalDpi xmlns:a14="http://schemas.microsoft.com/office/drawing/2010/main" val="0"/>
              </a:ext>
            </a:extLst>
          </a:blip>
          <a:srcRect l="40646" r="880"/>
          <a:stretch>
            <a:fillRect/>
          </a:stretch>
        </p:blipFill>
        <p:spPr bwMode="auto">
          <a:xfrm>
            <a:off x="1728813" y="1268760"/>
            <a:ext cx="5975350" cy="474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6.1</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什么是聚类分析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难点</a:t>
            </a:r>
            <a:endPar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251520" y="1104900"/>
            <a:ext cx="82296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eaLnBrk="1" hangingPunct="1">
              <a:lnSpc>
                <a:spcPct val="120000"/>
              </a:lnSpc>
              <a:buFont typeface="Wingdings" panose="05000000000000000000" pitchFamily="2" charset="2"/>
              <a:buChar char="n"/>
              <a:defRPr/>
            </a:pPr>
            <a:r>
              <a:rPr lang="en-US" altLang="zh-CN" sz="2800" dirty="0">
                <a:solidFill>
                  <a:srgbClr val="0070C0"/>
                </a:solidFill>
                <a:latin typeface="Calibri" panose="020F0502020204030204" pitchFamily="34" charset="0"/>
                <a:ea typeface="宋体" panose="02010600030101010101" pitchFamily="2" charset="-122"/>
                <a:cs typeface="Calibri" panose="020F0502020204030204" pitchFamily="34" charset="0"/>
              </a:rPr>
              <a:t>Consider N data points to be split into “c” groups (clusters). The number of possible splits (partitions) is described as </a:t>
            </a:r>
            <a:endParaRPr lang="en-US" altLang="zh-CN" sz="2800" dirty="0">
              <a:solidFill>
                <a:srgbClr val="0070C0"/>
              </a:solidFill>
              <a:latin typeface="Calibri" panose="020F0502020204030204" pitchFamily="34" charset="0"/>
              <a:ea typeface="宋体" panose="02010600030101010101" pitchFamily="2" charset="-122"/>
              <a:cs typeface="Calibri" panose="020F0502020204030204" pitchFamily="34" charset="0"/>
            </a:endParaRPr>
          </a:p>
          <a:p>
            <a:pPr marL="0" indent="0" eaLnBrk="1" hangingPunct="1">
              <a:lnSpc>
                <a:spcPct val="120000"/>
              </a:lnSpc>
              <a:buFont typeface="Wingdings" panose="05000000000000000000" pitchFamily="2" charset="2"/>
              <a:buNone/>
              <a:defRPr/>
            </a:pPr>
            <a:r>
              <a:rPr lang="en-US" altLang="zh-CN" sz="2800" dirty="0">
                <a:solidFill>
                  <a:schemeClr val="tx2"/>
                </a:solidFill>
                <a:latin typeface="Calibri" panose="020F0502020204030204" pitchFamily="34" charset="0"/>
                <a:ea typeface="宋体" panose="02010600030101010101" pitchFamily="2" charset="-122"/>
                <a:cs typeface="Calibri" panose="020F0502020204030204" pitchFamily="34" charset="0"/>
              </a:rPr>
              <a:t> </a:t>
            </a:r>
            <a:endParaRPr lang="en-US" altLang="zh-CN" sz="2800" dirty="0">
              <a:solidFill>
                <a:srgbClr val="0000CC"/>
              </a:solidFill>
              <a:latin typeface="Calibri" panose="020F0502020204030204" pitchFamily="34" charset="0"/>
              <a:ea typeface="宋体" panose="02010600030101010101" pitchFamily="2" charset="-122"/>
              <a:cs typeface="Calibri" panose="020F0502020204030204" pitchFamily="34" charset="0"/>
            </a:endParaRPr>
          </a:p>
          <a:p>
            <a:pPr eaLnBrk="1" hangingPunct="1">
              <a:lnSpc>
                <a:spcPct val="120000"/>
              </a:lnSpc>
              <a:buFont typeface="Wingdings" panose="05000000000000000000" pitchFamily="2" charset="2"/>
              <a:buChar char="n"/>
              <a:defRPr/>
            </a:pPr>
            <a:endParaRPr lang="en-US" altLang="zh-CN" sz="2800" dirty="0">
              <a:latin typeface="Calibri" panose="020F0502020204030204" pitchFamily="34" charset="0"/>
              <a:ea typeface="宋体" panose="02010600030101010101" pitchFamily="2" charset="-122"/>
              <a:cs typeface="Calibri" panose="020F0502020204030204" pitchFamily="34" charset="0"/>
            </a:endParaRPr>
          </a:p>
          <a:p>
            <a:pPr eaLnBrk="1" hangingPunct="1">
              <a:lnSpc>
                <a:spcPct val="120000"/>
              </a:lnSpc>
              <a:buFont typeface="Wingdings" panose="05000000000000000000" pitchFamily="2" charset="2"/>
              <a:buChar char="n"/>
              <a:defRPr/>
            </a:pPr>
            <a:r>
              <a:rPr lang="en-US" altLang="zh-CN" sz="2800" dirty="0">
                <a:solidFill>
                  <a:srgbClr val="0070C0"/>
                </a:solidFill>
                <a:latin typeface="Calibri" panose="020F0502020204030204" pitchFamily="34" charset="0"/>
                <a:ea typeface="宋体" panose="02010600030101010101" pitchFamily="2" charset="-122"/>
                <a:cs typeface="Calibri" panose="020F0502020204030204" pitchFamily="34" charset="0"/>
              </a:rPr>
              <a:t>Even for a small problem of N =100 and c =5 we end up with 10</a:t>
            </a:r>
            <a:r>
              <a:rPr lang="en-US" altLang="zh-CN" sz="2800" baseline="30000" dirty="0">
                <a:solidFill>
                  <a:srgbClr val="0070C0"/>
                </a:solidFill>
                <a:latin typeface="Calibri" panose="020F0502020204030204" pitchFamily="34" charset="0"/>
                <a:ea typeface="宋体" panose="02010600030101010101" pitchFamily="2" charset="-122"/>
                <a:cs typeface="Calibri" panose="020F0502020204030204" pitchFamily="34" charset="0"/>
              </a:rPr>
              <a:t>67</a:t>
            </a:r>
            <a:r>
              <a:rPr lang="en-US" altLang="zh-CN" sz="2800" dirty="0">
                <a:solidFill>
                  <a:srgbClr val="0070C0"/>
                </a:solidFill>
                <a:latin typeface="Calibri" panose="020F0502020204030204" pitchFamily="34" charset="0"/>
                <a:ea typeface="宋体" panose="02010600030101010101" pitchFamily="2" charset="-122"/>
                <a:cs typeface="Calibri" panose="020F0502020204030204" pitchFamily="34" charset="0"/>
              </a:rPr>
              <a:t> partitions </a:t>
            </a:r>
            <a:endParaRPr lang="en-US" altLang="zh-CN" sz="2800" dirty="0">
              <a:solidFill>
                <a:srgbClr val="0070C0"/>
              </a:solidFill>
              <a:latin typeface="Calibri" panose="020F0502020204030204" pitchFamily="34" charset="0"/>
              <a:ea typeface="宋体" panose="02010600030101010101" pitchFamily="2" charset="-122"/>
              <a:cs typeface="Calibri" panose="020F0502020204030204" pitchFamily="34" charset="0"/>
            </a:endParaRPr>
          </a:p>
        </p:txBody>
      </p:sp>
      <p:pic>
        <p:nvPicPr>
          <p:cNvPr id="4" name="Picture 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555776" y="2708920"/>
            <a:ext cx="2667000" cy="113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6.1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什么是聚类分析</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需求与挑战</a:t>
            </a:r>
            <a:endPar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Content Placeholder 2"/>
          <p:cNvSpPr txBox="1"/>
          <p:nvPr/>
        </p:nvSpPr>
        <p:spPr>
          <a:xfrm>
            <a:off x="-108520" y="1124744"/>
            <a:ext cx="8674100" cy="51054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914400" lvl="2" indent="0">
              <a:lnSpc>
                <a:spcPct val="120000"/>
              </a:lnSpc>
              <a:spcBef>
                <a:spcPts val="600"/>
              </a:spcBef>
              <a:spcAft>
                <a:spcPts val="600"/>
              </a:spcAft>
              <a:buClr>
                <a:srgbClr val="0000FF"/>
              </a:buClr>
              <a:buNone/>
              <a:defRPr/>
            </a:pPr>
            <a:r>
              <a:rPr lang="en-US" altLang="zh-CN" b="0" kern="0" dirty="0">
                <a:solidFill>
                  <a:srgbClr val="FF0000"/>
                </a:solidFill>
                <a:latin typeface="方正兰亭中黑_GBK" panose="02000000000000000000" pitchFamily="2" charset="-122"/>
                <a:ea typeface="方正兰亭中黑_GBK" panose="02000000000000000000" pitchFamily="2" charset="-122"/>
              </a:rPr>
              <a:t>-</a:t>
            </a:r>
            <a:r>
              <a:rPr lang="zh-CN" altLang="en-US" b="0" kern="0" dirty="0">
                <a:solidFill>
                  <a:srgbClr val="FF0000"/>
                </a:solidFill>
                <a:latin typeface="方正兰亭中黑_GBK" panose="02000000000000000000" pitchFamily="2" charset="-122"/>
                <a:ea typeface="方正兰亭中黑_GBK" panose="02000000000000000000" pitchFamily="2" charset="-122"/>
              </a:rPr>
              <a:t>可伸缩性：</a:t>
            </a:r>
            <a:r>
              <a:rPr lang="zh-CN" altLang="en-US" sz="2000" b="0" kern="0" dirty="0">
                <a:latin typeface="方正兰亭中黑_GBK" panose="02000000000000000000" pitchFamily="2" charset="-122"/>
                <a:ea typeface="方正兰亭中黑_GBK" panose="02000000000000000000" pitchFamily="2" charset="-122"/>
              </a:rPr>
              <a:t>如何应对海量数据？</a:t>
            </a:r>
            <a:endParaRPr lang="en-US" altLang="zh-CN" sz="2000" b="0" kern="0" dirty="0">
              <a:latin typeface="方正兰亭中黑_GBK" panose="02000000000000000000" pitchFamily="2" charset="-122"/>
              <a:ea typeface="方正兰亭中黑_GBK" panose="02000000000000000000" pitchFamily="2" charset="-122"/>
            </a:endParaRPr>
          </a:p>
          <a:p>
            <a:pPr lvl="1">
              <a:lnSpc>
                <a:spcPct val="120000"/>
              </a:lnSpc>
              <a:spcBef>
                <a:spcPts val="600"/>
              </a:spcBef>
              <a:spcAft>
                <a:spcPts val="600"/>
              </a:spcAft>
              <a:defRPr/>
            </a:pPr>
            <a:r>
              <a:rPr lang="zh-CN" altLang="en-US" sz="2400" b="0" kern="0" dirty="0">
                <a:solidFill>
                  <a:srgbClr val="FF0000"/>
                </a:solidFill>
                <a:latin typeface="方正兰亭中黑_GBK" panose="02000000000000000000" pitchFamily="2" charset="-122"/>
                <a:ea typeface="方正兰亭中黑_GBK" panose="02000000000000000000" pitchFamily="2" charset="-122"/>
              </a:rPr>
              <a:t>处理不同数据类型：</a:t>
            </a:r>
            <a:endParaRPr lang="en-US" altLang="zh-CN" sz="2400" b="0" kern="0" dirty="0">
              <a:solidFill>
                <a:srgbClr val="FF0000"/>
              </a:solidFill>
              <a:latin typeface="方正兰亭中黑_GBK" panose="02000000000000000000" pitchFamily="2" charset="-122"/>
              <a:ea typeface="方正兰亭中黑_GBK" panose="02000000000000000000" pitchFamily="2" charset="-122"/>
            </a:endParaRPr>
          </a:p>
          <a:p>
            <a:pPr lvl="2">
              <a:lnSpc>
                <a:spcPct val="120000"/>
              </a:lnSpc>
              <a:spcBef>
                <a:spcPts val="600"/>
              </a:spcBef>
              <a:spcAft>
                <a:spcPts val="600"/>
              </a:spcAft>
              <a:buClr>
                <a:srgbClr val="0000FF"/>
              </a:buClr>
              <a:buFont typeface="Wingdings" panose="05000000000000000000" pitchFamily="2" charset="2"/>
              <a:buChar char="ü"/>
              <a:defRPr/>
            </a:pPr>
            <a:r>
              <a:rPr lang="zh-CN" altLang="en-US" sz="2000" b="0" kern="0" dirty="0">
                <a:solidFill>
                  <a:srgbClr val="0000FF"/>
                </a:solidFill>
                <a:latin typeface="方正兰亭中黑_GBK" panose="02000000000000000000" pitchFamily="2" charset="-122"/>
                <a:ea typeface="方正兰亭中黑_GBK" panose="02000000000000000000" pitchFamily="2" charset="-122"/>
              </a:rPr>
              <a:t>数值</a:t>
            </a:r>
            <a:r>
              <a:rPr lang="en-US" altLang="zh-CN" sz="2000" b="0" kern="0" dirty="0">
                <a:solidFill>
                  <a:srgbClr val="0000FF"/>
                </a:solidFill>
                <a:latin typeface="方正兰亭中黑_GBK" panose="02000000000000000000" pitchFamily="2" charset="-122"/>
                <a:ea typeface="方正兰亭中黑_GBK" panose="02000000000000000000" pitchFamily="2" charset="-122"/>
              </a:rPr>
              <a:t>, </a:t>
            </a:r>
            <a:r>
              <a:rPr lang="zh-CN" altLang="en-US" sz="2000" b="0" kern="0" dirty="0">
                <a:solidFill>
                  <a:srgbClr val="0000FF"/>
                </a:solidFill>
                <a:latin typeface="方正兰亭中黑_GBK" panose="02000000000000000000" pitchFamily="2" charset="-122"/>
                <a:ea typeface="方正兰亭中黑_GBK" panose="02000000000000000000" pitchFamily="2" charset="-122"/>
              </a:rPr>
              <a:t>布尔</a:t>
            </a:r>
            <a:r>
              <a:rPr lang="en-US" altLang="zh-CN" sz="2000" b="0" kern="0" dirty="0">
                <a:solidFill>
                  <a:srgbClr val="0000FF"/>
                </a:solidFill>
                <a:latin typeface="方正兰亭中黑_GBK" panose="02000000000000000000" pitchFamily="2" charset="-122"/>
                <a:ea typeface="方正兰亭中黑_GBK" panose="02000000000000000000" pitchFamily="2" charset="-122"/>
              </a:rPr>
              <a:t>, </a:t>
            </a:r>
            <a:r>
              <a:rPr lang="zh-CN" altLang="en-US" sz="2000" b="0" kern="0" dirty="0">
                <a:solidFill>
                  <a:srgbClr val="0000FF"/>
                </a:solidFill>
                <a:latin typeface="方正兰亭中黑_GBK" panose="02000000000000000000" pitchFamily="2" charset="-122"/>
                <a:ea typeface="方正兰亭中黑_GBK" panose="02000000000000000000" pitchFamily="2" charset="-122"/>
              </a:rPr>
              <a:t>枚举</a:t>
            </a:r>
            <a:r>
              <a:rPr lang="en-US" altLang="zh-CN" sz="2000" b="0" kern="0" dirty="0">
                <a:solidFill>
                  <a:srgbClr val="0000FF"/>
                </a:solidFill>
                <a:latin typeface="方正兰亭中黑_GBK" panose="02000000000000000000" pitchFamily="2" charset="-122"/>
                <a:ea typeface="方正兰亭中黑_GBK" panose="02000000000000000000" pitchFamily="2" charset="-122"/>
              </a:rPr>
              <a:t>, </a:t>
            </a:r>
            <a:r>
              <a:rPr lang="zh-CN" altLang="en-US" sz="2000" b="0" kern="0" dirty="0">
                <a:solidFill>
                  <a:srgbClr val="0000FF"/>
                </a:solidFill>
                <a:latin typeface="方正兰亭中黑_GBK" panose="02000000000000000000" pitchFamily="2" charset="-122"/>
                <a:ea typeface="方正兰亭中黑_GBK" panose="02000000000000000000" pitchFamily="2" charset="-122"/>
              </a:rPr>
              <a:t>序数</a:t>
            </a:r>
            <a:r>
              <a:rPr lang="en-US" altLang="zh-CN" sz="2000" b="0" kern="0" dirty="0">
                <a:solidFill>
                  <a:srgbClr val="0000FF"/>
                </a:solidFill>
                <a:latin typeface="方正兰亭中黑_GBK" panose="02000000000000000000" pitchFamily="2" charset="-122"/>
                <a:ea typeface="方正兰亭中黑_GBK" panose="02000000000000000000" pitchFamily="2" charset="-122"/>
              </a:rPr>
              <a:t>, </a:t>
            </a:r>
            <a:r>
              <a:rPr lang="zh-CN" altLang="en-US" sz="2000" b="0" kern="0" dirty="0">
                <a:solidFill>
                  <a:srgbClr val="0000FF"/>
                </a:solidFill>
                <a:latin typeface="方正兰亭中黑_GBK" panose="02000000000000000000" pitchFamily="2" charset="-122"/>
                <a:ea typeface="方正兰亭中黑_GBK" panose="02000000000000000000" pitchFamily="2" charset="-122"/>
              </a:rPr>
              <a:t>连接以及混合类型</a:t>
            </a:r>
            <a:endParaRPr lang="en-US" altLang="zh-CN" sz="2000" b="0" kern="0" dirty="0">
              <a:solidFill>
                <a:srgbClr val="0000FF"/>
              </a:solidFill>
              <a:latin typeface="方正兰亭中黑_GBK" panose="02000000000000000000" pitchFamily="2" charset="-122"/>
              <a:ea typeface="方正兰亭中黑_GBK" panose="02000000000000000000" pitchFamily="2" charset="-122"/>
            </a:endParaRPr>
          </a:p>
          <a:p>
            <a:pPr lvl="1">
              <a:lnSpc>
                <a:spcPct val="120000"/>
              </a:lnSpc>
              <a:spcBef>
                <a:spcPts val="600"/>
              </a:spcBef>
              <a:spcAft>
                <a:spcPts val="600"/>
              </a:spcAft>
              <a:defRPr/>
            </a:pPr>
            <a:r>
              <a:rPr lang="zh-CN" altLang="en-US" sz="2400" b="0" kern="0" dirty="0">
                <a:solidFill>
                  <a:srgbClr val="FF0000"/>
                </a:solidFill>
                <a:latin typeface="方正兰亭中黑_GBK" panose="02000000000000000000" pitchFamily="2" charset="-122"/>
                <a:ea typeface="方正兰亭中黑_GBK" panose="02000000000000000000" pitchFamily="2" charset="-122"/>
              </a:rPr>
              <a:t>发现任意形状的簇：</a:t>
            </a:r>
            <a:endParaRPr lang="en-US" altLang="zh-CN" sz="2400" b="0" kern="0" dirty="0">
              <a:solidFill>
                <a:srgbClr val="FF0000"/>
              </a:solidFill>
              <a:latin typeface="方正兰亭中黑_GBK" panose="02000000000000000000" pitchFamily="2" charset="-122"/>
              <a:ea typeface="方正兰亭中黑_GBK" panose="02000000000000000000" pitchFamily="2" charset="-122"/>
            </a:endParaRPr>
          </a:p>
          <a:p>
            <a:pPr lvl="2">
              <a:lnSpc>
                <a:spcPct val="120000"/>
              </a:lnSpc>
              <a:spcBef>
                <a:spcPts val="600"/>
              </a:spcBef>
              <a:spcAft>
                <a:spcPts val="600"/>
              </a:spcAft>
              <a:buClr>
                <a:srgbClr val="0000FF"/>
              </a:buClr>
              <a:buFont typeface="Wingdings" panose="05000000000000000000" pitchFamily="2" charset="2"/>
              <a:buChar char="ü"/>
              <a:defRPr/>
            </a:pPr>
            <a:r>
              <a:rPr lang="zh-CN" altLang="en-US" sz="2000" b="0" kern="0" dirty="0">
                <a:solidFill>
                  <a:srgbClr val="0000FF"/>
                </a:solidFill>
                <a:latin typeface="方正兰亭中黑_GBK" panose="02000000000000000000" pitchFamily="2" charset="-122"/>
                <a:ea typeface="方正兰亭中黑_GBK" panose="02000000000000000000" pitchFamily="2" charset="-122"/>
              </a:rPr>
              <a:t>球形簇：</a:t>
            </a:r>
            <a:r>
              <a:rPr lang="zh-CN" altLang="en-US" sz="2000" b="0" kern="0" dirty="0">
                <a:latin typeface="方正兰亭中黑_GBK" panose="02000000000000000000" pitchFamily="2" charset="-122"/>
                <a:ea typeface="方正兰亭中黑_GBK" panose="02000000000000000000" pitchFamily="2" charset="-122"/>
              </a:rPr>
              <a:t>欧几里得距离、曼哈顿距离</a:t>
            </a:r>
            <a:endParaRPr lang="en-US" altLang="zh-CN" sz="2000" b="0" kern="0" dirty="0">
              <a:latin typeface="方正兰亭中黑_GBK" panose="02000000000000000000" pitchFamily="2" charset="-122"/>
              <a:ea typeface="方正兰亭中黑_GBK" panose="02000000000000000000" pitchFamily="2" charset="-122"/>
            </a:endParaRPr>
          </a:p>
          <a:p>
            <a:pPr lvl="2">
              <a:lnSpc>
                <a:spcPct val="120000"/>
              </a:lnSpc>
              <a:spcBef>
                <a:spcPts val="600"/>
              </a:spcBef>
              <a:spcAft>
                <a:spcPts val="600"/>
              </a:spcAft>
              <a:buClr>
                <a:srgbClr val="0000FF"/>
              </a:buClr>
              <a:buFont typeface="Wingdings" panose="05000000000000000000" pitchFamily="2" charset="2"/>
              <a:buChar char="ü"/>
              <a:defRPr/>
            </a:pPr>
            <a:r>
              <a:rPr lang="zh-CN" altLang="en-US" sz="2000" b="0" kern="0" dirty="0">
                <a:solidFill>
                  <a:srgbClr val="0000FF"/>
                </a:solidFill>
                <a:latin typeface="方正兰亭中黑_GBK" panose="02000000000000000000" pitchFamily="2" charset="-122"/>
                <a:ea typeface="方正兰亭中黑_GBK" panose="02000000000000000000" pitchFamily="2" charset="-122"/>
              </a:rPr>
              <a:t>任意形状：</a:t>
            </a:r>
            <a:r>
              <a:rPr lang="zh-CN" altLang="en-US" sz="2000" b="0" kern="0" dirty="0">
                <a:latin typeface="方正兰亭中黑_GBK" panose="02000000000000000000" pitchFamily="2" charset="-122"/>
                <a:ea typeface="方正兰亭中黑_GBK" panose="02000000000000000000" pitchFamily="2" charset="-122"/>
              </a:rPr>
              <a:t>森林火灾边缘</a:t>
            </a:r>
            <a:endParaRPr lang="en-US" altLang="zh-CN" sz="2000" b="0" kern="0" dirty="0">
              <a:latin typeface="方正兰亭中黑_GBK" panose="02000000000000000000" pitchFamily="2" charset="-122"/>
              <a:ea typeface="方正兰亭中黑_GBK" panose="02000000000000000000" pitchFamily="2" charset="-122"/>
            </a:endParaRPr>
          </a:p>
          <a:p>
            <a:pPr lvl="1">
              <a:lnSpc>
                <a:spcPct val="120000"/>
              </a:lnSpc>
              <a:spcBef>
                <a:spcPts val="600"/>
              </a:spcBef>
              <a:spcAft>
                <a:spcPts val="600"/>
              </a:spcAft>
              <a:defRPr/>
            </a:pPr>
            <a:r>
              <a:rPr lang="zh-CN" altLang="en-US" sz="2400" b="0" kern="0" dirty="0">
                <a:solidFill>
                  <a:srgbClr val="FF0000"/>
                </a:solidFill>
                <a:latin typeface="方正兰亭中黑_GBK" panose="02000000000000000000" pitchFamily="2" charset="-122"/>
                <a:ea typeface="方正兰亭中黑_GBK" panose="02000000000000000000" pitchFamily="2" charset="-122"/>
              </a:rPr>
              <a:t>基于约束的聚类：</a:t>
            </a:r>
            <a:endParaRPr lang="en-US" altLang="zh-CN" sz="2400" b="0" kern="0" dirty="0">
              <a:solidFill>
                <a:srgbClr val="FF0000"/>
              </a:solidFill>
              <a:latin typeface="方正兰亭中黑_GBK" panose="02000000000000000000" pitchFamily="2" charset="-122"/>
              <a:ea typeface="方正兰亭中黑_GBK" panose="02000000000000000000" pitchFamily="2" charset="-122"/>
            </a:endParaRPr>
          </a:p>
          <a:p>
            <a:pPr lvl="2">
              <a:lnSpc>
                <a:spcPct val="120000"/>
              </a:lnSpc>
              <a:spcBef>
                <a:spcPts val="600"/>
              </a:spcBef>
              <a:spcAft>
                <a:spcPts val="600"/>
              </a:spcAft>
              <a:buClr>
                <a:srgbClr val="0000FF"/>
              </a:buClr>
              <a:buFont typeface="Wingdings" panose="05000000000000000000" pitchFamily="2" charset="2"/>
              <a:buChar char="ü"/>
              <a:defRPr/>
            </a:pPr>
            <a:r>
              <a:rPr lang="zh-CN" altLang="en-US" sz="2000" b="0" kern="0" dirty="0">
                <a:solidFill>
                  <a:srgbClr val="0000FF"/>
                </a:solidFill>
                <a:latin typeface="方正兰亭中黑_GBK" panose="02000000000000000000" pitchFamily="2" charset="-122"/>
                <a:ea typeface="方正兰亭中黑_GBK" panose="02000000000000000000" pitchFamily="2" charset="-122"/>
              </a:rPr>
              <a:t>各种约束条件下的聚类：</a:t>
            </a:r>
            <a:r>
              <a:rPr lang="en-US" altLang="zh-CN" sz="2000" b="0" kern="0" dirty="0">
                <a:latin typeface="方正兰亭中黑_GBK" panose="02000000000000000000" pitchFamily="2" charset="-122"/>
                <a:ea typeface="方正兰亭中黑_GBK" panose="02000000000000000000" pitchFamily="2" charset="-122"/>
              </a:rPr>
              <a:t>ATM</a:t>
            </a:r>
            <a:r>
              <a:rPr lang="zh-CN" altLang="en-US" sz="2000" b="0" kern="0" dirty="0">
                <a:latin typeface="方正兰亭中黑_GBK" panose="02000000000000000000" pitchFamily="2" charset="-122"/>
                <a:ea typeface="方正兰亭中黑_GBK" panose="02000000000000000000" pitchFamily="2" charset="-122"/>
              </a:rPr>
              <a:t>部署（考虑河流、公路网）</a:t>
            </a:r>
            <a:endParaRPr lang="en-US" altLang="zh-CN" sz="2000" b="0" kern="0" dirty="0">
              <a:latin typeface="方正兰亭中黑_GBK" panose="02000000000000000000" pitchFamily="2" charset="-122"/>
              <a:ea typeface="方正兰亭中黑_GBK" panose="02000000000000000000" pitchFamily="2" charset="-122"/>
            </a:endParaRPr>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08218" y="3237706"/>
            <a:ext cx="1951037" cy="156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8218" y="1413669"/>
            <a:ext cx="1951037" cy="164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6.1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什么是聚类分析</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需求与挑战</a:t>
            </a:r>
            <a:endPar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Content Placeholder 2"/>
          <p:cNvSpPr txBox="1"/>
          <p:nvPr/>
        </p:nvSpPr>
        <p:spPr>
          <a:xfrm>
            <a:off x="0" y="1052736"/>
            <a:ext cx="8674100" cy="532859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lvl="1">
              <a:lnSpc>
                <a:spcPct val="120000"/>
              </a:lnSpc>
              <a:spcBef>
                <a:spcPts val="600"/>
              </a:spcBef>
              <a:spcAft>
                <a:spcPts val="600"/>
              </a:spcAft>
              <a:defRPr/>
            </a:pPr>
            <a:r>
              <a:rPr lang="zh-CN" altLang="en-US" sz="2400" b="0" kern="0" dirty="0">
                <a:solidFill>
                  <a:srgbClr val="FF0000"/>
                </a:solidFill>
                <a:latin typeface="方正兰亭中黑_GBK" panose="02000000000000000000" pitchFamily="2" charset="-122"/>
                <a:ea typeface="方正兰亭中黑_GBK" panose="02000000000000000000" pitchFamily="2" charset="-122"/>
              </a:rPr>
              <a:t>利用领域知识确定输入参数</a:t>
            </a:r>
            <a:endParaRPr lang="en-US" altLang="zh-CN" sz="2400" b="0" kern="0" dirty="0">
              <a:solidFill>
                <a:srgbClr val="FF0000"/>
              </a:solidFill>
              <a:latin typeface="方正兰亭中黑_GBK" panose="02000000000000000000" pitchFamily="2" charset="-122"/>
              <a:ea typeface="方正兰亭中黑_GBK" panose="02000000000000000000" pitchFamily="2" charset="-122"/>
            </a:endParaRPr>
          </a:p>
          <a:p>
            <a:pPr lvl="2">
              <a:lnSpc>
                <a:spcPct val="120000"/>
              </a:lnSpc>
              <a:spcBef>
                <a:spcPts val="600"/>
              </a:spcBef>
              <a:spcAft>
                <a:spcPts val="600"/>
              </a:spcAft>
              <a:buClr>
                <a:srgbClr val="0000FF"/>
              </a:buClr>
              <a:buFont typeface="Wingdings" panose="05000000000000000000" pitchFamily="2" charset="2"/>
              <a:buChar char="ü"/>
              <a:defRPr/>
            </a:pPr>
            <a:r>
              <a:rPr lang="zh-CN" altLang="en-US" sz="2000" b="0" kern="0" dirty="0">
                <a:solidFill>
                  <a:srgbClr val="0070C0"/>
                </a:solidFill>
                <a:latin typeface="方正兰亭中黑_GBK" panose="02000000000000000000" pitchFamily="2" charset="-122"/>
                <a:ea typeface="方正兰亭中黑_GBK" panose="02000000000000000000" pitchFamily="2" charset="-122"/>
              </a:rPr>
              <a:t>许多聚类算法要求用户输入一定的参数, 如希望产生的簇的数目.聚类结果对于输入参数十分敏感 </a:t>
            </a:r>
            <a:endParaRPr lang="zh-CN" altLang="en-US" sz="2000" b="0" kern="0" dirty="0">
              <a:solidFill>
                <a:srgbClr val="0070C0"/>
              </a:solidFill>
              <a:latin typeface="方正兰亭中黑_GBK" panose="02000000000000000000" pitchFamily="2" charset="-122"/>
              <a:ea typeface="方正兰亭中黑_GBK" panose="02000000000000000000" pitchFamily="2" charset="-122"/>
            </a:endParaRPr>
          </a:p>
          <a:p>
            <a:pPr lvl="2">
              <a:lnSpc>
                <a:spcPct val="120000"/>
              </a:lnSpc>
              <a:spcBef>
                <a:spcPts val="600"/>
              </a:spcBef>
              <a:spcAft>
                <a:spcPts val="600"/>
              </a:spcAft>
              <a:buClr>
                <a:srgbClr val="0000FF"/>
              </a:buClr>
              <a:buFont typeface="Wingdings" panose="05000000000000000000" pitchFamily="2" charset="2"/>
              <a:buChar char="ü"/>
              <a:defRPr/>
            </a:pPr>
            <a:r>
              <a:rPr lang="zh-CN" altLang="en-US" sz="2000" b="0" kern="0" dirty="0">
                <a:solidFill>
                  <a:srgbClr val="0070C0"/>
                </a:solidFill>
                <a:latin typeface="方正兰亭中黑_GBK" panose="02000000000000000000" pitchFamily="2" charset="-122"/>
                <a:ea typeface="方正兰亭中黑_GBK" panose="02000000000000000000" pitchFamily="2" charset="-122"/>
              </a:rPr>
              <a:t>参数难以确定, 增加了用户的负担, 使聚类质量难以控制</a:t>
            </a:r>
            <a:endParaRPr lang="zh-CN" altLang="en-US" sz="2000" b="0" kern="0" dirty="0">
              <a:solidFill>
                <a:srgbClr val="0070C0"/>
              </a:solidFill>
              <a:latin typeface="方正兰亭中黑_GBK" panose="02000000000000000000" pitchFamily="2" charset="-122"/>
              <a:ea typeface="方正兰亭中黑_GBK" panose="02000000000000000000" pitchFamily="2" charset="-122"/>
            </a:endParaRPr>
          </a:p>
          <a:p>
            <a:pPr lvl="1">
              <a:lnSpc>
                <a:spcPct val="120000"/>
              </a:lnSpc>
              <a:spcBef>
                <a:spcPts val="600"/>
              </a:spcBef>
              <a:spcAft>
                <a:spcPts val="600"/>
              </a:spcAft>
              <a:defRPr/>
            </a:pPr>
            <a:r>
              <a:rPr lang="zh-CN" altLang="en-US" sz="2400" b="0" kern="0" dirty="0">
                <a:solidFill>
                  <a:srgbClr val="FF0000"/>
                </a:solidFill>
                <a:latin typeface="方正兰亭中黑_GBK" panose="02000000000000000000" pitchFamily="2" charset="-122"/>
                <a:ea typeface="方正兰亭中黑_GBK" panose="02000000000000000000" pitchFamily="2" charset="-122"/>
              </a:rPr>
              <a:t>处理噪音数据的能力：</a:t>
            </a:r>
            <a:endParaRPr lang="en-US" altLang="zh-CN" sz="2400" b="0" kern="0" dirty="0">
              <a:solidFill>
                <a:srgbClr val="FF0000"/>
              </a:solidFill>
              <a:latin typeface="方正兰亭中黑_GBK" panose="02000000000000000000" pitchFamily="2" charset="-122"/>
              <a:ea typeface="方正兰亭中黑_GBK" panose="02000000000000000000" pitchFamily="2" charset="-122"/>
            </a:endParaRPr>
          </a:p>
          <a:p>
            <a:pPr lvl="2">
              <a:lnSpc>
                <a:spcPct val="120000"/>
              </a:lnSpc>
              <a:spcBef>
                <a:spcPts val="600"/>
              </a:spcBef>
              <a:spcAft>
                <a:spcPts val="600"/>
              </a:spcAft>
              <a:buClr>
                <a:srgbClr val="0000FF"/>
              </a:buClr>
              <a:buFont typeface="Wingdings" panose="05000000000000000000" pitchFamily="2" charset="2"/>
              <a:buChar char="ü"/>
              <a:defRPr/>
            </a:pPr>
            <a:r>
              <a:rPr lang="zh-CN" altLang="en-US" sz="2000" b="0" kern="0" dirty="0">
                <a:solidFill>
                  <a:srgbClr val="0070C0"/>
                </a:solidFill>
                <a:latin typeface="方正兰亭中黑_GBK" panose="02000000000000000000" pitchFamily="2" charset="-122"/>
                <a:ea typeface="方正兰亭中黑_GBK" panose="02000000000000000000" pitchFamily="2" charset="-122"/>
              </a:rPr>
              <a:t>一些聚类算法对于噪音数据敏感, 可能导致低质量的聚类结果</a:t>
            </a:r>
            <a:endParaRPr lang="zh-CN" altLang="en-US" sz="2000" b="0" kern="0" dirty="0">
              <a:solidFill>
                <a:srgbClr val="0070C0"/>
              </a:solidFill>
              <a:latin typeface="方正兰亭中黑_GBK" panose="02000000000000000000" pitchFamily="2" charset="-122"/>
              <a:ea typeface="方正兰亭中黑_GBK" panose="02000000000000000000" pitchFamily="2" charset="-122"/>
            </a:endParaRPr>
          </a:p>
          <a:p>
            <a:pPr lvl="2">
              <a:lnSpc>
                <a:spcPct val="120000"/>
              </a:lnSpc>
              <a:spcBef>
                <a:spcPts val="600"/>
              </a:spcBef>
              <a:spcAft>
                <a:spcPts val="600"/>
              </a:spcAft>
              <a:buClr>
                <a:srgbClr val="0000FF"/>
              </a:buClr>
              <a:buFont typeface="Wingdings" panose="05000000000000000000" pitchFamily="2" charset="2"/>
              <a:buChar char="ü"/>
              <a:defRPr/>
            </a:pPr>
            <a:r>
              <a:rPr lang="zh-CN" altLang="en-US" sz="2000" b="0" kern="0" dirty="0">
                <a:solidFill>
                  <a:srgbClr val="0070C0"/>
                </a:solidFill>
                <a:latin typeface="方正兰亭中黑_GBK" panose="02000000000000000000" pitchFamily="2" charset="-122"/>
                <a:ea typeface="方正兰亭中黑_GBK" panose="02000000000000000000" pitchFamily="2" charset="-122"/>
              </a:rPr>
              <a:t>现实世界中的数据库大都包含了错误数据、缺失数据、离群点</a:t>
            </a:r>
            <a:endParaRPr lang="en-US" altLang="zh-CN" sz="2000" b="0" kern="0" dirty="0">
              <a:solidFill>
                <a:srgbClr val="0070C0"/>
              </a:solidFill>
              <a:latin typeface="方正兰亭中黑_GBK" panose="02000000000000000000" pitchFamily="2" charset="-122"/>
              <a:ea typeface="方正兰亭中黑_GBK" panose="02000000000000000000" pitchFamily="2" charset="-122"/>
            </a:endParaRPr>
          </a:p>
          <a:p>
            <a:pPr lvl="1">
              <a:lnSpc>
                <a:spcPct val="120000"/>
              </a:lnSpc>
              <a:spcBef>
                <a:spcPts val="600"/>
              </a:spcBef>
              <a:spcAft>
                <a:spcPts val="600"/>
              </a:spcAft>
              <a:defRPr/>
            </a:pPr>
            <a:r>
              <a:rPr lang="zh-CN" altLang="en-US" sz="2400" b="0" kern="0" dirty="0">
                <a:solidFill>
                  <a:srgbClr val="FF0000"/>
                </a:solidFill>
                <a:latin typeface="方正兰亭中黑_GBK" panose="02000000000000000000" pitchFamily="2" charset="-122"/>
                <a:ea typeface="方正兰亭中黑_GBK" panose="02000000000000000000" pitchFamily="2" charset="-122"/>
              </a:rPr>
              <a:t>聚类高维数据的能力</a:t>
            </a:r>
            <a:endParaRPr lang="en-US" altLang="zh-CN" sz="2400" b="0" kern="0" dirty="0">
              <a:solidFill>
                <a:srgbClr val="FF0000"/>
              </a:solidFill>
              <a:latin typeface="方正兰亭中黑_GBK" panose="02000000000000000000" pitchFamily="2" charset="-122"/>
              <a:ea typeface="方正兰亭中黑_GBK" panose="02000000000000000000" pitchFamily="2" charset="-122"/>
            </a:endParaRPr>
          </a:p>
          <a:p>
            <a:pPr lvl="1">
              <a:lnSpc>
                <a:spcPct val="120000"/>
              </a:lnSpc>
              <a:spcBef>
                <a:spcPts val="600"/>
              </a:spcBef>
              <a:spcAft>
                <a:spcPts val="600"/>
              </a:spcAft>
              <a:defRPr/>
            </a:pPr>
            <a:r>
              <a:rPr lang="zh-CN" altLang="en-US" sz="2400" b="0" kern="0" dirty="0">
                <a:solidFill>
                  <a:srgbClr val="FF0000"/>
                </a:solidFill>
                <a:latin typeface="方正兰亭中黑_GBK" panose="02000000000000000000" pitchFamily="2" charset="-122"/>
                <a:ea typeface="方正兰亭中黑_GBK" panose="02000000000000000000" pitchFamily="2" charset="-122"/>
              </a:rPr>
              <a:t>可解释性与可用性</a:t>
            </a:r>
            <a:endParaRPr lang="en-US" altLang="zh-CN" sz="2400" b="0" kern="0" dirty="0">
              <a:solidFill>
                <a:srgbClr val="FF0000"/>
              </a:solidFill>
              <a:latin typeface="方正兰亭中黑_GBK" panose="02000000000000000000" pitchFamily="2" charset="-122"/>
              <a:ea typeface="方正兰亭中黑_GBK" panose="02000000000000000000" pitchFamily="2" charset="-122"/>
            </a:endParaRPr>
          </a:p>
          <a:p>
            <a:pPr lvl="2">
              <a:lnSpc>
                <a:spcPct val="120000"/>
              </a:lnSpc>
              <a:spcBef>
                <a:spcPts val="600"/>
              </a:spcBef>
              <a:spcAft>
                <a:spcPts val="600"/>
              </a:spcAft>
              <a:buClr>
                <a:srgbClr val="0000FF"/>
              </a:buClr>
              <a:buFont typeface="Wingdings" panose="05000000000000000000" pitchFamily="2" charset="2"/>
              <a:buChar char="ü"/>
              <a:defRPr/>
            </a:pPr>
            <a:r>
              <a:rPr lang="zh-CN" altLang="en-US" sz="2000" b="0" kern="0" dirty="0">
                <a:solidFill>
                  <a:srgbClr val="0070C0"/>
                </a:solidFill>
                <a:latin typeface="方正兰亭中黑_GBK" panose="02000000000000000000" pitchFamily="2" charset="-122"/>
                <a:ea typeface="方正兰亭中黑_GBK" panose="02000000000000000000" pitchFamily="2" charset="-122"/>
              </a:rPr>
              <a:t>聚类结果可用特定的语义解释或与应用相连</a:t>
            </a:r>
            <a:endParaRPr lang="en-US" altLang="zh-CN" sz="2000" b="0" kern="0" dirty="0">
              <a:solidFill>
                <a:srgbClr val="0070C0"/>
              </a:solidFill>
              <a:latin typeface="方正兰亭中黑_GBK" panose="02000000000000000000" pitchFamily="2" charset="-122"/>
              <a:ea typeface="方正兰亭中黑_GBK"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6.1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典型应用</a:t>
            </a:r>
            <a:endPar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Content Placeholder 2"/>
          <p:cNvSpPr txBox="1">
            <a:spLocks noChangeArrowheads="1"/>
          </p:cNvSpPr>
          <p:nvPr/>
        </p:nvSpPr>
        <p:spPr>
          <a:xfrm>
            <a:off x="0" y="1052736"/>
            <a:ext cx="8829675" cy="51054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lvl="1">
              <a:lnSpc>
                <a:spcPct val="120000"/>
              </a:lnSpc>
              <a:spcBef>
                <a:spcPts val="600"/>
              </a:spcBef>
            </a:pPr>
            <a:r>
              <a:rPr lang="zh-CN" altLang="en-US" sz="2200" b="0" kern="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市场销售: </a:t>
            </a:r>
            <a:r>
              <a:rPr lang="zh-CN" altLang="en-US"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帮助市场人员发现客户中的不同群体，然后用这些知识来开展一个目标明确的市场计划</a:t>
            </a:r>
            <a:endParaRPr lang="en-US" altLang="zh-CN"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a:lnSpc>
                <a:spcPct val="120000"/>
              </a:lnSpc>
              <a:spcBef>
                <a:spcPts val="600"/>
              </a:spcBef>
            </a:pPr>
            <a:r>
              <a:rPr lang="zh-CN" altLang="en-US" sz="2200" b="0" kern="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土地使用: </a:t>
            </a:r>
            <a:r>
              <a:rPr lang="zh-CN" altLang="en-US"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在一个陆地观察数据库中标识那些土地使用相似的地区</a:t>
            </a:r>
            <a:endParaRPr lang="zh-CN" altLang="en-US"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a:lnSpc>
                <a:spcPct val="120000"/>
              </a:lnSpc>
              <a:spcBef>
                <a:spcPts val="600"/>
              </a:spcBef>
            </a:pPr>
            <a:r>
              <a:rPr lang="zh-CN" altLang="en-US" sz="2200" b="0" kern="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保险: </a:t>
            </a:r>
            <a:r>
              <a:rPr lang="zh-CN" altLang="en-US"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对购买了汽车保险的客户，标识那些有较高平均赔偿成本的客户</a:t>
            </a:r>
            <a:endParaRPr lang="en-US" altLang="zh-CN"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a:lnSpc>
                <a:spcPct val="120000"/>
              </a:lnSpc>
              <a:spcBef>
                <a:spcPts val="600"/>
              </a:spcBef>
            </a:pPr>
            <a:r>
              <a:rPr lang="zh-CN" altLang="en-US" sz="2200" b="0" kern="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城市规划: </a:t>
            </a:r>
            <a:r>
              <a:rPr lang="zh-CN" altLang="en-US"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根据类型、价格、地理位置等来划分不同类型的住宅</a:t>
            </a:r>
            <a:endParaRPr lang="zh-CN" altLang="en-US"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a:lnSpc>
                <a:spcPct val="120000"/>
              </a:lnSpc>
              <a:spcBef>
                <a:spcPts val="600"/>
              </a:spcBef>
            </a:pPr>
            <a:r>
              <a:rPr lang="zh-CN" altLang="en-US" sz="2200" b="0" kern="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地震研究: </a:t>
            </a:r>
            <a:r>
              <a:rPr lang="zh-CN" altLang="en-US"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根据地质断层特点把已观察到的地震中心分成不同类</a:t>
            </a:r>
            <a:endParaRPr lang="en-US" altLang="zh-CN"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a:lnSpc>
                <a:spcPct val="90000"/>
              </a:lnSpc>
            </a:pPr>
            <a:r>
              <a:rPr lang="en-US" altLang="zh-CN" sz="2200" b="0" kern="0" dirty="0">
                <a:solidFill>
                  <a:srgbClr val="FF0000"/>
                </a:solidFill>
                <a:latin typeface="Calibri" panose="020F0502020204030204" pitchFamily="34" charset="0"/>
                <a:ea typeface="方正兰亭中黑_GBK" panose="02000000000000000000" pitchFamily="2" charset="-122"/>
                <a:cs typeface="Calibri" panose="020F0502020204030204" pitchFamily="34" charset="0"/>
              </a:rPr>
              <a:t>WEB</a:t>
            </a:r>
            <a:r>
              <a:rPr lang="zh-CN" altLang="en-US" sz="2200" b="0" kern="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文档分类</a:t>
            </a:r>
            <a:endParaRPr lang="en-US" altLang="zh-CN" sz="2200" b="0" kern="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a:lnSpc>
                <a:spcPct val="90000"/>
              </a:lnSpc>
            </a:pPr>
            <a:r>
              <a:rPr lang="zh-CN" altLang="en-US" sz="2200" b="0" kern="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恒星分类</a:t>
            </a:r>
            <a:endParaRPr lang="en-US" altLang="zh-CN" sz="2200" b="0" kern="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a:lnSpc>
                <a:spcPct val="90000"/>
              </a:lnSpc>
            </a:pPr>
            <a:r>
              <a:rPr lang="zh-CN" altLang="en-US" sz="22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孤立点分析</a:t>
            </a:r>
            <a:endParaRPr lang="zh-CN" altLang="en-US" sz="22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646331"/>
          </a:xfrm>
          <a:prstGeom prst="rect">
            <a:avLst/>
          </a:prstGeom>
        </p:spPr>
        <p:txBody>
          <a:bodyPr wrap="square">
            <a:spAutoFit/>
          </a:bodyPr>
          <a:lstStyle/>
          <a:p>
            <a:pPr algn="ct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本章内容</a:t>
            </a:r>
            <a:endPar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6" name="内容占位符 2"/>
          <p:cNvSpPr txBox="1">
            <a:spLocks noChangeArrowheads="1"/>
          </p:cNvSpPr>
          <p:nvPr/>
        </p:nvSpPr>
        <p:spPr>
          <a:xfrm>
            <a:off x="611560" y="1094492"/>
            <a:ext cx="8137525" cy="29825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6.1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什么是聚类分析</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FF0000"/>
                </a:solidFill>
                <a:latin typeface="Times New Roman" panose="02020603050405020304" pitchFamily="18" charset="0"/>
                <a:cs typeface="Times New Roman" panose="02020603050405020304" pitchFamily="18" charset="0"/>
              </a:rPr>
              <a:t>6.2  </a:t>
            </a:r>
            <a:r>
              <a:rPr lang="zh-CN" altLang="zh-CN" sz="2800" b="0" kern="0" dirty="0">
                <a:solidFill>
                  <a:srgbClr val="FF0000"/>
                </a:solidFill>
                <a:latin typeface="方正兰亭中黑_GBK" panose="02000000000000000000" pitchFamily="2" charset="-122"/>
                <a:ea typeface="方正兰亭中黑_GBK" panose="02000000000000000000" pitchFamily="2" charset="-122"/>
                <a:cs typeface="Times New Roman" panose="02020603050405020304" pitchFamily="18" charset="0"/>
              </a:rPr>
              <a:t>聚类分析中的数据类型</a:t>
            </a:r>
            <a:endParaRPr lang="zh-CN" altLang="zh-CN" sz="2800" b="0" kern="0" dirty="0">
              <a:solidFill>
                <a:srgbClr val="FF000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6.3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划分方法</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6.4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层次方法</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6.5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基于密度的方法</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6.2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聚类分析中的数据类型</a:t>
            </a:r>
            <a:endPar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683568" y="1412776"/>
            <a:ext cx="34544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indent="0" algn="ctr">
              <a:buFont typeface="Wingdings" panose="05000000000000000000" pitchFamily="2" charset="2"/>
              <a:buNone/>
              <a:defRPr/>
            </a:pPr>
            <a:r>
              <a:rPr lang="zh-CN" altLang="en-US" sz="28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数据矩阵</a:t>
            </a:r>
            <a:endParaRPr lang="en-US" altLang="zh-CN" sz="28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0" indent="0" algn="ctr">
              <a:buFont typeface="Wingdings" panose="05000000000000000000" pitchFamily="2" charset="2"/>
              <a:buNone/>
              <a:defRPr/>
            </a:pPr>
            <a:r>
              <a:rPr lang="en-US" altLang="zh-CN" sz="2800" dirty="0">
                <a:solidFill>
                  <a:srgbClr val="0070C0"/>
                </a:solidFill>
                <a:latin typeface="Calibri" panose="020F0502020204030204" pitchFamily="34" charset="0"/>
                <a:cs typeface="Calibri" panose="020F0502020204030204" pitchFamily="34" charset="0"/>
              </a:rPr>
              <a:t>(two modes)</a:t>
            </a:r>
            <a:endParaRPr lang="en-US" altLang="zh-CN" sz="2800" dirty="0">
              <a:solidFill>
                <a:srgbClr val="0070C0"/>
              </a:solidFill>
              <a:latin typeface="Calibri" panose="020F0502020204030204" pitchFamily="34" charset="0"/>
              <a:cs typeface="Calibri" panose="020F0502020204030204" pitchFamily="34" charset="0"/>
            </a:endParaRPr>
          </a:p>
          <a:p>
            <a:pPr algn="ctr">
              <a:defRPr/>
            </a:pPr>
            <a:endParaRPr lang="en-US" altLang="zh-CN" sz="2800" dirty="0">
              <a:latin typeface="Calibri" panose="020F0502020204030204" pitchFamily="34" charset="0"/>
              <a:cs typeface="Calibri" panose="020F0502020204030204" pitchFamily="34" charset="0"/>
            </a:endParaRPr>
          </a:p>
          <a:p>
            <a:pPr algn="ctr">
              <a:defRPr/>
            </a:pPr>
            <a:endParaRPr lang="en-US" altLang="zh-CN" sz="2800" dirty="0">
              <a:latin typeface="Calibri" panose="020F0502020204030204" pitchFamily="34" charset="0"/>
              <a:cs typeface="Calibri" panose="020F0502020204030204" pitchFamily="34" charset="0"/>
            </a:endParaRPr>
          </a:p>
          <a:p>
            <a:pPr algn="ctr">
              <a:defRPr/>
            </a:pPr>
            <a:endParaRPr lang="en-US" altLang="zh-CN" sz="2800" dirty="0">
              <a:latin typeface="Calibri" panose="020F0502020204030204" pitchFamily="34" charset="0"/>
              <a:cs typeface="Calibri" panose="020F0502020204030204" pitchFamily="34" charset="0"/>
            </a:endParaRPr>
          </a:p>
          <a:p>
            <a:pPr marL="0" indent="0" algn="ctr">
              <a:buNone/>
              <a:defRPr/>
            </a:pPr>
            <a:r>
              <a:rPr lang="zh-CN" altLang="en-US" sz="28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差异度矩阵</a:t>
            </a:r>
            <a:endParaRPr lang="en-US" altLang="zh-CN" sz="28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0" indent="0" algn="ctr">
              <a:buNone/>
              <a:defRPr/>
            </a:pPr>
            <a:r>
              <a:rPr lang="en-US" altLang="zh-CN" sz="2800" dirty="0">
                <a:solidFill>
                  <a:srgbClr val="0070C0"/>
                </a:solidFill>
                <a:latin typeface="Calibri" panose="020F0502020204030204" pitchFamily="34" charset="0"/>
                <a:cs typeface="Calibri" panose="020F0502020204030204" pitchFamily="34" charset="0"/>
              </a:rPr>
              <a:t>(one mode)</a:t>
            </a:r>
            <a:endParaRPr lang="en-US" altLang="zh-CN" sz="2800" dirty="0">
              <a:solidFill>
                <a:srgbClr val="0070C0"/>
              </a:solidFill>
              <a:latin typeface="Calibri" panose="020F0502020204030204" pitchFamily="34" charset="0"/>
              <a:cs typeface="Calibri" panose="020F0502020204030204" pitchFamily="34" charset="0"/>
            </a:endParaRPr>
          </a:p>
        </p:txBody>
      </p:sp>
      <p:pic>
        <p:nvPicPr>
          <p:cNvPr id="4" name="Object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417368" y="1184176"/>
            <a:ext cx="3124200" cy="205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Object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17368" y="3622576"/>
            <a:ext cx="3429000" cy="1970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6.2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聚类分析中的数据类型</a:t>
            </a:r>
            <a:endPar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6" name="Rectangle 3"/>
          <p:cNvSpPr txBox="1">
            <a:spLocks noChangeArrowheads="1"/>
          </p:cNvSpPr>
          <p:nvPr/>
        </p:nvSpPr>
        <p:spPr bwMode="auto">
          <a:xfrm>
            <a:off x="179512" y="1181100"/>
            <a:ext cx="8353425"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lvl="1" eaLnBrk="1" hangingPunct="1">
              <a:lnSpc>
                <a:spcPct val="120000"/>
              </a:lnSpc>
              <a:spcBef>
                <a:spcPts val="600"/>
              </a:spcBef>
              <a:spcAft>
                <a:spcPts val="600"/>
              </a:spcAft>
            </a:pPr>
            <a:r>
              <a:rPr lang="zh-CN" altLang="en-US" sz="28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差异度/相似度矩阵</a:t>
            </a:r>
            <a:r>
              <a:rPr lang="en-US" altLang="zh-CN" sz="28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 </a:t>
            </a:r>
            <a:r>
              <a:rPr lang="zh-CN" altLang="en-US" sz="28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相似度通常用距离函数来表示</a:t>
            </a:r>
            <a:endParaRPr lang="zh-CN" altLang="en-US" sz="28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600"/>
              </a:spcBef>
              <a:spcAft>
                <a:spcPts val="600"/>
              </a:spcAft>
            </a:pPr>
            <a:r>
              <a:rPr lang="zh-CN" altLang="en-US" sz="28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对不同类型的变量，</a:t>
            </a:r>
            <a:r>
              <a:rPr lang="zh-CN" altLang="en-US" sz="28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距离函数</a:t>
            </a:r>
            <a:r>
              <a:rPr lang="zh-CN" altLang="en-US" sz="28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的定义通常是不同的</a:t>
            </a:r>
            <a:endParaRPr lang="en-US" altLang="zh-CN" sz="28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600"/>
              </a:spcBef>
              <a:spcAft>
                <a:spcPts val="600"/>
              </a:spcAft>
            </a:pPr>
            <a:r>
              <a:rPr lang="zh-CN" altLang="en-US" sz="28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根据实际的应用和数据的语义，在计算距离的时候，不同的变量有不同的</a:t>
            </a:r>
            <a:r>
              <a:rPr lang="zh-CN" altLang="en-US" sz="28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权值</a:t>
            </a:r>
            <a:r>
              <a:rPr lang="zh-CN" altLang="en-US" sz="28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相联系</a:t>
            </a:r>
            <a:endParaRPr lang="zh-CN" altLang="en-US" sz="28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6.2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聚类分析中的数据类型</a:t>
            </a:r>
            <a:endPar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251520" y="1340768"/>
            <a:ext cx="8353425"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lvl="1" eaLnBrk="1" hangingPunct="1">
              <a:lnSpc>
                <a:spcPct val="120000"/>
              </a:lnSpc>
              <a:spcBef>
                <a:spcPts val="600"/>
              </a:spcBef>
              <a:spcAft>
                <a:spcPts val="600"/>
              </a:spcAft>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区间标度变量</a:t>
            </a:r>
            <a:r>
              <a:rPr lang="zh-CN" altLang="en-US" sz="2800" dirty="0">
                <a:solidFill>
                  <a:srgbClr val="FF0000"/>
                </a:solidFill>
                <a:latin typeface="Calibri" panose="020F0502020204030204" pitchFamily="34" charset="0"/>
                <a:cs typeface="Calibri" panose="020F0502020204030204" pitchFamily="34" charset="0"/>
              </a:rPr>
              <a:t>（</a:t>
            </a:r>
            <a:r>
              <a:rPr lang="en-US" altLang="zh-CN" sz="2800" b="0" dirty="0">
                <a:solidFill>
                  <a:srgbClr val="FF0000"/>
                </a:solidFill>
                <a:latin typeface="Calibri" panose="020F0502020204030204" pitchFamily="34" charset="0"/>
                <a:cs typeface="Calibri" panose="020F0502020204030204" pitchFamily="34" charset="0"/>
              </a:rPr>
              <a:t>Interval-scaled variables</a:t>
            </a:r>
            <a:r>
              <a:rPr lang="en-US" altLang="zh-CN" sz="2800" dirty="0">
                <a:solidFill>
                  <a:srgbClr val="FF0000"/>
                </a:solidFill>
                <a:latin typeface="Calibri" panose="020F0502020204030204" pitchFamily="34" charset="0"/>
                <a:cs typeface="Calibri" panose="020F0502020204030204" pitchFamily="34" charset="0"/>
              </a:rPr>
              <a:t>）</a:t>
            </a:r>
            <a:endParaRPr lang="en-US" altLang="zh-CN" sz="2800" dirty="0">
              <a:solidFill>
                <a:srgbClr val="FF0000"/>
              </a:solidFill>
              <a:latin typeface="Calibri" panose="020F0502020204030204" pitchFamily="34" charset="0"/>
              <a:cs typeface="Calibri" panose="020F0502020204030204" pitchFamily="34" charset="0"/>
            </a:endParaRPr>
          </a:p>
          <a:p>
            <a:pPr lvl="1" eaLnBrk="1" hangingPunct="1">
              <a:lnSpc>
                <a:spcPct val="120000"/>
              </a:lnSpc>
              <a:spcBef>
                <a:spcPts val="600"/>
              </a:spcBef>
              <a:spcAft>
                <a:spcPts val="600"/>
              </a:spcAft>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二元变量</a:t>
            </a:r>
            <a:r>
              <a:rPr lang="zh-CN" altLang="en-US" sz="2800" b="0" dirty="0">
                <a:solidFill>
                  <a:srgbClr val="FF0000"/>
                </a:solidFill>
                <a:latin typeface="Calibri" panose="020F0502020204030204" pitchFamily="34" charset="0"/>
                <a:cs typeface="Calibri" panose="020F0502020204030204" pitchFamily="34" charset="0"/>
              </a:rPr>
              <a:t>（</a:t>
            </a:r>
            <a:r>
              <a:rPr lang="en-US" altLang="zh-CN" sz="2800" b="0" dirty="0">
                <a:solidFill>
                  <a:srgbClr val="FF0000"/>
                </a:solidFill>
                <a:latin typeface="Calibri" panose="020F0502020204030204" pitchFamily="34" charset="0"/>
                <a:cs typeface="Calibri" panose="020F0502020204030204" pitchFamily="34" charset="0"/>
              </a:rPr>
              <a:t>Binary variables）</a:t>
            </a:r>
            <a:endParaRPr lang="en-US" altLang="zh-CN" sz="2800" b="0" dirty="0">
              <a:solidFill>
                <a:srgbClr val="FF0000"/>
              </a:solidFill>
              <a:latin typeface="Calibri" panose="020F0502020204030204" pitchFamily="34" charset="0"/>
              <a:cs typeface="Calibri" panose="020F0502020204030204" pitchFamily="34" charset="0"/>
            </a:endParaRPr>
          </a:p>
          <a:p>
            <a:pPr lvl="1" eaLnBrk="1" hangingPunct="1">
              <a:lnSpc>
                <a:spcPct val="120000"/>
              </a:lnSpc>
              <a:spcBef>
                <a:spcPts val="600"/>
              </a:spcBef>
              <a:spcAft>
                <a:spcPts val="600"/>
              </a:spcAft>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枚举型，序数型和比例型变量</a:t>
            </a:r>
            <a:r>
              <a:rPr lang="zh-CN" altLang="en-US" sz="2800" b="0" dirty="0">
                <a:solidFill>
                  <a:srgbClr val="FF0000"/>
                </a:solidFill>
                <a:latin typeface="Calibri" panose="020F0502020204030204" pitchFamily="34" charset="0"/>
                <a:cs typeface="Calibri" panose="020F0502020204030204" pitchFamily="34" charset="0"/>
              </a:rPr>
              <a:t>（</a:t>
            </a:r>
            <a:r>
              <a:rPr lang="en-US" altLang="zh-CN" sz="2800" b="0" dirty="0">
                <a:solidFill>
                  <a:srgbClr val="FF0000"/>
                </a:solidFill>
                <a:latin typeface="Calibri" panose="020F0502020204030204" pitchFamily="34" charset="0"/>
                <a:cs typeface="Calibri" panose="020F0502020204030204" pitchFamily="34" charset="0"/>
              </a:rPr>
              <a:t>Nominal, ordinal, and ratio variables）</a:t>
            </a:r>
            <a:endParaRPr lang="en-US" altLang="zh-CN" sz="2800" b="0" dirty="0">
              <a:solidFill>
                <a:srgbClr val="FF0000"/>
              </a:solidFill>
              <a:latin typeface="Calibri" panose="020F0502020204030204" pitchFamily="34" charset="0"/>
              <a:cs typeface="Calibri" panose="020F0502020204030204" pitchFamily="34" charset="0"/>
            </a:endParaRPr>
          </a:p>
          <a:p>
            <a:pPr lvl="1" eaLnBrk="1" hangingPunct="1">
              <a:lnSpc>
                <a:spcPct val="120000"/>
              </a:lnSpc>
              <a:spcBef>
                <a:spcPts val="600"/>
              </a:spcBef>
              <a:spcAft>
                <a:spcPts val="600"/>
              </a:spcAft>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混合类型变量</a:t>
            </a:r>
            <a:r>
              <a:rPr lang="zh-CN" altLang="en-US" sz="2800" b="0" dirty="0">
                <a:solidFill>
                  <a:srgbClr val="FF0000"/>
                </a:solidFill>
                <a:latin typeface="Calibri" panose="020F0502020204030204" pitchFamily="34" charset="0"/>
                <a:cs typeface="Calibri" panose="020F0502020204030204" pitchFamily="34" charset="0"/>
              </a:rPr>
              <a:t>（</a:t>
            </a:r>
            <a:r>
              <a:rPr lang="en-US" altLang="zh-CN" sz="2800" b="0" dirty="0">
                <a:solidFill>
                  <a:srgbClr val="FF0000"/>
                </a:solidFill>
                <a:latin typeface="Calibri" panose="020F0502020204030204" pitchFamily="34" charset="0"/>
                <a:cs typeface="Calibri" panose="020F0502020204030204" pitchFamily="34" charset="0"/>
              </a:rPr>
              <a:t>Variables of mixed types）</a:t>
            </a:r>
            <a:endParaRPr lang="en-US" altLang="zh-CN" sz="2800" b="0" dirty="0">
              <a:solidFill>
                <a:srgbClr val="FF0000"/>
              </a:solidFill>
              <a:latin typeface="Calibri" panose="020F0502020204030204" pitchFamily="34" charset="0"/>
              <a:cs typeface="Calibri" panose="020F0502020204030204" pitchFamily="34" charset="0"/>
            </a:endParaRPr>
          </a:p>
          <a:p>
            <a:pPr lvl="1" algn="ctr" eaLnBrk="1" hangingPunct="1">
              <a:lnSpc>
                <a:spcPct val="120000"/>
              </a:lnSpc>
              <a:spcBef>
                <a:spcPts val="600"/>
              </a:spcBef>
              <a:spcAft>
                <a:spcPts val="600"/>
              </a:spcAft>
            </a:pPr>
            <a:endParaRPr lang="zh-CN" altLang="en-US" sz="2800" dirty="0">
              <a:latin typeface="Calibri" panose="020F0502020204030204" pitchFamily="34" charset="0"/>
              <a:cs typeface="Calibri" panose="020F0502020204030204" pitchFamily="34" charset="0"/>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6.2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聚类分析中的数据类型</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区间标度变量</a:t>
            </a:r>
            <a:endParaRPr lang="zh-CN" altLang="en-US"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395287" y="938668"/>
            <a:ext cx="8353425" cy="5416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lvl="1">
              <a:lnSpc>
                <a:spcPct val="120000"/>
              </a:lnSpc>
              <a:spcBef>
                <a:spcPts val="600"/>
              </a:spcBef>
              <a:spcAft>
                <a:spcPts val="600"/>
              </a:spcAft>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区间标度变量</a:t>
            </a:r>
            <a:r>
              <a:rPr lang="zh-CN" altLang="en-US" sz="28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a:t>
            </a:r>
            <a:r>
              <a:rPr lang="zh-CN" altLang="en-US" sz="28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一种线形标度的连续度量</a:t>
            </a:r>
            <a:endParaRPr lang="zh-CN" altLang="en-US" sz="28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a:lnSpc>
                <a:spcPct val="120000"/>
              </a:lnSpc>
              <a:spcBef>
                <a:spcPts val="600"/>
              </a:spcBef>
              <a:spcAft>
                <a:spcPts val="600"/>
              </a:spcAft>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数据标准化</a:t>
            </a:r>
            <a:endPar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2">
              <a:lnSpc>
                <a:spcPct val="120000"/>
              </a:lnSpc>
              <a:spcBef>
                <a:spcPts val="600"/>
              </a:spcBef>
              <a:spcAft>
                <a:spcPts val="600"/>
              </a:spcAft>
              <a:buClr>
                <a:srgbClr val="0000FF"/>
              </a:buClr>
              <a:buFont typeface="Wingdings" panose="05000000000000000000" pitchFamily="2" charset="2"/>
              <a:buChar char="ü"/>
              <a:defRPr/>
            </a:pPr>
            <a:r>
              <a:rPr lang="zh-CN" altLang="en-US" sz="2000" b="0" dirty="0">
                <a:solidFill>
                  <a:srgbClr val="0070C0"/>
                </a:solidFill>
                <a:latin typeface="方正兰亭中黑_GBK" panose="02000000000000000000" pitchFamily="2" charset="-122"/>
                <a:ea typeface="方正兰亭中黑_GBK" panose="02000000000000000000" pitchFamily="2" charset="-122"/>
              </a:rPr>
              <a:t>计算绝对偏差的平均值:</a:t>
            </a:r>
            <a:endParaRPr lang="zh-CN" altLang="en-US" sz="2000" b="0" dirty="0">
              <a:solidFill>
                <a:srgbClr val="0070C0"/>
              </a:solidFill>
              <a:latin typeface="方正兰亭中黑_GBK" panose="02000000000000000000" pitchFamily="2" charset="-122"/>
              <a:ea typeface="方正兰亭中黑_GBK" panose="02000000000000000000" pitchFamily="2" charset="-122"/>
            </a:endParaRPr>
          </a:p>
          <a:p>
            <a:pPr>
              <a:lnSpc>
                <a:spcPct val="140000"/>
              </a:lnSpc>
              <a:defRPr/>
            </a:pPr>
            <a:endParaRPr lang="en-US" altLang="zh-CN" sz="2400" dirty="0">
              <a:ea typeface="宋体" panose="02010600030101010101" pitchFamily="2" charset="-122"/>
            </a:endParaRPr>
          </a:p>
          <a:p>
            <a:pPr lvl="1">
              <a:lnSpc>
                <a:spcPct val="140000"/>
              </a:lnSpc>
              <a:buFont typeface="Wingdings" panose="05000000000000000000" pitchFamily="2" charset="2"/>
              <a:buNone/>
              <a:defRPr/>
            </a:pPr>
            <a:r>
              <a:rPr lang="en-US" altLang="zh-CN" sz="2000" b="0" dirty="0">
                <a:solidFill>
                  <a:srgbClr val="0000FF"/>
                </a:solidFill>
                <a:latin typeface="+mn-ea"/>
              </a:rPr>
              <a:t>	   </a:t>
            </a:r>
            <a:r>
              <a:rPr lang="zh-CN" altLang="en-US" sz="2000" b="0" dirty="0">
                <a:solidFill>
                  <a:srgbClr val="0000FF"/>
                </a:solidFill>
                <a:latin typeface="+mn-ea"/>
              </a:rPr>
              <a:t>其中</a:t>
            </a:r>
            <a:endParaRPr lang="zh-CN" altLang="en-US" sz="2000" b="0" dirty="0">
              <a:solidFill>
                <a:srgbClr val="0000FF"/>
              </a:solidFill>
              <a:latin typeface="+mn-ea"/>
            </a:endParaRPr>
          </a:p>
          <a:p>
            <a:pPr lvl="2">
              <a:lnSpc>
                <a:spcPct val="120000"/>
              </a:lnSpc>
              <a:spcBef>
                <a:spcPts val="1200"/>
              </a:spcBef>
              <a:spcAft>
                <a:spcPts val="600"/>
              </a:spcAft>
              <a:buClr>
                <a:srgbClr val="0000FF"/>
              </a:buClr>
              <a:buFont typeface="Wingdings" panose="05000000000000000000" pitchFamily="2" charset="2"/>
              <a:buChar char="ü"/>
              <a:defRPr/>
            </a:pPr>
            <a:r>
              <a:rPr lang="zh-CN" altLang="en-US" sz="2000" b="0" dirty="0">
                <a:solidFill>
                  <a:srgbClr val="0070C0"/>
                </a:solidFill>
                <a:latin typeface="方正兰亭中黑_GBK" panose="02000000000000000000" pitchFamily="2" charset="-122"/>
                <a:ea typeface="方正兰亭中黑_GBK" panose="02000000000000000000" pitchFamily="2" charset="-122"/>
              </a:rPr>
              <a:t>计算标准度量值 </a:t>
            </a:r>
            <a:r>
              <a:rPr lang="zh-CN" altLang="en-US" sz="2000" b="0" dirty="0">
                <a:solidFill>
                  <a:srgbClr val="0070C0"/>
                </a:solidFill>
                <a:latin typeface="+mn-ea"/>
              </a:rPr>
              <a:t>(</a:t>
            </a:r>
            <a:r>
              <a:rPr lang="en-US" altLang="zh-CN" sz="2000" b="0" dirty="0">
                <a:solidFill>
                  <a:srgbClr val="0070C0"/>
                </a:solidFill>
                <a:latin typeface="Calibri" panose="020F0502020204030204" pitchFamily="34" charset="0"/>
                <a:cs typeface="Calibri" panose="020F0502020204030204" pitchFamily="34" charset="0"/>
              </a:rPr>
              <a:t>z-score</a:t>
            </a:r>
            <a:r>
              <a:rPr lang="en-US" altLang="zh-CN" sz="2000" b="0" dirty="0">
                <a:solidFill>
                  <a:srgbClr val="0070C0"/>
                </a:solidFill>
                <a:latin typeface="+mn-ea"/>
              </a:rPr>
              <a:t>)</a:t>
            </a:r>
            <a:endParaRPr lang="en-US" altLang="zh-CN" sz="2000" b="0" dirty="0">
              <a:solidFill>
                <a:srgbClr val="0070C0"/>
              </a:solidFill>
              <a:latin typeface="+mn-ea"/>
            </a:endParaRPr>
          </a:p>
          <a:p>
            <a:pPr>
              <a:lnSpc>
                <a:spcPct val="140000"/>
              </a:lnSpc>
              <a:defRPr/>
            </a:pPr>
            <a:endParaRPr lang="en-US" altLang="zh-CN" sz="2400" dirty="0">
              <a:ea typeface="宋体" panose="02010600030101010101" pitchFamily="2" charset="-122"/>
            </a:endParaRPr>
          </a:p>
          <a:p>
            <a:pPr lvl="1">
              <a:lnSpc>
                <a:spcPct val="120000"/>
              </a:lnSpc>
              <a:spcBef>
                <a:spcPts val="1200"/>
              </a:spcBef>
              <a:spcAft>
                <a:spcPts val="600"/>
              </a:spcAft>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使用绝对偏差的平均值比使用标准偏差更健壮（</a:t>
            </a:r>
            <a:r>
              <a:rPr lang="en-US" altLang="zh-CN" sz="2800" b="0" dirty="0">
                <a:solidFill>
                  <a:srgbClr val="FF0000"/>
                </a:solidFill>
                <a:latin typeface="Calibri" panose="020F0502020204030204" pitchFamily="34" charset="0"/>
                <a:ea typeface="方正兰亭中黑_GBK" panose="02000000000000000000" pitchFamily="2" charset="-122"/>
                <a:cs typeface="Calibri" panose="020F0502020204030204" pitchFamily="34" charset="0"/>
              </a:rPr>
              <a:t>robust</a:t>
            </a:r>
            <a:r>
              <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a:t>
            </a:r>
            <a:endPar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sym typeface="Symbol" panose="05050102010706020507" pitchFamily="18" charset="2"/>
            </a:endParaRPr>
          </a:p>
        </p:txBody>
      </p:sp>
      <p:pic>
        <p:nvPicPr>
          <p:cNvPr id="4" name="对象 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835696" y="2848764"/>
            <a:ext cx="504031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对象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3400731"/>
            <a:ext cx="2808287"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对象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43336" y="4382524"/>
            <a:ext cx="1584325"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6.2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聚类分析中的数据类型</a:t>
            </a:r>
            <a:endPar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6"/>
          <p:cNvSpPr txBox="1">
            <a:spLocks noChangeArrowheads="1"/>
          </p:cNvSpPr>
          <p:nvPr/>
        </p:nvSpPr>
        <p:spPr bwMode="auto">
          <a:xfrm>
            <a:off x="179512" y="1124744"/>
            <a:ext cx="8509000"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0850" indent="-450850" eaLnBrk="0" hangingPunct="0">
              <a:defRPr b="1">
                <a:solidFill>
                  <a:schemeClr val="tx1"/>
                </a:solidFill>
                <a:latin typeface="Verdana" panose="020B0604030504040204" pitchFamily="34" charset="0"/>
                <a:ea typeface="宋体" panose="02010600030101010101" pitchFamily="2" charset="-122"/>
              </a:defRPr>
            </a:lvl1pPr>
            <a:lvl2pPr marL="908050" indent="-43688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nSpc>
                <a:spcPct val="130000"/>
              </a:lnSpc>
              <a:spcBef>
                <a:spcPct val="20000"/>
              </a:spcBef>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rPr>
              <a:t>距离可用于测量两个数据对象间的相似性或差异性</a:t>
            </a:r>
            <a:endParaRPr lang="en-US" altLang="zh-CN" sz="2800" b="0" dirty="0">
              <a:solidFill>
                <a:srgbClr val="FF0000"/>
              </a:solidFill>
              <a:latin typeface="方正兰亭中黑_GBK" panose="02000000000000000000" pitchFamily="2" charset="-122"/>
              <a:ea typeface="方正兰亭中黑_GBK" panose="02000000000000000000" pitchFamily="2" charset="-122"/>
            </a:endParaRPr>
          </a:p>
          <a:p>
            <a:pPr>
              <a:lnSpc>
                <a:spcPct val="130000"/>
              </a:lnSpc>
              <a:spcBef>
                <a:spcPct val="20000"/>
              </a:spcBef>
              <a:spcAft>
                <a:spcPts val="600"/>
              </a:spcAft>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rPr>
              <a:t>常用的距离表示：</a:t>
            </a:r>
            <a:r>
              <a:rPr lang="en-US" altLang="zh-CN" sz="2800" b="0" dirty="0">
                <a:solidFill>
                  <a:srgbClr val="FF0000"/>
                </a:solidFill>
                <a:latin typeface="方正兰亭中黑_GBK" panose="02000000000000000000" pitchFamily="2" charset="-122"/>
                <a:ea typeface="方正兰亭中黑_GBK" panose="02000000000000000000" pitchFamily="2" charset="-122"/>
              </a:rPr>
              <a:t> </a:t>
            </a:r>
            <a:r>
              <a:rPr lang="en-US" altLang="zh-CN" sz="2800" dirty="0" err="1">
                <a:solidFill>
                  <a:srgbClr val="0000FF"/>
                </a:solidFill>
                <a:latin typeface="Calibri" panose="020F0502020204030204" pitchFamily="34" charset="0"/>
                <a:cs typeface="Calibri" panose="020F0502020204030204" pitchFamily="34" charset="0"/>
              </a:rPr>
              <a:t>Minkowski</a:t>
            </a:r>
            <a:r>
              <a:rPr lang="en-US" altLang="zh-CN" sz="2800" dirty="0">
                <a:solidFill>
                  <a:srgbClr val="0000FF"/>
                </a:solidFill>
                <a:latin typeface="Calibri" panose="020F0502020204030204" pitchFamily="34" charset="0"/>
                <a:cs typeface="Calibri" panose="020F0502020204030204" pitchFamily="34" charset="0"/>
              </a:rPr>
              <a:t> Distance</a:t>
            </a:r>
            <a:endParaRPr lang="en-US" altLang="zh-CN" sz="2800" dirty="0">
              <a:solidFill>
                <a:srgbClr val="0000FF"/>
              </a:solidFill>
              <a:latin typeface="Calibri" panose="020F0502020204030204" pitchFamily="34" charset="0"/>
              <a:cs typeface="Calibri" panose="020F0502020204030204" pitchFamily="34" charset="0"/>
            </a:endParaRPr>
          </a:p>
          <a:p>
            <a:pPr>
              <a:lnSpc>
                <a:spcPct val="130000"/>
              </a:lnSpc>
              <a:spcBef>
                <a:spcPct val="20000"/>
              </a:spcBef>
              <a:spcAft>
                <a:spcPts val="600"/>
              </a:spcAft>
              <a:buClr>
                <a:schemeClr val="accent2"/>
              </a:buClr>
              <a:buFont typeface="Wingdings" panose="05000000000000000000" pitchFamily="2" charset="2"/>
              <a:buChar char="n"/>
              <a:defRPr/>
            </a:pPr>
            <a:endParaRPr lang="en-US" altLang="zh-CN" sz="2800" dirty="0">
              <a:solidFill>
                <a:srgbClr val="0000FF"/>
              </a:solidFill>
              <a:effectLst>
                <a:outerShdw blurRad="38100" dist="38100" dir="2700000" algn="tl">
                  <a:srgbClr val="C0C0C0"/>
                </a:outerShdw>
              </a:effectLst>
              <a:latin typeface="Calibri" panose="020F0502020204030204" pitchFamily="34" charset="0"/>
              <a:ea typeface="黑体" panose="02010609060101010101" pitchFamily="49" charset="-122"/>
              <a:cs typeface="Calibri" panose="020F0502020204030204" pitchFamily="34" charset="0"/>
            </a:endParaRPr>
          </a:p>
          <a:p>
            <a:pPr marL="0" indent="0">
              <a:lnSpc>
                <a:spcPct val="130000"/>
              </a:lnSpc>
              <a:spcBef>
                <a:spcPct val="20000"/>
              </a:spcBef>
              <a:spcAft>
                <a:spcPts val="600"/>
              </a:spcAft>
              <a:buClr>
                <a:schemeClr val="accent2"/>
              </a:buClr>
              <a:defRPr/>
            </a:pPr>
            <a:r>
              <a:rPr lang="en-US" altLang="zh-CN" sz="2800" dirty="0">
                <a:solidFill>
                  <a:srgbClr val="0000FF"/>
                </a:solidFill>
                <a:effectLst>
                  <a:outerShdw blurRad="38100" dist="38100" dir="2700000" algn="tl">
                    <a:srgbClr val="C0C0C0"/>
                  </a:outerShdw>
                </a:effectLst>
                <a:latin typeface="Calibri" panose="020F0502020204030204" pitchFamily="34" charset="0"/>
                <a:ea typeface="黑体" panose="02010609060101010101" pitchFamily="49" charset="-122"/>
                <a:cs typeface="Calibri" panose="020F0502020204030204" pitchFamily="34" charset="0"/>
              </a:rPr>
              <a:t>                                       </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与</a:t>
            </a:r>
            <a:r>
              <a:rPr lang="en-US" altLang="zh-CN" sz="2800" b="0" dirty="0">
                <a:solidFill>
                  <a:srgbClr val="0000FF"/>
                </a:solidFill>
                <a:effectLst>
                  <a:outerShdw blurRad="38100" dist="38100" dir="2700000" algn="tl">
                    <a:srgbClr val="C0C0C0"/>
                  </a:outerShdw>
                </a:effectLst>
                <a:latin typeface="Calibri" panose="020F0502020204030204" pitchFamily="34" charset="0"/>
                <a:ea typeface="黑体" panose="02010609060101010101" pitchFamily="49" charset="-122"/>
                <a:cs typeface="Calibri" panose="020F0502020204030204" pitchFamily="34" charset="0"/>
              </a:rPr>
              <a:t>          </a:t>
            </a:r>
            <a:r>
              <a:rPr lang="en-US" altLang="zh-CN" sz="2800" b="0" dirty="0">
                <a:solidFill>
                  <a:srgbClr val="0070C0"/>
                </a:solidFill>
                <a:effectLst>
                  <a:outerShdw blurRad="38100" dist="38100" dir="2700000" algn="tl">
                    <a:srgbClr val="C0C0C0"/>
                  </a:outerShdw>
                </a:effectLst>
                <a:latin typeface="Calibri" panose="020F0502020204030204" pitchFamily="34" charset="0"/>
                <a:ea typeface="黑体" panose="02010609060101010101" pitchFamily="49" charset="-122"/>
                <a:cs typeface="Calibri" panose="020F0502020204030204" pitchFamily="34" charset="0"/>
              </a:rPr>
              <a:t>                     </a:t>
            </a:r>
            <a:r>
              <a:rPr lang="en-US" altLang="zh-CN" sz="2800" b="0" dirty="0">
                <a:solidFill>
                  <a:srgbClr val="0000FF"/>
                </a:solidFill>
                <a:effectLst>
                  <a:outerShdw blurRad="38100" dist="38100" dir="2700000" algn="tl">
                    <a:srgbClr val="C0C0C0"/>
                  </a:outerShdw>
                </a:effectLst>
                <a:latin typeface="Calibri" panose="020F0502020204030204" pitchFamily="34" charset="0"/>
                <a:ea typeface="黑体" panose="02010609060101010101" pitchFamily="49" charset="-122"/>
                <a:cs typeface="Calibri" panose="020F0502020204030204" pitchFamily="34" charset="0"/>
              </a:rPr>
              <a:t>    </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是两个</a:t>
            </a:r>
            <a:r>
              <a:rPr lang="en-US" altLang="zh-CN"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p-</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维的数据对象，</a:t>
            </a:r>
            <a:r>
              <a:rPr lang="en-US" altLang="zh-CN"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p</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为正整数</a:t>
            </a:r>
            <a:endParaRPr lang="en-US" altLang="zh-CN"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800100" lvl="1" indent="-342900">
              <a:lnSpc>
                <a:spcPct val="130000"/>
              </a:lnSpc>
              <a:spcBef>
                <a:spcPct val="20000"/>
              </a:spcBef>
              <a:spcAft>
                <a:spcPts val="600"/>
              </a:spcAft>
              <a:buClr>
                <a:srgbClr val="0000FF"/>
              </a:buClr>
              <a:buFont typeface="Wingdings" panose="05000000000000000000" pitchFamily="2" charset="2"/>
              <a:buChar char="ü"/>
              <a:defRPr/>
            </a:pPr>
            <a:r>
              <a:rPr lang="zh-CN" altLang="en-US" sz="2400" dirty="0">
                <a:latin typeface="Calibri" panose="020F0502020204030204" pitchFamily="34" charset="0"/>
                <a:ea typeface="黑体" panose="02010609060101010101" pitchFamily="49" charset="-122"/>
                <a:cs typeface="Calibri" panose="020F0502020204030204" pitchFamily="34" charset="0"/>
              </a:rPr>
              <a:t> </a:t>
            </a:r>
            <a:r>
              <a:rPr lang="zh-CN" altLang="en-US" sz="2400" dirty="0">
                <a:solidFill>
                  <a:srgbClr val="0000FF"/>
                </a:solidFill>
                <a:latin typeface="Calibri" panose="020F0502020204030204" pitchFamily="34" charset="0"/>
                <a:ea typeface="黑体" panose="02010609060101010101" pitchFamily="49" charset="-122"/>
                <a:cs typeface="Calibri" panose="020F0502020204030204" pitchFamily="34" charset="0"/>
              </a:rPr>
              <a:t>如果</a:t>
            </a:r>
            <a:r>
              <a:rPr lang="en-US" altLang="zh-CN" sz="2400" i="1" dirty="0">
                <a:solidFill>
                  <a:srgbClr val="0000FF"/>
                </a:solidFill>
                <a:latin typeface="Calibri" panose="020F0502020204030204" pitchFamily="34" charset="0"/>
                <a:ea typeface="黑体" panose="02010609060101010101" pitchFamily="49" charset="-122"/>
                <a:cs typeface="Calibri" panose="020F0502020204030204" pitchFamily="34" charset="0"/>
              </a:rPr>
              <a:t>q</a:t>
            </a:r>
            <a:r>
              <a:rPr lang="en-US" altLang="zh-CN" sz="2400" dirty="0">
                <a:solidFill>
                  <a:srgbClr val="0000FF"/>
                </a:solidFill>
                <a:latin typeface="Calibri" panose="020F0502020204030204" pitchFamily="34" charset="0"/>
                <a:ea typeface="黑体" panose="02010609060101010101" pitchFamily="49" charset="-122"/>
                <a:cs typeface="Calibri" panose="020F0502020204030204" pitchFamily="34" charset="0"/>
              </a:rPr>
              <a:t>=1</a:t>
            </a:r>
            <a:r>
              <a:rPr lang="zh-CN" altLang="en-US" sz="2400" dirty="0">
                <a:solidFill>
                  <a:srgbClr val="0000FF"/>
                </a:solidFill>
                <a:latin typeface="Calibri" panose="020F0502020204030204" pitchFamily="34" charset="0"/>
                <a:ea typeface="黑体" panose="02010609060101010101" pitchFamily="49" charset="-122"/>
                <a:cs typeface="Calibri" panose="020F0502020204030204" pitchFamily="34" charset="0"/>
              </a:rPr>
              <a:t>，</a:t>
            </a:r>
            <a:r>
              <a:rPr lang="en-US" altLang="zh-CN" sz="2400" dirty="0">
                <a:solidFill>
                  <a:srgbClr val="0000FF"/>
                </a:solidFill>
                <a:latin typeface="Calibri" panose="020F0502020204030204" pitchFamily="34" charset="0"/>
                <a:ea typeface="黑体" panose="02010609060101010101" pitchFamily="49" charset="-122"/>
                <a:cs typeface="Calibri" panose="020F0502020204030204" pitchFamily="34" charset="0"/>
              </a:rPr>
              <a:t>d</a:t>
            </a:r>
            <a:r>
              <a:rPr lang="zh-CN" altLang="en-US" sz="2400" dirty="0">
                <a:solidFill>
                  <a:srgbClr val="0000FF"/>
                </a:solidFill>
                <a:latin typeface="Calibri" panose="020F0502020204030204" pitchFamily="34" charset="0"/>
                <a:ea typeface="黑体" panose="02010609060101010101" pitchFamily="49" charset="-122"/>
                <a:cs typeface="Calibri" panose="020F0502020204030204" pitchFamily="34" charset="0"/>
              </a:rPr>
              <a:t>为</a:t>
            </a:r>
            <a:r>
              <a:rPr lang="en-US" altLang="zh-CN" sz="2400" dirty="0">
                <a:solidFill>
                  <a:srgbClr val="0000FF"/>
                </a:solidFill>
                <a:latin typeface="Calibri" panose="020F0502020204030204" pitchFamily="34" charset="0"/>
                <a:ea typeface="黑体" panose="02010609060101010101" pitchFamily="49" charset="-122"/>
                <a:cs typeface="Calibri" panose="020F0502020204030204" pitchFamily="34" charset="0"/>
              </a:rPr>
              <a:t>Manhattan  Distance</a:t>
            </a:r>
            <a:endParaRPr lang="en-US" altLang="zh-CN" sz="3200" dirty="0">
              <a:solidFill>
                <a:srgbClr val="0000FF"/>
              </a:solidFill>
              <a:ea typeface="黑体" panose="02010609060101010101" pitchFamily="49" charset="-122"/>
            </a:endParaRPr>
          </a:p>
        </p:txBody>
      </p:sp>
      <p:graphicFrame>
        <p:nvGraphicFramePr>
          <p:cNvPr id="4" name="对象 1"/>
          <p:cNvGraphicFramePr>
            <a:graphicFrameLocks noChangeAspect="1"/>
          </p:cNvGraphicFramePr>
          <p:nvPr/>
        </p:nvGraphicFramePr>
        <p:xfrm>
          <a:off x="766887" y="2492896"/>
          <a:ext cx="7334250" cy="623888"/>
        </p:xfrm>
        <a:graphic>
          <a:graphicData uri="http://schemas.openxmlformats.org/presentationml/2006/ole">
            <mc:AlternateContent xmlns:mc="http://schemas.openxmlformats.org/markup-compatibility/2006">
              <mc:Choice xmlns:v="urn:schemas-microsoft-com:vml" Requires="v">
                <p:oleObj spid="_x0000_s26638" name="Formula" r:id="rId1" imgW="3303270" imgH="280670" progId="Equation.Ribbit">
                  <p:embed/>
                </p:oleObj>
              </mc:Choice>
              <mc:Fallback>
                <p:oleObj name="Formula" r:id="rId1" imgW="3303270" imgH="280670" progId="Equation.Ribbit">
                  <p:embed/>
                  <p:pic>
                    <p:nvPicPr>
                      <p:cNvPr id="0" name="对象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887" y="2492896"/>
                        <a:ext cx="7334250"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2"/>
          <p:cNvGraphicFramePr>
            <a:graphicFrameLocks noChangeAspect="1"/>
          </p:cNvGraphicFramePr>
          <p:nvPr/>
        </p:nvGraphicFramePr>
        <p:xfrm>
          <a:off x="766887" y="3339580"/>
          <a:ext cx="2573337" cy="401637"/>
        </p:xfrm>
        <a:graphic>
          <a:graphicData uri="http://schemas.openxmlformats.org/presentationml/2006/ole">
            <mc:AlternateContent xmlns:mc="http://schemas.openxmlformats.org/markup-compatibility/2006">
              <mc:Choice xmlns:v="urn:schemas-microsoft-com:vml" Requires="v">
                <p:oleObj spid="_x0000_s26639" name="Formula" r:id="rId3" imgW="1158240" imgH="180340" progId="Equation.Ribbit">
                  <p:embed/>
                </p:oleObj>
              </mc:Choice>
              <mc:Fallback>
                <p:oleObj name="Formula" r:id="rId3" imgW="1158240" imgH="180340" progId="Equation.Ribbit">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887" y="3339580"/>
                        <a:ext cx="2573337"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3"/>
          <p:cNvGraphicFramePr>
            <a:graphicFrameLocks noChangeAspect="1"/>
          </p:cNvGraphicFramePr>
          <p:nvPr/>
        </p:nvGraphicFramePr>
        <p:xfrm>
          <a:off x="3779912" y="3339580"/>
          <a:ext cx="2676525" cy="401637"/>
        </p:xfrm>
        <a:graphic>
          <a:graphicData uri="http://schemas.openxmlformats.org/presentationml/2006/ole">
            <mc:AlternateContent xmlns:mc="http://schemas.openxmlformats.org/markup-compatibility/2006">
              <mc:Choice xmlns:v="urn:schemas-microsoft-com:vml" Requires="v">
                <p:oleObj spid="_x0000_s26640" name="Formula" r:id="rId5" imgW="1203960" imgH="180340" progId="Equation.Ribbit">
                  <p:embed/>
                </p:oleObj>
              </mc:Choice>
              <mc:Fallback>
                <p:oleObj name="Formula" r:id="rId5" imgW="1203960" imgH="180340" progId="Equation.Ribbit">
                  <p:embed/>
                  <p:pic>
                    <p:nvPicPr>
                      <p:cNvPr id="0"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9912" y="3339580"/>
                        <a:ext cx="267652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766887" y="5157192"/>
          <a:ext cx="6588125" cy="403225"/>
        </p:xfrm>
        <a:graphic>
          <a:graphicData uri="http://schemas.openxmlformats.org/presentationml/2006/ole">
            <mc:AlternateContent xmlns:mc="http://schemas.openxmlformats.org/markup-compatibility/2006">
              <mc:Choice xmlns:v="urn:schemas-microsoft-com:vml" Requires="v">
                <p:oleObj spid="_x0000_s26641" name="Formula" r:id="rId7" imgW="2966720" imgH="180340" progId="Equation.Ribbit">
                  <p:embed/>
                </p:oleObj>
              </mc:Choice>
              <mc:Fallback>
                <p:oleObj name="Formula" r:id="rId7" imgW="2966720" imgH="180340" progId="Equation.Ribbit">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6887" y="5157192"/>
                        <a:ext cx="658812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6.2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聚类分析中的数据类型</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a:t>
            </a:r>
            <a:r>
              <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数值型</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8" name="Rectangle 6"/>
          <p:cNvSpPr txBox="1">
            <a:spLocks noChangeArrowheads="1"/>
          </p:cNvSpPr>
          <p:nvPr/>
        </p:nvSpPr>
        <p:spPr bwMode="auto">
          <a:xfrm>
            <a:off x="0" y="1124744"/>
            <a:ext cx="8509000"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0850" indent="-45085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800100" indent="-34290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lvl="1">
              <a:lnSpc>
                <a:spcPct val="130000"/>
              </a:lnSpc>
              <a:spcAft>
                <a:spcPts val="600"/>
              </a:spcAft>
              <a:buClr>
                <a:srgbClr val="0000FF"/>
              </a:buClr>
              <a:buFont typeface="Wingdings" panose="05000000000000000000" pitchFamily="2" charset="2"/>
              <a:buChar char="ü"/>
            </a:pPr>
            <a:r>
              <a:rPr lang="zh-CN" altLang="en-US" sz="2400" dirty="0">
                <a:solidFill>
                  <a:srgbClr val="0000FF"/>
                </a:solidFill>
                <a:latin typeface="Calibri" panose="020F0502020204030204" pitchFamily="34" charset="0"/>
                <a:cs typeface="Calibri" panose="020F0502020204030204" pitchFamily="34" charset="0"/>
              </a:rPr>
              <a:t> </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如果</a:t>
            </a:r>
            <a:r>
              <a:rPr lang="en-US" altLang="zh-CN" sz="2400" b="0" i="1" dirty="0">
                <a:solidFill>
                  <a:srgbClr val="0000FF"/>
                </a:solidFill>
                <a:latin typeface="Calibri" panose="020F0502020204030204" pitchFamily="34" charset="0"/>
                <a:cs typeface="Calibri" panose="020F0502020204030204" pitchFamily="34" charset="0"/>
              </a:rPr>
              <a:t>q</a:t>
            </a:r>
            <a:r>
              <a:rPr lang="en-US" altLang="zh-CN" sz="2400" b="0" dirty="0">
                <a:solidFill>
                  <a:srgbClr val="0000FF"/>
                </a:solidFill>
                <a:latin typeface="Calibri" panose="020F0502020204030204" pitchFamily="34" charset="0"/>
                <a:cs typeface="Calibri" panose="020F0502020204030204" pitchFamily="34" charset="0"/>
              </a:rPr>
              <a:t>=2</a:t>
            </a:r>
            <a:r>
              <a:rPr lang="zh-CN" altLang="en-US" sz="2400" dirty="0">
                <a:solidFill>
                  <a:srgbClr val="0000FF"/>
                </a:solidFill>
                <a:latin typeface="Calibri" panose="020F0502020204030204" pitchFamily="34" charset="0"/>
                <a:cs typeface="Calibri" panose="020F0502020204030204" pitchFamily="34" charset="0"/>
              </a:rPr>
              <a:t>，</a:t>
            </a:r>
            <a:r>
              <a:rPr lang="en-US" altLang="zh-CN" sz="2400" b="0" dirty="0">
                <a:solidFill>
                  <a:srgbClr val="0000FF"/>
                </a:solidFill>
                <a:latin typeface="Calibri" panose="020F0502020204030204" pitchFamily="34" charset="0"/>
                <a:cs typeface="Calibri" panose="020F0502020204030204" pitchFamily="34" charset="0"/>
              </a:rPr>
              <a:t>d</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为</a:t>
            </a:r>
            <a:r>
              <a:rPr lang="en-US" altLang="zh-CN" sz="2400" b="0" dirty="0">
                <a:solidFill>
                  <a:srgbClr val="0000FF"/>
                </a:solidFill>
                <a:latin typeface="Calibri" panose="020F0502020204030204" pitchFamily="34" charset="0"/>
                <a:cs typeface="Calibri" panose="020F0502020204030204" pitchFamily="34" charset="0"/>
              </a:rPr>
              <a:t>Euclidean Distance</a:t>
            </a:r>
            <a:endParaRPr lang="en-US" altLang="zh-CN" sz="2400" b="0" dirty="0">
              <a:solidFill>
                <a:srgbClr val="0000FF"/>
              </a:solidFill>
              <a:latin typeface="Calibri" panose="020F0502020204030204" pitchFamily="34" charset="0"/>
              <a:cs typeface="Calibri" panose="020F0502020204030204" pitchFamily="34" charset="0"/>
            </a:endParaRPr>
          </a:p>
          <a:p>
            <a:pPr lvl="1">
              <a:lnSpc>
                <a:spcPct val="130000"/>
              </a:lnSpc>
              <a:spcAft>
                <a:spcPts val="600"/>
              </a:spcAft>
              <a:buClr>
                <a:srgbClr val="0000FF"/>
              </a:buClr>
              <a:buFont typeface="Wingdings" panose="05000000000000000000" pitchFamily="2" charset="2"/>
              <a:buChar char="ü"/>
            </a:pPr>
            <a:endParaRPr lang="en-US" altLang="zh-CN" sz="2400" dirty="0">
              <a:solidFill>
                <a:srgbClr val="0000FF"/>
              </a:solidFill>
              <a:latin typeface="Calibri" panose="020F0502020204030204" pitchFamily="34" charset="0"/>
              <a:cs typeface="Calibri" panose="020F0502020204030204" pitchFamily="34" charset="0"/>
            </a:endParaRPr>
          </a:p>
          <a:p>
            <a:pPr lvl="1">
              <a:lnSpc>
                <a:spcPct val="130000"/>
              </a:lnSpc>
              <a:spcBef>
                <a:spcPts val="1200"/>
              </a:spcBef>
              <a:spcAft>
                <a:spcPts val="600"/>
              </a:spcAft>
              <a:buClr>
                <a:srgbClr val="0000FF"/>
              </a:buClr>
              <a:buFont typeface="Wingdings" panose="05000000000000000000" pitchFamily="2" charset="2"/>
              <a:buChar char="ü"/>
            </a:pP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性质</a:t>
            </a:r>
            <a:endParaRPr lang="en-US" altLang="zh-CN"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graphicFrame>
        <p:nvGraphicFramePr>
          <p:cNvPr id="9" name="对象 1"/>
          <p:cNvGraphicFramePr>
            <a:graphicFrameLocks noChangeAspect="1"/>
          </p:cNvGraphicFramePr>
          <p:nvPr/>
        </p:nvGraphicFramePr>
        <p:xfrm>
          <a:off x="904875" y="1772816"/>
          <a:ext cx="7334250" cy="600075"/>
        </p:xfrm>
        <a:graphic>
          <a:graphicData uri="http://schemas.openxmlformats.org/presentationml/2006/ole">
            <mc:AlternateContent xmlns:mc="http://schemas.openxmlformats.org/markup-compatibility/2006">
              <mc:Choice xmlns:v="urn:schemas-microsoft-com:vml" Requires="v">
                <p:oleObj spid="_x0000_s27665" name="Formula" r:id="rId1" imgW="3303270" imgH="269240" progId="Equation.Ribbit">
                  <p:embed/>
                </p:oleObj>
              </mc:Choice>
              <mc:Fallback>
                <p:oleObj name="Formula" r:id="rId1" imgW="3303270" imgH="269240" progId="Equation.Ribbit">
                  <p:embed/>
                  <p:pic>
                    <p:nvPicPr>
                      <p:cNvPr id="0" name="对象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875" y="1772816"/>
                        <a:ext cx="73342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7"/>
          <p:cNvGraphicFramePr>
            <a:graphicFrameLocks noChangeAspect="1"/>
          </p:cNvGraphicFramePr>
          <p:nvPr/>
        </p:nvGraphicFramePr>
        <p:xfrm>
          <a:off x="904875" y="3068030"/>
          <a:ext cx="1352550" cy="373062"/>
        </p:xfrm>
        <a:graphic>
          <a:graphicData uri="http://schemas.openxmlformats.org/presentationml/2006/ole">
            <mc:AlternateContent xmlns:mc="http://schemas.openxmlformats.org/markup-compatibility/2006">
              <mc:Choice xmlns:v="urn:schemas-microsoft-com:vml" Requires="v">
                <p:oleObj spid="_x0000_s27666" name="Formula" r:id="rId3" imgW="609600" imgH="167640" progId="Equation.Ribbit">
                  <p:embed/>
                </p:oleObj>
              </mc:Choice>
              <mc:Fallback>
                <p:oleObj name="Formula" r:id="rId3" imgW="609600" imgH="167640" progId="Equation.Ribbit">
                  <p:embed/>
                  <p:pic>
                    <p:nvPicPr>
                      <p:cNvPr id="0"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875" y="3068030"/>
                        <a:ext cx="1352550"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8"/>
          <p:cNvGraphicFramePr>
            <a:graphicFrameLocks noChangeAspect="1"/>
          </p:cNvGraphicFramePr>
          <p:nvPr/>
        </p:nvGraphicFramePr>
        <p:xfrm>
          <a:off x="923925" y="3585555"/>
          <a:ext cx="1312863" cy="373062"/>
        </p:xfrm>
        <a:graphic>
          <a:graphicData uri="http://schemas.openxmlformats.org/presentationml/2006/ole">
            <mc:AlternateContent xmlns:mc="http://schemas.openxmlformats.org/markup-compatibility/2006">
              <mc:Choice xmlns:v="urn:schemas-microsoft-com:vml" Requires="v">
                <p:oleObj spid="_x0000_s27667" name="Formula" r:id="rId5" imgW="591820" imgH="167640" progId="Equation.Ribbit">
                  <p:embed/>
                </p:oleObj>
              </mc:Choice>
              <mc:Fallback>
                <p:oleObj name="Formula" r:id="rId5" imgW="591820" imgH="167640" progId="Equation.Ribbit">
                  <p:embed/>
                  <p:pic>
                    <p:nvPicPr>
                      <p:cNvPr id="0" name="对象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3925" y="3585555"/>
                        <a:ext cx="1312863"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9"/>
          <p:cNvGraphicFramePr>
            <a:graphicFrameLocks noChangeAspect="1"/>
          </p:cNvGraphicFramePr>
          <p:nvPr/>
        </p:nvGraphicFramePr>
        <p:xfrm>
          <a:off x="904875" y="4088792"/>
          <a:ext cx="1946275" cy="373063"/>
        </p:xfrm>
        <a:graphic>
          <a:graphicData uri="http://schemas.openxmlformats.org/presentationml/2006/ole">
            <mc:AlternateContent xmlns:mc="http://schemas.openxmlformats.org/markup-compatibility/2006">
              <mc:Choice xmlns:v="urn:schemas-microsoft-com:vml" Requires="v">
                <p:oleObj spid="_x0000_s27668" name="Formula" r:id="rId7" imgW="877570" imgH="167640" progId="Equation.Ribbit">
                  <p:embed/>
                </p:oleObj>
              </mc:Choice>
              <mc:Fallback>
                <p:oleObj name="Formula" r:id="rId7" imgW="877570" imgH="167640" progId="Equation.Ribbit">
                  <p:embed/>
                  <p:pic>
                    <p:nvPicPr>
                      <p:cNvPr id="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4875" y="4088792"/>
                        <a:ext cx="1946275"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0"/>
          <p:cNvGraphicFramePr>
            <a:graphicFrameLocks noChangeAspect="1"/>
          </p:cNvGraphicFramePr>
          <p:nvPr/>
        </p:nvGraphicFramePr>
        <p:xfrm>
          <a:off x="904875" y="4665055"/>
          <a:ext cx="3209925" cy="373062"/>
        </p:xfrm>
        <a:graphic>
          <a:graphicData uri="http://schemas.openxmlformats.org/presentationml/2006/ole">
            <mc:AlternateContent xmlns:mc="http://schemas.openxmlformats.org/markup-compatibility/2006">
              <mc:Choice xmlns:v="urn:schemas-microsoft-com:vml" Requires="v">
                <p:oleObj spid="_x0000_s27669" name="Formula" r:id="rId9" imgW="1447800" imgH="167640" progId="Equation.Ribbit">
                  <p:embed/>
                </p:oleObj>
              </mc:Choice>
              <mc:Fallback>
                <p:oleObj name="Formula" r:id="rId9" imgW="1447800" imgH="167640" progId="Equation.Ribbit">
                  <p:embed/>
                  <p:pic>
                    <p:nvPicPr>
                      <p:cNvPr id="0" name="对象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4875" y="4665055"/>
                        <a:ext cx="3209925"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6.2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聚类分析中的数据类型</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a:t>
            </a:r>
            <a:r>
              <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布尔型</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14" name="Rectangle 6"/>
          <p:cNvSpPr txBox="1">
            <a:spLocks noChangeArrowheads="1"/>
          </p:cNvSpPr>
          <p:nvPr/>
        </p:nvSpPr>
        <p:spPr bwMode="auto">
          <a:xfrm>
            <a:off x="0" y="980728"/>
            <a:ext cx="8509000" cy="5516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0850" indent="-450850" eaLnBrk="0" hangingPunct="0">
              <a:defRPr b="1">
                <a:solidFill>
                  <a:schemeClr val="tx1"/>
                </a:solidFill>
                <a:latin typeface="Verdana" panose="020B0604030504040204" pitchFamily="34" charset="0"/>
                <a:ea typeface="宋体" panose="02010600030101010101" pitchFamily="2" charset="-122"/>
              </a:defRPr>
            </a:lvl1pPr>
            <a:lvl2pPr marL="908050" indent="-43688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a:lnSpc>
                <a:spcPct val="130000"/>
              </a:lnSpc>
              <a:spcBef>
                <a:spcPct val="20000"/>
              </a:spcBef>
              <a:spcAft>
                <a:spcPts val="600"/>
              </a:spcAft>
              <a:buClr>
                <a:schemeClr val="accent2"/>
              </a:buClr>
              <a:buFont typeface="Wingdings" panose="05000000000000000000" pitchFamily="2" charset="2"/>
              <a:buChar char="n"/>
              <a:defRPr/>
            </a:pPr>
            <a:r>
              <a:rPr lang="zh-CN" altLang="en-US" sz="2800" dirty="0">
                <a:solidFill>
                  <a:srgbClr val="FF0000"/>
                </a:solidFill>
                <a:latin typeface="方正兰亭中黑_GBK" panose="02000000000000000000" pitchFamily="2" charset="-122"/>
                <a:ea typeface="方正兰亭中黑_GBK" panose="02000000000000000000" pitchFamily="2" charset="-122"/>
              </a:rPr>
              <a:t>布尔型数据的列联表</a:t>
            </a:r>
            <a:r>
              <a:rPr lang="zh-CN" altLang="en-US" sz="2800" b="0" dirty="0">
                <a:solidFill>
                  <a:srgbClr val="FF0000"/>
                </a:solidFill>
                <a:latin typeface="方正兰亭中黑_GBK" panose="02000000000000000000" pitchFamily="2" charset="-122"/>
                <a:ea typeface="方正兰亭中黑_GBK" panose="02000000000000000000" pitchFamily="2" charset="-122"/>
              </a:rPr>
              <a:t>（</a:t>
            </a:r>
            <a:r>
              <a:rPr lang="en-US" altLang="zh-CN" sz="2800" dirty="0">
                <a:solidFill>
                  <a:srgbClr val="FF0000"/>
                </a:solidFill>
                <a:latin typeface="Calibri" panose="020F0502020204030204" pitchFamily="34" charset="0"/>
                <a:ea typeface="方正兰亭中黑_GBK" panose="02000000000000000000" pitchFamily="2" charset="-122"/>
                <a:cs typeface="Calibri" panose="020F0502020204030204" pitchFamily="34" charset="0"/>
              </a:rPr>
              <a:t>Contingency table </a:t>
            </a:r>
            <a:r>
              <a:rPr lang="zh-CN" altLang="en-US" sz="2800" b="0" dirty="0">
                <a:solidFill>
                  <a:srgbClr val="FF0000"/>
                </a:solidFill>
                <a:latin typeface="方正兰亭中黑_GBK" panose="02000000000000000000" pitchFamily="2" charset="-122"/>
                <a:ea typeface="方正兰亭中黑_GBK" panose="02000000000000000000" pitchFamily="2" charset="-122"/>
              </a:rPr>
              <a:t>）</a:t>
            </a:r>
            <a:endParaRPr lang="en-US" altLang="zh-CN" sz="2800" b="0" dirty="0">
              <a:solidFill>
                <a:srgbClr val="FF0000"/>
              </a:solidFill>
              <a:latin typeface="方正兰亭中黑_GBK" panose="02000000000000000000" pitchFamily="2" charset="-122"/>
              <a:ea typeface="方正兰亭中黑_GBK" panose="02000000000000000000" pitchFamily="2" charset="-122"/>
            </a:endParaRPr>
          </a:p>
          <a:p>
            <a:pPr algn="ctr">
              <a:lnSpc>
                <a:spcPct val="130000"/>
              </a:lnSpc>
              <a:spcBef>
                <a:spcPct val="20000"/>
              </a:spcBef>
              <a:spcAft>
                <a:spcPts val="600"/>
              </a:spcAft>
              <a:buClr>
                <a:schemeClr val="accent2"/>
              </a:buClr>
              <a:buFont typeface="Wingdings" panose="05000000000000000000" pitchFamily="2" charset="2"/>
              <a:buChar char="n"/>
              <a:defRPr/>
            </a:pPr>
            <a:endParaRPr lang="en-US" altLang="zh-CN" sz="2800" b="0" dirty="0">
              <a:solidFill>
                <a:srgbClr val="C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Calibri" panose="020F0502020204030204" pitchFamily="34" charset="0"/>
            </a:endParaRPr>
          </a:p>
          <a:p>
            <a:pPr algn="ctr">
              <a:lnSpc>
                <a:spcPct val="130000"/>
              </a:lnSpc>
              <a:spcBef>
                <a:spcPct val="20000"/>
              </a:spcBef>
              <a:spcAft>
                <a:spcPts val="600"/>
              </a:spcAft>
              <a:buClr>
                <a:schemeClr val="accent2"/>
              </a:buClr>
              <a:buFont typeface="Wingdings" panose="05000000000000000000" pitchFamily="2" charset="2"/>
              <a:buChar char="n"/>
              <a:defRPr/>
            </a:pPr>
            <a:endParaRPr lang="en-US" altLang="zh-CN" sz="2800" b="0" dirty="0">
              <a:solidFill>
                <a:srgbClr val="C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Calibri" panose="020F0502020204030204" pitchFamily="34" charset="0"/>
            </a:endParaRPr>
          </a:p>
          <a:p>
            <a:pPr algn="ctr">
              <a:lnSpc>
                <a:spcPct val="130000"/>
              </a:lnSpc>
              <a:spcBef>
                <a:spcPct val="20000"/>
              </a:spcBef>
              <a:spcAft>
                <a:spcPts val="600"/>
              </a:spcAft>
              <a:buClr>
                <a:schemeClr val="accent2"/>
              </a:buClr>
              <a:buFont typeface="Wingdings" panose="05000000000000000000" pitchFamily="2" charset="2"/>
              <a:buChar char="n"/>
              <a:defRPr/>
            </a:pPr>
            <a:endParaRPr lang="en-US" altLang="zh-CN" sz="2800" b="0" dirty="0">
              <a:solidFill>
                <a:srgbClr val="C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Calibri" panose="020F0502020204030204" pitchFamily="34" charset="0"/>
            </a:endParaRPr>
          </a:p>
          <a:p>
            <a:pPr algn="ctr">
              <a:lnSpc>
                <a:spcPct val="130000"/>
              </a:lnSpc>
              <a:spcBef>
                <a:spcPct val="20000"/>
              </a:spcBef>
              <a:spcAft>
                <a:spcPts val="600"/>
              </a:spcAft>
              <a:buClr>
                <a:schemeClr val="accent2"/>
              </a:buClr>
              <a:buFont typeface="Wingdings" panose="05000000000000000000" pitchFamily="2" charset="2"/>
              <a:buChar char="n"/>
              <a:defRPr/>
            </a:pPr>
            <a:r>
              <a:rPr lang="zh-CN" altLang="en-US" sz="2800" dirty="0">
                <a:solidFill>
                  <a:srgbClr val="FF0000"/>
                </a:solidFill>
                <a:latin typeface="方正兰亭中黑_GBK" panose="02000000000000000000" pitchFamily="2" charset="-122"/>
                <a:ea typeface="方正兰亭中黑_GBK" panose="02000000000000000000" pitchFamily="2" charset="-122"/>
              </a:rPr>
              <a:t>简单匹配系数（</a:t>
            </a:r>
            <a:r>
              <a:rPr lang="en-US" altLang="zh-CN" sz="2800" dirty="0">
                <a:solidFill>
                  <a:srgbClr val="FF0000"/>
                </a:solidFill>
                <a:latin typeface="Calibri" panose="020F0502020204030204" pitchFamily="34" charset="0"/>
                <a:ea typeface="方正兰亭中黑_GBK" panose="02000000000000000000" pitchFamily="2" charset="-122"/>
                <a:cs typeface="Calibri" panose="020F0502020204030204" pitchFamily="34" charset="0"/>
              </a:rPr>
              <a:t>Simple matching coefficient </a:t>
            </a:r>
            <a:r>
              <a:rPr lang="zh-CN" altLang="en-US" sz="2800" dirty="0">
                <a:solidFill>
                  <a:srgbClr val="FF0000"/>
                </a:solidFill>
                <a:latin typeface="方正兰亭中黑_GBK" panose="02000000000000000000" pitchFamily="2" charset="-122"/>
                <a:ea typeface="方正兰亭中黑_GBK" panose="02000000000000000000" pitchFamily="2" charset="-122"/>
              </a:rPr>
              <a:t>）</a:t>
            </a:r>
            <a:endParaRPr lang="en-US" altLang="zh-CN" sz="2800" dirty="0">
              <a:solidFill>
                <a:srgbClr val="FF0000"/>
              </a:solidFill>
              <a:latin typeface="方正兰亭中黑_GBK" panose="02000000000000000000" pitchFamily="2" charset="-122"/>
              <a:ea typeface="方正兰亭中黑_GBK" panose="02000000000000000000" pitchFamily="2" charset="-122"/>
            </a:endParaRPr>
          </a:p>
          <a:p>
            <a:pPr algn="ctr">
              <a:lnSpc>
                <a:spcPct val="130000"/>
              </a:lnSpc>
              <a:spcBef>
                <a:spcPct val="20000"/>
              </a:spcBef>
              <a:spcAft>
                <a:spcPts val="600"/>
              </a:spcAft>
              <a:buClr>
                <a:schemeClr val="accent2"/>
              </a:buClr>
              <a:buFont typeface="Wingdings" panose="05000000000000000000" pitchFamily="2" charset="2"/>
              <a:buChar char="n"/>
              <a:defRPr/>
            </a:pPr>
            <a:endParaRPr lang="en-US" altLang="zh-CN" sz="2800" dirty="0">
              <a:solidFill>
                <a:srgbClr val="C00000"/>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a:lnSpc>
                <a:spcPct val="120000"/>
              </a:lnSpc>
              <a:spcBef>
                <a:spcPct val="20000"/>
              </a:spcBef>
              <a:spcAft>
                <a:spcPts val="600"/>
              </a:spcAft>
              <a:buClr>
                <a:schemeClr val="accent2"/>
              </a:buClr>
              <a:buFont typeface="Wingdings" panose="05000000000000000000" pitchFamily="2" charset="2"/>
              <a:buChar char="n"/>
              <a:defRPr/>
            </a:pPr>
            <a:r>
              <a:rPr lang="en-US" altLang="zh-CN" sz="2800" dirty="0">
                <a:solidFill>
                  <a:srgbClr val="FF0000"/>
                </a:solidFill>
                <a:effectLst>
                  <a:outerShdw blurRad="38100" dist="38100" dir="2700000" algn="tl">
                    <a:srgbClr val="C0C0C0"/>
                  </a:outerShdw>
                </a:effectLst>
                <a:latin typeface="Calibri" panose="020F0502020204030204" pitchFamily="34" charset="0"/>
                <a:ea typeface="黑体" panose="02010609060101010101" pitchFamily="49" charset="-122"/>
                <a:cs typeface="Calibri" panose="020F0502020204030204" pitchFamily="34" charset="0"/>
              </a:rPr>
              <a:t>Jaccard</a:t>
            </a:r>
            <a:r>
              <a:rPr lang="zh-CN" altLang="en-US" sz="28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系数</a:t>
            </a:r>
            <a:endParaRPr lang="en-US" altLang="zh-CN" sz="2800" dirty="0">
              <a:solidFill>
                <a:srgbClr val="FF0000"/>
              </a:solidFill>
              <a:latin typeface="方正兰亭中黑_GBK" panose="02000000000000000000" pitchFamily="2" charset="-122"/>
              <a:ea typeface="方正兰亭中黑_GBK" panose="02000000000000000000" pitchFamily="2" charset="-122"/>
            </a:endParaRPr>
          </a:p>
        </p:txBody>
      </p:sp>
      <p:pic>
        <p:nvPicPr>
          <p:cNvPr id="2" name="图片 1"/>
          <p:cNvPicPr>
            <a:picLocks noChangeAspect="1"/>
          </p:cNvPicPr>
          <p:nvPr/>
        </p:nvPicPr>
        <p:blipFill>
          <a:blip r:embed="rId1"/>
          <a:stretch>
            <a:fillRect/>
          </a:stretch>
        </p:blipFill>
        <p:spPr>
          <a:xfrm>
            <a:off x="984634" y="1556792"/>
            <a:ext cx="6395678" cy="4794584"/>
          </a:xfrm>
          <a:prstGeom prst="rect">
            <a:avLst/>
          </a:prstGeom>
        </p:spPr>
      </p:pic>
      <p:pic>
        <p:nvPicPr>
          <p:cNvPr id="17" name="对象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1618" y="5722726"/>
            <a:ext cx="2160587"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6.2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聚类分析中的数据类型</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a:t>
            </a:r>
            <a:r>
              <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布尔型</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6"/>
          <p:cNvSpPr txBox="1">
            <a:spLocks noChangeArrowheads="1"/>
          </p:cNvSpPr>
          <p:nvPr/>
        </p:nvSpPr>
        <p:spPr bwMode="auto">
          <a:xfrm>
            <a:off x="317500" y="1124744"/>
            <a:ext cx="8509000"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0850" indent="-45085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nSpc>
                <a:spcPct val="130000"/>
              </a:lnSpc>
              <a:spcAft>
                <a:spcPts val="600"/>
              </a:spcAft>
              <a:buFont typeface="Wingdings" panose="05000000000000000000" pitchFamily="2" charset="2"/>
              <a:buChar char="n"/>
              <a:defRPr/>
            </a:pPr>
            <a:r>
              <a:rPr lang="zh-CN" altLang="en-US" sz="2800" b="0" dirty="0">
                <a:solidFill>
                  <a:srgbClr val="C00000"/>
                </a:solidFill>
                <a:effectLst>
                  <a:outerShdw blurRad="38100" dist="38100" dir="2700000" algn="tl">
                    <a:srgbClr val="C0C0C0"/>
                  </a:outerShdw>
                </a:effectLst>
                <a:latin typeface="Times New Roman" panose="02020603050405020304" pitchFamily="18" charset="0"/>
              </a:rPr>
              <a:t>例子</a:t>
            </a:r>
            <a:endParaRPr lang="en-US" altLang="zh-CN" sz="2800" b="0" dirty="0">
              <a:solidFill>
                <a:srgbClr val="C00000"/>
              </a:solidFill>
              <a:effectLst>
                <a:outerShdw blurRad="38100" dist="38100" dir="2700000" algn="tl">
                  <a:srgbClr val="C0C0C0"/>
                </a:outerShdw>
              </a:effectLst>
              <a:latin typeface="Times New Roman" panose="02020603050405020304" pitchFamily="18" charset="0"/>
            </a:endParaRPr>
          </a:p>
          <a:p>
            <a:pPr>
              <a:lnSpc>
                <a:spcPct val="130000"/>
              </a:lnSpc>
              <a:spcAft>
                <a:spcPts val="600"/>
              </a:spcAft>
              <a:buFont typeface="Wingdings" panose="05000000000000000000" pitchFamily="2" charset="2"/>
              <a:buChar char="n"/>
              <a:defRPr/>
            </a:pPr>
            <a:endParaRPr lang="en-US" altLang="zh-CN" sz="2800" b="0" dirty="0">
              <a:solidFill>
                <a:srgbClr val="C00000"/>
              </a:solidFill>
              <a:effectLst>
                <a:outerShdw blurRad="38100" dist="38100" dir="2700000" algn="tl">
                  <a:srgbClr val="C0C0C0"/>
                </a:outerShdw>
              </a:effectLst>
              <a:latin typeface="Times New Roman" panose="02020603050405020304" pitchFamily="18" charset="0"/>
            </a:endParaRPr>
          </a:p>
          <a:p>
            <a:pPr lvl="1" eaLnBrk="1" hangingPunct="1">
              <a:buClr>
                <a:srgbClr val="FF0000"/>
              </a:buClr>
              <a:buSzPct val="55000"/>
              <a:defRPr/>
            </a:pPr>
            <a:endParaRPr lang="en-US" altLang="zh-CN" sz="2000" b="0" dirty="0">
              <a:solidFill>
                <a:srgbClr val="000000"/>
              </a:solidFill>
              <a:latin typeface="Tahoma" panose="020B0604030504040204" pitchFamily="34" charset="0"/>
              <a:ea typeface="宋体" panose="02010600030101010101" pitchFamily="2" charset="-122"/>
            </a:endParaRPr>
          </a:p>
          <a:p>
            <a:pPr lvl="1" eaLnBrk="1" hangingPunct="1">
              <a:lnSpc>
                <a:spcPct val="120000"/>
              </a:lnSpc>
              <a:buClrTx/>
              <a:buFontTx/>
              <a:buNone/>
              <a:defRPr/>
            </a:pPr>
            <a:endParaRPr lang="en-US" altLang="zh-CN" sz="2200" b="0" dirty="0">
              <a:solidFill>
                <a:srgbClr val="000000"/>
              </a:solidFill>
              <a:latin typeface="Calibri" panose="020F0502020204030204" pitchFamily="34" charset="0"/>
              <a:cs typeface="Calibri" panose="020F0502020204030204" pitchFamily="34" charset="0"/>
            </a:endParaRPr>
          </a:p>
          <a:p>
            <a:pPr lvl="1" eaLnBrk="1" hangingPunct="1">
              <a:lnSpc>
                <a:spcPct val="120000"/>
              </a:lnSpc>
              <a:buClrTx/>
              <a:buFont typeface="Wingdings" panose="05000000000000000000" pitchFamily="2" charset="2"/>
              <a:buChar char="ü"/>
              <a:defRPr/>
            </a:pPr>
            <a:r>
              <a:rPr lang="en-US" altLang="zh-CN" sz="22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Gender</a:t>
            </a:r>
            <a:r>
              <a:rPr lang="zh-CN" altLang="en-US" sz="22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是对称属性</a:t>
            </a:r>
            <a:endParaRPr lang="en-US" altLang="zh-CN" sz="22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buClrTx/>
              <a:buFont typeface="Wingdings" panose="05000000000000000000" pitchFamily="2" charset="2"/>
              <a:buChar char="ü"/>
              <a:defRPr/>
            </a:pPr>
            <a:r>
              <a:rPr lang="zh-CN" altLang="en-US" sz="22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其余属性是非对称的</a:t>
            </a:r>
            <a:endParaRPr lang="en-US" altLang="zh-CN" sz="22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buClrTx/>
              <a:buFont typeface="Wingdings" panose="05000000000000000000" pitchFamily="2" charset="2"/>
              <a:buChar char="ü"/>
              <a:defRPr/>
            </a:pPr>
            <a:r>
              <a:rPr lang="zh-CN" altLang="en-US" sz="22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设属性值</a:t>
            </a:r>
            <a:r>
              <a:rPr lang="en-US" altLang="zh-CN" sz="22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Y </a:t>
            </a:r>
            <a:r>
              <a:rPr lang="zh-CN" altLang="en-US" sz="22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a:t>
            </a:r>
            <a:r>
              <a:rPr lang="en-US" altLang="zh-CN" sz="22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P</a:t>
            </a:r>
            <a:r>
              <a:rPr lang="en-US" altLang="zh-CN" sz="22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 </a:t>
            </a:r>
            <a:r>
              <a:rPr lang="zh-CN" altLang="en-US" sz="22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为</a:t>
            </a:r>
            <a:r>
              <a:rPr lang="en-US" altLang="zh-CN" sz="22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 1</a:t>
            </a:r>
            <a:r>
              <a:rPr lang="en-US" altLang="zh-CN" sz="22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 </a:t>
            </a:r>
            <a:r>
              <a:rPr lang="en-US" altLang="zh-CN" sz="22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N </a:t>
            </a:r>
            <a:r>
              <a:rPr lang="zh-CN" altLang="en-US" sz="22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为</a:t>
            </a:r>
            <a:r>
              <a:rPr lang="en-US" altLang="zh-CN" sz="22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 0</a:t>
            </a:r>
            <a:endParaRPr lang="en-US" altLang="zh-CN" sz="22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endParaRPr>
          </a:p>
          <a:p>
            <a:pPr>
              <a:lnSpc>
                <a:spcPct val="130000"/>
              </a:lnSpc>
              <a:spcAft>
                <a:spcPts val="600"/>
              </a:spcAft>
              <a:buFont typeface="Wingdings" panose="05000000000000000000" pitchFamily="2" charset="2"/>
              <a:buChar char="n"/>
              <a:defRPr/>
            </a:pPr>
            <a:endParaRPr lang="en-US" altLang="zh-CN" sz="2800" b="0" dirty="0">
              <a:solidFill>
                <a:srgbClr val="C00000"/>
              </a:solidFill>
              <a:effectLst>
                <a:outerShdw blurRad="38100" dist="38100" dir="2700000" algn="tl">
                  <a:srgbClr val="C0C0C0"/>
                </a:outerShdw>
              </a:effectLst>
              <a:latin typeface="Times New Roman" panose="02020603050405020304" pitchFamily="18" charset="0"/>
            </a:endParaRPr>
          </a:p>
          <a:p>
            <a:pPr>
              <a:lnSpc>
                <a:spcPct val="130000"/>
              </a:lnSpc>
              <a:spcAft>
                <a:spcPts val="600"/>
              </a:spcAft>
              <a:buFont typeface="Wingdings" panose="05000000000000000000" pitchFamily="2" charset="2"/>
              <a:buChar char="n"/>
              <a:defRPr/>
            </a:pPr>
            <a:endParaRPr lang="en-US" altLang="zh-CN" sz="2800" b="0" dirty="0">
              <a:solidFill>
                <a:srgbClr val="C00000"/>
              </a:solidFill>
              <a:effectLst>
                <a:outerShdw blurRad="38100" dist="38100" dir="2700000" algn="tl">
                  <a:srgbClr val="C0C0C0"/>
                </a:outerShdw>
              </a:effectLst>
              <a:latin typeface="Times New Roman" panose="02020603050405020304" pitchFamily="18" charset="0"/>
            </a:endParaRPr>
          </a:p>
        </p:txBody>
      </p:sp>
      <p:graphicFrame>
        <p:nvGraphicFramePr>
          <p:cNvPr id="4" name="对象 1"/>
          <p:cNvGraphicFramePr>
            <a:graphicFrameLocks noChangeAspect="1"/>
          </p:cNvGraphicFramePr>
          <p:nvPr/>
        </p:nvGraphicFramePr>
        <p:xfrm>
          <a:off x="1691680" y="1583384"/>
          <a:ext cx="6932612" cy="1614656"/>
        </p:xfrm>
        <a:graphic>
          <a:graphicData uri="http://schemas.openxmlformats.org/presentationml/2006/ole">
            <mc:AlternateContent xmlns:mc="http://schemas.openxmlformats.org/markup-compatibility/2006">
              <mc:Choice xmlns:v="urn:schemas-microsoft-com:vml" Requires="v">
                <p:oleObj spid="_x0000_s28689" name="Document" r:id="rId1" imgW="6819900" imgH="1475105" progId="Word.Document.8">
                  <p:embed/>
                </p:oleObj>
              </mc:Choice>
              <mc:Fallback>
                <p:oleObj name="Document" r:id="rId1" imgW="6819900" imgH="1475105" progId="Word.Document.8">
                  <p:embed/>
                  <p:pic>
                    <p:nvPicPr>
                      <p:cNvPr id="0" name="对象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1583384"/>
                        <a:ext cx="6932612" cy="1614656"/>
                      </a:xfrm>
                      <a:prstGeom prst="rect">
                        <a:avLst/>
                      </a:prstGeom>
                      <a:noFill/>
                      <a:ln>
                        <a:noFill/>
                      </a:ln>
                      <a:effectLst/>
                    </p:spPr>
                  </p:pic>
                </p:oleObj>
              </mc:Fallback>
            </mc:AlternateContent>
          </a:graphicData>
        </a:graphic>
      </p:graphicFrame>
      <p:graphicFrame>
        <p:nvGraphicFramePr>
          <p:cNvPr id="5" name="对象 5"/>
          <p:cNvGraphicFramePr>
            <a:graphicFrameLocks noChangeAspect="1"/>
          </p:cNvGraphicFramePr>
          <p:nvPr/>
        </p:nvGraphicFramePr>
        <p:xfrm>
          <a:off x="4456448" y="3302063"/>
          <a:ext cx="4144962" cy="615950"/>
        </p:xfrm>
        <a:graphic>
          <a:graphicData uri="http://schemas.openxmlformats.org/presentationml/2006/ole">
            <mc:AlternateContent xmlns:mc="http://schemas.openxmlformats.org/markup-compatibility/2006">
              <mc:Choice xmlns:v="urn:schemas-microsoft-com:vml" Requires="v">
                <p:oleObj spid="_x0000_s28690" name="Formula" r:id="rId3" imgW="2098040" imgH="311150" progId="Equation.Ribbit">
                  <p:embed/>
                </p:oleObj>
              </mc:Choice>
              <mc:Fallback>
                <p:oleObj name="Formula" r:id="rId3" imgW="2098040" imgH="311150" progId="Equation.Ribbit">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6448" y="3302063"/>
                        <a:ext cx="4144962"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7"/>
          <p:cNvGraphicFramePr>
            <a:graphicFrameLocks noChangeAspect="1"/>
          </p:cNvGraphicFramePr>
          <p:nvPr/>
        </p:nvGraphicFramePr>
        <p:xfrm>
          <a:off x="4468093" y="4077494"/>
          <a:ext cx="3949700" cy="615950"/>
        </p:xfrm>
        <a:graphic>
          <a:graphicData uri="http://schemas.openxmlformats.org/presentationml/2006/ole">
            <mc:AlternateContent xmlns:mc="http://schemas.openxmlformats.org/markup-compatibility/2006">
              <mc:Choice xmlns:v="urn:schemas-microsoft-com:vml" Requires="v">
                <p:oleObj spid="_x0000_s28691" name="Formula" r:id="rId5" imgW="2000250" imgH="311150" progId="Equation.Ribbit">
                  <p:embed/>
                </p:oleObj>
              </mc:Choice>
              <mc:Fallback>
                <p:oleObj name="Formula" r:id="rId5" imgW="2000250" imgH="311150" progId="Equation.Ribbit">
                  <p:embed/>
                  <p:pic>
                    <p:nvPicPr>
                      <p:cNvPr id="0"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8093" y="4077494"/>
                        <a:ext cx="39497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4456448" y="5012406"/>
          <a:ext cx="4062412" cy="615950"/>
        </p:xfrm>
        <a:graphic>
          <a:graphicData uri="http://schemas.openxmlformats.org/presentationml/2006/ole">
            <mc:AlternateContent xmlns:mc="http://schemas.openxmlformats.org/markup-compatibility/2006">
              <mc:Choice xmlns:v="urn:schemas-microsoft-com:vml" Requires="v">
                <p:oleObj spid="_x0000_s28692" name="Formula" r:id="rId7" imgW="2057400" imgH="311150" progId="Equation.Ribbit">
                  <p:embed/>
                </p:oleObj>
              </mc:Choice>
              <mc:Fallback>
                <p:oleObj name="Formula" r:id="rId7" imgW="2057400" imgH="311150" progId="Equation.Ribbit">
                  <p:embed/>
                  <p:pic>
                    <p:nvPicPr>
                      <p:cNvPr id="0"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56448" y="5012406"/>
                        <a:ext cx="4062412"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2"/>
          <p:cNvGraphicFramePr>
            <a:graphicFrameLocks noChangeAspect="1"/>
          </p:cNvGraphicFramePr>
          <p:nvPr/>
        </p:nvGraphicFramePr>
        <p:xfrm>
          <a:off x="982812" y="5159385"/>
          <a:ext cx="2881312" cy="452437"/>
        </p:xfrm>
        <a:graphic>
          <a:graphicData uri="http://schemas.openxmlformats.org/presentationml/2006/ole">
            <mc:AlternateContent xmlns:mc="http://schemas.openxmlformats.org/markup-compatibility/2006">
              <mc:Choice xmlns:v="urn:schemas-microsoft-com:vml" Requires="v">
                <p:oleObj spid="_x0000_s28693" name="Formula" r:id="rId9" imgW="1074420" imgH="167640" progId="Equation.Ribbit">
                  <p:embed/>
                </p:oleObj>
              </mc:Choice>
              <mc:Fallback>
                <p:oleObj name="Formula" r:id="rId9" imgW="1074420" imgH="167640" progId="Equation.Ribbit">
                  <p:embed/>
                  <p:pic>
                    <p:nvPicPr>
                      <p:cNvPr id="0" name="对象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82812" y="5159385"/>
                        <a:ext cx="2881312"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6.2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聚类分析中的数据类型</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a:t>
            </a:r>
            <a:r>
              <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枚举型</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6"/>
          <p:cNvSpPr txBox="1">
            <a:spLocks noChangeArrowheads="1"/>
          </p:cNvSpPr>
          <p:nvPr/>
        </p:nvSpPr>
        <p:spPr bwMode="auto">
          <a:xfrm>
            <a:off x="201612" y="1196752"/>
            <a:ext cx="8740775"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0850" indent="-45085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800100" indent="-34290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035050" indent="-3429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eaLnBrk="1" hangingPunct="1">
              <a:lnSpc>
                <a:spcPct val="130000"/>
              </a:lnSpc>
              <a:spcAft>
                <a:spcPts val="600"/>
              </a:spcAft>
              <a:buFont typeface="Wingdings" panose="05000000000000000000" pitchFamily="2" charset="2"/>
              <a:buChar char="n"/>
              <a:defRPr/>
            </a:pPr>
            <a:r>
              <a:rPr lang="zh-CN" altLang="en-US" sz="2800" dirty="0">
                <a:solidFill>
                  <a:srgbClr val="FF0000"/>
                </a:solidFill>
                <a:latin typeface="方正兰亭中黑_GBK" panose="02000000000000000000" pitchFamily="2" charset="-122"/>
                <a:ea typeface="方正兰亭中黑_GBK" panose="02000000000000000000" pitchFamily="2" charset="-122"/>
              </a:rPr>
              <a:t>标称变量（</a:t>
            </a:r>
            <a:r>
              <a:rPr lang="en-US" altLang="zh-CN" sz="2800" dirty="0">
                <a:solidFill>
                  <a:srgbClr val="FF0000"/>
                </a:solidFill>
                <a:latin typeface="Calibri" panose="020F0502020204030204" pitchFamily="34" charset="0"/>
                <a:ea typeface="方正兰亭中黑_GBK" panose="02000000000000000000" pitchFamily="2" charset="-122"/>
                <a:cs typeface="Calibri" panose="020F0502020204030204" pitchFamily="34" charset="0"/>
              </a:rPr>
              <a:t>Nominal Variables</a:t>
            </a:r>
            <a:r>
              <a:rPr lang="zh-CN" altLang="en-US" sz="2800" dirty="0">
                <a:solidFill>
                  <a:srgbClr val="FF0000"/>
                </a:solidFill>
                <a:latin typeface="方正兰亭中黑_GBK" panose="02000000000000000000" pitchFamily="2" charset="-122"/>
                <a:ea typeface="方正兰亭中黑_GBK" panose="02000000000000000000" pitchFamily="2" charset="-122"/>
              </a:rPr>
              <a:t>）是二元变量的推广，</a:t>
            </a:r>
            <a:r>
              <a:rPr lang="zh-CN" altLang="en-US" sz="2800" b="0" dirty="0">
                <a:solidFill>
                  <a:srgbClr val="0070C0"/>
                </a:solidFill>
                <a:latin typeface="方正兰亭中黑_GBK" panose="02000000000000000000" pitchFamily="2" charset="-122"/>
                <a:ea typeface="方正兰亭中黑_GBK" panose="02000000000000000000" pitchFamily="2" charset="-122"/>
              </a:rPr>
              <a:t>具有多于两个的状态，如变量</a:t>
            </a:r>
            <a:r>
              <a:rPr lang="en-US" altLang="zh-CN" sz="28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color</a:t>
            </a:r>
            <a:r>
              <a:rPr lang="zh-CN" altLang="en-US" sz="2800" b="0" dirty="0">
                <a:solidFill>
                  <a:srgbClr val="0070C0"/>
                </a:solidFill>
                <a:latin typeface="方正兰亭中黑_GBK" panose="02000000000000000000" pitchFamily="2" charset="-122"/>
                <a:ea typeface="方正兰亭中黑_GBK" panose="02000000000000000000" pitchFamily="2" charset="-122"/>
              </a:rPr>
              <a:t>可有 </a:t>
            </a:r>
            <a:r>
              <a:rPr lang="en-US" altLang="zh-CN" sz="2800" dirty="0">
                <a:solidFill>
                  <a:srgbClr val="FF0000"/>
                </a:solidFill>
                <a:latin typeface="Calibri" panose="020F0502020204030204" pitchFamily="34" charset="0"/>
                <a:cs typeface="Calibri" panose="020F0502020204030204" pitchFamily="34" charset="0"/>
              </a:rPr>
              <a:t>red, yellow, blue, green</a:t>
            </a:r>
            <a:r>
              <a:rPr lang="zh-CN" altLang="en-US" sz="2800" b="0" dirty="0">
                <a:solidFill>
                  <a:srgbClr val="0070C0"/>
                </a:solidFill>
                <a:latin typeface="方正兰亭中黑_GBK" panose="02000000000000000000" pitchFamily="2" charset="-122"/>
                <a:ea typeface="方正兰亭中黑_GBK" panose="02000000000000000000" pitchFamily="2" charset="-122"/>
              </a:rPr>
              <a:t>四种状态。两种计算相异度的方法：</a:t>
            </a:r>
            <a:endParaRPr lang="zh-CN" altLang="en-US" sz="2800" b="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30000"/>
              </a:lnSpc>
              <a:spcAft>
                <a:spcPts val="600"/>
              </a:spcAft>
              <a:buClr>
                <a:srgbClr val="0000FF"/>
              </a:buClr>
              <a:buFont typeface="Wingdings" panose="05000000000000000000" pitchFamily="2" charset="2"/>
              <a:buChar char="ü"/>
              <a:defRPr/>
            </a:pPr>
            <a:r>
              <a:rPr lang="zh-CN" altLang="en-US" sz="240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方法</a:t>
            </a:r>
            <a:r>
              <a:rPr lang="zh-CN" altLang="en-US" sz="2400" dirty="0">
                <a:solidFill>
                  <a:srgbClr val="0000FF"/>
                </a:solidFill>
                <a:latin typeface="Calibri" panose="020F0502020204030204" pitchFamily="34" charset="0"/>
                <a:ea typeface="方正兰亭中黑_GBK" panose="02000000000000000000" pitchFamily="2" charset="-122"/>
                <a:cs typeface="Calibri" panose="020F0502020204030204" pitchFamily="34" charset="0"/>
              </a:rPr>
              <a:t>1</a:t>
            </a:r>
            <a:r>
              <a:rPr lang="zh-CN" altLang="en-US" sz="240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 简单匹配方法</a:t>
            </a:r>
            <a:endParaRPr lang="zh-CN" altLang="en-US" sz="240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2" eaLnBrk="1" hangingPunct="1">
              <a:lnSpc>
                <a:spcPct val="120000"/>
              </a:lnSpc>
              <a:buClrTx/>
              <a:buFont typeface="Arial" panose="020B0604020202020204" pitchFamily="34" charset="0"/>
              <a:buChar char="•"/>
              <a:defRPr/>
            </a:pPr>
            <a:r>
              <a:rPr lang="en-US" altLang="zh-CN" sz="2400" b="0" i="1" dirty="0">
                <a:solidFill>
                  <a:srgbClr val="0070C0"/>
                </a:solidFill>
                <a:latin typeface="Calibri" panose="020F0502020204030204" pitchFamily="34" charset="0"/>
                <a:cs typeface="Calibri" panose="020F0502020204030204" pitchFamily="34" charset="0"/>
              </a:rPr>
              <a:t>m</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是匹配的数目</a:t>
            </a:r>
            <a:r>
              <a:rPr lang="zh-CN" altLang="en-US" sz="2400" b="0" dirty="0">
                <a:solidFill>
                  <a:srgbClr val="000000"/>
                </a:solidFill>
                <a:latin typeface="Calibri" panose="020F0502020204030204" pitchFamily="34" charset="0"/>
                <a:cs typeface="Calibri" panose="020F0502020204030204" pitchFamily="34" charset="0"/>
              </a:rPr>
              <a:t>,</a:t>
            </a:r>
            <a:r>
              <a:rPr lang="zh-CN" altLang="en-US" sz="2400" b="0" i="1" dirty="0">
                <a:solidFill>
                  <a:srgbClr val="000000"/>
                </a:solidFill>
                <a:latin typeface="Calibri" panose="020F0502020204030204" pitchFamily="34" charset="0"/>
                <a:cs typeface="Calibri" panose="020F0502020204030204" pitchFamily="34" charset="0"/>
              </a:rPr>
              <a:t> </a:t>
            </a:r>
            <a:r>
              <a:rPr lang="en-US" altLang="zh-CN" sz="2400" b="0" i="1" dirty="0">
                <a:solidFill>
                  <a:srgbClr val="0070C0"/>
                </a:solidFill>
                <a:latin typeface="Calibri" panose="020F0502020204030204" pitchFamily="34" charset="0"/>
                <a:cs typeface="Calibri" panose="020F0502020204030204" pitchFamily="34" charset="0"/>
              </a:rPr>
              <a:t>p</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是全部变量的数目</a:t>
            </a:r>
            <a:endPar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30000"/>
              </a:lnSpc>
              <a:spcAft>
                <a:spcPts val="600"/>
              </a:spcAft>
              <a:buClr>
                <a:srgbClr val="0000FF"/>
              </a:buClr>
              <a:buFont typeface="Wingdings" panose="05000000000000000000" pitchFamily="2" charset="2"/>
              <a:buChar char="ü"/>
              <a:defRPr/>
            </a:pPr>
            <a:r>
              <a:rPr lang="zh-CN" altLang="en-US" sz="2400" dirty="0">
                <a:solidFill>
                  <a:srgbClr val="0000FF"/>
                </a:solidFill>
                <a:latin typeface="Calibri" panose="020F0502020204030204" pitchFamily="34" charset="0"/>
                <a:cs typeface="Calibri" panose="020F0502020204030204" pitchFamily="34" charset="0"/>
              </a:rPr>
              <a:t>方法2: 使用二元变量</a:t>
            </a:r>
            <a:endParaRPr lang="zh-CN" altLang="en-US" sz="2400" dirty="0">
              <a:solidFill>
                <a:srgbClr val="0000FF"/>
              </a:solidFill>
              <a:latin typeface="Calibri" panose="020F0502020204030204" pitchFamily="34" charset="0"/>
              <a:cs typeface="Calibri" panose="020F0502020204030204" pitchFamily="34" charset="0"/>
            </a:endParaRPr>
          </a:p>
          <a:p>
            <a:pPr lvl="2" eaLnBrk="1" hangingPunct="1">
              <a:lnSpc>
                <a:spcPct val="120000"/>
              </a:lnSpc>
              <a:buClrTx/>
              <a:buFont typeface="Arial" panose="020B0604020202020204" pitchFamily="34" charset="0"/>
              <a:buChar char="•"/>
              <a:defRPr/>
            </a:pP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为每一个状态创建一个新的二元变量，可以</a:t>
            </a:r>
            <a:r>
              <a:rPr lang="zh-CN" altLang="en-US" sz="24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用非对称</a:t>
            </a:r>
            <a:r>
              <a:rPr lang="en-US" altLang="zh-CN" sz="2400" b="0" dirty="0">
                <a:solidFill>
                  <a:srgbClr val="FF0000"/>
                </a:solidFill>
                <a:latin typeface="Calibri" panose="020F0502020204030204" pitchFamily="34" charset="0"/>
                <a:ea typeface="方正兰亭中黑_GBK" panose="02000000000000000000" pitchFamily="2" charset="-122"/>
                <a:cs typeface="Calibri" panose="020F0502020204030204" pitchFamily="34" charset="0"/>
              </a:rPr>
              <a:t>(?)</a:t>
            </a:r>
            <a:r>
              <a:rPr lang="zh-CN" altLang="en-US" sz="24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的</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二元变量来编码标称变量。</a:t>
            </a:r>
            <a:endPar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pic>
        <p:nvPicPr>
          <p:cNvPr id="4" name="对象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372200" y="4149080"/>
            <a:ext cx="230346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6.2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聚类分析中的数据类型</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a:t>
            </a:r>
            <a:r>
              <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序数型</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5" name="Rectangle 3"/>
          <p:cNvSpPr txBox="1">
            <a:spLocks noChangeArrowheads="1"/>
          </p:cNvSpPr>
          <p:nvPr/>
        </p:nvSpPr>
        <p:spPr>
          <a:xfrm>
            <a:off x="342900" y="1052736"/>
            <a:ext cx="8458200" cy="5328592"/>
          </a:xfrm>
          <a:prstGeom prst="rect">
            <a:avLst/>
          </a:prstGeom>
        </p:spPr>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20000"/>
              </a:lnSpc>
              <a:spcBef>
                <a:spcPts val="600"/>
              </a:spcBef>
              <a:spcAft>
                <a:spcPts val="600"/>
              </a:spcAft>
              <a:buSzPct val="100000"/>
              <a:buFont typeface="Wingdings" panose="05000000000000000000" pitchFamily="2" charset="2"/>
              <a:buChar char="n"/>
              <a:defRPr/>
            </a:pPr>
            <a:r>
              <a:rPr lang="zh-CN" altLang="en-US" sz="2800" b="0" kern="1200" dirty="0">
                <a:solidFill>
                  <a:srgbClr val="FF0000"/>
                </a:solidFill>
                <a:latin typeface="方正兰亭中黑_GBK" panose="02000000000000000000" pitchFamily="2" charset="-122"/>
                <a:ea typeface="方正兰亭中黑_GBK" panose="02000000000000000000" pitchFamily="2" charset="-122"/>
              </a:rPr>
              <a:t>一个序数型变量可以是离散的也可以是连续的</a:t>
            </a:r>
            <a:endParaRPr lang="zh-CN" altLang="en-US" sz="2800" b="0" kern="1200" dirty="0">
              <a:solidFill>
                <a:srgbClr val="FF0000"/>
              </a:solidFill>
              <a:latin typeface="方正兰亭中黑_GBK" panose="02000000000000000000" pitchFamily="2" charset="-122"/>
              <a:ea typeface="方正兰亭中黑_GBK" panose="02000000000000000000" pitchFamily="2" charset="-122"/>
            </a:endParaRPr>
          </a:p>
          <a:p>
            <a:pPr marL="800100" lvl="1" indent="-342900">
              <a:lnSpc>
                <a:spcPct val="120000"/>
              </a:lnSpc>
              <a:spcBef>
                <a:spcPts val="600"/>
              </a:spcBef>
              <a:spcAft>
                <a:spcPts val="0"/>
              </a:spcAft>
              <a:buClr>
                <a:srgbClr val="0000FF"/>
              </a:buClr>
              <a:buSzPct val="100000"/>
              <a:buFont typeface="Wingdings" panose="05000000000000000000" pitchFamily="2" charset="2"/>
              <a:buChar char="ü"/>
              <a:defRPr/>
            </a:pPr>
            <a:r>
              <a:rPr lang="zh-CN" altLang="en-US" sz="2200" kern="120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离散的序数型变量类似于标称变量，</a:t>
            </a:r>
            <a:r>
              <a:rPr lang="zh-CN" altLang="en-US" sz="2200" b="0" kern="12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除了它的</a:t>
            </a:r>
            <a:r>
              <a:rPr lang="en-US" altLang="zh-CN" sz="2200" b="0" i="1" kern="120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m</a:t>
            </a:r>
            <a:r>
              <a:rPr lang="zh-CN" altLang="en-US" sz="2200" b="0" kern="12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个状态是以有意义的序列排序的，比如职称</a:t>
            </a:r>
            <a:endParaRPr lang="zh-CN" altLang="en-US" sz="2200" b="0" kern="12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800100" lvl="1" indent="-342900">
              <a:lnSpc>
                <a:spcPct val="120000"/>
              </a:lnSpc>
              <a:spcBef>
                <a:spcPts val="600"/>
              </a:spcBef>
              <a:spcAft>
                <a:spcPts val="0"/>
              </a:spcAft>
              <a:buClr>
                <a:srgbClr val="0000FF"/>
              </a:buClr>
              <a:buSzPct val="100000"/>
              <a:buFont typeface="Wingdings" panose="05000000000000000000" pitchFamily="2" charset="2"/>
              <a:buChar char="ü"/>
              <a:defRPr/>
            </a:pPr>
            <a:r>
              <a:rPr lang="zh-CN" altLang="en-US" sz="2200" kern="120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连续的序数型变量类似于区间标度变量</a:t>
            </a:r>
            <a:r>
              <a:rPr lang="zh-CN" altLang="en-US" sz="2200" b="0" kern="120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a:t>
            </a:r>
            <a:r>
              <a:rPr lang="zh-CN" altLang="en-US" sz="2200" b="0" kern="12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但是它没有单位，值的相对顺序是必要的，而其实际大小并不重要。</a:t>
            </a:r>
            <a:endParaRPr lang="en-US" altLang="zh-CN" sz="2200" b="0" kern="12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450850" indent="-450850">
              <a:lnSpc>
                <a:spcPct val="120000"/>
              </a:lnSpc>
              <a:spcBef>
                <a:spcPts val="600"/>
              </a:spcBef>
              <a:spcAft>
                <a:spcPts val="600"/>
              </a:spcAft>
              <a:buSzPct val="100000"/>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rPr>
              <a:t>相异度计算：</a:t>
            </a:r>
            <a:r>
              <a:rPr lang="zh-CN" altLang="en-US" sz="2800" b="0" kern="1200" dirty="0">
                <a:solidFill>
                  <a:srgbClr val="0070C0"/>
                </a:solidFill>
                <a:latin typeface="方正兰亭中黑_GBK" panose="02000000000000000000" pitchFamily="2" charset="-122"/>
                <a:ea typeface="方正兰亭中黑_GBK" panose="02000000000000000000" pitchFamily="2" charset="-122"/>
              </a:rPr>
              <a:t>与区间标度变量的计算方法相类似</a:t>
            </a:r>
            <a:endParaRPr lang="en-US" altLang="zh-CN" sz="2800" b="0" kern="1200" dirty="0">
              <a:solidFill>
                <a:srgbClr val="0070C0"/>
              </a:solidFill>
              <a:latin typeface="方正兰亭中黑_GBK" panose="02000000000000000000" pitchFamily="2" charset="-122"/>
              <a:ea typeface="方正兰亭中黑_GBK" panose="02000000000000000000" pitchFamily="2" charset="-122"/>
            </a:endParaRPr>
          </a:p>
          <a:p>
            <a:pPr marL="800100" lvl="1" indent="-342900">
              <a:lnSpc>
                <a:spcPct val="120000"/>
              </a:lnSpc>
              <a:spcBef>
                <a:spcPts val="600"/>
              </a:spcBef>
              <a:spcAft>
                <a:spcPts val="0"/>
              </a:spcAft>
              <a:buClr>
                <a:srgbClr val="0000FF"/>
              </a:buClr>
              <a:buSzPct val="100000"/>
              <a:buFont typeface="Wingdings" panose="05000000000000000000" pitchFamily="2" charset="2"/>
              <a:buChar char="ü"/>
              <a:defRPr/>
            </a:pPr>
            <a:r>
              <a:rPr lang="zh-CN" altLang="en-US" sz="2200" b="0" kern="1200" dirty="0">
                <a:solidFill>
                  <a:srgbClr val="0070C0"/>
                </a:solidFill>
                <a:latin typeface="Calibri" panose="020F0502020204030204" pitchFamily="34" charset="0"/>
                <a:cs typeface="Calibri" panose="020F0502020204030204" pitchFamily="34" charset="0"/>
              </a:rPr>
              <a:t>将</a:t>
            </a:r>
            <a:r>
              <a:rPr lang="zh-CN" altLang="en-US" sz="2200" b="0" kern="1200" dirty="0">
                <a:latin typeface="Calibri" panose="020F0502020204030204" pitchFamily="34" charset="0"/>
                <a:cs typeface="Calibri" panose="020F0502020204030204" pitchFamily="34" charset="0"/>
              </a:rPr>
              <a:t> </a:t>
            </a:r>
            <a:r>
              <a:rPr lang="en-US" altLang="zh-CN" sz="2200" b="0" kern="1200" dirty="0" err="1">
                <a:solidFill>
                  <a:srgbClr val="0000FF"/>
                </a:solidFill>
                <a:latin typeface="Calibri" panose="020F0502020204030204" pitchFamily="34" charset="0"/>
                <a:cs typeface="Calibri" panose="020F0502020204030204" pitchFamily="34" charset="0"/>
              </a:rPr>
              <a:t>x</a:t>
            </a:r>
            <a:r>
              <a:rPr lang="en-US" altLang="zh-CN" sz="2200" b="0" kern="1200" baseline="-25000" dirty="0" err="1">
                <a:solidFill>
                  <a:srgbClr val="0000FF"/>
                </a:solidFill>
                <a:latin typeface="Calibri" panose="020F0502020204030204" pitchFamily="34" charset="0"/>
                <a:cs typeface="Calibri" panose="020F0502020204030204" pitchFamily="34" charset="0"/>
              </a:rPr>
              <a:t>if</a:t>
            </a:r>
            <a:r>
              <a:rPr lang="en-US" altLang="zh-CN" sz="2200" b="0" kern="1200" dirty="0">
                <a:solidFill>
                  <a:srgbClr val="0000FF"/>
                </a:solidFill>
                <a:latin typeface="Calibri" panose="020F0502020204030204" pitchFamily="34" charset="0"/>
                <a:cs typeface="Calibri" panose="020F0502020204030204" pitchFamily="34" charset="0"/>
              </a:rPr>
              <a:t> </a:t>
            </a:r>
            <a:r>
              <a:rPr lang="zh-CN" altLang="en-US" sz="2200" b="0" dirty="0">
                <a:solidFill>
                  <a:srgbClr val="0070C0"/>
                </a:solidFill>
                <a:latin typeface="Calibri" panose="020F0502020204030204" pitchFamily="34" charset="0"/>
                <a:cs typeface="Calibri" panose="020F0502020204030204" pitchFamily="34" charset="0"/>
              </a:rPr>
              <a:t>用它对应的秩代替 </a:t>
            </a:r>
            <a:endParaRPr lang="zh-CN" altLang="en-US" sz="2200" b="0" dirty="0">
              <a:solidFill>
                <a:srgbClr val="0070C0"/>
              </a:solidFill>
              <a:latin typeface="Calibri" panose="020F0502020204030204" pitchFamily="34" charset="0"/>
              <a:cs typeface="Calibri" panose="020F0502020204030204" pitchFamily="34" charset="0"/>
            </a:endParaRPr>
          </a:p>
          <a:p>
            <a:pPr marL="800100" lvl="1" indent="-342900">
              <a:lnSpc>
                <a:spcPct val="120000"/>
              </a:lnSpc>
              <a:spcBef>
                <a:spcPts val="600"/>
              </a:spcBef>
              <a:spcAft>
                <a:spcPts val="0"/>
              </a:spcAft>
              <a:buClr>
                <a:srgbClr val="0000FF"/>
              </a:buClr>
              <a:buSzPct val="100000"/>
              <a:buFont typeface="Wingdings" panose="05000000000000000000" pitchFamily="2" charset="2"/>
              <a:buChar char="ü"/>
              <a:defRPr/>
            </a:pPr>
            <a:r>
              <a:rPr lang="zh-CN" altLang="en-US" sz="2200" b="0" dirty="0">
                <a:solidFill>
                  <a:srgbClr val="0070C0"/>
                </a:solidFill>
                <a:latin typeface="Calibri" panose="020F0502020204030204" pitchFamily="34" charset="0"/>
                <a:cs typeface="Calibri" panose="020F0502020204030204" pitchFamily="34" charset="0"/>
              </a:rPr>
              <a:t>将每个变量的值域映射到[0.0</a:t>
            </a:r>
            <a:r>
              <a:rPr lang="en-US" altLang="zh-CN" sz="2200" b="0" dirty="0">
                <a:solidFill>
                  <a:srgbClr val="0070C0"/>
                </a:solidFill>
                <a:latin typeface="Calibri" panose="020F0502020204030204" pitchFamily="34" charset="0"/>
                <a:cs typeface="Calibri" panose="020F0502020204030204" pitchFamily="34" charset="0"/>
              </a:rPr>
              <a:t>, </a:t>
            </a:r>
            <a:r>
              <a:rPr lang="zh-CN" altLang="en-US" sz="2200" b="0" dirty="0">
                <a:solidFill>
                  <a:srgbClr val="0070C0"/>
                </a:solidFill>
                <a:latin typeface="Calibri" panose="020F0502020204030204" pitchFamily="34" charset="0"/>
                <a:cs typeface="Calibri" panose="020F0502020204030204" pitchFamily="34" charset="0"/>
              </a:rPr>
              <a:t>1.0]上，使得每个变量都有相同的权重。这通过用 </a:t>
            </a:r>
            <a:r>
              <a:rPr lang="en-US" altLang="zh-CN" sz="2200" b="0" kern="1200" dirty="0" err="1">
                <a:solidFill>
                  <a:srgbClr val="0000FF"/>
                </a:solidFill>
                <a:latin typeface="Calibri" panose="020F0502020204030204" pitchFamily="34" charset="0"/>
                <a:cs typeface="Calibri" panose="020F0502020204030204" pitchFamily="34" charset="0"/>
              </a:rPr>
              <a:t>z</a:t>
            </a:r>
            <a:r>
              <a:rPr lang="en-US" altLang="zh-CN" sz="2200" b="0" kern="1200" baseline="-25000" dirty="0" err="1">
                <a:solidFill>
                  <a:srgbClr val="0000FF"/>
                </a:solidFill>
                <a:latin typeface="Calibri" panose="020F0502020204030204" pitchFamily="34" charset="0"/>
                <a:cs typeface="Calibri" panose="020F0502020204030204" pitchFamily="34" charset="0"/>
              </a:rPr>
              <a:t>if</a:t>
            </a:r>
            <a:r>
              <a:rPr lang="en-US" altLang="zh-CN" sz="2200" b="0" kern="1200" baseline="-25000" dirty="0">
                <a:solidFill>
                  <a:srgbClr val="0000FF"/>
                </a:solidFill>
                <a:latin typeface="Calibri" panose="020F0502020204030204" pitchFamily="34" charset="0"/>
                <a:cs typeface="Calibri" panose="020F0502020204030204" pitchFamily="34" charset="0"/>
              </a:rPr>
              <a:t> </a:t>
            </a:r>
            <a:r>
              <a:rPr lang="zh-CN" altLang="en-US" sz="2200" b="0" dirty="0">
                <a:solidFill>
                  <a:srgbClr val="0070C0"/>
                </a:solidFill>
                <a:latin typeface="Calibri" panose="020F0502020204030204" pitchFamily="34" charset="0"/>
                <a:cs typeface="Calibri" panose="020F0502020204030204" pitchFamily="34" charset="0"/>
              </a:rPr>
              <a:t>来替代 </a:t>
            </a:r>
            <a:r>
              <a:rPr lang="en-US" altLang="zh-CN" sz="2200" b="0" kern="1200" dirty="0" err="1">
                <a:solidFill>
                  <a:srgbClr val="0000FF"/>
                </a:solidFill>
                <a:latin typeface="Calibri" panose="020F0502020204030204" pitchFamily="34" charset="0"/>
                <a:cs typeface="Calibri" panose="020F0502020204030204" pitchFamily="34" charset="0"/>
              </a:rPr>
              <a:t>r</a:t>
            </a:r>
            <a:r>
              <a:rPr lang="en-US" altLang="zh-CN" sz="2200" b="0" kern="1200" baseline="-25000" dirty="0" err="1">
                <a:solidFill>
                  <a:srgbClr val="0000FF"/>
                </a:solidFill>
                <a:latin typeface="Calibri" panose="020F0502020204030204" pitchFamily="34" charset="0"/>
                <a:cs typeface="Calibri" panose="020F0502020204030204" pitchFamily="34" charset="0"/>
              </a:rPr>
              <a:t>if</a:t>
            </a:r>
            <a:r>
              <a:rPr lang="en-US" altLang="zh-CN" sz="2200" b="0" kern="1200" baseline="-25000" dirty="0">
                <a:solidFill>
                  <a:srgbClr val="0000FF"/>
                </a:solidFill>
                <a:latin typeface="Calibri" panose="020F0502020204030204" pitchFamily="34" charset="0"/>
                <a:cs typeface="Calibri" panose="020F0502020204030204" pitchFamily="34" charset="0"/>
              </a:rPr>
              <a:t> </a:t>
            </a:r>
            <a:r>
              <a:rPr lang="zh-CN" altLang="en-US" sz="2200" b="0" dirty="0">
                <a:solidFill>
                  <a:srgbClr val="0070C0"/>
                </a:solidFill>
                <a:latin typeface="Calibri" panose="020F0502020204030204" pitchFamily="34" charset="0"/>
                <a:cs typeface="Calibri" panose="020F0502020204030204" pitchFamily="34" charset="0"/>
              </a:rPr>
              <a:t>来实现</a:t>
            </a:r>
            <a:endParaRPr lang="zh-CN" altLang="en-US" sz="2200" b="0" dirty="0">
              <a:solidFill>
                <a:srgbClr val="0070C0"/>
              </a:solidFill>
              <a:latin typeface="Calibri" panose="020F0502020204030204" pitchFamily="34" charset="0"/>
              <a:cs typeface="Calibri" panose="020F0502020204030204" pitchFamily="34" charset="0"/>
            </a:endParaRPr>
          </a:p>
          <a:p>
            <a:pPr marL="800100" lvl="1" indent="-342900">
              <a:lnSpc>
                <a:spcPct val="120000"/>
              </a:lnSpc>
              <a:spcBef>
                <a:spcPts val="600"/>
              </a:spcBef>
              <a:spcAft>
                <a:spcPts val="0"/>
              </a:spcAft>
              <a:buClr>
                <a:srgbClr val="0000FF"/>
              </a:buClr>
              <a:buSzPct val="100000"/>
              <a:buFont typeface="Wingdings" panose="05000000000000000000" pitchFamily="2" charset="2"/>
              <a:buChar char="ü"/>
              <a:defRPr/>
            </a:pPr>
            <a:endParaRPr lang="en-US" altLang="zh-CN" sz="2200" b="0" kern="1200" dirty="0">
              <a:latin typeface="Calibri" panose="020F0502020204030204" pitchFamily="34" charset="0"/>
              <a:cs typeface="Calibri" panose="020F0502020204030204" pitchFamily="34" charset="0"/>
            </a:endParaRPr>
          </a:p>
          <a:p>
            <a:pPr marL="800100" lvl="1" indent="-342900">
              <a:lnSpc>
                <a:spcPct val="120000"/>
              </a:lnSpc>
              <a:spcBef>
                <a:spcPts val="0"/>
              </a:spcBef>
              <a:spcAft>
                <a:spcPts val="0"/>
              </a:spcAft>
              <a:buClr>
                <a:srgbClr val="0000FF"/>
              </a:buClr>
              <a:buSzPct val="100000"/>
              <a:buFont typeface="Wingdings" panose="05000000000000000000" pitchFamily="2" charset="2"/>
              <a:buChar char="ü"/>
              <a:defRPr/>
            </a:pPr>
            <a:r>
              <a:rPr lang="zh-CN" altLang="en-US" sz="2200" b="0" dirty="0">
                <a:solidFill>
                  <a:srgbClr val="0070C0"/>
                </a:solidFill>
                <a:latin typeface="Calibri" panose="020F0502020204030204" pitchFamily="34" charset="0"/>
                <a:cs typeface="Calibri" panose="020F0502020204030204" pitchFamily="34" charset="0"/>
              </a:rPr>
              <a:t>用前面所述的区间标度变量的任一种距离计算方法来计算</a:t>
            </a:r>
            <a:endParaRPr lang="zh-CN" altLang="en-US" sz="2200" b="0" dirty="0">
              <a:solidFill>
                <a:srgbClr val="0070C0"/>
              </a:solidFill>
              <a:latin typeface="Calibri" panose="020F0502020204030204" pitchFamily="34" charset="0"/>
              <a:cs typeface="Calibri" panose="020F0502020204030204" pitchFamily="34" charset="0"/>
            </a:endParaRPr>
          </a:p>
        </p:txBody>
      </p:sp>
      <p:pic>
        <p:nvPicPr>
          <p:cNvPr id="6" name="对象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940152" y="4992464"/>
            <a:ext cx="24384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 name="对象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3968" y="4183210"/>
            <a:ext cx="220980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6.2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聚类分析中的数据类型</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a:t>
            </a:r>
            <a:r>
              <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比例标度型</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5" name="Rectangle 3"/>
          <p:cNvSpPr txBox="1">
            <a:spLocks noChangeArrowheads="1"/>
          </p:cNvSpPr>
          <p:nvPr/>
        </p:nvSpPr>
        <p:spPr>
          <a:xfrm>
            <a:off x="342900" y="1066800"/>
            <a:ext cx="8458200" cy="5170512"/>
          </a:xfrm>
          <a:prstGeom prst="rect">
            <a:avLst/>
          </a:prstGeom>
        </p:spPr>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20000"/>
              </a:lnSpc>
              <a:spcBef>
                <a:spcPts val="600"/>
              </a:spcBef>
              <a:spcAft>
                <a:spcPts val="600"/>
              </a:spcAft>
              <a:buSzPct val="100000"/>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rPr>
              <a:t>比例标度型变量</a:t>
            </a:r>
            <a:r>
              <a:rPr lang="en-US" altLang="zh-CN" sz="2800" b="0" dirty="0">
                <a:solidFill>
                  <a:srgbClr val="FF0000"/>
                </a:solidFill>
                <a:latin typeface="方正兰亭中黑_GBK" panose="02000000000000000000" pitchFamily="2" charset="-122"/>
                <a:ea typeface="方正兰亭中黑_GBK" panose="02000000000000000000" pitchFamily="2" charset="-122"/>
              </a:rPr>
              <a:t>(Ratio-scaled variable): </a:t>
            </a:r>
            <a:r>
              <a:rPr lang="zh-CN" altLang="en-US" sz="2800" b="0" kern="1200" dirty="0">
                <a:solidFill>
                  <a:srgbClr val="0070C0"/>
                </a:solidFill>
                <a:latin typeface="方正兰亭中黑_GBK" panose="02000000000000000000" pitchFamily="2" charset="-122"/>
                <a:ea typeface="方正兰亭中黑_GBK" panose="02000000000000000000" pitchFamily="2" charset="-122"/>
              </a:rPr>
              <a:t>总是取正的度量值，有一个非线性的标度，近似的遵循指数标度，比如</a:t>
            </a:r>
            <a:r>
              <a:rPr lang="en-US" altLang="zh-CN" sz="2800" b="0" kern="1200" dirty="0">
                <a:solidFill>
                  <a:srgbClr val="0070C0"/>
                </a:solidFill>
                <a:latin typeface="方正兰亭中黑_GBK" panose="02000000000000000000" pitchFamily="2" charset="-122"/>
                <a:ea typeface="方正兰亭中黑_GBK" panose="02000000000000000000" pitchFamily="2" charset="-122"/>
              </a:rPr>
              <a:t> </a:t>
            </a:r>
            <a:r>
              <a:rPr lang="en-US" altLang="zh-CN" sz="2400" b="0" i="1" kern="0" dirty="0" err="1">
                <a:solidFill>
                  <a:srgbClr val="0070C0"/>
                </a:solidFill>
                <a:latin typeface="Calibri" panose="020F0502020204030204" pitchFamily="34" charset="0"/>
                <a:ea typeface="方正兰亭中黑_GBK" panose="02000000000000000000" pitchFamily="2" charset="-122"/>
                <a:cs typeface="Calibri" panose="020F0502020204030204" pitchFamily="34" charset="0"/>
              </a:rPr>
              <a:t>Ae</a:t>
            </a:r>
            <a:r>
              <a:rPr lang="en-US" altLang="zh-CN" sz="2400" b="0" i="1" kern="0" baseline="30000" dirty="0" err="1">
                <a:solidFill>
                  <a:srgbClr val="0070C0"/>
                </a:solidFill>
                <a:latin typeface="Calibri" panose="020F0502020204030204" pitchFamily="34" charset="0"/>
                <a:ea typeface="方正兰亭中黑_GBK" panose="02000000000000000000" pitchFamily="2" charset="-122"/>
                <a:cs typeface="Calibri" panose="020F0502020204030204" pitchFamily="34" charset="0"/>
              </a:rPr>
              <a:t>Bt</a:t>
            </a:r>
            <a:r>
              <a:rPr lang="en-US" altLang="zh-CN" sz="2400" b="0" kern="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 or </a:t>
            </a:r>
            <a:r>
              <a:rPr lang="en-US" altLang="zh-CN" sz="2400" b="0" i="1" kern="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Ae</a:t>
            </a:r>
            <a:r>
              <a:rPr lang="en-US" altLang="zh-CN" sz="2400" b="0" i="1" kern="0" baseline="3000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a:t>
            </a:r>
            <a:r>
              <a:rPr lang="en-US" altLang="zh-CN" sz="2400" b="0" i="1" kern="0" baseline="30000" dirty="0" err="1">
                <a:solidFill>
                  <a:srgbClr val="0070C0"/>
                </a:solidFill>
                <a:latin typeface="Calibri" panose="020F0502020204030204" pitchFamily="34" charset="0"/>
                <a:ea typeface="方正兰亭中黑_GBK" panose="02000000000000000000" pitchFamily="2" charset="-122"/>
                <a:cs typeface="Calibri" panose="020F0502020204030204" pitchFamily="34" charset="0"/>
              </a:rPr>
              <a:t>Bt</a:t>
            </a:r>
            <a:r>
              <a:rPr lang="en-US" altLang="zh-CN" sz="2400" b="0" kern="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 </a:t>
            </a:r>
            <a:endParaRPr lang="en-US" altLang="zh-CN" sz="2400" b="0" kern="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endParaRPr>
          </a:p>
          <a:p>
            <a:pPr marL="450850" indent="-450850">
              <a:lnSpc>
                <a:spcPct val="120000"/>
              </a:lnSpc>
              <a:spcBef>
                <a:spcPts val="600"/>
              </a:spcBef>
              <a:spcAft>
                <a:spcPts val="600"/>
              </a:spcAft>
              <a:buSzPct val="100000"/>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rPr>
              <a:t>相异度计算:</a:t>
            </a:r>
            <a:endParaRPr lang="zh-CN" altLang="en-US" sz="2800" b="0" dirty="0">
              <a:solidFill>
                <a:srgbClr val="FF0000"/>
              </a:solidFill>
              <a:latin typeface="方正兰亭中黑_GBK" panose="02000000000000000000" pitchFamily="2" charset="-122"/>
              <a:ea typeface="方正兰亭中黑_GBK" panose="02000000000000000000" pitchFamily="2" charset="-122"/>
            </a:endParaRPr>
          </a:p>
          <a:p>
            <a:pPr marL="800100" lvl="1" indent="-342900">
              <a:lnSpc>
                <a:spcPct val="130000"/>
              </a:lnSpc>
              <a:spcBef>
                <a:spcPts val="600"/>
              </a:spcBef>
              <a:spcAft>
                <a:spcPts val="0"/>
              </a:spcAft>
              <a:buClr>
                <a:srgbClr val="0000FF"/>
              </a:buClr>
              <a:buSzPct val="100000"/>
              <a:buFont typeface="Wingdings" panose="05000000000000000000" pitchFamily="2" charset="2"/>
              <a:buChar char="ü"/>
              <a:defRPr/>
            </a:pPr>
            <a:r>
              <a:rPr lang="zh-CN" altLang="en-US" sz="2400" b="0" kern="120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采用与区间标度变量相同的方法 —</a:t>
            </a:r>
            <a:r>
              <a:rPr lang="zh-CN" altLang="en-US" sz="2400" b="0" kern="1200" dirty="0">
                <a:solidFill>
                  <a:srgbClr val="C00000"/>
                </a:solidFill>
                <a:latin typeface="方正兰亭中黑_GBK" panose="02000000000000000000" pitchFamily="2" charset="-122"/>
                <a:ea typeface="方正兰亭中黑_GBK" panose="02000000000000000000" pitchFamily="2" charset="-122"/>
                <a:cs typeface="Calibri" panose="020F0502020204030204" pitchFamily="34" charset="0"/>
              </a:rPr>
              <a:t> </a:t>
            </a:r>
            <a:r>
              <a:rPr lang="zh-CN" altLang="en-US" sz="2400" b="0" kern="12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不是一个好的选择</a:t>
            </a:r>
            <a:endParaRPr lang="zh-CN" altLang="en-US" sz="2400" b="0" kern="12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800100" lvl="1" indent="-342900">
              <a:lnSpc>
                <a:spcPct val="130000"/>
              </a:lnSpc>
              <a:spcBef>
                <a:spcPts val="600"/>
              </a:spcBef>
              <a:spcAft>
                <a:spcPts val="0"/>
              </a:spcAft>
              <a:buClr>
                <a:srgbClr val="0000FF"/>
              </a:buClr>
              <a:buSzPct val="100000"/>
              <a:buFont typeface="Wingdings" panose="05000000000000000000" pitchFamily="2" charset="2"/>
              <a:buChar char="ü"/>
              <a:defRPr/>
            </a:pPr>
            <a:r>
              <a:rPr lang="zh-CN" altLang="en-US" sz="2400" b="0" kern="120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进行对数变换，</a:t>
            </a:r>
            <a:r>
              <a:rPr lang="zh-CN" altLang="en-US" sz="2400" b="0" kern="12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对变换得到的值在采用与处理区间标度变量相同的方法对变换得到的值在采用与处理区间标度变量相同的方法 </a:t>
            </a:r>
            <a:r>
              <a:rPr lang="zh-CN" altLang="en-US" sz="2400" b="0" kern="1200" dirty="0">
                <a:latin typeface="方正兰亭中黑_GBK" panose="02000000000000000000" pitchFamily="2" charset="-122"/>
                <a:ea typeface="方正兰亭中黑_GBK" panose="02000000000000000000" pitchFamily="2" charset="-122"/>
                <a:cs typeface="Calibri" panose="020F0502020204030204" pitchFamily="34" charset="0"/>
              </a:rPr>
              <a:t>	</a:t>
            </a:r>
            <a:r>
              <a:rPr lang="en-US" altLang="zh-CN" sz="2400" b="0" kern="1200" dirty="0" err="1">
                <a:latin typeface="Calibri" panose="020F0502020204030204" pitchFamily="34" charset="0"/>
                <a:ea typeface="方正兰亭中黑_GBK" panose="02000000000000000000" pitchFamily="2" charset="-122"/>
                <a:cs typeface="Calibri" panose="020F0502020204030204" pitchFamily="34" charset="0"/>
              </a:rPr>
              <a:t>y</a:t>
            </a:r>
            <a:r>
              <a:rPr lang="en-US" altLang="zh-CN" sz="2400" b="0" kern="1200" baseline="-25000" dirty="0" err="1">
                <a:latin typeface="Calibri" panose="020F0502020204030204" pitchFamily="34" charset="0"/>
                <a:ea typeface="方正兰亭中黑_GBK" panose="02000000000000000000" pitchFamily="2" charset="-122"/>
                <a:cs typeface="Calibri" panose="020F0502020204030204" pitchFamily="34" charset="0"/>
              </a:rPr>
              <a:t>if</a:t>
            </a:r>
            <a:r>
              <a:rPr lang="en-US" altLang="zh-CN" sz="2400" b="0" kern="1200" dirty="0">
                <a:latin typeface="Calibri" panose="020F0502020204030204" pitchFamily="34" charset="0"/>
                <a:ea typeface="方正兰亭中黑_GBK" panose="02000000000000000000" pitchFamily="2" charset="-122"/>
                <a:cs typeface="Calibri" panose="020F0502020204030204" pitchFamily="34" charset="0"/>
              </a:rPr>
              <a:t> = log(</a:t>
            </a:r>
            <a:r>
              <a:rPr lang="en-US" altLang="zh-CN" sz="2400" b="0" kern="1200" dirty="0" err="1">
                <a:latin typeface="Calibri" panose="020F0502020204030204" pitchFamily="34" charset="0"/>
                <a:ea typeface="方正兰亭中黑_GBK" panose="02000000000000000000" pitchFamily="2" charset="-122"/>
                <a:cs typeface="Calibri" panose="020F0502020204030204" pitchFamily="34" charset="0"/>
              </a:rPr>
              <a:t>x</a:t>
            </a:r>
            <a:r>
              <a:rPr lang="en-US" altLang="zh-CN" sz="2400" b="0" kern="1200" baseline="-25000" dirty="0" err="1">
                <a:latin typeface="Calibri" panose="020F0502020204030204" pitchFamily="34" charset="0"/>
                <a:ea typeface="方正兰亭中黑_GBK" panose="02000000000000000000" pitchFamily="2" charset="-122"/>
                <a:cs typeface="Calibri" panose="020F0502020204030204" pitchFamily="34" charset="0"/>
              </a:rPr>
              <a:t>if</a:t>
            </a:r>
            <a:r>
              <a:rPr lang="en-US" altLang="zh-CN" sz="2400" b="0" kern="1200" dirty="0">
                <a:latin typeface="Calibri" panose="020F0502020204030204" pitchFamily="34" charset="0"/>
                <a:ea typeface="方正兰亭中黑_GBK" panose="02000000000000000000" pitchFamily="2" charset="-122"/>
                <a:cs typeface="Calibri" panose="020F0502020204030204" pitchFamily="34" charset="0"/>
              </a:rPr>
              <a:t>)</a:t>
            </a:r>
            <a:endParaRPr lang="en-US" altLang="zh-CN" sz="2400" b="0" kern="1200" dirty="0">
              <a:latin typeface="Calibri" panose="020F0502020204030204" pitchFamily="34" charset="0"/>
              <a:ea typeface="方正兰亭中黑_GBK" panose="02000000000000000000" pitchFamily="2" charset="-122"/>
              <a:cs typeface="Calibri" panose="020F0502020204030204" pitchFamily="34" charset="0"/>
            </a:endParaRPr>
          </a:p>
          <a:p>
            <a:pPr marL="800100" lvl="1" indent="-342900">
              <a:lnSpc>
                <a:spcPct val="130000"/>
              </a:lnSpc>
              <a:spcBef>
                <a:spcPts val="600"/>
              </a:spcBef>
              <a:spcAft>
                <a:spcPts val="0"/>
              </a:spcAft>
              <a:buClr>
                <a:srgbClr val="0000FF"/>
              </a:buClr>
              <a:buSzPct val="100000"/>
              <a:buFont typeface="Wingdings" panose="05000000000000000000" pitchFamily="2" charset="2"/>
              <a:buChar char="ü"/>
              <a:defRPr/>
            </a:pPr>
            <a:r>
              <a:rPr lang="zh-CN" altLang="en-US" sz="2400" b="0" kern="120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将其作为连续的序数型数据，将其秩作为区间标度的值来对待</a:t>
            </a:r>
            <a:endParaRPr lang="zh-CN" altLang="en-US" sz="2400" b="0" kern="120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6.2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聚类分析中的</a:t>
            </a:r>
            <a:r>
              <a:rPr lang="zh-CN" altLang="en-US" sz="3600" b="0" kern="0" dirty="0">
                <a:solidFill>
                  <a:srgbClr val="0070C0"/>
                </a:solidFill>
                <a:latin typeface="Times New Roman" panose="02020603050405020304" pitchFamily="18" charset="0"/>
                <a:ea typeface="方正兰亭中黑_GBK" panose="02000000000000000000" pitchFamily="2" charset="-122"/>
                <a:cs typeface="Times New Roman" panose="02020603050405020304" pitchFamily="18" charset="0"/>
              </a:rPr>
              <a:t>数据类型</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a:t>
            </a:r>
            <a:r>
              <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混合类型</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4" name="Rectangle 3"/>
          <p:cNvSpPr txBox="1">
            <a:spLocks noChangeArrowheads="1"/>
          </p:cNvSpPr>
          <p:nvPr/>
        </p:nvSpPr>
        <p:spPr>
          <a:xfrm>
            <a:off x="323528" y="1124744"/>
            <a:ext cx="8305800" cy="4876800"/>
          </a:xfrm>
          <a:prstGeom prst="rect">
            <a:avLst/>
          </a:prstGeom>
        </p:spPr>
        <p:txBody>
          <a:bodyPr lIns="92075" tIns="46038" rIns="92075" bIns="46038"/>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indent="-450850">
              <a:lnSpc>
                <a:spcPct val="120000"/>
              </a:lnSpc>
              <a:spcBef>
                <a:spcPts val="600"/>
              </a:spcBef>
              <a:spcAft>
                <a:spcPts val="600"/>
              </a:spcAft>
              <a:buSzPct val="100000"/>
              <a:buFont typeface="Wingdings" panose="05000000000000000000" pitchFamily="2" charset="2"/>
              <a:buChar char="n"/>
              <a:defRPr/>
            </a:pPr>
            <a:r>
              <a:rPr lang="zh-CN" altLang="en-US" sz="2800" b="0" kern="1200" dirty="0">
                <a:solidFill>
                  <a:srgbClr val="0070C0"/>
                </a:solidFill>
                <a:latin typeface="方正兰亭中黑_GBK" panose="02000000000000000000" pitchFamily="2" charset="-122"/>
                <a:ea typeface="方正兰亭中黑_GBK" panose="02000000000000000000" pitchFamily="2" charset="-122"/>
              </a:rPr>
              <a:t>一个数据库可能包含了多种类型的变量，可用以下公式计算对象</a:t>
            </a:r>
            <a:r>
              <a:rPr lang="zh-CN" altLang="en-US" sz="2800" b="0" kern="120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 </a:t>
            </a:r>
            <a:r>
              <a:rPr lang="en-US" altLang="zh-CN" sz="2800" b="0" i="1" kern="1200" dirty="0" err="1">
                <a:solidFill>
                  <a:srgbClr val="0070C0"/>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i</a:t>
            </a:r>
            <a:r>
              <a:rPr lang="en-US" altLang="zh-CN" sz="2800" b="0" kern="1200" dirty="0" err="1">
                <a:solidFill>
                  <a:srgbClr val="0070C0"/>
                </a:solidFill>
                <a:latin typeface="Calibri" panose="020F0502020204030204" pitchFamily="34" charset="0"/>
                <a:ea typeface="方正兰亭中黑_GBK" panose="02000000000000000000" pitchFamily="2" charset="-122"/>
                <a:cs typeface="Calibri" panose="020F0502020204030204" pitchFamily="34" charset="0"/>
              </a:rPr>
              <a:t>，</a:t>
            </a:r>
            <a:r>
              <a:rPr lang="en-US" altLang="zh-CN" sz="2800" b="0" i="1" kern="1200" dirty="0" err="1">
                <a:solidFill>
                  <a:srgbClr val="0070C0"/>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j</a:t>
            </a:r>
            <a:r>
              <a:rPr lang="en-US" altLang="zh-CN" sz="2800" b="0" kern="120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 </a:t>
            </a:r>
            <a:r>
              <a:rPr lang="zh-CN" altLang="en-US" sz="2800" b="0" kern="1200" dirty="0">
                <a:solidFill>
                  <a:srgbClr val="0070C0"/>
                </a:solidFill>
                <a:latin typeface="方正兰亭中黑_GBK" panose="02000000000000000000" pitchFamily="2" charset="-122"/>
                <a:ea typeface="方正兰亭中黑_GBK" panose="02000000000000000000" pitchFamily="2" charset="-122"/>
              </a:rPr>
              <a:t>之间的相异度.</a:t>
            </a:r>
            <a:endParaRPr lang="zh-CN" altLang="en-US" sz="2800" b="0" kern="1200" dirty="0">
              <a:solidFill>
                <a:srgbClr val="0070C0"/>
              </a:solidFill>
              <a:latin typeface="方正兰亭中黑_GBK" panose="02000000000000000000" pitchFamily="2" charset="-122"/>
              <a:ea typeface="方正兰亭中黑_GBK" panose="02000000000000000000" pitchFamily="2" charset="-122"/>
            </a:endParaRPr>
          </a:p>
          <a:p>
            <a:pPr>
              <a:defRPr/>
            </a:pPr>
            <a:endParaRPr lang="en-US" altLang="zh-CN" b="0" kern="0" dirty="0">
              <a:ea typeface="宋体" panose="02010600030101010101" pitchFamily="2" charset="-122"/>
            </a:endParaRPr>
          </a:p>
          <a:p>
            <a:pPr lvl="1">
              <a:defRPr/>
            </a:pPr>
            <a:endParaRPr lang="en-US" altLang="zh-CN" b="0" i="1" kern="0" dirty="0">
              <a:ea typeface="宋体" panose="02010600030101010101" pitchFamily="2" charset="-122"/>
            </a:endParaRPr>
          </a:p>
          <a:p>
            <a:pPr>
              <a:lnSpc>
                <a:spcPct val="120000"/>
              </a:lnSpc>
              <a:spcBef>
                <a:spcPts val="600"/>
              </a:spcBef>
              <a:buFont typeface="Wingdings" panose="05000000000000000000" pitchFamily="2" charset="2"/>
              <a:buNone/>
              <a:defRPr/>
            </a:pPr>
            <a:r>
              <a:rPr lang="zh-CN" altLang="en-US" sz="2800" b="0" dirty="0">
                <a:solidFill>
                  <a:srgbClr val="0070C0"/>
                </a:solidFill>
                <a:latin typeface="方正兰亭中黑_GBK" panose="02000000000000000000" pitchFamily="2" charset="-122"/>
                <a:ea typeface="方正兰亭中黑_GBK" panose="02000000000000000000" pitchFamily="2" charset="-122"/>
              </a:rPr>
              <a:t>	其中，</a:t>
            </a:r>
            <a:r>
              <a:rPr lang="en-US" altLang="zh-CN" sz="2800" b="0" i="1" kern="0" dirty="0">
                <a:solidFill>
                  <a:srgbClr val="0000FF"/>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p</a:t>
            </a:r>
            <a:r>
              <a:rPr lang="zh-CN" altLang="en-US" sz="2800" b="0" dirty="0">
                <a:solidFill>
                  <a:srgbClr val="0070C0"/>
                </a:solidFill>
                <a:latin typeface="方正兰亭中黑_GBK" panose="02000000000000000000" pitchFamily="2" charset="-122"/>
                <a:ea typeface="方正兰亭中黑_GBK" panose="02000000000000000000" pitchFamily="2" charset="-122"/>
              </a:rPr>
              <a:t>为对象中的变量个数；</a:t>
            </a:r>
            <a:endParaRPr lang="zh-CN" altLang="en-US" sz="2800" b="0" dirty="0">
              <a:solidFill>
                <a:srgbClr val="0070C0"/>
              </a:solidFill>
              <a:latin typeface="方正兰亭中黑_GBK" panose="02000000000000000000" pitchFamily="2" charset="-122"/>
              <a:ea typeface="方正兰亭中黑_GBK" panose="02000000000000000000" pitchFamily="2" charset="-122"/>
            </a:endParaRPr>
          </a:p>
          <a:p>
            <a:pPr>
              <a:lnSpc>
                <a:spcPct val="120000"/>
              </a:lnSpc>
              <a:spcBef>
                <a:spcPts val="600"/>
              </a:spcBef>
              <a:buFont typeface="Wingdings" panose="05000000000000000000" pitchFamily="2" charset="2"/>
              <a:buNone/>
              <a:defRPr/>
            </a:pPr>
            <a:r>
              <a:rPr lang="zh-CN" altLang="en-US" sz="2800" b="0" kern="0" dirty="0">
                <a:latin typeface="方正兰亭中黑_GBK" panose="02000000000000000000" pitchFamily="2" charset="-122"/>
                <a:ea typeface="方正兰亭中黑_GBK" panose="02000000000000000000" pitchFamily="2" charset="-122"/>
                <a:cs typeface="Calibri" panose="020F0502020204030204" pitchFamily="34" charset="0"/>
              </a:rPr>
              <a:t>	</a:t>
            </a:r>
            <a:r>
              <a:rPr lang="zh-CN" altLang="en-US" sz="2800" b="0" dirty="0">
                <a:solidFill>
                  <a:srgbClr val="0070C0"/>
                </a:solidFill>
                <a:latin typeface="方正兰亭中黑_GBK" panose="02000000000000000000" pitchFamily="2" charset="-122"/>
                <a:ea typeface="方正兰亭中黑_GBK" panose="02000000000000000000" pitchFamily="2" charset="-122"/>
              </a:rPr>
              <a:t>如果</a:t>
            </a:r>
            <a:r>
              <a:rPr lang="zh-CN" altLang="en-US" sz="2800" b="0" kern="0" dirty="0">
                <a:latin typeface="方正兰亭中黑_GBK" panose="02000000000000000000" pitchFamily="2" charset="-122"/>
                <a:ea typeface="方正兰亭中黑_GBK" panose="02000000000000000000" pitchFamily="2" charset="-122"/>
                <a:cs typeface="Calibri" panose="020F0502020204030204" pitchFamily="34" charset="0"/>
              </a:rPr>
              <a:t> </a:t>
            </a:r>
            <a:r>
              <a:rPr lang="en-US" altLang="zh-CN" sz="2800" b="0" i="1" kern="0" dirty="0" err="1">
                <a:solidFill>
                  <a:srgbClr val="0000FF"/>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x</a:t>
            </a:r>
            <a:r>
              <a:rPr lang="en-US" altLang="zh-CN" sz="2800" b="0" i="1" kern="0" baseline="-25000" dirty="0" err="1">
                <a:solidFill>
                  <a:srgbClr val="0000FF"/>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if</a:t>
            </a:r>
            <a:r>
              <a:rPr lang="en-US" altLang="zh-CN" sz="2800" b="0" i="1" kern="0" baseline="-25000" dirty="0">
                <a:solidFill>
                  <a:srgbClr val="0000FF"/>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 </a:t>
            </a:r>
            <a:r>
              <a:rPr lang="zh-CN" altLang="en-US" sz="2800" b="0" dirty="0">
                <a:solidFill>
                  <a:srgbClr val="0070C0"/>
                </a:solidFill>
                <a:latin typeface="方正兰亭中黑_GBK" panose="02000000000000000000" pitchFamily="2" charset="-122"/>
                <a:ea typeface="方正兰亭中黑_GBK" panose="02000000000000000000" pitchFamily="2" charset="-122"/>
              </a:rPr>
              <a:t>或</a:t>
            </a:r>
            <a:r>
              <a:rPr lang="zh-CN" altLang="en-US" sz="2800" b="0" kern="0" dirty="0">
                <a:latin typeface="方正兰亭中黑_GBK" panose="02000000000000000000" pitchFamily="2" charset="-122"/>
                <a:ea typeface="方正兰亭中黑_GBK" panose="02000000000000000000" pitchFamily="2" charset="-122"/>
                <a:cs typeface="Calibri" panose="020F0502020204030204" pitchFamily="34" charset="0"/>
              </a:rPr>
              <a:t> </a:t>
            </a:r>
            <a:r>
              <a:rPr lang="en-US" altLang="zh-CN" sz="2800" b="0" i="1" kern="0" dirty="0" err="1">
                <a:solidFill>
                  <a:srgbClr val="0000FF"/>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x</a:t>
            </a:r>
            <a:r>
              <a:rPr lang="en-US" altLang="zh-CN" sz="2800" b="0" i="1" kern="0" baseline="-25000" dirty="0" err="1">
                <a:solidFill>
                  <a:srgbClr val="0000FF"/>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jf</a:t>
            </a:r>
            <a:r>
              <a:rPr lang="en-US" altLang="zh-CN" sz="2800" b="0" kern="0" baseline="-25000" dirty="0">
                <a:latin typeface="Calibri" panose="020F0502020204030204" pitchFamily="34" charset="0"/>
                <a:ea typeface="方正兰亭中黑_GBK" panose="02000000000000000000" pitchFamily="2" charset="-122"/>
                <a:cs typeface="Calibri" panose="020F0502020204030204" pitchFamily="34" charset="0"/>
              </a:rPr>
              <a:t> </a:t>
            </a:r>
            <a:r>
              <a:rPr lang="en-US" altLang="zh-CN" sz="2800" b="0" kern="0" dirty="0">
                <a:latin typeface="Calibri" panose="020F0502020204030204" pitchFamily="34" charset="0"/>
                <a:ea typeface="方正兰亭中黑_GBK" panose="02000000000000000000" pitchFamily="2" charset="-122"/>
                <a:cs typeface="Calibri" panose="020F0502020204030204" pitchFamily="34" charset="0"/>
              </a:rPr>
              <a:t> </a:t>
            </a:r>
            <a:r>
              <a:rPr lang="zh-CN" altLang="en-US" sz="2800" b="0" dirty="0">
                <a:solidFill>
                  <a:srgbClr val="0070C0"/>
                </a:solidFill>
                <a:latin typeface="方正兰亭中黑_GBK" panose="02000000000000000000" pitchFamily="2" charset="-122"/>
                <a:ea typeface="方正兰亭中黑_GBK" panose="02000000000000000000" pitchFamily="2" charset="-122"/>
              </a:rPr>
              <a:t>缺失（即对象</a:t>
            </a:r>
            <a:r>
              <a:rPr lang="en-US" altLang="zh-CN" sz="2800" b="0" i="1" kern="0" dirty="0" err="1">
                <a:solidFill>
                  <a:srgbClr val="0000FF"/>
                </a:solidFill>
                <a:latin typeface="Calibri" panose="020F0502020204030204" pitchFamily="34" charset="0"/>
                <a:ea typeface="方正兰亭中黑_GBK" panose="02000000000000000000" pitchFamily="2" charset="-122"/>
                <a:cs typeface="Calibri" panose="020F0502020204030204" pitchFamily="34" charset="0"/>
              </a:rPr>
              <a:t>i</a:t>
            </a:r>
            <a:r>
              <a:rPr lang="zh-CN" altLang="en-US" sz="2800" b="0" dirty="0">
                <a:solidFill>
                  <a:srgbClr val="0070C0"/>
                </a:solidFill>
                <a:latin typeface="方正兰亭中黑_GBK" panose="02000000000000000000" pitchFamily="2" charset="-122"/>
                <a:ea typeface="方正兰亭中黑_GBK" panose="02000000000000000000" pitchFamily="2" charset="-122"/>
              </a:rPr>
              <a:t>或对象</a:t>
            </a:r>
            <a:r>
              <a:rPr lang="en-US" altLang="zh-CN" sz="2800" b="0" i="1" kern="0" dirty="0">
                <a:solidFill>
                  <a:srgbClr val="0000FF"/>
                </a:solidFill>
                <a:latin typeface="Calibri" panose="020F0502020204030204" pitchFamily="34" charset="0"/>
                <a:ea typeface="方正兰亭中黑_GBK" panose="02000000000000000000" pitchFamily="2" charset="-122"/>
                <a:cs typeface="Calibri" panose="020F0502020204030204" pitchFamily="34" charset="0"/>
              </a:rPr>
              <a:t>j</a:t>
            </a:r>
            <a:r>
              <a:rPr lang="zh-CN" altLang="en-US" sz="2800" b="0" dirty="0">
                <a:solidFill>
                  <a:srgbClr val="0070C0"/>
                </a:solidFill>
                <a:latin typeface="方正兰亭中黑_GBK" panose="02000000000000000000" pitchFamily="2" charset="-122"/>
                <a:ea typeface="方正兰亭中黑_GBK" panose="02000000000000000000" pitchFamily="2" charset="-122"/>
              </a:rPr>
              <a:t>没有变量</a:t>
            </a:r>
            <a:r>
              <a:rPr lang="en-US" altLang="zh-CN" sz="2800" b="0" i="1" kern="0" dirty="0">
                <a:solidFill>
                  <a:srgbClr val="0000FF"/>
                </a:solidFill>
                <a:latin typeface="Calibri" panose="020F0502020204030204" pitchFamily="34" charset="0"/>
                <a:ea typeface="方正兰亭中黑_GBK" panose="02000000000000000000" pitchFamily="2" charset="-122"/>
                <a:cs typeface="Calibri" panose="020F0502020204030204" pitchFamily="34" charset="0"/>
              </a:rPr>
              <a:t>f</a:t>
            </a:r>
            <a:r>
              <a:rPr lang="zh-CN" altLang="en-US" sz="2800" b="0" dirty="0">
                <a:solidFill>
                  <a:srgbClr val="0070C0"/>
                </a:solidFill>
                <a:latin typeface="方正兰亭中黑_GBK" panose="02000000000000000000" pitchFamily="2" charset="-122"/>
                <a:ea typeface="方正兰亭中黑_GBK" panose="02000000000000000000" pitchFamily="2" charset="-122"/>
              </a:rPr>
              <a:t>的值），</a:t>
            </a:r>
            <a:r>
              <a:rPr lang="zh-CN" altLang="en-US" sz="2800" b="0" kern="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或者</a:t>
            </a:r>
            <a:r>
              <a:rPr lang="en-US" altLang="zh-CN" sz="2800" b="0" i="1" kern="0" dirty="0" err="1">
                <a:solidFill>
                  <a:srgbClr val="FF0000"/>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x</a:t>
            </a:r>
            <a:r>
              <a:rPr lang="en-US" altLang="zh-CN" sz="2800" b="0" i="1" kern="0" baseline="-25000" dirty="0" err="1">
                <a:solidFill>
                  <a:srgbClr val="FF0000"/>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if</a:t>
            </a:r>
            <a:r>
              <a:rPr lang="en-US" altLang="zh-CN" sz="2800" b="0" i="1" kern="0" baseline="-25000" dirty="0">
                <a:solidFill>
                  <a:srgbClr val="FF0000"/>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 </a:t>
            </a:r>
            <a:r>
              <a:rPr lang="en-US" altLang="zh-CN" sz="2800" b="0" i="1" kern="0" dirty="0">
                <a:solidFill>
                  <a:srgbClr val="FF0000"/>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 </a:t>
            </a:r>
            <a:r>
              <a:rPr lang="en-US" altLang="zh-CN" sz="2800" b="0" i="1" kern="0" dirty="0" err="1">
                <a:solidFill>
                  <a:srgbClr val="FF0000"/>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x</a:t>
            </a:r>
            <a:r>
              <a:rPr lang="en-US" altLang="zh-CN" sz="2800" b="0" i="1" kern="0" baseline="-25000" dirty="0" err="1">
                <a:solidFill>
                  <a:srgbClr val="FF0000"/>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jf</a:t>
            </a:r>
            <a:r>
              <a:rPr lang="en-US" altLang="zh-CN" sz="2800" b="0" i="1" kern="0" dirty="0">
                <a:solidFill>
                  <a:srgbClr val="FF0000"/>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 =0</a:t>
            </a:r>
            <a:r>
              <a:rPr lang="en-US" altLang="zh-CN" sz="2800" b="0" kern="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a:t>
            </a:r>
            <a:r>
              <a:rPr lang="zh-CN" altLang="en-US" sz="2800" b="0" kern="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且变量</a:t>
            </a:r>
            <a:r>
              <a:rPr lang="en-US" altLang="zh-CN" sz="2800" b="0" i="1" kern="0" dirty="0">
                <a:solidFill>
                  <a:srgbClr val="FF0000"/>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f</a:t>
            </a:r>
            <a:r>
              <a:rPr lang="zh-CN" altLang="en-US" sz="2800" b="0" kern="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是不对称的二元变量，则指示项</a:t>
            </a:r>
            <a:r>
              <a:rPr lang="en-US" altLang="zh-CN" sz="2800" b="0" i="1" kern="0" dirty="0" err="1">
                <a:solidFill>
                  <a:srgbClr val="FF0000"/>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δ</a:t>
            </a:r>
            <a:r>
              <a:rPr lang="en-US" altLang="zh-CN" sz="2800" b="0" i="1" kern="0" baseline="-25000" dirty="0" err="1">
                <a:solidFill>
                  <a:srgbClr val="FF0000"/>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ij</a:t>
            </a:r>
            <a:r>
              <a:rPr lang="en-US" altLang="zh-CN" sz="2800" b="0" i="1" kern="0" dirty="0">
                <a:solidFill>
                  <a:srgbClr val="FF0000"/>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(f)=0</a:t>
            </a:r>
            <a:r>
              <a:rPr lang="en-US" altLang="zh-CN" sz="2800" b="0" dirty="0">
                <a:solidFill>
                  <a:srgbClr val="0070C0"/>
                </a:solidFill>
                <a:latin typeface="方正兰亭中黑_GBK" panose="02000000000000000000" pitchFamily="2" charset="-122"/>
                <a:ea typeface="方正兰亭中黑_GBK" panose="02000000000000000000" pitchFamily="2" charset="-122"/>
              </a:rPr>
              <a:t>；</a:t>
            </a:r>
            <a:r>
              <a:rPr lang="zh-CN" altLang="en-US" sz="2800" b="0" dirty="0">
                <a:solidFill>
                  <a:srgbClr val="0070C0"/>
                </a:solidFill>
                <a:latin typeface="方正兰亭中黑_GBK" panose="02000000000000000000" pitchFamily="2" charset="-122"/>
                <a:ea typeface="方正兰亭中黑_GBK" panose="02000000000000000000" pitchFamily="2" charset="-122"/>
              </a:rPr>
              <a:t>否则</a:t>
            </a:r>
            <a:r>
              <a:rPr lang="en-US" altLang="zh-CN" sz="2800" b="0" i="1" kern="0" dirty="0" err="1">
                <a:solidFill>
                  <a:srgbClr val="0000FF"/>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δ</a:t>
            </a:r>
            <a:r>
              <a:rPr lang="en-US" altLang="zh-CN" sz="2800" b="0" i="1" kern="0" baseline="-25000" dirty="0" err="1">
                <a:solidFill>
                  <a:srgbClr val="0000FF"/>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ij</a:t>
            </a:r>
            <a:r>
              <a:rPr lang="en-US" altLang="zh-CN" sz="2800" b="0" i="1" kern="0" dirty="0">
                <a:solidFill>
                  <a:srgbClr val="0000FF"/>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rPr>
              <a:t>(f)=1</a:t>
            </a:r>
            <a:endParaRPr lang="zh-CN" altLang="en-US" sz="2800" b="0" i="1" kern="0" dirty="0">
              <a:solidFill>
                <a:srgbClr val="0000FF"/>
              </a:solidFill>
              <a:effectLst>
                <a:outerShdw blurRad="38100" dist="38100" dir="2700000" algn="tl">
                  <a:srgbClr val="000000">
                    <a:alpha val="43137"/>
                  </a:srgbClr>
                </a:outerShdw>
              </a:effectLst>
              <a:latin typeface="Calibri" panose="020F0502020204030204" pitchFamily="34" charset="0"/>
              <a:ea typeface="方正兰亭中黑_GBK" panose="02000000000000000000" pitchFamily="2" charset="-122"/>
              <a:cs typeface="Calibri" panose="020F0502020204030204" pitchFamily="34" charset="0"/>
            </a:endParaRPr>
          </a:p>
        </p:txBody>
      </p:sp>
      <p:pic>
        <p:nvPicPr>
          <p:cNvPr id="6" name="Object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99592" y="2348880"/>
            <a:ext cx="4175125"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6.2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聚类分析中的数据类型</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a:t>
            </a:r>
            <a:r>
              <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混合类型</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4" name="Rectangle 3"/>
          <p:cNvSpPr txBox="1">
            <a:spLocks noChangeArrowheads="1"/>
          </p:cNvSpPr>
          <p:nvPr/>
        </p:nvSpPr>
        <p:spPr>
          <a:xfrm>
            <a:off x="571500" y="1124744"/>
            <a:ext cx="8001000" cy="482453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450850" lvl="1" indent="-450850">
              <a:lnSpc>
                <a:spcPct val="120000"/>
              </a:lnSpc>
              <a:spcBef>
                <a:spcPts val="600"/>
              </a:spcBef>
              <a:spcAft>
                <a:spcPts val="600"/>
              </a:spcAft>
              <a:buSzPct val="100000"/>
              <a:defRPr/>
            </a:pPr>
            <a:r>
              <a:rPr lang="en-US" altLang="zh-CN" i="1" kern="120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f </a:t>
            </a:r>
            <a:r>
              <a:rPr lang="en-US" altLang="zh-CN" kern="1200" dirty="0">
                <a:latin typeface="Times New Roman" panose="02020603050405020304" pitchFamily="18" charset="0"/>
                <a:cs typeface="+mn-cs"/>
              </a:rPr>
              <a:t> </a:t>
            </a:r>
            <a:r>
              <a:rPr lang="zh-CN" altLang="en-US" b="0" dirty="0">
                <a:solidFill>
                  <a:srgbClr val="0070C0"/>
                </a:solidFill>
                <a:latin typeface="方正兰亭中黑_GBK" panose="02000000000000000000" pitchFamily="2" charset="-122"/>
                <a:ea typeface="方正兰亭中黑_GBK" panose="02000000000000000000" pitchFamily="2" charset="-122"/>
              </a:rPr>
              <a:t>是二元变量或标称变量:</a:t>
            </a:r>
            <a:endParaRPr lang="zh-CN" altLang="en-US" b="0" dirty="0">
              <a:solidFill>
                <a:srgbClr val="0070C0"/>
              </a:solidFill>
              <a:latin typeface="方正兰亭中黑_GBK" panose="02000000000000000000" pitchFamily="2" charset="-122"/>
              <a:ea typeface="方正兰亭中黑_GBK" panose="02000000000000000000" pitchFamily="2" charset="-122"/>
            </a:endParaRPr>
          </a:p>
          <a:p>
            <a:pPr lvl="2">
              <a:buFont typeface="Wingdings" panose="05000000000000000000" pitchFamily="2" charset="2"/>
              <a:buNone/>
              <a:defRPr/>
            </a:pPr>
            <a:r>
              <a:rPr lang="en-US" altLang="zh-CN" sz="2800" b="0" kern="0" dirty="0">
                <a:solidFill>
                  <a:srgbClr val="0000FF"/>
                </a:solidFill>
                <a:latin typeface="Calibri" panose="020F0502020204030204" pitchFamily="34" charset="0"/>
                <a:ea typeface="宋体" panose="02010600030101010101" pitchFamily="2" charset="-122"/>
                <a:cs typeface="Calibri" panose="020F0502020204030204" pitchFamily="34" charset="0"/>
              </a:rPr>
              <a:t>if </a:t>
            </a:r>
            <a:r>
              <a:rPr lang="en-US" altLang="zh-CN" sz="2800" b="0" kern="0" dirty="0" err="1">
                <a:solidFill>
                  <a:srgbClr val="0000FF"/>
                </a:solidFill>
                <a:latin typeface="Calibri" panose="020F0502020204030204" pitchFamily="34" charset="0"/>
                <a:ea typeface="宋体" panose="02010600030101010101" pitchFamily="2" charset="-122"/>
                <a:cs typeface="Calibri" panose="020F0502020204030204" pitchFamily="34" charset="0"/>
              </a:rPr>
              <a:t>x</a:t>
            </a:r>
            <a:r>
              <a:rPr lang="en-US" altLang="zh-CN" sz="2800" b="0" kern="0" baseline="-25000" dirty="0" err="1">
                <a:solidFill>
                  <a:srgbClr val="0000FF"/>
                </a:solidFill>
                <a:latin typeface="Calibri" panose="020F0502020204030204" pitchFamily="34" charset="0"/>
                <a:ea typeface="宋体" panose="02010600030101010101" pitchFamily="2" charset="-122"/>
                <a:cs typeface="Calibri" panose="020F0502020204030204" pitchFamily="34" charset="0"/>
              </a:rPr>
              <a:t>if</a:t>
            </a:r>
            <a:r>
              <a:rPr lang="en-US" altLang="zh-CN" sz="2800" b="0" kern="0" baseline="-25000" dirty="0">
                <a:solidFill>
                  <a:srgbClr val="0000FF"/>
                </a:solidFill>
                <a:latin typeface="Calibri" panose="020F0502020204030204" pitchFamily="34" charset="0"/>
                <a:ea typeface="宋体" panose="02010600030101010101" pitchFamily="2" charset="-122"/>
                <a:cs typeface="Calibri" panose="020F0502020204030204" pitchFamily="34" charset="0"/>
              </a:rPr>
              <a:t> </a:t>
            </a:r>
            <a:r>
              <a:rPr lang="en-US" altLang="zh-CN" sz="2800" b="0" kern="0" dirty="0">
                <a:solidFill>
                  <a:srgbClr val="0000FF"/>
                </a:solidFill>
                <a:latin typeface="Calibri" panose="020F0502020204030204" pitchFamily="34" charset="0"/>
                <a:ea typeface="宋体" panose="02010600030101010101" pitchFamily="2" charset="-122"/>
                <a:cs typeface="Calibri" panose="020F0502020204030204" pitchFamily="34" charset="0"/>
              </a:rPr>
              <a:t>= </a:t>
            </a:r>
            <a:r>
              <a:rPr lang="en-US" altLang="zh-CN" sz="2800" b="0" kern="0" dirty="0" err="1">
                <a:solidFill>
                  <a:srgbClr val="0000FF"/>
                </a:solidFill>
                <a:latin typeface="Calibri" panose="020F0502020204030204" pitchFamily="34" charset="0"/>
                <a:ea typeface="宋体" panose="02010600030101010101" pitchFamily="2" charset="-122"/>
                <a:cs typeface="Calibri" panose="020F0502020204030204" pitchFamily="34" charset="0"/>
              </a:rPr>
              <a:t>x</a:t>
            </a:r>
            <a:r>
              <a:rPr lang="en-US" altLang="zh-CN" sz="2800" b="0" kern="0" baseline="-25000" dirty="0" err="1">
                <a:solidFill>
                  <a:srgbClr val="0000FF"/>
                </a:solidFill>
                <a:latin typeface="Calibri" panose="020F0502020204030204" pitchFamily="34" charset="0"/>
                <a:ea typeface="宋体" panose="02010600030101010101" pitchFamily="2" charset="-122"/>
                <a:cs typeface="Calibri" panose="020F0502020204030204" pitchFamily="34" charset="0"/>
              </a:rPr>
              <a:t>jf</a:t>
            </a:r>
            <a:r>
              <a:rPr lang="en-US" altLang="zh-CN" sz="2800" b="0" kern="0" dirty="0">
                <a:solidFill>
                  <a:srgbClr val="0000FF"/>
                </a:solidFill>
                <a:latin typeface="Calibri" panose="020F0502020204030204" pitchFamily="34" charset="0"/>
                <a:ea typeface="宋体" panose="02010600030101010101" pitchFamily="2" charset="-122"/>
                <a:cs typeface="Calibri" panose="020F0502020204030204" pitchFamily="34" charset="0"/>
              </a:rPr>
              <a:t> </a:t>
            </a:r>
            <a:r>
              <a:rPr lang="en-US" altLang="zh-CN" sz="2800" b="0" kern="0" dirty="0" err="1">
                <a:solidFill>
                  <a:srgbClr val="0000FF"/>
                </a:solidFill>
                <a:latin typeface="Calibri" panose="020F0502020204030204" pitchFamily="34" charset="0"/>
                <a:ea typeface="宋体" panose="02010600030101010101" pitchFamily="2" charset="-122"/>
                <a:cs typeface="Calibri" panose="020F0502020204030204" pitchFamily="34" charset="0"/>
              </a:rPr>
              <a:t>d</a:t>
            </a:r>
            <a:r>
              <a:rPr lang="en-US" altLang="zh-CN" sz="2800" b="0" kern="0" baseline="-25000" dirty="0" err="1">
                <a:solidFill>
                  <a:srgbClr val="0000FF"/>
                </a:solidFill>
                <a:latin typeface="Calibri" panose="020F0502020204030204" pitchFamily="34" charset="0"/>
                <a:ea typeface="宋体" panose="02010600030101010101" pitchFamily="2" charset="-122"/>
                <a:cs typeface="Calibri" panose="020F0502020204030204" pitchFamily="34" charset="0"/>
              </a:rPr>
              <a:t>ij</a:t>
            </a:r>
            <a:r>
              <a:rPr lang="en-US" altLang="zh-CN" sz="2800" b="0" kern="0" baseline="30000" dirty="0">
                <a:solidFill>
                  <a:srgbClr val="0000FF"/>
                </a:solidFill>
                <a:latin typeface="Calibri" panose="020F0502020204030204" pitchFamily="34" charset="0"/>
                <a:ea typeface="宋体" panose="02010600030101010101" pitchFamily="2" charset="-122"/>
                <a:cs typeface="Calibri" panose="020F0502020204030204" pitchFamily="34" charset="0"/>
              </a:rPr>
              <a:t>(f)</a:t>
            </a:r>
            <a:r>
              <a:rPr lang="en-US" altLang="zh-CN" sz="2800" b="0" kern="0" dirty="0">
                <a:solidFill>
                  <a:srgbClr val="0000FF"/>
                </a:solidFill>
                <a:latin typeface="Calibri" panose="020F0502020204030204" pitchFamily="34" charset="0"/>
                <a:ea typeface="宋体" panose="02010600030101010101" pitchFamily="2" charset="-122"/>
                <a:cs typeface="Calibri" panose="020F0502020204030204" pitchFamily="34" charset="0"/>
              </a:rPr>
              <a:t> = 0, else </a:t>
            </a:r>
            <a:r>
              <a:rPr lang="en-US" altLang="zh-CN" sz="2800" b="0" kern="0" dirty="0" err="1">
                <a:solidFill>
                  <a:srgbClr val="0000FF"/>
                </a:solidFill>
                <a:latin typeface="Calibri" panose="020F0502020204030204" pitchFamily="34" charset="0"/>
                <a:ea typeface="宋体" panose="02010600030101010101" pitchFamily="2" charset="-122"/>
                <a:cs typeface="Calibri" panose="020F0502020204030204" pitchFamily="34" charset="0"/>
              </a:rPr>
              <a:t>d</a:t>
            </a:r>
            <a:r>
              <a:rPr lang="en-US" altLang="zh-CN" sz="2800" b="0" kern="0" baseline="-25000" dirty="0" err="1">
                <a:solidFill>
                  <a:srgbClr val="0000FF"/>
                </a:solidFill>
                <a:latin typeface="Calibri" panose="020F0502020204030204" pitchFamily="34" charset="0"/>
                <a:ea typeface="宋体" panose="02010600030101010101" pitchFamily="2" charset="-122"/>
                <a:cs typeface="Calibri" panose="020F0502020204030204" pitchFamily="34" charset="0"/>
              </a:rPr>
              <a:t>ij</a:t>
            </a:r>
            <a:r>
              <a:rPr lang="en-US" altLang="zh-CN" sz="2800" b="0" kern="0" baseline="30000" dirty="0">
                <a:solidFill>
                  <a:srgbClr val="0000FF"/>
                </a:solidFill>
                <a:latin typeface="Calibri" panose="020F0502020204030204" pitchFamily="34" charset="0"/>
                <a:ea typeface="宋体" panose="02010600030101010101" pitchFamily="2" charset="-122"/>
                <a:cs typeface="Calibri" panose="020F0502020204030204" pitchFamily="34" charset="0"/>
              </a:rPr>
              <a:t>(f)</a:t>
            </a:r>
            <a:r>
              <a:rPr lang="en-US" altLang="zh-CN" sz="2800" b="0" kern="0" dirty="0">
                <a:solidFill>
                  <a:srgbClr val="0000FF"/>
                </a:solidFill>
                <a:latin typeface="Calibri" panose="020F0502020204030204" pitchFamily="34" charset="0"/>
                <a:ea typeface="宋体" panose="02010600030101010101" pitchFamily="2" charset="-122"/>
                <a:cs typeface="Calibri" panose="020F0502020204030204" pitchFamily="34" charset="0"/>
              </a:rPr>
              <a:t> = 1 </a:t>
            </a:r>
            <a:endParaRPr lang="en-US" altLang="zh-CN" sz="2800" b="0" kern="0" dirty="0">
              <a:solidFill>
                <a:srgbClr val="0000FF"/>
              </a:solidFill>
              <a:latin typeface="Calibri" panose="020F0502020204030204" pitchFamily="34" charset="0"/>
              <a:ea typeface="宋体" panose="02010600030101010101" pitchFamily="2" charset="-122"/>
              <a:cs typeface="Calibri" panose="020F0502020204030204" pitchFamily="34" charset="0"/>
            </a:endParaRPr>
          </a:p>
          <a:p>
            <a:pPr marL="450850" lvl="1" indent="-450850">
              <a:lnSpc>
                <a:spcPct val="120000"/>
              </a:lnSpc>
              <a:spcBef>
                <a:spcPts val="600"/>
              </a:spcBef>
              <a:spcAft>
                <a:spcPts val="600"/>
              </a:spcAft>
              <a:buSzPct val="100000"/>
              <a:defRPr/>
            </a:pPr>
            <a:r>
              <a:rPr lang="en-US" altLang="zh-CN" i="1" kern="120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f</a:t>
            </a:r>
            <a:r>
              <a:rPr lang="en-US" altLang="zh-CN" b="0" i="1" kern="120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  </a:t>
            </a:r>
            <a:r>
              <a:rPr lang="zh-CN" altLang="en-US" b="0" dirty="0">
                <a:solidFill>
                  <a:srgbClr val="0070C0"/>
                </a:solidFill>
                <a:latin typeface="方正兰亭中黑_GBK" panose="02000000000000000000" pitchFamily="2" charset="-122"/>
                <a:ea typeface="方正兰亭中黑_GBK" panose="02000000000000000000" pitchFamily="2" charset="-122"/>
              </a:rPr>
              <a:t>是区间标度变量: </a:t>
            </a:r>
            <a:endParaRPr lang="zh-CN" altLang="en-US" b="0" dirty="0">
              <a:solidFill>
                <a:srgbClr val="0070C0"/>
              </a:solidFill>
              <a:latin typeface="方正兰亭中黑_GBK" panose="02000000000000000000" pitchFamily="2" charset="-122"/>
              <a:ea typeface="方正兰亭中黑_GBK" panose="02000000000000000000" pitchFamily="2" charset="-122"/>
            </a:endParaRPr>
          </a:p>
          <a:p>
            <a:pPr lvl="1">
              <a:buFont typeface="Wingdings" panose="05000000000000000000" pitchFamily="2" charset="2"/>
              <a:buNone/>
              <a:defRPr/>
            </a:pPr>
            <a:r>
              <a:rPr lang="en-US" altLang="zh-CN" b="0" kern="0" dirty="0">
                <a:latin typeface="Calibri" panose="020F0502020204030204" pitchFamily="34" charset="0"/>
                <a:ea typeface="宋体" panose="02010600030101010101" pitchFamily="2" charset="-122"/>
                <a:cs typeface="Calibri" panose="020F0502020204030204" pitchFamily="34" charset="0"/>
              </a:rPr>
              <a:t>	</a:t>
            </a:r>
            <a:r>
              <a:rPr lang="en-US" altLang="zh-CN" b="0" kern="0" dirty="0" err="1">
                <a:solidFill>
                  <a:srgbClr val="0000FF"/>
                </a:solidFill>
                <a:latin typeface="Calibri" panose="020F0502020204030204" pitchFamily="34" charset="0"/>
                <a:ea typeface="宋体" panose="02010600030101010101" pitchFamily="2" charset="-122"/>
                <a:cs typeface="Calibri" panose="020F0502020204030204" pitchFamily="34" charset="0"/>
              </a:rPr>
              <a:t>d</a:t>
            </a:r>
            <a:r>
              <a:rPr lang="en-US" altLang="zh-CN" b="0" kern="0" baseline="-25000" dirty="0" err="1">
                <a:solidFill>
                  <a:srgbClr val="0000FF"/>
                </a:solidFill>
                <a:latin typeface="Calibri" panose="020F0502020204030204" pitchFamily="34" charset="0"/>
                <a:ea typeface="宋体" panose="02010600030101010101" pitchFamily="2" charset="-122"/>
                <a:cs typeface="Calibri" panose="020F0502020204030204" pitchFamily="34" charset="0"/>
              </a:rPr>
              <a:t>ij</a:t>
            </a:r>
            <a:r>
              <a:rPr lang="en-US" altLang="zh-CN" b="0" kern="0" baseline="30000" dirty="0">
                <a:solidFill>
                  <a:srgbClr val="0000FF"/>
                </a:solidFill>
                <a:latin typeface="Calibri" panose="020F0502020204030204" pitchFamily="34" charset="0"/>
                <a:ea typeface="宋体" panose="02010600030101010101" pitchFamily="2" charset="-122"/>
                <a:cs typeface="Calibri" panose="020F0502020204030204" pitchFamily="34" charset="0"/>
              </a:rPr>
              <a:t>(f)</a:t>
            </a:r>
            <a:r>
              <a:rPr lang="en-US" altLang="zh-CN" b="0" kern="0" dirty="0">
                <a:solidFill>
                  <a:srgbClr val="0000FF"/>
                </a:solidFill>
                <a:latin typeface="Calibri" panose="020F0502020204030204" pitchFamily="34" charset="0"/>
                <a:ea typeface="宋体" panose="02010600030101010101" pitchFamily="2" charset="-122"/>
                <a:cs typeface="Calibri" panose="020F0502020204030204" pitchFamily="34" charset="0"/>
              </a:rPr>
              <a:t> = | </a:t>
            </a:r>
            <a:r>
              <a:rPr lang="en-US" altLang="zh-CN" b="0" kern="0" dirty="0" err="1">
                <a:solidFill>
                  <a:srgbClr val="0000FF"/>
                </a:solidFill>
                <a:latin typeface="Calibri" panose="020F0502020204030204" pitchFamily="34" charset="0"/>
                <a:ea typeface="宋体" panose="02010600030101010101" pitchFamily="2" charset="-122"/>
                <a:cs typeface="Calibri" panose="020F0502020204030204" pitchFamily="34" charset="0"/>
              </a:rPr>
              <a:t>x</a:t>
            </a:r>
            <a:r>
              <a:rPr lang="en-US" altLang="zh-CN" b="0" kern="0" baseline="-25000" dirty="0" err="1">
                <a:solidFill>
                  <a:srgbClr val="0000FF"/>
                </a:solidFill>
                <a:latin typeface="Calibri" panose="020F0502020204030204" pitchFamily="34" charset="0"/>
                <a:ea typeface="宋体" panose="02010600030101010101" pitchFamily="2" charset="-122"/>
                <a:cs typeface="Calibri" panose="020F0502020204030204" pitchFamily="34" charset="0"/>
              </a:rPr>
              <a:t>if</a:t>
            </a:r>
            <a:r>
              <a:rPr lang="en-US" altLang="zh-CN" b="0" kern="0" dirty="0" err="1">
                <a:solidFill>
                  <a:srgbClr val="0000FF"/>
                </a:solidFill>
                <a:latin typeface="Calibri" panose="020F0502020204030204" pitchFamily="34" charset="0"/>
                <a:ea typeface="宋体" panose="02010600030101010101" pitchFamily="2" charset="-122"/>
                <a:cs typeface="Calibri" panose="020F0502020204030204" pitchFamily="34" charset="0"/>
              </a:rPr>
              <a:t>-x</a:t>
            </a:r>
            <a:r>
              <a:rPr lang="en-US" altLang="zh-CN" b="0" kern="0" baseline="-25000" dirty="0" err="1">
                <a:solidFill>
                  <a:srgbClr val="0000FF"/>
                </a:solidFill>
                <a:latin typeface="Calibri" panose="020F0502020204030204" pitchFamily="34" charset="0"/>
                <a:ea typeface="宋体" panose="02010600030101010101" pitchFamily="2" charset="-122"/>
                <a:cs typeface="Calibri" panose="020F0502020204030204" pitchFamily="34" charset="0"/>
              </a:rPr>
              <a:t>jf</a:t>
            </a:r>
            <a:r>
              <a:rPr lang="en-US" altLang="zh-CN" b="0" kern="0" dirty="0">
                <a:solidFill>
                  <a:srgbClr val="0000FF"/>
                </a:solidFill>
                <a:latin typeface="Calibri" panose="020F0502020204030204" pitchFamily="34" charset="0"/>
                <a:ea typeface="宋体" panose="02010600030101010101" pitchFamily="2" charset="-122"/>
                <a:cs typeface="Calibri" panose="020F0502020204030204" pitchFamily="34" charset="0"/>
              </a:rPr>
              <a:t> |/</a:t>
            </a:r>
            <a:r>
              <a:rPr lang="en-US" altLang="zh-CN" b="0" kern="0" dirty="0" err="1">
                <a:solidFill>
                  <a:srgbClr val="0000FF"/>
                </a:solidFill>
                <a:latin typeface="Calibri" panose="020F0502020204030204" pitchFamily="34" charset="0"/>
                <a:ea typeface="宋体" panose="02010600030101010101" pitchFamily="2" charset="-122"/>
                <a:cs typeface="Calibri" panose="020F0502020204030204" pitchFamily="34" charset="0"/>
              </a:rPr>
              <a:t>max</a:t>
            </a:r>
            <a:r>
              <a:rPr lang="en-US" altLang="zh-CN" b="0" kern="0" baseline="-25000" dirty="0" err="1">
                <a:solidFill>
                  <a:srgbClr val="0000FF"/>
                </a:solidFill>
                <a:latin typeface="Calibri" panose="020F0502020204030204" pitchFamily="34" charset="0"/>
                <a:ea typeface="宋体" panose="02010600030101010101" pitchFamily="2" charset="-122"/>
                <a:cs typeface="Calibri" panose="020F0502020204030204" pitchFamily="34" charset="0"/>
              </a:rPr>
              <a:t>h</a:t>
            </a:r>
            <a:r>
              <a:rPr lang="en-US" altLang="zh-CN" b="0" kern="0" dirty="0" err="1">
                <a:solidFill>
                  <a:srgbClr val="0000FF"/>
                </a:solidFill>
                <a:latin typeface="Calibri" panose="020F0502020204030204" pitchFamily="34" charset="0"/>
                <a:ea typeface="宋体" panose="02010600030101010101" pitchFamily="2" charset="-122"/>
                <a:cs typeface="Calibri" panose="020F0502020204030204" pitchFamily="34" charset="0"/>
              </a:rPr>
              <a:t>x</a:t>
            </a:r>
            <a:r>
              <a:rPr lang="en-US" altLang="zh-CN" b="0" kern="0" baseline="-25000" dirty="0" err="1">
                <a:solidFill>
                  <a:srgbClr val="0000FF"/>
                </a:solidFill>
                <a:latin typeface="Calibri" panose="020F0502020204030204" pitchFamily="34" charset="0"/>
                <a:ea typeface="宋体" panose="02010600030101010101" pitchFamily="2" charset="-122"/>
                <a:cs typeface="Calibri" panose="020F0502020204030204" pitchFamily="34" charset="0"/>
              </a:rPr>
              <a:t>hf</a:t>
            </a:r>
            <a:r>
              <a:rPr lang="en-US" altLang="zh-CN" b="0" kern="0" dirty="0" err="1">
                <a:solidFill>
                  <a:srgbClr val="0000FF"/>
                </a:solidFill>
                <a:latin typeface="Calibri" panose="020F0502020204030204" pitchFamily="34" charset="0"/>
                <a:ea typeface="宋体" panose="02010600030101010101" pitchFamily="2" charset="-122"/>
                <a:cs typeface="Calibri" panose="020F0502020204030204" pitchFamily="34" charset="0"/>
              </a:rPr>
              <a:t>-min</a:t>
            </a:r>
            <a:r>
              <a:rPr lang="en-US" altLang="zh-CN" b="0" kern="0" baseline="-25000" dirty="0" err="1">
                <a:solidFill>
                  <a:srgbClr val="0000FF"/>
                </a:solidFill>
                <a:latin typeface="Calibri" panose="020F0502020204030204" pitchFamily="34" charset="0"/>
                <a:ea typeface="宋体" panose="02010600030101010101" pitchFamily="2" charset="-122"/>
                <a:cs typeface="Calibri" panose="020F0502020204030204" pitchFamily="34" charset="0"/>
              </a:rPr>
              <a:t>h</a:t>
            </a:r>
            <a:r>
              <a:rPr lang="en-US" altLang="zh-CN" b="0" kern="0" dirty="0" err="1">
                <a:solidFill>
                  <a:srgbClr val="0000FF"/>
                </a:solidFill>
                <a:latin typeface="Calibri" panose="020F0502020204030204" pitchFamily="34" charset="0"/>
                <a:ea typeface="宋体" panose="02010600030101010101" pitchFamily="2" charset="-122"/>
                <a:cs typeface="Calibri" panose="020F0502020204030204" pitchFamily="34" charset="0"/>
              </a:rPr>
              <a:t>x</a:t>
            </a:r>
            <a:r>
              <a:rPr lang="en-US" altLang="zh-CN" b="0" kern="0" baseline="-25000" dirty="0" err="1">
                <a:solidFill>
                  <a:srgbClr val="0000FF"/>
                </a:solidFill>
                <a:latin typeface="Calibri" panose="020F0502020204030204" pitchFamily="34" charset="0"/>
                <a:ea typeface="宋体" panose="02010600030101010101" pitchFamily="2" charset="-122"/>
                <a:cs typeface="Calibri" panose="020F0502020204030204" pitchFamily="34" charset="0"/>
              </a:rPr>
              <a:t>hf</a:t>
            </a:r>
            <a:endParaRPr lang="en-US" altLang="zh-CN" b="0" kern="0" baseline="-25000" dirty="0">
              <a:solidFill>
                <a:srgbClr val="0000FF"/>
              </a:solidFill>
              <a:latin typeface="Calibri" panose="020F0502020204030204" pitchFamily="34" charset="0"/>
              <a:ea typeface="宋体" panose="02010600030101010101" pitchFamily="2" charset="-122"/>
              <a:cs typeface="Calibri" panose="020F0502020204030204" pitchFamily="34" charset="0"/>
            </a:endParaRPr>
          </a:p>
          <a:p>
            <a:pPr lvl="1">
              <a:buFont typeface="Wingdings" panose="05000000000000000000" pitchFamily="2" charset="2"/>
              <a:buNone/>
              <a:defRPr/>
            </a:pPr>
            <a:r>
              <a:rPr lang="en-US" altLang="zh-CN" sz="3200" b="0" kern="0" baseline="-25000" dirty="0">
                <a:latin typeface="Calibri" panose="020F0502020204030204" pitchFamily="34" charset="0"/>
                <a:cs typeface="Calibri" panose="020F0502020204030204" pitchFamily="34" charset="0"/>
              </a:rPr>
              <a:t>	</a:t>
            </a:r>
            <a:r>
              <a:rPr lang="zh-CN" altLang="en-US" b="0" dirty="0">
                <a:solidFill>
                  <a:srgbClr val="0070C0"/>
                </a:solidFill>
                <a:latin typeface="方正兰亭中黑_GBK" panose="02000000000000000000" pitchFamily="2" charset="-122"/>
                <a:ea typeface="方正兰亭中黑_GBK" panose="02000000000000000000" pitchFamily="2" charset="-122"/>
              </a:rPr>
              <a:t>其中</a:t>
            </a:r>
            <a:r>
              <a:rPr lang="en-US" altLang="zh-CN" b="0" dirty="0">
                <a:solidFill>
                  <a:srgbClr val="0070C0"/>
                </a:solidFill>
                <a:latin typeface="方正兰亭中黑_GBK" panose="02000000000000000000" pitchFamily="2" charset="-122"/>
                <a:ea typeface="方正兰亭中黑_GBK" panose="02000000000000000000" pitchFamily="2" charset="-122"/>
              </a:rPr>
              <a:t>h</a:t>
            </a:r>
            <a:r>
              <a:rPr lang="zh-CN" altLang="en-US" b="0" dirty="0">
                <a:solidFill>
                  <a:srgbClr val="0070C0"/>
                </a:solidFill>
                <a:latin typeface="方正兰亭中黑_GBK" panose="02000000000000000000" pitchFamily="2" charset="-122"/>
                <a:ea typeface="方正兰亭中黑_GBK" panose="02000000000000000000" pitchFamily="2" charset="-122"/>
              </a:rPr>
              <a:t>遍取变量</a:t>
            </a:r>
            <a:r>
              <a:rPr lang="en-US" altLang="zh-CN" b="0" dirty="0">
                <a:solidFill>
                  <a:srgbClr val="0070C0"/>
                </a:solidFill>
                <a:latin typeface="方正兰亭中黑_GBK" panose="02000000000000000000" pitchFamily="2" charset="-122"/>
                <a:ea typeface="方正兰亭中黑_GBK" panose="02000000000000000000" pitchFamily="2" charset="-122"/>
              </a:rPr>
              <a:t>f</a:t>
            </a:r>
            <a:r>
              <a:rPr lang="zh-CN" altLang="en-US" b="0" dirty="0">
                <a:solidFill>
                  <a:srgbClr val="0070C0"/>
                </a:solidFill>
                <a:latin typeface="方正兰亭中黑_GBK" panose="02000000000000000000" pitchFamily="2" charset="-122"/>
                <a:ea typeface="方正兰亭中黑_GBK" panose="02000000000000000000" pitchFamily="2" charset="-122"/>
              </a:rPr>
              <a:t>的所有非空缺对象</a:t>
            </a:r>
            <a:endParaRPr lang="zh-CN" altLang="en-US" b="0" dirty="0">
              <a:solidFill>
                <a:srgbClr val="0070C0"/>
              </a:solidFill>
              <a:latin typeface="方正兰亭中黑_GBK" panose="02000000000000000000" pitchFamily="2" charset="-122"/>
              <a:ea typeface="方正兰亭中黑_GBK" panose="02000000000000000000" pitchFamily="2" charset="-122"/>
            </a:endParaRPr>
          </a:p>
          <a:p>
            <a:pPr marL="450850" lvl="1" indent="-450850">
              <a:lnSpc>
                <a:spcPct val="120000"/>
              </a:lnSpc>
              <a:spcBef>
                <a:spcPts val="600"/>
              </a:spcBef>
              <a:spcAft>
                <a:spcPts val="600"/>
              </a:spcAft>
              <a:buSzPct val="100000"/>
              <a:defRPr/>
            </a:pPr>
            <a:r>
              <a:rPr lang="en-US" altLang="zh-CN" i="1" kern="120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f</a:t>
            </a:r>
            <a:r>
              <a:rPr lang="en-US" altLang="zh-CN" b="0" i="1" kern="120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  </a:t>
            </a:r>
            <a:r>
              <a:rPr lang="zh-CN" altLang="en-US" b="0" dirty="0">
                <a:solidFill>
                  <a:srgbClr val="0070C0"/>
                </a:solidFill>
                <a:latin typeface="方正兰亭中黑_GBK" panose="02000000000000000000" pitchFamily="2" charset="-122"/>
                <a:ea typeface="方正兰亭中黑_GBK" panose="02000000000000000000" pitchFamily="2" charset="-122"/>
              </a:rPr>
              <a:t>是序数型或比例标度型</a:t>
            </a:r>
            <a:endParaRPr lang="zh-CN" altLang="en-US" b="0" dirty="0">
              <a:solidFill>
                <a:srgbClr val="0070C0"/>
              </a:solidFill>
              <a:latin typeface="方正兰亭中黑_GBK" panose="02000000000000000000" pitchFamily="2" charset="-122"/>
              <a:ea typeface="方正兰亭中黑_GBK" panose="02000000000000000000" pitchFamily="2" charset="-122"/>
            </a:endParaRPr>
          </a:p>
          <a:p>
            <a:pPr lvl="2">
              <a:buFont typeface="Wingdings" panose="05000000000000000000" pitchFamily="2" charset="2"/>
              <a:buChar char="ü"/>
              <a:defRPr/>
            </a:pPr>
            <a:r>
              <a:rPr lang="zh-CN" altLang="en-US" b="0" dirty="0">
                <a:solidFill>
                  <a:srgbClr val="0070C0"/>
                </a:solidFill>
                <a:latin typeface="方正兰亭中黑_GBK" panose="02000000000000000000" pitchFamily="2" charset="-122"/>
                <a:ea typeface="方正兰亭中黑_GBK" panose="02000000000000000000" pitchFamily="2" charset="-122"/>
              </a:rPr>
              <a:t>计算秩 </a:t>
            </a:r>
            <a:r>
              <a:rPr lang="en-US" altLang="zh-CN" sz="2800" b="0" kern="0" dirty="0" err="1">
                <a:solidFill>
                  <a:srgbClr val="0000FF"/>
                </a:solidFill>
                <a:latin typeface="Calibri" panose="020F0502020204030204" pitchFamily="34" charset="0"/>
                <a:cs typeface="Calibri" panose="020F0502020204030204" pitchFamily="34" charset="0"/>
              </a:rPr>
              <a:t>r</a:t>
            </a:r>
            <a:r>
              <a:rPr lang="en-US" altLang="zh-CN" sz="2800" b="0" kern="0" baseline="-25000" dirty="0" err="1">
                <a:solidFill>
                  <a:srgbClr val="0000FF"/>
                </a:solidFill>
                <a:latin typeface="Calibri" panose="020F0502020204030204" pitchFamily="34" charset="0"/>
                <a:cs typeface="Calibri" panose="020F0502020204030204" pitchFamily="34" charset="0"/>
              </a:rPr>
              <a:t>if</a:t>
            </a:r>
            <a:r>
              <a:rPr lang="en-US" altLang="zh-CN" sz="2800" b="0" kern="0" dirty="0">
                <a:solidFill>
                  <a:srgbClr val="0000FF"/>
                </a:solidFill>
                <a:latin typeface="Calibri" panose="020F0502020204030204" pitchFamily="34" charset="0"/>
                <a:cs typeface="Calibri" panose="020F0502020204030204" pitchFamily="34" charset="0"/>
              </a:rPr>
              <a:t> </a:t>
            </a:r>
            <a:endParaRPr lang="en-US" altLang="zh-CN" sz="2800" b="0" kern="0" dirty="0">
              <a:solidFill>
                <a:srgbClr val="0000FF"/>
              </a:solidFill>
              <a:latin typeface="Calibri" panose="020F0502020204030204" pitchFamily="34" charset="0"/>
              <a:cs typeface="Calibri" panose="020F0502020204030204" pitchFamily="34" charset="0"/>
            </a:endParaRPr>
          </a:p>
          <a:p>
            <a:pPr lvl="2">
              <a:buFont typeface="Wingdings" panose="05000000000000000000" pitchFamily="2" charset="2"/>
              <a:buChar char="ü"/>
              <a:defRPr/>
            </a:pPr>
            <a:r>
              <a:rPr lang="zh-CN" altLang="en-US" b="0" dirty="0">
                <a:solidFill>
                  <a:srgbClr val="0070C0"/>
                </a:solidFill>
                <a:latin typeface="方正兰亭中黑_GBK" panose="02000000000000000000" pitchFamily="2" charset="-122"/>
                <a:ea typeface="方正兰亭中黑_GBK" panose="02000000000000000000" pitchFamily="2" charset="-122"/>
              </a:rPr>
              <a:t>计算</a:t>
            </a:r>
            <a:r>
              <a:rPr lang="zh-CN" altLang="en-US" b="0" kern="0" dirty="0">
                <a:latin typeface="Calibri" panose="020F0502020204030204" pitchFamily="34" charset="0"/>
                <a:cs typeface="Calibri" panose="020F0502020204030204" pitchFamily="34" charset="0"/>
              </a:rPr>
              <a:t> </a:t>
            </a:r>
            <a:r>
              <a:rPr lang="en-US" altLang="zh-CN" sz="2800" b="0" kern="0" dirty="0" err="1">
                <a:solidFill>
                  <a:srgbClr val="0000FF"/>
                </a:solidFill>
                <a:latin typeface="Calibri" panose="020F0502020204030204" pitchFamily="34" charset="0"/>
                <a:cs typeface="Calibri" panose="020F0502020204030204" pitchFamily="34" charset="0"/>
              </a:rPr>
              <a:t>z</a:t>
            </a:r>
            <a:r>
              <a:rPr lang="en-US" altLang="zh-CN" sz="2800" b="0" kern="0" baseline="-25000" dirty="0" err="1">
                <a:solidFill>
                  <a:srgbClr val="0000FF"/>
                </a:solidFill>
                <a:latin typeface="Calibri" panose="020F0502020204030204" pitchFamily="34" charset="0"/>
                <a:cs typeface="Calibri" panose="020F0502020204030204" pitchFamily="34" charset="0"/>
              </a:rPr>
              <a:t>if</a:t>
            </a:r>
            <a:r>
              <a:rPr lang="zh-CN" altLang="en-US" b="0" dirty="0">
                <a:solidFill>
                  <a:srgbClr val="0070C0"/>
                </a:solidFill>
                <a:latin typeface="方正兰亭中黑_GBK" panose="02000000000000000000" pitchFamily="2" charset="-122"/>
                <a:ea typeface="方正兰亭中黑_GBK" panose="02000000000000000000" pitchFamily="2" charset="-122"/>
              </a:rPr>
              <a:t>并将其作为区间标度变量值对待</a:t>
            </a:r>
            <a:endParaRPr lang="zh-CN" altLang="en-US" b="0" dirty="0">
              <a:solidFill>
                <a:srgbClr val="0070C0"/>
              </a:solidFill>
              <a:latin typeface="方正兰亭中黑_GBK" panose="02000000000000000000" pitchFamily="2" charset="-122"/>
              <a:ea typeface="方正兰亭中黑_GBK" panose="02000000000000000000" pitchFamily="2" charset="-122"/>
            </a:endParaRPr>
          </a:p>
        </p:txBody>
      </p:sp>
      <p:pic>
        <p:nvPicPr>
          <p:cNvPr id="6" name="Object 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572000" y="5736502"/>
            <a:ext cx="1873250"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646331"/>
          </a:xfrm>
          <a:prstGeom prst="rect">
            <a:avLst/>
          </a:prstGeom>
        </p:spPr>
        <p:txBody>
          <a:bodyPr wrap="square">
            <a:spAutoFit/>
          </a:bodyPr>
          <a:lstStyle/>
          <a:p>
            <a:pPr algn="ct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本章内容</a:t>
            </a:r>
            <a:endPar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6" name="内容占位符 2"/>
          <p:cNvSpPr txBox="1">
            <a:spLocks noChangeArrowheads="1"/>
          </p:cNvSpPr>
          <p:nvPr/>
        </p:nvSpPr>
        <p:spPr>
          <a:xfrm>
            <a:off x="611560" y="1094492"/>
            <a:ext cx="8137525" cy="29825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6.1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什么是聚类分析</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6.2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聚类分析中的数据类型</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FF0000"/>
                </a:solidFill>
                <a:latin typeface="Times New Roman" panose="02020603050405020304" pitchFamily="18" charset="0"/>
                <a:cs typeface="Times New Roman" panose="02020603050405020304" pitchFamily="18" charset="0"/>
              </a:rPr>
              <a:t>6.3  </a:t>
            </a:r>
            <a:r>
              <a:rPr lang="zh-CN" altLang="zh-CN" sz="2800" b="0" kern="0" dirty="0">
                <a:solidFill>
                  <a:srgbClr val="FF0000"/>
                </a:solidFill>
                <a:latin typeface="方正兰亭中黑_GBK" panose="02000000000000000000" pitchFamily="2" charset="-122"/>
                <a:ea typeface="方正兰亭中黑_GBK" panose="02000000000000000000" pitchFamily="2" charset="-122"/>
                <a:cs typeface="Times New Roman" panose="02020603050405020304" pitchFamily="18" charset="0"/>
              </a:rPr>
              <a:t>划分方法</a:t>
            </a:r>
            <a:endParaRPr lang="zh-CN" altLang="zh-CN" sz="2800" b="0" kern="0" dirty="0">
              <a:solidFill>
                <a:srgbClr val="FF000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6.4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层次方法</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6.5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基于密度的方法</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主要的聚类算法</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5" name="Rectangle 3"/>
          <p:cNvSpPr txBox="1">
            <a:spLocks noChangeArrowheads="1"/>
          </p:cNvSpPr>
          <p:nvPr/>
        </p:nvSpPr>
        <p:spPr>
          <a:xfrm>
            <a:off x="443648" y="1182687"/>
            <a:ext cx="8229600" cy="44926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30000"/>
              </a:lnSpc>
              <a:buSzPct val="80000"/>
              <a:buFont typeface="Wingdings" panose="05000000000000000000" pitchFamily="2" charset="2"/>
              <a:buChar char="n"/>
              <a:defRPr/>
            </a:pPr>
            <a:r>
              <a:rPr lang="zh-CN" altLang="en-US" sz="2800" b="0" kern="1200" dirty="0">
                <a:solidFill>
                  <a:srgbClr val="0070C0"/>
                </a:solidFill>
                <a:latin typeface="方正兰亭中黑_GBK" panose="02000000000000000000" pitchFamily="2" charset="-122"/>
                <a:ea typeface="方正兰亭中黑_GBK" panose="02000000000000000000" pitchFamily="2" charset="-122"/>
              </a:rPr>
              <a:t>聚类算法种类繁多</a:t>
            </a:r>
            <a:r>
              <a:rPr lang="zh-CN" altLang="en-US" sz="2800" b="0" dirty="0">
                <a:solidFill>
                  <a:srgbClr val="0070C0"/>
                </a:solidFill>
                <a:latin typeface="方正兰亭中黑_GBK" panose="02000000000000000000" pitchFamily="2" charset="-122"/>
                <a:ea typeface="方正兰亭中黑_GBK" panose="02000000000000000000" pitchFamily="2" charset="-122"/>
              </a:rPr>
              <a:t>，具体的算法选择取决于</a:t>
            </a:r>
            <a:r>
              <a:rPr lang="zh-CN" altLang="en-US" sz="2800" b="0" kern="1200" dirty="0">
                <a:solidFill>
                  <a:srgbClr val="FF0000"/>
                </a:solidFill>
                <a:latin typeface="方正兰亭中黑_GBK" panose="02000000000000000000" pitchFamily="2" charset="-122"/>
                <a:ea typeface="方正兰亭中黑_GBK" panose="02000000000000000000" pitchFamily="2" charset="-122"/>
              </a:rPr>
              <a:t>数据类型</a:t>
            </a:r>
            <a:r>
              <a:rPr lang="zh-CN" altLang="en-US" sz="2800" b="0" dirty="0">
                <a:solidFill>
                  <a:srgbClr val="0070C0"/>
                </a:solidFill>
                <a:latin typeface="方正兰亭中黑_GBK" panose="02000000000000000000" pitchFamily="2" charset="-122"/>
                <a:ea typeface="方正兰亭中黑_GBK" panose="02000000000000000000" pitchFamily="2" charset="-122"/>
              </a:rPr>
              <a:t>，</a:t>
            </a:r>
            <a:r>
              <a:rPr lang="zh-CN" altLang="en-US" sz="2800" b="0" dirty="0">
                <a:solidFill>
                  <a:srgbClr val="FF0000"/>
                </a:solidFill>
                <a:latin typeface="方正兰亭中黑_GBK" panose="02000000000000000000" pitchFamily="2" charset="-122"/>
                <a:ea typeface="方正兰亭中黑_GBK" panose="02000000000000000000" pitchFamily="2" charset="-122"/>
              </a:rPr>
              <a:t>聚类应用</a:t>
            </a:r>
            <a:r>
              <a:rPr lang="zh-CN" altLang="en-US" sz="2800" b="0" dirty="0">
                <a:solidFill>
                  <a:srgbClr val="0070C0"/>
                </a:solidFill>
                <a:latin typeface="方正兰亭中黑_GBK" panose="02000000000000000000" pitchFamily="2" charset="-122"/>
                <a:ea typeface="方正兰亭中黑_GBK" panose="02000000000000000000" pitchFamily="2" charset="-122"/>
              </a:rPr>
              <a:t>和</a:t>
            </a:r>
            <a:r>
              <a:rPr lang="zh-CN" altLang="en-US" sz="2800" b="0" dirty="0">
                <a:solidFill>
                  <a:srgbClr val="FF0000"/>
                </a:solidFill>
                <a:latin typeface="方正兰亭中黑_GBK" panose="02000000000000000000" pitchFamily="2" charset="-122"/>
                <a:ea typeface="方正兰亭中黑_GBK" panose="02000000000000000000" pitchFamily="2" charset="-122"/>
              </a:rPr>
              <a:t>目的</a:t>
            </a:r>
            <a:r>
              <a:rPr lang="zh-CN" altLang="en-US" sz="2800" b="0" dirty="0">
                <a:solidFill>
                  <a:srgbClr val="0070C0"/>
                </a:solidFill>
                <a:latin typeface="方正兰亭中黑_GBK" panose="02000000000000000000" pitchFamily="2" charset="-122"/>
                <a:ea typeface="方正兰亭中黑_GBK" panose="02000000000000000000" pitchFamily="2" charset="-122"/>
              </a:rPr>
              <a:t>，常用聚类算法包括：</a:t>
            </a:r>
            <a:endParaRPr lang="zh-CN" altLang="en-US" sz="2800" b="0" dirty="0">
              <a:solidFill>
                <a:srgbClr val="0070C0"/>
              </a:solidFill>
              <a:latin typeface="方正兰亭中黑_GBK" panose="02000000000000000000" pitchFamily="2" charset="-122"/>
              <a:ea typeface="方正兰亭中黑_GBK" panose="02000000000000000000" pitchFamily="2" charset="-122"/>
            </a:endParaRPr>
          </a:p>
          <a:p>
            <a:pPr lvl="2">
              <a:lnSpc>
                <a:spcPct val="120000"/>
              </a:lnSpc>
              <a:spcBef>
                <a:spcPts val="600"/>
              </a:spcBef>
              <a:spcAft>
                <a:spcPts val="0"/>
              </a:spcAft>
              <a:buFont typeface="Wingdings" panose="05000000000000000000" pitchFamily="2" charset="2"/>
              <a:buChar char="ü"/>
              <a:defRPr/>
            </a:pPr>
            <a:r>
              <a:rPr lang="zh-CN" altLang="en-US"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划分方法</a:t>
            </a:r>
            <a:r>
              <a:rPr lang="zh-CN" altLang="en-US" b="0" kern="0" dirty="0">
                <a:solidFill>
                  <a:srgbClr val="0000FF"/>
                </a:solidFill>
                <a:latin typeface="Calibri" panose="020F0502020204030204" pitchFamily="34" charset="0"/>
                <a:cs typeface="Calibri" panose="020F0502020204030204" pitchFamily="34" charset="0"/>
              </a:rPr>
              <a:t>（</a:t>
            </a:r>
            <a:r>
              <a:rPr lang="en-US" altLang="zh-CN" b="0" kern="0" dirty="0">
                <a:solidFill>
                  <a:srgbClr val="0000FF"/>
                </a:solidFill>
                <a:latin typeface="Calibri" panose="020F0502020204030204" pitchFamily="34" charset="0"/>
                <a:cs typeface="Calibri" panose="020F0502020204030204" pitchFamily="34" charset="0"/>
              </a:rPr>
              <a:t>Partitioning Methods</a:t>
            </a:r>
            <a:r>
              <a:rPr lang="zh-CN" altLang="en-US" b="0" kern="0" dirty="0">
                <a:solidFill>
                  <a:srgbClr val="0000FF"/>
                </a:solidFill>
                <a:latin typeface="Calibri" panose="020F0502020204030204" pitchFamily="34" charset="0"/>
                <a:cs typeface="Calibri" panose="020F0502020204030204" pitchFamily="34" charset="0"/>
              </a:rPr>
              <a:t>）</a:t>
            </a:r>
            <a:endParaRPr lang="zh-CN" altLang="en-US" b="0" kern="0" dirty="0">
              <a:solidFill>
                <a:srgbClr val="0000FF"/>
              </a:solidFill>
              <a:latin typeface="Calibri" panose="020F0502020204030204" pitchFamily="34" charset="0"/>
              <a:cs typeface="Calibri" panose="020F0502020204030204" pitchFamily="34" charset="0"/>
            </a:endParaRPr>
          </a:p>
          <a:p>
            <a:pPr lvl="2">
              <a:lnSpc>
                <a:spcPct val="120000"/>
              </a:lnSpc>
              <a:spcBef>
                <a:spcPts val="600"/>
              </a:spcBef>
              <a:spcAft>
                <a:spcPts val="0"/>
              </a:spcAft>
              <a:buFont typeface="Wingdings" panose="05000000000000000000" pitchFamily="2" charset="2"/>
              <a:buChar char="ü"/>
              <a:defRPr/>
            </a:pPr>
            <a:r>
              <a:rPr lang="zh-CN" altLang="en-US"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层次方法</a:t>
            </a:r>
            <a:r>
              <a:rPr lang="zh-CN" altLang="en-US" b="0" kern="0" dirty="0">
                <a:solidFill>
                  <a:srgbClr val="0000FF"/>
                </a:solidFill>
                <a:latin typeface="Calibri" panose="020F0502020204030204" pitchFamily="34" charset="0"/>
                <a:cs typeface="Calibri" panose="020F0502020204030204" pitchFamily="34" charset="0"/>
              </a:rPr>
              <a:t>（</a:t>
            </a:r>
            <a:r>
              <a:rPr lang="en-US" altLang="zh-CN" b="0" kern="0" dirty="0">
                <a:solidFill>
                  <a:srgbClr val="0000FF"/>
                </a:solidFill>
                <a:latin typeface="Calibri" panose="020F0502020204030204" pitchFamily="34" charset="0"/>
                <a:cs typeface="Calibri" panose="020F0502020204030204" pitchFamily="34" charset="0"/>
              </a:rPr>
              <a:t>Hierarchical Methods</a:t>
            </a:r>
            <a:r>
              <a:rPr lang="zh-CN" altLang="en-US" b="0" kern="0" dirty="0">
                <a:solidFill>
                  <a:srgbClr val="0000FF"/>
                </a:solidFill>
                <a:latin typeface="Calibri" panose="020F0502020204030204" pitchFamily="34" charset="0"/>
                <a:cs typeface="Calibri" panose="020F0502020204030204" pitchFamily="34" charset="0"/>
              </a:rPr>
              <a:t>）</a:t>
            </a:r>
            <a:endParaRPr lang="zh-CN" altLang="en-US" b="0" kern="0" dirty="0">
              <a:solidFill>
                <a:srgbClr val="0000FF"/>
              </a:solidFill>
              <a:latin typeface="Calibri" panose="020F0502020204030204" pitchFamily="34" charset="0"/>
              <a:cs typeface="Calibri" panose="020F0502020204030204" pitchFamily="34" charset="0"/>
            </a:endParaRPr>
          </a:p>
          <a:p>
            <a:pPr lvl="2">
              <a:lnSpc>
                <a:spcPct val="120000"/>
              </a:lnSpc>
              <a:spcBef>
                <a:spcPts val="600"/>
              </a:spcBef>
              <a:spcAft>
                <a:spcPts val="0"/>
              </a:spcAft>
              <a:buFont typeface="Wingdings" panose="05000000000000000000" pitchFamily="2" charset="2"/>
              <a:buChar char="ü"/>
              <a:defRPr/>
            </a:pPr>
            <a:r>
              <a:rPr lang="zh-CN" altLang="en-US"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基于密度的方法</a:t>
            </a:r>
            <a:r>
              <a:rPr lang="zh-CN" altLang="en-US" b="0" kern="0" dirty="0">
                <a:solidFill>
                  <a:srgbClr val="0000FF"/>
                </a:solidFill>
                <a:latin typeface="Calibri" panose="020F0502020204030204" pitchFamily="34" charset="0"/>
                <a:cs typeface="Calibri" panose="020F0502020204030204" pitchFamily="34" charset="0"/>
              </a:rPr>
              <a:t>（</a:t>
            </a:r>
            <a:r>
              <a:rPr lang="en-US" altLang="zh-CN" b="0" kern="0" dirty="0">
                <a:solidFill>
                  <a:srgbClr val="0000FF"/>
                </a:solidFill>
                <a:latin typeface="Calibri" panose="020F0502020204030204" pitchFamily="34" charset="0"/>
                <a:cs typeface="Calibri" panose="020F0502020204030204" pitchFamily="34" charset="0"/>
              </a:rPr>
              <a:t>Density-Based Methods</a:t>
            </a:r>
            <a:r>
              <a:rPr lang="zh-CN" altLang="en-US" b="0" kern="0" dirty="0">
                <a:solidFill>
                  <a:srgbClr val="0000FF"/>
                </a:solidFill>
                <a:latin typeface="Calibri" panose="020F0502020204030204" pitchFamily="34" charset="0"/>
                <a:cs typeface="Calibri" panose="020F0502020204030204" pitchFamily="34" charset="0"/>
              </a:rPr>
              <a:t>）</a:t>
            </a:r>
            <a:endParaRPr lang="zh-CN" altLang="en-US" b="0" kern="0" dirty="0">
              <a:solidFill>
                <a:srgbClr val="0000FF"/>
              </a:solidFill>
              <a:latin typeface="Calibri" panose="020F0502020204030204" pitchFamily="34" charset="0"/>
              <a:cs typeface="Calibri" panose="020F0502020204030204" pitchFamily="34" charset="0"/>
            </a:endParaRPr>
          </a:p>
          <a:p>
            <a:pPr lvl="2">
              <a:lnSpc>
                <a:spcPct val="120000"/>
              </a:lnSpc>
              <a:spcBef>
                <a:spcPts val="600"/>
              </a:spcBef>
              <a:spcAft>
                <a:spcPts val="0"/>
              </a:spcAft>
              <a:buFont typeface="Wingdings" panose="05000000000000000000" pitchFamily="2" charset="2"/>
              <a:buChar char="ü"/>
              <a:defRPr/>
            </a:pPr>
            <a:r>
              <a:rPr lang="zh-CN" altLang="en-US"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基于网格的方法</a:t>
            </a:r>
            <a:r>
              <a:rPr lang="zh-CN" altLang="en-US" b="0" kern="0" dirty="0">
                <a:solidFill>
                  <a:srgbClr val="0070C0"/>
                </a:solidFill>
                <a:latin typeface="Calibri" panose="020F0502020204030204" pitchFamily="34" charset="0"/>
                <a:cs typeface="Calibri" panose="020F0502020204030204" pitchFamily="34" charset="0"/>
              </a:rPr>
              <a:t>（</a:t>
            </a:r>
            <a:r>
              <a:rPr lang="en-US" altLang="zh-CN" b="0" kern="0" dirty="0">
                <a:solidFill>
                  <a:srgbClr val="0070C0"/>
                </a:solidFill>
                <a:latin typeface="Calibri" panose="020F0502020204030204" pitchFamily="34" charset="0"/>
                <a:cs typeface="Calibri" panose="020F0502020204030204" pitchFamily="34" charset="0"/>
              </a:rPr>
              <a:t>Grid-Based Methods</a:t>
            </a:r>
            <a:r>
              <a:rPr lang="zh-CN" altLang="en-US" b="0" kern="0" dirty="0">
                <a:solidFill>
                  <a:srgbClr val="0070C0"/>
                </a:solidFill>
                <a:latin typeface="Calibri" panose="020F0502020204030204" pitchFamily="34" charset="0"/>
                <a:cs typeface="Calibri" panose="020F0502020204030204" pitchFamily="34" charset="0"/>
              </a:rPr>
              <a:t>）</a:t>
            </a:r>
            <a:endParaRPr lang="zh-CN" altLang="en-US" b="0" kern="0" dirty="0">
              <a:solidFill>
                <a:srgbClr val="0070C0"/>
              </a:solidFill>
              <a:latin typeface="Calibri" panose="020F0502020204030204" pitchFamily="34" charset="0"/>
              <a:cs typeface="Calibri" panose="020F0502020204030204" pitchFamily="34" charset="0"/>
            </a:endParaRPr>
          </a:p>
          <a:p>
            <a:pPr lvl="2">
              <a:lnSpc>
                <a:spcPct val="120000"/>
              </a:lnSpc>
              <a:spcBef>
                <a:spcPts val="600"/>
              </a:spcBef>
              <a:spcAft>
                <a:spcPts val="0"/>
              </a:spcAft>
              <a:buFont typeface="Wingdings" panose="05000000000000000000" pitchFamily="2" charset="2"/>
              <a:buChar char="ü"/>
              <a:defRPr/>
            </a:pPr>
            <a:r>
              <a:rPr lang="zh-CN" altLang="en-US"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基于模型的聚类方法</a:t>
            </a:r>
            <a:r>
              <a:rPr lang="zh-CN" altLang="en-US" b="0" kern="0" dirty="0">
                <a:solidFill>
                  <a:srgbClr val="0070C0"/>
                </a:solidFill>
                <a:latin typeface="Calibri" panose="020F0502020204030204" pitchFamily="34" charset="0"/>
                <a:cs typeface="Calibri" panose="020F0502020204030204" pitchFamily="34" charset="0"/>
              </a:rPr>
              <a:t>（</a:t>
            </a:r>
            <a:r>
              <a:rPr lang="en-US" altLang="zh-CN" b="0" kern="0" dirty="0">
                <a:solidFill>
                  <a:srgbClr val="0070C0"/>
                </a:solidFill>
                <a:latin typeface="Calibri" panose="020F0502020204030204" pitchFamily="34" charset="0"/>
                <a:cs typeface="Calibri" panose="020F0502020204030204" pitchFamily="34" charset="0"/>
              </a:rPr>
              <a:t>Model-Based Methods</a:t>
            </a:r>
            <a:r>
              <a:rPr lang="zh-CN" altLang="en-US" b="0" kern="0" dirty="0">
                <a:solidFill>
                  <a:srgbClr val="0070C0"/>
                </a:solidFill>
                <a:latin typeface="Calibri" panose="020F0502020204030204" pitchFamily="34" charset="0"/>
                <a:cs typeface="Calibri" panose="020F0502020204030204" pitchFamily="34" charset="0"/>
              </a:rPr>
              <a:t>）</a:t>
            </a:r>
            <a:endParaRPr lang="zh-CN" altLang="en-US" b="0" kern="0" dirty="0">
              <a:solidFill>
                <a:srgbClr val="0070C0"/>
              </a:solidFill>
              <a:latin typeface="Calibri" panose="020F0502020204030204" pitchFamily="34" charset="0"/>
              <a:cs typeface="Calibri" panose="020F0502020204030204" pitchFamily="34" charset="0"/>
            </a:endParaRPr>
          </a:p>
          <a:p>
            <a:pPr eaLnBrk="1" hangingPunct="1">
              <a:lnSpc>
                <a:spcPct val="130000"/>
              </a:lnSpc>
              <a:buSzPct val="80000"/>
              <a:buFont typeface="Wingdings" panose="05000000000000000000" pitchFamily="2" charset="2"/>
              <a:buChar char="n"/>
              <a:defRPr/>
            </a:pPr>
            <a:r>
              <a:rPr lang="zh-CN" altLang="en-US" sz="2800" b="0" dirty="0">
                <a:solidFill>
                  <a:srgbClr val="0070C0"/>
                </a:solidFill>
                <a:latin typeface="方正兰亭中黑_GBK" panose="02000000000000000000" pitchFamily="2" charset="-122"/>
                <a:ea typeface="方正兰亭中黑_GBK" panose="02000000000000000000" pitchFamily="2" charset="-122"/>
              </a:rPr>
              <a:t>实际应用中，往往是多种聚类算法中方法的整合</a:t>
            </a:r>
            <a:endParaRPr lang="zh-CN" altLang="en-US" sz="2800" b="0" dirty="0">
              <a:solidFill>
                <a:srgbClr val="0070C0"/>
              </a:solidFill>
              <a:latin typeface="方正兰亭中黑_GBK" panose="02000000000000000000" pitchFamily="2" charset="-122"/>
              <a:ea typeface="方正兰亭中黑_GBK"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主要的聚类算法</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a:xfrm>
            <a:off x="323528" y="1052736"/>
            <a:ext cx="8229600" cy="54451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30000"/>
              </a:lnSpc>
              <a:buSzPct val="80000"/>
              <a:buFont typeface="Wingdings" panose="05000000000000000000" pitchFamily="2" charset="2"/>
              <a:buChar char="n"/>
              <a:defRPr/>
            </a:pPr>
            <a:r>
              <a:rPr lang="zh-CN" altLang="en-US" sz="2800" b="0" kern="1200" dirty="0">
                <a:solidFill>
                  <a:srgbClr val="FF0000"/>
                </a:solidFill>
                <a:latin typeface="方正兰亭中黑_GBK" panose="02000000000000000000" pitchFamily="2" charset="-122"/>
                <a:ea typeface="方正兰亭中黑_GBK" panose="02000000000000000000" pitchFamily="2" charset="-122"/>
              </a:rPr>
              <a:t>划分方法:  </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给定</a:t>
            </a:r>
            <a:r>
              <a:rPr lang="en-US" altLang="zh-CN" sz="2400" i="1" kern="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n</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个对象或元组的数据库，一个划分方法构建数据的</a:t>
            </a:r>
            <a:r>
              <a:rPr lang="en-US" altLang="zh-CN" sz="2400" i="1" kern="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k</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个划分，每个划分表示一个簇，并且</a:t>
            </a:r>
            <a:r>
              <a:rPr lang="en-US" altLang="zh-CN" sz="2400" i="1" kern="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k&lt;=n</a:t>
            </a:r>
            <a:r>
              <a:rPr lang="zh-CN" altLang="en-US" sz="2400" b="0" kern="0" dirty="0">
                <a:latin typeface="Calibri" panose="020F0502020204030204" pitchFamily="34" charset="0"/>
                <a:cs typeface="Calibri" panose="020F0502020204030204" pitchFamily="34" charset="0"/>
              </a:rPr>
              <a:t>。</a:t>
            </a:r>
            <a:endParaRPr lang="zh-CN" altLang="en-US" sz="2400" b="0" kern="0" dirty="0">
              <a:latin typeface="Calibri" panose="020F0502020204030204" pitchFamily="34" charset="0"/>
              <a:cs typeface="Calibri" panose="020F0502020204030204" pitchFamily="34" charset="0"/>
            </a:endParaRPr>
          </a:p>
          <a:p>
            <a:pPr lvl="2" eaLnBrk="1" hangingPunct="1">
              <a:lnSpc>
                <a:spcPct val="120000"/>
              </a:lnSpc>
              <a:buFont typeface="Arial" panose="020B0604020202020204" pitchFamily="34" charset="0"/>
              <a:buChar char="•"/>
              <a:defRPr/>
            </a:pPr>
            <a:r>
              <a:rPr lang="zh-CN" altLang="en-US" sz="2000" b="0" kern="0" dirty="0">
                <a:solidFill>
                  <a:srgbClr val="0070C0"/>
                </a:solidFill>
                <a:latin typeface="方正兰亭中黑_GBK" panose="02000000000000000000" pitchFamily="2" charset="-122"/>
                <a:ea typeface="方正兰亭中黑_GBK" panose="02000000000000000000" pitchFamily="2" charset="-122"/>
              </a:rPr>
              <a:t>每个组至少包含一个对象</a:t>
            </a:r>
            <a:endParaRPr lang="zh-CN" altLang="en-US" sz="2000" b="0" kern="0" dirty="0">
              <a:solidFill>
                <a:srgbClr val="0070C0"/>
              </a:solidFill>
              <a:latin typeface="方正兰亭中黑_GBK" panose="02000000000000000000" pitchFamily="2" charset="-122"/>
              <a:ea typeface="方正兰亭中黑_GBK" panose="02000000000000000000" pitchFamily="2" charset="-122"/>
            </a:endParaRPr>
          </a:p>
          <a:p>
            <a:pPr lvl="2" eaLnBrk="1" hangingPunct="1">
              <a:lnSpc>
                <a:spcPct val="120000"/>
              </a:lnSpc>
              <a:buFont typeface="Arial" panose="020B0604020202020204" pitchFamily="34" charset="0"/>
              <a:buChar char="•"/>
              <a:defRPr/>
            </a:pPr>
            <a:r>
              <a:rPr lang="zh-CN" altLang="en-US" sz="2000" b="0" kern="0" dirty="0">
                <a:solidFill>
                  <a:srgbClr val="0070C0"/>
                </a:solidFill>
                <a:latin typeface="方正兰亭中黑_GBK" panose="02000000000000000000" pitchFamily="2" charset="-122"/>
                <a:ea typeface="方正兰亭中黑_GBK" panose="02000000000000000000" pitchFamily="2" charset="-122"/>
              </a:rPr>
              <a:t>每个对象属于且仅属于一个组</a:t>
            </a:r>
            <a:endParaRPr lang="zh-CN" altLang="en-US" sz="2000" b="0" kern="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20000"/>
              </a:lnSpc>
              <a:spcBef>
                <a:spcPts val="600"/>
              </a:spcBef>
              <a:buFont typeface="Wingdings" panose="05000000000000000000" pitchFamily="2" charset="2"/>
              <a:buChar char="ü"/>
              <a:defRPr/>
            </a:pPr>
            <a:r>
              <a:rPr lang="zh-CN" altLang="en-US" sz="22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划分准则：</a:t>
            </a:r>
            <a:r>
              <a:rPr lang="zh-CN" altLang="en-US"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同一个聚类中的对象尽可能的接近或相关，不同聚类中的对象尽可能远离或不同</a:t>
            </a:r>
            <a:endParaRPr lang="zh-CN" altLang="en-US"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600"/>
              </a:spcBef>
              <a:buFont typeface="Wingdings" panose="05000000000000000000" pitchFamily="2" charset="2"/>
              <a:buChar char="ü"/>
              <a:defRPr/>
            </a:pPr>
            <a:r>
              <a:rPr lang="zh-CN" altLang="en-US" sz="22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簇的表示</a:t>
            </a:r>
            <a:endParaRPr lang="zh-CN" altLang="en-US" sz="22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2" eaLnBrk="1" hangingPunct="1">
              <a:lnSpc>
                <a:spcPct val="120000"/>
              </a:lnSpc>
              <a:buFont typeface="Arial" panose="020B0604020202020204" pitchFamily="34" charset="0"/>
              <a:buChar char="•"/>
              <a:defRPr/>
            </a:pPr>
            <a:r>
              <a:rPr lang="en-US" altLang="zh-CN" sz="2000" b="0" kern="0" dirty="0">
                <a:solidFill>
                  <a:srgbClr val="0000FF"/>
                </a:solidFill>
                <a:latin typeface="Calibri" panose="020F0502020204030204" pitchFamily="34" charset="0"/>
                <a:cs typeface="Calibri" panose="020F0502020204030204" pitchFamily="34" charset="0"/>
              </a:rPr>
              <a:t>k-means</a:t>
            </a:r>
            <a:r>
              <a:rPr lang="zh-CN" altLang="en-US" sz="20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算法</a:t>
            </a:r>
            <a:r>
              <a:rPr lang="en-US" altLang="zh-CN" sz="2000" b="0" kern="0" dirty="0">
                <a:latin typeface="Calibri" panose="020F0502020204030204" pitchFamily="34" charset="0"/>
                <a:cs typeface="Calibri" panose="020F0502020204030204" pitchFamily="34" charset="0"/>
              </a:rPr>
              <a:t>:</a:t>
            </a:r>
            <a:r>
              <a:rPr lang="zh-CN" altLang="en-US" sz="2000" b="0" kern="0" dirty="0">
                <a:solidFill>
                  <a:srgbClr val="0070C0"/>
                </a:solidFill>
                <a:latin typeface="方正兰亭中黑_GBK" panose="02000000000000000000" pitchFamily="2" charset="-122"/>
                <a:ea typeface="方正兰亭中黑_GBK" panose="02000000000000000000" pitchFamily="2" charset="-122"/>
              </a:rPr>
              <a:t>由簇的平均值来代表整个簇</a:t>
            </a:r>
            <a:endParaRPr lang="zh-CN" altLang="en-US" sz="2000" b="0" kern="0" dirty="0">
              <a:solidFill>
                <a:srgbClr val="0070C0"/>
              </a:solidFill>
              <a:latin typeface="方正兰亭中黑_GBK" panose="02000000000000000000" pitchFamily="2" charset="-122"/>
              <a:ea typeface="方正兰亭中黑_GBK" panose="02000000000000000000" pitchFamily="2" charset="-122"/>
            </a:endParaRPr>
          </a:p>
          <a:p>
            <a:pPr lvl="2" eaLnBrk="1" hangingPunct="1">
              <a:lnSpc>
                <a:spcPct val="120000"/>
              </a:lnSpc>
              <a:buFont typeface="Arial" panose="020B0604020202020204" pitchFamily="34" charset="0"/>
              <a:buChar char="•"/>
              <a:defRPr/>
            </a:pPr>
            <a:r>
              <a:rPr lang="en-US" altLang="zh-CN" sz="2000" b="0" kern="0" dirty="0">
                <a:solidFill>
                  <a:srgbClr val="0000FF"/>
                </a:solidFill>
                <a:latin typeface="Calibri" panose="020F0502020204030204" pitchFamily="34" charset="0"/>
                <a:cs typeface="Calibri" panose="020F0502020204030204" pitchFamily="34" charset="0"/>
              </a:rPr>
              <a:t>k-</a:t>
            </a:r>
            <a:r>
              <a:rPr lang="en-US" altLang="zh-CN" sz="2000" b="0" kern="0" dirty="0">
                <a:solidFill>
                  <a:srgbClr val="0000FF"/>
                </a:solidFill>
                <a:latin typeface="Calibri" panose="020F0502020204030204" pitchFamily="34" charset="0"/>
                <a:ea typeface="宋体" panose="02010600030101010101" pitchFamily="2" charset="-122"/>
                <a:cs typeface="Calibri" panose="020F0502020204030204" pitchFamily="34" charset="0"/>
              </a:rPr>
              <a:t>medoids</a:t>
            </a:r>
            <a:r>
              <a:rPr lang="zh-CN" altLang="en-US" sz="20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算法</a:t>
            </a:r>
            <a:r>
              <a:rPr lang="en-US" altLang="zh-CN" sz="2000" b="0" kern="0" dirty="0">
                <a:latin typeface="Calibri" panose="020F0502020204030204" pitchFamily="34" charset="0"/>
                <a:cs typeface="Calibri" panose="020F0502020204030204" pitchFamily="34" charset="0"/>
              </a:rPr>
              <a:t>: </a:t>
            </a:r>
            <a:r>
              <a:rPr lang="zh-CN" altLang="en-US" sz="2000" b="0" kern="0" dirty="0">
                <a:solidFill>
                  <a:srgbClr val="0070C0"/>
                </a:solidFill>
                <a:latin typeface="方正兰亭中黑_GBK" panose="02000000000000000000" pitchFamily="2" charset="-122"/>
                <a:ea typeface="方正兰亭中黑_GBK" panose="02000000000000000000" pitchFamily="2" charset="-122"/>
              </a:rPr>
              <a:t>由处于簇的中心区域的某个值代表整个簇</a:t>
            </a:r>
            <a:endParaRPr lang="en-US" altLang="zh-CN" sz="2000" b="0" kern="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20000"/>
              </a:lnSpc>
              <a:spcBef>
                <a:spcPts val="600"/>
              </a:spcBef>
              <a:buFont typeface="Wingdings" panose="05000000000000000000" pitchFamily="2" charset="2"/>
              <a:buChar char="ü"/>
              <a:defRPr/>
            </a:pPr>
            <a:r>
              <a:rPr lang="zh-CN" altLang="en-US"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适合发现</a:t>
            </a:r>
            <a:r>
              <a:rPr lang="zh-CN" altLang="en-US" sz="22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中小规模数据库中的球状聚类</a:t>
            </a:r>
            <a:r>
              <a:rPr lang="en-US" altLang="zh-CN"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a:t>
            </a:r>
            <a:r>
              <a:rPr lang="zh-CN" altLang="en-US"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  不适合大规模数据库和处理任意形状的聚类</a:t>
            </a:r>
            <a:endParaRPr lang="zh-CN" altLang="en-US"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主要的聚类算法</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4" name="Rectangle 3"/>
          <p:cNvSpPr txBox="1">
            <a:spLocks noChangeArrowheads="1"/>
          </p:cNvSpPr>
          <p:nvPr/>
        </p:nvSpPr>
        <p:spPr>
          <a:xfrm>
            <a:off x="323528" y="908720"/>
            <a:ext cx="8229600" cy="544512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30000"/>
              </a:lnSpc>
              <a:buSzPct val="80000"/>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rPr>
              <a:t>层次方法</a:t>
            </a:r>
            <a:r>
              <a:rPr lang="en-US" altLang="zh-CN" sz="2800" b="0" dirty="0">
                <a:solidFill>
                  <a:srgbClr val="FF0000"/>
                </a:solidFill>
                <a:latin typeface="方正兰亭中黑_GBK" panose="02000000000000000000" pitchFamily="2" charset="-122"/>
                <a:ea typeface="方正兰亭中黑_GBK" panose="02000000000000000000" pitchFamily="2" charset="-122"/>
              </a:rPr>
              <a:t>: </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对给定数据对象集合进行层次的分解 </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30000"/>
              </a:lnSpc>
              <a:spcBef>
                <a:spcPts val="600"/>
              </a:spcBef>
              <a:spcAft>
                <a:spcPts val="600"/>
              </a:spcAft>
              <a:buFont typeface="Wingdings" panose="05000000000000000000" pitchFamily="2" charset="2"/>
              <a:buChar char="ü"/>
              <a:defRPr/>
            </a:pPr>
            <a:r>
              <a:rPr lang="zh-CN" altLang="en-US" sz="22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凝聚方法</a:t>
            </a:r>
            <a:r>
              <a:rPr lang="en-US" altLang="zh-CN" sz="22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a:t>
            </a:r>
            <a:r>
              <a:rPr lang="zh-CN" altLang="en-US" sz="22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自底向上</a:t>
            </a:r>
            <a:r>
              <a:rPr lang="en-US" altLang="zh-CN" sz="22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a:t>
            </a:r>
            <a:r>
              <a:rPr lang="zh-CN" altLang="en-US" sz="22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 </a:t>
            </a:r>
            <a:r>
              <a:rPr lang="zh-CN" altLang="en-US"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开始将每个对象作为单独的一个组; 然后继续地合并相近的对象或组, 直到所有的组合并为一个(层次的最上层), 或者达到一个终止条件 </a:t>
            </a:r>
            <a:endParaRPr lang="zh-CN" altLang="en-US"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30000"/>
              </a:lnSpc>
              <a:spcBef>
                <a:spcPts val="600"/>
              </a:spcBef>
              <a:spcAft>
                <a:spcPts val="600"/>
              </a:spcAft>
              <a:buFont typeface="Wingdings" panose="05000000000000000000" pitchFamily="2" charset="2"/>
              <a:buChar char="ü"/>
              <a:defRPr/>
            </a:pPr>
            <a:r>
              <a:rPr lang="zh-CN" altLang="en-US" sz="22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分裂方法</a:t>
            </a:r>
            <a:r>
              <a:rPr lang="en-US" altLang="zh-CN" sz="22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a:t>
            </a:r>
            <a:r>
              <a:rPr lang="zh-CN" altLang="en-US" sz="22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自顶向下</a:t>
            </a:r>
            <a:r>
              <a:rPr lang="en-US" altLang="zh-CN" sz="22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a:t>
            </a:r>
            <a:r>
              <a:rPr lang="zh-CN" altLang="en-US" sz="22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 </a:t>
            </a:r>
            <a:r>
              <a:rPr lang="zh-CN" altLang="en-US"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开始将所有的对象置于一个簇; 在迭代的每一步, 一个簇被分裂为更小的簇, 直到最终每个对象在单独的一个簇中, 或者达到一个终止条件 </a:t>
            </a:r>
            <a:endParaRPr lang="zh-CN" altLang="en-US" sz="22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主要的聚类算法</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a:xfrm>
            <a:off x="539750" y="908720"/>
            <a:ext cx="8064500" cy="4103688"/>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30000"/>
              </a:lnSpc>
              <a:buSzPct val="100000"/>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rPr>
              <a:t>基于密度的方法: </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只要临近区域的密度(对象或数据点的数目)超过某个阀值, 就继续聚类. 也就是说, 对给定类中的每个数据点, 在一个给定范围的区域中必须至少包含一定数目的点 </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eaLnBrk="1" hangingPunct="1">
              <a:lnSpc>
                <a:spcPct val="130000"/>
              </a:lnSpc>
              <a:buSzPct val="100000"/>
              <a:buFont typeface="Wingdings" panose="05000000000000000000" pitchFamily="2" charset="2"/>
              <a:buChar char="n"/>
              <a:defRPr/>
            </a:pPr>
            <a:r>
              <a:rPr lang="zh-CN" altLang="en-US" sz="2600" b="0" kern="1200" dirty="0">
                <a:solidFill>
                  <a:srgbClr val="0070C0"/>
                </a:solidFill>
                <a:latin typeface="方正兰亭中黑_GBK" panose="02000000000000000000" pitchFamily="2" charset="-122"/>
                <a:ea typeface="方正兰亭中黑_GBK" panose="02000000000000000000" pitchFamily="2" charset="-122"/>
              </a:rPr>
              <a:t>该方法可以用来过滤“噪音”与“离群点”数据，发现任意形状的簇 </a:t>
            </a:r>
            <a:endParaRPr lang="zh-CN" altLang="en-US" sz="2600" b="0" kern="1200" dirty="0">
              <a:solidFill>
                <a:srgbClr val="0070C0"/>
              </a:solidFill>
              <a:latin typeface="方正兰亭中黑_GBK" panose="02000000000000000000" pitchFamily="2" charset="-122"/>
              <a:ea typeface="方正兰亭中黑_GBK" panose="02000000000000000000" pitchFamily="2" charset="-122"/>
            </a:endParaRPr>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0325" y="4182145"/>
            <a:ext cx="2727325" cy="203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3437" y="4037683"/>
            <a:ext cx="3127375"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k-means</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5" name="内容占位符 2"/>
          <p:cNvSpPr txBox="1"/>
          <p:nvPr/>
        </p:nvSpPr>
        <p:spPr>
          <a:xfrm>
            <a:off x="323528" y="980281"/>
            <a:ext cx="8229600" cy="4897437"/>
          </a:xfrm>
          <a:prstGeom prst="rect">
            <a:avLst/>
          </a:prstGeom>
        </p:spPr>
        <p:txBody>
          <a:bodyPr>
            <a:normAutofit fontScale="92500" lnSpcReduction="20000"/>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40000"/>
              </a:lnSpc>
              <a:buSzPct val="100000"/>
              <a:buFont typeface="Wingdings" panose="05000000000000000000" pitchFamily="2" charset="2"/>
              <a:buChar char="n"/>
              <a:defRPr/>
            </a:pPr>
            <a:r>
              <a:rPr lang="zh-CN" altLang="en-US" b="0" dirty="0">
                <a:solidFill>
                  <a:srgbClr val="FF0000"/>
                </a:solidFill>
                <a:latin typeface="方正兰亭中黑_GBK" panose="02000000000000000000" pitchFamily="2" charset="-122"/>
                <a:ea typeface="方正兰亭中黑_GBK" panose="02000000000000000000" pitchFamily="2" charset="-122"/>
              </a:rPr>
              <a:t>簇中对象的均值可以看作簇的质心</a:t>
            </a:r>
            <a:r>
              <a:rPr lang="zh-CN" altLang="en-US" b="0" kern="1200" dirty="0">
                <a:solidFill>
                  <a:srgbClr val="FF0000"/>
                </a:solidFill>
                <a:latin typeface="Palatino Linotype" panose="02040502050505030304" pitchFamily="18" charset="0"/>
              </a:rPr>
              <a:t>（</a:t>
            </a:r>
            <a:r>
              <a:rPr lang="en-US" altLang="zh-CN" b="0" kern="1200" dirty="0">
                <a:solidFill>
                  <a:srgbClr val="FF0000"/>
                </a:solidFill>
                <a:latin typeface="Palatino Linotype" panose="02040502050505030304" pitchFamily="18" charset="0"/>
              </a:rPr>
              <a:t>centroid</a:t>
            </a:r>
            <a:r>
              <a:rPr lang="zh-CN" altLang="en-US" b="0" kern="1200" dirty="0">
                <a:solidFill>
                  <a:srgbClr val="FF0000"/>
                </a:solidFill>
                <a:latin typeface="Palatino Linotype" panose="02040502050505030304" pitchFamily="18" charset="0"/>
              </a:rPr>
              <a:t>）</a:t>
            </a:r>
            <a:endParaRPr lang="zh-CN" altLang="en-US" b="0" kern="1200" dirty="0">
              <a:solidFill>
                <a:srgbClr val="FF0000"/>
              </a:solidFill>
              <a:latin typeface="Palatino Linotype" panose="02040502050505030304" pitchFamily="18" charset="0"/>
            </a:endParaRPr>
          </a:p>
          <a:p>
            <a:pPr eaLnBrk="1" hangingPunct="1">
              <a:lnSpc>
                <a:spcPct val="140000"/>
              </a:lnSpc>
              <a:buSzPct val="100000"/>
              <a:buFont typeface="Wingdings" panose="05000000000000000000" pitchFamily="2" charset="2"/>
              <a:buChar char="n"/>
              <a:defRPr/>
            </a:pPr>
            <a:r>
              <a:rPr lang="en-US" altLang="zh-CN" b="0" dirty="0">
                <a:solidFill>
                  <a:srgbClr val="FF0000"/>
                </a:solidFill>
                <a:latin typeface="方正兰亭中黑_GBK" panose="02000000000000000000" pitchFamily="2" charset="-122"/>
                <a:ea typeface="方正兰亭中黑_GBK" panose="02000000000000000000" pitchFamily="2" charset="-122"/>
              </a:rPr>
              <a:t>k</a:t>
            </a:r>
            <a:r>
              <a:rPr lang="zh-CN" altLang="en-US" b="0" dirty="0">
                <a:solidFill>
                  <a:srgbClr val="FF0000"/>
                </a:solidFill>
                <a:latin typeface="方正兰亭中黑_GBK" panose="02000000000000000000" pitchFamily="2" charset="-122"/>
                <a:ea typeface="方正兰亭中黑_GBK" panose="02000000000000000000" pitchFamily="2" charset="-122"/>
              </a:rPr>
              <a:t>均值算法流程</a:t>
            </a:r>
            <a:endParaRPr lang="zh-CN" altLang="en-US" b="0" dirty="0">
              <a:solidFill>
                <a:srgbClr val="FF0000"/>
              </a:solidFill>
              <a:latin typeface="方正兰亭中黑_GBK" panose="02000000000000000000" pitchFamily="2" charset="-122"/>
              <a:ea typeface="方正兰亭中黑_GBK" panose="02000000000000000000" pitchFamily="2" charset="-122"/>
            </a:endParaRPr>
          </a:p>
          <a:p>
            <a:pPr marL="858520" lvl="1" indent="-514350" eaLnBrk="1" fontAlgn="auto" hangingPunct="1">
              <a:lnSpc>
                <a:spcPct val="130000"/>
              </a:lnSpc>
              <a:spcBef>
                <a:spcPts val="600"/>
              </a:spcBef>
              <a:spcAft>
                <a:spcPts val="0"/>
              </a:spcAft>
              <a:buFont typeface="Wingdings" panose="05000000000000000000" pitchFamily="2" charset="2"/>
              <a:buChar char="ü"/>
              <a:defRPr/>
            </a:pPr>
            <a:r>
              <a:rPr lang="zh-CN" altLang="en-US"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随机选择</a:t>
            </a:r>
            <a:r>
              <a:rPr lang="en-US" altLang="zh-CN" i="1" kern="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k</a:t>
            </a:r>
            <a:r>
              <a:rPr lang="zh-CN" altLang="en-US"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个对象，每个对象代表一个簇的初始均值或中心</a:t>
            </a:r>
            <a:endParaRPr lang="zh-CN" altLang="en-US"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858520" lvl="1" indent="-514350" eaLnBrk="1" fontAlgn="auto" hangingPunct="1">
              <a:lnSpc>
                <a:spcPct val="130000"/>
              </a:lnSpc>
              <a:spcBef>
                <a:spcPts val="600"/>
              </a:spcBef>
              <a:spcAft>
                <a:spcPts val="0"/>
              </a:spcAft>
              <a:buFont typeface="Wingdings" panose="05000000000000000000" pitchFamily="2" charset="2"/>
              <a:buChar char="ü"/>
              <a:defRPr/>
            </a:pPr>
            <a:r>
              <a:rPr lang="zh-CN" altLang="en-US"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对剩余的每个对象，根据它与簇均值的距离，将他指派到最相似的簇</a:t>
            </a:r>
            <a:endParaRPr lang="zh-CN" altLang="en-US"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858520" lvl="1" indent="-514350" eaLnBrk="1" fontAlgn="auto" hangingPunct="1">
              <a:lnSpc>
                <a:spcPct val="130000"/>
              </a:lnSpc>
              <a:spcBef>
                <a:spcPts val="600"/>
              </a:spcBef>
              <a:spcAft>
                <a:spcPts val="0"/>
              </a:spcAft>
              <a:buFont typeface="Wingdings" panose="05000000000000000000" pitchFamily="2" charset="2"/>
              <a:buChar char="ü"/>
              <a:defRPr/>
            </a:pPr>
            <a:r>
              <a:rPr lang="zh-CN" altLang="en-US"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计算每个簇的新均值</a:t>
            </a:r>
            <a:endParaRPr lang="zh-CN" altLang="en-US"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858520" lvl="1" indent="-514350" eaLnBrk="1" fontAlgn="auto" hangingPunct="1">
              <a:lnSpc>
                <a:spcPct val="130000"/>
              </a:lnSpc>
              <a:spcBef>
                <a:spcPts val="600"/>
              </a:spcBef>
              <a:spcAft>
                <a:spcPts val="0"/>
              </a:spcAft>
              <a:buFont typeface="Wingdings" panose="05000000000000000000" pitchFamily="2" charset="2"/>
              <a:buChar char="ü"/>
              <a:defRPr/>
            </a:pPr>
            <a:r>
              <a:rPr lang="zh-CN" altLang="en-US"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回到步骤</a:t>
            </a:r>
            <a:r>
              <a:rPr lang="en-US" altLang="zh-CN" b="0" kern="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2</a:t>
            </a:r>
            <a:r>
              <a:rPr lang="zh-CN" altLang="en-US"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，循环，直到准则函数收敛</a:t>
            </a:r>
            <a:endParaRPr lang="zh-CN" altLang="en-US"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marL="469900" lvl="3" indent="-469900" eaLnBrk="1" hangingPunct="1">
              <a:lnSpc>
                <a:spcPct val="140000"/>
              </a:lnSpc>
              <a:buSzPct val="100000"/>
              <a:defRPr/>
            </a:pPr>
            <a:r>
              <a:rPr lang="zh-CN" altLang="en-US" sz="3200" b="0" dirty="0">
                <a:solidFill>
                  <a:srgbClr val="FF0000"/>
                </a:solidFill>
                <a:latin typeface="方正兰亭中黑_GBK" panose="02000000000000000000" pitchFamily="2" charset="-122"/>
                <a:ea typeface="方正兰亭中黑_GBK" panose="02000000000000000000" pitchFamily="2" charset="-122"/>
              </a:rPr>
              <a:t>常用准则函数：平方误差准则</a:t>
            </a:r>
            <a:endParaRPr lang="zh-CN" altLang="en-US" sz="3200" b="0" dirty="0">
              <a:solidFill>
                <a:srgbClr val="FF0000"/>
              </a:solidFill>
              <a:latin typeface="方正兰亭中黑_GBK" panose="02000000000000000000" pitchFamily="2" charset="-122"/>
              <a:ea typeface="方正兰亭中黑_GBK" panose="02000000000000000000" pitchFamily="2" charset="-122"/>
            </a:endParaRPr>
          </a:p>
        </p:txBody>
      </p:sp>
      <p:pic>
        <p:nvPicPr>
          <p:cNvPr id="6" name="Object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94965" y="5606256"/>
            <a:ext cx="3017838" cy="636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TextBox 4"/>
          <p:cNvSpPr txBox="1">
            <a:spLocks noChangeArrowheads="1"/>
          </p:cNvSpPr>
          <p:nvPr/>
        </p:nvSpPr>
        <p:spPr bwMode="auto">
          <a:xfrm>
            <a:off x="3635053" y="5693568"/>
            <a:ext cx="51133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a:t>(</a:t>
            </a:r>
            <a:r>
              <a:rPr lang="en-US" altLang="zh-CN" sz="2400" i="1" dirty="0">
                <a:solidFill>
                  <a:srgbClr val="0000FF"/>
                </a:solidFill>
                <a:effectLst>
                  <a:outerShdw blurRad="38100" dist="38100" dir="2700000" algn="tl">
                    <a:srgbClr val="000000">
                      <a:alpha val="43137"/>
                    </a:srgbClr>
                  </a:outerShdw>
                </a:effectLst>
              </a:rPr>
              <a:t>p</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是空间中的点，</a:t>
            </a:r>
            <a:r>
              <a:rPr lang="en-US" altLang="zh-CN" sz="2400" i="1" dirty="0">
                <a:solidFill>
                  <a:srgbClr val="0000FF"/>
                </a:solidFill>
                <a:effectLst>
                  <a:outerShdw blurRad="38100" dist="38100" dir="2700000" algn="tl">
                    <a:srgbClr val="000000">
                      <a:alpha val="43137"/>
                    </a:srgbClr>
                  </a:outerShdw>
                </a:effectLst>
              </a:rPr>
              <a:t>m</a:t>
            </a:r>
            <a:r>
              <a:rPr lang="en-US" altLang="zh-CN" sz="2400" i="1" baseline="-25000" dirty="0">
                <a:solidFill>
                  <a:srgbClr val="0000FF"/>
                </a:solidFill>
                <a:effectLst>
                  <a:outerShdw blurRad="38100" dist="38100" dir="2700000" algn="tl">
                    <a:srgbClr val="000000">
                      <a:alpha val="43137"/>
                    </a:srgbClr>
                  </a:outerShdw>
                </a:effectLst>
              </a:rPr>
              <a:t>i</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是簇</a:t>
            </a:r>
            <a:r>
              <a:rPr lang="en-US" altLang="zh-CN" sz="2400" i="1" dirty="0" err="1">
                <a:solidFill>
                  <a:srgbClr val="0000FF"/>
                </a:solidFill>
                <a:effectLst>
                  <a:outerShdw blurRad="38100" dist="38100" dir="2700000" algn="tl">
                    <a:srgbClr val="000000">
                      <a:alpha val="43137"/>
                    </a:srgbClr>
                  </a:outerShdw>
                </a:effectLst>
              </a:rPr>
              <a:t>C</a:t>
            </a:r>
            <a:r>
              <a:rPr lang="en-US" altLang="zh-CN" sz="2400" i="1" baseline="-25000" dirty="0" err="1">
                <a:solidFill>
                  <a:srgbClr val="0000FF"/>
                </a:solidFill>
                <a:effectLst>
                  <a:outerShdw blurRad="38100" dist="38100" dir="2700000" algn="tl">
                    <a:srgbClr val="000000">
                      <a:alpha val="43137"/>
                    </a:srgbClr>
                  </a:outerShdw>
                </a:effectLst>
              </a:rPr>
              <a:t>i</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的均值</a:t>
            </a:r>
            <a:r>
              <a:rPr lang="en-US" altLang="zh-CN" sz="2400" dirty="0"/>
              <a:t>)</a:t>
            </a: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k-means</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grpSp>
        <p:nvGrpSpPr>
          <p:cNvPr id="3" name="Group 4"/>
          <p:cNvGrpSpPr/>
          <p:nvPr/>
        </p:nvGrpSpPr>
        <p:grpSpPr bwMode="auto">
          <a:xfrm>
            <a:off x="2604195" y="1331913"/>
            <a:ext cx="2227262" cy="1947862"/>
            <a:chOff x="543" y="284"/>
            <a:chExt cx="2087" cy="1772"/>
          </a:xfrm>
        </p:grpSpPr>
        <p:graphicFrame>
          <p:nvGraphicFramePr>
            <p:cNvPr id="4" name="Object 5"/>
            <p:cNvGraphicFramePr>
              <a:graphicFrameLocks noChangeAspect="1"/>
            </p:cNvGraphicFramePr>
            <p:nvPr/>
          </p:nvGraphicFramePr>
          <p:xfrm>
            <a:off x="543" y="284"/>
            <a:ext cx="2087" cy="1772"/>
          </p:xfrm>
          <a:graphic>
            <a:graphicData uri="http://schemas.openxmlformats.org/presentationml/2006/ole">
              <mc:AlternateContent xmlns:mc="http://schemas.openxmlformats.org/markup-compatibility/2006">
                <mc:Choice xmlns:v="urn:schemas-microsoft-com:vml" Requires="v">
                  <p:oleObj spid="_x0000_s29704" name="工作表" r:id="rId1" imgW="5537200" imgH="4610100" progId="Excel.Sheet.8">
                    <p:embed/>
                  </p:oleObj>
                </mc:Choice>
                <mc:Fallback>
                  <p:oleObj name="工作表" r:id="rId1" imgW="5537200" imgH="4610100" progId="Excel.Sheet.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 y="284"/>
                          <a:ext cx="2087" cy="1772"/>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
                              <a:solidFill>
                                <a:srgbClr val="FFFFFF"/>
                              </a:solidFill>
                              <a:miter lim="800000"/>
                              <a:headEnd/>
                              <a:tailEnd/>
                            </a14:hiddenLine>
                          </a:ext>
                          <a:ext uri="{AF507438-7753-43E0-B8FC-AC1667EBCBE1}">
                            <a14:hiddenEffects xmlns:a14="http://schemas.microsoft.com/office/drawing/2010/main">
                              <a:effectLst>
                                <a:outerShdw dist="107763" dir="18900000" algn="ctr" rotWithShape="0">
                                  <a:srgbClr val="808080"/>
                                </a:outerShdw>
                              </a:effectLst>
                            </a14:hiddenEffects>
                          </a:ext>
                        </a:extLst>
                      </p:spPr>
                    </p:pic>
                  </p:oleObj>
                </mc:Fallback>
              </mc:AlternateContent>
            </a:graphicData>
          </a:graphic>
        </p:graphicFrame>
        <p:sp>
          <p:nvSpPr>
            <p:cNvPr id="5" name="Freeform 6"/>
            <p:cNvSpPr/>
            <p:nvPr/>
          </p:nvSpPr>
          <p:spPr bwMode="auto">
            <a:xfrm>
              <a:off x="1009" y="556"/>
              <a:ext cx="851" cy="1262"/>
            </a:xfrm>
            <a:custGeom>
              <a:avLst/>
              <a:gdLst>
                <a:gd name="T0" fmla="*/ 518 w 852"/>
                <a:gd name="T1" fmla="*/ 280 h 1260"/>
                <a:gd name="T2" fmla="*/ 392 w 852"/>
                <a:gd name="T3" fmla="*/ 36 h 1260"/>
                <a:gd name="T4" fmla="*/ 237 w 852"/>
                <a:gd name="T5" fmla="*/ 21 h 1260"/>
                <a:gd name="T6" fmla="*/ 133 w 852"/>
                <a:gd name="T7" fmla="*/ 73 h 1260"/>
                <a:gd name="T8" fmla="*/ 0 w 852"/>
                <a:gd name="T9" fmla="*/ 369 h 1260"/>
                <a:gd name="T10" fmla="*/ 44 w 852"/>
                <a:gd name="T11" fmla="*/ 688 h 1260"/>
                <a:gd name="T12" fmla="*/ 362 w 852"/>
                <a:gd name="T13" fmla="*/ 1117 h 1260"/>
                <a:gd name="T14" fmla="*/ 429 w 852"/>
                <a:gd name="T15" fmla="*/ 1139 h 1260"/>
                <a:gd name="T16" fmla="*/ 451 w 852"/>
                <a:gd name="T17" fmla="*/ 1154 h 1260"/>
                <a:gd name="T18" fmla="*/ 525 w 852"/>
                <a:gd name="T19" fmla="*/ 1176 h 1260"/>
                <a:gd name="T20" fmla="*/ 622 w 852"/>
                <a:gd name="T21" fmla="*/ 1228 h 1260"/>
                <a:gd name="T22" fmla="*/ 792 w 852"/>
                <a:gd name="T23" fmla="*/ 1243 h 1260"/>
                <a:gd name="T24" fmla="*/ 785 w 852"/>
                <a:gd name="T25" fmla="*/ 1021 h 1260"/>
                <a:gd name="T26" fmla="*/ 748 w 852"/>
                <a:gd name="T27" fmla="*/ 954 h 1260"/>
                <a:gd name="T28" fmla="*/ 688 w 852"/>
                <a:gd name="T29" fmla="*/ 858 h 1260"/>
                <a:gd name="T30" fmla="*/ 622 w 852"/>
                <a:gd name="T31" fmla="*/ 762 h 1260"/>
                <a:gd name="T32" fmla="*/ 607 w 852"/>
                <a:gd name="T33" fmla="*/ 732 h 1260"/>
                <a:gd name="T34" fmla="*/ 592 w 852"/>
                <a:gd name="T35" fmla="*/ 710 h 1260"/>
                <a:gd name="T36" fmla="*/ 555 w 852"/>
                <a:gd name="T37" fmla="*/ 643 h 1260"/>
                <a:gd name="T38" fmla="*/ 540 w 852"/>
                <a:gd name="T39" fmla="*/ 621 h 1260"/>
                <a:gd name="T40" fmla="*/ 518 w 852"/>
                <a:gd name="T41" fmla="*/ 280 h 126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2"/>
                <a:gd name="T64" fmla="*/ 0 h 1260"/>
                <a:gd name="T65" fmla="*/ 852 w 852"/>
                <a:gd name="T66" fmla="*/ 1260 h 126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2" h="1260">
                  <a:moveTo>
                    <a:pt x="518" y="280"/>
                  </a:moveTo>
                  <a:cubicBezTo>
                    <a:pt x="509" y="187"/>
                    <a:pt x="497" y="69"/>
                    <a:pt x="392" y="36"/>
                  </a:cubicBezTo>
                  <a:cubicBezTo>
                    <a:pt x="339" y="0"/>
                    <a:pt x="309" y="15"/>
                    <a:pt x="237" y="21"/>
                  </a:cubicBezTo>
                  <a:cubicBezTo>
                    <a:pt x="194" y="31"/>
                    <a:pt x="168" y="45"/>
                    <a:pt x="133" y="73"/>
                  </a:cubicBezTo>
                  <a:cubicBezTo>
                    <a:pt x="84" y="168"/>
                    <a:pt x="20" y="262"/>
                    <a:pt x="0" y="369"/>
                  </a:cubicBezTo>
                  <a:cubicBezTo>
                    <a:pt x="5" y="481"/>
                    <a:pt x="3" y="584"/>
                    <a:pt x="44" y="688"/>
                  </a:cubicBezTo>
                  <a:cubicBezTo>
                    <a:pt x="78" y="870"/>
                    <a:pt x="173" y="1057"/>
                    <a:pt x="362" y="1117"/>
                  </a:cubicBezTo>
                  <a:cubicBezTo>
                    <a:pt x="415" y="1152"/>
                    <a:pt x="347" y="1112"/>
                    <a:pt x="429" y="1139"/>
                  </a:cubicBezTo>
                  <a:cubicBezTo>
                    <a:pt x="437" y="1142"/>
                    <a:pt x="443" y="1150"/>
                    <a:pt x="451" y="1154"/>
                  </a:cubicBezTo>
                  <a:cubicBezTo>
                    <a:pt x="473" y="1165"/>
                    <a:pt x="501" y="1168"/>
                    <a:pt x="525" y="1176"/>
                  </a:cubicBezTo>
                  <a:cubicBezTo>
                    <a:pt x="562" y="1201"/>
                    <a:pt x="581" y="1218"/>
                    <a:pt x="622" y="1228"/>
                  </a:cubicBezTo>
                  <a:cubicBezTo>
                    <a:pt x="684" y="1260"/>
                    <a:pt x="714" y="1249"/>
                    <a:pt x="792" y="1243"/>
                  </a:cubicBezTo>
                  <a:cubicBezTo>
                    <a:pt x="852" y="1183"/>
                    <a:pt x="819" y="1088"/>
                    <a:pt x="785" y="1021"/>
                  </a:cubicBezTo>
                  <a:cubicBezTo>
                    <a:pt x="770" y="992"/>
                    <a:pt x="773" y="979"/>
                    <a:pt x="748" y="954"/>
                  </a:cubicBezTo>
                  <a:cubicBezTo>
                    <a:pt x="735" y="917"/>
                    <a:pt x="711" y="888"/>
                    <a:pt x="688" y="858"/>
                  </a:cubicBezTo>
                  <a:cubicBezTo>
                    <a:pt x="676" y="821"/>
                    <a:pt x="643" y="795"/>
                    <a:pt x="622" y="762"/>
                  </a:cubicBezTo>
                  <a:cubicBezTo>
                    <a:pt x="616" y="753"/>
                    <a:pt x="613" y="742"/>
                    <a:pt x="607" y="732"/>
                  </a:cubicBezTo>
                  <a:cubicBezTo>
                    <a:pt x="603" y="724"/>
                    <a:pt x="597" y="717"/>
                    <a:pt x="592" y="710"/>
                  </a:cubicBezTo>
                  <a:cubicBezTo>
                    <a:pt x="580" y="671"/>
                    <a:pt x="589" y="694"/>
                    <a:pt x="555" y="643"/>
                  </a:cubicBezTo>
                  <a:cubicBezTo>
                    <a:pt x="550" y="636"/>
                    <a:pt x="540" y="621"/>
                    <a:pt x="540" y="621"/>
                  </a:cubicBezTo>
                  <a:cubicBezTo>
                    <a:pt x="519" y="510"/>
                    <a:pt x="518" y="392"/>
                    <a:pt x="518" y="280"/>
                  </a:cubicBezTo>
                  <a:close/>
                </a:path>
              </a:pathLst>
            </a:custGeom>
            <a:noFill/>
            <a:ln w="19050">
              <a:solidFill>
                <a:srgbClr val="006699"/>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6" name="Freeform 7"/>
            <p:cNvSpPr/>
            <p:nvPr/>
          </p:nvSpPr>
          <p:spPr bwMode="auto">
            <a:xfrm>
              <a:off x="1587" y="888"/>
              <a:ext cx="768" cy="631"/>
            </a:xfrm>
            <a:custGeom>
              <a:avLst/>
              <a:gdLst>
                <a:gd name="T0" fmla="*/ 183 w 768"/>
                <a:gd name="T1" fmla="*/ 67 h 630"/>
                <a:gd name="T2" fmla="*/ 72 w 768"/>
                <a:gd name="T3" fmla="*/ 74 h 630"/>
                <a:gd name="T4" fmla="*/ 5 w 768"/>
                <a:gd name="T5" fmla="*/ 170 h 630"/>
                <a:gd name="T6" fmla="*/ 13 w 768"/>
                <a:gd name="T7" fmla="*/ 311 h 630"/>
                <a:gd name="T8" fmla="*/ 57 w 768"/>
                <a:gd name="T9" fmla="*/ 356 h 630"/>
                <a:gd name="T10" fmla="*/ 109 w 768"/>
                <a:gd name="T11" fmla="*/ 415 h 630"/>
                <a:gd name="T12" fmla="*/ 235 w 768"/>
                <a:gd name="T13" fmla="*/ 548 h 630"/>
                <a:gd name="T14" fmla="*/ 257 w 768"/>
                <a:gd name="T15" fmla="*/ 570 h 630"/>
                <a:gd name="T16" fmla="*/ 331 w 768"/>
                <a:gd name="T17" fmla="*/ 593 h 630"/>
                <a:gd name="T18" fmla="*/ 450 w 768"/>
                <a:gd name="T19" fmla="*/ 630 h 630"/>
                <a:gd name="T20" fmla="*/ 598 w 768"/>
                <a:gd name="T21" fmla="*/ 607 h 630"/>
                <a:gd name="T22" fmla="*/ 657 w 768"/>
                <a:gd name="T23" fmla="*/ 585 h 630"/>
                <a:gd name="T24" fmla="*/ 687 w 768"/>
                <a:gd name="T25" fmla="*/ 533 h 630"/>
                <a:gd name="T26" fmla="*/ 717 w 768"/>
                <a:gd name="T27" fmla="*/ 474 h 630"/>
                <a:gd name="T28" fmla="*/ 724 w 768"/>
                <a:gd name="T29" fmla="*/ 437 h 630"/>
                <a:gd name="T30" fmla="*/ 739 w 768"/>
                <a:gd name="T31" fmla="*/ 415 h 630"/>
                <a:gd name="T32" fmla="*/ 768 w 768"/>
                <a:gd name="T33" fmla="*/ 296 h 630"/>
                <a:gd name="T34" fmla="*/ 761 w 768"/>
                <a:gd name="T35" fmla="*/ 178 h 630"/>
                <a:gd name="T36" fmla="*/ 724 w 768"/>
                <a:gd name="T37" fmla="*/ 111 h 630"/>
                <a:gd name="T38" fmla="*/ 465 w 768"/>
                <a:gd name="T39" fmla="*/ 0 h 630"/>
                <a:gd name="T40" fmla="*/ 205 w 768"/>
                <a:gd name="T41" fmla="*/ 30 h 630"/>
                <a:gd name="T42" fmla="*/ 183 w 768"/>
                <a:gd name="T43" fmla="*/ 67 h 6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68"/>
                <a:gd name="T67" fmla="*/ 0 h 630"/>
                <a:gd name="T68" fmla="*/ 768 w 768"/>
                <a:gd name="T69" fmla="*/ 630 h 63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68" h="630">
                  <a:moveTo>
                    <a:pt x="183" y="67"/>
                  </a:moveTo>
                  <a:cubicBezTo>
                    <a:pt x="146" y="41"/>
                    <a:pt x="112" y="61"/>
                    <a:pt x="72" y="74"/>
                  </a:cubicBezTo>
                  <a:cubicBezTo>
                    <a:pt x="13" y="114"/>
                    <a:pt x="28" y="107"/>
                    <a:pt x="5" y="170"/>
                  </a:cubicBezTo>
                  <a:cubicBezTo>
                    <a:pt x="8" y="217"/>
                    <a:pt x="0" y="266"/>
                    <a:pt x="13" y="311"/>
                  </a:cubicBezTo>
                  <a:cubicBezTo>
                    <a:pt x="19" y="331"/>
                    <a:pt x="45" y="339"/>
                    <a:pt x="57" y="356"/>
                  </a:cubicBezTo>
                  <a:cubicBezTo>
                    <a:pt x="92" y="407"/>
                    <a:pt x="72" y="390"/>
                    <a:pt x="109" y="415"/>
                  </a:cubicBezTo>
                  <a:cubicBezTo>
                    <a:pt x="145" y="467"/>
                    <a:pt x="187" y="508"/>
                    <a:pt x="235" y="548"/>
                  </a:cubicBezTo>
                  <a:cubicBezTo>
                    <a:pt x="243" y="555"/>
                    <a:pt x="248" y="565"/>
                    <a:pt x="257" y="570"/>
                  </a:cubicBezTo>
                  <a:cubicBezTo>
                    <a:pt x="283" y="584"/>
                    <a:pt x="305" y="583"/>
                    <a:pt x="331" y="593"/>
                  </a:cubicBezTo>
                  <a:cubicBezTo>
                    <a:pt x="371" y="608"/>
                    <a:pt x="408" y="621"/>
                    <a:pt x="450" y="630"/>
                  </a:cubicBezTo>
                  <a:cubicBezTo>
                    <a:pt x="498" y="625"/>
                    <a:pt x="551" y="623"/>
                    <a:pt x="598" y="607"/>
                  </a:cubicBezTo>
                  <a:cubicBezTo>
                    <a:pt x="618" y="600"/>
                    <a:pt x="657" y="585"/>
                    <a:pt x="657" y="585"/>
                  </a:cubicBezTo>
                  <a:cubicBezTo>
                    <a:pt x="675" y="536"/>
                    <a:pt x="651" y="594"/>
                    <a:pt x="687" y="533"/>
                  </a:cubicBezTo>
                  <a:cubicBezTo>
                    <a:pt x="698" y="514"/>
                    <a:pt x="717" y="474"/>
                    <a:pt x="717" y="474"/>
                  </a:cubicBezTo>
                  <a:cubicBezTo>
                    <a:pt x="719" y="462"/>
                    <a:pt x="720" y="449"/>
                    <a:pt x="724" y="437"/>
                  </a:cubicBezTo>
                  <a:cubicBezTo>
                    <a:pt x="727" y="429"/>
                    <a:pt x="736" y="423"/>
                    <a:pt x="739" y="415"/>
                  </a:cubicBezTo>
                  <a:cubicBezTo>
                    <a:pt x="750" y="382"/>
                    <a:pt x="760" y="332"/>
                    <a:pt x="768" y="296"/>
                  </a:cubicBezTo>
                  <a:cubicBezTo>
                    <a:pt x="766" y="257"/>
                    <a:pt x="766" y="217"/>
                    <a:pt x="761" y="178"/>
                  </a:cubicBezTo>
                  <a:cubicBezTo>
                    <a:pt x="754" y="127"/>
                    <a:pt x="750" y="142"/>
                    <a:pt x="724" y="111"/>
                  </a:cubicBezTo>
                  <a:cubicBezTo>
                    <a:pt x="653" y="27"/>
                    <a:pt x="566" y="24"/>
                    <a:pt x="465" y="0"/>
                  </a:cubicBezTo>
                  <a:cubicBezTo>
                    <a:pt x="370" y="4"/>
                    <a:pt x="294" y="6"/>
                    <a:pt x="205" y="30"/>
                  </a:cubicBezTo>
                  <a:cubicBezTo>
                    <a:pt x="154" y="63"/>
                    <a:pt x="144" y="53"/>
                    <a:pt x="183" y="67"/>
                  </a:cubicBezTo>
                  <a:close/>
                </a:path>
              </a:pathLst>
            </a:custGeom>
            <a:noFill/>
            <a:ln w="19050">
              <a:solidFill>
                <a:srgbClr val="006699"/>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ctr" eaLnBrk="1" fontAlgn="auto" hangingPunct="1">
                <a:spcBef>
                  <a:spcPts val="0"/>
                </a:spcBef>
                <a:spcAft>
                  <a:spcPts val="0"/>
                </a:spcAft>
                <a:defRPr/>
              </a:pPr>
              <a:endParaRPr lang="zh-CN" altLang="en-US" b="0" kern="0">
                <a:solidFill>
                  <a:sysClr val="windowText" lastClr="000000"/>
                </a:solidFill>
              </a:endParaRPr>
            </a:p>
          </p:txBody>
        </p:sp>
      </p:grpSp>
      <p:grpSp>
        <p:nvGrpSpPr>
          <p:cNvPr id="7" name="Group 8"/>
          <p:cNvGrpSpPr/>
          <p:nvPr/>
        </p:nvGrpSpPr>
        <p:grpSpPr bwMode="auto">
          <a:xfrm>
            <a:off x="5799832" y="1311275"/>
            <a:ext cx="2222500" cy="1990725"/>
            <a:chOff x="4144" y="1265"/>
            <a:chExt cx="1400" cy="1254"/>
          </a:xfrm>
        </p:grpSpPr>
        <p:sp>
          <p:nvSpPr>
            <p:cNvPr id="8" name="Rectangle 9"/>
            <p:cNvSpPr>
              <a:spLocks noChangeArrowheads="1"/>
            </p:cNvSpPr>
            <p:nvPr/>
          </p:nvSpPr>
          <p:spPr bwMode="auto">
            <a:xfrm>
              <a:off x="4144" y="1265"/>
              <a:ext cx="1400" cy="1254"/>
            </a:xfrm>
            <a:prstGeom prst="rect">
              <a:avLst/>
            </a:prstGeom>
            <a:solidFill>
              <a:srgbClr val="FFFFFF"/>
            </a:solidFill>
            <a:ln w="0">
              <a:solidFill>
                <a:srgbClr val="000000"/>
              </a:solidFill>
              <a:miter lim="800000"/>
            </a:ln>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b="0">
                <a:solidFill>
                  <a:srgbClr val="000000"/>
                </a:solidFill>
              </a:endParaRPr>
            </a:p>
          </p:txBody>
        </p:sp>
        <p:sp>
          <p:nvSpPr>
            <p:cNvPr id="9" name="Rectangle 10"/>
            <p:cNvSpPr>
              <a:spLocks noChangeArrowheads="1"/>
            </p:cNvSpPr>
            <p:nvPr/>
          </p:nvSpPr>
          <p:spPr bwMode="auto">
            <a:xfrm>
              <a:off x="4278" y="1354"/>
              <a:ext cx="1201" cy="10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b="0">
                <a:solidFill>
                  <a:srgbClr val="000000"/>
                </a:solidFill>
              </a:endParaRPr>
            </a:p>
          </p:txBody>
        </p:sp>
        <p:sp>
          <p:nvSpPr>
            <p:cNvPr id="10" name="Line 11"/>
            <p:cNvSpPr>
              <a:spLocks noChangeShapeType="1"/>
            </p:cNvSpPr>
            <p:nvPr/>
          </p:nvSpPr>
          <p:spPr bwMode="auto">
            <a:xfrm>
              <a:off x="4278" y="2264"/>
              <a:ext cx="1201"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1" name="Line 12"/>
            <p:cNvSpPr>
              <a:spLocks noChangeShapeType="1"/>
            </p:cNvSpPr>
            <p:nvPr/>
          </p:nvSpPr>
          <p:spPr bwMode="auto">
            <a:xfrm>
              <a:off x="4278" y="2163"/>
              <a:ext cx="1201"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2" name="Line 13"/>
            <p:cNvSpPr>
              <a:spLocks noChangeShapeType="1"/>
            </p:cNvSpPr>
            <p:nvPr/>
          </p:nvSpPr>
          <p:spPr bwMode="auto">
            <a:xfrm>
              <a:off x="4278" y="2061"/>
              <a:ext cx="1201"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3" name="Line 14"/>
            <p:cNvSpPr>
              <a:spLocks noChangeShapeType="1"/>
            </p:cNvSpPr>
            <p:nvPr/>
          </p:nvSpPr>
          <p:spPr bwMode="auto">
            <a:xfrm>
              <a:off x="4278" y="1960"/>
              <a:ext cx="1201"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4" name="Line 15"/>
            <p:cNvSpPr>
              <a:spLocks noChangeShapeType="1"/>
            </p:cNvSpPr>
            <p:nvPr/>
          </p:nvSpPr>
          <p:spPr bwMode="auto">
            <a:xfrm>
              <a:off x="4278" y="1858"/>
              <a:ext cx="1201"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5" name="Line 16"/>
            <p:cNvSpPr>
              <a:spLocks noChangeShapeType="1"/>
            </p:cNvSpPr>
            <p:nvPr/>
          </p:nvSpPr>
          <p:spPr bwMode="auto">
            <a:xfrm>
              <a:off x="4278" y="1760"/>
              <a:ext cx="1201"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7" name="Line 17"/>
            <p:cNvSpPr>
              <a:spLocks noChangeShapeType="1"/>
            </p:cNvSpPr>
            <p:nvPr/>
          </p:nvSpPr>
          <p:spPr bwMode="auto">
            <a:xfrm>
              <a:off x="4278" y="1659"/>
              <a:ext cx="1201"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8" name="Line 18"/>
            <p:cNvSpPr>
              <a:spLocks noChangeShapeType="1"/>
            </p:cNvSpPr>
            <p:nvPr/>
          </p:nvSpPr>
          <p:spPr bwMode="auto">
            <a:xfrm>
              <a:off x="4278" y="1557"/>
              <a:ext cx="1201"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9" name="Line 19"/>
            <p:cNvSpPr>
              <a:spLocks noChangeShapeType="1"/>
            </p:cNvSpPr>
            <p:nvPr/>
          </p:nvSpPr>
          <p:spPr bwMode="auto">
            <a:xfrm>
              <a:off x="4278" y="1456"/>
              <a:ext cx="1201"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0" name="Line 20"/>
            <p:cNvSpPr>
              <a:spLocks noChangeShapeType="1"/>
            </p:cNvSpPr>
            <p:nvPr/>
          </p:nvSpPr>
          <p:spPr bwMode="auto">
            <a:xfrm>
              <a:off x="4278" y="1354"/>
              <a:ext cx="1201"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1" name="Line 21"/>
            <p:cNvSpPr>
              <a:spLocks noChangeShapeType="1"/>
            </p:cNvSpPr>
            <p:nvPr/>
          </p:nvSpPr>
          <p:spPr bwMode="auto">
            <a:xfrm>
              <a:off x="4399" y="1354"/>
              <a:ext cx="1" cy="10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2" name="Line 22"/>
            <p:cNvSpPr>
              <a:spLocks noChangeShapeType="1"/>
            </p:cNvSpPr>
            <p:nvPr/>
          </p:nvSpPr>
          <p:spPr bwMode="auto">
            <a:xfrm>
              <a:off x="4516" y="1354"/>
              <a:ext cx="1" cy="10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3" name="Line 23"/>
            <p:cNvSpPr>
              <a:spLocks noChangeShapeType="1"/>
            </p:cNvSpPr>
            <p:nvPr/>
          </p:nvSpPr>
          <p:spPr bwMode="auto">
            <a:xfrm>
              <a:off x="4638" y="1354"/>
              <a:ext cx="1" cy="10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4" name="Line 24"/>
            <p:cNvSpPr>
              <a:spLocks noChangeShapeType="1"/>
            </p:cNvSpPr>
            <p:nvPr/>
          </p:nvSpPr>
          <p:spPr bwMode="auto">
            <a:xfrm>
              <a:off x="4759" y="1354"/>
              <a:ext cx="1" cy="10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5" name="Line 25"/>
            <p:cNvSpPr>
              <a:spLocks noChangeShapeType="1"/>
            </p:cNvSpPr>
            <p:nvPr/>
          </p:nvSpPr>
          <p:spPr bwMode="auto">
            <a:xfrm>
              <a:off x="4880" y="1354"/>
              <a:ext cx="1" cy="10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6" name="Line 26"/>
            <p:cNvSpPr>
              <a:spLocks noChangeShapeType="1"/>
            </p:cNvSpPr>
            <p:nvPr/>
          </p:nvSpPr>
          <p:spPr bwMode="auto">
            <a:xfrm>
              <a:off x="4998" y="1354"/>
              <a:ext cx="1" cy="10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7" name="Line 27"/>
            <p:cNvSpPr>
              <a:spLocks noChangeShapeType="1"/>
            </p:cNvSpPr>
            <p:nvPr/>
          </p:nvSpPr>
          <p:spPr bwMode="auto">
            <a:xfrm>
              <a:off x="5119" y="1354"/>
              <a:ext cx="1" cy="10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8" name="Line 28"/>
            <p:cNvSpPr>
              <a:spLocks noChangeShapeType="1"/>
            </p:cNvSpPr>
            <p:nvPr/>
          </p:nvSpPr>
          <p:spPr bwMode="auto">
            <a:xfrm>
              <a:off x="5240" y="1354"/>
              <a:ext cx="1" cy="10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9" name="Line 29"/>
            <p:cNvSpPr>
              <a:spLocks noChangeShapeType="1"/>
            </p:cNvSpPr>
            <p:nvPr/>
          </p:nvSpPr>
          <p:spPr bwMode="auto">
            <a:xfrm>
              <a:off x="5358" y="1354"/>
              <a:ext cx="1" cy="10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0" name="Line 30"/>
            <p:cNvSpPr>
              <a:spLocks noChangeShapeType="1"/>
            </p:cNvSpPr>
            <p:nvPr/>
          </p:nvSpPr>
          <p:spPr bwMode="auto">
            <a:xfrm>
              <a:off x="5479" y="1354"/>
              <a:ext cx="1" cy="10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1" name="Rectangle 31"/>
            <p:cNvSpPr>
              <a:spLocks noChangeArrowheads="1"/>
            </p:cNvSpPr>
            <p:nvPr/>
          </p:nvSpPr>
          <p:spPr bwMode="auto">
            <a:xfrm>
              <a:off x="4278" y="1354"/>
              <a:ext cx="1201" cy="1012"/>
            </a:xfrm>
            <a:prstGeom prst="rect">
              <a:avLst/>
            </a:prstGeom>
            <a:noFill/>
            <a:ln w="635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b="0">
                <a:solidFill>
                  <a:srgbClr val="000000"/>
                </a:solidFill>
              </a:endParaRPr>
            </a:p>
          </p:txBody>
        </p:sp>
        <p:sp>
          <p:nvSpPr>
            <p:cNvPr id="32" name="Line 32"/>
            <p:cNvSpPr>
              <a:spLocks noChangeShapeType="1"/>
            </p:cNvSpPr>
            <p:nvPr/>
          </p:nvSpPr>
          <p:spPr bwMode="auto">
            <a:xfrm>
              <a:off x="4278" y="1354"/>
              <a:ext cx="1" cy="10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3" name="Line 33"/>
            <p:cNvSpPr>
              <a:spLocks noChangeShapeType="1"/>
            </p:cNvSpPr>
            <p:nvPr/>
          </p:nvSpPr>
          <p:spPr bwMode="auto">
            <a:xfrm>
              <a:off x="4266" y="2366"/>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4" name="Line 34"/>
            <p:cNvSpPr>
              <a:spLocks noChangeShapeType="1"/>
            </p:cNvSpPr>
            <p:nvPr/>
          </p:nvSpPr>
          <p:spPr bwMode="auto">
            <a:xfrm>
              <a:off x="4266" y="2264"/>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5" name="Line 35"/>
            <p:cNvSpPr>
              <a:spLocks noChangeShapeType="1"/>
            </p:cNvSpPr>
            <p:nvPr/>
          </p:nvSpPr>
          <p:spPr bwMode="auto">
            <a:xfrm>
              <a:off x="4266" y="2163"/>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6" name="Line 36"/>
            <p:cNvSpPr>
              <a:spLocks noChangeShapeType="1"/>
            </p:cNvSpPr>
            <p:nvPr/>
          </p:nvSpPr>
          <p:spPr bwMode="auto">
            <a:xfrm>
              <a:off x="4266" y="2061"/>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7" name="Line 37"/>
            <p:cNvSpPr>
              <a:spLocks noChangeShapeType="1"/>
            </p:cNvSpPr>
            <p:nvPr/>
          </p:nvSpPr>
          <p:spPr bwMode="auto">
            <a:xfrm>
              <a:off x="4266" y="1960"/>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8" name="Line 38"/>
            <p:cNvSpPr>
              <a:spLocks noChangeShapeType="1"/>
            </p:cNvSpPr>
            <p:nvPr/>
          </p:nvSpPr>
          <p:spPr bwMode="auto">
            <a:xfrm>
              <a:off x="4266" y="1858"/>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9" name="Line 39"/>
            <p:cNvSpPr>
              <a:spLocks noChangeShapeType="1"/>
            </p:cNvSpPr>
            <p:nvPr/>
          </p:nvSpPr>
          <p:spPr bwMode="auto">
            <a:xfrm>
              <a:off x="4266" y="1760"/>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0" name="Line 40"/>
            <p:cNvSpPr>
              <a:spLocks noChangeShapeType="1"/>
            </p:cNvSpPr>
            <p:nvPr/>
          </p:nvSpPr>
          <p:spPr bwMode="auto">
            <a:xfrm>
              <a:off x="4266" y="1659"/>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1" name="Line 41"/>
            <p:cNvSpPr>
              <a:spLocks noChangeShapeType="1"/>
            </p:cNvSpPr>
            <p:nvPr/>
          </p:nvSpPr>
          <p:spPr bwMode="auto">
            <a:xfrm>
              <a:off x="4266" y="1557"/>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2" name="Line 42"/>
            <p:cNvSpPr>
              <a:spLocks noChangeShapeType="1"/>
            </p:cNvSpPr>
            <p:nvPr/>
          </p:nvSpPr>
          <p:spPr bwMode="auto">
            <a:xfrm>
              <a:off x="4266" y="1456"/>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3" name="Line 43"/>
            <p:cNvSpPr>
              <a:spLocks noChangeShapeType="1"/>
            </p:cNvSpPr>
            <p:nvPr/>
          </p:nvSpPr>
          <p:spPr bwMode="auto">
            <a:xfrm>
              <a:off x="4266" y="1354"/>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4" name="Line 44"/>
            <p:cNvSpPr>
              <a:spLocks noChangeShapeType="1"/>
            </p:cNvSpPr>
            <p:nvPr/>
          </p:nvSpPr>
          <p:spPr bwMode="auto">
            <a:xfrm>
              <a:off x="4278" y="2366"/>
              <a:ext cx="1201"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5" name="Line 45"/>
            <p:cNvSpPr>
              <a:spLocks noChangeShapeType="1"/>
            </p:cNvSpPr>
            <p:nvPr/>
          </p:nvSpPr>
          <p:spPr bwMode="auto">
            <a:xfrm flipV="1">
              <a:off x="4278" y="2366"/>
              <a:ext cx="1" cy="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6" name="Line 46"/>
            <p:cNvSpPr>
              <a:spLocks noChangeShapeType="1"/>
            </p:cNvSpPr>
            <p:nvPr/>
          </p:nvSpPr>
          <p:spPr bwMode="auto">
            <a:xfrm flipV="1">
              <a:off x="4399" y="2366"/>
              <a:ext cx="1" cy="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7" name="Line 47"/>
            <p:cNvSpPr>
              <a:spLocks noChangeShapeType="1"/>
            </p:cNvSpPr>
            <p:nvPr/>
          </p:nvSpPr>
          <p:spPr bwMode="auto">
            <a:xfrm flipV="1">
              <a:off x="4516" y="2366"/>
              <a:ext cx="1" cy="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8" name="Line 48"/>
            <p:cNvSpPr>
              <a:spLocks noChangeShapeType="1"/>
            </p:cNvSpPr>
            <p:nvPr/>
          </p:nvSpPr>
          <p:spPr bwMode="auto">
            <a:xfrm flipV="1">
              <a:off x="4638" y="2366"/>
              <a:ext cx="1" cy="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9" name="Line 49"/>
            <p:cNvSpPr>
              <a:spLocks noChangeShapeType="1"/>
            </p:cNvSpPr>
            <p:nvPr/>
          </p:nvSpPr>
          <p:spPr bwMode="auto">
            <a:xfrm flipV="1">
              <a:off x="4759" y="2366"/>
              <a:ext cx="1" cy="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0" name="Line 50"/>
            <p:cNvSpPr>
              <a:spLocks noChangeShapeType="1"/>
            </p:cNvSpPr>
            <p:nvPr/>
          </p:nvSpPr>
          <p:spPr bwMode="auto">
            <a:xfrm flipV="1">
              <a:off x="4880" y="2366"/>
              <a:ext cx="1" cy="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1" name="Line 51"/>
            <p:cNvSpPr>
              <a:spLocks noChangeShapeType="1"/>
            </p:cNvSpPr>
            <p:nvPr/>
          </p:nvSpPr>
          <p:spPr bwMode="auto">
            <a:xfrm flipV="1">
              <a:off x="4998" y="2366"/>
              <a:ext cx="1" cy="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2" name="Line 52"/>
            <p:cNvSpPr>
              <a:spLocks noChangeShapeType="1"/>
            </p:cNvSpPr>
            <p:nvPr/>
          </p:nvSpPr>
          <p:spPr bwMode="auto">
            <a:xfrm flipV="1">
              <a:off x="5119" y="2366"/>
              <a:ext cx="1" cy="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3" name="Line 53"/>
            <p:cNvSpPr>
              <a:spLocks noChangeShapeType="1"/>
            </p:cNvSpPr>
            <p:nvPr/>
          </p:nvSpPr>
          <p:spPr bwMode="auto">
            <a:xfrm flipV="1">
              <a:off x="5240" y="2366"/>
              <a:ext cx="1" cy="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4" name="Line 54"/>
            <p:cNvSpPr>
              <a:spLocks noChangeShapeType="1"/>
            </p:cNvSpPr>
            <p:nvPr/>
          </p:nvSpPr>
          <p:spPr bwMode="auto">
            <a:xfrm flipV="1">
              <a:off x="5358" y="2366"/>
              <a:ext cx="1" cy="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5" name="Line 55"/>
            <p:cNvSpPr>
              <a:spLocks noChangeShapeType="1"/>
            </p:cNvSpPr>
            <p:nvPr/>
          </p:nvSpPr>
          <p:spPr bwMode="auto">
            <a:xfrm flipV="1">
              <a:off x="5479" y="2366"/>
              <a:ext cx="1" cy="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6" name="Freeform 56"/>
            <p:cNvSpPr/>
            <p:nvPr/>
          </p:nvSpPr>
          <p:spPr bwMode="auto">
            <a:xfrm>
              <a:off x="4609" y="1930"/>
              <a:ext cx="57" cy="59"/>
            </a:xfrm>
            <a:custGeom>
              <a:avLst/>
              <a:gdLst>
                <a:gd name="T0" fmla="*/ 29 w 57"/>
                <a:gd name="T1" fmla="*/ 0 h 59"/>
                <a:gd name="T2" fmla="*/ 57 w 57"/>
                <a:gd name="T3" fmla="*/ 30 h 59"/>
                <a:gd name="T4" fmla="*/ 29 w 57"/>
                <a:gd name="T5" fmla="*/ 59 h 59"/>
                <a:gd name="T6" fmla="*/ 0 w 57"/>
                <a:gd name="T7" fmla="*/ 30 h 59"/>
                <a:gd name="T8" fmla="*/ 29 w 57"/>
                <a:gd name="T9" fmla="*/ 0 h 59"/>
                <a:gd name="T10" fmla="*/ 0 60000 65536"/>
                <a:gd name="T11" fmla="*/ 0 60000 65536"/>
                <a:gd name="T12" fmla="*/ 0 60000 65536"/>
                <a:gd name="T13" fmla="*/ 0 60000 65536"/>
                <a:gd name="T14" fmla="*/ 0 60000 65536"/>
                <a:gd name="T15" fmla="*/ 0 w 57"/>
                <a:gd name="T16" fmla="*/ 0 h 59"/>
                <a:gd name="T17" fmla="*/ 57 w 57"/>
                <a:gd name="T18" fmla="*/ 59 h 59"/>
              </a:gdLst>
              <a:ahLst/>
              <a:cxnLst>
                <a:cxn ang="T10">
                  <a:pos x="T0" y="T1"/>
                </a:cxn>
                <a:cxn ang="T11">
                  <a:pos x="T2" y="T3"/>
                </a:cxn>
                <a:cxn ang="T12">
                  <a:pos x="T4" y="T5"/>
                </a:cxn>
                <a:cxn ang="T13">
                  <a:pos x="T6" y="T7"/>
                </a:cxn>
                <a:cxn ang="T14">
                  <a:pos x="T8" y="T9"/>
                </a:cxn>
              </a:cxnLst>
              <a:rect l="T15" t="T16" r="T17" b="T18"/>
              <a:pathLst>
                <a:path w="57" h="59">
                  <a:moveTo>
                    <a:pt x="29" y="0"/>
                  </a:moveTo>
                  <a:lnTo>
                    <a:pt x="57" y="30"/>
                  </a:lnTo>
                  <a:lnTo>
                    <a:pt x="29" y="59"/>
                  </a:lnTo>
                  <a:lnTo>
                    <a:pt x="0" y="30"/>
                  </a:lnTo>
                  <a:lnTo>
                    <a:pt x="29"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7" name="Freeform 57"/>
            <p:cNvSpPr/>
            <p:nvPr/>
          </p:nvSpPr>
          <p:spPr bwMode="auto">
            <a:xfrm>
              <a:off x="4609" y="1731"/>
              <a:ext cx="57" cy="59"/>
            </a:xfrm>
            <a:custGeom>
              <a:avLst/>
              <a:gdLst>
                <a:gd name="T0" fmla="*/ 29 w 57"/>
                <a:gd name="T1" fmla="*/ 0 h 59"/>
                <a:gd name="T2" fmla="*/ 57 w 57"/>
                <a:gd name="T3" fmla="*/ 29 h 59"/>
                <a:gd name="T4" fmla="*/ 29 w 57"/>
                <a:gd name="T5" fmla="*/ 59 h 59"/>
                <a:gd name="T6" fmla="*/ 0 w 57"/>
                <a:gd name="T7" fmla="*/ 29 h 59"/>
                <a:gd name="T8" fmla="*/ 29 w 57"/>
                <a:gd name="T9" fmla="*/ 0 h 59"/>
                <a:gd name="T10" fmla="*/ 0 60000 65536"/>
                <a:gd name="T11" fmla="*/ 0 60000 65536"/>
                <a:gd name="T12" fmla="*/ 0 60000 65536"/>
                <a:gd name="T13" fmla="*/ 0 60000 65536"/>
                <a:gd name="T14" fmla="*/ 0 60000 65536"/>
                <a:gd name="T15" fmla="*/ 0 w 57"/>
                <a:gd name="T16" fmla="*/ 0 h 59"/>
                <a:gd name="T17" fmla="*/ 57 w 57"/>
                <a:gd name="T18" fmla="*/ 59 h 59"/>
              </a:gdLst>
              <a:ahLst/>
              <a:cxnLst>
                <a:cxn ang="T10">
                  <a:pos x="T0" y="T1"/>
                </a:cxn>
                <a:cxn ang="T11">
                  <a:pos x="T2" y="T3"/>
                </a:cxn>
                <a:cxn ang="T12">
                  <a:pos x="T4" y="T5"/>
                </a:cxn>
                <a:cxn ang="T13">
                  <a:pos x="T6" y="T7"/>
                </a:cxn>
                <a:cxn ang="T14">
                  <a:pos x="T8" y="T9"/>
                </a:cxn>
              </a:cxnLst>
              <a:rect l="T15" t="T16" r="T17" b="T18"/>
              <a:pathLst>
                <a:path w="57" h="59">
                  <a:moveTo>
                    <a:pt x="29" y="0"/>
                  </a:moveTo>
                  <a:lnTo>
                    <a:pt x="57" y="29"/>
                  </a:lnTo>
                  <a:lnTo>
                    <a:pt x="29" y="59"/>
                  </a:lnTo>
                  <a:lnTo>
                    <a:pt x="0" y="29"/>
                  </a:lnTo>
                  <a:lnTo>
                    <a:pt x="29"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8" name="Freeform 58"/>
            <p:cNvSpPr/>
            <p:nvPr/>
          </p:nvSpPr>
          <p:spPr bwMode="auto">
            <a:xfrm>
              <a:off x="5091" y="2032"/>
              <a:ext cx="56" cy="59"/>
            </a:xfrm>
            <a:custGeom>
              <a:avLst/>
              <a:gdLst>
                <a:gd name="T0" fmla="*/ 28 w 56"/>
                <a:gd name="T1" fmla="*/ 0 h 59"/>
                <a:gd name="T2" fmla="*/ 56 w 56"/>
                <a:gd name="T3" fmla="*/ 29 h 59"/>
                <a:gd name="T4" fmla="*/ 28 w 56"/>
                <a:gd name="T5" fmla="*/ 59 h 59"/>
                <a:gd name="T6" fmla="*/ 0 w 56"/>
                <a:gd name="T7" fmla="*/ 29 h 59"/>
                <a:gd name="T8" fmla="*/ 28 w 56"/>
                <a:gd name="T9" fmla="*/ 0 h 59"/>
                <a:gd name="T10" fmla="*/ 0 60000 65536"/>
                <a:gd name="T11" fmla="*/ 0 60000 65536"/>
                <a:gd name="T12" fmla="*/ 0 60000 65536"/>
                <a:gd name="T13" fmla="*/ 0 60000 65536"/>
                <a:gd name="T14" fmla="*/ 0 60000 65536"/>
                <a:gd name="T15" fmla="*/ 0 w 56"/>
                <a:gd name="T16" fmla="*/ 0 h 59"/>
                <a:gd name="T17" fmla="*/ 56 w 56"/>
                <a:gd name="T18" fmla="*/ 59 h 59"/>
              </a:gdLst>
              <a:ahLst/>
              <a:cxnLst>
                <a:cxn ang="T10">
                  <a:pos x="T0" y="T1"/>
                </a:cxn>
                <a:cxn ang="T11">
                  <a:pos x="T2" y="T3"/>
                </a:cxn>
                <a:cxn ang="T12">
                  <a:pos x="T4" y="T5"/>
                </a:cxn>
                <a:cxn ang="T13">
                  <a:pos x="T6" y="T7"/>
                </a:cxn>
                <a:cxn ang="T14">
                  <a:pos x="T8" y="T9"/>
                </a:cxn>
              </a:cxnLst>
              <a:rect l="T15" t="T16" r="T17" b="T18"/>
              <a:pathLst>
                <a:path w="56" h="59">
                  <a:moveTo>
                    <a:pt x="28" y="0"/>
                  </a:moveTo>
                  <a:lnTo>
                    <a:pt x="56" y="29"/>
                  </a:lnTo>
                  <a:lnTo>
                    <a:pt x="28" y="59"/>
                  </a:lnTo>
                  <a:lnTo>
                    <a:pt x="0" y="29"/>
                  </a:lnTo>
                  <a:lnTo>
                    <a:pt x="28" y="0"/>
                  </a:lnTo>
                  <a:close/>
                </a:path>
              </a:pathLst>
            </a:custGeom>
            <a:solidFill>
              <a:srgbClr val="000080"/>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9" name="Freeform 59"/>
            <p:cNvSpPr/>
            <p:nvPr/>
          </p:nvSpPr>
          <p:spPr bwMode="auto">
            <a:xfrm>
              <a:off x="4731" y="1629"/>
              <a:ext cx="56" cy="59"/>
            </a:xfrm>
            <a:custGeom>
              <a:avLst/>
              <a:gdLst>
                <a:gd name="T0" fmla="*/ 28 w 56"/>
                <a:gd name="T1" fmla="*/ 0 h 59"/>
                <a:gd name="T2" fmla="*/ 56 w 56"/>
                <a:gd name="T3" fmla="*/ 30 h 59"/>
                <a:gd name="T4" fmla="*/ 28 w 56"/>
                <a:gd name="T5" fmla="*/ 59 h 59"/>
                <a:gd name="T6" fmla="*/ 0 w 56"/>
                <a:gd name="T7" fmla="*/ 30 h 59"/>
                <a:gd name="T8" fmla="*/ 28 w 56"/>
                <a:gd name="T9" fmla="*/ 0 h 59"/>
                <a:gd name="T10" fmla="*/ 0 60000 65536"/>
                <a:gd name="T11" fmla="*/ 0 60000 65536"/>
                <a:gd name="T12" fmla="*/ 0 60000 65536"/>
                <a:gd name="T13" fmla="*/ 0 60000 65536"/>
                <a:gd name="T14" fmla="*/ 0 60000 65536"/>
                <a:gd name="T15" fmla="*/ 0 w 56"/>
                <a:gd name="T16" fmla="*/ 0 h 59"/>
                <a:gd name="T17" fmla="*/ 56 w 56"/>
                <a:gd name="T18" fmla="*/ 59 h 59"/>
              </a:gdLst>
              <a:ahLst/>
              <a:cxnLst>
                <a:cxn ang="T10">
                  <a:pos x="T0" y="T1"/>
                </a:cxn>
                <a:cxn ang="T11">
                  <a:pos x="T2" y="T3"/>
                </a:cxn>
                <a:cxn ang="T12">
                  <a:pos x="T4" y="T5"/>
                </a:cxn>
                <a:cxn ang="T13">
                  <a:pos x="T6" y="T7"/>
                </a:cxn>
                <a:cxn ang="T14">
                  <a:pos x="T8" y="T9"/>
                </a:cxn>
              </a:cxnLst>
              <a:rect l="T15" t="T16" r="T17" b="T18"/>
              <a:pathLst>
                <a:path w="56" h="59">
                  <a:moveTo>
                    <a:pt x="28" y="0"/>
                  </a:moveTo>
                  <a:lnTo>
                    <a:pt x="56" y="30"/>
                  </a:lnTo>
                  <a:lnTo>
                    <a:pt x="28" y="59"/>
                  </a:lnTo>
                  <a:lnTo>
                    <a:pt x="0" y="30"/>
                  </a:lnTo>
                  <a:lnTo>
                    <a:pt x="28"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60" name="Freeform 60"/>
            <p:cNvSpPr/>
            <p:nvPr/>
          </p:nvSpPr>
          <p:spPr bwMode="auto">
            <a:xfrm>
              <a:off x="4609" y="1528"/>
              <a:ext cx="57" cy="59"/>
            </a:xfrm>
            <a:custGeom>
              <a:avLst/>
              <a:gdLst>
                <a:gd name="T0" fmla="*/ 29 w 57"/>
                <a:gd name="T1" fmla="*/ 0 h 59"/>
                <a:gd name="T2" fmla="*/ 57 w 57"/>
                <a:gd name="T3" fmla="*/ 29 h 59"/>
                <a:gd name="T4" fmla="*/ 29 w 57"/>
                <a:gd name="T5" fmla="*/ 59 h 59"/>
                <a:gd name="T6" fmla="*/ 0 w 57"/>
                <a:gd name="T7" fmla="*/ 29 h 59"/>
                <a:gd name="T8" fmla="*/ 29 w 57"/>
                <a:gd name="T9" fmla="*/ 0 h 59"/>
                <a:gd name="T10" fmla="*/ 0 60000 65536"/>
                <a:gd name="T11" fmla="*/ 0 60000 65536"/>
                <a:gd name="T12" fmla="*/ 0 60000 65536"/>
                <a:gd name="T13" fmla="*/ 0 60000 65536"/>
                <a:gd name="T14" fmla="*/ 0 60000 65536"/>
                <a:gd name="T15" fmla="*/ 0 w 57"/>
                <a:gd name="T16" fmla="*/ 0 h 59"/>
                <a:gd name="T17" fmla="*/ 57 w 57"/>
                <a:gd name="T18" fmla="*/ 59 h 59"/>
              </a:gdLst>
              <a:ahLst/>
              <a:cxnLst>
                <a:cxn ang="T10">
                  <a:pos x="T0" y="T1"/>
                </a:cxn>
                <a:cxn ang="T11">
                  <a:pos x="T2" y="T3"/>
                </a:cxn>
                <a:cxn ang="T12">
                  <a:pos x="T4" y="T5"/>
                </a:cxn>
                <a:cxn ang="T13">
                  <a:pos x="T6" y="T7"/>
                </a:cxn>
                <a:cxn ang="T14">
                  <a:pos x="T8" y="T9"/>
                </a:cxn>
              </a:cxnLst>
              <a:rect l="T15" t="T16" r="T17" b="T18"/>
              <a:pathLst>
                <a:path w="57" h="59">
                  <a:moveTo>
                    <a:pt x="29" y="0"/>
                  </a:moveTo>
                  <a:lnTo>
                    <a:pt x="57" y="29"/>
                  </a:lnTo>
                  <a:lnTo>
                    <a:pt x="29" y="59"/>
                  </a:lnTo>
                  <a:lnTo>
                    <a:pt x="0" y="29"/>
                  </a:lnTo>
                  <a:lnTo>
                    <a:pt x="29"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61" name="Freeform 61"/>
            <p:cNvSpPr/>
            <p:nvPr/>
          </p:nvSpPr>
          <p:spPr bwMode="auto">
            <a:xfrm>
              <a:off x="5212" y="1832"/>
              <a:ext cx="57" cy="60"/>
            </a:xfrm>
            <a:custGeom>
              <a:avLst/>
              <a:gdLst>
                <a:gd name="T0" fmla="*/ 28 w 57"/>
                <a:gd name="T1" fmla="*/ 0 h 60"/>
                <a:gd name="T2" fmla="*/ 57 w 57"/>
                <a:gd name="T3" fmla="*/ 30 h 60"/>
                <a:gd name="T4" fmla="*/ 28 w 57"/>
                <a:gd name="T5" fmla="*/ 60 h 60"/>
                <a:gd name="T6" fmla="*/ 0 w 57"/>
                <a:gd name="T7" fmla="*/ 30 h 60"/>
                <a:gd name="T8" fmla="*/ 28 w 57"/>
                <a:gd name="T9" fmla="*/ 0 h 60"/>
                <a:gd name="T10" fmla="*/ 0 60000 65536"/>
                <a:gd name="T11" fmla="*/ 0 60000 65536"/>
                <a:gd name="T12" fmla="*/ 0 60000 65536"/>
                <a:gd name="T13" fmla="*/ 0 60000 65536"/>
                <a:gd name="T14" fmla="*/ 0 60000 65536"/>
                <a:gd name="T15" fmla="*/ 0 w 57"/>
                <a:gd name="T16" fmla="*/ 0 h 60"/>
                <a:gd name="T17" fmla="*/ 57 w 57"/>
                <a:gd name="T18" fmla="*/ 60 h 60"/>
              </a:gdLst>
              <a:ahLst/>
              <a:cxnLst>
                <a:cxn ang="T10">
                  <a:pos x="T0" y="T1"/>
                </a:cxn>
                <a:cxn ang="T11">
                  <a:pos x="T2" y="T3"/>
                </a:cxn>
                <a:cxn ang="T12">
                  <a:pos x="T4" y="T5"/>
                </a:cxn>
                <a:cxn ang="T13">
                  <a:pos x="T6" y="T7"/>
                </a:cxn>
                <a:cxn ang="T14">
                  <a:pos x="T8" y="T9"/>
                </a:cxn>
              </a:cxnLst>
              <a:rect l="T15" t="T16" r="T17" b="T18"/>
              <a:pathLst>
                <a:path w="57" h="60">
                  <a:moveTo>
                    <a:pt x="28" y="0"/>
                  </a:moveTo>
                  <a:lnTo>
                    <a:pt x="57" y="30"/>
                  </a:lnTo>
                  <a:lnTo>
                    <a:pt x="28" y="60"/>
                  </a:lnTo>
                  <a:lnTo>
                    <a:pt x="0" y="30"/>
                  </a:lnTo>
                  <a:lnTo>
                    <a:pt x="28" y="0"/>
                  </a:lnTo>
                  <a:close/>
                </a:path>
              </a:pathLst>
            </a:custGeom>
            <a:solidFill>
              <a:srgbClr val="000080"/>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62" name="Freeform 62"/>
            <p:cNvSpPr/>
            <p:nvPr/>
          </p:nvSpPr>
          <p:spPr bwMode="auto">
            <a:xfrm>
              <a:off x="4731" y="1832"/>
              <a:ext cx="56" cy="60"/>
            </a:xfrm>
            <a:custGeom>
              <a:avLst/>
              <a:gdLst>
                <a:gd name="T0" fmla="*/ 28 w 56"/>
                <a:gd name="T1" fmla="*/ 0 h 60"/>
                <a:gd name="T2" fmla="*/ 56 w 56"/>
                <a:gd name="T3" fmla="*/ 30 h 60"/>
                <a:gd name="T4" fmla="*/ 28 w 56"/>
                <a:gd name="T5" fmla="*/ 60 h 60"/>
                <a:gd name="T6" fmla="*/ 0 w 56"/>
                <a:gd name="T7" fmla="*/ 30 h 60"/>
                <a:gd name="T8" fmla="*/ 28 w 56"/>
                <a:gd name="T9" fmla="*/ 0 h 60"/>
                <a:gd name="T10" fmla="*/ 0 60000 65536"/>
                <a:gd name="T11" fmla="*/ 0 60000 65536"/>
                <a:gd name="T12" fmla="*/ 0 60000 65536"/>
                <a:gd name="T13" fmla="*/ 0 60000 65536"/>
                <a:gd name="T14" fmla="*/ 0 60000 65536"/>
                <a:gd name="T15" fmla="*/ 0 w 56"/>
                <a:gd name="T16" fmla="*/ 0 h 60"/>
                <a:gd name="T17" fmla="*/ 56 w 56"/>
                <a:gd name="T18" fmla="*/ 60 h 60"/>
              </a:gdLst>
              <a:ahLst/>
              <a:cxnLst>
                <a:cxn ang="T10">
                  <a:pos x="T0" y="T1"/>
                </a:cxn>
                <a:cxn ang="T11">
                  <a:pos x="T2" y="T3"/>
                </a:cxn>
                <a:cxn ang="T12">
                  <a:pos x="T4" y="T5"/>
                </a:cxn>
                <a:cxn ang="T13">
                  <a:pos x="T6" y="T7"/>
                </a:cxn>
                <a:cxn ang="T14">
                  <a:pos x="T8" y="T9"/>
                </a:cxn>
              </a:cxnLst>
              <a:rect l="T15" t="T16" r="T17" b="T18"/>
              <a:pathLst>
                <a:path w="56" h="60">
                  <a:moveTo>
                    <a:pt x="28" y="0"/>
                  </a:moveTo>
                  <a:lnTo>
                    <a:pt x="56" y="30"/>
                  </a:lnTo>
                  <a:lnTo>
                    <a:pt x="28" y="60"/>
                  </a:lnTo>
                  <a:lnTo>
                    <a:pt x="0" y="30"/>
                  </a:lnTo>
                  <a:lnTo>
                    <a:pt x="28"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63" name="Freeform 63"/>
            <p:cNvSpPr/>
            <p:nvPr/>
          </p:nvSpPr>
          <p:spPr bwMode="auto">
            <a:xfrm>
              <a:off x="4852" y="2235"/>
              <a:ext cx="57" cy="59"/>
            </a:xfrm>
            <a:custGeom>
              <a:avLst/>
              <a:gdLst>
                <a:gd name="T0" fmla="*/ 28 w 57"/>
                <a:gd name="T1" fmla="*/ 0 h 59"/>
                <a:gd name="T2" fmla="*/ 57 w 57"/>
                <a:gd name="T3" fmla="*/ 29 h 59"/>
                <a:gd name="T4" fmla="*/ 28 w 57"/>
                <a:gd name="T5" fmla="*/ 59 h 59"/>
                <a:gd name="T6" fmla="*/ 0 w 57"/>
                <a:gd name="T7" fmla="*/ 29 h 59"/>
                <a:gd name="T8" fmla="*/ 28 w 57"/>
                <a:gd name="T9" fmla="*/ 0 h 59"/>
                <a:gd name="T10" fmla="*/ 0 60000 65536"/>
                <a:gd name="T11" fmla="*/ 0 60000 65536"/>
                <a:gd name="T12" fmla="*/ 0 60000 65536"/>
                <a:gd name="T13" fmla="*/ 0 60000 65536"/>
                <a:gd name="T14" fmla="*/ 0 60000 65536"/>
                <a:gd name="T15" fmla="*/ 0 w 57"/>
                <a:gd name="T16" fmla="*/ 0 h 59"/>
                <a:gd name="T17" fmla="*/ 57 w 57"/>
                <a:gd name="T18" fmla="*/ 59 h 59"/>
              </a:gdLst>
              <a:ahLst/>
              <a:cxnLst>
                <a:cxn ang="T10">
                  <a:pos x="T0" y="T1"/>
                </a:cxn>
                <a:cxn ang="T11">
                  <a:pos x="T2" y="T3"/>
                </a:cxn>
                <a:cxn ang="T12">
                  <a:pos x="T4" y="T5"/>
                </a:cxn>
                <a:cxn ang="T13">
                  <a:pos x="T6" y="T7"/>
                </a:cxn>
                <a:cxn ang="T14">
                  <a:pos x="T8" y="T9"/>
                </a:cxn>
              </a:cxnLst>
              <a:rect l="T15" t="T16" r="T17" b="T18"/>
              <a:pathLst>
                <a:path w="57" h="59">
                  <a:moveTo>
                    <a:pt x="28" y="0"/>
                  </a:moveTo>
                  <a:lnTo>
                    <a:pt x="57" y="29"/>
                  </a:lnTo>
                  <a:lnTo>
                    <a:pt x="28" y="59"/>
                  </a:lnTo>
                  <a:lnTo>
                    <a:pt x="0" y="29"/>
                  </a:lnTo>
                  <a:lnTo>
                    <a:pt x="28"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64" name="Freeform 64"/>
            <p:cNvSpPr/>
            <p:nvPr/>
          </p:nvSpPr>
          <p:spPr bwMode="auto">
            <a:xfrm>
              <a:off x="5091" y="1930"/>
              <a:ext cx="56" cy="59"/>
            </a:xfrm>
            <a:custGeom>
              <a:avLst/>
              <a:gdLst>
                <a:gd name="T0" fmla="*/ 28 w 56"/>
                <a:gd name="T1" fmla="*/ 0 h 59"/>
                <a:gd name="T2" fmla="*/ 56 w 56"/>
                <a:gd name="T3" fmla="*/ 30 h 59"/>
                <a:gd name="T4" fmla="*/ 28 w 56"/>
                <a:gd name="T5" fmla="*/ 59 h 59"/>
                <a:gd name="T6" fmla="*/ 0 w 56"/>
                <a:gd name="T7" fmla="*/ 30 h 59"/>
                <a:gd name="T8" fmla="*/ 28 w 56"/>
                <a:gd name="T9" fmla="*/ 0 h 59"/>
                <a:gd name="T10" fmla="*/ 0 60000 65536"/>
                <a:gd name="T11" fmla="*/ 0 60000 65536"/>
                <a:gd name="T12" fmla="*/ 0 60000 65536"/>
                <a:gd name="T13" fmla="*/ 0 60000 65536"/>
                <a:gd name="T14" fmla="*/ 0 60000 65536"/>
                <a:gd name="T15" fmla="*/ 0 w 56"/>
                <a:gd name="T16" fmla="*/ 0 h 59"/>
                <a:gd name="T17" fmla="*/ 56 w 56"/>
                <a:gd name="T18" fmla="*/ 59 h 59"/>
              </a:gdLst>
              <a:ahLst/>
              <a:cxnLst>
                <a:cxn ang="T10">
                  <a:pos x="T0" y="T1"/>
                </a:cxn>
                <a:cxn ang="T11">
                  <a:pos x="T2" y="T3"/>
                </a:cxn>
                <a:cxn ang="T12">
                  <a:pos x="T4" y="T5"/>
                </a:cxn>
                <a:cxn ang="T13">
                  <a:pos x="T6" y="T7"/>
                </a:cxn>
                <a:cxn ang="T14">
                  <a:pos x="T8" y="T9"/>
                </a:cxn>
              </a:cxnLst>
              <a:rect l="T15" t="T16" r="T17" b="T18"/>
              <a:pathLst>
                <a:path w="56" h="59">
                  <a:moveTo>
                    <a:pt x="28" y="0"/>
                  </a:moveTo>
                  <a:lnTo>
                    <a:pt x="56" y="30"/>
                  </a:lnTo>
                  <a:lnTo>
                    <a:pt x="28" y="59"/>
                  </a:lnTo>
                  <a:lnTo>
                    <a:pt x="0" y="30"/>
                  </a:lnTo>
                  <a:lnTo>
                    <a:pt x="28" y="0"/>
                  </a:lnTo>
                  <a:close/>
                </a:path>
              </a:pathLst>
            </a:custGeom>
            <a:solidFill>
              <a:srgbClr val="000080"/>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65" name="Freeform 65"/>
            <p:cNvSpPr/>
            <p:nvPr/>
          </p:nvSpPr>
          <p:spPr bwMode="auto">
            <a:xfrm>
              <a:off x="4852" y="1832"/>
              <a:ext cx="57" cy="60"/>
            </a:xfrm>
            <a:custGeom>
              <a:avLst/>
              <a:gdLst>
                <a:gd name="T0" fmla="*/ 28 w 57"/>
                <a:gd name="T1" fmla="*/ 0 h 60"/>
                <a:gd name="T2" fmla="*/ 57 w 57"/>
                <a:gd name="T3" fmla="*/ 30 h 60"/>
                <a:gd name="T4" fmla="*/ 28 w 57"/>
                <a:gd name="T5" fmla="*/ 60 h 60"/>
                <a:gd name="T6" fmla="*/ 0 w 57"/>
                <a:gd name="T7" fmla="*/ 30 h 60"/>
                <a:gd name="T8" fmla="*/ 28 w 57"/>
                <a:gd name="T9" fmla="*/ 0 h 60"/>
                <a:gd name="T10" fmla="*/ 0 60000 65536"/>
                <a:gd name="T11" fmla="*/ 0 60000 65536"/>
                <a:gd name="T12" fmla="*/ 0 60000 65536"/>
                <a:gd name="T13" fmla="*/ 0 60000 65536"/>
                <a:gd name="T14" fmla="*/ 0 60000 65536"/>
                <a:gd name="T15" fmla="*/ 0 w 57"/>
                <a:gd name="T16" fmla="*/ 0 h 60"/>
                <a:gd name="T17" fmla="*/ 57 w 57"/>
                <a:gd name="T18" fmla="*/ 60 h 60"/>
              </a:gdLst>
              <a:ahLst/>
              <a:cxnLst>
                <a:cxn ang="T10">
                  <a:pos x="T0" y="T1"/>
                </a:cxn>
                <a:cxn ang="T11">
                  <a:pos x="T2" y="T3"/>
                </a:cxn>
                <a:cxn ang="T12">
                  <a:pos x="T4" y="T5"/>
                </a:cxn>
                <a:cxn ang="T13">
                  <a:pos x="T6" y="T7"/>
                </a:cxn>
                <a:cxn ang="T14">
                  <a:pos x="T8" y="T9"/>
                </a:cxn>
              </a:cxnLst>
              <a:rect l="T15" t="T16" r="T17" b="T18"/>
              <a:pathLst>
                <a:path w="57" h="60">
                  <a:moveTo>
                    <a:pt x="28" y="0"/>
                  </a:moveTo>
                  <a:lnTo>
                    <a:pt x="57" y="30"/>
                  </a:lnTo>
                  <a:lnTo>
                    <a:pt x="28" y="60"/>
                  </a:lnTo>
                  <a:lnTo>
                    <a:pt x="0" y="30"/>
                  </a:lnTo>
                  <a:lnTo>
                    <a:pt x="28" y="0"/>
                  </a:lnTo>
                  <a:close/>
                </a:path>
              </a:pathLst>
            </a:custGeom>
            <a:solidFill>
              <a:srgbClr val="000080"/>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66" name="Oval 66"/>
            <p:cNvSpPr>
              <a:spLocks noChangeArrowheads="1"/>
            </p:cNvSpPr>
            <p:nvPr/>
          </p:nvSpPr>
          <p:spPr bwMode="auto">
            <a:xfrm>
              <a:off x="4686" y="1811"/>
              <a:ext cx="53" cy="55"/>
            </a:xfrm>
            <a:prstGeom prst="ellipse">
              <a:avLst/>
            </a:prstGeom>
            <a:solidFill>
              <a:srgbClr val="FF0000"/>
            </a:solidFill>
            <a:ln w="6350">
              <a:solidFill>
                <a:srgbClr val="FF0000"/>
              </a:solidFill>
              <a:round/>
            </a:ln>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b="0">
                <a:solidFill>
                  <a:srgbClr val="000000"/>
                </a:solidFill>
              </a:endParaRPr>
            </a:p>
          </p:txBody>
        </p:sp>
        <p:sp>
          <p:nvSpPr>
            <p:cNvPr id="67" name="Oval 67"/>
            <p:cNvSpPr>
              <a:spLocks noChangeArrowheads="1"/>
            </p:cNvSpPr>
            <p:nvPr/>
          </p:nvSpPr>
          <p:spPr bwMode="auto">
            <a:xfrm>
              <a:off x="5054" y="1900"/>
              <a:ext cx="53" cy="55"/>
            </a:xfrm>
            <a:prstGeom prst="ellipse">
              <a:avLst/>
            </a:prstGeom>
            <a:solidFill>
              <a:srgbClr val="FF0000"/>
            </a:solidFill>
            <a:ln w="6350">
              <a:solidFill>
                <a:srgbClr val="FF0000"/>
              </a:solidFill>
              <a:round/>
            </a:ln>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b="0">
                <a:solidFill>
                  <a:srgbClr val="000000"/>
                </a:solidFill>
              </a:endParaRPr>
            </a:p>
          </p:txBody>
        </p:sp>
        <p:sp>
          <p:nvSpPr>
            <p:cNvPr id="68" name="Rectangle 68"/>
            <p:cNvSpPr>
              <a:spLocks noChangeArrowheads="1"/>
            </p:cNvSpPr>
            <p:nvPr/>
          </p:nvSpPr>
          <p:spPr bwMode="auto">
            <a:xfrm>
              <a:off x="4221" y="2336"/>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0</a:t>
              </a:r>
              <a:endParaRPr lang="ko-KR" altLang="en-US" b="0">
                <a:solidFill>
                  <a:srgbClr val="006699"/>
                </a:solidFill>
                <a:latin typeface="Tahoma" panose="020B0604030504040204" pitchFamily="34" charset="0"/>
                <a:ea typeface="Gulim" panose="020B0600000101010101" pitchFamily="34" charset="-127"/>
              </a:endParaRPr>
            </a:p>
          </p:txBody>
        </p:sp>
        <p:sp>
          <p:nvSpPr>
            <p:cNvPr id="69" name="Rectangle 69"/>
            <p:cNvSpPr>
              <a:spLocks noChangeArrowheads="1"/>
            </p:cNvSpPr>
            <p:nvPr/>
          </p:nvSpPr>
          <p:spPr bwMode="auto">
            <a:xfrm>
              <a:off x="4221" y="2235"/>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1</a:t>
              </a:r>
              <a:endParaRPr lang="ko-KR" altLang="en-US" b="0">
                <a:solidFill>
                  <a:srgbClr val="006699"/>
                </a:solidFill>
                <a:latin typeface="Tahoma" panose="020B0604030504040204" pitchFamily="34" charset="0"/>
                <a:ea typeface="Gulim" panose="020B0600000101010101" pitchFamily="34" charset="-127"/>
              </a:endParaRPr>
            </a:p>
          </p:txBody>
        </p:sp>
        <p:sp>
          <p:nvSpPr>
            <p:cNvPr id="70" name="Rectangle 70"/>
            <p:cNvSpPr>
              <a:spLocks noChangeArrowheads="1"/>
            </p:cNvSpPr>
            <p:nvPr/>
          </p:nvSpPr>
          <p:spPr bwMode="auto">
            <a:xfrm>
              <a:off x="4221" y="2133"/>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2</a:t>
              </a:r>
              <a:endParaRPr lang="ko-KR" altLang="en-US" b="0">
                <a:solidFill>
                  <a:srgbClr val="006699"/>
                </a:solidFill>
                <a:latin typeface="Tahoma" panose="020B0604030504040204" pitchFamily="34" charset="0"/>
                <a:ea typeface="Gulim" panose="020B0600000101010101" pitchFamily="34" charset="-127"/>
              </a:endParaRPr>
            </a:p>
          </p:txBody>
        </p:sp>
        <p:sp>
          <p:nvSpPr>
            <p:cNvPr id="71" name="Rectangle 71"/>
            <p:cNvSpPr>
              <a:spLocks noChangeArrowheads="1"/>
            </p:cNvSpPr>
            <p:nvPr/>
          </p:nvSpPr>
          <p:spPr bwMode="auto">
            <a:xfrm>
              <a:off x="4221" y="2032"/>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3</a:t>
              </a:r>
              <a:endParaRPr lang="ko-KR" altLang="en-US" b="0">
                <a:solidFill>
                  <a:srgbClr val="006699"/>
                </a:solidFill>
                <a:latin typeface="Tahoma" panose="020B0604030504040204" pitchFamily="34" charset="0"/>
                <a:ea typeface="Gulim" panose="020B0600000101010101" pitchFamily="34" charset="-127"/>
              </a:endParaRPr>
            </a:p>
          </p:txBody>
        </p:sp>
        <p:sp>
          <p:nvSpPr>
            <p:cNvPr id="72" name="Rectangle 72"/>
            <p:cNvSpPr>
              <a:spLocks noChangeArrowheads="1"/>
            </p:cNvSpPr>
            <p:nvPr/>
          </p:nvSpPr>
          <p:spPr bwMode="auto">
            <a:xfrm>
              <a:off x="4221" y="1930"/>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4</a:t>
              </a:r>
              <a:endParaRPr lang="ko-KR" altLang="en-US" b="0">
                <a:solidFill>
                  <a:srgbClr val="006699"/>
                </a:solidFill>
                <a:latin typeface="Tahoma" panose="020B0604030504040204" pitchFamily="34" charset="0"/>
                <a:ea typeface="Gulim" panose="020B0600000101010101" pitchFamily="34" charset="-127"/>
              </a:endParaRPr>
            </a:p>
          </p:txBody>
        </p:sp>
        <p:sp>
          <p:nvSpPr>
            <p:cNvPr id="73" name="Rectangle 73"/>
            <p:cNvSpPr>
              <a:spLocks noChangeArrowheads="1"/>
            </p:cNvSpPr>
            <p:nvPr/>
          </p:nvSpPr>
          <p:spPr bwMode="auto">
            <a:xfrm>
              <a:off x="4221" y="1828"/>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5</a:t>
              </a:r>
              <a:endParaRPr lang="ko-KR" altLang="en-US" b="0">
                <a:solidFill>
                  <a:srgbClr val="006699"/>
                </a:solidFill>
                <a:latin typeface="Tahoma" panose="020B0604030504040204" pitchFamily="34" charset="0"/>
                <a:ea typeface="Gulim" panose="020B0600000101010101" pitchFamily="34" charset="-127"/>
              </a:endParaRPr>
            </a:p>
          </p:txBody>
        </p:sp>
        <p:sp>
          <p:nvSpPr>
            <p:cNvPr id="74" name="Rectangle 74"/>
            <p:cNvSpPr>
              <a:spLocks noChangeArrowheads="1"/>
            </p:cNvSpPr>
            <p:nvPr/>
          </p:nvSpPr>
          <p:spPr bwMode="auto">
            <a:xfrm>
              <a:off x="4221" y="1731"/>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6</a:t>
              </a:r>
              <a:endParaRPr lang="ko-KR" altLang="en-US" b="0">
                <a:solidFill>
                  <a:srgbClr val="006699"/>
                </a:solidFill>
                <a:latin typeface="Tahoma" panose="020B0604030504040204" pitchFamily="34" charset="0"/>
                <a:ea typeface="Gulim" panose="020B0600000101010101" pitchFamily="34" charset="-127"/>
              </a:endParaRPr>
            </a:p>
          </p:txBody>
        </p:sp>
        <p:sp>
          <p:nvSpPr>
            <p:cNvPr id="75" name="Rectangle 75"/>
            <p:cNvSpPr>
              <a:spLocks noChangeArrowheads="1"/>
            </p:cNvSpPr>
            <p:nvPr/>
          </p:nvSpPr>
          <p:spPr bwMode="auto">
            <a:xfrm>
              <a:off x="4221" y="1629"/>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7</a:t>
              </a:r>
              <a:endParaRPr lang="ko-KR" altLang="en-US" b="0">
                <a:solidFill>
                  <a:srgbClr val="006699"/>
                </a:solidFill>
                <a:latin typeface="Tahoma" panose="020B0604030504040204" pitchFamily="34" charset="0"/>
                <a:ea typeface="Gulim" panose="020B0600000101010101" pitchFamily="34" charset="-127"/>
              </a:endParaRPr>
            </a:p>
          </p:txBody>
        </p:sp>
        <p:sp>
          <p:nvSpPr>
            <p:cNvPr id="76" name="Rectangle 76"/>
            <p:cNvSpPr>
              <a:spLocks noChangeArrowheads="1"/>
            </p:cNvSpPr>
            <p:nvPr/>
          </p:nvSpPr>
          <p:spPr bwMode="auto">
            <a:xfrm>
              <a:off x="4221" y="1528"/>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8</a:t>
              </a:r>
              <a:endParaRPr lang="ko-KR" altLang="en-US" b="0">
                <a:solidFill>
                  <a:srgbClr val="006699"/>
                </a:solidFill>
                <a:latin typeface="Tahoma" panose="020B0604030504040204" pitchFamily="34" charset="0"/>
                <a:ea typeface="Gulim" panose="020B0600000101010101" pitchFamily="34" charset="-127"/>
              </a:endParaRPr>
            </a:p>
          </p:txBody>
        </p:sp>
        <p:sp>
          <p:nvSpPr>
            <p:cNvPr id="77" name="Rectangle 77"/>
            <p:cNvSpPr>
              <a:spLocks noChangeArrowheads="1"/>
            </p:cNvSpPr>
            <p:nvPr/>
          </p:nvSpPr>
          <p:spPr bwMode="auto">
            <a:xfrm>
              <a:off x="4221" y="1426"/>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9</a:t>
              </a:r>
              <a:endParaRPr lang="ko-KR" altLang="en-US" b="0">
                <a:solidFill>
                  <a:srgbClr val="006699"/>
                </a:solidFill>
                <a:latin typeface="Tahoma" panose="020B0604030504040204" pitchFamily="34" charset="0"/>
                <a:ea typeface="Gulim" panose="020B0600000101010101" pitchFamily="34" charset="-127"/>
              </a:endParaRPr>
            </a:p>
          </p:txBody>
        </p:sp>
        <p:sp>
          <p:nvSpPr>
            <p:cNvPr id="78" name="Rectangle 78"/>
            <p:cNvSpPr>
              <a:spLocks noChangeArrowheads="1"/>
            </p:cNvSpPr>
            <p:nvPr/>
          </p:nvSpPr>
          <p:spPr bwMode="auto">
            <a:xfrm>
              <a:off x="4197" y="1324"/>
              <a:ext cx="73"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10</a:t>
              </a:r>
              <a:endParaRPr lang="ko-KR" altLang="en-US" b="0">
                <a:solidFill>
                  <a:srgbClr val="006699"/>
                </a:solidFill>
                <a:latin typeface="Tahoma" panose="020B0604030504040204" pitchFamily="34" charset="0"/>
                <a:ea typeface="Gulim" panose="020B0600000101010101" pitchFamily="34" charset="-127"/>
              </a:endParaRPr>
            </a:p>
          </p:txBody>
        </p:sp>
        <p:sp>
          <p:nvSpPr>
            <p:cNvPr id="79" name="Rectangle 79"/>
            <p:cNvSpPr>
              <a:spLocks noChangeArrowheads="1"/>
            </p:cNvSpPr>
            <p:nvPr/>
          </p:nvSpPr>
          <p:spPr bwMode="auto">
            <a:xfrm>
              <a:off x="4266"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0</a:t>
              </a:r>
              <a:endParaRPr lang="ko-KR" altLang="en-US" b="0">
                <a:solidFill>
                  <a:srgbClr val="006699"/>
                </a:solidFill>
                <a:latin typeface="Tahoma" panose="020B0604030504040204" pitchFamily="34" charset="0"/>
                <a:ea typeface="Gulim" panose="020B0600000101010101" pitchFamily="34" charset="-127"/>
              </a:endParaRPr>
            </a:p>
          </p:txBody>
        </p:sp>
        <p:sp>
          <p:nvSpPr>
            <p:cNvPr id="80" name="Rectangle 80"/>
            <p:cNvSpPr>
              <a:spLocks noChangeArrowheads="1"/>
            </p:cNvSpPr>
            <p:nvPr/>
          </p:nvSpPr>
          <p:spPr bwMode="auto">
            <a:xfrm>
              <a:off x="4387"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1</a:t>
              </a:r>
              <a:endParaRPr lang="ko-KR" altLang="en-US" b="0">
                <a:solidFill>
                  <a:srgbClr val="006699"/>
                </a:solidFill>
                <a:latin typeface="Tahoma" panose="020B0604030504040204" pitchFamily="34" charset="0"/>
                <a:ea typeface="Gulim" panose="020B0600000101010101" pitchFamily="34" charset="-127"/>
              </a:endParaRPr>
            </a:p>
          </p:txBody>
        </p:sp>
        <p:sp>
          <p:nvSpPr>
            <p:cNvPr id="81" name="Rectangle 81"/>
            <p:cNvSpPr>
              <a:spLocks noChangeArrowheads="1"/>
            </p:cNvSpPr>
            <p:nvPr/>
          </p:nvSpPr>
          <p:spPr bwMode="auto">
            <a:xfrm>
              <a:off x="4504"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2</a:t>
              </a:r>
              <a:endParaRPr lang="ko-KR" altLang="en-US" b="0">
                <a:solidFill>
                  <a:srgbClr val="006699"/>
                </a:solidFill>
                <a:latin typeface="Tahoma" panose="020B0604030504040204" pitchFamily="34" charset="0"/>
                <a:ea typeface="Gulim" panose="020B0600000101010101" pitchFamily="34" charset="-127"/>
              </a:endParaRPr>
            </a:p>
          </p:txBody>
        </p:sp>
        <p:sp>
          <p:nvSpPr>
            <p:cNvPr id="82" name="Rectangle 82"/>
            <p:cNvSpPr>
              <a:spLocks noChangeArrowheads="1"/>
            </p:cNvSpPr>
            <p:nvPr/>
          </p:nvSpPr>
          <p:spPr bwMode="auto">
            <a:xfrm>
              <a:off x="4626"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3</a:t>
              </a:r>
              <a:endParaRPr lang="ko-KR" altLang="en-US" b="0">
                <a:solidFill>
                  <a:srgbClr val="006699"/>
                </a:solidFill>
                <a:latin typeface="Tahoma" panose="020B0604030504040204" pitchFamily="34" charset="0"/>
                <a:ea typeface="Gulim" panose="020B0600000101010101" pitchFamily="34" charset="-127"/>
              </a:endParaRPr>
            </a:p>
          </p:txBody>
        </p:sp>
        <p:sp>
          <p:nvSpPr>
            <p:cNvPr id="83" name="Rectangle 83"/>
            <p:cNvSpPr>
              <a:spLocks noChangeArrowheads="1"/>
            </p:cNvSpPr>
            <p:nvPr/>
          </p:nvSpPr>
          <p:spPr bwMode="auto">
            <a:xfrm>
              <a:off x="4747"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4</a:t>
              </a:r>
              <a:endParaRPr lang="ko-KR" altLang="en-US" b="0">
                <a:solidFill>
                  <a:srgbClr val="006699"/>
                </a:solidFill>
                <a:latin typeface="Tahoma" panose="020B0604030504040204" pitchFamily="34" charset="0"/>
                <a:ea typeface="Gulim" panose="020B0600000101010101" pitchFamily="34" charset="-127"/>
              </a:endParaRPr>
            </a:p>
          </p:txBody>
        </p:sp>
        <p:sp>
          <p:nvSpPr>
            <p:cNvPr id="84" name="Rectangle 84"/>
            <p:cNvSpPr>
              <a:spLocks noChangeArrowheads="1"/>
            </p:cNvSpPr>
            <p:nvPr/>
          </p:nvSpPr>
          <p:spPr bwMode="auto">
            <a:xfrm>
              <a:off x="4868"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5</a:t>
              </a:r>
              <a:endParaRPr lang="ko-KR" altLang="en-US" b="0">
                <a:solidFill>
                  <a:srgbClr val="006699"/>
                </a:solidFill>
                <a:latin typeface="Tahoma" panose="020B0604030504040204" pitchFamily="34" charset="0"/>
                <a:ea typeface="Gulim" panose="020B0600000101010101" pitchFamily="34" charset="-127"/>
              </a:endParaRPr>
            </a:p>
          </p:txBody>
        </p:sp>
        <p:sp>
          <p:nvSpPr>
            <p:cNvPr id="85" name="Rectangle 85"/>
            <p:cNvSpPr>
              <a:spLocks noChangeArrowheads="1"/>
            </p:cNvSpPr>
            <p:nvPr/>
          </p:nvSpPr>
          <p:spPr bwMode="auto">
            <a:xfrm>
              <a:off x="4986"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6</a:t>
              </a:r>
              <a:endParaRPr lang="ko-KR" altLang="en-US" b="0">
                <a:solidFill>
                  <a:srgbClr val="006699"/>
                </a:solidFill>
                <a:latin typeface="Tahoma" panose="020B0604030504040204" pitchFamily="34" charset="0"/>
                <a:ea typeface="Gulim" panose="020B0600000101010101" pitchFamily="34" charset="-127"/>
              </a:endParaRPr>
            </a:p>
          </p:txBody>
        </p:sp>
        <p:sp>
          <p:nvSpPr>
            <p:cNvPr id="86" name="Rectangle 86"/>
            <p:cNvSpPr>
              <a:spLocks noChangeArrowheads="1"/>
            </p:cNvSpPr>
            <p:nvPr/>
          </p:nvSpPr>
          <p:spPr bwMode="auto">
            <a:xfrm>
              <a:off x="5107"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7</a:t>
              </a:r>
              <a:endParaRPr lang="ko-KR" altLang="en-US" b="0">
                <a:solidFill>
                  <a:srgbClr val="006699"/>
                </a:solidFill>
                <a:latin typeface="Tahoma" panose="020B0604030504040204" pitchFamily="34" charset="0"/>
                <a:ea typeface="Gulim" panose="020B0600000101010101" pitchFamily="34" charset="-127"/>
              </a:endParaRPr>
            </a:p>
          </p:txBody>
        </p:sp>
        <p:sp>
          <p:nvSpPr>
            <p:cNvPr id="87" name="Rectangle 87"/>
            <p:cNvSpPr>
              <a:spLocks noChangeArrowheads="1"/>
            </p:cNvSpPr>
            <p:nvPr/>
          </p:nvSpPr>
          <p:spPr bwMode="auto">
            <a:xfrm>
              <a:off x="5228"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8</a:t>
              </a:r>
              <a:endParaRPr lang="ko-KR" altLang="en-US" b="0">
                <a:solidFill>
                  <a:srgbClr val="006699"/>
                </a:solidFill>
                <a:latin typeface="Tahoma" panose="020B0604030504040204" pitchFamily="34" charset="0"/>
                <a:ea typeface="Gulim" panose="020B0600000101010101" pitchFamily="34" charset="-127"/>
              </a:endParaRPr>
            </a:p>
          </p:txBody>
        </p:sp>
        <p:sp>
          <p:nvSpPr>
            <p:cNvPr id="88" name="Rectangle 88"/>
            <p:cNvSpPr>
              <a:spLocks noChangeArrowheads="1"/>
            </p:cNvSpPr>
            <p:nvPr/>
          </p:nvSpPr>
          <p:spPr bwMode="auto">
            <a:xfrm>
              <a:off x="5346" y="2404"/>
              <a:ext cx="44"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9</a:t>
              </a:r>
              <a:endParaRPr lang="ko-KR" altLang="en-US" b="0">
                <a:solidFill>
                  <a:srgbClr val="006699"/>
                </a:solidFill>
                <a:latin typeface="Tahoma" panose="020B0604030504040204" pitchFamily="34" charset="0"/>
                <a:ea typeface="Gulim" panose="020B0600000101010101" pitchFamily="34" charset="-127"/>
              </a:endParaRPr>
            </a:p>
          </p:txBody>
        </p:sp>
        <p:sp>
          <p:nvSpPr>
            <p:cNvPr id="89" name="Rectangle 89"/>
            <p:cNvSpPr>
              <a:spLocks noChangeArrowheads="1"/>
            </p:cNvSpPr>
            <p:nvPr/>
          </p:nvSpPr>
          <p:spPr bwMode="auto">
            <a:xfrm>
              <a:off x="5455" y="2404"/>
              <a:ext cx="73"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latin typeface="Arial" panose="020B0604020202020204" pitchFamily="34" charset="0"/>
                  <a:ea typeface="Gulim" panose="020B0600000101010101" pitchFamily="34" charset="-127"/>
                </a:rPr>
                <a:t>10</a:t>
              </a:r>
              <a:endParaRPr lang="ko-KR" altLang="en-US" b="0">
                <a:solidFill>
                  <a:srgbClr val="006699"/>
                </a:solidFill>
                <a:latin typeface="Tahoma" panose="020B0604030504040204" pitchFamily="34" charset="0"/>
                <a:ea typeface="Gulim" panose="020B0600000101010101" pitchFamily="34" charset="-127"/>
              </a:endParaRPr>
            </a:p>
          </p:txBody>
        </p:sp>
        <p:sp>
          <p:nvSpPr>
            <p:cNvPr id="90" name="Rectangle 90"/>
            <p:cNvSpPr>
              <a:spLocks noChangeArrowheads="1"/>
            </p:cNvSpPr>
            <p:nvPr/>
          </p:nvSpPr>
          <p:spPr bwMode="auto">
            <a:xfrm>
              <a:off x="4144" y="1265"/>
              <a:ext cx="1400" cy="1254"/>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b="0">
                <a:solidFill>
                  <a:srgbClr val="000000"/>
                </a:solidFill>
              </a:endParaRPr>
            </a:p>
          </p:txBody>
        </p:sp>
        <p:sp>
          <p:nvSpPr>
            <p:cNvPr id="91" name="Freeform 91"/>
            <p:cNvSpPr/>
            <p:nvPr/>
          </p:nvSpPr>
          <p:spPr bwMode="auto">
            <a:xfrm>
              <a:off x="4426" y="1447"/>
              <a:ext cx="573" cy="873"/>
            </a:xfrm>
            <a:custGeom>
              <a:avLst/>
              <a:gdLst>
                <a:gd name="T0" fmla="*/ 157 w 852"/>
                <a:gd name="T1" fmla="*/ 93 h 1260"/>
                <a:gd name="T2" fmla="*/ 120 w 852"/>
                <a:gd name="T3" fmla="*/ 12 h 1260"/>
                <a:gd name="T4" fmla="*/ 72 w 852"/>
                <a:gd name="T5" fmla="*/ 7 h 1260"/>
                <a:gd name="T6" fmla="*/ 40 w 852"/>
                <a:gd name="T7" fmla="*/ 24 h 1260"/>
                <a:gd name="T8" fmla="*/ 0 w 852"/>
                <a:gd name="T9" fmla="*/ 123 h 1260"/>
                <a:gd name="T10" fmla="*/ 13 w 852"/>
                <a:gd name="T11" fmla="*/ 229 h 1260"/>
                <a:gd name="T12" fmla="*/ 110 w 852"/>
                <a:gd name="T13" fmla="*/ 371 h 1260"/>
                <a:gd name="T14" fmla="*/ 130 w 852"/>
                <a:gd name="T15" fmla="*/ 379 h 1260"/>
                <a:gd name="T16" fmla="*/ 137 w 852"/>
                <a:gd name="T17" fmla="*/ 384 h 1260"/>
                <a:gd name="T18" fmla="*/ 159 w 852"/>
                <a:gd name="T19" fmla="*/ 391 h 1260"/>
                <a:gd name="T20" fmla="*/ 189 w 852"/>
                <a:gd name="T21" fmla="*/ 409 h 1260"/>
                <a:gd name="T22" fmla="*/ 241 w 852"/>
                <a:gd name="T23" fmla="*/ 414 h 1260"/>
                <a:gd name="T24" fmla="*/ 239 w 852"/>
                <a:gd name="T25" fmla="*/ 340 h 1260"/>
                <a:gd name="T26" fmla="*/ 227 w 852"/>
                <a:gd name="T27" fmla="*/ 317 h 1260"/>
                <a:gd name="T28" fmla="*/ 209 w 852"/>
                <a:gd name="T29" fmla="*/ 285 h 1260"/>
                <a:gd name="T30" fmla="*/ 189 w 852"/>
                <a:gd name="T31" fmla="*/ 254 h 1260"/>
                <a:gd name="T32" fmla="*/ 184 w 852"/>
                <a:gd name="T33" fmla="*/ 243 h 1260"/>
                <a:gd name="T34" fmla="*/ 180 w 852"/>
                <a:gd name="T35" fmla="*/ 236 h 1260"/>
                <a:gd name="T36" fmla="*/ 169 w 852"/>
                <a:gd name="T37" fmla="*/ 214 h 1260"/>
                <a:gd name="T38" fmla="*/ 164 w 852"/>
                <a:gd name="T39" fmla="*/ 206 h 1260"/>
                <a:gd name="T40" fmla="*/ 157 w 852"/>
                <a:gd name="T41" fmla="*/ 93 h 126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2"/>
                <a:gd name="T64" fmla="*/ 0 h 1260"/>
                <a:gd name="T65" fmla="*/ 852 w 852"/>
                <a:gd name="T66" fmla="*/ 1260 h 126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2" h="1260">
                  <a:moveTo>
                    <a:pt x="518" y="280"/>
                  </a:moveTo>
                  <a:cubicBezTo>
                    <a:pt x="509" y="187"/>
                    <a:pt x="497" y="69"/>
                    <a:pt x="392" y="36"/>
                  </a:cubicBezTo>
                  <a:cubicBezTo>
                    <a:pt x="339" y="0"/>
                    <a:pt x="309" y="15"/>
                    <a:pt x="237" y="21"/>
                  </a:cubicBezTo>
                  <a:cubicBezTo>
                    <a:pt x="194" y="31"/>
                    <a:pt x="168" y="45"/>
                    <a:pt x="133" y="73"/>
                  </a:cubicBezTo>
                  <a:cubicBezTo>
                    <a:pt x="84" y="168"/>
                    <a:pt x="20" y="262"/>
                    <a:pt x="0" y="369"/>
                  </a:cubicBezTo>
                  <a:cubicBezTo>
                    <a:pt x="5" y="481"/>
                    <a:pt x="3" y="584"/>
                    <a:pt x="44" y="688"/>
                  </a:cubicBezTo>
                  <a:cubicBezTo>
                    <a:pt x="78" y="870"/>
                    <a:pt x="173" y="1057"/>
                    <a:pt x="362" y="1117"/>
                  </a:cubicBezTo>
                  <a:cubicBezTo>
                    <a:pt x="415" y="1152"/>
                    <a:pt x="347" y="1112"/>
                    <a:pt x="429" y="1139"/>
                  </a:cubicBezTo>
                  <a:cubicBezTo>
                    <a:pt x="437" y="1142"/>
                    <a:pt x="443" y="1150"/>
                    <a:pt x="451" y="1154"/>
                  </a:cubicBezTo>
                  <a:cubicBezTo>
                    <a:pt x="473" y="1165"/>
                    <a:pt x="501" y="1168"/>
                    <a:pt x="525" y="1176"/>
                  </a:cubicBezTo>
                  <a:cubicBezTo>
                    <a:pt x="562" y="1201"/>
                    <a:pt x="581" y="1218"/>
                    <a:pt x="622" y="1228"/>
                  </a:cubicBezTo>
                  <a:cubicBezTo>
                    <a:pt x="684" y="1260"/>
                    <a:pt x="714" y="1249"/>
                    <a:pt x="792" y="1243"/>
                  </a:cubicBezTo>
                  <a:cubicBezTo>
                    <a:pt x="852" y="1183"/>
                    <a:pt x="819" y="1088"/>
                    <a:pt x="785" y="1021"/>
                  </a:cubicBezTo>
                  <a:cubicBezTo>
                    <a:pt x="770" y="992"/>
                    <a:pt x="773" y="979"/>
                    <a:pt x="748" y="954"/>
                  </a:cubicBezTo>
                  <a:cubicBezTo>
                    <a:pt x="735" y="917"/>
                    <a:pt x="711" y="888"/>
                    <a:pt x="688" y="858"/>
                  </a:cubicBezTo>
                  <a:cubicBezTo>
                    <a:pt x="676" y="821"/>
                    <a:pt x="643" y="795"/>
                    <a:pt x="622" y="762"/>
                  </a:cubicBezTo>
                  <a:cubicBezTo>
                    <a:pt x="616" y="753"/>
                    <a:pt x="613" y="742"/>
                    <a:pt x="607" y="732"/>
                  </a:cubicBezTo>
                  <a:cubicBezTo>
                    <a:pt x="603" y="724"/>
                    <a:pt x="597" y="717"/>
                    <a:pt x="592" y="710"/>
                  </a:cubicBezTo>
                  <a:cubicBezTo>
                    <a:pt x="580" y="671"/>
                    <a:pt x="589" y="694"/>
                    <a:pt x="555" y="643"/>
                  </a:cubicBezTo>
                  <a:cubicBezTo>
                    <a:pt x="550" y="636"/>
                    <a:pt x="540" y="621"/>
                    <a:pt x="540" y="621"/>
                  </a:cubicBezTo>
                  <a:cubicBezTo>
                    <a:pt x="519" y="510"/>
                    <a:pt x="518" y="392"/>
                    <a:pt x="518" y="280"/>
                  </a:cubicBezTo>
                  <a:close/>
                </a:path>
              </a:pathLst>
            </a:custGeom>
            <a:noFill/>
            <a:ln w="19050">
              <a:solidFill>
                <a:srgbClr val="006699"/>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92" name="Freeform 92"/>
            <p:cNvSpPr/>
            <p:nvPr/>
          </p:nvSpPr>
          <p:spPr bwMode="auto">
            <a:xfrm>
              <a:off x="4846" y="1713"/>
              <a:ext cx="516" cy="436"/>
            </a:xfrm>
            <a:custGeom>
              <a:avLst/>
              <a:gdLst>
                <a:gd name="T0" fmla="*/ 56 w 768"/>
                <a:gd name="T1" fmla="*/ 22 h 630"/>
                <a:gd name="T2" fmla="*/ 22 w 768"/>
                <a:gd name="T3" fmla="*/ 24 h 630"/>
                <a:gd name="T4" fmla="*/ 1 w 768"/>
                <a:gd name="T5" fmla="*/ 57 h 630"/>
                <a:gd name="T6" fmla="*/ 4 w 768"/>
                <a:gd name="T7" fmla="*/ 103 h 630"/>
                <a:gd name="T8" fmla="*/ 17 w 768"/>
                <a:gd name="T9" fmla="*/ 118 h 630"/>
                <a:gd name="T10" fmla="*/ 33 w 768"/>
                <a:gd name="T11" fmla="*/ 138 h 630"/>
                <a:gd name="T12" fmla="*/ 71 w 768"/>
                <a:gd name="T13" fmla="*/ 181 h 630"/>
                <a:gd name="T14" fmla="*/ 78 w 768"/>
                <a:gd name="T15" fmla="*/ 189 h 630"/>
                <a:gd name="T16" fmla="*/ 100 w 768"/>
                <a:gd name="T17" fmla="*/ 197 h 630"/>
                <a:gd name="T18" fmla="*/ 136 w 768"/>
                <a:gd name="T19" fmla="*/ 209 h 630"/>
                <a:gd name="T20" fmla="*/ 181 w 768"/>
                <a:gd name="T21" fmla="*/ 201 h 630"/>
                <a:gd name="T22" fmla="*/ 199 w 768"/>
                <a:gd name="T23" fmla="*/ 194 h 630"/>
                <a:gd name="T24" fmla="*/ 208 w 768"/>
                <a:gd name="T25" fmla="*/ 176 h 630"/>
                <a:gd name="T26" fmla="*/ 218 w 768"/>
                <a:gd name="T27" fmla="*/ 157 h 630"/>
                <a:gd name="T28" fmla="*/ 220 w 768"/>
                <a:gd name="T29" fmla="*/ 145 h 630"/>
                <a:gd name="T30" fmla="*/ 224 w 768"/>
                <a:gd name="T31" fmla="*/ 138 h 630"/>
                <a:gd name="T32" fmla="*/ 233 w 768"/>
                <a:gd name="T33" fmla="*/ 98 h 630"/>
                <a:gd name="T34" fmla="*/ 230 w 768"/>
                <a:gd name="T35" fmla="*/ 59 h 630"/>
                <a:gd name="T36" fmla="*/ 220 w 768"/>
                <a:gd name="T37" fmla="*/ 37 h 630"/>
                <a:gd name="T38" fmla="*/ 141 w 768"/>
                <a:gd name="T39" fmla="*/ 0 h 630"/>
                <a:gd name="T40" fmla="*/ 62 w 768"/>
                <a:gd name="T41" fmla="*/ 10 h 630"/>
                <a:gd name="T42" fmla="*/ 56 w 768"/>
                <a:gd name="T43" fmla="*/ 22 h 6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68"/>
                <a:gd name="T67" fmla="*/ 0 h 630"/>
                <a:gd name="T68" fmla="*/ 768 w 768"/>
                <a:gd name="T69" fmla="*/ 630 h 63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68" h="630">
                  <a:moveTo>
                    <a:pt x="183" y="67"/>
                  </a:moveTo>
                  <a:cubicBezTo>
                    <a:pt x="146" y="41"/>
                    <a:pt x="112" y="61"/>
                    <a:pt x="72" y="74"/>
                  </a:cubicBezTo>
                  <a:cubicBezTo>
                    <a:pt x="13" y="114"/>
                    <a:pt x="28" y="107"/>
                    <a:pt x="5" y="170"/>
                  </a:cubicBezTo>
                  <a:cubicBezTo>
                    <a:pt x="8" y="217"/>
                    <a:pt x="0" y="266"/>
                    <a:pt x="13" y="311"/>
                  </a:cubicBezTo>
                  <a:cubicBezTo>
                    <a:pt x="19" y="331"/>
                    <a:pt x="45" y="339"/>
                    <a:pt x="57" y="356"/>
                  </a:cubicBezTo>
                  <a:cubicBezTo>
                    <a:pt x="92" y="407"/>
                    <a:pt x="72" y="390"/>
                    <a:pt x="109" y="415"/>
                  </a:cubicBezTo>
                  <a:cubicBezTo>
                    <a:pt x="145" y="467"/>
                    <a:pt x="187" y="508"/>
                    <a:pt x="235" y="548"/>
                  </a:cubicBezTo>
                  <a:cubicBezTo>
                    <a:pt x="243" y="555"/>
                    <a:pt x="248" y="565"/>
                    <a:pt x="257" y="570"/>
                  </a:cubicBezTo>
                  <a:cubicBezTo>
                    <a:pt x="283" y="584"/>
                    <a:pt x="305" y="583"/>
                    <a:pt x="331" y="593"/>
                  </a:cubicBezTo>
                  <a:cubicBezTo>
                    <a:pt x="371" y="608"/>
                    <a:pt x="408" y="621"/>
                    <a:pt x="450" y="630"/>
                  </a:cubicBezTo>
                  <a:cubicBezTo>
                    <a:pt x="498" y="625"/>
                    <a:pt x="551" y="623"/>
                    <a:pt x="598" y="607"/>
                  </a:cubicBezTo>
                  <a:cubicBezTo>
                    <a:pt x="618" y="600"/>
                    <a:pt x="657" y="585"/>
                    <a:pt x="657" y="585"/>
                  </a:cubicBezTo>
                  <a:cubicBezTo>
                    <a:pt x="675" y="536"/>
                    <a:pt x="651" y="594"/>
                    <a:pt x="687" y="533"/>
                  </a:cubicBezTo>
                  <a:cubicBezTo>
                    <a:pt x="698" y="514"/>
                    <a:pt x="717" y="474"/>
                    <a:pt x="717" y="474"/>
                  </a:cubicBezTo>
                  <a:cubicBezTo>
                    <a:pt x="719" y="462"/>
                    <a:pt x="720" y="449"/>
                    <a:pt x="724" y="437"/>
                  </a:cubicBezTo>
                  <a:cubicBezTo>
                    <a:pt x="727" y="429"/>
                    <a:pt x="736" y="423"/>
                    <a:pt x="739" y="415"/>
                  </a:cubicBezTo>
                  <a:cubicBezTo>
                    <a:pt x="750" y="382"/>
                    <a:pt x="760" y="332"/>
                    <a:pt x="768" y="296"/>
                  </a:cubicBezTo>
                  <a:cubicBezTo>
                    <a:pt x="766" y="257"/>
                    <a:pt x="766" y="217"/>
                    <a:pt x="761" y="178"/>
                  </a:cubicBezTo>
                  <a:cubicBezTo>
                    <a:pt x="754" y="127"/>
                    <a:pt x="750" y="142"/>
                    <a:pt x="724" y="111"/>
                  </a:cubicBezTo>
                  <a:cubicBezTo>
                    <a:pt x="653" y="27"/>
                    <a:pt x="566" y="24"/>
                    <a:pt x="465" y="0"/>
                  </a:cubicBezTo>
                  <a:cubicBezTo>
                    <a:pt x="370" y="4"/>
                    <a:pt x="294" y="6"/>
                    <a:pt x="205" y="30"/>
                  </a:cubicBezTo>
                  <a:cubicBezTo>
                    <a:pt x="154" y="63"/>
                    <a:pt x="144" y="53"/>
                    <a:pt x="183" y="67"/>
                  </a:cubicBezTo>
                  <a:close/>
                </a:path>
              </a:pathLst>
            </a:custGeom>
            <a:noFill/>
            <a:ln w="19050">
              <a:solidFill>
                <a:srgbClr val="006699"/>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ctr" eaLnBrk="1" fontAlgn="auto" hangingPunct="1">
                <a:spcBef>
                  <a:spcPts val="0"/>
                </a:spcBef>
                <a:spcAft>
                  <a:spcPts val="0"/>
                </a:spcAft>
                <a:defRPr/>
              </a:pPr>
              <a:endParaRPr lang="zh-CN" altLang="en-US" b="0" kern="0">
                <a:solidFill>
                  <a:sysClr val="windowText" lastClr="000000"/>
                </a:solidFill>
              </a:endParaRPr>
            </a:p>
          </p:txBody>
        </p:sp>
      </p:grpSp>
      <p:sp>
        <p:nvSpPr>
          <p:cNvPr id="93" name="Line 93"/>
          <p:cNvSpPr>
            <a:spLocks noChangeShapeType="1"/>
          </p:cNvSpPr>
          <p:nvPr/>
        </p:nvSpPr>
        <p:spPr bwMode="auto">
          <a:xfrm>
            <a:off x="4860032" y="2274888"/>
            <a:ext cx="685800" cy="0"/>
          </a:xfrm>
          <a:prstGeom prst="line">
            <a:avLst/>
          </a:prstGeom>
          <a:noFill/>
          <a:ln w="9525">
            <a:solidFill>
              <a:srgbClr val="006699"/>
            </a:solidFill>
            <a:round/>
            <a:tailEnd type="triangle" w="med" len="med"/>
          </a:ln>
          <a:extLst>
            <a:ext uri="{909E8E84-426E-40DD-AFC4-6F175D3DCCD1}">
              <a14:hiddenFill xmlns:a14="http://schemas.microsoft.com/office/drawing/2010/main">
                <a:noFill/>
              </a14:hiddenFill>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ndParaRPr>
          </a:p>
        </p:txBody>
      </p:sp>
      <p:grpSp>
        <p:nvGrpSpPr>
          <p:cNvPr id="94" name="Group 94"/>
          <p:cNvGrpSpPr/>
          <p:nvPr/>
        </p:nvGrpSpPr>
        <p:grpSpPr bwMode="auto">
          <a:xfrm>
            <a:off x="5850632" y="3417888"/>
            <a:ext cx="2286000" cy="2286000"/>
            <a:chOff x="3312" y="2640"/>
            <a:chExt cx="1440" cy="1440"/>
          </a:xfrm>
        </p:grpSpPr>
        <p:graphicFrame>
          <p:nvGraphicFramePr>
            <p:cNvPr id="95" name="Object 95"/>
            <p:cNvGraphicFramePr>
              <a:graphicFrameLocks noChangeAspect="1"/>
            </p:cNvGraphicFramePr>
            <p:nvPr/>
          </p:nvGraphicFramePr>
          <p:xfrm>
            <a:off x="3312" y="2832"/>
            <a:ext cx="1440" cy="1248"/>
          </p:xfrm>
          <a:graphic>
            <a:graphicData uri="http://schemas.openxmlformats.org/presentationml/2006/ole">
              <mc:AlternateContent xmlns:mc="http://schemas.openxmlformats.org/markup-compatibility/2006">
                <mc:Choice xmlns:v="urn:schemas-microsoft-com:vml" Requires="v">
                  <p:oleObj spid="_x0000_s29705" name="Worksheet" r:id="rId3" imgW="4064000" imgH="3488055" progId="Excel.Sheet.8">
                    <p:embed/>
                  </p:oleObj>
                </mc:Choice>
                <mc:Fallback>
                  <p:oleObj name="Worksheet" r:id="rId3" imgW="4064000" imgH="3488055" progId="Excel.Sheet.8">
                    <p:embed/>
                    <p:pic>
                      <p:nvPicPr>
                        <p:cNvPr id="0" name="Object 9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2" y="2832"/>
                          <a:ext cx="1440" cy="1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6" name="Line 96"/>
            <p:cNvSpPr>
              <a:spLocks noChangeShapeType="1"/>
            </p:cNvSpPr>
            <p:nvPr/>
          </p:nvSpPr>
          <p:spPr bwMode="auto">
            <a:xfrm>
              <a:off x="3984" y="2640"/>
              <a:ext cx="0" cy="144"/>
            </a:xfrm>
            <a:prstGeom prst="line">
              <a:avLst/>
            </a:prstGeom>
            <a:noFill/>
            <a:ln w="9525">
              <a:solidFill>
                <a:srgbClr val="006699"/>
              </a:solidFill>
              <a:round/>
              <a:tailEnd type="triangle" w="med" len="med"/>
            </a:ln>
            <a:extLst>
              <a:ext uri="{909E8E84-426E-40DD-AFC4-6F175D3DCCD1}">
                <a14:hiddenFill xmlns:a14="http://schemas.microsoft.com/office/drawing/2010/main">
                  <a:noFill/>
                </a14:hiddenFill>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ndParaRPr>
            </a:p>
          </p:txBody>
        </p:sp>
      </p:grpSp>
      <p:grpSp>
        <p:nvGrpSpPr>
          <p:cNvPr id="97" name="Group 97"/>
          <p:cNvGrpSpPr/>
          <p:nvPr/>
        </p:nvGrpSpPr>
        <p:grpSpPr bwMode="auto">
          <a:xfrm>
            <a:off x="2608957" y="3722688"/>
            <a:ext cx="3200400" cy="1981200"/>
            <a:chOff x="1200" y="2832"/>
            <a:chExt cx="2016" cy="1248"/>
          </a:xfrm>
        </p:grpSpPr>
        <p:grpSp>
          <p:nvGrpSpPr>
            <p:cNvPr id="98" name="Group 98"/>
            <p:cNvGrpSpPr/>
            <p:nvPr/>
          </p:nvGrpSpPr>
          <p:grpSpPr bwMode="auto">
            <a:xfrm>
              <a:off x="1200" y="2832"/>
              <a:ext cx="1440" cy="1248"/>
              <a:chOff x="3108" y="2256"/>
              <a:chExt cx="2148" cy="1872"/>
            </a:xfrm>
          </p:grpSpPr>
          <p:graphicFrame>
            <p:nvGraphicFramePr>
              <p:cNvPr id="100" name="Object 99"/>
              <p:cNvGraphicFramePr>
                <a:graphicFrameLocks noChangeAspect="1"/>
              </p:cNvGraphicFramePr>
              <p:nvPr/>
            </p:nvGraphicFramePr>
            <p:xfrm>
              <a:off x="3108" y="2256"/>
              <a:ext cx="2148" cy="1872"/>
            </p:xfrm>
            <a:graphic>
              <a:graphicData uri="http://schemas.openxmlformats.org/presentationml/2006/ole">
                <mc:AlternateContent xmlns:mc="http://schemas.openxmlformats.org/markup-compatibility/2006">
                  <mc:Choice xmlns:v="urn:schemas-microsoft-com:vml" Requires="v">
                    <p:oleObj spid="_x0000_s29706" name="Worksheet" r:id="rId5" imgW="4052570" imgH="3477260" progId="Excel.Sheet.8">
                      <p:embed/>
                    </p:oleObj>
                  </mc:Choice>
                  <mc:Fallback>
                    <p:oleObj name="Worksheet" r:id="rId5" imgW="4052570" imgH="3477260" progId="Excel.Sheet.8">
                      <p:embed/>
                      <p:pic>
                        <p:nvPicPr>
                          <p:cNvPr id="0" name="Object 9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8" y="2256"/>
                            <a:ext cx="2148" cy="1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1" name="Freeform 100"/>
              <p:cNvSpPr/>
              <p:nvPr/>
            </p:nvSpPr>
            <p:spPr bwMode="auto">
              <a:xfrm>
                <a:off x="3638" y="2571"/>
                <a:ext cx="728" cy="895"/>
              </a:xfrm>
              <a:custGeom>
                <a:avLst/>
                <a:gdLst>
                  <a:gd name="T0" fmla="*/ 199 w 728"/>
                  <a:gd name="T1" fmla="*/ 7 h 896"/>
                  <a:gd name="T2" fmla="*/ 110 w 728"/>
                  <a:gd name="T3" fmla="*/ 96 h 896"/>
                  <a:gd name="T4" fmla="*/ 80 w 728"/>
                  <a:gd name="T5" fmla="*/ 140 h 896"/>
                  <a:gd name="T6" fmla="*/ 65 w 728"/>
                  <a:gd name="T7" fmla="*/ 162 h 896"/>
                  <a:gd name="T8" fmla="*/ 21 w 728"/>
                  <a:gd name="T9" fmla="*/ 303 h 896"/>
                  <a:gd name="T10" fmla="*/ 65 w 728"/>
                  <a:gd name="T11" fmla="*/ 703 h 896"/>
                  <a:gd name="T12" fmla="*/ 110 w 728"/>
                  <a:gd name="T13" fmla="*/ 763 h 896"/>
                  <a:gd name="T14" fmla="*/ 332 w 728"/>
                  <a:gd name="T15" fmla="*/ 896 h 896"/>
                  <a:gd name="T16" fmla="*/ 495 w 728"/>
                  <a:gd name="T17" fmla="*/ 851 h 896"/>
                  <a:gd name="T18" fmla="*/ 636 w 728"/>
                  <a:gd name="T19" fmla="*/ 711 h 896"/>
                  <a:gd name="T20" fmla="*/ 688 w 728"/>
                  <a:gd name="T21" fmla="*/ 607 h 896"/>
                  <a:gd name="T22" fmla="*/ 702 w 728"/>
                  <a:gd name="T23" fmla="*/ 563 h 896"/>
                  <a:gd name="T24" fmla="*/ 710 w 728"/>
                  <a:gd name="T25" fmla="*/ 540 h 896"/>
                  <a:gd name="T26" fmla="*/ 680 w 728"/>
                  <a:gd name="T27" fmla="*/ 296 h 896"/>
                  <a:gd name="T28" fmla="*/ 569 w 728"/>
                  <a:gd name="T29" fmla="*/ 133 h 896"/>
                  <a:gd name="T30" fmla="*/ 510 w 728"/>
                  <a:gd name="T31" fmla="*/ 88 h 896"/>
                  <a:gd name="T32" fmla="*/ 465 w 728"/>
                  <a:gd name="T33" fmla="*/ 59 h 896"/>
                  <a:gd name="T34" fmla="*/ 295 w 728"/>
                  <a:gd name="T35" fmla="*/ 0 h 896"/>
                  <a:gd name="T36" fmla="*/ 206 w 728"/>
                  <a:gd name="T37" fmla="*/ 7 h 896"/>
                  <a:gd name="T38" fmla="*/ 184 w 728"/>
                  <a:gd name="T39" fmla="*/ 14 h 896"/>
                  <a:gd name="T40" fmla="*/ 199 w 728"/>
                  <a:gd name="T41" fmla="*/ 7 h 8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8"/>
                  <a:gd name="T64" fmla="*/ 0 h 896"/>
                  <a:gd name="T65" fmla="*/ 728 w 728"/>
                  <a:gd name="T66" fmla="*/ 896 h 89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8" h="896">
                    <a:moveTo>
                      <a:pt x="199" y="7"/>
                    </a:moveTo>
                    <a:cubicBezTo>
                      <a:pt x="148" y="19"/>
                      <a:pt x="135" y="54"/>
                      <a:pt x="110" y="96"/>
                    </a:cubicBezTo>
                    <a:cubicBezTo>
                      <a:pt x="101" y="111"/>
                      <a:pt x="90" y="125"/>
                      <a:pt x="80" y="140"/>
                    </a:cubicBezTo>
                    <a:cubicBezTo>
                      <a:pt x="75" y="147"/>
                      <a:pt x="65" y="162"/>
                      <a:pt x="65" y="162"/>
                    </a:cubicBezTo>
                    <a:cubicBezTo>
                      <a:pt x="50" y="210"/>
                      <a:pt x="33" y="254"/>
                      <a:pt x="21" y="303"/>
                    </a:cubicBezTo>
                    <a:cubicBezTo>
                      <a:pt x="4" y="446"/>
                      <a:pt x="0" y="574"/>
                      <a:pt x="65" y="703"/>
                    </a:cubicBezTo>
                    <a:cubicBezTo>
                      <a:pt x="79" y="731"/>
                      <a:pt x="83" y="744"/>
                      <a:pt x="110" y="763"/>
                    </a:cubicBezTo>
                    <a:cubicBezTo>
                      <a:pt x="159" y="835"/>
                      <a:pt x="250" y="874"/>
                      <a:pt x="332" y="896"/>
                    </a:cubicBezTo>
                    <a:cubicBezTo>
                      <a:pt x="394" y="889"/>
                      <a:pt x="441" y="878"/>
                      <a:pt x="495" y="851"/>
                    </a:cubicBezTo>
                    <a:cubicBezTo>
                      <a:pt x="537" y="789"/>
                      <a:pt x="571" y="751"/>
                      <a:pt x="636" y="711"/>
                    </a:cubicBezTo>
                    <a:cubicBezTo>
                      <a:pt x="660" y="674"/>
                      <a:pt x="672" y="647"/>
                      <a:pt x="688" y="607"/>
                    </a:cubicBezTo>
                    <a:cubicBezTo>
                      <a:pt x="694" y="593"/>
                      <a:pt x="697" y="578"/>
                      <a:pt x="702" y="563"/>
                    </a:cubicBezTo>
                    <a:cubicBezTo>
                      <a:pt x="705" y="555"/>
                      <a:pt x="710" y="540"/>
                      <a:pt x="710" y="540"/>
                    </a:cubicBezTo>
                    <a:cubicBezTo>
                      <a:pt x="720" y="459"/>
                      <a:pt x="728" y="366"/>
                      <a:pt x="680" y="296"/>
                    </a:cubicBezTo>
                    <a:cubicBezTo>
                      <a:pt x="659" y="231"/>
                      <a:pt x="621" y="176"/>
                      <a:pt x="569" y="133"/>
                    </a:cubicBezTo>
                    <a:cubicBezTo>
                      <a:pt x="550" y="117"/>
                      <a:pt x="530" y="103"/>
                      <a:pt x="510" y="88"/>
                    </a:cubicBezTo>
                    <a:cubicBezTo>
                      <a:pt x="496" y="77"/>
                      <a:pt x="465" y="59"/>
                      <a:pt x="465" y="59"/>
                    </a:cubicBezTo>
                    <a:cubicBezTo>
                      <a:pt x="428" y="0"/>
                      <a:pt x="358" y="5"/>
                      <a:pt x="295" y="0"/>
                    </a:cubicBezTo>
                    <a:cubicBezTo>
                      <a:pt x="265" y="2"/>
                      <a:pt x="236" y="3"/>
                      <a:pt x="206" y="7"/>
                    </a:cubicBezTo>
                    <a:cubicBezTo>
                      <a:pt x="198" y="8"/>
                      <a:pt x="192" y="14"/>
                      <a:pt x="184" y="14"/>
                    </a:cubicBezTo>
                    <a:cubicBezTo>
                      <a:pt x="178" y="14"/>
                      <a:pt x="194" y="9"/>
                      <a:pt x="199" y="7"/>
                    </a:cubicBezTo>
                    <a:close/>
                  </a:path>
                </a:pathLst>
              </a:custGeom>
              <a:noFill/>
              <a:ln w="19050">
                <a:solidFill>
                  <a:srgbClr val="006699"/>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02" name="Freeform 101"/>
              <p:cNvSpPr/>
              <p:nvPr/>
            </p:nvSpPr>
            <p:spPr bwMode="auto">
              <a:xfrm>
                <a:off x="4090" y="2934"/>
                <a:ext cx="804" cy="889"/>
              </a:xfrm>
              <a:custGeom>
                <a:avLst/>
                <a:gdLst>
                  <a:gd name="T0" fmla="*/ 510 w 802"/>
                  <a:gd name="T1" fmla="*/ 44 h 889"/>
                  <a:gd name="T2" fmla="*/ 376 w 802"/>
                  <a:gd name="T3" fmla="*/ 177 h 889"/>
                  <a:gd name="T4" fmla="*/ 236 w 802"/>
                  <a:gd name="T5" fmla="*/ 296 h 889"/>
                  <a:gd name="T6" fmla="*/ 221 w 802"/>
                  <a:gd name="T7" fmla="*/ 318 h 889"/>
                  <a:gd name="T8" fmla="*/ 199 w 802"/>
                  <a:gd name="T9" fmla="*/ 333 h 889"/>
                  <a:gd name="T10" fmla="*/ 191 w 802"/>
                  <a:gd name="T11" fmla="*/ 355 h 889"/>
                  <a:gd name="T12" fmla="*/ 169 w 802"/>
                  <a:gd name="T13" fmla="*/ 385 h 889"/>
                  <a:gd name="T14" fmla="*/ 132 w 802"/>
                  <a:gd name="T15" fmla="*/ 496 h 889"/>
                  <a:gd name="T16" fmla="*/ 110 w 802"/>
                  <a:gd name="T17" fmla="*/ 518 h 889"/>
                  <a:gd name="T18" fmla="*/ 80 w 802"/>
                  <a:gd name="T19" fmla="*/ 562 h 889"/>
                  <a:gd name="T20" fmla="*/ 43 w 802"/>
                  <a:gd name="T21" fmla="*/ 629 h 889"/>
                  <a:gd name="T22" fmla="*/ 13 w 802"/>
                  <a:gd name="T23" fmla="*/ 703 h 889"/>
                  <a:gd name="T24" fmla="*/ 36 w 802"/>
                  <a:gd name="T25" fmla="*/ 844 h 889"/>
                  <a:gd name="T26" fmla="*/ 80 w 802"/>
                  <a:gd name="T27" fmla="*/ 874 h 889"/>
                  <a:gd name="T28" fmla="*/ 124 w 802"/>
                  <a:gd name="T29" fmla="*/ 888 h 889"/>
                  <a:gd name="T30" fmla="*/ 354 w 802"/>
                  <a:gd name="T31" fmla="*/ 874 h 889"/>
                  <a:gd name="T32" fmla="*/ 517 w 802"/>
                  <a:gd name="T33" fmla="*/ 822 h 889"/>
                  <a:gd name="T34" fmla="*/ 569 w 802"/>
                  <a:gd name="T35" fmla="*/ 792 h 889"/>
                  <a:gd name="T36" fmla="*/ 673 w 802"/>
                  <a:gd name="T37" fmla="*/ 651 h 889"/>
                  <a:gd name="T38" fmla="*/ 695 w 802"/>
                  <a:gd name="T39" fmla="*/ 600 h 889"/>
                  <a:gd name="T40" fmla="*/ 747 w 802"/>
                  <a:gd name="T41" fmla="*/ 533 h 889"/>
                  <a:gd name="T42" fmla="*/ 784 w 802"/>
                  <a:gd name="T43" fmla="*/ 451 h 889"/>
                  <a:gd name="T44" fmla="*/ 798 w 802"/>
                  <a:gd name="T45" fmla="*/ 385 h 889"/>
                  <a:gd name="T46" fmla="*/ 650 w 802"/>
                  <a:gd name="T47" fmla="*/ 0 h 889"/>
                  <a:gd name="T48" fmla="*/ 532 w 802"/>
                  <a:gd name="T49" fmla="*/ 22 h 889"/>
                  <a:gd name="T50" fmla="*/ 510 w 802"/>
                  <a:gd name="T51" fmla="*/ 44 h 88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02"/>
                  <a:gd name="T79" fmla="*/ 0 h 889"/>
                  <a:gd name="T80" fmla="*/ 802 w 802"/>
                  <a:gd name="T81" fmla="*/ 889 h 88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02" h="889">
                    <a:moveTo>
                      <a:pt x="510" y="44"/>
                    </a:moveTo>
                    <a:cubicBezTo>
                      <a:pt x="455" y="80"/>
                      <a:pt x="422" y="133"/>
                      <a:pt x="376" y="177"/>
                    </a:cubicBezTo>
                    <a:cubicBezTo>
                      <a:pt x="346" y="236"/>
                      <a:pt x="298" y="273"/>
                      <a:pt x="236" y="296"/>
                    </a:cubicBezTo>
                    <a:cubicBezTo>
                      <a:pt x="231" y="303"/>
                      <a:pt x="227" y="312"/>
                      <a:pt x="221" y="318"/>
                    </a:cubicBezTo>
                    <a:cubicBezTo>
                      <a:pt x="215" y="324"/>
                      <a:pt x="205" y="326"/>
                      <a:pt x="199" y="333"/>
                    </a:cubicBezTo>
                    <a:cubicBezTo>
                      <a:pt x="194" y="339"/>
                      <a:pt x="195" y="348"/>
                      <a:pt x="191" y="355"/>
                    </a:cubicBezTo>
                    <a:cubicBezTo>
                      <a:pt x="185" y="366"/>
                      <a:pt x="176" y="375"/>
                      <a:pt x="169" y="385"/>
                    </a:cubicBezTo>
                    <a:cubicBezTo>
                      <a:pt x="156" y="422"/>
                      <a:pt x="155" y="463"/>
                      <a:pt x="132" y="496"/>
                    </a:cubicBezTo>
                    <a:cubicBezTo>
                      <a:pt x="126" y="504"/>
                      <a:pt x="116" y="510"/>
                      <a:pt x="110" y="518"/>
                    </a:cubicBezTo>
                    <a:cubicBezTo>
                      <a:pt x="99" y="532"/>
                      <a:pt x="80" y="562"/>
                      <a:pt x="80" y="562"/>
                    </a:cubicBezTo>
                    <a:cubicBezTo>
                      <a:pt x="68" y="602"/>
                      <a:pt x="78" y="578"/>
                      <a:pt x="43" y="629"/>
                    </a:cubicBezTo>
                    <a:cubicBezTo>
                      <a:pt x="28" y="651"/>
                      <a:pt x="22" y="678"/>
                      <a:pt x="13" y="703"/>
                    </a:cubicBezTo>
                    <a:cubicBezTo>
                      <a:pt x="15" y="727"/>
                      <a:pt x="0" y="812"/>
                      <a:pt x="36" y="844"/>
                    </a:cubicBezTo>
                    <a:cubicBezTo>
                      <a:pt x="49" y="856"/>
                      <a:pt x="65" y="864"/>
                      <a:pt x="80" y="874"/>
                    </a:cubicBezTo>
                    <a:cubicBezTo>
                      <a:pt x="93" y="883"/>
                      <a:pt x="124" y="888"/>
                      <a:pt x="124" y="888"/>
                    </a:cubicBezTo>
                    <a:cubicBezTo>
                      <a:pt x="167" y="886"/>
                      <a:pt x="287" y="889"/>
                      <a:pt x="354" y="874"/>
                    </a:cubicBezTo>
                    <a:cubicBezTo>
                      <a:pt x="410" y="861"/>
                      <a:pt x="461" y="835"/>
                      <a:pt x="517" y="822"/>
                    </a:cubicBezTo>
                    <a:cubicBezTo>
                      <a:pt x="534" y="811"/>
                      <a:pt x="553" y="804"/>
                      <a:pt x="569" y="792"/>
                    </a:cubicBezTo>
                    <a:cubicBezTo>
                      <a:pt x="613" y="757"/>
                      <a:pt x="651" y="702"/>
                      <a:pt x="673" y="651"/>
                    </a:cubicBezTo>
                    <a:cubicBezTo>
                      <a:pt x="680" y="634"/>
                      <a:pt x="685" y="615"/>
                      <a:pt x="695" y="600"/>
                    </a:cubicBezTo>
                    <a:cubicBezTo>
                      <a:pt x="711" y="577"/>
                      <a:pt x="747" y="533"/>
                      <a:pt x="747" y="533"/>
                    </a:cubicBezTo>
                    <a:cubicBezTo>
                      <a:pt x="756" y="504"/>
                      <a:pt x="784" y="451"/>
                      <a:pt x="784" y="451"/>
                    </a:cubicBezTo>
                    <a:cubicBezTo>
                      <a:pt x="787" y="439"/>
                      <a:pt x="798" y="395"/>
                      <a:pt x="798" y="385"/>
                    </a:cubicBezTo>
                    <a:cubicBezTo>
                      <a:pt x="798" y="264"/>
                      <a:pt x="802" y="46"/>
                      <a:pt x="650" y="0"/>
                    </a:cubicBezTo>
                    <a:cubicBezTo>
                      <a:pt x="598" y="5"/>
                      <a:pt x="575" y="6"/>
                      <a:pt x="532" y="22"/>
                    </a:cubicBezTo>
                    <a:cubicBezTo>
                      <a:pt x="516" y="46"/>
                      <a:pt x="526" y="44"/>
                      <a:pt x="510" y="44"/>
                    </a:cubicBezTo>
                    <a:close/>
                  </a:path>
                </a:pathLst>
              </a:custGeom>
              <a:noFill/>
              <a:ln w="19050">
                <a:solidFill>
                  <a:srgbClr val="006699"/>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ctr" eaLnBrk="1" fontAlgn="auto" hangingPunct="1">
                  <a:spcBef>
                    <a:spcPts val="0"/>
                  </a:spcBef>
                  <a:spcAft>
                    <a:spcPts val="0"/>
                  </a:spcAft>
                  <a:defRPr/>
                </a:pPr>
                <a:endParaRPr lang="zh-CN" altLang="en-US" b="0" kern="0">
                  <a:solidFill>
                    <a:sysClr val="windowText" lastClr="000000"/>
                  </a:solidFill>
                </a:endParaRPr>
              </a:p>
            </p:txBody>
          </p:sp>
        </p:grpSp>
        <p:sp>
          <p:nvSpPr>
            <p:cNvPr id="99" name="Line 102"/>
            <p:cNvSpPr>
              <a:spLocks noChangeShapeType="1"/>
            </p:cNvSpPr>
            <p:nvPr/>
          </p:nvSpPr>
          <p:spPr bwMode="auto">
            <a:xfrm flipH="1">
              <a:off x="2784" y="3264"/>
              <a:ext cx="432" cy="0"/>
            </a:xfrm>
            <a:prstGeom prst="line">
              <a:avLst/>
            </a:prstGeom>
            <a:noFill/>
            <a:ln w="9525">
              <a:solidFill>
                <a:srgbClr val="006699"/>
              </a:solidFill>
              <a:round/>
              <a:tailEnd type="triangle" w="med" len="med"/>
            </a:ln>
            <a:extLst>
              <a:ext uri="{909E8E84-426E-40DD-AFC4-6F175D3DCCD1}">
                <a14:hiddenFill xmlns:a14="http://schemas.microsoft.com/office/drawing/2010/main">
                  <a:noFill/>
                </a14:hiddenFill>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ndParaRPr>
            </a:p>
          </p:txBody>
        </p:sp>
      </p:grpSp>
      <p:sp>
        <p:nvSpPr>
          <p:cNvPr id="103" name="Line 183"/>
          <p:cNvSpPr>
            <a:spLocks noChangeShapeType="1"/>
          </p:cNvSpPr>
          <p:nvPr/>
        </p:nvSpPr>
        <p:spPr bwMode="auto">
          <a:xfrm>
            <a:off x="769045" y="2193925"/>
            <a:ext cx="1728787" cy="4763"/>
          </a:xfrm>
          <a:prstGeom prst="line">
            <a:avLst/>
          </a:prstGeom>
          <a:noFill/>
          <a:ln w="9525">
            <a:solidFill>
              <a:srgbClr val="006699"/>
            </a:solidFill>
            <a:miter lim="800000"/>
            <a:tailEnd type="triangle" w="med" len="med"/>
          </a:ln>
          <a:extLst>
            <a:ext uri="{909E8E84-426E-40DD-AFC4-6F175D3DCCD1}">
              <a14:hiddenFill xmlns:a14="http://schemas.microsoft.com/office/drawing/2010/main">
                <a:noFill/>
              </a14:hiddenFill>
            </a:ext>
          </a:extLst>
        </p:spPr>
        <p:txBody>
          <a:bodyPr wrap="none"/>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04" name="Text Box 184"/>
          <p:cNvSpPr txBox="1">
            <a:spLocks noChangeArrowheads="1"/>
          </p:cNvSpPr>
          <p:nvPr/>
        </p:nvSpPr>
        <p:spPr bwMode="auto">
          <a:xfrm>
            <a:off x="629345" y="2227263"/>
            <a:ext cx="19399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rIns="36000">
            <a:spAutoFit/>
          </a:bodyPr>
          <a:lstStyle>
            <a:lvl1pPr eaLnBrk="0" hangingPunct="0">
              <a:defRPr sz="2400">
                <a:solidFill>
                  <a:schemeClr val="tx2"/>
                </a:solidFill>
                <a:latin typeface="Verdana" panose="020B0604030504040204" pitchFamily="34" charset="0"/>
                <a:ea typeface="宋体" panose="02010600030101010101" pitchFamily="2" charset="-122"/>
              </a:defRPr>
            </a:lvl1pPr>
            <a:lvl2pPr marL="742950" indent="-285750" eaLnBrk="0" hangingPunct="0">
              <a:defRPr sz="2400">
                <a:solidFill>
                  <a:schemeClr val="tx2"/>
                </a:solidFill>
                <a:latin typeface="Verdana" panose="020B0604030504040204" pitchFamily="34" charset="0"/>
                <a:ea typeface="宋体" panose="02010600030101010101" pitchFamily="2" charset="-122"/>
              </a:defRPr>
            </a:lvl2pPr>
            <a:lvl3pPr marL="1143000" indent="-228600" eaLnBrk="0" hangingPunct="0">
              <a:defRPr sz="2400">
                <a:solidFill>
                  <a:schemeClr val="tx2"/>
                </a:solidFill>
                <a:latin typeface="Verdana" panose="020B0604030504040204" pitchFamily="34" charset="0"/>
                <a:ea typeface="宋体" panose="02010600030101010101" pitchFamily="2" charset="-122"/>
              </a:defRPr>
            </a:lvl3pPr>
            <a:lvl4pPr marL="1600200" indent="-228600" eaLnBrk="0" hangingPunct="0">
              <a:defRPr sz="2400">
                <a:solidFill>
                  <a:schemeClr val="tx2"/>
                </a:solidFill>
                <a:latin typeface="Verdana" panose="020B0604030504040204" pitchFamily="34" charset="0"/>
                <a:ea typeface="宋体" panose="02010600030101010101" pitchFamily="2" charset="-122"/>
              </a:defRPr>
            </a:lvl4pPr>
            <a:lvl5pPr marL="2057400" indent="-228600" eaLnBrk="0" hangingPunct="0">
              <a:defRPr sz="2400">
                <a:solidFill>
                  <a:schemeClr val="tx2"/>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9pPr>
          </a:lstStyle>
          <a:p>
            <a:pPr algn="ctr" eaLnBrk="1" fontAlgn="auto" hangingPunct="1">
              <a:spcBef>
                <a:spcPct val="50000"/>
              </a:spcBef>
              <a:spcAft>
                <a:spcPts val="0"/>
              </a:spcAft>
              <a:defRPr/>
            </a:pPr>
            <a:r>
              <a:rPr lang="en-US" altLang="ko-KR" sz="1600" b="0" kern="0" dirty="0">
                <a:solidFill>
                  <a:schemeClr val="tx1"/>
                </a:solidFill>
                <a:latin typeface="Tahoma" panose="020B0604030504040204" pitchFamily="34" charset="0"/>
                <a:ea typeface="Gulim" panose="020B0600000101010101" pitchFamily="34" charset="-127"/>
              </a:rPr>
              <a:t>Arbitrarily choose K object as initial cluster </a:t>
            </a:r>
            <a:r>
              <a:rPr lang="en-US" altLang="ko-KR" sz="1600" b="0" kern="0" dirty="0" err="1">
                <a:solidFill>
                  <a:schemeClr val="tx1"/>
                </a:solidFill>
                <a:latin typeface="Tahoma" panose="020B0604030504040204" pitchFamily="34" charset="0"/>
                <a:ea typeface="Gulim" panose="020B0600000101010101" pitchFamily="34" charset="-127"/>
              </a:rPr>
              <a:t>center.Assign</a:t>
            </a:r>
            <a:r>
              <a:rPr lang="en-US" altLang="ko-KR" sz="1600" b="0" kern="0" dirty="0">
                <a:solidFill>
                  <a:schemeClr val="tx1"/>
                </a:solidFill>
                <a:latin typeface="Tahoma" panose="020B0604030504040204" pitchFamily="34" charset="0"/>
                <a:ea typeface="Gulim" panose="020B0600000101010101" pitchFamily="34" charset="-127"/>
              </a:rPr>
              <a:t> each objects to most similar center</a:t>
            </a:r>
            <a:endParaRPr lang="en-US" altLang="ko-KR" sz="1600" b="0" kern="0" dirty="0">
              <a:solidFill>
                <a:schemeClr val="tx1"/>
              </a:solidFill>
              <a:latin typeface="Tahoma" panose="020B0604030504040204" pitchFamily="34" charset="0"/>
              <a:ea typeface="Gulim" panose="020B0600000101010101" pitchFamily="34" charset="-127"/>
            </a:endParaRPr>
          </a:p>
        </p:txBody>
      </p:sp>
      <p:sp>
        <p:nvSpPr>
          <p:cNvPr id="105" name="Text Box 185"/>
          <p:cNvSpPr txBox="1">
            <a:spLocks noChangeArrowheads="1"/>
          </p:cNvSpPr>
          <p:nvPr/>
        </p:nvSpPr>
        <p:spPr bwMode="auto">
          <a:xfrm>
            <a:off x="4860032" y="2351088"/>
            <a:ext cx="8382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2"/>
                </a:solidFill>
                <a:latin typeface="Verdana" panose="020B0604030504040204" pitchFamily="34" charset="0"/>
                <a:ea typeface="宋体" panose="02010600030101010101" pitchFamily="2" charset="-122"/>
              </a:defRPr>
            </a:lvl1pPr>
            <a:lvl2pPr marL="742950" indent="-285750" eaLnBrk="0" hangingPunct="0">
              <a:defRPr sz="2400">
                <a:solidFill>
                  <a:schemeClr val="tx2"/>
                </a:solidFill>
                <a:latin typeface="Verdana" panose="020B0604030504040204" pitchFamily="34" charset="0"/>
                <a:ea typeface="宋体" panose="02010600030101010101" pitchFamily="2" charset="-122"/>
              </a:defRPr>
            </a:lvl2pPr>
            <a:lvl3pPr marL="1143000" indent="-228600" eaLnBrk="0" hangingPunct="0">
              <a:defRPr sz="2400">
                <a:solidFill>
                  <a:schemeClr val="tx2"/>
                </a:solidFill>
                <a:latin typeface="Verdana" panose="020B0604030504040204" pitchFamily="34" charset="0"/>
                <a:ea typeface="宋体" panose="02010600030101010101" pitchFamily="2" charset="-122"/>
              </a:defRPr>
            </a:lvl3pPr>
            <a:lvl4pPr marL="1600200" indent="-228600" eaLnBrk="0" hangingPunct="0">
              <a:defRPr sz="2400">
                <a:solidFill>
                  <a:schemeClr val="tx2"/>
                </a:solidFill>
                <a:latin typeface="Verdana" panose="020B0604030504040204" pitchFamily="34" charset="0"/>
                <a:ea typeface="宋体" panose="02010600030101010101" pitchFamily="2" charset="-122"/>
              </a:defRPr>
            </a:lvl4pPr>
            <a:lvl5pPr marL="2057400" indent="-228600" eaLnBrk="0" hangingPunct="0">
              <a:defRPr sz="2400">
                <a:solidFill>
                  <a:schemeClr val="tx2"/>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9pPr>
          </a:lstStyle>
          <a:p>
            <a:pPr algn="ctr" eaLnBrk="1" fontAlgn="auto" hangingPunct="1">
              <a:spcBef>
                <a:spcPct val="50000"/>
              </a:spcBef>
              <a:spcAft>
                <a:spcPts val="0"/>
              </a:spcAft>
              <a:defRPr/>
            </a:pPr>
            <a:r>
              <a:rPr lang="en-US" altLang="ko-KR" sz="1600" b="0" kern="0" dirty="0">
                <a:solidFill>
                  <a:schemeClr val="tx1"/>
                </a:solidFill>
                <a:latin typeface="Tahoma" panose="020B0604030504040204" pitchFamily="34" charset="0"/>
                <a:ea typeface="Gulim" panose="020B0600000101010101" pitchFamily="34" charset="-127"/>
              </a:rPr>
              <a:t>Update the cluster means</a:t>
            </a:r>
            <a:endParaRPr lang="en-US" altLang="ko-KR" sz="1600" b="0" kern="0" dirty="0">
              <a:solidFill>
                <a:schemeClr val="tx1"/>
              </a:solidFill>
              <a:latin typeface="Tahoma" panose="020B0604030504040204" pitchFamily="34" charset="0"/>
              <a:ea typeface="Gulim" panose="020B0600000101010101" pitchFamily="34" charset="-127"/>
            </a:endParaRPr>
          </a:p>
        </p:txBody>
      </p:sp>
      <p:sp>
        <p:nvSpPr>
          <p:cNvPr id="106" name="Text Box 190"/>
          <p:cNvSpPr txBox="1">
            <a:spLocks noChangeArrowheads="1"/>
          </p:cNvSpPr>
          <p:nvPr/>
        </p:nvSpPr>
        <p:spPr bwMode="auto">
          <a:xfrm>
            <a:off x="4945757" y="4532313"/>
            <a:ext cx="8382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2"/>
                </a:solidFill>
                <a:latin typeface="Verdana" panose="020B0604030504040204" pitchFamily="34" charset="0"/>
                <a:ea typeface="宋体" panose="02010600030101010101" pitchFamily="2" charset="-122"/>
              </a:defRPr>
            </a:lvl1pPr>
            <a:lvl2pPr marL="742950" indent="-285750" eaLnBrk="0" hangingPunct="0">
              <a:defRPr sz="2400">
                <a:solidFill>
                  <a:schemeClr val="tx2"/>
                </a:solidFill>
                <a:latin typeface="Verdana" panose="020B0604030504040204" pitchFamily="34" charset="0"/>
                <a:ea typeface="宋体" panose="02010600030101010101" pitchFamily="2" charset="-122"/>
              </a:defRPr>
            </a:lvl2pPr>
            <a:lvl3pPr marL="1143000" indent="-228600" eaLnBrk="0" hangingPunct="0">
              <a:defRPr sz="2400">
                <a:solidFill>
                  <a:schemeClr val="tx2"/>
                </a:solidFill>
                <a:latin typeface="Verdana" panose="020B0604030504040204" pitchFamily="34" charset="0"/>
                <a:ea typeface="宋体" panose="02010600030101010101" pitchFamily="2" charset="-122"/>
              </a:defRPr>
            </a:lvl3pPr>
            <a:lvl4pPr marL="1600200" indent="-228600" eaLnBrk="0" hangingPunct="0">
              <a:defRPr sz="2400">
                <a:solidFill>
                  <a:schemeClr val="tx2"/>
                </a:solidFill>
                <a:latin typeface="Verdana" panose="020B0604030504040204" pitchFamily="34" charset="0"/>
                <a:ea typeface="宋体" panose="02010600030101010101" pitchFamily="2" charset="-122"/>
              </a:defRPr>
            </a:lvl4pPr>
            <a:lvl5pPr marL="2057400" indent="-228600" eaLnBrk="0" hangingPunct="0">
              <a:defRPr sz="2400">
                <a:solidFill>
                  <a:schemeClr val="tx2"/>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9pPr>
          </a:lstStyle>
          <a:p>
            <a:pPr algn="ctr" eaLnBrk="1" fontAlgn="auto" hangingPunct="1">
              <a:spcBef>
                <a:spcPct val="50000"/>
              </a:spcBef>
              <a:spcAft>
                <a:spcPts val="0"/>
              </a:spcAft>
              <a:defRPr/>
            </a:pPr>
            <a:r>
              <a:rPr lang="en-US" altLang="ko-KR" sz="1600" b="0" kern="0" dirty="0">
                <a:solidFill>
                  <a:schemeClr val="tx1"/>
                </a:solidFill>
                <a:latin typeface="Tahoma" panose="020B0604030504040204" pitchFamily="34" charset="0"/>
                <a:ea typeface="Gulim" panose="020B0600000101010101" pitchFamily="34" charset="-127"/>
              </a:rPr>
              <a:t>Update the cluster means</a:t>
            </a:r>
            <a:endParaRPr lang="en-US" altLang="ko-KR" sz="1600" b="0" kern="0" dirty="0">
              <a:solidFill>
                <a:schemeClr val="tx1"/>
              </a:solidFill>
              <a:latin typeface="Tahoma" panose="020B0604030504040204" pitchFamily="34" charset="0"/>
              <a:ea typeface="Gulim" panose="020B0600000101010101" pitchFamily="34" charset="-127"/>
            </a:endParaRPr>
          </a:p>
        </p:txBody>
      </p:sp>
      <p:sp>
        <p:nvSpPr>
          <p:cNvPr id="107" name="Text Box 191"/>
          <p:cNvSpPr txBox="1">
            <a:spLocks noChangeArrowheads="1"/>
          </p:cNvSpPr>
          <p:nvPr/>
        </p:nvSpPr>
        <p:spPr bwMode="auto">
          <a:xfrm>
            <a:off x="7069832" y="3417888"/>
            <a:ext cx="990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2"/>
                </a:solidFill>
                <a:latin typeface="Verdana" panose="020B0604030504040204" pitchFamily="34" charset="0"/>
                <a:ea typeface="宋体" panose="02010600030101010101" pitchFamily="2" charset="-122"/>
              </a:defRPr>
            </a:lvl1pPr>
            <a:lvl2pPr marL="742950" indent="-285750" eaLnBrk="0" hangingPunct="0">
              <a:defRPr sz="2400">
                <a:solidFill>
                  <a:schemeClr val="tx2"/>
                </a:solidFill>
                <a:latin typeface="Verdana" panose="020B0604030504040204" pitchFamily="34" charset="0"/>
                <a:ea typeface="宋体" panose="02010600030101010101" pitchFamily="2" charset="-122"/>
              </a:defRPr>
            </a:lvl2pPr>
            <a:lvl3pPr marL="1143000" indent="-228600" eaLnBrk="0" hangingPunct="0">
              <a:defRPr sz="2400">
                <a:solidFill>
                  <a:schemeClr val="tx2"/>
                </a:solidFill>
                <a:latin typeface="Verdana" panose="020B0604030504040204" pitchFamily="34" charset="0"/>
                <a:ea typeface="宋体" panose="02010600030101010101" pitchFamily="2" charset="-122"/>
              </a:defRPr>
            </a:lvl3pPr>
            <a:lvl4pPr marL="1600200" indent="-228600" eaLnBrk="0" hangingPunct="0">
              <a:defRPr sz="2400">
                <a:solidFill>
                  <a:schemeClr val="tx2"/>
                </a:solidFill>
                <a:latin typeface="Verdana" panose="020B0604030504040204" pitchFamily="34" charset="0"/>
                <a:ea typeface="宋体" panose="02010600030101010101" pitchFamily="2" charset="-122"/>
              </a:defRPr>
            </a:lvl4pPr>
            <a:lvl5pPr marL="2057400" indent="-228600" eaLnBrk="0" hangingPunct="0">
              <a:defRPr sz="2400">
                <a:solidFill>
                  <a:schemeClr val="tx2"/>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9pPr>
          </a:lstStyle>
          <a:p>
            <a:pPr algn="ctr" eaLnBrk="1" fontAlgn="auto" hangingPunct="1">
              <a:spcBef>
                <a:spcPct val="50000"/>
              </a:spcBef>
              <a:spcAft>
                <a:spcPts val="0"/>
              </a:spcAft>
              <a:defRPr/>
            </a:pPr>
            <a:r>
              <a:rPr lang="en-US" altLang="ko-KR" sz="1600" b="0" kern="0" dirty="0">
                <a:solidFill>
                  <a:schemeClr val="tx1"/>
                </a:solidFill>
                <a:latin typeface="Tahoma" panose="020B0604030504040204" pitchFamily="34" charset="0"/>
                <a:ea typeface="Gulim" panose="020B0600000101010101" pitchFamily="34" charset="-127"/>
              </a:rPr>
              <a:t>reassign</a:t>
            </a:r>
            <a:endParaRPr lang="en-US" altLang="ko-KR" sz="1600" b="0" kern="0" dirty="0">
              <a:solidFill>
                <a:schemeClr val="tx1"/>
              </a:solidFill>
              <a:latin typeface="Tahoma" panose="020B0604030504040204" pitchFamily="34" charset="0"/>
              <a:ea typeface="Gulim" panose="020B0600000101010101" pitchFamily="34" charset="-127"/>
            </a:endParaRPr>
          </a:p>
        </p:txBody>
      </p:sp>
      <p:sp>
        <p:nvSpPr>
          <p:cNvPr id="108" name="Line 192"/>
          <p:cNvSpPr>
            <a:spLocks noChangeShapeType="1"/>
          </p:cNvSpPr>
          <p:nvPr/>
        </p:nvSpPr>
        <p:spPr bwMode="auto">
          <a:xfrm flipV="1">
            <a:off x="3653532" y="3417888"/>
            <a:ext cx="0" cy="228600"/>
          </a:xfrm>
          <a:prstGeom prst="line">
            <a:avLst/>
          </a:prstGeom>
          <a:noFill/>
          <a:ln w="9525">
            <a:solidFill>
              <a:srgbClr val="006699"/>
            </a:solidFill>
            <a:miter lim="800000"/>
            <a:tailEnd type="triangle" w="med" len="med"/>
          </a:ln>
          <a:extLst>
            <a:ext uri="{909E8E84-426E-40DD-AFC4-6F175D3DCCD1}">
              <a14:hiddenFill xmlns:a14="http://schemas.microsoft.com/office/drawing/2010/main">
                <a:noFill/>
              </a14:hiddenFill>
            </a:ext>
          </a:extLst>
        </p:spPr>
        <p:txBody>
          <a:bodyPr wrap="none"/>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09" name="Text Box 193"/>
          <p:cNvSpPr txBox="1">
            <a:spLocks noChangeArrowheads="1"/>
          </p:cNvSpPr>
          <p:nvPr/>
        </p:nvSpPr>
        <p:spPr bwMode="auto">
          <a:xfrm>
            <a:off x="3805932" y="3417888"/>
            <a:ext cx="990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2"/>
                </a:solidFill>
                <a:latin typeface="Verdana" panose="020B0604030504040204" pitchFamily="34" charset="0"/>
                <a:ea typeface="宋体" panose="02010600030101010101" pitchFamily="2" charset="-122"/>
              </a:defRPr>
            </a:lvl1pPr>
            <a:lvl2pPr marL="742950" indent="-285750" eaLnBrk="0" hangingPunct="0">
              <a:defRPr sz="2400">
                <a:solidFill>
                  <a:schemeClr val="tx2"/>
                </a:solidFill>
                <a:latin typeface="Verdana" panose="020B0604030504040204" pitchFamily="34" charset="0"/>
                <a:ea typeface="宋体" panose="02010600030101010101" pitchFamily="2" charset="-122"/>
              </a:defRPr>
            </a:lvl2pPr>
            <a:lvl3pPr marL="1143000" indent="-228600" eaLnBrk="0" hangingPunct="0">
              <a:defRPr sz="2400">
                <a:solidFill>
                  <a:schemeClr val="tx2"/>
                </a:solidFill>
                <a:latin typeface="Verdana" panose="020B0604030504040204" pitchFamily="34" charset="0"/>
                <a:ea typeface="宋体" panose="02010600030101010101" pitchFamily="2" charset="-122"/>
              </a:defRPr>
            </a:lvl3pPr>
            <a:lvl4pPr marL="1600200" indent="-228600" eaLnBrk="0" hangingPunct="0">
              <a:defRPr sz="2400">
                <a:solidFill>
                  <a:schemeClr val="tx2"/>
                </a:solidFill>
                <a:latin typeface="Verdana" panose="020B0604030504040204" pitchFamily="34" charset="0"/>
                <a:ea typeface="宋体" panose="02010600030101010101" pitchFamily="2" charset="-122"/>
              </a:defRPr>
            </a:lvl4pPr>
            <a:lvl5pPr marL="2057400" indent="-228600" eaLnBrk="0" hangingPunct="0">
              <a:defRPr sz="2400">
                <a:solidFill>
                  <a:schemeClr val="tx2"/>
                </a:solidFill>
                <a:latin typeface="Verdan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har char="–"/>
              <a:defRPr sz="2400">
                <a:solidFill>
                  <a:schemeClr val="tx2"/>
                </a:solidFill>
                <a:latin typeface="Verdana" panose="020B0604030504040204" pitchFamily="34" charset="0"/>
                <a:ea typeface="宋体" panose="02010600030101010101" pitchFamily="2" charset="-122"/>
              </a:defRPr>
            </a:lvl9pPr>
          </a:lstStyle>
          <a:p>
            <a:pPr algn="ctr" eaLnBrk="1" fontAlgn="auto" hangingPunct="1">
              <a:spcBef>
                <a:spcPct val="50000"/>
              </a:spcBef>
              <a:spcAft>
                <a:spcPts val="0"/>
              </a:spcAft>
              <a:defRPr/>
            </a:pPr>
            <a:r>
              <a:rPr lang="en-US" altLang="ko-KR" sz="1600" b="0" kern="0" dirty="0">
                <a:solidFill>
                  <a:schemeClr val="tx1"/>
                </a:solidFill>
                <a:latin typeface="Tahoma" panose="020B0604030504040204" pitchFamily="34" charset="0"/>
                <a:ea typeface="Gulim" panose="020B0600000101010101" pitchFamily="34" charset="-127"/>
              </a:rPr>
              <a:t>reassign</a:t>
            </a:r>
            <a:endParaRPr lang="en-US" altLang="ko-KR" sz="1600" b="0" kern="0" dirty="0">
              <a:solidFill>
                <a:schemeClr val="tx1"/>
              </a:solidFill>
              <a:latin typeface="Tahoma" panose="020B0604030504040204" pitchFamily="34" charset="0"/>
              <a:ea typeface="Gulim" panose="020B0600000101010101" pitchFamily="34" charset="-127"/>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k-means</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484392" y="980654"/>
            <a:ext cx="8424863" cy="504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eaLnBrk="1" hangingPunct="1">
              <a:lnSpc>
                <a:spcPct val="130000"/>
              </a:lnSpc>
              <a:buSzPct val="80000"/>
              <a:buFont typeface="Wingdings" panose="05000000000000000000" pitchFamily="2" charset="2"/>
              <a:buChar char="n"/>
            </a:pPr>
            <a:r>
              <a:rPr lang="zh-CN" altLang="en-US" sz="2800" dirty="0">
                <a:solidFill>
                  <a:srgbClr val="FF0000"/>
                </a:solidFill>
                <a:latin typeface="方正兰亭中黑_GBK" panose="02000000000000000000" pitchFamily="2" charset="-122"/>
                <a:ea typeface="方正兰亭中黑_GBK" panose="02000000000000000000" pitchFamily="2" charset="-122"/>
              </a:rPr>
              <a:t>例子</a:t>
            </a:r>
            <a:r>
              <a:rPr lang="en-US" altLang="zh-CN" sz="2800" dirty="0">
                <a:solidFill>
                  <a:srgbClr val="FF0000"/>
                </a:solidFill>
                <a:latin typeface="Palatino Linotype" panose="02040502050505030304" pitchFamily="18" charset="0"/>
              </a:rPr>
              <a:t>2</a:t>
            </a:r>
            <a:r>
              <a:rPr lang="zh-CN" altLang="en-US" sz="2800" dirty="0">
                <a:solidFill>
                  <a:srgbClr val="FF0000"/>
                </a:solidFill>
                <a:latin typeface="方正兰亭中黑_GBK" panose="02000000000000000000" pitchFamily="2" charset="-122"/>
                <a:ea typeface="方正兰亭中黑_GBK" panose="02000000000000000000" pitchFamily="2" charset="-122"/>
              </a:rPr>
              <a:t>：药品聚类；</a:t>
            </a:r>
            <a:r>
              <a:rPr lang="en-US" altLang="zh-CN" sz="2800" dirty="0">
                <a:solidFill>
                  <a:srgbClr val="FF0000"/>
                </a:solidFill>
                <a:latin typeface="Palatino Linotype" panose="02040502050505030304" pitchFamily="18" charset="0"/>
              </a:rPr>
              <a:t>k=2</a:t>
            </a:r>
            <a:endParaRPr lang="en-US" altLang="zh-CN" sz="2800" dirty="0">
              <a:solidFill>
                <a:srgbClr val="FF0000"/>
              </a:solidFill>
              <a:latin typeface="Palatino Linotype" panose="02040502050505030304" pitchFamily="18" charset="0"/>
            </a:endParaRPr>
          </a:p>
        </p:txBody>
      </p:sp>
      <p:graphicFrame>
        <p:nvGraphicFramePr>
          <p:cNvPr id="4" name="Group 38"/>
          <p:cNvGraphicFramePr>
            <a:graphicFrameLocks noGrp="1"/>
          </p:cNvGraphicFramePr>
          <p:nvPr/>
        </p:nvGraphicFramePr>
        <p:xfrm>
          <a:off x="736805" y="2234779"/>
          <a:ext cx="3438525" cy="3048000"/>
        </p:xfrm>
        <a:graphic>
          <a:graphicData uri="http://schemas.openxmlformats.org/drawingml/2006/table">
            <a:tbl>
              <a:tblPr/>
              <a:tblGrid>
                <a:gridCol w="1147762"/>
                <a:gridCol w="1143000"/>
                <a:gridCol w="1147763"/>
              </a:tblGrid>
              <a:tr h="609600">
                <a:tc>
                  <a:txBody>
                    <a:bodyPr/>
                    <a:lstStyle/>
                    <a:p>
                      <a:pPr marL="0" marR="0" lvl="0" indent="0" algn="ctr" defTabSz="1043305" rtl="0" eaLnBrk="1" fontAlgn="base" latinLnBrk="0" hangingPunct="1">
                        <a:lnSpc>
                          <a:spcPct val="135000"/>
                        </a:lnSpc>
                        <a:spcBef>
                          <a:spcPct val="50000"/>
                        </a:spcBef>
                        <a:spcAft>
                          <a:spcPct val="0"/>
                        </a:spcAft>
                        <a:buClrTx/>
                        <a:buSzTx/>
                        <a:buFont typeface="Wingdings" panose="05000000000000000000" pitchFamily="2" charset="2"/>
                        <a:buNone/>
                      </a:pPr>
                      <a:r>
                        <a:rPr kumimoji="0" lang="en-GB" sz="1800" b="1"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rPr>
                        <a:t>Medicine</a:t>
                      </a:r>
                      <a:endParaRPr kumimoji="0" lang="en-GB" sz="1800" b="1"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endParaRPr>
                    </a:p>
                  </a:txBody>
                  <a:tcPr marL="80147" marR="80147" marT="40074" marB="40074"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3305" rtl="0" eaLnBrk="1" fontAlgn="base" latinLnBrk="0" hangingPunct="1">
                        <a:lnSpc>
                          <a:spcPct val="135000"/>
                        </a:lnSpc>
                        <a:spcBef>
                          <a:spcPct val="50000"/>
                        </a:spcBef>
                        <a:spcAft>
                          <a:spcPct val="0"/>
                        </a:spcAft>
                        <a:buClrTx/>
                        <a:buSzTx/>
                        <a:buFont typeface="Wingdings" panose="05000000000000000000" pitchFamily="2" charset="2"/>
                        <a:buNone/>
                      </a:pPr>
                      <a:r>
                        <a:rPr kumimoji="0" lang="en-GB" sz="1800" b="1"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rPr>
                        <a:t>Weight</a:t>
                      </a:r>
                      <a:endParaRPr kumimoji="0" lang="en-GB" sz="1800" b="1"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endParaRPr>
                    </a:p>
                  </a:txBody>
                  <a:tcPr marL="80147" marR="80147" marT="40074" marB="4007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3305" rtl="0" eaLnBrk="1" fontAlgn="base" latinLnBrk="0" hangingPunct="1">
                        <a:lnSpc>
                          <a:spcPct val="135000"/>
                        </a:lnSpc>
                        <a:spcBef>
                          <a:spcPct val="50000"/>
                        </a:spcBef>
                        <a:spcAft>
                          <a:spcPct val="0"/>
                        </a:spcAft>
                        <a:buClrTx/>
                        <a:buSzTx/>
                        <a:buFont typeface="Wingdings" panose="05000000000000000000" pitchFamily="2" charset="2"/>
                        <a:buNone/>
                      </a:pPr>
                      <a:r>
                        <a:rPr kumimoji="0" lang="en-GB" sz="1800" b="1" i="0" u="none" strike="noStrike" cap="none" normalizeH="0" baseline="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rPr>
                        <a:t>pH-Index</a:t>
                      </a:r>
                      <a:endParaRPr kumimoji="0" lang="en-GB" sz="1800" b="1" i="0" u="none" strike="noStrike" cap="none" normalizeH="0" baseline="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endParaRPr>
                    </a:p>
                  </a:txBody>
                  <a:tcPr marL="80147" marR="80147" marT="40074" marB="4007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9600">
                <a:tc>
                  <a:txBody>
                    <a:bodyPr/>
                    <a:lstStyle/>
                    <a:p>
                      <a:pPr marL="0" marR="0" lvl="0" indent="0" algn="ctr" defTabSz="1043305" rtl="0" eaLnBrk="1" fontAlgn="base" latinLnBrk="0" hangingPunct="1">
                        <a:lnSpc>
                          <a:spcPct val="135000"/>
                        </a:lnSpc>
                        <a:spcBef>
                          <a:spcPct val="50000"/>
                        </a:spcBef>
                        <a:spcAft>
                          <a:spcPct val="0"/>
                        </a:spcAft>
                        <a:buClrTx/>
                        <a:buSzTx/>
                        <a:buFont typeface="Wingdings" panose="05000000000000000000" pitchFamily="2" charset="2"/>
                        <a:buNone/>
                      </a:pPr>
                      <a:r>
                        <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rPr>
                        <a:t>A</a:t>
                      </a:r>
                      <a:endPar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endParaRPr>
                    </a:p>
                  </a:txBody>
                  <a:tcPr marL="80147" marR="80147" marT="40074" marB="40074"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3305" rtl="0" eaLnBrk="1" fontAlgn="base" latinLnBrk="0" hangingPunct="1">
                        <a:lnSpc>
                          <a:spcPct val="135000"/>
                        </a:lnSpc>
                        <a:spcBef>
                          <a:spcPct val="50000"/>
                        </a:spcBef>
                        <a:spcAft>
                          <a:spcPct val="0"/>
                        </a:spcAft>
                        <a:buClrTx/>
                        <a:buSzTx/>
                        <a:buFont typeface="Wingdings" panose="05000000000000000000" pitchFamily="2" charset="2"/>
                        <a:buNone/>
                      </a:pPr>
                      <a:r>
                        <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rPr>
                        <a:t>1</a:t>
                      </a:r>
                      <a:endPar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endParaRPr>
                    </a:p>
                  </a:txBody>
                  <a:tcPr marL="80147" marR="80147" marT="40074" marB="4007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3305" rtl="0" eaLnBrk="1" fontAlgn="base" latinLnBrk="0" hangingPunct="1">
                        <a:lnSpc>
                          <a:spcPct val="135000"/>
                        </a:lnSpc>
                        <a:spcBef>
                          <a:spcPct val="50000"/>
                        </a:spcBef>
                        <a:spcAft>
                          <a:spcPct val="0"/>
                        </a:spcAft>
                        <a:buClrTx/>
                        <a:buSzTx/>
                        <a:buFont typeface="Wingdings" panose="05000000000000000000" pitchFamily="2" charset="2"/>
                        <a:buNone/>
                      </a:pPr>
                      <a:r>
                        <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rPr>
                        <a:t>1</a:t>
                      </a:r>
                      <a:endPar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endParaRPr>
                    </a:p>
                  </a:txBody>
                  <a:tcPr marL="80147" marR="80147" marT="40074" marB="4007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9600">
                <a:tc>
                  <a:txBody>
                    <a:bodyPr/>
                    <a:lstStyle/>
                    <a:p>
                      <a:pPr marL="0" marR="0" lvl="0" indent="0" algn="ctr" defTabSz="1043305" rtl="0" eaLnBrk="1" fontAlgn="base" latinLnBrk="0" hangingPunct="1">
                        <a:lnSpc>
                          <a:spcPct val="135000"/>
                        </a:lnSpc>
                        <a:spcBef>
                          <a:spcPct val="50000"/>
                        </a:spcBef>
                        <a:spcAft>
                          <a:spcPct val="0"/>
                        </a:spcAft>
                        <a:buClrTx/>
                        <a:buSzTx/>
                        <a:buFont typeface="Wingdings" panose="05000000000000000000" pitchFamily="2" charset="2"/>
                        <a:buNone/>
                      </a:pPr>
                      <a:r>
                        <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rPr>
                        <a:t>B</a:t>
                      </a:r>
                      <a:endPar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endParaRPr>
                    </a:p>
                  </a:txBody>
                  <a:tcPr marL="80147" marR="80147" marT="40074" marB="40074"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3305" rtl="0" eaLnBrk="1" fontAlgn="base" latinLnBrk="0" hangingPunct="1">
                        <a:lnSpc>
                          <a:spcPct val="135000"/>
                        </a:lnSpc>
                        <a:spcBef>
                          <a:spcPct val="50000"/>
                        </a:spcBef>
                        <a:spcAft>
                          <a:spcPct val="0"/>
                        </a:spcAft>
                        <a:buClrTx/>
                        <a:buSzTx/>
                        <a:buFont typeface="Wingdings" panose="05000000000000000000" pitchFamily="2" charset="2"/>
                        <a:buNone/>
                      </a:pPr>
                      <a:r>
                        <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rPr>
                        <a:t>2</a:t>
                      </a:r>
                      <a:endPar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endParaRPr>
                    </a:p>
                  </a:txBody>
                  <a:tcPr marL="80147" marR="80147" marT="40074" marB="4007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3305" rtl="0" eaLnBrk="1" fontAlgn="base" latinLnBrk="0" hangingPunct="1">
                        <a:lnSpc>
                          <a:spcPct val="135000"/>
                        </a:lnSpc>
                        <a:spcBef>
                          <a:spcPct val="50000"/>
                        </a:spcBef>
                        <a:spcAft>
                          <a:spcPct val="0"/>
                        </a:spcAft>
                        <a:buClrTx/>
                        <a:buSzTx/>
                        <a:buFont typeface="Wingdings" panose="05000000000000000000" pitchFamily="2" charset="2"/>
                        <a:buNone/>
                      </a:pPr>
                      <a:r>
                        <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rPr>
                        <a:t>1</a:t>
                      </a:r>
                      <a:endPar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endParaRPr>
                    </a:p>
                  </a:txBody>
                  <a:tcPr marL="80147" marR="80147" marT="40074" marB="4007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9600">
                <a:tc>
                  <a:txBody>
                    <a:bodyPr/>
                    <a:lstStyle/>
                    <a:p>
                      <a:pPr marL="0" marR="0" lvl="0" indent="0" algn="ctr" defTabSz="1043305" rtl="0" eaLnBrk="1" fontAlgn="base" latinLnBrk="0" hangingPunct="1">
                        <a:lnSpc>
                          <a:spcPct val="135000"/>
                        </a:lnSpc>
                        <a:spcBef>
                          <a:spcPct val="50000"/>
                        </a:spcBef>
                        <a:spcAft>
                          <a:spcPct val="0"/>
                        </a:spcAft>
                        <a:buClrTx/>
                        <a:buSzTx/>
                        <a:buFont typeface="Wingdings" panose="05000000000000000000" pitchFamily="2" charset="2"/>
                        <a:buNone/>
                      </a:pPr>
                      <a:r>
                        <a:rPr kumimoji="0" lang="en-GB" sz="2400" b="0" i="0" u="none" strike="noStrike" cap="none" normalizeH="0" baseline="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rPr>
                        <a:t>C</a:t>
                      </a:r>
                      <a:endParaRPr kumimoji="0" lang="en-GB" sz="2400" b="0" i="0" u="none" strike="noStrike" cap="none" normalizeH="0" baseline="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endParaRPr>
                    </a:p>
                  </a:txBody>
                  <a:tcPr marL="80147" marR="80147" marT="40074" marB="40074"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3305" rtl="0" eaLnBrk="1" fontAlgn="base" latinLnBrk="0" hangingPunct="1">
                        <a:lnSpc>
                          <a:spcPct val="135000"/>
                        </a:lnSpc>
                        <a:spcBef>
                          <a:spcPct val="50000"/>
                        </a:spcBef>
                        <a:spcAft>
                          <a:spcPct val="0"/>
                        </a:spcAft>
                        <a:buClrTx/>
                        <a:buSzTx/>
                        <a:buFont typeface="Wingdings" panose="05000000000000000000" pitchFamily="2" charset="2"/>
                        <a:buNone/>
                      </a:pPr>
                      <a:r>
                        <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rPr>
                        <a:t>4</a:t>
                      </a:r>
                      <a:endPar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endParaRPr>
                    </a:p>
                  </a:txBody>
                  <a:tcPr marL="80147" marR="80147" marT="40074" marB="4007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3305" rtl="0" eaLnBrk="1" fontAlgn="base" latinLnBrk="0" hangingPunct="1">
                        <a:lnSpc>
                          <a:spcPct val="135000"/>
                        </a:lnSpc>
                        <a:spcBef>
                          <a:spcPct val="50000"/>
                        </a:spcBef>
                        <a:spcAft>
                          <a:spcPct val="0"/>
                        </a:spcAft>
                        <a:buClrTx/>
                        <a:buSzTx/>
                        <a:buFont typeface="Wingdings" panose="05000000000000000000" pitchFamily="2" charset="2"/>
                        <a:buNone/>
                      </a:pPr>
                      <a:r>
                        <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rPr>
                        <a:t>3</a:t>
                      </a:r>
                      <a:endPar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endParaRPr>
                    </a:p>
                  </a:txBody>
                  <a:tcPr marL="80147" marR="80147" marT="40074" marB="4007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9600">
                <a:tc>
                  <a:txBody>
                    <a:bodyPr/>
                    <a:lstStyle/>
                    <a:p>
                      <a:pPr marL="0" marR="0" lvl="0" indent="0" algn="ctr" defTabSz="1043305" rtl="0" eaLnBrk="1" fontAlgn="base" latinLnBrk="0" hangingPunct="1">
                        <a:lnSpc>
                          <a:spcPct val="135000"/>
                        </a:lnSpc>
                        <a:spcBef>
                          <a:spcPct val="50000"/>
                        </a:spcBef>
                        <a:spcAft>
                          <a:spcPct val="0"/>
                        </a:spcAft>
                        <a:buClrTx/>
                        <a:buSzTx/>
                        <a:buFont typeface="Wingdings" panose="05000000000000000000" pitchFamily="2" charset="2"/>
                        <a:buNone/>
                      </a:pPr>
                      <a:r>
                        <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rPr>
                        <a:t>D</a:t>
                      </a:r>
                      <a:endPar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endParaRPr>
                    </a:p>
                  </a:txBody>
                  <a:tcPr marL="80147" marR="80147" marT="40074" marB="40074"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3305" rtl="0" eaLnBrk="1" fontAlgn="base" latinLnBrk="0" hangingPunct="1">
                        <a:lnSpc>
                          <a:spcPct val="135000"/>
                        </a:lnSpc>
                        <a:spcBef>
                          <a:spcPct val="50000"/>
                        </a:spcBef>
                        <a:spcAft>
                          <a:spcPct val="0"/>
                        </a:spcAft>
                        <a:buClrTx/>
                        <a:buSzTx/>
                        <a:buFont typeface="Wingdings" panose="05000000000000000000" pitchFamily="2" charset="2"/>
                        <a:buNone/>
                      </a:pPr>
                      <a:r>
                        <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rPr>
                        <a:t>5</a:t>
                      </a:r>
                      <a:endPar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endParaRPr>
                    </a:p>
                  </a:txBody>
                  <a:tcPr marL="80147" marR="80147" marT="40074" marB="4007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1043305" rtl="0" eaLnBrk="1" fontAlgn="base" latinLnBrk="0" hangingPunct="1">
                        <a:lnSpc>
                          <a:spcPct val="135000"/>
                        </a:lnSpc>
                        <a:spcBef>
                          <a:spcPct val="50000"/>
                        </a:spcBef>
                        <a:spcAft>
                          <a:spcPct val="0"/>
                        </a:spcAft>
                        <a:buClrTx/>
                        <a:buSzTx/>
                        <a:buFont typeface="Wingdings" panose="05000000000000000000" pitchFamily="2" charset="2"/>
                        <a:buNone/>
                      </a:pPr>
                      <a:r>
                        <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rPr>
                        <a:t>4</a:t>
                      </a:r>
                      <a:endParaRPr kumimoji="0" lang="en-GB" sz="2400" b="0" i="0" u="none" strike="noStrike" cap="none" normalizeH="0" baseline="0" dirty="0">
                        <a:ln>
                          <a:noFill/>
                        </a:ln>
                        <a:solidFill>
                          <a:srgbClr val="0000CC"/>
                        </a:solidFill>
                        <a:effectLst/>
                        <a:latin typeface="Calibri" panose="020F0502020204030204" pitchFamily="34" charset="0"/>
                        <a:ea typeface="微软雅黑" panose="020B0503020204020204" pitchFamily="34" charset="-122"/>
                        <a:cs typeface="Calibri" panose="020F0502020204030204" pitchFamily="34" charset="0"/>
                      </a:endParaRPr>
                    </a:p>
                  </a:txBody>
                  <a:tcPr marL="80147" marR="80147" marT="40074" marB="4007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05530" y="1772816"/>
            <a:ext cx="4259262" cy="3990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k-means</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495048" y="908720"/>
            <a:ext cx="8424862"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marR="0" lvl="0" indent="0" defTabSz="914400" rtl="0" eaLnBrk="1" fontAlgn="base" latinLnBrk="0" hangingPunct="1">
              <a:lnSpc>
                <a:spcPct val="130000"/>
              </a:lnSpc>
              <a:spcBef>
                <a:spcPct val="0"/>
              </a:spcBef>
              <a:spcAft>
                <a:spcPct val="0"/>
              </a:spcAft>
              <a:buClrTx/>
              <a:buSzPct val="80000"/>
              <a:buFont typeface="Wingdings" panose="05000000000000000000" pitchFamily="2" charset="2"/>
              <a:buChar char="n"/>
              <a:defRPr/>
            </a:pPr>
            <a:r>
              <a:rPr kumimoji="0" lang="zh-CN" altLang="en-US" sz="2800" b="1" i="0" u="none" strike="noStrike" kern="1200" cap="none" spc="0" normalizeH="0" baseline="0" noProof="0" dirty="0">
                <a:ln>
                  <a:noFill/>
                </a:ln>
                <a:solidFill>
                  <a:srgbClr val="FF0000"/>
                </a:solidFill>
                <a:effectLst/>
                <a:uLnTx/>
                <a:uFillTx/>
                <a:latin typeface="方正兰亭中黑_GBK" panose="02000000000000000000" pitchFamily="2" charset="-122"/>
                <a:ea typeface="方正兰亭中黑_GBK" panose="02000000000000000000" pitchFamily="2" charset="-122"/>
                <a:cs typeface="+mn-cs"/>
              </a:rPr>
              <a:t>例子</a:t>
            </a:r>
            <a:r>
              <a:rPr kumimoji="0" lang="en-US" altLang="zh-CN" sz="2800" b="1" i="0" u="none" strike="noStrike" kern="1200" cap="none" spc="0" normalizeH="0" baseline="0" noProof="0" dirty="0">
                <a:ln>
                  <a:noFill/>
                </a:ln>
                <a:solidFill>
                  <a:srgbClr val="FF0000"/>
                </a:solidFill>
                <a:effectLst/>
                <a:uLnTx/>
                <a:uFillTx/>
                <a:latin typeface="Palatino Linotype" panose="02040502050505030304" pitchFamily="18" charset="0"/>
                <a:ea typeface="宋体" panose="02010600030101010101" pitchFamily="2" charset="-122"/>
                <a:cs typeface="+mn-cs"/>
              </a:rPr>
              <a:t>2</a:t>
            </a:r>
            <a:r>
              <a:rPr kumimoji="0" lang="zh-CN" altLang="en-US" sz="2800" b="1" i="0" u="none" strike="noStrike" kern="1200" cap="none" spc="0" normalizeH="0" baseline="0" noProof="0" dirty="0">
                <a:ln>
                  <a:noFill/>
                </a:ln>
                <a:solidFill>
                  <a:srgbClr val="FF0000"/>
                </a:solidFill>
                <a:effectLst/>
                <a:uLnTx/>
                <a:uFillTx/>
                <a:latin typeface="方正兰亭中黑_GBK" panose="02000000000000000000" pitchFamily="2" charset="-122"/>
                <a:ea typeface="方正兰亭中黑_GBK" panose="02000000000000000000" pitchFamily="2" charset="-122"/>
                <a:cs typeface="+mn-cs"/>
              </a:rPr>
              <a:t>：药品聚类；</a:t>
            </a:r>
            <a:r>
              <a:rPr kumimoji="0" lang="en-US" altLang="zh-CN" sz="2800" b="1" i="0" u="none" strike="noStrike" kern="1200" cap="none" spc="0" normalizeH="0" baseline="0" noProof="0" dirty="0">
                <a:ln>
                  <a:noFill/>
                </a:ln>
                <a:solidFill>
                  <a:srgbClr val="FF0000"/>
                </a:solidFill>
                <a:effectLst/>
                <a:uLnTx/>
                <a:uFillTx/>
                <a:latin typeface="Palatino Linotype" panose="02040502050505030304" pitchFamily="18" charset="0"/>
                <a:ea typeface="宋体" panose="02010600030101010101" pitchFamily="2" charset="-122"/>
                <a:cs typeface="+mn-cs"/>
              </a:rPr>
              <a:t>k=2</a:t>
            </a:r>
            <a:endParaRPr kumimoji="0" lang="en-US" altLang="zh-CN" sz="2800" b="1" i="0" u="none" strike="noStrike" kern="1200" cap="none" spc="0" normalizeH="0" baseline="0" noProof="0" dirty="0">
              <a:ln>
                <a:noFill/>
              </a:ln>
              <a:solidFill>
                <a:srgbClr val="FF0000"/>
              </a:solidFill>
              <a:effectLst/>
              <a:uLnTx/>
              <a:uFillTx/>
              <a:latin typeface="Palatino Linotype" panose="02040502050505030304" pitchFamily="18" charset="0"/>
              <a:ea typeface="宋体" panose="02010600030101010101" pitchFamily="2" charset="-122"/>
              <a:cs typeface="+mn-cs"/>
            </a:endParaRPr>
          </a:p>
          <a:p>
            <a:pPr marL="0" indent="0" eaLnBrk="1" hangingPunct="1">
              <a:spcBef>
                <a:spcPts val="600"/>
              </a:spcBef>
              <a:buSzPct val="80000"/>
              <a:buFont typeface="Wingdings" panose="05000000000000000000" pitchFamily="2" charset="2"/>
              <a:buNone/>
              <a:defRPr/>
            </a:pPr>
            <a:r>
              <a:rPr lang="en-US" altLang="zh-CN" sz="2800" dirty="0">
                <a:solidFill>
                  <a:srgbClr val="C0000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      </a:t>
            </a:r>
            <a:r>
              <a:rPr lang="en-US" altLang="zh-CN" sz="240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Step1</a:t>
            </a:r>
            <a:r>
              <a:rPr lang="zh-CN" altLang="en-US" sz="2400" dirty="0">
                <a:solidFill>
                  <a:srgbClr val="0070C0"/>
                </a:solidFill>
                <a:latin typeface="方正兰亭中黑_GBK" panose="02000000000000000000" pitchFamily="2" charset="-122"/>
                <a:ea typeface="方正兰亭中黑_GBK" panose="02000000000000000000" pitchFamily="2" charset="-122"/>
              </a:rPr>
              <a:t>： 选择两个种子节点作为中心</a:t>
            </a:r>
            <a:endParaRPr lang="en-US" altLang="zh-CN" sz="2400" dirty="0">
              <a:solidFill>
                <a:srgbClr val="0070C0"/>
              </a:solidFill>
              <a:latin typeface="方正兰亭中黑_GBK" panose="02000000000000000000" pitchFamily="2" charset="-122"/>
              <a:ea typeface="方正兰亭中黑_GBK" panose="02000000000000000000" pitchFamily="2" charset="-122"/>
            </a:endParaRPr>
          </a:p>
        </p:txBody>
      </p:sp>
      <p:grpSp>
        <p:nvGrpSpPr>
          <p:cNvPr id="4" name="Group 19"/>
          <p:cNvGrpSpPr/>
          <p:nvPr/>
        </p:nvGrpSpPr>
        <p:grpSpPr bwMode="auto">
          <a:xfrm>
            <a:off x="550610" y="2080295"/>
            <a:ext cx="8080375" cy="4013200"/>
            <a:chOff x="488" y="1322"/>
            <a:chExt cx="5952" cy="2788"/>
          </a:xfrm>
        </p:grpSpPr>
        <p:pic>
          <p:nvPicPr>
            <p:cNvPr id="5" name="Object 1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184" y="1322"/>
              <a:ext cx="1283" cy="29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Object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08" y="2758"/>
              <a:ext cx="2832" cy="70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 y="1369"/>
              <a:ext cx="2928" cy="27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8" y="1614"/>
              <a:ext cx="2832" cy="1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12"/>
            <p:cNvSpPr>
              <a:spLocks noChangeArrowheads="1"/>
            </p:cNvSpPr>
            <p:nvPr/>
          </p:nvSpPr>
          <p:spPr bwMode="auto">
            <a:xfrm>
              <a:off x="4760" y="1614"/>
              <a:ext cx="288" cy="432"/>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none" lIns="80147" tIns="40074" rIns="80147" bIns="40074" anchor="ctr"/>
            <a:lstStyle>
              <a:lvl1pPr defTabSz="802005">
                <a:defRPr b="1">
                  <a:solidFill>
                    <a:schemeClr val="tx1"/>
                  </a:solidFill>
                  <a:latin typeface="Verdana" panose="020B0604030504040204" pitchFamily="34" charset="0"/>
                  <a:ea typeface="宋体" panose="02010600030101010101" pitchFamily="2" charset="-122"/>
                </a:defRPr>
              </a:lvl1pPr>
              <a:lvl2pPr marL="742950" indent="-285750" defTabSz="802005">
                <a:defRPr b="1">
                  <a:solidFill>
                    <a:schemeClr val="tx1"/>
                  </a:solidFill>
                  <a:latin typeface="Verdana" panose="020B0604030504040204" pitchFamily="34" charset="0"/>
                  <a:ea typeface="宋体" panose="02010600030101010101" pitchFamily="2" charset="-122"/>
                </a:defRPr>
              </a:lvl2pPr>
              <a:lvl3pPr marL="1143000" indent="-228600" defTabSz="802005">
                <a:defRPr b="1">
                  <a:solidFill>
                    <a:schemeClr val="tx1"/>
                  </a:solidFill>
                  <a:latin typeface="Verdana" panose="020B0604030504040204" pitchFamily="34" charset="0"/>
                  <a:ea typeface="宋体" panose="02010600030101010101" pitchFamily="2" charset="-122"/>
                </a:defRPr>
              </a:lvl3pPr>
              <a:lvl4pPr marL="1600200" indent="-228600" defTabSz="802005">
                <a:defRPr b="1">
                  <a:solidFill>
                    <a:schemeClr val="tx1"/>
                  </a:solidFill>
                  <a:latin typeface="Verdana" panose="020B0604030504040204" pitchFamily="34" charset="0"/>
                  <a:ea typeface="宋体" panose="02010600030101010101" pitchFamily="2" charset="-122"/>
                </a:defRPr>
              </a:lvl4pPr>
              <a:lvl5pPr marL="2057400" indent="-228600" defTabSz="802005">
                <a:defRPr b="1">
                  <a:solidFill>
                    <a:schemeClr val="tx1"/>
                  </a:solidFill>
                  <a:latin typeface="Verdana" panose="020B0604030504040204" pitchFamily="34" charset="0"/>
                  <a:ea typeface="宋体" panose="02010600030101010101" pitchFamily="2" charset="-122"/>
                </a:defRPr>
              </a:lvl5pPr>
              <a:lvl6pPr marL="2514600" indent="-228600" defTabSz="802005"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defTabSz="802005"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defTabSz="802005"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defTabSz="802005"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4400">
                <a:latin typeface="Times New Roman" panose="02020603050405020304" pitchFamily="18" charset="0"/>
              </a:endParaRPr>
            </a:p>
          </p:txBody>
        </p:sp>
        <p:sp>
          <p:nvSpPr>
            <p:cNvPr id="10" name="Rectangle 14"/>
            <p:cNvSpPr>
              <a:spLocks noChangeArrowheads="1"/>
            </p:cNvSpPr>
            <p:nvPr/>
          </p:nvSpPr>
          <p:spPr bwMode="auto">
            <a:xfrm>
              <a:off x="3608" y="2740"/>
              <a:ext cx="2832" cy="720"/>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none" lIns="80147" tIns="40074" rIns="80147" bIns="40074" anchor="ctr"/>
            <a:lstStyle>
              <a:lvl1pPr defTabSz="802005">
                <a:defRPr b="1">
                  <a:solidFill>
                    <a:schemeClr val="tx1"/>
                  </a:solidFill>
                  <a:latin typeface="Verdana" panose="020B0604030504040204" pitchFamily="34" charset="0"/>
                  <a:ea typeface="宋体" panose="02010600030101010101" pitchFamily="2" charset="-122"/>
                </a:defRPr>
              </a:lvl1pPr>
              <a:lvl2pPr marL="742950" indent="-285750" defTabSz="802005">
                <a:defRPr b="1">
                  <a:solidFill>
                    <a:schemeClr val="tx1"/>
                  </a:solidFill>
                  <a:latin typeface="Verdana" panose="020B0604030504040204" pitchFamily="34" charset="0"/>
                  <a:ea typeface="宋体" panose="02010600030101010101" pitchFamily="2" charset="-122"/>
                </a:defRPr>
              </a:lvl2pPr>
              <a:lvl3pPr marL="1143000" indent="-228600" defTabSz="802005">
                <a:defRPr b="1">
                  <a:solidFill>
                    <a:schemeClr val="tx1"/>
                  </a:solidFill>
                  <a:latin typeface="Verdana" panose="020B0604030504040204" pitchFamily="34" charset="0"/>
                  <a:ea typeface="宋体" panose="02010600030101010101" pitchFamily="2" charset="-122"/>
                </a:defRPr>
              </a:lvl3pPr>
              <a:lvl4pPr marL="1600200" indent="-228600" defTabSz="802005">
                <a:defRPr b="1">
                  <a:solidFill>
                    <a:schemeClr val="tx1"/>
                  </a:solidFill>
                  <a:latin typeface="Verdana" panose="020B0604030504040204" pitchFamily="34" charset="0"/>
                  <a:ea typeface="宋体" panose="02010600030101010101" pitchFamily="2" charset="-122"/>
                </a:defRPr>
              </a:lvl4pPr>
              <a:lvl5pPr marL="2057400" indent="-228600" defTabSz="802005">
                <a:defRPr b="1">
                  <a:solidFill>
                    <a:schemeClr val="tx1"/>
                  </a:solidFill>
                  <a:latin typeface="Verdana" panose="020B0604030504040204" pitchFamily="34" charset="0"/>
                  <a:ea typeface="宋体" panose="02010600030101010101" pitchFamily="2" charset="-122"/>
                </a:defRPr>
              </a:lvl5pPr>
              <a:lvl6pPr marL="2514600" indent="-228600" defTabSz="802005"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defTabSz="802005"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defTabSz="802005"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defTabSz="802005"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4400">
                <a:latin typeface="Times New Roman" panose="02020603050405020304" pitchFamily="18" charset="0"/>
              </a:endParaRPr>
            </a:p>
          </p:txBody>
        </p:sp>
        <p:sp>
          <p:nvSpPr>
            <p:cNvPr id="11" name="Rectangle 18"/>
            <p:cNvSpPr>
              <a:spLocks noChangeArrowheads="1"/>
            </p:cNvSpPr>
            <p:nvPr/>
          </p:nvSpPr>
          <p:spPr bwMode="auto">
            <a:xfrm>
              <a:off x="3743" y="3534"/>
              <a:ext cx="2440" cy="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0147" tIns="40074" rIns="80147" bIns="40074">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dirty="0">
                  <a:solidFill>
                    <a:srgbClr val="0070C0"/>
                  </a:solidFill>
                  <a:latin typeface="方正兰亭中黑_GBK" panose="02000000000000000000" pitchFamily="2" charset="-122"/>
                  <a:ea typeface="方正兰亭中黑_GBK" panose="02000000000000000000" pitchFamily="2" charset="-122"/>
                </a:rPr>
                <a:t>将每个数据对象分配给最近的中心</a:t>
              </a:r>
              <a:endParaRPr lang="en-GB" altLang="zh-CN" sz="2400" dirty="0">
                <a:solidFill>
                  <a:srgbClr val="0070C0"/>
                </a:solidFill>
                <a:latin typeface="方正兰亭中黑_GBK" panose="02000000000000000000" pitchFamily="2" charset="-122"/>
                <a:ea typeface="方正兰亭中黑_GBK" panose="02000000000000000000" pitchFamily="2" charset="-122"/>
              </a:endParaRPr>
            </a:p>
          </p:txBody>
        </p:sp>
      </p:grpSp>
      <p:sp>
        <p:nvSpPr>
          <p:cNvPr id="12" name="Text Box 20"/>
          <p:cNvSpPr txBox="1">
            <a:spLocks noChangeArrowheads="1"/>
          </p:cNvSpPr>
          <p:nvPr/>
        </p:nvSpPr>
        <p:spPr bwMode="auto">
          <a:xfrm>
            <a:off x="7070473" y="3110582"/>
            <a:ext cx="1543050" cy="295275"/>
          </a:xfrm>
          <a:prstGeom prst="rect">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none" lIns="80147" tIns="40074" rIns="80147" bIns="40074">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eaLnBrk="1" hangingPunct="1">
              <a:spcBef>
                <a:spcPct val="0"/>
              </a:spcBef>
              <a:buClrTx/>
              <a:buFontTx/>
              <a:buNone/>
            </a:pPr>
            <a:r>
              <a:rPr lang="en-GB" altLang="zh-CN" sz="1400">
                <a:latin typeface="Calibri" panose="020F0502020204030204" pitchFamily="34" charset="0"/>
                <a:ea typeface="宋体" panose="02010600030101010101" pitchFamily="2" charset="-122"/>
                <a:cs typeface="Calibri" panose="020F0502020204030204" pitchFamily="34" charset="0"/>
              </a:rPr>
              <a:t>Euclidean distance</a:t>
            </a:r>
            <a:endParaRPr lang="en-GB" altLang="zh-CN" sz="1400">
              <a:latin typeface="Calibri" panose="020F0502020204030204" pitchFamily="34" charset="0"/>
              <a:ea typeface="宋体" panose="02010600030101010101" pitchFamily="2"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k-means</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506210" y="927497"/>
            <a:ext cx="8424862"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marR="0" lvl="0" indent="0" defTabSz="914400" rtl="0" eaLnBrk="1" fontAlgn="base" latinLnBrk="0" hangingPunct="1">
              <a:lnSpc>
                <a:spcPct val="130000"/>
              </a:lnSpc>
              <a:spcBef>
                <a:spcPct val="0"/>
              </a:spcBef>
              <a:spcAft>
                <a:spcPct val="0"/>
              </a:spcAft>
              <a:buClrTx/>
              <a:buSzPct val="80000"/>
              <a:buFont typeface="Wingdings" panose="05000000000000000000" pitchFamily="2" charset="2"/>
              <a:buChar char="n"/>
              <a:defRPr/>
            </a:pPr>
            <a:r>
              <a:rPr kumimoji="0" lang="zh-CN" altLang="en-US" sz="2800" b="1" i="0" u="none" strike="noStrike" kern="1200" cap="none" spc="0" normalizeH="0" baseline="0" noProof="0" dirty="0">
                <a:ln>
                  <a:noFill/>
                </a:ln>
                <a:solidFill>
                  <a:srgbClr val="FF0000"/>
                </a:solidFill>
                <a:effectLst/>
                <a:uLnTx/>
                <a:uFillTx/>
                <a:latin typeface="方正兰亭中黑_GBK" panose="02000000000000000000" pitchFamily="2" charset="-122"/>
                <a:ea typeface="方正兰亭中黑_GBK" panose="02000000000000000000" pitchFamily="2" charset="-122"/>
                <a:cs typeface="+mn-cs"/>
              </a:rPr>
              <a:t>例子</a:t>
            </a:r>
            <a:r>
              <a:rPr kumimoji="0" lang="en-US" altLang="zh-CN" sz="2800" b="1" i="0" u="none" strike="noStrike" kern="1200" cap="none" spc="0" normalizeH="0" baseline="0" noProof="0" dirty="0">
                <a:ln>
                  <a:noFill/>
                </a:ln>
                <a:solidFill>
                  <a:srgbClr val="FF0000"/>
                </a:solidFill>
                <a:effectLst/>
                <a:uLnTx/>
                <a:uFillTx/>
                <a:latin typeface="Palatino Linotype" panose="02040502050505030304" pitchFamily="18" charset="0"/>
                <a:ea typeface="宋体" panose="02010600030101010101" pitchFamily="2" charset="-122"/>
                <a:cs typeface="+mn-cs"/>
              </a:rPr>
              <a:t>2</a:t>
            </a:r>
            <a:r>
              <a:rPr kumimoji="0" lang="zh-CN" altLang="en-US" sz="2800" b="1" i="0" u="none" strike="noStrike" kern="1200" cap="none" spc="0" normalizeH="0" baseline="0" noProof="0" dirty="0">
                <a:ln>
                  <a:noFill/>
                </a:ln>
                <a:solidFill>
                  <a:srgbClr val="FF0000"/>
                </a:solidFill>
                <a:effectLst/>
                <a:uLnTx/>
                <a:uFillTx/>
                <a:latin typeface="方正兰亭中黑_GBK" panose="02000000000000000000" pitchFamily="2" charset="-122"/>
                <a:ea typeface="方正兰亭中黑_GBK" panose="02000000000000000000" pitchFamily="2" charset="-122"/>
                <a:cs typeface="+mn-cs"/>
              </a:rPr>
              <a:t>：药品聚类；</a:t>
            </a:r>
            <a:r>
              <a:rPr kumimoji="0" lang="en-US" altLang="zh-CN" sz="2800" b="1" i="0" u="none" strike="noStrike" kern="1200" cap="none" spc="0" normalizeH="0" baseline="0" noProof="0" dirty="0">
                <a:ln>
                  <a:noFill/>
                </a:ln>
                <a:solidFill>
                  <a:srgbClr val="FF0000"/>
                </a:solidFill>
                <a:effectLst/>
                <a:uLnTx/>
                <a:uFillTx/>
                <a:latin typeface="Palatino Linotype" panose="02040502050505030304" pitchFamily="18" charset="0"/>
                <a:ea typeface="宋体" panose="02010600030101010101" pitchFamily="2" charset="-122"/>
                <a:cs typeface="+mn-cs"/>
              </a:rPr>
              <a:t>k=2</a:t>
            </a:r>
            <a:endParaRPr kumimoji="0" lang="en-US" altLang="zh-CN" sz="2800" b="1" i="0" u="none" strike="noStrike" kern="1200" cap="none" spc="0" normalizeH="0" baseline="0" noProof="0" dirty="0">
              <a:ln>
                <a:noFill/>
              </a:ln>
              <a:solidFill>
                <a:srgbClr val="FF0000"/>
              </a:solidFill>
              <a:effectLst/>
              <a:uLnTx/>
              <a:uFillTx/>
              <a:latin typeface="Palatino Linotype" panose="02040502050505030304" pitchFamily="18" charset="0"/>
              <a:ea typeface="宋体" panose="02010600030101010101" pitchFamily="2" charset="-122"/>
              <a:cs typeface="+mn-cs"/>
            </a:endParaRPr>
          </a:p>
          <a:p>
            <a:pPr marL="0" indent="0" eaLnBrk="1" hangingPunct="1">
              <a:spcBef>
                <a:spcPts val="600"/>
              </a:spcBef>
              <a:buSzPct val="80000"/>
              <a:buFont typeface="Wingdings" panose="05000000000000000000" pitchFamily="2" charset="2"/>
              <a:buNone/>
              <a:defRPr/>
            </a:pPr>
            <a:r>
              <a:rPr lang="en-US" altLang="zh-CN" sz="240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      Step2</a:t>
            </a:r>
            <a:r>
              <a:rPr lang="zh-CN" altLang="en-US" sz="240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 </a:t>
            </a:r>
            <a:r>
              <a:rPr lang="zh-CN" altLang="en-US" sz="2400" dirty="0">
                <a:solidFill>
                  <a:srgbClr val="0070C0"/>
                </a:solidFill>
                <a:latin typeface="方正兰亭中黑_GBK" panose="02000000000000000000" pitchFamily="2" charset="-122"/>
                <a:ea typeface="方正兰亭中黑_GBK" panose="02000000000000000000" pitchFamily="2" charset="-122"/>
              </a:rPr>
              <a:t>计算新的中心</a:t>
            </a:r>
            <a:endParaRPr lang="en-US" altLang="zh-CN" sz="2400" dirty="0">
              <a:solidFill>
                <a:srgbClr val="0070C0"/>
              </a:solidFill>
              <a:latin typeface="方正兰亭中黑_GBK" panose="02000000000000000000" pitchFamily="2" charset="-122"/>
              <a:ea typeface="方正兰亭中黑_GBK" panose="02000000000000000000" pitchFamily="2" charset="-122"/>
            </a:endParaRPr>
          </a:p>
        </p:txBody>
      </p:sp>
      <p:pic>
        <p:nvPicPr>
          <p:cNvPr id="4" name="Object 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738485" y="2994422"/>
            <a:ext cx="3686175"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785" y="2276872"/>
            <a:ext cx="3754437" cy="374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k-means</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472159" y="986235"/>
            <a:ext cx="8424862"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marR="0" lvl="0" indent="0" defTabSz="914400" rtl="0" eaLnBrk="1" fontAlgn="base" latinLnBrk="0" hangingPunct="1">
              <a:lnSpc>
                <a:spcPct val="130000"/>
              </a:lnSpc>
              <a:spcBef>
                <a:spcPct val="0"/>
              </a:spcBef>
              <a:spcAft>
                <a:spcPct val="0"/>
              </a:spcAft>
              <a:buClrTx/>
              <a:buSzPct val="80000"/>
              <a:buFont typeface="Wingdings" panose="05000000000000000000" pitchFamily="2" charset="2"/>
              <a:buChar char="n"/>
              <a:defRPr/>
            </a:pPr>
            <a:r>
              <a:rPr kumimoji="0" lang="zh-CN" altLang="en-US" sz="2800" b="1" i="0" u="none" strike="noStrike" kern="1200" cap="none" spc="0" normalizeH="0" baseline="0" noProof="0" dirty="0">
                <a:ln>
                  <a:noFill/>
                </a:ln>
                <a:solidFill>
                  <a:srgbClr val="FF0000"/>
                </a:solidFill>
                <a:effectLst/>
                <a:uLnTx/>
                <a:uFillTx/>
                <a:latin typeface="方正兰亭中黑_GBK" panose="02000000000000000000" pitchFamily="2" charset="-122"/>
                <a:ea typeface="方正兰亭中黑_GBK" panose="02000000000000000000" pitchFamily="2" charset="-122"/>
                <a:cs typeface="+mn-cs"/>
              </a:rPr>
              <a:t> 例子</a:t>
            </a:r>
            <a:r>
              <a:rPr kumimoji="0" lang="en-US" altLang="zh-CN" sz="2800" b="1" i="0" u="none" strike="noStrike" kern="1200" cap="none" spc="0" normalizeH="0" baseline="0" noProof="0" dirty="0">
                <a:ln>
                  <a:noFill/>
                </a:ln>
                <a:solidFill>
                  <a:srgbClr val="FF0000"/>
                </a:solidFill>
                <a:effectLst/>
                <a:uLnTx/>
                <a:uFillTx/>
                <a:latin typeface="Palatino Linotype" panose="02040502050505030304" pitchFamily="18" charset="0"/>
                <a:ea typeface="宋体" panose="02010600030101010101" pitchFamily="2" charset="-122"/>
                <a:cs typeface="+mn-cs"/>
              </a:rPr>
              <a:t>2</a:t>
            </a:r>
            <a:r>
              <a:rPr kumimoji="0" lang="zh-CN" altLang="en-US" sz="2800" b="1" i="0" u="none" strike="noStrike" kern="1200" cap="none" spc="0" normalizeH="0" baseline="0" noProof="0" dirty="0">
                <a:ln>
                  <a:noFill/>
                </a:ln>
                <a:solidFill>
                  <a:srgbClr val="FF0000"/>
                </a:solidFill>
                <a:effectLst/>
                <a:uLnTx/>
                <a:uFillTx/>
                <a:latin typeface="方正兰亭中黑_GBK" panose="02000000000000000000" pitchFamily="2" charset="-122"/>
                <a:ea typeface="方正兰亭中黑_GBK" panose="02000000000000000000" pitchFamily="2" charset="-122"/>
                <a:cs typeface="+mn-cs"/>
              </a:rPr>
              <a:t>：药品聚类；</a:t>
            </a:r>
            <a:r>
              <a:rPr kumimoji="0" lang="en-US" altLang="zh-CN" sz="2800" b="1" i="0" u="none" strike="noStrike" kern="1200" cap="none" spc="0" normalizeH="0" baseline="0" noProof="0" dirty="0">
                <a:ln>
                  <a:noFill/>
                </a:ln>
                <a:solidFill>
                  <a:srgbClr val="FF0000"/>
                </a:solidFill>
                <a:effectLst/>
                <a:uLnTx/>
                <a:uFillTx/>
                <a:latin typeface="Palatino Linotype" panose="02040502050505030304" pitchFamily="18" charset="0"/>
                <a:ea typeface="宋体" panose="02010600030101010101" pitchFamily="2" charset="-122"/>
                <a:cs typeface="+mn-cs"/>
              </a:rPr>
              <a:t>k=2</a:t>
            </a:r>
            <a:endParaRPr kumimoji="0" lang="en-US" altLang="zh-CN" sz="2800" b="1" i="0" u="none" strike="noStrike" kern="1200" cap="none" spc="0" normalizeH="0" baseline="0" noProof="0" dirty="0">
              <a:ln>
                <a:noFill/>
              </a:ln>
              <a:solidFill>
                <a:srgbClr val="FF0000"/>
              </a:solidFill>
              <a:effectLst/>
              <a:uLnTx/>
              <a:uFillTx/>
              <a:latin typeface="Palatino Linotype" panose="02040502050505030304" pitchFamily="18" charset="0"/>
              <a:ea typeface="宋体" panose="02010600030101010101" pitchFamily="2" charset="-122"/>
              <a:cs typeface="+mn-cs"/>
            </a:endParaRPr>
          </a:p>
          <a:p>
            <a:pPr marL="0" indent="0" eaLnBrk="1" hangingPunct="1">
              <a:spcBef>
                <a:spcPts val="600"/>
              </a:spcBef>
              <a:buSzPct val="80000"/>
              <a:buFont typeface="Wingdings" panose="05000000000000000000" pitchFamily="2" charset="2"/>
              <a:buNone/>
              <a:defRPr/>
            </a:pPr>
            <a:r>
              <a:rPr lang="en-US" altLang="zh-CN" sz="2800" dirty="0">
                <a:solidFill>
                  <a:srgbClr val="C00000"/>
                </a:solidFill>
                <a:effectLst>
                  <a:outerShdw blurRad="38100" dist="38100" dir="2700000" algn="tl">
                    <a:srgbClr val="000000">
                      <a:alpha val="43137"/>
                    </a:srgbClr>
                  </a:outerShdw>
                </a:effectLst>
                <a:latin typeface="Palatino Linotype" panose="02040502050505030304" pitchFamily="18" charset="0"/>
              </a:rPr>
              <a:t>      </a:t>
            </a:r>
            <a:r>
              <a:rPr lang="en-US" altLang="zh-CN" sz="240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Step3</a:t>
            </a:r>
            <a:r>
              <a:rPr lang="zh-CN" altLang="en-US" sz="240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 </a:t>
            </a:r>
            <a:r>
              <a:rPr lang="zh-CN" altLang="en-US" sz="2400" dirty="0">
                <a:solidFill>
                  <a:srgbClr val="0070C0"/>
                </a:solidFill>
                <a:latin typeface="方正兰亭中黑_GBK" panose="02000000000000000000" pitchFamily="2" charset="-122"/>
                <a:ea typeface="方正兰亭中黑_GBK" panose="02000000000000000000" pitchFamily="2" charset="-122"/>
              </a:rPr>
              <a:t>根据新的中心重新划分数据对象</a:t>
            </a:r>
            <a:endParaRPr lang="en-US" altLang="zh-CN" sz="2400" dirty="0">
              <a:solidFill>
                <a:srgbClr val="0070C0"/>
              </a:solidFill>
              <a:latin typeface="方正兰亭中黑_GBK" panose="02000000000000000000" pitchFamily="2" charset="-122"/>
              <a:ea typeface="方正兰亭中黑_GBK" panose="02000000000000000000" pitchFamily="2" charset="-122"/>
            </a:endParaRPr>
          </a:p>
        </p:txBody>
      </p:sp>
      <p:pic>
        <p:nvPicPr>
          <p:cNvPr id="4"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4696" y="2276872"/>
            <a:ext cx="3784600" cy="377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0609" y="2929335"/>
            <a:ext cx="4281487" cy="19446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k-means</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474366" y="1125042"/>
            <a:ext cx="8424862"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marR="0" lvl="0" indent="0" defTabSz="914400" rtl="0" eaLnBrk="1" fontAlgn="base" latinLnBrk="0" hangingPunct="1">
              <a:lnSpc>
                <a:spcPct val="130000"/>
              </a:lnSpc>
              <a:spcBef>
                <a:spcPct val="0"/>
              </a:spcBef>
              <a:spcAft>
                <a:spcPct val="0"/>
              </a:spcAft>
              <a:buClrTx/>
              <a:buSzPct val="80000"/>
              <a:buFont typeface="Wingdings" panose="05000000000000000000" pitchFamily="2" charset="2"/>
              <a:buChar char="n"/>
              <a:defRPr/>
            </a:pPr>
            <a:r>
              <a:rPr kumimoji="0" lang="zh-CN" altLang="en-US" sz="2800" b="1" i="0" u="none" strike="noStrike" kern="1200" cap="none" spc="0" normalizeH="0" baseline="0" noProof="0" dirty="0">
                <a:ln>
                  <a:noFill/>
                </a:ln>
                <a:solidFill>
                  <a:srgbClr val="FF0000"/>
                </a:solidFill>
                <a:effectLst/>
                <a:uLnTx/>
                <a:uFillTx/>
                <a:latin typeface="方正兰亭中黑_GBK" panose="02000000000000000000" pitchFamily="2" charset="-122"/>
                <a:ea typeface="方正兰亭中黑_GBK" panose="02000000000000000000" pitchFamily="2" charset="-122"/>
                <a:cs typeface="+mn-cs"/>
              </a:rPr>
              <a:t> 例子</a:t>
            </a:r>
            <a:r>
              <a:rPr kumimoji="0" lang="en-US" altLang="zh-CN" sz="2800" b="1" i="0" u="none" strike="noStrike" kern="1200" cap="none" spc="0" normalizeH="0" baseline="0" noProof="0" dirty="0">
                <a:ln>
                  <a:noFill/>
                </a:ln>
                <a:solidFill>
                  <a:srgbClr val="FF0000"/>
                </a:solidFill>
                <a:effectLst/>
                <a:uLnTx/>
                <a:uFillTx/>
                <a:latin typeface="Palatino Linotype" panose="02040502050505030304" pitchFamily="18" charset="0"/>
                <a:ea typeface="宋体" panose="02010600030101010101" pitchFamily="2" charset="-122"/>
                <a:cs typeface="+mn-cs"/>
              </a:rPr>
              <a:t>2</a:t>
            </a:r>
            <a:r>
              <a:rPr kumimoji="0" lang="zh-CN" altLang="en-US" sz="2800" b="1" i="0" u="none" strike="noStrike" kern="1200" cap="none" spc="0" normalizeH="0" baseline="0" noProof="0" dirty="0">
                <a:ln>
                  <a:noFill/>
                </a:ln>
                <a:solidFill>
                  <a:srgbClr val="FF0000"/>
                </a:solidFill>
                <a:effectLst/>
                <a:uLnTx/>
                <a:uFillTx/>
                <a:latin typeface="方正兰亭中黑_GBK" panose="02000000000000000000" pitchFamily="2" charset="-122"/>
                <a:ea typeface="方正兰亭中黑_GBK" panose="02000000000000000000" pitchFamily="2" charset="-122"/>
                <a:cs typeface="+mn-cs"/>
              </a:rPr>
              <a:t>：药品聚类；</a:t>
            </a:r>
            <a:r>
              <a:rPr kumimoji="0" lang="en-US" altLang="zh-CN" sz="2800" b="1" i="0" u="none" strike="noStrike" kern="1200" cap="none" spc="0" normalizeH="0" baseline="0" noProof="0" dirty="0">
                <a:ln>
                  <a:noFill/>
                </a:ln>
                <a:solidFill>
                  <a:srgbClr val="FF0000"/>
                </a:solidFill>
                <a:effectLst/>
                <a:uLnTx/>
                <a:uFillTx/>
                <a:latin typeface="Palatino Linotype" panose="02040502050505030304" pitchFamily="18" charset="0"/>
                <a:ea typeface="宋体" panose="02010600030101010101" pitchFamily="2" charset="-122"/>
                <a:cs typeface="+mn-cs"/>
              </a:rPr>
              <a:t>k=2</a:t>
            </a:r>
            <a:endParaRPr kumimoji="0" lang="en-US" altLang="zh-CN" sz="2800" b="1" i="0" u="none" strike="noStrike" kern="1200" cap="none" spc="0" normalizeH="0" baseline="0" noProof="0" dirty="0">
              <a:ln>
                <a:noFill/>
              </a:ln>
              <a:solidFill>
                <a:srgbClr val="FF0000"/>
              </a:solidFill>
              <a:effectLst/>
              <a:uLnTx/>
              <a:uFillTx/>
              <a:latin typeface="Palatino Linotype" panose="02040502050505030304" pitchFamily="18" charset="0"/>
              <a:ea typeface="宋体" panose="02010600030101010101" pitchFamily="2" charset="-122"/>
              <a:cs typeface="+mn-cs"/>
            </a:endParaRPr>
          </a:p>
          <a:p>
            <a:pPr marL="0" indent="0" eaLnBrk="1" hangingPunct="1">
              <a:spcBef>
                <a:spcPts val="600"/>
              </a:spcBef>
              <a:buSzPct val="80000"/>
              <a:buFont typeface="Wingdings" panose="05000000000000000000" pitchFamily="2" charset="2"/>
              <a:buNone/>
              <a:defRPr/>
            </a:pPr>
            <a:r>
              <a:rPr lang="en-US" altLang="zh-CN" sz="2800" dirty="0">
                <a:solidFill>
                  <a:srgbClr val="C00000"/>
                </a:solidFill>
                <a:effectLst>
                  <a:outerShdw blurRad="38100" dist="38100" dir="2700000" algn="tl">
                    <a:srgbClr val="000000">
                      <a:alpha val="43137"/>
                    </a:srgbClr>
                  </a:outerShdw>
                </a:effectLst>
                <a:latin typeface="Palatino Linotype" panose="02040502050505030304" pitchFamily="18" charset="0"/>
              </a:rPr>
              <a:t>      </a:t>
            </a:r>
            <a:r>
              <a:rPr lang="en-US" altLang="zh-CN" sz="2400" dirty="0">
                <a:effectLst>
                  <a:outerShdw blurRad="38100" dist="38100" dir="2700000" algn="tl">
                    <a:srgbClr val="000000">
                      <a:alpha val="43137"/>
                    </a:srgbClr>
                  </a:outerShdw>
                </a:effectLst>
                <a:latin typeface="Palatino Linotype" panose="02040502050505030304" pitchFamily="18" charset="0"/>
              </a:rPr>
              <a:t>Step4</a:t>
            </a:r>
            <a:r>
              <a:rPr lang="zh-CN" altLang="en-US" sz="2400" dirty="0">
                <a:effectLst>
                  <a:outerShdw blurRad="38100" dist="38100" dir="2700000" algn="tl">
                    <a:srgbClr val="000000">
                      <a:alpha val="43137"/>
                    </a:srgbClr>
                  </a:outerShdw>
                </a:effectLst>
                <a:latin typeface="Palatino Linotype" panose="02040502050505030304" pitchFamily="18" charset="0"/>
              </a:rPr>
              <a:t>： </a:t>
            </a:r>
            <a:r>
              <a:rPr lang="zh-CN" altLang="en-US" sz="2400" dirty="0">
                <a:solidFill>
                  <a:srgbClr val="0070C0"/>
                </a:solidFill>
                <a:latin typeface="方正兰亭中黑_GBK" panose="02000000000000000000" pitchFamily="2" charset="-122"/>
                <a:ea typeface="方正兰亭中黑_GBK" panose="02000000000000000000" pitchFamily="2" charset="-122"/>
              </a:rPr>
              <a:t>重复</a:t>
            </a:r>
            <a:r>
              <a:rPr lang="en-US" altLang="zh-CN" sz="2400" dirty="0">
                <a:solidFill>
                  <a:srgbClr val="0070C0"/>
                </a:solidFill>
                <a:latin typeface="方正兰亭中黑_GBK" panose="02000000000000000000" pitchFamily="2" charset="-122"/>
                <a:ea typeface="方正兰亭中黑_GBK" panose="02000000000000000000" pitchFamily="2" charset="-122"/>
              </a:rPr>
              <a:t>Step1-3</a:t>
            </a:r>
            <a:r>
              <a:rPr lang="zh-CN" altLang="en-US" sz="2400" dirty="0">
                <a:solidFill>
                  <a:srgbClr val="0070C0"/>
                </a:solidFill>
                <a:latin typeface="方正兰亭中黑_GBK" panose="02000000000000000000" pitchFamily="2" charset="-122"/>
                <a:ea typeface="方正兰亭中黑_GBK" panose="02000000000000000000" pitchFamily="2" charset="-122"/>
              </a:rPr>
              <a:t>， 指导结果收敛。</a:t>
            </a:r>
            <a:endParaRPr lang="en-US" altLang="zh-CN" sz="2400" dirty="0">
              <a:solidFill>
                <a:srgbClr val="0070C0"/>
              </a:solidFill>
              <a:latin typeface="方正兰亭中黑_GBK" panose="02000000000000000000" pitchFamily="2" charset="-122"/>
              <a:ea typeface="方正兰亭中黑_GBK" panose="02000000000000000000" pitchFamily="2" charset="-122"/>
            </a:endParaRPr>
          </a:p>
        </p:txBody>
      </p:sp>
      <p:pic>
        <p:nvPicPr>
          <p:cNvPr id="4"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8016" y="2564904"/>
            <a:ext cx="3478212" cy="343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对象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01828" y="3439617"/>
            <a:ext cx="4221163" cy="168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k-means</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560666" y="1052711"/>
            <a:ext cx="8424862" cy="1150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1">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b="1">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b="1">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b="1">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b="1">
                <a:solidFill>
                  <a:schemeClr val="tx1"/>
                </a:solidFill>
                <a:latin typeface="+mn-lt"/>
                <a:ea typeface="+mn-ea"/>
              </a:defRPr>
            </a:lvl9pPr>
          </a:lstStyle>
          <a:p>
            <a:pPr marL="0" marR="0" lvl="0" indent="0" defTabSz="914400" rtl="0" eaLnBrk="1" fontAlgn="base" latinLnBrk="0" hangingPunct="1">
              <a:lnSpc>
                <a:spcPct val="130000"/>
              </a:lnSpc>
              <a:spcBef>
                <a:spcPct val="0"/>
              </a:spcBef>
              <a:spcAft>
                <a:spcPct val="0"/>
              </a:spcAft>
              <a:buClrTx/>
              <a:buSzPct val="80000"/>
              <a:buFont typeface="Wingdings" panose="05000000000000000000" pitchFamily="2" charset="2"/>
              <a:buChar char="n"/>
              <a:defRPr/>
            </a:pPr>
            <a:r>
              <a:rPr kumimoji="0" lang="zh-CN" altLang="en-US" sz="2800" b="1" i="0" u="none" strike="noStrike" kern="1200" cap="none" spc="0" normalizeH="0" baseline="0" noProof="0" dirty="0">
                <a:ln>
                  <a:noFill/>
                </a:ln>
                <a:solidFill>
                  <a:srgbClr val="FF0000"/>
                </a:solidFill>
                <a:effectLst/>
                <a:uLnTx/>
                <a:uFillTx/>
                <a:latin typeface="方正兰亭中黑_GBK" panose="02000000000000000000" pitchFamily="2" charset="-122"/>
                <a:ea typeface="方正兰亭中黑_GBK" panose="02000000000000000000" pitchFamily="2" charset="-122"/>
                <a:cs typeface="+mn-cs"/>
              </a:rPr>
              <a:t> 例子</a:t>
            </a:r>
            <a:r>
              <a:rPr kumimoji="0" lang="en-US" altLang="zh-CN" sz="2800" b="1" i="0" u="none" strike="noStrike" kern="1200" cap="none" spc="0" normalizeH="0" baseline="0" noProof="0" dirty="0">
                <a:ln>
                  <a:noFill/>
                </a:ln>
                <a:solidFill>
                  <a:srgbClr val="FF0000"/>
                </a:solidFill>
                <a:effectLst/>
                <a:uLnTx/>
                <a:uFillTx/>
                <a:latin typeface="Palatino Linotype" panose="02040502050505030304" pitchFamily="18" charset="0"/>
                <a:ea typeface="宋体" panose="02010600030101010101" pitchFamily="2" charset="-122"/>
                <a:cs typeface="+mn-cs"/>
              </a:rPr>
              <a:t>2</a:t>
            </a:r>
            <a:r>
              <a:rPr kumimoji="0" lang="zh-CN" altLang="en-US" sz="2800" b="1" i="0" u="none" strike="noStrike" kern="1200" cap="none" spc="0" normalizeH="0" baseline="0" noProof="0" dirty="0">
                <a:ln>
                  <a:noFill/>
                </a:ln>
                <a:solidFill>
                  <a:srgbClr val="FF0000"/>
                </a:solidFill>
                <a:effectLst/>
                <a:uLnTx/>
                <a:uFillTx/>
                <a:latin typeface="方正兰亭中黑_GBK" panose="02000000000000000000" pitchFamily="2" charset="-122"/>
                <a:ea typeface="方正兰亭中黑_GBK" panose="02000000000000000000" pitchFamily="2" charset="-122"/>
                <a:cs typeface="+mn-cs"/>
              </a:rPr>
              <a:t>：药品聚类；</a:t>
            </a:r>
            <a:r>
              <a:rPr kumimoji="0" lang="en-US" altLang="zh-CN" sz="2800" b="1" i="0" u="none" strike="noStrike" kern="1200" cap="none" spc="0" normalizeH="0" baseline="0" noProof="0" dirty="0">
                <a:ln>
                  <a:noFill/>
                </a:ln>
                <a:solidFill>
                  <a:srgbClr val="FF0000"/>
                </a:solidFill>
                <a:effectLst/>
                <a:uLnTx/>
                <a:uFillTx/>
                <a:latin typeface="Palatino Linotype" panose="02040502050505030304" pitchFamily="18" charset="0"/>
                <a:ea typeface="宋体" panose="02010600030101010101" pitchFamily="2" charset="-122"/>
                <a:cs typeface="+mn-cs"/>
              </a:rPr>
              <a:t>k=2</a:t>
            </a:r>
            <a:endParaRPr kumimoji="0" lang="en-US" altLang="zh-CN" sz="2800" b="1" i="0" u="none" strike="noStrike" kern="1200" cap="none" spc="0" normalizeH="0" baseline="0" noProof="0" dirty="0">
              <a:ln>
                <a:noFill/>
              </a:ln>
              <a:solidFill>
                <a:srgbClr val="FF0000"/>
              </a:solidFill>
              <a:effectLst/>
              <a:uLnTx/>
              <a:uFillTx/>
              <a:latin typeface="Palatino Linotype" panose="02040502050505030304" pitchFamily="18" charset="0"/>
              <a:ea typeface="宋体" panose="02010600030101010101" pitchFamily="2" charset="-122"/>
              <a:cs typeface="+mn-cs"/>
            </a:endParaRPr>
          </a:p>
          <a:p>
            <a:pPr marL="0" indent="0" eaLnBrk="1" hangingPunct="1">
              <a:spcBef>
                <a:spcPts val="600"/>
              </a:spcBef>
              <a:buSzPct val="80000"/>
              <a:buFont typeface="Wingdings" panose="05000000000000000000" pitchFamily="2" charset="2"/>
              <a:buNone/>
              <a:defRPr/>
            </a:pPr>
            <a:r>
              <a:rPr lang="en-US" altLang="zh-CN" sz="2800" dirty="0">
                <a:solidFill>
                  <a:srgbClr val="C00000"/>
                </a:solidFill>
                <a:effectLst>
                  <a:outerShdw blurRad="38100" dist="38100" dir="2700000" algn="tl">
                    <a:srgbClr val="000000">
                      <a:alpha val="43137"/>
                    </a:srgbClr>
                  </a:outerShdw>
                </a:effectLst>
                <a:latin typeface="Palatino Linotype" panose="02040502050505030304" pitchFamily="18" charset="0"/>
              </a:rPr>
              <a:t>      </a:t>
            </a:r>
            <a:r>
              <a:rPr lang="en-US" altLang="zh-CN" sz="240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Step4</a:t>
            </a:r>
            <a:r>
              <a:rPr lang="zh-CN" altLang="en-US" sz="240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 </a:t>
            </a:r>
            <a:r>
              <a:rPr lang="zh-CN" altLang="en-US" sz="2400" dirty="0">
                <a:solidFill>
                  <a:srgbClr val="0070C0"/>
                </a:solidFill>
                <a:latin typeface="方正兰亭中黑_GBK" panose="02000000000000000000" pitchFamily="2" charset="-122"/>
                <a:ea typeface="方正兰亭中黑_GBK" panose="02000000000000000000" pitchFamily="2" charset="-122"/>
              </a:rPr>
              <a:t>重复</a:t>
            </a:r>
            <a:r>
              <a:rPr lang="en-US" altLang="zh-CN" sz="2400" dirty="0">
                <a:solidFill>
                  <a:srgbClr val="0070C0"/>
                </a:solidFill>
                <a:latin typeface="方正兰亭中黑_GBK" panose="02000000000000000000" pitchFamily="2" charset="-122"/>
                <a:ea typeface="方正兰亭中黑_GBK" panose="02000000000000000000" pitchFamily="2" charset="-122"/>
              </a:rPr>
              <a:t>Step1-3</a:t>
            </a:r>
            <a:r>
              <a:rPr lang="zh-CN" altLang="en-US" sz="2400" dirty="0">
                <a:solidFill>
                  <a:srgbClr val="0070C0"/>
                </a:solidFill>
                <a:latin typeface="方正兰亭中黑_GBK" panose="02000000000000000000" pitchFamily="2" charset="-122"/>
                <a:ea typeface="方正兰亭中黑_GBK" panose="02000000000000000000" pitchFamily="2" charset="-122"/>
              </a:rPr>
              <a:t>， 直到结果收敛。</a:t>
            </a:r>
            <a:endParaRPr lang="en-US" altLang="zh-CN" sz="2400" dirty="0">
              <a:solidFill>
                <a:srgbClr val="0070C0"/>
              </a:solidFill>
              <a:latin typeface="方正兰亭中黑_GBK" panose="02000000000000000000" pitchFamily="2" charset="-122"/>
              <a:ea typeface="方正兰亭中黑_GBK" panose="02000000000000000000" pitchFamily="2" charset="-122"/>
            </a:endParaRPr>
          </a:p>
        </p:txBody>
      </p:sp>
      <p:pic>
        <p:nvPicPr>
          <p:cNvPr id="4"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4316" y="2492573"/>
            <a:ext cx="3478212" cy="343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9553" y="2852936"/>
            <a:ext cx="4248150" cy="170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3"/>
          <p:cNvSpPr>
            <a:spLocks noChangeArrowheads="1"/>
          </p:cNvSpPr>
          <p:nvPr/>
        </p:nvSpPr>
        <p:spPr bwMode="auto">
          <a:xfrm>
            <a:off x="4388128" y="4940498"/>
            <a:ext cx="37957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2400" dirty="0">
                <a:solidFill>
                  <a:srgbClr val="0070C0"/>
                </a:solidFill>
                <a:latin typeface="方正兰亭中黑_GBK" panose="02000000000000000000" pitchFamily="2" charset="-122"/>
                <a:ea typeface="方正兰亭中黑_GBK" panose="02000000000000000000" pitchFamily="2" charset="-122"/>
              </a:rPr>
              <a:t>当簇与中心值不再改变时，算法结束。</a:t>
            </a:r>
            <a:endParaRPr lang="en-US" altLang="zh-CN" sz="2400" dirty="0">
              <a:solidFill>
                <a:srgbClr val="0070C0"/>
              </a:solidFill>
              <a:latin typeface="方正兰亭中黑_GBK" panose="02000000000000000000" pitchFamily="2" charset="-122"/>
              <a:ea typeface="方正兰亭中黑_GBK"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k-means</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内容占位符 2"/>
          <p:cNvSpPr txBox="1"/>
          <p:nvPr/>
        </p:nvSpPr>
        <p:spPr>
          <a:xfrm>
            <a:off x="457200" y="980728"/>
            <a:ext cx="8229600" cy="5472608"/>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20000"/>
              </a:lnSpc>
              <a:spcBef>
                <a:spcPts val="600"/>
              </a:spcBef>
              <a:buSzPct val="100000"/>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可扩展性较好，</a:t>
            </a:r>
            <a:r>
              <a:rPr lang="zh-CN" altLang="en-US" sz="2800" b="0" kern="1200" dirty="0">
                <a:solidFill>
                  <a:srgbClr val="0070C0"/>
                </a:solidFill>
                <a:latin typeface="Calibri" panose="020F0502020204030204" pitchFamily="34" charset="0"/>
                <a:cs typeface="Calibri" panose="020F0502020204030204" pitchFamily="34" charset="0"/>
              </a:rPr>
              <a:t>算法</a:t>
            </a:r>
            <a:r>
              <a:rPr lang="zh-CN" altLang="en-US" sz="2800" b="0" dirty="0">
                <a:solidFill>
                  <a:srgbClr val="0070C0"/>
                </a:solidFill>
                <a:latin typeface="Calibri" panose="020F0502020204030204" pitchFamily="34" charset="0"/>
                <a:cs typeface="Calibri" panose="020F0502020204030204" pitchFamily="34" charset="0"/>
              </a:rPr>
              <a:t>复杂度为</a:t>
            </a:r>
            <a:r>
              <a:rPr lang="en-US" altLang="zh-CN" sz="2800" b="0" i="1" kern="120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O(</a:t>
            </a:r>
            <a:r>
              <a:rPr lang="en-US" altLang="zh-CN" sz="2800" b="0" i="1" kern="1200" dirty="0" err="1">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nkt</a:t>
            </a:r>
            <a:r>
              <a:rPr lang="en-US" altLang="zh-CN" sz="2800" b="0" i="1" kern="120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t>
            </a:r>
            <a:r>
              <a:rPr lang="zh-CN" altLang="en-US" sz="2800" b="0" dirty="0">
                <a:solidFill>
                  <a:srgbClr val="0070C0"/>
                </a:solidFill>
                <a:latin typeface="Calibri" panose="020F0502020204030204" pitchFamily="34" charset="0"/>
                <a:cs typeface="Calibri" panose="020F0502020204030204" pitchFamily="34" charset="0"/>
              </a:rPr>
              <a:t>，其中</a:t>
            </a:r>
            <a:r>
              <a:rPr lang="en-US" altLang="zh-CN" sz="2800" b="0" i="1" kern="120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n</a:t>
            </a:r>
            <a:r>
              <a:rPr lang="zh-CN" altLang="en-US" sz="2800" b="0" dirty="0">
                <a:solidFill>
                  <a:srgbClr val="0070C0"/>
                </a:solidFill>
                <a:latin typeface="Calibri" panose="020F0502020204030204" pitchFamily="34" charset="0"/>
                <a:cs typeface="Calibri" panose="020F0502020204030204" pitchFamily="34" charset="0"/>
              </a:rPr>
              <a:t>为对象总数，</a:t>
            </a:r>
            <a:r>
              <a:rPr lang="en-US" altLang="zh-CN" sz="2800" b="0" i="1" kern="120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k</a:t>
            </a:r>
            <a:r>
              <a:rPr lang="zh-CN" altLang="en-US" sz="2800" b="0" dirty="0">
                <a:solidFill>
                  <a:srgbClr val="0070C0"/>
                </a:solidFill>
                <a:latin typeface="Calibri" panose="020F0502020204030204" pitchFamily="34" charset="0"/>
                <a:cs typeface="Calibri" panose="020F0502020204030204" pitchFamily="34" charset="0"/>
              </a:rPr>
              <a:t>是簇的个数，</a:t>
            </a:r>
            <a:r>
              <a:rPr lang="en-US" altLang="zh-CN" sz="2800" b="0" i="1" kern="120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t</a:t>
            </a:r>
            <a:r>
              <a:rPr lang="zh-CN" altLang="en-US" sz="2800" b="0" dirty="0">
                <a:solidFill>
                  <a:srgbClr val="0070C0"/>
                </a:solidFill>
                <a:latin typeface="Calibri" panose="020F0502020204030204" pitchFamily="34" charset="0"/>
                <a:cs typeface="Calibri" panose="020F0502020204030204" pitchFamily="34" charset="0"/>
              </a:rPr>
              <a:t>是迭代次数。</a:t>
            </a:r>
            <a:endParaRPr lang="zh-CN" altLang="en-US" sz="2800" b="0" dirty="0">
              <a:solidFill>
                <a:srgbClr val="0070C0"/>
              </a:solidFill>
              <a:latin typeface="Calibri" panose="020F0502020204030204" pitchFamily="34" charset="0"/>
              <a:cs typeface="Calibri" panose="020F0502020204030204" pitchFamily="34" charset="0"/>
            </a:endParaRPr>
          </a:p>
          <a:p>
            <a:pPr eaLnBrk="1" hangingPunct="1">
              <a:lnSpc>
                <a:spcPct val="120000"/>
              </a:lnSpc>
              <a:spcBef>
                <a:spcPts val="600"/>
              </a:spcBef>
              <a:buSzPct val="100000"/>
              <a:buFont typeface="Wingdings" panose="05000000000000000000" pitchFamily="2" charset="2"/>
              <a:buChar char="n"/>
              <a:defRPr/>
            </a:pPr>
            <a:r>
              <a:rPr lang="zh-CN" altLang="en-US" sz="2800" b="0" kern="12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经常终止于局部最优解</a:t>
            </a:r>
            <a:endParaRPr lang="zh-CN" altLang="en-US" sz="2800" b="0" kern="12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eaLnBrk="1" hangingPunct="1">
              <a:lnSpc>
                <a:spcPct val="120000"/>
              </a:lnSpc>
              <a:spcBef>
                <a:spcPts val="600"/>
              </a:spcBef>
              <a:buSzPct val="100000"/>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缺点</a:t>
            </a:r>
            <a:endPar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3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rPr>
              <a:t>只有当簇均值有定义的情况下，</a:t>
            </a:r>
            <a:r>
              <a:rPr lang="en-US" altLang="zh-CN" sz="2400" b="0" i="1" kern="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k-means</a:t>
            </a:r>
            <a:r>
              <a:rPr lang="zh-CN" altLang="en-US" sz="2400" b="0" kern="0" dirty="0">
                <a:solidFill>
                  <a:srgbClr val="0070C0"/>
                </a:solidFill>
                <a:latin typeface="方正兰亭中黑_GBK" panose="02000000000000000000" pitchFamily="2" charset="-122"/>
                <a:ea typeface="方正兰亭中黑_GBK" panose="02000000000000000000" pitchFamily="2" charset="-122"/>
              </a:rPr>
              <a:t>才能使用。（某些分类属性的均值可能没有定义</a:t>
            </a:r>
            <a:r>
              <a:rPr lang="zh-CN" altLang="en-US" sz="2400" b="0" kern="0" dirty="0"/>
              <a:t>）</a:t>
            </a:r>
            <a:endParaRPr lang="zh-CN" altLang="en-US" sz="2400" b="0" kern="0" dirty="0"/>
          </a:p>
          <a:p>
            <a:pPr lvl="1" eaLnBrk="1" hangingPunct="1">
              <a:lnSpc>
                <a:spcPct val="120000"/>
              </a:lnSpc>
              <a:spcBef>
                <a:spcPts val="3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rPr>
              <a:t>必须首先给定簇数目</a:t>
            </a:r>
            <a:r>
              <a:rPr lang="en-US" altLang="zh-CN" sz="2400" b="0" i="1" kern="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k</a:t>
            </a:r>
            <a:endParaRPr lang="zh-CN" altLang="en-US" sz="2400" b="0" kern="0" dirty="0"/>
          </a:p>
          <a:p>
            <a:pPr lvl="1" eaLnBrk="1" hangingPunct="1">
              <a:lnSpc>
                <a:spcPct val="120000"/>
              </a:lnSpc>
              <a:spcBef>
                <a:spcPts val="3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rPr>
              <a:t>不适合发现</a:t>
            </a:r>
            <a:r>
              <a:rPr lang="zh-CN" altLang="en-US" sz="2400" b="0" kern="0" dirty="0">
                <a:solidFill>
                  <a:srgbClr val="0000FF"/>
                </a:solidFill>
                <a:effectLst>
                  <a:outerShdw blurRad="38100" dist="38100" dir="2700000" algn="tl">
                    <a:srgbClr val="000000">
                      <a:alpha val="43137"/>
                    </a:srgbClr>
                  </a:outerShdw>
                </a:effectLst>
              </a:rPr>
              <a:t>非凸形状（</a:t>
            </a:r>
            <a:r>
              <a:rPr lang="en-US" altLang="zh-CN" b="0" i="1" kern="120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non-convex shapes</a:t>
            </a:r>
            <a:r>
              <a:rPr lang="zh-CN" altLang="en-US" sz="2400" b="0" kern="0" dirty="0">
                <a:solidFill>
                  <a:srgbClr val="0000FF"/>
                </a:solidFill>
                <a:effectLst>
                  <a:outerShdw blurRad="38100" dist="38100" dir="2700000" algn="tl">
                    <a:srgbClr val="000000">
                      <a:alpha val="43137"/>
                    </a:srgbClr>
                  </a:outerShdw>
                </a:effectLst>
              </a:rPr>
              <a:t>）的簇</a:t>
            </a:r>
            <a:r>
              <a:rPr lang="zh-CN" altLang="en-US" sz="2400" b="0" kern="0" dirty="0">
                <a:solidFill>
                  <a:srgbClr val="0070C0"/>
                </a:solidFill>
                <a:latin typeface="方正兰亭中黑_GBK" panose="02000000000000000000" pitchFamily="2" charset="-122"/>
                <a:ea typeface="方正兰亭中黑_GBK" panose="02000000000000000000" pitchFamily="2" charset="-122"/>
              </a:rPr>
              <a:t>，或者大小差别很大的簇</a:t>
            </a:r>
            <a:endParaRPr lang="zh-CN" altLang="en-US" sz="2400" b="0" kern="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20000"/>
              </a:lnSpc>
              <a:spcBef>
                <a:spcPts val="3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rPr>
              <a:t>对</a:t>
            </a:r>
            <a:r>
              <a:rPr lang="zh-CN" altLang="en-US" sz="2400" b="0" kern="0" dirty="0">
                <a:solidFill>
                  <a:srgbClr val="0000FF"/>
                </a:solidFill>
                <a:effectLst>
                  <a:outerShdw blurRad="38100" dist="38100" dir="2700000" algn="tl">
                    <a:srgbClr val="000000">
                      <a:alpha val="43137"/>
                    </a:srgbClr>
                  </a:outerShdw>
                </a:effectLst>
              </a:rPr>
              <a:t>噪声</a:t>
            </a:r>
            <a:r>
              <a:rPr lang="zh-CN" altLang="en-US" sz="2400" b="0" kern="0" dirty="0">
                <a:solidFill>
                  <a:srgbClr val="0070C0"/>
                </a:solidFill>
                <a:latin typeface="方正兰亭中黑_GBK" panose="02000000000000000000" pitchFamily="2" charset="-122"/>
                <a:ea typeface="方正兰亭中黑_GBK" panose="02000000000000000000" pitchFamily="2" charset="-122"/>
              </a:rPr>
              <a:t>和</a:t>
            </a:r>
            <a:r>
              <a:rPr lang="zh-CN" altLang="en-US" sz="2400" b="0" kern="0" dirty="0">
                <a:solidFill>
                  <a:srgbClr val="0000FF"/>
                </a:solidFill>
                <a:effectLst>
                  <a:outerShdw blurRad="38100" dist="38100" dir="2700000" algn="tl">
                    <a:srgbClr val="000000">
                      <a:alpha val="43137"/>
                    </a:srgbClr>
                  </a:outerShdw>
                </a:effectLst>
              </a:rPr>
              <a:t>离群点</a:t>
            </a:r>
            <a:r>
              <a:rPr lang="zh-CN" altLang="en-US" sz="2400" b="0" kern="0" dirty="0">
                <a:solidFill>
                  <a:srgbClr val="0070C0"/>
                </a:solidFill>
                <a:latin typeface="方正兰亭中黑_GBK" panose="02000000000000000000" pitchFamily="2" charset="-122"/>
                <a:ea typeface="方正兰亭中黑_GBK" panose="02000000000000000000" pitchFamily="2" charset="-122"/>
              </a:rPr>
              <a:t>数据敏感</a:t>
            </a:r>
            <a:endParaRPr lang="zh-CN" altLang="en-US" sz="2400" b="0" kern="0" dirty="0">
              <a:solidFill>
                <a:srgbClr val="0070C0"/>
              </a:solidFill>
              <a:latin typeface="方正兰亭中黑_GBK" panose="02000000000000000000" pitchFamily="2" charset="-122"/>
              <a:ea typeface="方正兰亭中黑_GBK"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k-means</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4784" y="1124744"/>
            <a:ext cx="8229600" cy="497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k-means</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1709737" y="2852961"/>
            <a:ext cx="5765800" cy="3563938"/>
          </a:xfrm>
          <a:prstGeom prst="rect">
            <a:avLst/>
          </a:prstGeom>
          <a:extLst>
            <a:ext uri="{91240B29-F687-4F45-9708-019B960494DF}">
              <a14:hiddenLine xmlns:a14="http://schemas.microsoft.com/office/drawing/2010/main" w="9525">
                <a:solidFill>
                  <a:schemeClr val="tx1"/>
                </a:solidFill>
                <a:prstDash val="solid"/>
                <a:miter lim="800000"/>
                <a:headEnd/>
                <a:tailEnd/>
              </a14:hiddenLine>
            </a:ext>
          </a:extLst>
        </p:spPr>
      </p:pic>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709737" y="1052736"/>
            <a:ext cx="5724525" cy="3706813"/>
          </a:xfrm>
          <a:prstGeom prst="rect">
            <a:avLst/>
          </a:prstGeom>
          <a:extLst>
            <a:ext uri="{91240B29-F687-4F45-9708-019B960494DF}">
              <a14:hiddenLine xmlns:a14="http://schemas.microsoft.com/office/drawing/2010/main" w="9525">
                <a:solidFill>
                  <a:schemeClr val="tx1"/>
                </a:solidFill>
                <a:prstDash val="solid"/>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k-means</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3824" y="1556792"/>
            <a:ext cx="8243887" cy="347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k-means</a:t>
            </a:r>
            <a:endParaRPr lang="zh-CN" altLang="en-US"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内容占位符 2"/>
          <p:cNvSpPr txBox="1"/>
          <p:nvPr/>
        </p:nvSpPr>
        <p:spPr>
          <a:xfrm>
            <a:off x="571500" y="1295400"/>
            <a:ext cx="8001000" cy="4267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30000"/>
              </a:lnSpc>
              <a:spcBef>
                <a:spcPts val="600"/>
              </a:spcBef>
              <a:buSzPct val="100000"/>
              <a:buFont typeface="Wingdings" panose="05000000000000000000" pitchFamily="2" charset="2"/>
              <a:buChar char="n"/>
              <a:defRPr/>
            </a:pPr>
            <a:r>
              <a:rPr lang="en-US" altLang="zh-CN" sz="2800" b="0" kern="1200" dirty="0">
                <a:solidFill>
                  <a:srgbClr val="FF0000"/>
                </a:solidFill>
                <a:latin typeface="Calibri" panose="020F0502020204030204" pitchFamily="34" charset="0"/>
                <a:cs typeface="Calibri" panose="020F0502020204030204" pitchFamily="34" charset="0"/>
              </a:rPr>
              <a:t>k-means</a:t>
            </a:r>
            <a:r>
              <a:rPr lang="zh-CN" altLang="en-US" sz="2800" b="0" kern="12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方法的变种，区别在于</a:t>
            </a:r>
            <a:endParaRPr lang="zh-CN" altLang="en-US" sz="2800" b="0" kern="12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6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初始</a:t>
            </a:r>
            <a:r>
              <a:rPr lang="en-US" altLang="zh-CN" sz="2400" b="0" i="1" kern="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k</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个均值的选择</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6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相异度计算</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6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计算簇均值的策略</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K-Medoids</a:t>
            </a:r>
            <a:endPar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内容占位符 2"/>
          <p:cNvSpPr txBox="1"/>
          <p:nvPr/>
        </p:nvSpPr>
        <p:spPr>
          <a:xfrm>
            <a:off x="468016" y="980728"/>
            <a:ext cx="8229600" cy="28752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30000"/>
              </a:lnSpc>
              <a:spcBef>
                <a:spcPts val="600"/>
              </a:spcBef>
              <a:buSzPct val="100000"/>
              <a:buFont typeface="Wingdings" panose="05000000000000000000" pitchFamily="2" charset="2"/>
              <a:buChar char="n"/>
              <a:defRPr/>
            </a:pPr>
            <a:r>
              <a:rPr lang="en-US" altLang="zh-CN" sz="2800" b="0" kern="1200" dirty="0">
                <a:solidFill>
                  <a:srgbClr val="FF0000"/>
                </a:solidFill>
                <a:latin typeface="Calibri" panose="020F0502020204030204" pitchFamily="34" charset="0"/>
                <a:cs typeface="Calibri" panose="020F0502020204030204" pitchFamily="34" charset="0"/>
              </a:rPr>
              <a:t>k-means</a:t>
            </a:r>
            <a:r>
              <a:rPr lang="zh-CN" altLang="en-US" sz="2800" b="0" kern="12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方法对于</a:t>
            </a: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离群点敏感</a:t>
            </a:r>
            <a:endPar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6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rPr>
              <a:t>一个具有很大极端值的对象可能显著扭曲数据的分布</a:t>
            </a:r>
            <a:endParaRPr lang="zh-CN" altLang="en-US" sz="2400" b="0" kern="0" dirty="0">
              <a:solidFill>
                <a:srgbClr val="0070C0"/>
              </a:solidFill>
              <a:latin typeface="方正兰亭中黑_GBK" panose="02000000000000000000" pitchFamily="2" charset="-122"/>
              <a:ea typeface="方正兰亭中黑_GBK" panose="02000000000000000000" pitchFamily="2" charset="-122"/>
            </a:endParaRPr>
          </a:p>
          <a:p>
            <a:pPr eaLnBrk="1" hangingPunct="1">
              <a:lnSpc>
                <a:spcPct val="130000"/>
              </a:lnSpc>
              <a:spcBef>
                <a:spcPts val="600"/>
              </a:spcBef>
              <a:buSzPct val="100000"/>
              <a:buFont typeface="Wingdings" panose="05000000000000000000" pitchFamily="2" charset="2"/>
              <a:buChar char="n"/>
              <a:defRPr/>
            </a:pPr>
            <a:r>
              <a:rPr lang="en-US" altLang="zh-CN" sz="2800" b="0" dirty="0">
                <a:solidFill>
                  <a:srgbClr val="FF0000"/>
                </a:solidFill>
                <a:latin typeface="Calibri" panose="020F0502020204030204" pitchFamily="34" charset="0"/>
                <a:cs typeface="Calibri" panose="020F0502020204030204" pitchFamily="34" charset="0"/>
              </a:rPr>
              <a:t>k</a:t>
            </a: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中心点</a:t>
            </a:r>
            <a:r>
              <a:rPr lang="zh-CN" altLang="en-US" sz="2800" b="0" dirty="0">
                <a:solidFill>
                  <a:srgbClr val="FF0000"/>
                </a:solidFill>
                <a:latin typeface="Calibri" panose="020F0502020204030204" pitchFamily="34" charset="0"/>
                <a:cs typeface="Calibri" panose="020F0502020204030204" pitchFamily="34" charset="0"/>
              </a:rPr>
              <a:t>（</a:t>
            </a:r>
            <a:r>
              <a:rPr lang="en-US" altLang="ko-KR" sz="2800" b="0" dirty="0">
                <a:solidFill>
                  <a:srgbClr val="FF0000"/>
                </a:solidFill>
                <a:latin typeface="Calibri" panose="020F0502020204030204" pitchFamily="34" charset="0"/>
                <a:cs typeface="Calibri" panose="020F0502020204030204" pitchFamily="34" charset="0"/>
              </a:rPr>
              <a:t>K-Medoids</a:t>
            </a:r>
            <a:r>
              <a:rPr lang="zh-CN" altLang="en-US" sz="2800" b="0" dirty="0">
                <a:solidFill>
                  <a:srgbClr val="FF0000"/>
                </a:solidFill>
                <a:latin typeface="Calibri" panose="020F0502020204030204" pitchFamily="34" charset="0"/>
                <a:cs typeface="Calibri" panose="020F0502020204030204" pitchFamily="34" charset="0"/>
              </a:rPr>
              <a:t>）</a:t>
            </a: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方法</a:t>
            </a:r>
            <a:r>
              <a:rPr lang="zh-CN" altLang="en-US" sz="2800" b="0" kern="1200" dirty="0">
                <a:solidFill>
                  <a:srgbClr val="C00000"/>
                </a:solidFill>
                <a:latin typeface="Calibri" panose="020F0502020204030204" pitchFamily="34" charset="0"/>
                <a:cs typeface="Calibri" panose="020F0502020204030204" pitchFamily="34" charset="0"/>
              </a:rPr>
              <a:t>：</a:t>
            </a:r>
            <a:r>
              <a:rPr lang="zh-CN" altLang="en-US" sz="2400" b="0" kern="0" dirty="0">
                <a:solidFill>
                  <a:srgbClr val="0070C0"/>
                </a:solidFill>
                <a:latin typeface="方正兰亭中黑_GBK" panose="02000000000000000000" pitchFamily="2" charset="-122"/>
                <a:ea typeface="方正兰亭中黑_GBK" panose="02000000000000000000" pitchFamily="2" charset="-122"/>
              </a:rPr>
              <a:t>采用簇的中心点，即最靠近中心的对象来代表簇</a:t>
            </a:r>
            <a:endParaRPr lang="zh-CN" altLang="en-US" sz="2400" b="0" kern="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20000"/>
              </a:lnSpc>
              <a:spcBef>
                <a:spcPts val="6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rPr>
              <a:t>降低算法对离群点的敏感度</a:t>
            </a:r>
            <a:endParaRPr lang="zh-CN" altLang="en-US" sz="2400" b="0" kern="0" dirty="0">
              <a:solidFill>
                <a:srgbClr val="0070C0"/>
              </a:solidFill>
              <a:latin typeface="方正兰亭中黑_GBK" panose="02000000000000000000" pitchFamily="2" charset="-122"/>
              <a:ea typeface="方正兰亭中黑_GBK" panose="02000000000000000000" pitchFamily="2" charset="-122"/>
            </a:endParaRPr>
          </a:p>
        </p:txBody>
      </p:sp>
      <p:grpSp>
        <p:nvGrpSpPr>
          <p:cNvPr id="4" name="Group 1028"/>
          <p:cNvGrpSpPr/>
          <p:nvPr/>
        </p:nvGrpSpPr>
        <p:grpSpPr bwMode="auto">
          <a:xfrm>
            <a:off x="1877716" y="4390387"/>
            <a:ext cx="5257800" cy="1750034"/>
            <a:chOff x="1344" y="3072"/>
            <a:chExt cx="3312" cy="1112"/>
          </a:xfrm>
        </p:grpSpPr>
        <p:grpSp>
          <p:nvGrpSpPr>
            <p:cNvPr id="5" name="Group 1029"/>
            <p:cNvGrpSpPr/>
            <p:nvPr/>
          </p:nvGrpSpPr>
          <p:grpSpPr bwMode="auto">
            <a:xfrm>
              <a:off x="1344" y="3072"/>
              <a:ext cx="1248" cy="1112"/>
              <a:chOff x="1728" y="864"/>
              <a:chExt cx="1396" cy="1208"/>
            </a:xfrm>
          </p:grpSpPr>
          <p:sp>
            <p:nvSpPr>
              <p:cNvPr id="93" name="Rectangle 1030"/>
              <p:cNvSpPr>
                <a:spLocks noChangeArrowheads="1"/>
              </p:cNvSpPr>
              <p:nvPr/>
            </p:nvSpPr>
            <p:spPr bwMode="auto">
              <a:xfrm>
                <a:off x="1728" y="864"/>
                <a:ext cx="1396" cy="1208"/>
              </a:xfrm>
              <a:prstGeom prst="rect">
                <a:avLst/>
              </a:prstGeom>
              <a:solidFill>
                <a:srgbClr val="FFFFFF"/>
              </a:solidFill>
              <a:ln w="0">
                <a:solidFill>
                  <a:srgbClr val="000000"/>
                </a:solidFill>
                <a:miter lim="800000"/>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94" name="Rectangle 1031"/>
              <p:cNvSpPr>
                <a:spLocks noChangeArrowheads="1"/>
              </p:cNvSpPr>
              <p:nvPr/>
            </p:nvSpPr>
            <p:spPr bwMode="auto">
              <a:xfrm>
                <a:off x="1861" y="950"/>
                <a:ext cx="1198" cy="9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95" name="Line 1032"/>
              <p:cNvSpPr>
                <a:spLocks noChangeShapeType="1"/>
              </p:cNvSpPr>
              <p:nvPr/>
            </p:nvSpPr>
            <p:spPr bwMode="auto">
              <a:xfrm>
                <a:off x="1861" y="1828"/>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96" name="Line 1033"/>
              <p:cNvSpPr>
                <a:spLocks noChangeShapeType="1"/>
              </p:cNvSpPr>
              <p:nvPr/>
            </p:nvSpPr>
            <p:spPr bwMode="auto">
              <a:xfrm>
                <a:off x="1861" y="1730"/>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97" name="Line 1034"/>
              <p:cNvSpPr>
                <a:spLocks noChangeShapeType="1"/>
              </p:cNvSpPr>
              <p:nvPr/>
            </p:nvSpPr>
            <p:spPr bwMode="auto">
              <a:xfrm>
                <a:off x="1861" y="1633"/>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98" name="Line 1035"/>
              <p:cNvSpPr>
                <a:spLocks noChangeShapeType="1"/>
              </p:cNvSpPr>
              <p:nvPr/>
            </p:nvSpPr>
            <p:spPr bwMode="auto">
              <a:xfrm>
                <a:off x="1861" y="1535"/>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99" name="Line 1036"/>
              <p:cNvSpPr>
                <a:spLocks noChangeShapeType="1"/>
              </p:cNvSpPr>
              <p:nvPr/>
            </p:nvSpPr>
            <p:spPr bwMode="auto">
              <a:xfrm>
                <a:off x="1861" y="1436"/>
                <a:ext cx="1198"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00" name="Line 1037"/>
              <p:cNvSpPr>
                <a:spLocks noChangeShapeType="1"/>
              </p:cNvSpPr>
              <p:nvPr/>
            </p:nvSpPr>
            <p:spPr bwMode="auto">
              <a:xfrm>
                <a:off x="1861" y="1340"/>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01" name="Line 1038"/>
              <p:cNvSpPr>
                <a:spLocks noChangeShapeType="1"/>
              </p:cNvSpPr>
              <p:nvPr/>
            </p:nvSpPr>
            <p:spPr bwMode="auto">
              <a:xfrm>
                <a:off x="1861" y="1242"/>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02" name="Line 1039"/>
              <p:cNvSpPr>
                <a:spLocks noChangeShapeType="1"/>
              </p:cNvSpPr>
              <p:nvPr/>
            </p:nvSpPr>
            <p:spPr bwMode="auto">
              <a:xfrm>
                <a:off x="1861" y="1145"/>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03" name="Line 1040"/>
              <p:cNvSpPr>
                <a:spLocks noChangeShapeType="1"/>
              </p:cNvSpPr>
              <p:nvPr/>
            </p:nvSpPr>
            <p:spPr bwMode="auto">
              <a:xfrm>
                <a:off x="1861" y="1047"/>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04" name="Line 1041"/>
              <p:cNvSpPr>
                <a:spLocks noChangeShapeType="1"/>
              </p:cNvSpPr>
              <p:nvPr/>
            </p:nvSpPr>
            <p:spPr bwMode="auto">
              <a:xfrm>
                <a:off x="1861" y="950"/>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05" name="Line 1042"/>
              <p:cNvSpPr>
                <a:spLocks noChangeShapeType="1"/>
              </p:cNvSpPr>
              <p:nvPr/>
            </p:nvSpPr>
            <p:spPr bwMode="auto">
              <a:xfrm>
                <a:off x="1981" y="9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06" name="Line 1043"/>
              <p:cNvSpPr>
                <a:spLocks noChangeShapeType="1"/>
              </p:cNvSpPr>
              <p:nvPr/>
            </p:nvSpPr>
            <p:spPr bwMode="auto">
              <a:xfrm>
                <a:off x="2102" y="9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07" name="Line 1044"/>
              <p:cNvSpPr>
                <a:spLocks noChangeShapeType="1"/>
              </p:cNvSpPr>
              <p:nvPr/>
            </p:nvSpPr>
            <p:spPr bwMode="auto">
              <a:xfrm>
                <a:off x="2219" y="9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08" name="Line 1045"/>
              <p:cNvSpPr>
                <a:spLocks noChangeShapeType="1"/>
              </p:cNvSpPr>
              <p:nvPr/>
            </p:nvSpPr>
            <p:spPr bwMode="auto">
              <a:xfrm>
                <a:off x="2339" y="9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09" name="Line 1046"/>
              <p:cNvSpPr>
                <a:spLocks noChangeShapeType="1"/>
              </p:cNvSpPr>
              <p:nvPr/>
            </p:nvSpPr>
            <p:spPr bwMode="auto">
              <a:xfrm>
                <a:off x="2460" y="9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10" name="Line 1047"/>
              <p:cNvSpPr>
                <a:spLocks noChangeShapeType="1"/>
              </p:cNvSpPr>
              <p:nvPr/>
            </p:nvSpPr>
            <p:spPr bwMode="auto">
              <a:xfrm>
                <a:off x="2581" y="950"/>
                <a:ext cx="0"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11" name="Line 1048"/>
              <p:cNvSpPr>
                <a:spLocks noChangeShapeType="1"/>
              </p:cNvSpPr>
              <p:nvPr/>
            </p:nvSpPr>
            <p:spPr bwMode="auto">
              <a:xfrm>
                <a:off x="2701" y="9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12" name="Line 1049"/>
              <p:cNvSpPr>
                <a:spLocks noChangeShapeType="1"/>
              </p:cNvSpPr>
              <p:nvPr/>
            </p:nvSpPr>
            <p:spPr bwMode="auto">
              <a:xfrm>
                <a:off x="2818" y="9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13" name="Line 1050"/>
              <p:cNvSpPr>
                <a:spLocks noChangeShapeType="1"/>
              </p:cNvSpPr>
              <p:nvPr/>
            </p:nvSpPr>
            <p:spPr bwMode="auto">
              <a:xfrm>
                <a:off x="2939" y="9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14" name="Line 1051"/>
              <p:cNvSpPr>
                <a:spLocks noChangeShapeType="1"/>
              </p:cNvSpPr>
              <p:nvPr/>
            </p:nvSpPr>
            <p:spPr bwMode="auto">
              <a:xfrm>
                <a:off x="3059" y="9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15" name="Rectangle 1052"/>
              <p:cNvSpPr>
                <a:spLocks noChangeArrowheads="1"/>
              </p:cNvSpPr>
              <p:nvPr/>
            </p:nvSpPr>
            <p:spPr bwMode="auto">
              <a:xfrm>
                <a:off x="1861" y="950"/>
                <a:ext cx="1198" cy="978"/>
              </a:xfrm>
              <a:prstGeom prst="rect">
                <a:avLst/>
              </a:prstGeom>
              <a:noFill/>
              <a:ln w="635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16" name="Line 1053"/>
              <p:cNvSpPr>
                <a:spLocks noChangeShapeType="1"/>
              </p:cNvSpPr>
              <p:nvPr/>
            </p:nvSpPr>
            <p:spPr bwMode="auto">
              <a:xfrm>
                <a:off x="1861" y="9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17" name="Line 1054"/>
              <p:cNvSpPr>
                <a:spLocks noChangeShapeType="1"/>
              </p:cNvSpPr>
              <p:nvPr/>
            </p:nvSpPr>
            <p:spPr bwMode="auto">
              <a:xfrm>
                <a:off x="1849" y="1925"/>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18" name="Line 1055"/>
              <p:cNvSpPr>
                <a:spLocks noChangeShapeType="1"/>
              </p:cNvSpPr>
              <p:nvPr/>
            </p:nvSpPr>
            <p:spPr bwMode="auto">
              <a:xfrm>
                <a:off x="1849" y="1828"/>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19" name="Line 1056"/>
              <p:cNvSpPr>
                <a:spLocks noChangeShapeType="1"/>
              </p:cNvSpPr>
              <p:nvPr/>
            </p:nvSpPr>
            <p:spPr bwMode="auto">
              <a:xfrm>
                <a:off x="1849" y="1730"/>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20" name="Line 1057"/>
              <p:cNvSpPr>
                <a:spLocks noChangeShapeType="1"/>
              </p:cNvSpPr>
              <p:nvPr/>
            </p:nvSpPr>
            <p:spPr bwMode="auto">
              <a:xfrm>
                <a:off x="1849" y="1633"/>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21" name="Line 1058"/>
              <p:cNvSpPr>
                <a:spLocks noChangeShapeType="1"/>
              </p:cNvSpPr>
              <p:nvPr/>
            </p:nvSpPr>
            <p:spPr bwMode="auto">
              <a:xfrm>
                <a:off x="1849" y="1535"/>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22" name="Line 1059"/>
              <p:cNvSpPr>
                <a:spLocks noChangeShapeType="1"/>
              </p:cNvSpPr>
              <p:nvPr/>
            </p:nvSpPr>
            <p:spPr bwMode="auto">
              <a:xfrm>
                <a:off x="1849" y="1436"/>
                <a:ext cx="12"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23" name="Line 1060"/>
              <p:cNvSpPr>
                <a:spLocks noChangeShapeType="1"/>
              </p:cNvSpPr>
              <p:nvPr/>
            </p:nvSpPr>
            <p:spPr bwMode="auto">
              <a:xfrm>
                <a:off x="1849" y="1340"/>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24" name="Line 1061"/>
              <p:cNvSpPr>
                <a:spLocks noChangeShapeType="1"/>
              </p:cNvSpPr>
              <p:nvPr/>
            </p:nvSpPr>
            <p:spPr bwMode="auto">
              <a:xfrm>
                <a:off x="1849" y="1242"/>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25" name="Line 1062"/>
              <p:cNvSpPr>
                <a:spLocks noChangeShapeType="1"/>
              </p:cNvSpPr>
              <p:nvPr/>
            </p:nvSpPr>
            <p:spPr bwMode="auto">
              <a:xfrm>
                <a:off x="1849" y="1145"/>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26" name="Line 1063"/>
              <p:cNvSpPr>
                <a:spLocks noChangeShapeType="1"/>
              </p:cNvSpPr>
              <p:nvPr/>
            </p:nvSpPr>
            <p:spPr bwMode="auto">
              <a:xfrm>
                <a:off x="1849" y="1047"/>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27" name="Line 1064"/>
              <p:cNvSpPr>
                <a:spLocks noChangeShapeType="1"/>
              </p:cNvSpPr>
              <p:nvPr/>
            </p:nvSpPr>
            <p:spPr bwMode="auto">
              <a:xfrm>
                <a:off x="1849" y="950"/>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28" name="Line 1065"/>
              <p:cNvSpPr>
                <a:spLocks noChangeShapeType="1"/>
              </p:cNvSpPr>
              <p:nvPr/>
            </p:nvSpPr>
            <p:spPr bwMode="auto">
              <a:xfrm>
                <a:off x="1861" y="1925"/>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29" name="Line 1066"/>
              <p:cNvSpPr>
                <a:spLocks noChangeShapeType="1"/>
              </p:cNvSpPr>
              <p:nvPr/>
            </p:nvSpPr>
            <p:spPr bwMode="auto">
              <a:xfrm flipV="1">
                <a:off x="1861" y="19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30" name="Line 1067"/>
              <p:cNvSpPr>
                <a:spLocks noChangeShapeType="1"/>
              </p:cNvSpPr>
              <p:nvPr/>
            </p:nvSpPr>
            <p:spPr bwMode="auto">
              <a:xfrm flipV="1">
                <a:off x="1981" y="19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31" name="Line 1068"/>
              <p:cNvSpPr>
                <a:spLocks noChangeShapeType="1"/>
              </p:cNvSpPr>
              <p:nvPr/>
            </p:nvSpPr>
            <p:spPr bwMode="auto">
              <a:xfrm flipV="1">
                <a:off x="2102" y="19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32" name="Line 1069"/>
              <p:cNvSpPr>
                <a:spLocks noChangeShapeType="1"/>
              </p:cNvSpPr>
              <p:nvPr/>
            </p:nvSpPr>
            <p:spPr bwMode="auto">
              <a:xfrm flipV="1">
                <a:off x="2219" y="19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33" name="Line 1070"/>
              <p:cNvSpPr>
                <a:spLocks noChangeShapeType="1"/>
              </p:cNvSpPr>
              <p:nvPr/>
            </p:nvSpPr>
            <p:spPr bwMode="auto">
              <a:xfrm flipV="1">
                <a:off x="2339" y="19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34" name="Line 1071"/>
              <p:cNvSpPr>
                <a:spLocks noChangeShapeType="1"/>
              </p:cNvSpPr>
              <p:nvPr/>
            </p:nvSpPr>
            <p:spPr bwMode="auto">
              <a:xfrm flipV="1">
                <a:off x="2460" y="19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35" name="Line 1072"/>
              <p:cNvSpPr>
                <a:spLocks noChangeShapeType="1"/>
              </p:cNvSpPr>
              <p:nvPr/>
            </p:nvSpPr>
            <p:spPr bwMode="auto">
              <a:xfrm flipV="1">
                <a:off x="2581" y="1925"/>
                <a:ext cx="0"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36" name="Line 1073"/>
              <p:cNvSpPr>
                <a:spLocks noChangeShapeType="1"/>
              </p:cNvSpPr>
              <p:nvPr/>
            </p:nvSpPr>
            <p:spPr bwMode="auto">
              <a:xfrm flipV="1">
                <a:off x="2701" y="19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37" name="Line 1074"/>
              <p:cNvSpPr>
                <a:spLocks noChangeShapeType="1"/>
              </p:cNvSpPr>
              <p:nvPr/>
            </p:nvSpPr>
            <p:spPr bwMode="auto">
              <a:xfrm flipV="1">
                <a:off x="2818" y="19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38" name="Line 1075"/>
              <p:cNvSpPr>
                <a:spLocks noChangeShapeType="1"/>
              </p:cNvSpPr>
              <p:nvPr/>
            </p:nvSpPr>
            <p:spPr bwMode="auto">
              <a:xfrm flipV="1">
                <a:off x="2939" y="19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39" name="Line 1076"/>
              <p:cNvSpPr>
                <a:spLocks noChangeShapeType="1"/>
              </p:cNvSpPr>
              <p:nvPr/>
            </p:nvSpPr>
            <p:spPr bwMode="auto">
              <a:xfrm flipV="1">
                <a:off x="3059" y="19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40" name="Freeform 1077"/>
              <p:cNvSpPr/>
              <p:nvPr/>
            </p:nvSpPr>
            <p:spPr bwMode="auto">
              <a:xfrm>
                <a:off x="2191" y="1507"/>
                <a:ext cx="56" cy="55"/>
              </a:xfrm>
              <a:custGeom>
                <a:avLst/>
                <a:gdLst>
                  <a:gd name="T0" fmla="*/ 28 w 56"/>
                  <a:gd name="T1" fmla="*/ 0 h 56"/>
                  <a:gd name="T2" fmla="*/ 56 w 56"/>
                  <a:gd name="T3" fmla="*/ 28 h 56"/>
                  <a:gd name="T4" fmla="*/ 28 w 56"/>
                  <a:gd name="T5" fmla="*/ 56 h 56"/>
                  <a:gd name="T6" fmla="*/ 0 w 56"/>
                  <a:gd name="T7" fmla="*/ 28 h 56"/>
                  <a:gd name="T8" fmla="*/ 28 w 56"/>
                  <a:gd name="T9" fmla="*/ 0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28" y="0"/>
                    </a:moveTo>
                    <a:lnTo>
                      <a:pt x="56" y="28"/>
                    </a:lnTo>
                    <a:lnTo>
                      <a:pt x="28" y="56"/>
                    </a:lnTo>
                    <a:lnTo>
                      <a:pt x="0" y="28"/>
                    </a:lnTo>
                    <a:lnTo>
                      <a:pt x="28"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41" name="Freeform 1078"/>
              <p:cNvSpPr/>
              <p:nvPr/>
            </p:nvSpPr>
            <p:spPr bwMode="auto">
              <a:xfrm>
                <a:off x="2191" y="1310"/>
                <a:ext cx="56" cy="58"/>
              </a:xfrm>
              <a:custGeom>
                <a:avLst/>
                <a:gdLst>
                  <a:gd name="T0" fmla="*/ 28 w 56"/>
                  <a:gd name="T1" fmla="*/ 0 h 57"/>
                  <a:gd name="T2" fmla="*/ 56 w 56"/>
                  <a:gd name="T3" fmla="*/ 29 h 57"/>
                  <a:gd name="T4" fmla="*/ 28 w 56"/>
                  <a:gd name="T5" fmla="*/ 57 h 57"/>
                  <a:gd name="T6" fmla="*/ 0 w 56"/>
                  <a:gd name="T7" fmla="*/ 29 h 57"/>
                  <a:gd name="T8" fmla="*/ 28 w 56"/>
                  <a:gd name="T9" fmla="*/ 0 h 57"/>
                  <a:gd name="T10" fmla="*/ 0 60000 65536"/>
                  <a:gd name="T11" fmla="*/ 0 60000 65536"/>
                  <a:gd name="T12" fmla="*/ 0 60000 65536"/>
                  <a:gd name="T13" fmla="*/ 0 60000 65536"/>
                  <a:gd name="T14" fmla="*/ 0 60000 65536"/>
                  <a:gd name="T15" fmla="*/ 0 w 56"/>
                  <a:gd name="T16" fmla="*/ 0 h 57"/>
                  <a:gd name="T17" fmla="*/ 56 w 56"/>
                  <a:gd name="T18" fmla="*/ 57 h 57"/>
                </a:gdLst>
                <a:ahLst/>
                <a:cxnLst>
                  <a:cxn ang="T10">
                    <a:pos x="T0" y="T1"/>
                  </a:cxn>
                  <a:cxn ang="T11">
                    <a:pos x="T2" y="T3"/>
                  </a:cxn>
                  <a:cxn ang="T12">
                    <a:pos x="T4" y="T5"/>
                  </a:cxn>
                  <a:cxn ang="T13">
                    <a:pos x="T6" y="T7"/>
                  </a:cxn>
                  <a:cxn ang="T14">
                    <a:pos x="T8" y="T9"/>
                  </a:cxn>
                </a:cxnLst>
                <a:rect l="T15" t="T16" r="T17" b="T18"/>
                <a:pathLst>
                  <a:path w="56" h="57">
                    <a:moveTo>
                      <a:pt x="28" y="0"/>
                    </a:moveTo>
                    <a:lnTo>
                      <a:pt x="56" y="29"/>
                    </a:lnTo>
                    <a:lnTo>
                      <a:pt x="28" y="57"/>
                    </a:lnTo>
                    <a:lnTo>
                      <a:pt x="0" y="29"/>
                    </a:lnTo>
                    <a:lnTo>
                      <a:pt x="28"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42" name="Freeform 1079"/>
              <p:cNvSpPr/>
              <p:nvPr/>
            </p:nvSpPr>
            <p:spPr bwMode="auto">
              <a:xfrm>
                <a:off x="2673" y="1604"/>
                <a:ext cx="57" cy="60"/>
              </a:xfrm>
              <a:custGeom>
                <a:avLst/>
                <a:gdLst>
                  <a:gd name="T0" fmla="*/ 28 w 57"/>
                  <a:gd name="T1" fmla="*/ 0 h 57"/>
                  <a:gd name="T2" fmla="*/ 57 w 57"/>
                  <a:gd name="T3" fmla="*/ 29 h 57"/>
                  <a:gd name="T4" fmla="*/ 28 w 57"/>
                  <a:gd name="T5" fmla="*/ 57 h 57"/>
                  <a:gd name="T6" fmla="*/ 0 w 57"/>
                  <a:gd name="T7" fmla="*/ 29 h 57"/>
                  <a:gd name="T8" fmla="*/ 28 w 57"/>
                  <a:gd name="T9" fmla="*/ 0 h 57"/>
                  <a:gd name="T10" fmla="*/ 0 60000 65536"/>
                  <a:gd name="T11" fmla="*/ 0 60000 65536"/>
                  <a:gd name="T12" fmla="*/ 0 60000 65536"/>
                  <a:gd name="T13" fmla="*/ 0 60000 65536"/>
                  <a:gd name="T14" fmla="*/ 0 60000 65536"/>
                  <a:gd name="T15" fmla="*/ 0 w 57"/>
                  <a:gd name="T16" fmla="*/ 0 h 57"/>
                  <a:gd name="T17" fmla="*/ 57 w 57"/>
                  <a:gd name="T18" fmla="*/ 57 h 57"/>
                </a:gdLst>
                <a:ahLst/>
                <a:cxnLst>
                  <a:cxn ang="T10">
                    <a:pos x="T0" y="T1"/>
                  </a:cxn>
                  <a:cxn ang="T11">
                    <a:pos x="T2" y="T3"/>
                  </a:cxn>
                  <a:cxn ang="T12">
                    <a:pos x="T4" y="T5"/>
                  </a:cxn>
                  <a:cxn ang="T13">
                    <a:pos x="T6" y="T7"/>
                  </a:cxn>
                  <a:cxn ang="T14">
                    <a:pos x="T8" y="T9"/>
                  </a:cxn>
                </a:cxnLst>
                <a:rect l="T15" t="T16" r="T17" b="T18"/>
                <a:pathLst>
                  <a:path w="57" h="57">
                    <a:moveTo>
                      <a:pt x="28" y="0"/>
                    </a:moveTo>
                    <a:lnTo>
                      <a:pt x="57" y="29"/>
                    </a:lnTo>
                    <a:lnTo>
                      <a:pt x="28" y="57"/>
                    </a:lnTo>
                    <a:lnTo>
                      <a:pt x="0" y="29"/>
                    </a:lnTo>
                    <a:lnTo>
                      <a:pt x="28" y="0"/>
                    </a:lnTo>
                    <a:close/>
                  </a:path>
                </a:pathLst>
              </a:custGeom>
              <a:solidFill>
                <a:srgbClr val="000080"/>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43" name="Freeform 1080"/>
              <p:cNvSpPr/>
              <p:nvPr/>
            </p:nvSpPr>
            <p:spPr bwMode="auto">
              <a:xfrm>
                <a:off x="2311" y="1214"/>
                <a:ext cx="57" cy="59"/>
              </a:xfrm>
              <a:custGeom>
                <a:avLst/>
                <a:gdLst>
                  <a:gd name="T0" fmla="*/ 28 w 57"/>
                  <a:gd name="T1" fmla="*/ 0 h 57"/>
                  <a:gd name="T2" fmla="*/ 57 w 57"/>
                  <a:gd name="T3" fmla="*/ 28 h 57"/>
                  <a:gd name="T4" fmla="*/ 28 w 57"/>
                  <a:gd name="T5" fmla="*/ 57 h 57"/>
                  <a:gd name="T6" fmla="*/ 0 w 57"/>
                  <a:gd name="T7" fmla="*/ 28 h 57"/>
                  <a:gd name="T8" fmla="*/ 28 w 57"/>
                  <a:gd name="T9" fmla="*/ 0 h 57"/>
                  <a:gd name="T10" fmla="*/ 0 60000 65536"/>
                  <a:gd name="T11" fmla="*/ 0 60000 65536"/>
                  <a:gd name="T12" fmla="*/ 0 60000 65536"/>
                  <a:gd name="T13" fmla="*/ 0 60000 65536"/>
                  <a:gd name="T14" fmla="*/ 0 60000 65536"/>
                  <a:gd name="T15" fmla="*/ 0 w 57"/>
                  <a:gd name="T16" fmla="*/ 0 h 57"/>
                  <a:gd name="T17" fmla="*/ 57 w 57"/>
                  <a:gd name="T18" fmla="*/ 57 h 57"/>
                </a:gdLst>
                <a:ahLst/>
                <a:cxnLst>
                  <a:cxn ang="T10">
                    <a:pos x="T0" y="T1"/>
                  </a:cxn>
                  <a:cxn ang="T11">
                    <a:pos x="T2" y="T3"/>
                  </a:cxn>
                  <a:cxn ang="T12">
                    <a:pos x="T4" y="T5"/>
                  </a:cxn>
                  <a:cxn ang="T13">
                    <a:pos x="T6" y="T7"/>
                  </a:cxn>
                  <a:cxn ang="T14">
                    <a:pos x="T8" y="T9"/>
                  </a:cxn>
                </a:cxnLst>
                <a:rect l="T15" t="T16" r="T17" b="T18"/>
                <a:pathLst>
                  <a:path w="57" h="57">
                    <a:moveTo>
                      <a:pt x="28" y="0"/>
                    </a:moveTo>
                    <a:lnTo>
                      <a:pt x="57" y="28"/>
                    </a:lnTo>
                    <a:lnTo>
                      <a:pt x="28" y="57"/>
                    </a:lnTo>
                    <a:lnTo>
                      <a:pt x="0" y="28"/>
                    </a:lnTo>
                    <a:lnTo>
                      <a:pt x="28"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44" name="Freeform 1081"/>
              <p:cNvSpPr/>
              <p:nvPr/>
            </p:nvSpPr>
            <p:spPr bwMode="auto">
              <a:xfrm>
                <a:off x="2191" y="1116"/>
                <a:ext cx="56" cy="56"/>
              </a:xfrm>
              <a:custGeom>
                <a:avLst/>
                <a:gdLst>
                  <a:gd name="T0" fmla="*/ 28 w 56"/>
                  <a:gd name="T1" fmla="*/ 0 h 57"/>
                  <a:gd name="T2" fmla="*/ 56 w 56"/>
                  <a:gd name="T3" fmla="*/ 29 h 57"/>
                  <a:gd name="T4" fmla="*/ 28 w 56"/>
                  <a:gd name="T5" fmla="*/ 57 h 57"/>
                  <a:gd name="T6" fmla="*/ 0 w 56"/>
                  <a:gd name="T7" fmla="*/ 29 h 57"/>
                  <a:gd name="T8" fmla="*/ 28 w 56"/>
                  <a:gd name="T9" fmla="*/ 0 h 57"/>
                  <a:gd name="T10" fmla="*/ 0 60000 65536"/>
                  <a:gd name="T11" fmla="*/ 0 60000 65536"/>
                  <a:gd name="T12" fmla="*/ 0 60000 65536"/>
                  <a:gd name="T13" fmla="*/ 0 60000 65536"/>
                  <a:gd name="T14" fmla="*/ 0 60000 65536"/>
                  <a:gd name="T15" fmla="*/ 0 w 56"/>
                  <a:gd name="T16" fmla="*/ 0 h 57"/>
                  <a:gd name="T17" fmla="*/ 56 w 56"/>
                  <a:gd name="T18" fmla="*/ 57 h 57"/>
                </a:gdLst>
                <a:ahLst/>
                <a:cxnLst>
                  <a:cxn ang="T10">
                    <a:pos x="T0" y="T1"/>
                  </a:cxn>
                  <a:cxn ang="T11">
                    <a:pos x="T2" y="T3"/>
                  </a:cxn>
                  <a:cxn ang="T12">
                    <a:pos x="T4" y="T5"/>
                  </a:cxn>
                  <a:cxn ang="T13">
                    <a:pos x="T6" y="T7"/>
                  </a:cxn>
                  <a:cxn ang="T14">
                    <a:pos x="T8" y="T9"/>
                  </a:cxn>
                </a:cxnLst>
                <a:rect l="T15" t="T16" r="T17" b="T18"/>
                <a:pathLst>
                  <a:path w="56" h="57">
                    <a:moveTo>
                      <a:pt x="28" y="0"/>
                    </a:moveTo>
                    <a:lnTo>
                      <a:pt x="56" y="29"/>
                    </a:lnTo>
                    <a:lnTo>
                      <a:pt x="28" y="57"/>
                    </a:lnTo>
                    <a:lnTo>
                      <a:pt x="0" y="29"/>
                    </a:lnTo>
                    <a:lnTo>
                      <a:pt x="28"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45" name="Freeform 1082"/>
              <p:cNvSpPr/>
              <p:nvPr/>
            </p:nvSpPr>
            <p:spPr bwMode="auto">
              <a:xfrm>
                <a:off x="2790" y="1409"/>
                <a:ext cx="56" cy="52"/>
              </a:xfrm>
              <a:custGeom>
                <a:avLst/>
                <a:gdLst>
                  <a:gd name="T0" fmla="*/ 28 w 56"/>
                  <a:gd name="T1" fmla="*/ 0 h 57"/>
                  <a:gd name="T2" fmla="*/ 56 w 56"/>
                  <a:gd name="T3" fmla="*/ 28 h 57"/>
                  <a:gd name="T4" fmla="*/ 28 w 56"/>
                  <a:gd name="T5" fmla="*/ 57 h 57"/>
                  <a:gd name="T6" fmla="*/ 0 w 56"/>
                  <a:gd name="T7" fmla="*/ 28 h 57"/>
                  <a:gd name="T8" fmla="*/ 28 w 56"/>
                  <a:gd name="T9" fmla="*/ 0 h 57"/>
                  <a:gd name="T10" fmla="*/ 0 60000 65536"/>
                  <a:gd name="T11" fmla="*/ 0 60000 65536"/>
                  <a:gd name="T12" fmla="*/ 0 60000 65536"/>
                  <a:gd name="T13" fmla="*/ 0 60000 65536"/>
                  <a:gd name="T14" fmla="*/ 0 60000 65536"/>
                  <a:gd name="T15" fmla="*/ 0 w 56"/>
                  <a:gd name="T16" fmla="*/ 0 h 57"/>
                  <a:gd name="T17" fmla="*/ 56 w 56"/>
                  <a:gd name="T18" fmla="*/ 57 h 57"/>
                </a:gdLst>
                <a:ahLst/>
                <a:cxnLst>
                  <a:cxn ang="T10">
                    <a:pos x="T0" y="T1"/>
                  </a:cxn>
                  <a:cxn ang="T11">
                    <a:pos x="T2" y="T3"/>
                  </a:cxn>
                  <a:cxn ang="T12">
                    <a:pos x="T4" y="T5"/>
                  </a:cxn>
                  <a:cxn ang="T13">
                    <a:pos x="T6" y="T7"/>
                  </a:cxn>
                  <a:cxn ang="T14">
                    <a:pos x="T8" y="T9"/>
                  </a:cxn>
                </a:cxnLst>
                <a:rect l="T15" t="T16" r="T17" b="T18"/>
                <a:pathLst>
                  <a:path w="56" h="57">
                    <a:moveTo>
                      <a:pt x="28" y="0"/>
                    </a:moveTo>
                    <a:lnTo>
                      <a:pt x="56" y="28"/>
                    </a:lnTo>
                    <a:lnTo>
                      <a:pt x="28" y="57"/>
                    </a:lnTo>
                    <a:lnTo>
                      <a:pt x="0" y="28"/>
                    </a:lnTo>
                    <a:lnTo>
                      <a:pt x="28" y="0"/>
                    </a:lnTo>
                    <a:close/>
                  </a:path>
                </a:pathLst>
              </a:custGeom>
              <a:solidFill>
                <a:srgbClr val="000080"/>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46" name="Freeform 1083"/>
              <p:cNvSpPr/>
              <p:nvPr/>
            </p:nvSpPr>
            <p:spPr bwMode="auto">
              <a:xfrm>
                <a:off x="2311" y="1409"/>
                <a:ext cx="57" cy="52"/>
              </a:xfrm>
              <a:custGeom>
                <a:avLst/>
                <a:gdLst>
                  <a:gd name="T0" fmla="*/ 28 w 57"/>
                  <a:gd name="T1" fmla="*/ 0 h 57"/>
                  <a:gd name="T2" fmla="*/ 57 w 57"/>
                  <a:gd name="T3" fmla="*/ 28 h 57"/>
                  <a:gd name="T4" fmla="*/ 28 w 57"/>
                  <a:gd name="T5" fmla="*/ 57 h 57"/>
                  <a:gd name="T6" fmla="*/ 0 w 57"/>
                  <a:gd name="T7" fmla="*/ 28 h 57"/>
                  <a:gd name="T8" fmla="*/ 28 w 57"/>
                  <a:gd name="T9" fmla="*/ 0 h 57"/>
                  <a:gd name="T10" fmla="*/ 0 60000 65536"/>
                  <a:gd name="T11" fmla="*/ 0 60000 65536"/>
                  <a:gd name="T12" fmla="*/ 0 60000 65536"/>
                  <a:gd name="T13" fmla="*/ 0 60000 65536"/>
                  <a:gd name="T14" fmla="*/ 0 60000 65536"/>
                  <a:gd name="T15" fmla="*/ 0 w 57"/>
                  <a:gd name="T16" fmla="*/ 0 h 57"/>
                  <a:gd name="T17" fmla="*/ 57 w 57"/>
                  <a:gd name="T18" fmla="*/ 57 h 57"/>
                </a:gdLst>
                <a:ahLst/>
                <a:cxnLst>
                  <a:cxn ang="T10">
                    <a:pos x="T0" y="T1"/>
                  </a:cxn>
                  <a:cxn ang="T11">
                    <a:pos x="T2" y="T3"/>
                  </a:cxn>
                  <a:cxn ang="T12">
                    <a:pos x="T4" y="T5"/>
                  </a:cxn>
                  <a:cxn ang="T13">
                    <a:pos x="T6" y="T7"/>
                  </a:cxn>
                  <a:cxn ang="T14">
                    <a:pos x="T8" y="T9"/>
                  </a:cxn>
                </a:cxnLst>
                <a:rect l="T15" t="T16" r="T17" b="T18"/>
                <a:pathLst>
                  <a:path w="57" h="57">
                    <a:moveTo>
                      <a:pt x="28" y="0"/>
                    </a:moveTo>
                    <a:lnTo>
                      <a:pt x="57" y="28"/>
                    </a:lnTo>
                    <a:lnTo>
                      <a:pt x="28" y="57"/>
                    </a:lnTo>
                    <a:lnTo>
                      <a:pt x="0" y="28"/>
                    </a:lnTo>
                    <a:lnTo>
                      <a:pt x="28"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47" name="Freeform 1084"/>
              <p:cNvSpPr/>
              <p:nvPr/>
            </p:nvSpPr>
            <p:spPr bwMode="auto">
              <a:xfrm>
                <a:off x="2432" y="1799"/>
                <a:ext cx="56" cy="52"/>
              </a:xfrm>
              <a:custGeom>
                <a:avLst/>
                <a:gdLst>
                  <a:gd name="T0" fmla="*/ 28 w 56"/>
                  <a:gd name="T1" fmla="*/ 0 h 57"/>
                  <a:gd name="T2" fmla="*/ 56 w 56"/>
                  <a:gd name="T3" fmla="*/ 29 h 57"/>
                  <a:gd name="T4" fmla="*/ 28 w 56"/>
                  <a:gd name="T5" fmla="*/ 57 h 57"/>
                  <a:gd name="T6" fmla="*/ 0 w 56"/>
                  <a:gd name="T7" fmla="*/ 29 h 57"/>
                  <a:gd name="T8" fmla="*/ 28 w 56"/>
                  <a:gd name="T9" fmla="*/ 0 h 57"/>
                  <a:gd name="T10" fmla="*/ 0 60000 65536"/>
                  <a:gd name="T11" fmla="*/ 0 60000 65536"/>
                  <a:gd name="T12" fmla="*/ 0 60000 65536"/>
                  <a:gd name="T13" fmla="*/ 0 60000 65536"/>
                  <a:gd name="T14" fmla="*/ 0 60000 65536"/>
                  <a:gd name="T15" fmla="*/ 0 w 56"/>
                  <a:gd name="T16" fmla="*/ 0 h 57"/>
                  <a:gd name="T17" fmla="*/ 56 w 56"/>
                  <a:gd name="T18" fmla="*/ 57 h 57"/>
                </a:gdLst>
                <a:ahLst/>
                <a:cxnLst>
                  <a:cxn ang="T10">
                    <a:pos x="T0" y="T1"/>
                  </a:cxn>
                  <a:cxn ang="T11">
                    <a:pos x="T2" y="T3"/>
                  </a:cxn>
                  <a:cxn ang="T12">
                    <a:pos x="T4" y="T5"/>
                  </a:cxn>
                  <a:cxn ang="T13">
                    <a:pos x="T6" y="T7"/>
                  </a:cxn>
                  <a:cxn ang="T14">
                    <a:pos x="T8" y="T9"/>
                  </a:cxn>
                </a:cxnLst>
                <a:rect l="T15" t="T16" r="T17" b="T18"/>
                <a:pathLst>
                  <a:path w="56" h="57">
                    <a:moveTo>
                      <a:pt x="28" y="0"/>
                    </a:moveTo>
                    <a:lnTo>
                      <a:pt x="56" y="29"/>
                    </a:lnTo>
                    <a:lnTo>
                      <a:pt x="28" y="57"/>
                    </a:lnTo>
                    <a:lnTo>
                      <a:pt x="0" y="29"/>
                    </a:lnTo>
                    <a:lnTo>
                      <a:pt x="28" y="0"/>
                    </a:lnTo>
                    <a:close/>
                  </a:path>
                </a:pathLst>
              </a:custGeom>
              <a:solidFill>
                <a:srgbClr val="000080"/>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48" name="Freeform 1085"/>
              <p:cNvSpPr/>
              <p:nvPr/>
            </p:nvSpPr>
            <p:spPr bwMode="auto">
              <a:xfrm>
                <a:off x="2673" y="1507"/>
                <a:ext cx="57" cy="55"/>
              </a:xfrm>
              <a:custGeom>
                <a:avLst/>
                <a:gdLst>
                  <a:gd name="T0" fmla="*/ 28 w 57"/>
                  <a:gd name="T1" fmla="*/ 0 h 56"/>
                  <a:gd name="T2" fmla="*/ 57 w 57"/>
                  <a:gd name="T3" fmla="*/ 28 h 56"/>
                  <a:gd name="T4" fmla="*/ 28 w 57"/>
                  <a:gd name="T5" fmla="*/ 56 h 56"/>
                  <a:gd name="T6" fmla="*/ 0 w 57"/>
                  <a:gd name="T7" fmla="*/ 28 h 56"/>
                  <a:gd name="T8" fmla="*/ 28 w 57"/>
                  <a:gd name="T9" fmla="*/ 0 h 56"/>
                  <a:gd name="T10" fmla="*/ 0 60000 65536"/>
                  <a:gd name="T11" fmla="*/ 0 60000 65536"/>
                  <a:gd name="T12" fmla="*/ 0 60000 65536"/>
                  <a:gd name="T13" fmla="*/ 0 60000 65536"/>
                  <a:gd name="T14" fmla="*/ 0 60000 65536"/>
                  <a:gd name="T15" fmla="*/ 0 w 57"/>
                  <a:gd name="T16" fmla="*/ 0 h 56"/>
                  <a:gd name="T17" fmla="*/ 57 w 57"/>
                  <a:gd name="T18" fmla="*/ 56 h 56"/>
                </a:gdLst>
                <a:ahLst/>
                <a:cxnLst>
                  <a:cxn ang="T10">
                    <a:pos x="T0" y="T1"/>
                  </a:cxn>
                  <a:cxn ang="T11">
                    <a:pos x="T2" y="T3"/>
                  </a:cxn>
                  <a:cxn ang="T12">
                    <a:pos x="T4" y="T5"/>
                  </a:cxn>
                  <a:cxn ang="T13">
                    <a:pos x="T6" y="T7"/>
                  </a:cxn>
                  <a:cxn ang="T14">
                    <a:pos x="T8" y="T9"/>
                  </a:cxn>
                </a:cxnLst>
                <a:rect l="T15" t="T16" r="T17" b="T18"/>
                <a:pathLst>
                  <a:path w="57" h="56">
                    <a:moveTo>
                      <a:pt x="28" y="0"/>
                    </a:moveTo>
                    <a:lnTo>
                      <a:pt x="57" y="28"/>
                    </a:lnTo>
                    <a:lnTo>
                      <a:pt x="28" y="56"/>
                    </a:lnTo>
                    <a:lnTo>
                      <a:pt x="0" y="28"/>
                    </a:lnTo>
                    <a:lnTo>
                      <a:pt x="28" y="0"/>
                    </a:lnTo>
                    <a:close/>
                  </a:path>
                </a:pathLst>
              </a:custGeom>
              <a:solidFill>
                <a:srgbClr val="000080"/>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49" name="Freeform 1086"/>
              <p:cNvSpPr/>
              <p:nvPr/>
            </p:nvSpPr>
            <p:spPr bwMode="auto">
              <a:xfrm>
                <a:off x="2432" y="1409"/>
                <a:ext cx="56" cy="52"/>
              </a:xfrm>
              <a:custGeom>
                <a:avLst/>
                <a:gdLst>
                  <a:gd name="T0" fmla="*/ 28 w 56"/>
                  <a:gd name="T1" fmla="*/ 0 h 57"/>
                  <a:gd name="T2" fmla="*/ 56 w 56"/>
                  <a:gd name="T3" fmla="*/ 28 h 57"/>
                  <a:gd name="T4" fmla="*/ 28 w 56"/>
                  <a:gd name="T5" fmla="*/ 57 h 57"/>
                  <a:gd name="T6" fmla="*/ 0 w 56"/>
                  <a:gd name="T7" fmla="*/ 28 h 57"/>
                  <a:gd name="T8" fmla="*/ 28 w 56"/>
                  <a:gd name="T9" fmla="*/ 0 h 57"/>
                  <a:gd name="T10" fmla="*/ 0 60000 65536"/>
                  <a:gd name="T11" fmla="*/ 0 60000 65536"/>
                  <a:gd name="T12" fmla="*/ 0 60000 65536"/>
                  <a:gd name="T13" fmla="*/ 0 60000 65536"/>
                  <a:gd name="T14" fmla="*/ 0 60000 65536"/>
                  <a:gd name="T15" fmla="*/ 0 w 56"/>
                  <a:gd name="T16" fmla="*/ 0 h 57"/>
                  <a:gd name="T17" fmla="*/ 56 w 56"/>
                  <a:gd name="T18" fmla="*/ 57 h 57"/>
                </a:gdLst>
                <a:ahLst/>
                <a:cxnLst>
                  <a:cxn ang="T10">
                    <a:pos x="T0" y="T1"/>
                  </a:cxn>
                  <a:cxn ang="T11">
                    <a:pos x="T2" y="T3"/>
                  </a:cxn>
                  <a:cxn ang="T12">
                    <a:pos x="T4" y="T5"/>
                  </a:cxn>
                  <a:cxn ang="T13">
                    <a:pos x="T6" y="T7"/>
                  </a:cxn>
                  <a:cxn ang="T14">
                    <a:pos x="T8" y="T9"/>
                  </a:cxn>
                </a:cxnLst>
                <a:rect l="T15" t="T16" r="T17" b="T18"/>
                <a:pathLst>
                  <a:path w="56" h="57">
                    <a:moveTo>
                      <a:pt x="28" y="0"/>
                    </a:moveTo>
                    <a:lnTo>
                      <a:pt x="56" y="28"/>
                    </a:lnTo>
                    <a:lnTo>
                      <a:pt x="28" y="57"/>
                    </a:lnTo>
                    <a:lnTo>
                      <a:pt x="0" y="28"/>
                    </a:lnTo>
                    <a:lnTo>
                      <a:pt x="28"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50" name="Rectangle 1087"/>
              <p:cNvSpPr>
                <a:spLocks noChangeArrowheads="1"/>
              </p:cNvSpPr>
              <p:nvPr/>
            </p:nvSpPr>
            <p:spPr bwMode="auto">
              <a:xfrm>
                <a:off x="1805" y="1897"/>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0</a:t>
                </a:r>
                <a:endParaRPr lang="ko-KR" altLang="en-US" b="0">
                  <a:solidFill>
                    <a:srgbClr val="000000"/>
                  </a:solidFill>
                  <a:ea typeface="Gulim" panose="020B0600000101010101" pitchFamily="34" charset="-127"/>
                </a:endParaRPr>
              </a:p>
            </p:txBody>
          </p:sp>
          <p:sp>
            <p:nvSpPr>
              <p:cNvPr id="151" name="Rectangle 1088"/>
              <p:cNvSpPr>
                <a:spLocks noChangeArrowheads="1"/>
              </p:cNvSpPr>
              <p:nvPr/>
            </p:nvSpPr>
            <p:spPr bwMode="auto">
              <a:xfrm>
                <a:off x="1805" y="1799"/>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1</a:t>
                </a:r>
                <a:endParaRPr lang="ko-KR" altLang="en-US" b="0">
                  <a:solidFill>
                    <a:srgbClr val="000000"/>
                  </a:solidFill>
                  <a:ea typeface="Gulim" panose="020B0600000101010101" pitchFamily="34" charset="-127"/>
                </a:endParaRPr>
              </a:p>
            </p:txBody>
          </p:sp>
          <p:sp>
            <p:nvSpPr>
              <p:cNvPr id="152" name="Rectangle 1089"/>
              <p:cNvSpPr>
                <a:spLocks noChangeArrowheads="1"/>
              </p:cNvSpPr>
              <p:nvPr/>
            </p:nvSpPr>
            <p:spPr bwMode="auto">
              <a:xfrm>
                <a:off x="1805" y="170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2</a:t>
                </a:r>
                <a:endParaRPr lang="ko-KR" altLang="en-US" b="0">
                  <a:solidFill>
                    <a:srgbClr val="000000"/>
                  </a:solidFill>
                  <a:ea typeface="Gulim" panose="020B0600000101010101" pitchFamily="34" charset="-127"/>
                </a:endParaRPr>
              </a:p>
            </p:txBody>
          </p:sp>
          <p:sp>
            <p:nvSpPr>
              <p:cNvPr id="153" name="Rectangle 1090"/>
              <p:cNvSpPr>
                <a:spLocks noChangeArrowheads="1"/>
              </p:cNvSpPr>
              <p:nvPr/>
            </p:nvSpPr>
            <p:spPr bwMode="auto">
              <a:xfrm>
                <a:off x="1805" y="1604"/>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3</a:t>
                </a:r>
                <a:endParaRPr lang="ko-KR" altLang="en-US" b="0">
                  <a:solidFill>
                    <a:srgbClr val="000000"/>
                  </a:solidFill>
                  <a:ea typeface="Gulim" panose="020B0600000101010101" pitchFamily="34" charset="-127"/>
                </a:endParaRPr>
              </a:p>
            </p:txBody>
          </p:sp>
          <p:sp>
            <p:nvSpPr>
              <p:cNvPr id="154" name="Rectangle 1091"/>
              <p:cNvSpPr>
                <a:spLocks noChangeArrowheads="1"/>
              </p:cNvSpPr>
              <p:nvPr/>
            </p:nvSpPr>
            <p:spPr bwMode="auto">
              <a:xfrm>
                <a:off x="1805" y="1507"/>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4</a:t>
                </a:r>
                <a:endParaRPr lang="ko-KR" altLang="en-US" b="0">
                  <a:solidFill>
                    <a:srgbClr val="000000"/>
                  </a:solidFill>
                  <a:ea typeface="Gulim" panose="020B0600000101010101" pitchFamily="34" charset="-127"/>
                </a:endParaRPr>
              </a:p>
            </p:txBody>
          </p:sp>
          <p:sp>
            <p:nvSpPr>
              <p:cNvPr id="155" name="Rectangle 1092"/>
              <p:cNvSpPr>
                <a:spLocks noChangeArrowheads="1"/>
              </p:cNvSpPr>
              <p:nvPr/>
            </p:nvSpPr>
            <p:spPr bwMode="auto">
              <a:xfrm>
                <a:off x="1805" y="1409"/>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5</a:t>
                </a:r>
                <a:endParaRPr lang="ko-KR" altLang="en-US" b="0">
                  <a:solidFill>
                    <a:srgbClr val="000000"/>
                  </a:solidFill>
                  <a:ea typeface="Gulim" panose="020B0600000101010101" pitchFamily="34" charset="-127"/>
                </a:endParaRPr>
              </a:p>
            </p:txBody>
          </p:sp>
          <p:sp>
            <p:nvSpPr>
              <p:cNvPr id="156" name="Rectangle 1093"/>
              <p:cNvSpPr>
                <a:spLocks noChangeArrowheads="1"/>
              </p:cNvSpPr>
              <p:nvPr/>
            </p:nvSpPr>
            <p:spPr bwMode="auto">
              <a:xfrm>
                <a:off x="1805" y="1310"/>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6</a:t>
                </a:r>
                <a:endParaRPr lang="ko-KR" altLang="en-US" b="0">
                  <a:solidFill>
                    <a:srgbClr val="000000"/>
                  </a:solidFill>
                  <a:ea typeface="Gulim" panose="020B0600000101010101" pitchFamily="34" charset="-127"/>
                </a:endParaRPr>
              </a:p>
            </p:txBody>
          </p:sp>
          <p:sp>
            <p:nvSpPr>
              <p:cNvPr id="157" name="Rectangle 1094"/>
              <p:cNvSpPr>
                <a:spLocks noChangeArrowheads="1"/>
              </p:cNvSpPr>
              <p:nvPr/>
            </p:nvSpPr>
            <p:spPr bwMode="auto">
              <a:xfrm>
                <a:off x="1805" y="1214"/>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7</a:t>
                </a:r>
                <a:endParaRPr lang="ko-KR" altLang="en-US" b="0">
                  <a:solidFill>
                    <a:srgbClr val="000000"/>
                  </a:solidFill>
                  <a:ea typeface="Gulim" panose="020B0600000101010101" pitchFamily="34" charset="-127"/>
                </a:endParaRPr>
              </a:p>
            </p:txBody>
          </p:sp>
          <p:sp>
            <p:nvSpPr>
              <p:cNvPr id="158" name="Rectangle 1095"/>
              <p:cNvSpPr>
                <a:spLocks noChangeArrowheads="1"/>
              </p:cNvSpPr>
              <p:nvPr/>
            </p:nvSpPr>
            <p:spPr bwMode="auto">
              <a:xfrm>
                <a:off x="1805" y="1116"/>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8</a:t>
                </a:r>
                <a:endParaRPr lang="ko-KR" altLang="en-US" b="0">
                  <a:solidFill>
                    <a:srgbClr val="000000"/>
                  </a:solidFill>
                  <a:ea typeface="Gulim" panose="020B0600000101010101" pitchFamily="34" charset="-127"/>
                </a:endParaRPr>
              </a:p>
            </p:txBody>
          </p:sp>
          <p:sp>
            <p:nvSpPr>
              <p:cNvPr id="159" name="Rectangle 1096"/>
              <p:cNvSpPr>
                <a:spLocks noChangeArrowheads="1"/>
              </p:cNvSpPr>
              <p:nvPr/>
            </p:nvSpPr>
            <p:spPr bwMode="auto">
              <a:xfrm>
                <a:off x="1805" y="1019"/>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9</a:t>
                </a:r>
                <a:endParaRPr lang="ko-KR" altLang="en-US" b="0">
                  <a:solidFill>
                    <a:srgbClr val="000000"/>
                  </a:solidFill>
                  <a:ea typeface="Gulim" panose="020B0600000101010101" pitchFamily="34" charset="-127"/>
                </a:endParaRPr>
              </a:p>
            </p:txBody>
          </p:sp>
          <p:sp>
            <p:nvSpPr>
              <p:cNvPr id="160" name="Rectangle 1097"/>
              <p:cNvSpPr>
                <a:spLocks noChangeArrowheads="1"/>
              </p:cNvSpPr>
              <p:nvPr/>
            </p:nvSpPr>
            <p:spPr bwMode="auto">
              <a:xfrm>
                <a:off x="1779" y="920"/>
                <a:ext cx="6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10</a:t>
                </a:r>
                <a:endParaRPr lang="ko-KR" altLang="en-US" b="0">
                  <a:solidFill>
                    <a:srgbClr val="000000"/>
                  </a:solidFill>
                  <a:ea typeface="Gulim" panose="020B0600000101010101" pitchFamily="34" charset="-127"/>
                </a:endParaRPr>
              </a:p>
            </p:txBody>
          </p:sp>
          <p:sp>
            <p:nvSpPr>
              <p:cNvPr id="161" name="Rectangle 1098"/>
              <p:cNvSpPr>
                <a:spLocks noChangeArrowheads="1"/>
              </p:cNvSpPr>
              <p:nvPr/>
            </p:nvSpPr>
            <p:spPr bwMode="auto">
              <a:xfrm>
                <a:off x="1849" y="19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0</a:t>
                </a:r>
                <a:endParaRPr lang="ko-KR" altLang="en-US" b="0">
                  <a:solidFill>
                    <a:srgbClr val="000000"/>
                  </a:solidFill>
                  <a:ea typeface="Gulim" panose="020B0600000101010101" pitchFamily="34" charset="-127"/>
                </a:endParaRPr>
              </a:p>
            </p:txBody>
          </p:sp>
          <p:sp>
            <p:nvSpPr>
              <p:cNvPr id="162" name="Rectangle 1099"/>
              <p:cNvSpPr>
                <a:spLocks noChangeArrowheads="1"/>
              </p:cNvSpPr>
              <p:nvPr/>
            </p:nvSpPr>
            <p:spPr bwMode="auto">
              <a:xfrm>
                <a:off x="1968" y="19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1</a:t>
                </a:r>
                <a:endParaRPr lang="ko-KR" altLang="en-US" b="0">
                  <a:solidFill>
                    <a:srgbClr val="000000"/>
                  </a:solidFill>
                  <a:ea typeface="Gulim" panose="020B0600000101010101" pitchFamily="34" charset="-127"/>
                </a:endParaRPr>
              </a:p>
            </p:txBody>
          </p:sp>
          <p:sp>
            <p:nvSpPr>
              <p:cNvPr id="163" name="Rectangle 1100"/>
              <p:cNvSpPr>
                <a:spLocks noChangeArrowheads="1"/>
              </p:cNvSpPr>
              <p:nvPr/>
            </p:nvSpPr>
            <p:spPr bwMode="auto">
              <a:xfrm>
                <a:off x="2090" y="19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2</a:t>
                </a:r>
                <a:endParaRPr lang="ko-KR" altLang="en-US" b="0">
                  <a:solidFill>
                    <a:srgbClr val="000000"/>
                  </a:solidFill>
                  <a:ea typeface="Gulim" panose="020B0600000101010101" pitchFamily="34" charset="-127"/>
                </a:endParaRPr>
              </a:p>
            </p:txBody>
          </p:sp>
          <p:sp>
            <p:nvSpPr>
              <p:cNvPr id="164" name="Rectangle 1101"/>
              <p:cNvSpPr>
                <a:spLocks noChangeArrowheads="1"/>
              </p:cNvSpPr>
              <p:nvPr/>
            </p:nvSpPr>
            <p:spPr bwMode="auto">
              <a:xfrm>
                <a:off x="2207" y="19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3</a:t>
                </a:r>
                <a:endParaRPr lang="ko-KR" altLang="en-US" b="0">
                  <a:solidFill>
                    <a:srgbClr val="000000"/>
                  </a:solidFill>
                  <a:ea typeface="Gulim" panose="020B0600000101010101" pitchFamily="34" charset="-127"/>
                </a:endParaRPr>
              </a:p>
            </p:txBody>
          </p:sp>
          <p:sp>
            <p:nvSpPr>
              <p:cNvPr id="165" name="Rectangle 1102"/>
              <p:cNvSpPr>
                <a:spLocks noChangeArrowheads="1"/>
              </p:cNvSpPr>
              <p:nvPr/>
            </p:nvSpPr>
            <p:spPr bwMode="auto">
              <a:xfrm>
                <a:off x="2326" y="19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4</a:t>
                </a:r>
                <a:endParaRPr lang="ko-KR" altLang="en-US" b="0">
                  <a:solidFill>
                    <a:srgbClr val="000000"/>
                  </a:solidFill>
                  <a:ea typeface="Gulim" panose="020B0600000101010101" pitchFamily="34" charset="-127"/>
                </a:endParaRPr>
              </a:p>
            </p:txBody>
          </p:sp>
          <p:sp>
            <p:nvSpPr>
              <p:cNvPr id="166" name="Rectangle 1103"/>
              <p:cNvSpPr>
                <a:spLocks noChangeArrowheads="1"/>
              </p:cNvSpPr>
              <p:nvPr/>
            </p:nvSpPr>
            <p:spPr bwMode="auto">
              <a:xfrm>
                <a:off x="2448" y="19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5</a:t>
                </a:r>
                <a:endParaRPr lang="ko-KR" altLang="en-US" b="0">
                  <a:solidFill>
                    <a:srgbClr val="000000"/>
                  </a:solidFill>
                  <a:ea typeface="Gulim" panose="020B0600000101010101" pitchFamily="34" charset="-127"/>
                </a:endParaRPr>
              </a:p>
            </p:txBody>
          </p:sp>
          <p:sp>
            <p:nvSpPr>
              <p:cNvPr id="167" name="Rectangle 1104"/>
              <p:cNvSpPr>
                <a:spLocks noChangeArrowheads="1"/>
              </p:cNvSpPr>
              <p:nvPr/>
            </p:nvSpPr>
            <p:spPr bwMode="auto">
              <a:xfrm>
                <a:off x="2569" y="19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6</a:t>
                </a:r>
                <a:endParaRPr lang="ko-KR" altLang="en-US" b="0">
                  <a:solidFill>
                    <a:srgbClr val="000000"/>
                  </a:solidFill>
                  <a:ea typeface="Gulim" panose="020B0600000101010101" pitchFamily="34" charset="-127"/>
                </a:endParaRPr>
              </a:p>
            </p:txBody>
          </p:sp>
          <p:sp>
            <p:nvSpPr>
              <p:cNvPr id="168" name="Rectangle 1105"/>
              <p:cNvSpPr>
                <a:spLocks noChangeArrowheads="1"/>
              </p:cNvSpPr>
              <p:nvPr/>
            </p:nvSpPr>
            <p:spPr bwMode="auto">
              <a:xfrm>
                <a:off x="2689" y="19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7</a:t>
                </a:r>
                <a:endParaRPr lang="ko-KR" altLang="en-US" b="0">
                  <a:solidFill>
                    <a:srgbClr val="000000"/>
                  </a:solidFill>
                  <a:ea typeface="Gulim" panose="020B0600000101010101" pitchFamily="34" charset="-127"/>
                </a:endParaRPr>
              </a:p>
            </p:txBody>
          </p:sp>
          <p:sp>
            <p:nvSpPr>
              <p:cNvPr id="169" name="Rectangle 1106"/>
              <p:cNvSpPr>
                <a:spLocks noChangeArrowheads="1"/>
              </p:cNvSpPr>
              <p:nvPr/>
            </p:nvSpPr>
            <p:spPr bwMode="auto">
              <a:xfrm>
                <a:off x="2806" y="19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8</a:t>
                </a:r>
                <a:endParaRPr lang="ko-KR" altLang="en-US" b="0">
                  <a:solidFill>
                    <a:srgbClr val="000000"/>
                  </a:solidFill>
                  <a:ea typeface="Gulim" panose="020B0600000101010101" pitchFamily="34" charset="-127"/>
                </a:endParaRPr>
              </a:p>
            </p:txBody>
          </p:sp>
          <p:sp>
            <p:nvSpPr>
              <p:cNvPr id="170" name="Rectangle 1107"/>
              <p:cNvSpPr>
                <a:spLocks noChangeArrowheads="1"/>
              </p:cNvSpPr>
              <p:nvPr/>
            </p:nvSpPr>
            <p:spPr bwMode="auto">
              <a:xfrm>
                <a:off x="2927" y="19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9</a:t>
                </a:r>
                <a:endParaRPr lang="ko-KR" altLang="en-US" b="0">
                  <a:solidFill>
                    <a:srgbClr val="000000"/>
                  </a:solidFill>
                  <a:ea typeface="Gulim" panose="020B0600000101010101" pitchFamily="34" charset="-127"/>
                </a:endParaRPr>
              </a:p>
            </p:txBody>
          </p:sp>
          <p:sp>
            <p:nvSpPr>
              <p:cNvPr id="171" name="Rectangle 1108"/>
              <p:cNvSpPr>
                <a:spLocks noChangeArrowheads="1"/>
              </p:cNvSpPr>
              <p:nvPr/>
            </p:nvSpPr>
            <p:spPr bwMode="auto">
              <a:xfrm>
                <a:off x="3035" y="1962"/>
                <a:ext cx="6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10</a:t>
                </a:r>
                <a:endParaRPr lang="ko-KR" altLang="en-US" b="0">
                  <a:solidFill>
                    <a:srgbClr val="000000"/>
                  </a:solidFill>
                  <a:ea typeface="Gulim" panose="020B0600000101010101" pitchFamily="34" charset="-127"/>
                </a:endParaRPr>
              </a:p>
            </p:txBody>
          </p:sp>
          <p:sp>
            <p:nvSpPr>
              <p:cNvPr id="172" name="Rectangle 1109"/>
              <p:cNvSpPr>
                <a:spLocks noChangeArrowheads="1"/>
              </p:cNvSpPr>
              <p:nvPr/>
            </p:nvSpPr>
            <p:spPr bwMode="auto">
              <a:xfrm>
                <a:off x="1728" y="864"/>
                <a:ext cx="1396" cy="1208"/>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grpSp>
        <p:grpSp>
          <p:nvGrpSpPr>
            <p:cNvPr id="6" name="Group 1110"/>
            <p:cNvGrpSpPr/>
            <p:nvPr/>
          </p:nvGrpSpPr>
          <p:grpSpPr bwMode="auto">
            <a:xfrm>
              <a:off x="3408" y="3072"/>
              <a:ext cx="1248" cy="1112"/>
              <a:chOff x="3616" y="2464"/>
              <a:chExt cx="1396" cy="1208"/>
            </a:xfrm>
          </p:grpSpPr>
          <p:sp>
            <p:nvSpPr>
              <p:cNvPr id="8" name="Rectangle 1111"/>
              <p:cNvSpPr>
                <a:spLocks noChangeArrowheads="1"/>
              </p:cNvSpPr>
              <p:nvPr/>
            </p:nvSpPr>
            <p:spPr bwMode="auto">
              <a:xfrm>
                <a:off x="3616" y="2464"/>
                <a:ext cx="1396" cy="1208"/>
              </a:xfrm>
              <a:prstGeom prst="rect">
                <a:avLst/>
              </a:prstGeom>
              <a:solidFill>
                <a:srgbClr val="FFFFFF"/>
              </a:solidFill>
              <a:ln w="0">
                <a:solidFill>
                  <a:srgbClr val="000000"/>
                </a:solidFill>
                <a:miter lim="800000"/>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9" name="Rectangle 1112"/>
              <p:cNvSpPr>
                <a:spLocks noChangeArrowheads="1"/>
              </p:cNvSpPr>
              <p:nvPr/>
            </p:nvSpPr>
            <p:spPr bwMode="auto">
              <a:xfrm>
                <a:off x="3749" y="2550"/>
                <a:ext cx="1198" cy="97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0" name="Line 1113"/>
              <p:cNvSpPr>
                <a:spLocks noChangeShapeType="1"/>
              </p:cNvSpPr>
              <p:nvPr/>
            </p:nvSpPr>
            <p:spPr bwMode="auto">
              <a:xfrm>
                <a:off x="3749" y="3428"/>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1" name="Line 1114"/>
              <p:cNvSpPr>
                <a:spLocks noChangeShapeType="1"/>
              </p:cNvSpPr>
              <p:nvPr/>
            </p:nvSpPr>
            <p:spPr bwMode="auto">
              <a:xfrm>
                <a:off x="3749" y="3330"/>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2" name="Line 1115"/>
              <p:cNvSpPr>
                <a:spLocks noChangeShapeType="1"/>
              </p:cNvSpPr>
              <p:nvPr/>
            </p:nvSpPr>
            <p:spPr bwMode="auto">
              <a:xfrm>
                <a:off x="3749" y="3233"/>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3" name="Line 1116"/>
              <p:cNvSpPr>
                <a:spLocks noChangeShapeType="1"/>
              </p:cNvSpPr>
              <p:nvPr/>
            </p:nvSpPr>
            <p:spPr bwMode="auto">
              <a:xfrm>
                <a:off x="3749" y="3135"/>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4" name="Line 1117"/>
              <p:cNvSpPr>
                <a:spLocks noChangeShapeType="1"/>
              </p:cNvSpPr>
              <p:nvPr/>
            </p:nvSpPr>
            <p:spPr bwMode="auto">
              <a:xfrm>
                <a:off x="3749" y="3036"/>
                <a:ext cx="1198"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5" name="Line 1118"/>
              <p:cNvSpPr>
                <a:spLocks noChangeShapeType="1"/>
              </p:cNvSpPr>
              <p:nvPr/>
            </p:nvSpPr>
            <p:spPr bwMode="auto">
              <a:xfrm>
                <a:off x="3749" y="2940"/>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7" name="Line 1119"/>
              <p:cNvSpPr>
                <a:spLocks noChangeShapeType="1"/>
              </p:cNvSpPr>
              <p:nvPr/>
            </p:nvSpPr>
            <p:spPr bwMode="auto">
              <a:xfrm>
                <a:off x="3749" y="2842"/>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8" name="Line 1120"/>
              <p:cNvSpPr>
                <a:spLocks noChangeShapeType="1"/>
              </p:cNvSpPr>
              <p:nvPr/>
            </p:nvSpPr>
            <p:spPr bwMode="auto">
              <a:xfrm>
                <a:off x="3749" y="2745"/>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19" name="Line 1121"/>
              <p:cNvSpPr>
                <a:spLocks noChangeShapeType="1"/>
              </p:cNvSpPr>
              <p:nvPr/>
            </p:nvSpPr>
            <p:spPr bwMode="auto">
              <a:xfrm>
                <a:off x="3749" y="2647"/>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20" name="Line 1122"/>
              <p:cNvSpPr>
                <a:spLocks noChangeShapeType="1"/>
              </p:cNvSpPr>
              <p:nvPr/>
            </p:nvSpPr>
            <p:spPr bwMode="auto">
              <a:xfrm>
                <a:off x="3749" y="2550"/>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21" name="Line 1123"/>
              <p:cNvSpPr>
                <a:spLocks noChangeShapeType="1"/>
              </p:cNvSpPr>
              <p:nvPr/>
            </p:nvSpPr>
            <p:spPr bwMode="auto">
              <a:xfrm>
                <a:off x="3869" y="25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22" name="Line 1124"/>
              <p:cNvSpPr>
                <a:spLocks noChangeShapeType="1"/>
              </p:cNvSpPr>
              <p:nvPr/>
            </p:nvSpPr>
            <p:spPr bwMode="auto">
              <a:xfrm>
                <a:off x="3990" y="25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23" name="Line 1125"/>
              <p:cNvSpPr>
                <a:spLocks noChangeShapeType="1"/>
              </p:cNvSpPr>
              <p:nvPr/>
            </p:nvSpPr>
            <p:spPr bwMode="auto">
              <a:xfrm>
                <a:off x="4107" y="25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24" name="Line 1126"/>
              <p:cNvSpPr>
                <a:spLocks noChangeShapeType="1"/>
              </p:cNvSpPr>
              <p:nvPr/>
            </p:nvSpPr>
            <p:spPr bwMode="auto">
              <a:xfrm>
                <a:off x="4227" y="25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25" name="Line 1127"/>
              <p:cNvSpPr>
                <a:spLocks noChangeShapeType="1"/>
              </p:cNvSpPr>
              <p:nvPr/>
            </p:nvSpPr>
            <p:spPr bwMode="auto">
              <a:xfrm>
                <a:off x="4348" y="25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26" name="Line 1128"/>
              <p:cNvSpPr>
                <a:spLocks noChangeShapeType="1"/>
              </p:cNvSpPr>
              <p:nvPr/>
            </p:nvSpPr>
            <p:spPr bwMode="auto">
              <a:xfrm>
                <a:off x="4469" y="2550"/>
                <a:ext cx="0"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27" name="Line 1129"/>
              <p:cNvSpPr>
                <a:spLocks noChangeShapeType="1"/>
              </p:cNvSpPr>
              <p:nvPr/>
            </p:nvSpPr>
            <p:spPr bwMode="auto">
              <a:xfrm>
                <a:off x="4589" y="25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28" name="Line 1130"/>
              <p:cNvSpPr>
                <a:spLocks noChangeShapeType="1"/>
              </p:cNvSpPr>
              <p:nvPr/>
            </p:nvSpPr>
            <p:spPr bwMode="auto">
              <a:xfrm>
                <a:off x="4706" y="25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29" name="Line 1131"/>
              <p:cNvSpPr>
                <a:spLocks noChangeShapeType="1"/>
              </p:cNvSpPr>
              <p:nvPr/>
            </p:nvSpPr>
            <p:spPr bwMode="auto">
              <a:xfrm>
                <a:off x="4827" y="25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0" name="Line 1132"/>
              <p:cNvSpPr>
                <a:spLocks noChangeShapeType="1"/>
              </p:cNvSpPr>
              <p:nvPr/>
            </p:nvSpPr>
            <p:spPr bwMode="auto">
              <a:xfrm>
                <a:off x="4947" y="25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1" name="Rectangle 1133"/>
              <p:cNvSpPr>
                <a:spLocks noChangeArrowheads="1"/>
              </p:cNvSpPr>
              <p:nvPr/>
            </p:nvSpPr>
            <p:spPr bwMode="auto">
              <a:xfrm>
                <a:off x="3749" y="2550"/>
                <a:ext cx="1198" cy="978"/>
              </a:xfrm>
              <a:prstGeom prst="rect">
                <a:avLst/>
              </a:prstGeom>
              <a:noFill/>
              <a:ln w="635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2" name="Line 1134"/>
              <p:cNvSpPr>
                <a:spLocks noChangeShapeType="1"/>
              </p:cNvSpPr>
              <p:nvPr/>
            </p:nvSpPr>
            <p:spPr bwMode="auto">
              <a:xfrm>
                <a:off x="3749" y="2550"/>
                <a:ext cx="1" cy="97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3" name="Line 1135"/>
              <p:cNvSpPr>
                <a:spLocks noChangeShapeType="1"/>
              </p:cNvSpPr>
              <p:nvPr/>
            </p:nvSpPr>
            <p:spPr bwMode="auto">
              <a:xfrm>
                <a:off x="3737" y="3525"/>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4" name="Line 1136"/>
              <p:cNvSpPr>
                <a:spLocks noChangeShapeType="1"/>
              </p:cNvSpPr>
              <p:nvPr/>
            </p:nvSpPr>
            <p:spPr bwMode="auto">
              <a:xfrm>
                <a:off x="3737" y="3428"/>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5" name="Line 1137"/>
              <p:cNvSpPr>
                <a:spLocks noChangeShapeType="1"/>
              </p:cNvSpPr>
              <p:nvPr/>
            </p:nvSpPr>
            <p:spPr bwMode="auto">
              <a:xfrm>
                <a:off x="3737" y="3330"/>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6" name="Line 1138"/>
              <p:cNvSpPr>
                <a:spLocks noChangeShapeType="1"/>
              </p:cNvSpPr>
              <p:nvPr/>
            </p:nvSpPr>
            <p:spPr bwMode="auto">
              <a:xfrm>
                <a:off x="3737" y="3233"/>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7" name="Line 1139"/>
              <p:cNvSpPr>
                <a:spLocks noChangeShapeType="1"/>
              </p:cNvSpPr>
              <p:nvPr/>
            </p:nvSpPr>
            <p:spPr bwMode="auto">
              <a:xfrm>
                <a:off x="3737" y="3135"/>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8" name="Line 1140"/>
              <p:cNvSpPr>
                <a:spLocks noChangeShapeType="1"/>
              </p:cNvSpPr>
              <p:nvPr/>
            </p:nvSpPr>
            <p:spPr bwMode="auto">
              <a:xfrm>
                <a:off x="3737" y="3036"/>
                <a:ext cx="12"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9" name="Line 1141"/>
              <p:cNvSpPr>
                <a:spLocks noChangeShapeType="1"/>
              </p:cNvSpPr>
              <p:nvPr/>
            </p:nvSpPr>
            <p:spPr bwMode="auto">
              <a:xfrm>
                <a:off x="3737" y="2940"/>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0" name="Line 1142"/>
              <p:cNvSpPr>
                <a:spLocks noChangeShapeType="1"/>
              </p:cNvSpPr>
              <p:nvPr/>
            </p:nvSpPr>
            <p:spPr bwMode="auto">
              <a:xfrm>
                <a:off x="3737" y="2842"/>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1" name="Line 1143"/>
              <p:cNvSpPr>
                <a:spLocks noChangeShapeType="1"/>
              </p:cNvSpPr>
              <p:nvPr/>
            </p:nvSpPr>
            <p:spPr bwMode="auto">
              <a:xfrm>
                <a:off x="3737" y="2745"/>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2" name="Line 1144"/>
              <p:cNvSpPr>
                <a:spLocks noChangeShapeType="1"/>
              </p:cNvSpPr>
              <p:nvPr/>
            </p:nvSpPr>
            <p:spPr bwMode="auto">
              <a:xfrm>
                <a:off x="3737" y="2647"/>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3" name="Line 1145"/>
              <p:cNvSpPr>
                <a:spLocks noChangeShapeType="1"/>
              </p:cNvSpPr>
              <p:nvPr/>
            </p:nvSpPr>
            <p:spPr bwMode="auto">
              <a:xfrm>
                <a:off x="3737" y="2550"/>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4" name="Line 1146"/>
              <p:cNvSpPr>
                <a:spLocks noChangeShapeType="1"/>
              </p:cNvSpPr>
              <p:nvPr/>
            </p:nvSpPr>
            <p:spPr bwMode="auto">
              <a:xfrm>
                <a:off x="3749" y="3525"/>
                <a:ext cx="1198"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5" name="Line 1147"/>
              <p:cNvSpPr>
                <a:spLocks noChangeShapeType="1"/>
              </p:cNvSpPr>
              <p:nvPr/>
            </p:nvSpPr>
            <p:spPr bwMode="auto">
              <a:xfrm flipV="1">
                <a:off x="3749" y="35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6" name="Line 1148"/>
              <p:cNvSpPr>
                <a:spLocks noChangeShapeType="1"/>
              </p:cNvSpPr>
              <p:nvPr/>
            </p:nvSpPr>
            <p:spPr bwMode="auto">
              <a:xfrm flipV="1">
                <a:off x="3869" y="35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7" name="Line 1149"/>
              <p:cNvSpPr>
                <a:spLocks noChangeShapeType="1"/>
              </p:cNvSpPr>
              <p:nvPr/>
            </p:nvSpPr>
            <p:spPr bwMode="auto">
              <a:xfrm flipV="1">
                <a:off x="3990" y="35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8" name="Line 1150"/>
              <p:cNvSpPr>
                <a:spLocks noChangeShapeType="1"/>
              </p:cNvSpPr>
              <p:nvPr/>
            </p:nvSpPr>
            <p:spPr bwMode="auto">
              <a:xfrm flipV="1">
                <a:off x="4107" y="35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9" name="Line 1151"/>
              <p:cNvSpPr>
                <a:spLocks noChangeShapeType="1"/>
              </p:cNvSpPr>
              <p:nvPr/>
            </p:nvSpPr>
            <p:spPr bwMode="auto">
              <a:xfrm flipV="1">
                <a:off x="4227" y="35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50" name="Line 1152"/>
              <p:cNvSpPr>
                <a:spLocks noChangeShapeType="1"/>
              </p:cNvSpPr>
              <p:nvPr/>
            </p:nvSpPr>
            <p:spPr bwMode="auto">
              <a:xfrm flipV="1">
                <a:off x="4348" y="35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51" name="Line 1153"/>
              <p:cNvSpPr>
                <a:spLocks noChangeShapeType="1"/>
              </p:cNvSpPr>
              <p:nvPr/>
            </p:nvSpPr>
            <p:spPr bwMode="auto">
              <a:xfrm flipV="1">
                <a:off x="4469" y="3525"/>
                <a:ext cx="0"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52" name="Line 1154"/>
              <p:cNvSpPr>
                <a:spLocks noChangeShapeType="1"/>
              </p:cNvSpPr>
              <p:nvPr/>
            </p:nvSpPr>
            <p:spPr bwMode="auto">
              <a:xfrm flipV="1">
                <a:off x="4589" y="35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53" name="Line 1155"/>
              <p:cNvSpPr>
                <a:spLocks noChangeShapeType="1"/>
              </p:cNvSpPr>
              <p:nvPr/>
            </p:nvSpPr>
            <p:spPr bwMode="auto">
              <a:xfrm flipV="1">
                <a:off x="4706" y="35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54" name="Line 1156"/>
              <p:cNvSpPr>
                <a:spLocks noChangeShapeType="1"/>
              </p:cNvSpPr>
              <p:nvPr/>
            </p:nvSpPr>
            <p:spPr bwMode="auto">
              <a:xfrm flipV="1">
                <a:off x="4827" y="35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55" name="Line 1157"/>
              <p:cNvSpPr>
                <a:spLocks noChangeShapeType="1"/>
              </p:cNvSpPr>
              <p:nvPr/>
            </p:nvSpPr>
            <p:spPr bwMode="auto">
              <a:xfrm flipV="1">
                <a:off x="4947" y="3525"/>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56" name="Freeform 1158"/>
              <p:cNvSpPr/>
              <p:nvPr/>
            </p:nvSpPr>
            <p:spPr bwMode="auto">
              <a:xfrm>
                <a:off x="4079" y="3107"/>
                <a:ext cx="56" cy="55"/>
              </a:xfrm>
              <a:custGeom>
                <a:avLst/>
                <a:gdLst>
                  <a:gd name="T0" fmla="*/ 28 w 56"/>
                  <a:gd name="T1" fmla="*/ 0 h 56"/>
                  <a:gd name="T2" fmla="*/ 56 w 56"/>
                  <a:gd name="T3" fmla="*/ 28 h 56"/>
                  <a:gd name="T4" fmla="*/ 28 w 56"/>
                  <a:gd name="T5" fmla="*/ 56 h 56"/>
                  <a:gd name="T6" fmla="*/ 0 w 56"/>
                  <a:gd name="T7" fmla="*/ 28 h 56"/>
                  <a:gd name="T8" fmla="*/ 28 w 56"/>
                  <a:gd name="T9" fmla="*/ 0 h 56"/>
                  <a:gd name="T10" fmla="*/ 0 60000 65536"/>
                  <a:gd name="T11" fmla="*/ 0 60000 65536"/>
                  <a:gd name="T12" fmla="*/ 0 60000 65536"/>
                  <a:gd name="T13" fmla="*/ 0 60000 65536"/>
                  <a:gd name="T14" fmla="*/ 0 60000 65536"/>
                  <a:gd name="T15" fmla="*/ 0 w 56"/>
                  <a:gd name="T16" fmla="*/ 0 h 56"/>
                  <a:gd name="T17" fmla="*/ 56 w 56"/>
                  <a:gd name="T18" fmla="*/ 56 h 56"/>
                </a:gdLst>
                <a:ahLst/>
                <a:cxnLst>
                  <a:cxn ang="T10">
                    <a:pos x="T0" y="T1"/>
                  </a:cxn>
                  <a:cxn ang="T11">
                    <a:pos x="T2" y="T3"/>
                  </a:cxn>
                  <a:cxn ang="T12">
                    <a:pos x="T4" y="T5"/>
                  </a:cxn>
                  <a:cxn ang="T13">
                    <a:pos x="T6" y="T7"/>
                  </a:cxn>
                  <a:cxn ang="T14">
                    <a:pos x="T8" y="T9"/>
                  </a:cxn>
                </a:cxnLst>
                <a:rect l="T15" t="T16" r="T17" b="T18"/>
                <a:pathLst>
                  <a:path w="56" h="56">
                    <a:moveTo>
                      <a:pt x="28" y="0"/>
                    </a:moveTo>
                    <a:lnTo>
                      <a:pt x="56" y="28"/>
                    </a:lnTo>
                    <a:lnTo>
                      <a:pt x="28" y="56"/>
                    </a:lnTo>
                    <a:lnTo>
                      <a:pt x="0" y="28"/>
                    </a:lnTo>
                    <a:lnTo>
                      <a:pt x="28"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57" name="Freeform 1159"/>
              <p:cNvSpPr/>
              <p:nvPr/>
            </p:nvSpPr>
            <p:spPr bwMode="auto">
              <a:xfrm>
                <a:off x="4079" y="2910"/>
                <a:ext cx="56" cy="58"/>
              </a:xfrm>
              <a:custGeom>
                <a:avLst/>
                <a:gdLst>
                  <a:gd name="T0" fmla="*/ 28 w 56"/>
                  <a:gd name="T1" fmla="*/ 0 h 57"/>
                  <a:gd name="T2" fmla="*/ 56 w 56"/>
                  <a:gd name="T3" fmla="*/ 29 h 57"/>
                  <a:gd name="T4" fmla="*/ 28 w 56"/>
                  <a:gd name="T5" fmla="*/ 57 h 57"/>
                  <a:gd name="T6" fmla="*/ 0 w 56"/>
                  <a:gd name="T7" fmla="*/ 29 h 57"/>
                  <a:gd name="T8" fmla="*/ 28 w 56"/>
                  <a:gd name="T9" fmla="*/ 0 h 57"/>
                  <a:gd name="T10" fmla="*/ 0 60000 65536"/>
                  <a:gd name="T11" fmla="*/ 0 60000 65536"/>
                  <a:gd name="T12" fmla="*/ 0 60000 65536"/>
                  <a:gd name="T13" fmla="*/ 0 60000 65536"/>
                  <a:gd name="T14" fmla="*/ 0 60000 65536"/>
                  <a:gd name="T15" fmla="*/ 0 w 56"/>
                  <a:gd name="T16" fmla="*/ 0 h 57"/>
                  <a:gd name="T17" fmla="*/ 56 w 56"/>
                  <a:gd name="T18" fmla="*/ 57 h 57"/>
                </a:gdLst>
                <a:ahLst/>
                <a:cxnLst>
                  <a:cxn ang="T10">
                    <a:pos x="T0" y="T1"/>
                  </a:cxn>
                  <a:cxn ang="T11">
                    <a:pos x="T2" y="T3"/>
                  </a:cxn>
                  <a:cxn ang="T12">
                    <a:pos x="T4" y="T5"/>
                  </a:cxn>
                  <a:cxn ang="T13">
                    <a:pos x="T6" y="T7"/>
                  </a:cxn>
                  <a:cxn ang="T14">
                    <a:pos x="T8" y="T9"/>
                  </a:cxn>
                </a:cxnLst>
                <a:rect l="T15" t="T16" r="T17" b="T18"/>
                <a:pathLst>
                  <a:path w="56" h="57">
                    <a:moveTo>
                      <a:pt x="28" y="0"/>
                    </a:moveTo>
                    <a:lnTo>
                      <a:pt x="56" y="29"/>
                    </a:lnTo>
                    <a:lnTo>
                      <a:pt x="28" y="57"/>
                    </a:lnTo>
                    <a:lnTo>
                      <a:pt x="0" y="29"/>
                    </a:lnTo>
                    <a:lnTo>
                      <a:pt x="28"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58" name="Freeform 1160"/>
              <p:cNvSpPr/>
              <p:nvPr/>
            </p:nvSpPr>
            <p:spPr bwMode="auto">
              <a:xfrm>
                <a:off x="4561" y="3204"/>
                <a:ext cx="57" cy="60"/>
              </a:xfrm>
              <a:custGeom>
                <a:avLst/>
                <a:gdLst>
                  <a:gd name="T0" fmla="*/ 28 w 57"/>
                  <a:gd name="T1" fmla="*/ 0 h 57"/>
                  <a:gd name="T2" fmla="*/ 57 w 57"/>
                  <a:gd name="T3" fmla="*/ 29 h 57"/>
                  <a:gd name="T4" fmla="*/ 28 w 57"/>
                  <a:gd name="T5" fmla="*/ 57 h 57"/>
                  <a:gd name="T6" fmla="*/ 0 w 57"/>
                  <a:gd name="T7" fmla="*/ 29 h 57"/>
                  <a:gd name="T8" fmla="*/ 28 w 57"/>
                  <a:gd name="T9" fmla="*/ 0 h 57"/>
                  <a:gd name="T10" fmla="*/ 0 60000 65536"/>
                  <a:gd name="T11" fmla="*/ 0 60000 65536"/>
                  <a:gd name="T12" fmla="*/ 0 60000 65536"/>
                  <a:gd name="T13" fmla="*/ 0 60000 65536"/>
                  <a:gd name="T14" fmla="*/ 0 60000 65536"/>
                  <a:gd name="T15" fmla="*/ 0 w 57"/>
                  <a:gd name="T16" fmla="*/ 0 h 57"/>
                  <a:gd name="T17" fmla="*/ 57 w 57"/>
                  <a:gd name="T18" fmla="*/ 57 h 57"/>
                </a:gdLst>
                <a:ahLst/>
                <a:cxnLst>
                  <a:cxn ang="T10">
                    <a:pos x="T0" y="T1"/>
                  </a:cxn>
                  <a:cxn ang="T11">
                    <a:pos x="T2" y="T3"/>
                  </a:cxn>
                  <a:cxn ang="T12">
                    <a:pos x="T4" y="T5"/>
                  </a:cxn>
                  <a:cxn ang="T13">
                    <a:pos x="T6" y="T7"/>
                  </a:cxn>
                  <a:cxn ang="T14">
                    <a:pos x="T8" y="T9"/>
                  </a:cxn>
                </a:cxnLst>
                <a:rect l="T15" t="T16" r="T17" b="T18"/>
                <a:pathLst>
                  <a:path w="57" h="57">
                    <a:moveTo>
                      <a:pt x="28" y="0"/>
                    </a:moveTo>
                    <a:lnTo>
                      <a:pt x="57" y="29"/>
                    </a:lnTo>
                    <a:lnTo>
                      <a:pt x="28" y="57"/>
                    </a:lnTo>
                    <a:lnTo>
                      <a:pt x="0" y="29"/>
                    </a:lnTo>
                    <a:lnTo>
                      <a:pt x="28" y="0"/>
                    </a:lnTo>
                    <a:close/>
                  </a:path>
                </a:pathLst>
              </a:custGeom>
              <a:solidFill>
                <a:srgbClr val="000080"/>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59" name="Freeform 1161"/>
              <p:cNvSpPr/>
              <p:nvPr/>
            </p:nvSpPr>
            <p:spPr bwMode="auto">
              <a:xfrm>
                <a:off x="4199" y="2814"/>
                <a:ext cx="57" cy="59"/>
              </a:xfrm>
              <a:custGeom>
                <a:avLst/>
                <a:gdLst>
                  <a:gd name="T0" fmla="*/ 28 w 57"/>
                  <a:gd name="T1" fmla="*/ 0 h 57"/>
                  <a:gd name="T2" fmla="*/ 57 w 57"/>
                  <a:gd name="T3" fmla="*/ 28 h 57"/>
                  <a:gd name="T4" fmla="*/ 28 w 57"/>
                  <a:gd name="T5" fmla="*/ 57 h 57"/>
                  <a:gd name="T6" fmla="*/ 0 w 57"/>
                  <a:gd name="T7" fmla="*/ 28 h 57"/>
                  <a:gd name="T8" fmla="*/ 28 w 57"/>
                  <a:gd name="T9" fmla="*/ 0 h 57"/>
                  <a:gd name="T10" fmla="*/ 0 60000 65536"/>
                  <a:gd name="T11" fmla="*/ 0 60000 65536"/>
                  <a:gd name="T12" fmla="*/ 0 60000 65536"/>
                  <a:gd name="T13" fmla="*/ 0 60000 65536"/>
                  <a:gd name="T14" fmla="*/ 0 60000 65536"/>
                  <a:gd name="T15" fmla="*/ 0 w 57"/>
                  <a:gd name="T16" fmla="*/ 0 h 57"/>
                  <a:gd name="T17" fmla="*/ 57 w 57"/>
                  <a:gd name="T18" fmla="*/ 57 h 57"/>
                </a:gdLst>
                <a:ahLst/>
                <a:cxnLst>
                  <a:cxn ang="T10">
                    <a:pos x="T0" y="T1"/>
                  </a:cxn>
                  <a:cxn ang="T11">
                    <a:pos x="T2" y="T3"/>
                  </a:cxn>
                  <a:cxn ang="T12">
                    <a:pos x="T4" y="T5"/>
                  </a:cxn>
                  <a:cxn ang="T13">
                    <a:pos x="T6" y="T7"/>
                  </a:cxn>
                  <a:cxn ang="T14">
                    <a:pos x="T8" y="T9"/>
                  </a:cxn>
                </a:cxnLst>
                <a:rect l="T15" t="T16" r="T17" b="T18"/>
                <a:pathLst>
                  <a:path w="57" h="57">
                    <a:moveTo>
                      <a:pt x="28" y="0"/>
                    </a:moveTo>
                    <a:lnTo>
                      <a:pt x="57" y="28"/>
                    </a:lnTo>
                    <a:lnTo>
                      <a:pt x="28" y="57"/>
                    </a:lnTo>
                    <a:lnTo>
                      <a:pt x="0" y="28"/>
                    </a:lnTo>
                    <a:lnTo>
                      <a:pt x="28"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60" name="Freeform 1162"/>
              <p:cNvSpPr/>
              <p:nvPr/>
            </p:nvSpPr>
            <p:spPr bwMode="auto">
              <a:xfrm>
                <a:off x="4079" y="2716"/>
                <a:ext cx="56" cy="56"/>
              </a:xfrm>
              <a:custGeom>
                <a:avLst/>
                <a:gdLst>
                  <a:gd name="T0" fmla="*/ 28 w 56"/>
                  <a:gd name="T1" fmla="*/ 0 h 57"/>
                  <a:gd name="T2" fmla="*/ 56 w 56"/>
                  <a:gd name="T3" fmla="*/ 29 h 57"/>
                  <a:gd name="T4" fmla="*/ 28 w 56"/>
                  <a:gd name="T5" fmla="*/ 57 h 57"/>
                  <a:gd name="T6" fmla="*/ 0 w 56"/>
                  <a:gd name="T7" fmla="*/ 29 h 57"/>
                  <a:gd name="T8" fmla="*/ 28 w 56"/>
                  <a:gd name="T9" fmla="*/ 0 h 57"/>
                  <a:gd name="T10" fmla="*/ 0 60000 65536"/>
                  <a:gd name="T11" fmla="*/ 0 60000 65536"/>
                  <a:gd name="T12" fmla="*/ 0 60000 65536"/>
                  <a:gd name="T13" fmla="*/ 0 60000 65536"/>
                  <a:gd name="T14" fmla="*/ 0 60000 65536"/>
                  <a:gd name="T15" fmla="*/ 0 w 56"/>
                  <a:gd name="T16" fmla="*/ 0 h 57"/>
                  <a:gd name="T17" fmla="*/ 56 w 56"/>
                  <a:gd name="T18" fmla="*/ 57 h 57"/>
                </a:gdLst>
                <a:ahLst/>
                <a:cxnLst>
                  <a:cxn ang="T10">
                    <a:pos x="T0" y="T1"/>
                  </a:cxn>
                  <a:cxn ang="T11">
                    <a:pos x="T2" y="T3"/>
                  </a:cxn>
                  <a:cxn ang="T12">
                    <a:pos x="T4" y="T5"/>
                  </a:cxn>
                  <a:cxn ang="T13">
                    <a:pos x="T6" y="T7"/>
                  </a:cxn>
                  <a:cxn ang="T14">
                    <a:pos x="T8" y="T9"/>
                  </a:cxn>
                </a:cxnLst>
                <a:rect l="T15" t="T16" r="T17" b="T18"/>
                <a:pathLst>
                  <a:path w="56" h="57">
                    <a:moveTo>
                      <a:pt x="28" y="0"/>
                    </a:moveTo>
                    <a:lnTo>
                      <a:pt x="56" y="29"/>
                    </a:lnTo>
                    <a:lnTo>
                      <a:pt x="28" y="57"/>
                    </a:lnTo>
                    <a:lnTo>
                      <a:pt x="0" y="29"/>
                    </a:lnTo>
                    <a:lnTo>
                      <a:pt x="28"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61" name="Freeform 1163"/>
              <p:cNvSpPr/>
              <p:nvPr/>
            </p:nvSpPr>
            <p:spPr bwMode="auto">
              <a:xfrm>
                <a:off x="4678" y="3009"/>
                <a:ext cx="56" cy="52"/>
              </a:xfrm>
              <a:custGeom>
                <a:avLst/>
                <a:gdLst>
                  <a:gd name="T0" fmla="*/ 28 w 56"/>
                  <a:gd name="T1" fmla="*/ 0 h 57"/>
                  <a:gd name="T2" fmla="*/ 56 w 56"/>
                  <a:gd name="T3" fmla="*/ 28 h 57"/>
                  <a:gd name="T4" fmla="*/ 28 w 56"/>
                  <a:gd name="T5" fmla="*/ 57 h 57"/>
                  <a:gd name="T6" fmla="*/ 0 w 56"/>
                  <a:gd name="T7" fmla="*/ 28 h 57"/>
                  <a:gd name="T8" fmla="*/ 28 w 56"/>
                  <a:gd name="T9" fmla="*/ 0 h 57"/>
                  <a:gd name="T10" fmla="*/ 0 60000 65536"/>
                  <a:gd name="T11" fmla="*/ 0 60000 65536"/>
                  <a:gd name="T12" fmla="*/ 0 60000 65536"/>
                  <a:gd name="T13" fmla="*/ 0 60000 65536"/>
                  <a:gd name="T14" fmla="*/ 0 60000 65536"/>
                  <a:gd name="T15" fmla="*/ 0 w 56"/>
                  <a:gd name="T16" fmla="*/ 0 h 57"/>
                  <a:gd name="T17" fmla="*/ 56 w 56"/>
                  <a:gd name="T18" fmla="*/ 57 h 57"/>
                </a:gdLst>
                <a:ahLst/>
                <a:cxnLst>
                  <a:cxn ang="T10">
                    <a:pos x="T0" y="T1"/>
                  </a:cxn>
                  <a:cxn ang="T11">
                    <a:pos x="T2" y="T3"/>
                  </a:cxn>
                  <a:cxn ang="T12">
                    <a:pos x="T4" y="T5"/>
                  </a:cxn>
                  <a:cxn ang="T13">
                    <a:pos x="T6" y="T7"/>
                  </a:cxn>
                  <a:cxn ang="T14">
                    <a:pos x="T8" y="T9"/>
                  </a:cxn>
                </a:cxnLst>
                <a:rect l="T15" t="T16" r="T17" b="T18"/>
                <a:pathLst>
                  <a:path w="56" h="57">
                    <a:moveTo>
                      <a:pt x="28" y="0"/>
                    </a:moveTo>
                    <a:lnTo>
                      <a:pt x="56" y="28"/>
                    </a:lnTo>
                    <a:lnTo>
                      <a:pt x="28" y="57"/>
                    </a:lnTo>
                    <a:lnTo>
                      <a:pt x="0" y="28"/>
                    </a:lnTo>
                    <a:lnTo>
                      <a:pt x="28" y="0"/>
                    </a:lnTo>
                    <a:close/>
                  </a:path>
                </a:pathLst>
              </a:custGeom>
              <a:solidFill>
                <a:srgbClr val="000080"/>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62" name="Freeform 1164"/>
              <p:cNvSpPr/>
              <p:nvPr/>
            </p:nvSpPr>
            <p:spPr bwMode="auto">
              <a:xfrm>
                <a:off x="4199" y="3009"/>
                <a:ext cx="57" cy="52"/>
              </a:xfrm>
              <a:custGeom>
                <a:avLst/>
                <a:gdLst>
                  <a:gd name="T0" fmla="*/ 28 w 57"/>
                  <a:gd name="T1" fmla="*/ 0 h 57"/>
                  <a:gd name="T2" fmla="*/ 57 w 57"/>
                  <a:gd name="T3" fmla="*/ 28 h 57"/>
                  <a:gd name="T4" fmla="*/ 28 w 57"/>
                  <a:gd name="T5" fmla="*/ 57 h 57"/>
                  <a:gd name="T6" fmla="*/ 0 w 57"/>
                  <a:gd name="T7" fmla="*/ 28 h 57"/>
                  <a:gd name="T8" fmla="*/ 28 w 57"/>
                  <a:gd name="T9" fmla="*/ 0 h 57"/>
                  <a:gd name="T10" fmla="*/ 0 60000 65536"/>
                  <a:gd name="T11" fmla="*/ 0 60000 65536"/>
                  <a:gd name="T12" fmla="*/ 0 60000 65536"/>
                  <a:gd name="T13" fmla="*/ 0 60000 65536"/>
                  <a:gd name="T14" fmla="*/ 0 60000 65536"/>
                  <a:gd name="T15" fmla="*/ 0 w 57"/>
                  <a:gd name="T16" fmla="*/ 0 h 57"/>
                  <a:gd name="T17" fmla="*/ 57 w 57"/>
                  <a:gd name="T18" fmla="*/ 57 h 57"/>
                </a:gdLst>
                <a:ahLst/>
                <a:cxnLst>
                  <a:cxn ang="T10">
                    <a:pos x="T0" y="T1"/>
                  </a:cxn>
                  <a:cxn ang="T11">
                    <a:pos x="T2" y="T3"/>
                  </a:cxn>
                  <a:cxn ang="T12">
                    <a:pos x="T4" y="T5"/>
                  </a:cxn>
                  <a:cxn ang="T13">
                    <a:pos x="T6" y="T7"/>
                  </a:cxn>
                  <a:cxn ang="T14">
                    <a:pos x="T8" y="T9"/>
                  </a:cxn>
                </a:cxnLst>
                <a:rect l="T15" t="T16" r="T17" b="T18"/>
                <a:pathLst>
                  <a:path w="57" h="57">
                    <a:moveTo>
                      <a:pt x="28" y="0"/>
                    </a:moveTo>
                    <a:lnTo>
                      <a:pt x="57" y="28"/>
                    </a:lnTo>
                    <a:lnTo>
                      <a:pt x="28" y="57"/>
                    </a:lnTo>
                    <a:lnTo>
                      <a:pt x="0" y="28"/>
                    </a:lnTo>
                    <a:lnTo>
                      <a:pt x="28"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63" name="Freeform 1165"/>
              <p:cNvSpPr/>
              <p:nvPr/>
            </p:nvSpPr>
            <p:spPr bwMode="auto">
              <a:xfrm>
                <a:off x="4320" y="3399"/>
                <a:ext cx="56" cy="52"/>
              </a:xfrm>
              <a:custGeom>
                <a:avLst/>
                <a:gdLst>
                  <a:gd name="T0" fmla="*/ 28 w 56"/>
                  <a:gd name="T1" fmla="*/ 0 h 57"/>
                  <a:gd name="T2" fmla="*/ 56 w 56"/>
                  <a:gd name="T3" fmla="*/ 29 h 57"/>
                  <a:gd name="T4" fmla="*/ 28 w 56"/>
                  <a:gd name="T5" fmla="*/ 57 h 57"/>
                  <a:gd name="T6" fmla="*/ 0 w 56"/>
                  <a:gd name="T7" fmla="*/ 29 h 57"/>
                  <a:gd name="T8" fmla="*/ 28 w 56"/>
                  <a:gd name="T9" fmla="*/ 0 h 57"/>
                  <a:gd name="T10" fmla="*/ 0 60000 65536"/>
                  <a:gd name="T11" fmla="*/ 0 60000 65536"/>
                  <a:gd name="T12" fmla="*/ 0 60000 65536"/>
                  <a:gd name="T13" fmla="*/ 0 60000 65536"/>
                  <a:gd name="T14" fmla="*/ 0 60000 65536"/>
                  <a:gd name="T15" fmla="*/ 0 w 56"/>
                  <a:gd name="T16" fmla="*/ 0 h 57"/>
                  <a:gd name="T17" fmla="*/ 56 w 56"/>
                  <a:gd name="T18" fmla="*/ 57 h 57"/>
                </a:gdLst>
                <a:ahLst/>
                <a:cxnLst>
                  <a:cxn ang="T10">
                    <a:pos x="T0" y="T1"/>
                  </a:cxn>
                  <a:cxn ang="T11">
                    <a:pos x="T2" y="T3"/>
                  </a:cxn>
                  <a:cxn ang="T12">
                    <a:pos x="T4" y="T5"/>
                  </a:cxn>
                  <a:cxn ang="T13">
                    <a:pos x="T6" y="T7"/>
                  </a:cxn>
                  <a:cxn ang="T14">
                    <a:pos x="T8" y="T9"/>
                  </a:cxn>
                </a:cxnLst>
                <a:rect l="T15" t="T16" r="T17" b="T18"/>
                <a:pathLst>
                  <a:path w="56" h="57">
                    <a:moveTo>
                      <a:pt x="28" y="0"/>
                    </a:moveTo>
                    <a:lnTo>
                      <a:pt x="56" y="29"/>
                    </a:lnTo>
                    <a:lnTo>
                      <a:pt x="28" y="57"/>
                    </a:lnTo>
                    <a:lnTo>
                      <a:pt x="0" y="29"/>
                    </a:lnTo>
                    <a:lnTo>
                      <a:pt x="28" y="0"/>
                    </a:lnTo>
                    <a:close/>
                  </a:path>
                </a:pathLst>
              </a:custGeom>
              <a:solidFill>
                <a:srgbClr val="000080"/>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64" name="Freeform 1166"/>
              <p:cNvSpPr/>
              <p:nvPr/>
            </p:nvSpPr>
            <p:spPr bwMode="auto">
              <a:xfrm>
                <a:off x="4561" y="3107"/>
                <a:ext cx="57" cy="55"/>
              </a:xfrm>
              <a:custGeom>
                <a:avLst/>
                <a:gdLst>
                  <a:gd name="T0" fmla="*/ 28 w 57"/>
                  <a:gd name="T1" fmla="*/ 0 h 56"/>
                  <a:gd name="T2" fmla="*/ 57 w 57"/>
                  <a:gd name="T3" fmla="*/ 28 h 56"/>
                  <a:gd name="T4" fmla="*/ 28 w 57"/>
                  <a:gd name="T5" fmla="*/ 56 h 56"/>
                  <a:gd name="T6" fmla="*/ 0 w 57"/>
                  <a:gd name="T7" fmla="*/ 28 h 56"/>
                  <a:gd name="T8" fmla="*/ 28 w 57"/>
                  <a:gd name="T9" fmla="*/ 0 h 56"/>
                  <a:gd name="T10" fmla="*/ 0 60000 65536"/>
                  <a:gd name="T11" fmla="*/ 0 60000 65536"/>
                  <a:gd name="T12" fmla="*/ 0 60000 65536"/>
                  <a:gd name="T13" fmla="*/ 0 60000 65536"/>
                  <a:gd name="T14" fmla="*/ 0 60000 65536"/>
                  <a:gd name="T15" fmla="*/ 0 w 57"/>
                  <a:gd name="T16" fmla="*/ 0 h 56"/>
                  <a:gd name="T17" fmla="*/ 57 w 57"/>
                  <a:gd name="T18" fmla="*/ 56 h 56"/>
                </a:gdLst>
                <a:ahLst/>
                <a:cxnLst>
                  <a:cxn ang="T10">
                    <a:pos x="T0" y="T1"/>
                  </a:cxn>
                  <a:cxn ang="T11">
                    <a:pos x="T2" y="T3"/>
                  </a:cxn>
                  <a:cxn ang="T12">
                    <a:pos x="T4" y="T5"/>
                  </a:cxn>
                  <a:cxn ang="T13">
                    <a:pos x="T6" y="T7"/>
                  </a:cxn>
                  <a:cxn ang="T14">
                    <a:pos x="T8" y="T9"/>
                  </a:cxn>
                </a:cxnLst>
                <a:rect l="T15" t="T16" r="T17" b="T18"/>
                <a:pathLst>
                  <a:path w="57" h="56">
                    <a:moveTo>
                      <a:pt x="28" y="0"/>
                    </a:moveTo>
                    <a:lnTo>
                      <a:pt x="57" y="28"/>
                    </a:lnTo>
                    <a:lnTo>
                      <a:pt x="28" y="56"/>
                    </a:lnTo>
                    <a:lnTo>
                      <a:pt x="0" y="28"/>
                    </a:lnTo>
                    <a:lnTo>
                      <a:pt x="28" y="0"/>
                    </a:lnTo>
                    <a:close/>
                  </a:path>
                </a:pathLst>
              </a:custGeom>
              <a:solidFill>
                <a:srgbClr val="000080"/>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65" name="Freeform 1167"/>
              <p:cNvSpPr/>
              <p:nvPr/>
            </p:nvSpPr>
            <p:spPr bwMode="auto">
              <a:xfrm>
                <a:off x="4320" y="3009"/>
                <a:ext cx="56" cy="52"/>
              </a:xfrm>
              <a:custGeom>
                <a:avLst/>
                <a:gdLst>
                  <a:gd name="T0" fmla="*/ 28 w 56"/>
                  <a:gd name="T1" fmla="*/ 0 h 57"/>
                  <a:gd name="T2" fmla="*/ 56 w 56"/>
                  <a:gd name="T3" fmla="*/ 28 h 57"/>
                  <a:gd name="T4" fmla="*/ 28 w 56"/>
                  <a:gd name="T5" fmla="*/ 57 h 57"/>
                  <a:gd name="T6" fmla="*/ 0 w 56"/>
                  <a:gd name="T7" fmla="*/ 28 h 57"/>
                  <a:gd name="T8" fmla="*/ 28 w 56"/>
                  <a:gd name="T9" fmla="*/ 0 h 57"/>
                  <a:gd name="T10" fmla="*/ 0 60000 65536"/>
                  <a:gd name="T11" fmla="*/ 0 60000 65536"/>
                  <a:gd name="T12" fmla="*/ 0 60000 65536"/>
                  <a:gd name="T13" fmla="*/ 0 60000 65536"/>
                  <a:gd name="T14" fmla="*/ 0 60000 65536"/>
                  <a:gd name="T15" fmla="*/ 0 w 56"/>
                  <a:gd name="T16" fmla="*/ 0 h 57"/>
                  <a:gd name="T17" fmla="*/ 56 w 56"/>
                  <a:gd name="T18" fmla="*/ 57 h 57"/>
                </a:gdLst>
                <a:ahLst/>
                <a:cxnLst>
                  <a:cxn ang="T10">
                    <a:pos x="T0" y="T1"/>
                  </a:cxn>
                  <a:cxn ang="T11">
                    <a:pos x="T2" y="T3"/>
                  </a:cxn>
                  <a:cxn ang="T12">
                    <a:pos x="T4" y="T5"/>
                  </a:cxn>
                  <a:cxn ang="T13">
                    <a:pos x="T6" y="T7"/>
                  </a:cxn>
                  <a:cxn ang="T14">
                    <a:pos x="T8" y="T9"/>
                  </a:cxn>
                </a:cxnLst>
                <a:rect l="T15" t="T16" r="T17" b="T18"/>
                <a:pathLst>
                  <a:path w="56" h="57">
                    <a:moveTo>
                      <a:pt x="28" y="0"/>
                    </a:moveTo>
                    <a:lnTo>
                      <a:pt x="56" y="28"/>
                    </a:lnTo>
                    <a:lnTo>
                      <a:pt x="28" y="57"/>
                    </a:lnTo>
                    <a:lnTo>
                      <a:pt x="0" y="28"/>
                    </a:lnTo>
                    <a:lnTo>
                      <a:pt x="28" y="0"/>
                    </a:lnTo>
                    <a:close/>
                  </a:path>
                </a:pathLst>
              </a:custGeom>
              <a:solidFill>
                <a:srgbClr val="00FFFF"/>
              </a:solidFill>
              <a:ln w="6350">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66" name="Rectangle 1168"/>
              <p:cNvSpPr>
                <a:spLocks noChangeArrowheads="1"/>
              </p:cNvSpPr>
              <p:nvPr/>
            </p:nvSpPr>
            <p:spPr bwMode="auto">
              <a:xfrm>
                <a:off x="3693" y="3497"/>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0</a:t>
                </a:r>
                <a:endParaRPr lang="ko-KR" altLang="en-US" b="0">
                  <a:solidFill>
                    <a:srgbClr val="000000"/>
                  </a:solidFill>
                  <a:ea typeface="Gulim" panose="020B0600000101010101" pitchFamily="34" charset="-127"/>
                </a:endParaRPr>
              </a:p>
            </p:txBody>
          </p:sp>
          <p:sp>
            <p:nvSpPr>
              <p:cNvPr id="67" name="Rectangle 1169"/>
              <p:cNvSpPr>
                <a:spLocks noChangeArrowheads="1"/>
              </p:cNvSpPr>
              <p:nvPr/>
            </p:nvSpPr>
            <p:spPr bwMode="auto">
              <a:xfrm>
                <a:off x="3693" y="3399"/>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1</a:t>
                </a:r>
                <a:endParaRPr lang="ko-KR" altLang="en-US" b="0">
                  <a:solidFill>
                    <a:srgbClr val="000000"/>
                  </a:solidFill>
                  <a:ea typeface="Gulim" panose="020B0600000101010101" pitchFamily="34" charset="-127"/>
                </a:endParaRPr>
              </a:p>
            </p:txBody>
          </p:sp>
          <p:sp>
            <p:nvSpPr>
              <p:cNvPr id="68" name="Rectangle 1170"/>
              <p:cNvSpPr>
                <a:spLocks noChangeArrowheads="1"/>
              </p:cNvSpPr>
              <p:nvPr/>
            </p:nvSpPr>
            <p:spPr bwMode="auto">
              <a:xfrm>
                <a:off x="3693" y="330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2</a:t>
                </a:r>
                <a:endParaRPr lang="ko-KR" altLang="en-US" b="0">
                  <a:solidFill>
                    <a:srgbClr val="000000"/>
                  </a:solidFill>
                  <a:ea typeface="Gulim" panose="020B0600000101010101" pitchFamily="34" charset="-127"/>
                </a:endParaRPr>
              </a:p>
            </p:txBody>
          </p:sp>
          <p:sp>
            <p:nvSpPr>
              <p:cNvPr id="69" name="Rectangle 1171"/>
              <p:cNvSpPr>
                <a:spLocks noChangeArrowheads="1"/>
              </p:cNvSpPr>
              <p:nvPr/>
            </p:nvSpPr>
            <p:spPr bwMode="auto">
              <a:xfrm>
                <a:off x="3693" y="3204"/>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3</a:t>
                </a:r>
                <a:endParaRPr lang="ko-KR" altLang="en-US" b="0">
                  <a:solidFill>
                    <a:srgbClr val="000000"/>
                  </a:solidFill>
                  <a:ea typeface="Gulim" panose="020B0600000101010101" pitchFamily="34" charset="-127"/>
                </a:endParaRPr>
              </a:p>
            </p:txBody>
          </p:sp>
          <p:sp>
            <p:nvSpPr>
              <p:cNvPr id="70" name="Rectangle 1172"/>
              <p:cNvSpPr>
                <a:spLocks noChangeArrowheads="1"/>
              </p:cNvSpPr>
              <p:nvPr/>
            </p:nvSpPr>
            <p:spPr bwMode="auto">
              <a:xfrm>
                <a:off x="3693" y="3107"/>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4</a:t>
                </a:r>
                <a:endParaRPr lang="ko-KR" altLang="en-US" b="0">
                  <a:solidFill>
                    <a:srgbClr val="000000"/>
                  </a:solidFill>
                  <a:ea typeface="Gulim" panose="020B0600000101010101" pitchFamily="34" charset="-127"/>
                </a:endParaRPr>
              </a:p>
            </p:txBody>
          </p:sp>
          <p:sp>
            <p:nvSpPr>
              <p:cNvPr id="71" name="Rectangle 1173"/>
              <p:cNvSpPr>
                <a:spLocks noChangeArrowheads="1"/>
              </p:cNvSpPr>
              <p:nvPr/>
            </p:nvSpPr>
            <p:spPr bwMode="auto">
              <a:xfrm>
                <a:off x="3693" y="3009"/>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5</a:t>
                </a:r>
                <a:endParaRPr lang="ko-KR" altLang="en-US" b="0">
                  <a:solidFill>
                    <a:srgbClr val="000000"/>
                  </a:solidFill>
                  <a:ea typeface="Gulim" panose="020B0600000101010101" pitchFamily="34" charset="-127"/>
                </a:endParaRPr>
              </a:p>
            </p:txBody>
          </p:sp>
          <p:sp>
            <p:nvSpPr>
              <p:cNvPr id="72" name="Rectangle 1174"/>
              <p:cNvSpPr>
                <a:spLocks noChangeArrowheads="1"/>
              </p:cNvSpPr>
              <p:nvPr/>
            </p:nvSpPr>
            <p:spPr bwMode="auto">
              <a:xfrm>
                <a:off x="3693" y="2910"/>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6</a:t>
                </a:r>
                <a:endParaRPr lang="ko-KR" altLang="en-US" b="0">
                  <a:solidFill>
                    <a:srgbClr val="000000"/>
                  </a:solidFill>
                  <a:ea typeface="Gulim" panose="020B0600000101010101" pitchFamily="34" charset="-127"/>
                </a:endParaRPr>
              </a:p>
            </p:txBody>
          </p:sp>
          <p:sp>
            <p:nvSpPr>
              <p:cNvPr id="73" name="Rectangle 1175"/>
              <p:cNvSpPr>
                <a:spLocks noChangeArrowheads="1"/>
              </p:cNvSpPr>
              <p:nvPr/>
            </p:nvSpPr>
            <p:spPr bwMode="auto">
              <a:xfrm>
                <a:off x="3693" y="2814"/>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7</a:t>
                </a:r>
                <a:endParaRPr lang="ko-KR" altLang="en-US" b="0">
                  <a:solidFill>
                    <a:srgbClr val="000000"/>
                  </a:solidFill>
                  <a:ea typeface="Gulim" panose="020B0600000101010101" pitchFamily="34" charset="-127"/>
                </a:endParaRPr>
              </a:p>
            </p:txBody>
          </p:sp>
          <p:sp>
            <p:nvSpPr>
              <p:cNvPr id="74" name="Rectangle 1176"/>
              <p:cNvSpPr>
                <a:spLocks noChangeArrowheads="1"/>
              </p:cNvSpPr>
              <p:nvPr/>
            </p:nvSpPr>
            <p:spPr bwMode="auto">
              <a:xfrm>
                <a:off x="3693" y="2716"/>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8</a:t>
                </a:r>
                <a:endParaRPr lang="ko-KR" altLang="en-US" b="0">
                  <a:solidFill>
                    <a:srgbClr val="000000"/>
                  </a:solidFill>
                  <a:ea typeface="Gulim" panose="020B0600000101010101" pitchFamily="34" charset="-127"/>
                </a:endParaRPr>
              </a:p>
            </p:txBody>
          </p:sp>
          <p:sp>
            <p:nvSpPr>
              <p:cNvPr id="75" name="Rectangle 1177"/>
              <p:cNvSpPr>
                <a:spLocks noChangeArrowheads="1"/>
              </p:cNvSpPr>
              <p:nvPr/>
            </p:nvSpPr>
            <p:spPr bwMode="auto">
              <a:xfrm>
                <a:off x="3693" y="2619"/>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9</a:t>
                </a:r>
                <a:endParaRPr lang="ko-KR" altLang="en-US" b="0">
                  <a:solidFill>
                    <a:srgbClr val="000000"/>
                  </a:solidFill>
                  <a:ea typeface="Gulim" panose="020B0600000101010101" pitchFamily="34" charset="-127"/>
                </a:endParaRPr>
              </a:p>
            </p:txBody>
          </p:sp>
          <p:sp>
            <p:nvSpPr>
              <p:cNvPr id="76" name="Rectangle 1178"/>
              <p:cNvSpPr>
                <a:spLocks noChangeArrowheads="1"/>
              </p:cNvSpPr>
              <p:nvPr/>
            </p:nvSpPr>
            <p:spPr bwMode="auto">
              <a:xfrm>
                <a:off x="3667" y="2520"/>
                <a:ext cx="6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10</a:t>
                </a:r>
                <a:endParaRPr lang="ko-KR" altLang="en-US" b="0">
                  <a:solidFill>
                    <a:srgbClr val="000000"/>
                  </a:solidFill>
                  <a:ea typeface="Gulim" panose="020B0600000101010101" pitchFamily="34" charset="-127"/>
                </a:endParaRPr>
              </a:p>
            </p:txBody>
          </p:sp>
          <p:sp>
            <p:nvSpPr>
              <p:cNvPr id="77" name="Rectangle 1179"/>
              <p:cNvSpPr>
                <a:spLocks noChangeArrowheads="1"/>
              </p:cNvSpPr>
              <p:nvPr/>
            </p:nvSpPr>
            <p:spPr bwMode="auto">
              <a:xfrm>
                <a:off x="3737" y="35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0</a:t>
                </a:r>
                <a:endParaRPr lang="ko-KR" altLang="en-US" b="0">
                  <a:solidFill>
                    <a:srgbClr val="000000"/>
                  </a:solidFill>
                  <a:ea typeface="Gulim" panose="020B0600000101010101" pitchFamily="34" charset="-127"/>
                </a:endParaRPr>
              </a:p>
            </p:txBody>
          </p:sp>
          <p:sp>
            <p:nvSpPr>
              <p:cNvPr id="78" name="Rectangle 1180"/>
              <p:cNvSpPr>
                <a:spLocks noChangeArrowheads="1"/>
              </p:cNvSpPr>
              <p:nvPr/>
            </p:nvSpPr>
            <p:spPr bwMode="auto">
              <a:xfrm>
                <a:off x="3856" y="35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1</a:t>
                </a:r>
                <a:endParaRPr lang="ko-KR" altLang="en-US" b="0">
                  <a:solidFill>
                    <a:srgbClr val="000000"/>
                  </a:solidFill>
                  <a:ea typeface="Gulim" panose="020B0600000101010101" pitchFamily="34" charset="-127"/>
                </a:endParaRPr>
              </a:p>
            </p:txBody>
          </p:sp>
          <p:sp>
            <p:nvSpPr>
              <p:cNvPr id="79" name="Rectangle 1181"/>
              <p:cNvSpPr>
                <a:spLocks noChangeArrowheads="1"/>
              </p:cNvSpPr>
              <p:nvPr/>
            </p:nvSpPr>
            <p:spPr bwMode="auto">
              <a:xfrm>
                <a:off x="3978" y="35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2</a:t>
                </a:r>
                <a:endParaRPr lang="ko-KR" altLang="en-US" b="0">
                  <a:solidFill>
                    <a:srgbClr val="000000"/>
                  </a:solidFill>
                  <a:ea typeface="Gulim" panose="020B0600000101010101" pitchFamily="34" charset="-127"/>
                </a:endParaRPr>
              </a:p>
            </p:txBody>
          </p:sp>
          <p:sp>
            <p:nvSpPr>
              <p:cNvPr id="80" name="Rectangle 1182"/>
              <p:cNvSpPr>
                <a:spLocks noChangeArrowheads="1"/>
              </p:cNvSpPr>
              <p:nvPr/>
            </p:nvSpPr>
            <p:spPr bwMode="auto">
              <a:xfrm>
                <a:off x="4095" y="35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3</a:t>
                </a:r>
                <a:endParaRPr lang="ko-KR" altLang="en-US" b="0">
                  <a:solidFill>
                    <a:srgbClr val="000000"/>
                  </a:solidFill>
                  <a:ea typeface="Gulim" panose="020B0600000101010101" pitchFamily="34" charset="-127"/>
                </a:endParaRPr>
              </a:p>
            </p:txBody>
          </p:sp>
          <p:sp>
            <p:nvSpPr>
              <p:cNvPr id="81" name="Rectangle 1183"/>
              <p:cNvSpPr>
                <a:spLocks noChangeArrowheads="1"/>
              </p:cNvSpPr>
              <p:nvPr/>
            </p:nvSpPr>
            <p:spPr bwMode="auto">
              <a:xfrm>
                <a:off x="4214" y="35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4</a:t>
                </a:r>
                <a:endParaRPr lang="ko-KR" altLang="en-US" b="0">
                  <a:solidFill>
                    <a:srgbClr val="000000"/>
                  </a:solidFill>
                  <a:ea typeface="Gulim" panose="020B0600000101010101" pitchFamily="34" charset="-127"/>
                </a:endParaRPr>
              </a:p>
            </p:txBody>
          </p:sp>
          <p:sp>
            <p:nvSpPr>
              <p:cNvPr id="82" name="Rectangle 1184"/>
              <p:cNvSpPr>
                <a:spLocks noChangeArrowheads="1"/>
              </p:cNvSpPr>
              <p:nvPr/>
            </p:nvSpPr>
            <p:spPr bwMode="auto">
              <a:xfrm>
                <a:off x="4336" y="35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5</a:t>
                </a:r>
                <a:endParaRPr lang="ko-KR" altLang="en-US" b="0">
                  <a:solidFill>
                    <a:srgbClr val="000000"/>
                  </a:solidFill>
                  <a:ea typeface="Gulim" panose="020B0600000101010101" pitchFamily="34" charset="-127"/>
                </a:endParaRPr>
              </a:p>
            </p:txBody>
          </p:sp>
          <p:sp>
            <p:nvSpPr>
              <p:cNvPr id="83" name="Rectangle 1185"/>
              <p:cNvSpPr>
                <a:spLocks noChangeArrowheads="1"/>
              </p:cNvSpPr>
              <p:nvPr/>
            </p:nvSpPr>
            <p:spPr bwMode="auto">
              <a:xfrm>
                <a:off x="4457" y="35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6</a:t>
                </a:r>
                <a:endParaRPr lang="ko-KR" altLang="en-US" b="0">
                  <a:solidFill>
                    <a:srgbClr val="000000"/>
                  </a:solidFill>
                  <a:ea typeface="Gulim" panose="020B0600000101010101" pitchFamily="34" charset="-127"/>
                </a:endParaRPr>
              </a:p>
            </p:txBody>
          </p:sp>
          <p:sp>
            <p:nvSpPr>
              <p:cNvPr id="84" name="Rectangle 1186"/>
              <p:cNvSpPr>
                <a:spLocks noChangeArrowheads="1"/>
              </p:cNvSpPr>
              <p:nvPr/>
            </p:nvSpPr>
            <p:spPr bwMode="auto">
              <a:xfrm>
                <a:off x="4577" y="35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7</a:t>
                </a:r>
                <a:endParaRPr lang="ko-KR" altLang="en-US" b="0">
                  <a:solidFill>
                    <a:srgbClr val="000000"/>
                  </a:solidFill>
                  <a:ea typeface="Gulim" panose="020B0600000101010101" pitchFamily="34" charset="-127"/>
                </a:endParaRPr>
              </a:p>
            </p:txBody>
          </p:sp>
          <p:sp>
            <p:nvSpPr>
              <p:cNvPr id="85" name="Rectangle 1187"/>
              <p:cNvSpPr>
                <a:spLocks noChangeArrowheads="1"/>
              </p:cNvSpPr>
              <p:nvPr/>
            </p:nvSpPr>
            <p:spPr bwMode="auto">
              <a:xfrm>
                <a:off x="4694" y="35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8</a:t>
                </a:r>
                <a:endParaRPr lang="ko-KR" altLang="en-US" b="0">
                  <a:solidFill>
                    <a:srgbClr val="000000"/>
                  </a:solidFill>
                  <a:ea typeface="Gulim" panose="020B0600000101010101" pitchFamily="34" charset="-127"/>
                </a:endParaRPr>
              </a:p>
            </p:txBody>
          </p:sp>
          <p:sp>
            <p:nvSpPr>
              <p:cNvPr id="86" name="Rectangle 1188"/>
              <p:cNvSpPr>
                <a:spLocks noChangeArrowheads="1"/>
              </p:cNvSpPr>
              <p:nvPr/>
            </p:nvSpPr>
            <p:spPr bwMode="auto">
              <a:xfrm>
                <a:off x="4815" y="3562"/>
                <a:ext cx="3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9</a:t>
                </a:r>
                <a:endParaRPr lang="ko-KR" altLang="en-US" b="0">
                  <a:solidFill>
                    <a:srgbClr val="000000"/>
                  </a:solidFill>
                  <a:ea typeface="Gulim" panose="020B0600000101010101" pitchFamily="34" charset="-127"/>
                </a:endParaRPr>
              </a:p>
            </p:txBody>
          </p:sp>
          <p:sp>
            <p:nvSpPr>
              <p:cNvPr id="87" name="Rectangle 1189"/>
              <p:cNvSpPr>
                <a:spLocks noChangeArrowheads="1"/>
              </p:cNvSpPr>
              <p:nvPr/>
            </p:nvSpPr>
            <p:spPr bwMode="auto">
              <a:xfrm>
                <a:off x="4923" y="3562"/>
                <a:ext cx="60" cy="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600" b="0">
                    <a:solidFill>
                      <a:srgbClr val="000000"/>
                    </a:solidFill>
                    <a:ea typeface="Gulim" panose="020B0600000101010101" pitchFamily="34" charset="-127"/>
                  </a:rPr>
                  <a:t>10</a:t>
                </a:r>
                <a:endParaRPr lang="ko-KR" altLang="en-US" b="0">
                  <a:solidFill>
                    <a:srgbClr val="000000"/>
                  </a:solidFill>
                  <a:ea typeface="Gulim" panose="020B0600000101010101" pitchFamily="34" charset="-127"/>
                </a:endParaRPr>
              </a:p>
            </p:txBody>
          </p:sp>
          <p:sp>
            <p:nvSpPr>
              <p:cNvPr id="88" name="Rectangle 1190"/>
              <p:cNvSpPr>
                <a:spLocks noChangeArrowheads="1"/>
              </p:cNvSpPr>
              <p:nvPr/>
            </p:nvSpPr>
            <p:spPr bwMode="auto">
              <a:xfrm>
                <a:off x="3616" y="2464"/>
                <a:ext cx="1396" cy="1208"/>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89" name="Freeform 1191"/>
              <p:cNvSpPr/>
              <p:nvPr/>
            </p:nvSpPr>
            <p:spPr bwMode="auto">
              <a:xfrm>
                <a:off x="3955" y="2658"/>
                <a:ext cx="488" cy="592"/>
              </a:xfrm>
              <a:custGeom>
                <a:avLst/>
                <a:gdLst>
                  <a:gd name="T0" fmla="*/ 27 w 728"/>
                  <a:gd name="T1" fmla="*/ 1 h 896"/>
                  <a:gd name="T2" fmla="*/ 15 w 728"/>
                  <a:gd name="T3" fmla="*/ 13 h 896"/>
                  <a:gd name="T4" fmla="*/ 11 w 728"/>
                  <a:gd name="T5" fmla="*/ 18 h 896"/>
                  <a:gd name="T6" fmla="*/ 9 w 728"/>
                  <a:gd name="T7" fmla="*/ 21 h 896"/>
                  <a:gd name="T8" fmla="*/ 3 w 728"/>
                  <a:gd name="T9" fmla="*/ 40 h 896"/>
                  <a:gd name="T10" fmla="*/ 9 w 728"/>
                  <a:gd name="T11" fmla="*/ 93 h 896"/>
                  <a:gd name="T12" fmla="*/ 15 w 728"/>
                  <a:gd name="T13" fmla="*/ 100 h 896"/>
                  <a:gd name="T14" fmla="*/ 45 w 728"/>
                  <a:gd name="T15" fmla="*/ 118 h 896"/>
                  <a:gd name="T16" fmla="*/ 67 w 728"/>
                  <a:gd name="T17" fmla="*/ 112 h 896"/>
                  <a:gd name="T18" fmla="*/ 86 w 728"/>
                  <a:gd name="T19" fmla="*/ 94 h 896"/>
                  <a:gd name="T20" fmla="*/ 93 w 728"/>
                  <a:gd name="T21" fmla="*/ 79 h 896"/>
                  <a:gd name="T22" fmla="*/ 95 w 728"/>
                  <a:gd name="T23" fmla="*/ 74 h 896"/>
                  <a:gd name="T24" fmla="*/ 96 w 728"/>
                  <a:gd name="T25" fmla="*/ 71 h 896"/>
                  <a:gd name="T26" fmla="*/ 92 w 728"/>
                  <a:gd name="T27" fmla="*/ 39 h 896"/>
                  <a:gd name="T28" fmla="*/ 77 w 728"/>
                  <a:gd name="T29" fmla="*/ 17 h 896"/>
                  <a:gd name="T30" fmla="*/ 69 w 728"/>
                  <a:gd name="T31" fmla="*/ 11 h 896"/>
                  <a:gd name="T32" fmla="*/ 63 w 728"/>
                  <a:gd name="T33" fmla="*/ 7 h 896"/>
                  <a:gd name="T34" fmla="*/ 40 w 728"/>
                  <a:gd name="T35" fmla="*/ 0 h 896"/>
                  <a:gd name="T36" fmla="*/ 28 w 728"/>
                  <a:gd name="T37" fmla="*/ 1 h 896"/>
                  <a:gd name="T38" fmla="*/ 25 w 728"/>
                  <a:gd name="T39" fmla="*/ 2 h 896"/>
                  <a:gd name="T40" fmla="*/ 27 w 728"/>
                  <a:gd name="T41" fmla="*/ 1 h 8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8"/>
                  <a:gd name="T64" fmla="*/ 0 h 896"/>
                  <a:gd name="T65" fmla="*/ 728 w 728"/>
                  <a:gd name="T66" fmla="*/ 896 h 89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8" h="896">
                    <a:moveTo>
                      <a:pt x="199" y="7"/>
                    </a:moveTo>
                    <a:cubicBezTo>
                      <a:pt x="148" y="19"/>
                      <a:pt x="135" y="54"/>
                      <a:pt x="110" y="96"/>
                    </a:cubicBezTo>
                    <a:cubicBezTo>
                      <a:pt x="101" y="111"/>
                      <a:pt x="90" y="125"/>
                      <a:pt x="80" y="140"/>
                    </a:cubicBezTo>
                    <a:cubicBezTo>
                      <a:pt x="75" y="147"/>
                      <a:pt x="65" y="162"/>
                      <a:pt x="65" y="162"/>
                    </a:cubicBezTo>
                    <a:cubicBezTo>
                      <a:pt x="50" y="210"/>
                      <a:pt x="33" y="254"/>
                      <a:pt x="21" y="303"/>
                    </a:cubicBezTo>
                    <a:cubicBezTo>
                      <a:pt x="4" y="446"/>
                      <a:pt x="0" y="574"/>
                      <a:pt x="65" y="703"/>
                    </a:cubicBezTo>
                    <a:cubicBezTo>
                      <a:pt x="79" y="731"/>
                      <a:pt x="83" y="744"/>
                      <a:pt x="110" y="763"/>
                    </a:cubicBezTo>
                    <a:cubicBezTo>
                      <a:pt x="159" y="835"/>
                      <a:pt x="250" y="874"/>
                      <a:pt x="332" y="896"/>
                    </a:cubicBezTo>
                    <a:cubicBezTo>
                      <a:pt x="394" y="889"/>
                      <a:pt x="441" y="878"/>
                      <a:pt x="495" y="851"/>
                    </a:cubicBezTo>
                    <a:cubicBezTo>
                      <a:pt x="537" y="789"/>
                      <a:pt x="571" y="751"/>
                      <a:pt x="636" y="711"/>
                    </a:cubicBezTo>
                    <a:cubicBezTo>
                      <a:pt x="660" y="674"/>
                      <a:pt x="672" y="647"/>
                      <a:pt x="688" y="607"/>
                    </a:cubicBezTo>
                    <a:cubicBezTo>
                      <a:pt x="694" y="593"/>
                      <a:pt x="697" y="578"/>
                      <a:pt x="702" y="563"/>
                    </a:cubicBezTo>
                    <a:cubicBezTo>
                      <a:pt x="705" y="555"/>
                      <a:pt x="710" y="540"/>
                      <a:pt x="710" y="540"/>
                    </a:cubicBezTo>
                    <a:cubicBezTo>
                      <a:pt x="720" y="459"/>
                      <a:pt x="728" y="366"/>
                      <a:pt x="680" y="296"/>
                    </a:cubicBezTo>
                    <a:cubicBezTo>
                      <a:pt x="659" y="231"/>
                      <a:pt x="621" y="176"/>
                      <a:pt x="569" y="133"/>
                    </a:cubicBezTo>
                    <a:cubicBezTo>
                      <a:pt x="550" y="117"/>
                      <a:pt x="530" y="103"/>
                      <a:pt x="510" y="88"/>
                    </a:cubicBezTo>
                    <a:cubicBezTo>
                      <a:pt x="496" y="77"/>
                      <a:pt x="465" y="59"/>
                      <a:pt x="465" y="59"/>
                    </a:cubicBezTo>
                    <a:cubicBezTo>
                      <a:pt x="428" y="0"/>
                      <a:pt x="358" y="5"/>
                      <a:pt x="295" y="0"/>
                    </a:cubicBezTo>
                    <a:cubicBezTo>
                      <a:pt x="265" y="2"/>
                      <a:pt x="236" y="3"/>
                      <a:pt x="206" y="7"/>
                    </a:cubicBezTo>
                    <a:cubicBezTo>
                      <a:pt x="198" y="8"/>
                      <a:pt x="192" y="14"/>
                      <a:pt x="184" y="14"/>
                    </a:cubicBezTo>
                    <a:cubicBezTo>
                      <a:pt x="178" y="14"/>
                      <a:pt x="194" y="9"/>
                      <a:pt x="199" y="7"/>
                    </a:cubicBezTo>
                    <a:close/>
                  </a:path>
                </a:pathLst>
              </a:custGeom>
              <a:noFill/>
              <a:ln w="19050">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90" name="Freeform 1192"/>
              <p:cNvSpPr/>
              <p:nvPr/>
            </p:nvSpPr>
            <p:spPr bwMode="auto">
              <a:xfrm>
                <a:off x="4258" y="2900"/>
                <a:ext cx="538" cy="593"/>
              </a:xfrm>
              <a:custGeom>
                <a:avLst/>
                <a:gdLst>
                  <a:gd name="T0" fmla="*/ 69 w 802"/>
                  <a:gd name="T1" fmla="*/ 6 h 889"/>
                  <a:gd name="T2" fmla="*/ 51 w 802"/>
                  <a:gd name="T3" fmla="*/ 23 h 889"/>
                  <a:gd name="T4" fmla="*/ 32 w 802"/>
                  <a:gd name="T5" fmla="*/ 39 h 889"/>
                  <a:gd name="T6" fmla="*/ 30 w 802"/>
                  <a:gd name="T7" fmla="*/ 42 h 889"/>
                  <a:gd name="T8" fmla="*/ 27 w 802"/>
                  <a:gd name="T9" fmla="*/ 44 h 889"/>
                  <a:gd name="T10" fmla="*/ 26 w 802"/>
                  <a:gd name="T11" fmla="*/ 47 h 889"/>
                  <a:gd name="T12" fmla="*/ 23 w 802"/>
                  <a:gd name="T13" fmla="*/ 51 h 889"/>
                  <a:gd name="T14" fmla="*/ 18 w 802"/>
                  <a:gd name="T15" fmla="*/ 65 h 889"/>
                  <a:gd name="T16" fmla="*/ 15 w 802"/>
                  <a:gd name="T17" fmla="*/ 69 h 889"/>
                  <a:gd name="T18" fmla="*/ 11 w 802"/>
                  <a:gd name="T19" fmla="*/ 74 h 889"/>
                  <a:gd name="T20" fmla="*/ 6 w 802"/>
                  <a:gd name="T21" fmla="*/ 83 h 889"/>
                  <a:gd name="T22" fmla="*/ 2 w 802"/>
                  <a:gd name="T23" fmla="*/ 93 h 889"/>
                  <a:gd name="T24" fmla="*/ 5 w 802"/>
                  <a:gd name="T25" fmla="*/ 111 h 889"/>
                  <a:gd name="T26" fmla="*/ 11 w 802"/>
                  <a:gd name="T27" fmla="*/ 115 h 889"/>
                  <a:gd name="T28" fmla="*/ 17 w 802"/>
                  <a:gd name="T29" fmla="*/ 117 h 889"/>
                  <a:gd name="T30" fmla="*/ 48 w 802"/>
                  <a:gd name="T31" fmla="*/ 115 h 889"/>
                  <a:gd name="T32" fmla="*/ 70 w 802"/>
                  <a:gd name="T33" fmla="*/ 109 h 889"/>
                  <a:gd name="T34" fmla="*/ 77 w 802"/>
                  <a:gd name="T35" fmla="*/ 105 h 889"/>
                  <a:gd name="T36" fmla="*/ 91 w 802"/>
                  <a:gd name="T37" fmla="*/ 86 h 889"/>
                  <a:gd name="T38" fmla="*/ 95 w 802"/>
                  <a:gd name="T39" fmla="*/ 79 h 889"/>
                  <a:gd name="T40" fmla="*/ 101 w 802"/>
                  <a:gd name="T41" fmla="*/ 70 h 889"/>
                  <a:gd name="T42" fmla="*/ 107 w 802"/>
                  <a:gd name="T43" fmla="*/ 59 h 889"/>
                  <a:gd name="T44" fmla="*/ 109 w 802"/>
                  <a:gd name="T45" fmla="*/ 51 h 889"/>
                  <a:gd name="T46" fmla="*/ 88 w 802"/>
                  <a:gd name="T47" fmla="*/ 0 h 889"/>
                  <a:gd name="T48" fmla="*/ 72 w 802"/>
                  <a:gd name="T49" fmla="*/ 3 h 889"/>
                  <a:gd name="T50" fmla="*/ 69 w 802"/>
                  <a:gd name="T51" fmla="*/ 6 h 88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02"/>
                  <a:gd name="T79" fmla="*/ 0 h 889"/>
                  <a:gd name="T80" fmla="*/ 802 w 802"/>
                  <a:gd name="T81" fmla="*/ 889 h 88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02" h="889">
                    <a:moveTo>
                      <a:pt x="510" y="44"/>
                    </a:moveTo>
                    <a:cubicBezTo>
                      <a:pt x="455" y="80"/>
                      <a:pt x="422" y="133"/>
                      <a:pt x="376" y="177"/>
                    </a:cubicBezTo>
                    <a:cubicBezTo>
                      <a:pt x="346" y="236"/>
                      <a:pt x="298" y="273"/>
                      <a:pt x="236" y="296"/>
                    </a:cubicBezTo>
                    <a:cubicBezTo>
                      <a:pt x="231" y="303"/>
                      <a:pt x="227" y="312"/>
                      <a:pt x="221" y="318"/>
                    </a:cubicBezTo>
                    <a:cubicBezTo>
                      <a:pt x="215" y="324"/>
                      <a:pt x="205" y="326"/>
                      <a:pt x="199" y="333"/>
                    </a:cubicBezTo>
                    <a:cubicBezTo>
                      <a:pt x="194" y="339"/>
                      <a:pt x="195" y="348"/>
                      <a:pt x="191" y="355"/>
                    </a:cubicBezTo>
                    <a:cubicBezTo>
                      <a:pt x="185" y="366"/>
                      <a:pt x="176" y="375"/>
                      <a:pt x="169" y="385"/>
                    </a:cubicBezTo>
                    <a:cubicBezTo>
                      <a:pt x="156" y="422"/>
                      <a:pt x="155" y="463"/>
                      <a:pt x="132" y="496"/>
                    </a:cubicBezTo>
                    <a:cubicBezTo>
                      <a:pt x="126" y="504"/>
                      <a:pt x="116" y="510"/>
                      <a:pt x="110" y="518"/>
                    </a:cubicBezTo>
                    <a:cubicBezTo>
                      <a:pt x="99" y="532"/>
                      <a:pt x="80" y="562"/>
                      <a:pt x="80" y="562"/>
                    </a:cubicBezTo>
                    <a:cubicBezTo>
                      <a:pt x="68" y="602"/>
                      <a:pt x="78" y="578"/>
                      <a:pt x="43" y="629"/>
                    </a:cubicBezTo>
                    <a:cubicBezTo>
                      <a:pt x="28" y="651"/>
                      <a:pt x="22" y="678"/>
                      <a:pt x="13" y="703"/>
                    </a:cubicBezTo>
                    <a:cubicBezTo>
                      <a:pt x="15" y="727"/>
                      <a:pt x="0" y="812"/>
                      <a:pt x="36" y="844"/>
                    </a:cubicBezTo>
                    <a:cubicBezTo>
                      <a:pt x="49" y="856"/>
                      <a:pt x="65" y="864"/>
                      <a:pt x="80" y="874"/>
                    </a:cubicBezTo>
                    <a:cubicBezTo>
                      <a:pt x="93" y="883"/>
                      <a:pt x="124" y="888"/>
                      <a:pt x="124" y="888"/>
                    </a:cubicBezTo>
                    <a:cubicBezTo>
                      <a:pt x="167" y="886"/>
                      <a:pt x="287" y="889"/>
                      <a:pt x="354" y="874"/>
                    </a:cubicBezTo>
                    <a:cubicBezTo>
                      <a:pt x="410" y="861"/>
                      <a:pt x="461" y="835"/>
                      <a:pt x="517" y="822"/>
                    </a:cubicBezTo>
                    <a:cubicBezTo>
                      <a:pt x="534" y="811"/>
                      <a:pt x="553" y="804"/>
                      <a:pt x="569" y="792"/>
                    </a:cubicBezTo>
                    <a:cubicBezTo>
                      <a:pt x="613" y="757"/>
                      <a:pt x="651" y="702"/>
                      <a:pt x="673" y="651"/>
                    </a:cubicBezTo>
                    <a:cubicBezTo>
                      <a:pt x="680" y="634"/>
                      <a:pt x="685" y="615"/>
                      <a:pt x="695" y="600"/>
                    </a:cubicBezTo>
                    <a:cubicBezTo>
                      <a:pt x="711" y="577"/>
                      <a:pt x="747" y="533"/>
                      <a:pt x="747" y="533"/>
                    </a:cubicBezTo>
                    <a:cubicBezTo>
                      <a:pt x="756" y="504"/>
                      <a:pt x="784" y="451"/>
                      <a:pt x="784" y="451"/>
                    </a:cubicBezTo>
                    <a:cubicBezTo>
                      <a:pt x="787" y="439"/>
                      <a:pt x="798" y="395"/>
                      <a:pt x="798" y="385"/>
                    </a:cubicBezTo>
                    <a:cubicBezTo>
                      <a:pt x="798" y="264"/>
                      <a:pt x="802" y="46"/>
                      <a:pt x="650" y="0"/>
                    </a:cubicBezTo>
                    <a:cubicBezTo>
                      <a:pt x="598" y="5"/>
                      <a:pt x="575" y="6"/>
                      <a:pt x="532" y="22"/>
                    </a:cubicBezTo>
                    <a:cubicBezTo>
                      <a:pt x="516" y="46"/>
                      <a:pt x="526" y="44"/>
                      <a:pt x="510" y="44"/>
                    </a:cubicBezTo>
                    <a:close/>
                  </a:path>
                </a:pathLst>
              </a:custGeom>
              <a:noFill/>
              <a:ln w="19050">
                <a:solidFill>
                  <a:sysClr val="windowText" lastClr="000000"/>
                </a:solidFill>
                <a:round/>
              </a:ln>
              <a:extLst>
                <a:ext uri="{909E8E84-426E-40DD-AFC4-6F175D3DCCD1}">
                  <a14:hiddenFill xmlns:a14="http://schemas.microsoft.com/office/drawing/2010/main">
                    <a:solidFill>
                      <a:srgbClr val="FFFFFF"/>
                    </a:solidFill>
                  </a14:hiddenFill>
                </a:ext>
              </a:extLst>
            </p:spPr>
            <p:txBody>
              <a:bodyPr wrap="none" anchor="ctr">
                <a:spAutoFit/>
              </a:bodyP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91" name="AutoShape 1193"/>
              <p:cNvSpPr>
                <a:spLocks noChangeArrowheads="1"/>
              </p:cNvSpPr>
              <p:nvPr/>
            </p:nvSpPr>
            <p:spPr bwMode="auto">
              <a:xfrm>
                <a:off x="4080" y="2880"/>
                <a:ext cx="48" cy="96"/>
              </a:xfrm>
              <a:prstGeom prst="plus">
                <a:avLst>
                  <a:gd name="adj" fmla="val 25000"/>
                </a:avLst>
              </a:prstGeom>
              <a:solidFill>
                <a:srgbClr val="2DA2BF"/>
              </a:solidFill>
              <a:ln w="9525">
                <a:solidFill>
                  <a:sysClr val="windowText" lastClr="000000"/>
                </a:solidFill>
                <a:miter lim="800000"/>
              </a:ln>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92" name="AutoShape 1194"/>
              <p:cNvSpPr>
                <a:spLocks noChangeArrowheads="1"/>
              </p:cNvSpPr>
              <p:nvPr/>
            </p:nvSpPr>
            <p:spPr bwMode="auto">
              <a:xfrm>
                <a:off x="4560" y="3168"/>
                <a:ext cx="48" cy="96"/>
              </a:xfrm>
              <a:prstGeom prst="plus">
                <a:avLst>
                  <a:gd name="adj" fmla="val 25000"/>
                </a:avLst>
              </a:prstGeom>
              <a:solidFill>
                <a:srgbClr val="2DA2BF"/>
              </a:solidFill>
              <a:ln w="9525">
                <a:solidFill>
                  <a:sysClr val="windowText" lastClr="000000"/>
                </a:solidFill>
                <a:miter lim="800000"/>
              </a:ln>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grpSp>
        <p:sp>
          <p:nvSpPr>
            <p:cNvPr id="7" name="Line 1195"/>
            <p:cNvSpPr>
              <a:spLocks noChangeShapeType="1"/>
            </p:cNvSpPr>
            <p:nvPr/>
          </p:nvSpPr>
          <p:spPr bwMode="auto">
            <a:xfrm>
              <a:off x="2784" y="3648"/>
              <a:ext cx="528" cy="0"/>
            </a:xfrm>
            <a:prstGeom prst="line">
              <a:avLst/>
            </a:prstGeom>
            <a:noFill/>
            <a:ln w="9525">
              <a:solidFill>
                <a:sysClr val="windowText" lastClr="000000"/>
              </a:solidFill>
              <a:miter lim="800000"/>
              <a:tailEnd type="triangle" w="med" len="med"/>
            </a:ln>
            <a:extLst>
              <a:ext uri="{909E8E84-426E-40DD-AFC4-6F175D3DCCD1}">
                <a14:hiddenFill xmlns:a14="http://schemas.microsoft.com/office/drawing/2010/main">
                  <a:noFill/>
                </a14:hiddenFill>
              </a:ext>
            </a:extLst>
          </p:spPr>
          <p:txBody>
            <a:bodyPr wrap="none"/>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468016" y="116632"/>
            <a:ext cx="8496944"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0070C0"/>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K-Medoids</a:t>
            </a:r>
            <a:endParaRPr lang="en-US" altLang="zh-CN" sz="32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a:xfrm>
            <a:off x="322610" y="1052736"/>
            <a:ext cx="8642350" cy="5112568"/>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30000"/>
              </a:lnSpc>
              <a:spcBef>
                <a:spcPts val="600"/>
              </a:spcBef>
              <a:buFont typeface="Wingdings" panose="05000000000000000000" pitchFamily="2" charset="2"/>
              <a:buChar char="n"/>
              <a:defRPr/>
            </a:pPr>
            <a:r>
              <a:rPr lang="en-US" altLang="ko-KR" sz="2800" b="0" kern="0" dirty="0">
                <a:solidFill>
                  <a:srgbClr val="FF0000"/>
                </a:solidFill>
                <a:effectLst>
                  <a:outerShdw blurRad="38100" dist="38100" dir="2700000" algn="tl">
                    <a:srgbClr val="C0C0C0"/>
                  </a:outerShdw>
                </a:effectLst>
                <a:latin typeface="Calibri" panose="020F0502020204030204" pitchFamily="34" charset="0"/>
                <a:ea typeface="Gulim" panose="020B0600000101010101" pitchFamily="34" charset="-127"/>
                <a:cs typeface="Calibri" panose="020F0502020204030204" pitchFamily="34" charset="0"/>
              </a:rPr>
              <a:t>K-Medoids</a:t>
            </a: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基本思想：</a:t>
            </a:r>
            <a:endPar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3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首先为每个簇随意选择一个代表对象; 剩余的对象根据其与代表对象的距离分配给最近的一个簇</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3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然后反复地用非代表对象来替代代表对象, 以改进聚类的质量</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3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聚类结果的质量用一个代价函数来估算, 该函数评估了对象与其参照对象之间的平均相异度</a:t>
            </a:r>
            <a:endParaRPr lang="en-US" altLang="zh-CN"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30000"/>
              </a:lnSpc>
              <a:spcBef>
                <a:spcPts val="600"/>
              </a:spcBef>
              <a:defRPr/>
            </a:pPr>
            <a:r>
              <a:rPr lang="en-US" altLang="ko-KR" b="0" kern="0" dirty="0">
                <a:solidFill>
                  <a:srgbClr val="FF0000"/>
                </a:solidFill>
                <a:effectLst>
                  <a:outerShdw blurRad="38100" dist="38100" dir="2700000" algn="tl">
                    <a:srgbClr val="C0C0C0"/>
                  </a:outerShdw>
                </a:effectLst>
                <a:latin typeface="Calibri" panose="020F0502020204030204" pitchFamily="34" charset="0"/>
                <a:ea typeface="Gulim" panose="020B0600000101010101" pitchFamily="34" charset="-127"/>
                <a:cs typeface="Calibri" panose="020F0502020204030204" pitchFamily="34" charset="0"/>
              </a:rPr>
              <a:t>PAM (Partitioning Around Medoids) </a:t>
            </a:r>
            <a:r>
              <a:rPr lang="en-US" altLang="ko-KR" sz="2400" b="0" kern="0" dirty="0">
                <a:solidFill>
                  <a:srgbClr val="0070C0"/>
                </a:solidFill>
                <a:latin typeface="Calibri" panose="020F0502020204030204" pitchFamily="34" charset="0"/>
                <a:cs typeface="Calibri" panose="020F0502020204030204" pitchFamily="34" charset="0"/>
              </a:rPr>
              <a:t>(Kaufman and </a:t>
            </a:r>
            <a:r>
              <a:rPr lang="en-US" altLang="ko-KR" sz="2400" b="0" kern="0" dirty="0" err="1">
                <a:solidFill>
                  <a:srgbClr val="0070C0"/>
                </a:solidFill>
                <a:latin typeface="Calibri" panose="020F0502020204030204" pitchFamily="34" charset="0"/>
                <a:cs typeface="Calibri" panose="020F0502020204030204" pitchFamily="34" charset="0"/>
              </a:rPr>
              <a:t>Rousseeuw</a:t>
            </a:r>
            <a:r>
              <a:rPr lang="en-US" altLang="ko-KR" sz="2400" b="0" kern="0" dirty="0">
                <a:solidFill>
                  <a:srgbClr val="0070C0"/>
                </a:solidFill>
                <a:latin typeface="Calibri" panose="020F0502020204030204" pitchFamily="34" charset="0"/>
                <a:cs typeface="Calibri" panose="020F0502020204030204" pitchFamily="34" charset="0"/>
              </a:rPr>
              <a:t>, 1987)</a:t>
            </a:r>
            <a:endParaRPr lang="en-US" altLang="ko-KR" sz="2400" b="0" kern="0" dirty="0">
              <a:solidFill>
                <a:srgbClr val="0070C0"/>
              </a:solidFill>
              <a:latin typeface="Calibri" panose="020F0502020204030204" pitchFamily="34" charset="0"/>
              <a:cs typeface="Calibri" panose="020F0502020204030204" pitchFamily="34" charset="0"/>
            </a:endParaRPr>
          </a:p>
          <a:p>
            <a:pPr lvl="1" eaLnBrk="1" hangingPunct="1">
              <a:lnSpc>
                <a:spcPct val="120000"/>
              </a:lnSpc>
              <a:spcBef>
                <a:spcPts val="3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最早提出的</a:t>
            </a:r>
            <a:r>
              <a:rPr lang="en-US" altLang="zh-CN" sz="2400" b="0" kern="0" dirty="0">
                <a:solidFill>
                  <a:srgbClr val="0070C0"/>
                </a:solidFill>
                <a:latin typeface="Calibri" panose="020F0502020204030204" pitchFamily="34" charset="0"/>
                <a:cs typeface="Calibri" panose="020F0502020204030204" pitchFamily="34" charset="0"/>
              </a:rPr>
              <a:t>K-Medoids</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聚类算法</a:t>
            </a:r>
            <a:endParaRPr lang="en-US" altLang="ko-KR"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300"/>
              </a:spcBef>
              <a:buFont typeface="Wingdings" panose="05000000000000000000" pitchFamily="2" charset="2"/>
              <a:buChar char="ü"/>
              <a:defRPr/>
            </a:pPr>
            <a:endParaRPr lang="zh-CN" altLang="en-US" sz="2400" b="0" kern="0" dirty="0"/>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PAM: A Typical K-Medoids Algorithm</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161925" y="1052736"/>
            <a:ext cx="8820150" cy="5160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69900" indent="-46990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952500" indent="-5143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835025">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eaLnBrk="1" hangingPunct="1">
              <a:lnSpc>
                <a:spcPct val="130000"/>
              </a:lnSpc>
              <a:spcBef>
                <a:spcPts val="600"/>
              </a:spcBef>
              <a:buClrTx/>
              <a:buFont typeface="Wingdings" panose="05000000000000000000" pitchFamily="2" charset="2"/>
              <a:buChar char="n"/>
              <a:defRPr/>
            </a:pPr>
            <a:r>
              <a:rPr lang="en-US" altLang="ko-KR" sz="2800" dirty="0">
                <a:solidFill>
                  <a:srgbClr val="FF0000"/>
                </a:solidFill>
                <a:effectLst>
                  <a:outerShdw blurRad="38100" dist="38100" dir="2700000" algn="tl">
                    <a:srgbClr val="C0C0C0"/>
                  </a:outerShdw>
                </a:effectLst>
                <a:latin typeface="Calibri" panose="020F0502020204030204" pitchFamily="34" charset="0"/>
                <a:ea typeface="Gulim" panose="020B0600000101010101" pitchFamily="34" charset="-127"/>
                <a:cs typeface="Calibri" panose="020F0502020204030204" pitchFamily="34" charset="0"/>
              </a:rPr>
              <a:t>PAM</a:t>
            </a: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算法</a:t>
            </a:r>
            <a:endPar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30000"/>
              </a:lnSpc>
              <a:spcBef>
                <a:spcPts val="600"/>
              </a:spcBef>
              <a:buClrTx/>
              <a:buFont typeface="黑体" panose="02010609060101010101" pitchFamily="49" charset="-122"/>
              <a:buAutoNum type="circleNumDbPlain"/>
              <a:defRPr/>
            </a:pP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随机选择 </a:t>
            </a:r>
            <a:r>
              <a:rPr lang="en-US" altLang="zh-CN" sz="2400" b="0" i="1" dirty="0">
                <a:solidFill>
                  <a:srgbClr val="0000FF"/>
                </a:solidFill>
                <a:effectLst>
                  <a:outerShdw blurRad="38100" dist="38100" dir="2700000" algn="tl">
                    <a:srgbClr val="C0C0C0"/>
                  </a:outerShdw>
                </a:effectLst>
                <a:latin typeface="黑体" panose="02010609060101010101" pitchFamily="49" charset="-122"/>
                <a:ea typeface="Gulim" panose="020B0600000101010101" pitchFamily="34" charset="-127"/>
                <a:cs typeface="Calibri" panose="020F0502020204030204" pitchFamily="34" charset="0"/>
              </a:rPr>
              <a:t>k</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个对象作为初始的代表对象；</a:t>
            </a:r>
            <a:endPar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30000"/>
              </a:lnSpc>
              <a:spcBef>
                <a:spcPts val="600"/>
              </a:spcBef>
              <a:buClrTx/>
              <a:buFont typeface="黑体" panose="02010609060101010101" pitchFamily="49" charset="-122"/>
              <a:buAutoNum type="circleNumDbPlain"/>
              <a:defRPr/>
            </a:pPr>
            <a:r>
              <a:rPr lang="en-US" altLang="zh-CN" sz="2400" b="0" dirty="0">
                <a:solidFill>
                  <a:srgbClr val="0070C0"/>
                </a:solidFill>
                <a:latin typeface="Calibri" panose="020F0502020204030204" pitchFamily="34" charset="0"/>
                <a:ea typeface="Gulim" panose="020B0600000101010101" pitchFamily="34" charset="-127"/>
                <a:cs typeface="Calibri" panose="020F0502020204030204" pitchFamily="34" charset="0"/>
              </a:rPr>
              <a:t>repeat</a:t>
            </a:r>
            <a:endParaRPr lang="en-US" altLang="zh-CN" sz="2400" b="0" dirty="0">
              <a:solidFill>
                <a:srgbClr val="0070C0"/>
              </a:solidFill>
              <a:latin typeface="Calibri" panose="020F0502020204030204" pitchFamily="34" charset="0"/>
              <a:ea typeface="Gulim" panose="020B0600000101010101" pitchFamily="34" charset="-127"/>
              <a:cs typeface="Calibri" panose="020F0502020204030204" pitchFamily="34" charset="0"/>
            </a:endParaRPr>
          </a:p>
          <a:p>
            <a:pPr lvl="2" algn="just" eaLnBrk="1" hangingPunct="1">
              <a:lnSpc>
                <a:spcPct val="120000"/>
              </a:lnSpc>
              <a:spcBef>
                <a:spcPts val="600"/>
              </a:spcBef>
              <a:buFont typeface="Wingdings" panose="05000000000000000000" pitchFamily="2" charset="2"/>
              <a:buNone/>
              <a:defRPr/>
            </a:pPr>
            <a:r>
              <a:rPr lang="zh-CN" altLang="en-US" sz="2400" b="0" dirty="0">
                <a:latin typeface="黑体" panose="02010609060101010101" pitchFamily="49" charset="-122"/>
                <a:ea typeface="Gulim" panose="020B0600000101010101" pitchFamily="34" charset="-127"/>
                <a:cs typeface="Calibri" panose="020F0502020204030204" pitchFamily="34" charset="0"/>
              </a:rPr>
              <a:t> </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指派每个剩余的对象给离它最近的代表对象所代表的簇；</a:t>
            </a:r>
            <a:endPar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2" algn="just" eaLnBrk="1" hangingPunct="1">
              <a:lnSpc>
                <a:spcPct val="120000"/>
              </a:lnSpc>
              <a:spcBef>
                <a:spcPts val="600"/>
              </a:spcBef>
              <a:buFont typeface="Wingdings" panose="05000000000000000000" pitchFamily="2" charset="2"/>
              <a:buNone/>
              <a:defRPr/>
            </a:pP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 随意地选择一个非代表对象</a:t>
            </a:r>
            <a:r>
              <a:rPr lang="en-US" altLang="zh-CN" sz="2400" b="0" i="1" dirty="0" err="1">
                <a:solidFill>
                  <a:srgbClr val="0000FF"/>
                </a:solidFill>
                <a:effectLst>
                  <a:outerShdw blurRad="38100" dist="38100" dir="2700000" algn="tl">
                    <a:srgbClr val="C0C0C0"/>
                  </a:outerShdw>
                </a:effectLst>
                <a:latin typeface="黑体" panose="02010609060101010101" pitchFamily="49" charset="-122"/>
                <a:ea typeface="Gulim" panose="020B0600000101010101" pitchFamily="34" charset="-127"/>
                <a:cs typeface="Calibri" panose="020F0502020204030204" pitchFamily="34" charset="0"/>
              </a:rPr>
              <a:t>O</a:t>
            </a:r>
            <a:r>
              <a:rPr lang="en-US" altLang="zh-CN" sz="2400" b="0" i="1" baseline="-25000" dirty="0" err="1">
                <a:solidFill>
                  <a:srgbClr val="0000FF"/>
                </a:solidFill>
                <a:effectLst>
                  <a:outerShdw blurRad="38100" dist="38100" dir="2700000" algn="tl">
                    <a:srgbClr val="C0C0C0"/>
                  </a:outerShdw>
                </a:effectLst>
                <a:latin typeface="黑体" panose="02010609060101010101" pitchFamily="49" charset="-122"/>
                <a:ea typeface="Gulim" panose="020B0600000101010101" pitchFamily="34" charset="-127"/>
                <a:cs typeface="Calibri" panose="020F0502020204030204" pitchFamily="34" charset="0"/>
              </a:rPr>
              <a:t>random</a:t>
            </a:r>
            <a:r>
              <a:rPr lang="en-US" altLang="zh-CN" sz="2400" b="0" dirty="0">
                <a:latin typeface="黑体" panose="02010609060101010101" pitchFamily="49" charset="-122"/>
                <a:ea typeface="Gulim" panose="020B0600000101010101" pitchFamily="34" charset="-127"/>
                <a:cs typeface="Calibri" panose="020F0502020204030204" pitchFamily="34" charset="0"/>
              </a:rPr>
              <a:t>；</a:t>
            </a:r>
            <a:endParaRPr lang="en-US" altLang="zh-CN" sz="2400" b="0" dirty="0">
              <a:latin typeface="黑体" panose="02010609060101010101" pitchFamily="49" charset="-122"/>
              <a:ea typeface="Gulim" panose="020B0600000101010101" pitchFamily="34" charset="-127"/>
              <a:cs typeface="Calibri" panose="020F0502020204030204" pitchFamily="34" charset="0"/>
            </a:endParaRPr>
          </a:p>
          <a:p>
            <a:pPr lvl="1" algn="just" eaLnBrk="1" hangingPunct="1">
              <a:lnSpc>
                <a:spcPct val="120000"/>
              </a:lnSpc>
              <a:spcBef>
                <a:spcPts val="600"/>
              </a:spcBef>
              <a:buFont typeface="Wingdings" panose="05000000000000000000" pitchFamily="2" charset="2"/>
              <a:buNone/>
              <a:defRPr/>
            </a:pPr>
            <a:r>
              <a:rPr lang="en-US" altLang="zh-CN" sz="2400" b="0" dirty="0">
                <a:latin typeface="黑体" panose="02010609060101010101" pitchFamily="49" charset="-122"/>
                <a:ea typeface="Gulim" panose="020B0600000101010101" pitchFamily="34" charset="-127"/>
                <a:cs typeface="Calibri" panose="020F0502020204030204" pitchFamily="34" charset="0"/>
              </a:rPr>
              <a:t>	</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计算用</a:t>
            </a:r>
            <a:r>
              <a:rPr lang="en-US" altLang="zh-CN" sz="2400" b="0" i="1" dirty="0" err="1">
                <a:solidFill>
                  <a:srgbClr val="0000FF"/>
                </a:solidFill>
                <a:effectLst>
                  <a:outerShdw blurRad="38100" dist="38100" dir="2700000" algn="tl">
                    <a:srgbClr val="C0C0C0"/>
                  </a:outerShdw>
                </a:effectLst>
                <a:latin typeface="黑体" panose="02010609060101010101" pitchFamily="49" charset="-122"/>
                <a:ea typeface="Gulim" panose="020B0600000101010101" pitchFamily="34" charset="-127"/>
                <a:cs typeface="Calibri" panose="020F0502020204030204" pitchFamily="34" charset="0"/>
              </a:rPr>
              <a:t>O</a:t>
            </a:r>
            <a:r>
              <a:rPr lang="en-US" altLang="zh-CN" sz="2400" b="0" i="1" baseline="-30000" dirty="0" err="1">
                <a:solidFill>
                  <a:srgbClr val="0000FF"/>
                </a:solidFill>
                <a:effectLst>
                  <a:outerShdw blurRad="38100" dist="38100" dir="2700000" algn="tl">
                    <a:srgbClr val="C0C0C0"/>
                  </a:outerShdw>
                </a:effectLst>
                <a:latin typeface="黑体" panose="02010609060101010101" pitchFamily="49" charset="-122"/>
                <a:ea typeface="Gulim" panose="020B0600000101010101" pitchFamily="34" charset="-127"/>
                <a:cs typeface="Calibri" panose="020F0502020204030204" pitchFamily="34" charset="0"/>
              </a:rPr>
              <a:t>random</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代替</a:t>
            </a:r>
            <a:r>
              <a:rPr lang="en-US" altLang="zh-CN" sz="2400" b="0" i="1" dirty="0" err="1">
                <a:solidFill>
                  <a:srgbClr val="0000FF"/>
                </a:solidFill>
                <a:effectLst>
                  <a:outerShdw blurRad="38100" dist="38100" dir="2700000" algn="tl">
                    <a:srgbClr val="C0C0C0"/>
                  </a:outerShdw>
                </a:effectLst>
                <a:latin typeface="黑体" panose="02010609060101010101" pitchFamily="49" charset="-122"/>
                <a:ea typeface="Gulim" panose="020B0600000101010101" pitchFamily="34" charset="-127"/>
                <a:cs typeface="Calibri" panose="020F0502020204030204" pitchFamily="34" charset="0"/>
              </a:rPr>
              <a:t>O</a:t>
            </a:r>
            <a:r>
              <a:rPr lang="en-US" altLang="zh-CN" sz="2400" b="0" i="1" baseline="-30000" dirty="0" err="1">
                <a:solidFill>
                  <a:srgbClr val="0000FF"/>
                </a:solidFill>
                <a:effectLst>
                  <a:outerShdw blurRad="38100" dist="38100" dir="2700000" algn="tl">
                    <a:srgbClr val="C0C0C0"/>
                  </a:outerShdw>
                </a:effectLst>
                <a:latin typeface="黑体" panose="02010609060101010101" pitchFamily="49" charset="-122"/>
                <a:ea typeface="Gulim" panose="020B0600000101010101" pitchFamily="34" charset="-127"/>
                <a:cs typeface="Calibri" panose="020F0502020204030204" pitchFamily="34" charset="0"/>
              </a:rPr>
              <a:t>j</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的总代价</a:t>
            </a:r>
            <a:r>
              <a:rPr lang="en-US" altLang="zh-CN" sz="2400" b="0" i="1" dirty="0">
                <a:solidFill>
                  <a:srgbClr val="0000FF"/>
                </a:solidFill>
                <a:effectLst>
                  <a:outerShdw blurRad="38100" dist="38100" dir="2700000" algn="tl">
                    <a:srgbClr val="C0C0C0"/>
                  </a:outerShdw>
                </a:effectLst>
                <a:latin typeface="黑体" panose="02010609060101010101" pitchFamily="49" charset="-122"/>
                <a:ea typeface="Gulim" panose="020B0600000101010101" pitchFamily="34" charset="-127"/>
                <a:cs typeface="Calibri" panose="020F0502020204030204" pitchFamily="34" charset="0"/>
              </a:rPr>
              <a:t>S</a:t>
            </a:r>
            <a:r>
              <a:rPr lang="en-US" altLang="zh-CN" sz="2400" b="0" dirty="0">
                <a:latin typeface="黑体" panose="02010609060101010101" pitchFamily="49" charset="-122"/>
                <a:ea typeface="Gulim" panose="020B0600000101010101" pitchFamily="34" charset="-127"/>
                <a:cs typeface="Calibri" panose="020F0502020204030204" pitchFamily="34" charset="0"/>
              </a:rPr>
              <a:t>；</a:t>
            </a:r>
            <a:endParaRPr lang="en-US" altLang="zh-CN" sz="2400" b="0" dirty="0">
              <a:latin typeface="黑体" panose="02010609060101010101" pitchFamily="49" charset="-122"/>
              <a:ea typeface="Gulim" panose="020B0600000101010101" pitchFamily="34" charset="-127"/>
              <a:cs typeface="Calibri" panose="020F0502020204030204" pitchFamily="34" charset="0"/>
            </a:endParaRPr>
          </a:p>
          <a:p>
            <a:pPr lvl="1" algn="just" eaLnBrk="1" hangingPunct="1">
              <a:lnSpc>
                <a:spcPct val="120000"/>
              </a:lnSpc>
              <a:spcBef>
                <a:spcPts val="600"/>
              </a:spcBef>
              <a:buFont typeface="Wingdings" panose="05000000000000000000" pitchFamily="2" charset="2"/>
              <a:buNone/>
              <a:defRPr/>
            </a:pPr>
            <a:r>
              <a:rPr lang="en-US" altLang="zh-CN" sz="2400" b="0" dirty="0">
                <a:latin typeface="黑体" panose="02010609060101010101" pitchFamily="49" charset="-122"/>
                <a:ea typeface="Gulim" panose="020B0600000101010101" pitchFamily="34" charset="-127"/>
                <a:cs typeface="Calibri" panose="020F0502020204030204" pitchFamily="34" charset="0"/>
              </a:rPr>
              <a:t>       </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如果</a:t>
            </a:r>
            <a:r>
              <a:rPr lang="en-US" altLang="zh-CN" sz="2400" b="0" i="1" dirty="0">
                <a:solidFill>
                  <a:srgbClr val="0000FF"/>
                </a:solidFill>
                <a:effectLst>
                  <a:outerShdw blurRad="38100" dist="38100" dir="2700000" algn="tl">
                    <a:srgbClr val="C0C0C0"/>
                  </a:outerShdw>
                </a:effectLst>
                <a:latin typeface="黑体" panose="02010609060101010101" pitchFamily="49" charset="-122"/>
                <a:ea typeface="Gulim" panose="020B0600000101010101" pitchFamily="34" charset="-127"/>
                <a:cs typeface="Calibri" panose="020F0502020204030204" pitchFamily="34" charset="0"/>
              </a:rPr>
              <a:t>S</a:t>
            </a:r>
            <a:r>
              <a:rPr lang="en-US" altLang="zh-CN" sz="2400" b="0" dirty="0">
                <a:solidFill>
                  <a:srgbClr val="0000FF"/>
                </a:solidFill>
                <a:effectLst>
                  <a:outerShdw blurRad="38100" dist="38100" dir="2700000" algn="tl">
                    <a:srgbClr val="C0C0C0"/>
                  </a:outerShdw>
                </a:effectLst>
                <a:latin typeface="黑体" panose="02010609060101010101" pitchFamily="49" charset="-122"/>
                <a:ea typeface="Gulim" panose="020B0600000101010101" pitchFamily="34" charset="-127"/>
                <a:cs typeface="Calibri" panose="020F0502020204030204" pitchFamily="34" charset="0"/>
              </a:rPr>
              <a:t>&lt;0</a:t>
            </a:r>
            <a:r>
              <a:rPr lang="en-US" altLang="zh-CN"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用</a:t>
            </a:r>
            <a:r>
              <a:rPr lang="en-US" altLang="zh-CN" sz="2400" b="0" i="1" dirty="0" err="1">
                <a:solidFill>
                  <a:srgbClr val="0000FF"/>
                </a:solidFill>
                <a:effectLst>
                  <a:outerShdw blurRad="38100" dist="38100" dir="2700000" algn="tl">
                    <a:srgbClr val="C0C0C0"/>
                  </a:outerShdw>
                </a:effectLst>
                <a:latin typeface="黑体" panose="02010609060101010101" pitchFamily="49" charset="-122"/>
                <a:ea typeface="Gulim" panose="020B0600000101010101" pitchFamily="34" charset="-127"/>
                <a:cs typeface="Calibri" panose="020F0502020204030204" pitchFamily="34" charset="0"/>
              </a:rPr>
              <a:t>O</a:t>
            </a:r>
            <a:r>
              <a:rPr lang="en-US" altLang="zh-CN" sz="2400" b="0" i="1" baseline="-30000" dirty="0" err="1">
                <a:solidFill>
                  <a:srgbClr val="0000FF"/>
                </a:solidFill>
                <a:effectLst>
                  <a:outerShdw blurRad="38100" dist="38100" dir="2700000" algn="tl">
                    <a:srgbClr val="C0C0C0"/>
                  </a:outerShdw>
                </a:effectLst>
                <a:latin typeface="黑体" panose="02010609060101010101" pitchFamily="49" charset="-122"/>
                <a:ea typeface="Gulim" panose="020B0600000101010101" pitchFamily="34" charset="-127"/>
                <a:cs typeface="Calibri" panose="020F0502020204030204" pitchFamily="34" charset="0"/>
              </a:rPr>
              <a:t>random</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替换</a:t>
            </a:r>
            <a:r>
              <a:rPr lang="en-US" altLang="zh-CN" sz="2400" b="0" i="1" dirty="0" err="1">
                <a:solidFill>
                  <a:srgbClr val="0000FF"/>
                </a:solidFill>
                <a:effectLst>
                  <a:outerShdw blurRad="38100" dist="38100" dir="2700000" algn="tl">
                    <a:srgbClr val="C0C0C0"/>
                  </a:outerShdw>
                </a:effectLst>
                <a:latin typeface="黑体" panose="02010609060101010101" pitchFamily="49" charset="-122"/>
                <a:ea typeface="Gulim" panose="020B0600000101010101" pitchFamily="34" charset="-127"/>
                <a:cs typeface="Calibri" panose="020F0502020204030204" pitchFamily="34" charset="0"/>
              </a:rPr>
              <a:t>O</a:t>
            </a:r>
            <a:r>
              <a:rPr lang="en-US" altLang="zh-CN" sz="2400" b="0" i="1" baseline="-30000" dirty="0" err="1">
                <a:solidFill>
                  <a:srgbClr val="0000FF"/>
                </a:solidFill>
                <a:effectLst>
                  <a:outerShdw blurRad="38100" dist="38100" dir="2700000" algn="tl">
                    <a:srgbClr val="C0C0C0"/>
                  </a:outerShdw>
                </a:effectLst>
                <a:latin typeface="黑体" panose="02010609060101010101" pitchFamily="49" charset="-122"/>
                <a:ea typeface="Gulim" panose="020B0600000101010101" pitchFamily="34" charset="-127"/>
                <a:cs typeface="Calibri" panose="020F0502020204030204" pitchFamily="34" charset="0"/>
              </a:rPr>
              <a:t>j</a:t>
            </a:r>
            <a:r>
              <a:rPr lang="en-US" altLang="zh-CN"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形成新</a:t>
            </a:r>
            <a:r>
              <a:rPr lang="en-US" altLang="zh-CN" sz="2400" b="0" i="1" dirty="0">
                <a:solidFill>
                  <a:srgbClr val="0000FF"/>
                </a:solidFill>
                <a:effectLst>
                  <a:outerShdw blurRad="38100" dist="38100" dir="2700000" algn="tl">
                    <a:srgbClr val="C0C0C0"/>
                  </a:outerShdw>
                </a:effectLst>
                <a:latin typeface="黑体" panose="02010609060101010101" pitchFamily="49" charset="-122"/>
                <a:ea typeface="Gulim" panose="020B0600000101010101" pitchFamily="34" charset="-127"/>
                <a:cs typeface="Calibri" panose="020F0502020204030204" pitchFamily="34" charset="0"/>
              </a:rPr>
              <a:t>k</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个代表对象的集合；</a:t>
            </a:r>
            <a:endPar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30000"/>
              </a:lnSpc>
              <a:spcBef>
                <a:spcPts val="600"/>
              </a:spcBef>
              <a:buClrTx/>
              <a:buFont typeface="黑体" panose="02010609060101010101" pitchFamily="49" charset="-122"/>
              <a:buAutoNum type="circleNumDbPlain" startAt="3"/>
              <a:defRPr/>
            </a:pPr>
            <a:r>
              <a:rPr lang="en-US" altLang="zh-CN" sz="2400" b="0" dirty="0">
                <a:solidFill>
                  <a:srgbClr val="0070C0"/>
                </a:solidFill>
                <a:latin typeface="Calibri" panose="020F0502020204030204" pitchFamily="34" charset="0"/>
                <a:ea typeface="Gulim" panose="020B0600000101010101" pitchFamily="34" charset="-127"/>
                <a:cs typeface="Calibri" panose="020F0502020204030204" pitchFamily="34" charset="0"/>
              </a:rPr>
              <a:t>until </a:t>
            </a:r>
            <a:r>
              <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不发生变化</a:t>
            </a:r>
            <a:endParaRPr lang="zh-CN" altLang="en-US" sz="24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PAM: A Typical K-Medoids Algorithm</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grpSp>
        <p:nvGrpSpPr>
          <p:cNvPr id="4" name="Group 2051"/>
          <p:cNvGrpSpPr/>
          <p:nvPr/>
        </p:nvGrpSpPr>
        <p:grpSpPr bwMode="auto">
          <a:xfrm>
            <a:off x="6641659" y="1066800"/>
            <a:ext cx="2514600" cy="2362200"/>
            <a:chOff x="912" y="864"/>
            <a:chExt cx="1584" cy="1488"/>
          </a:xfrm>
        </p:grpSpPr>
        <p:graphicFrame>
          <p:nvGraphicFramePr>
            <p:cNvPr id="5" name="Object 2052"/>
            <p:cNvGraphicFramePr>
              <a:graphicFrameLocks noChangeAspect="1"/>
            </p:cNvGraphicFramePr>
            <p:nvPr/>
          </p:nvGraphicFramePr>
          <p:xfrm>
            <a:off x="912" y="864"/>
            <a:ext cx="1584" cy="1488"/>
          </p:xfrm>
          <a:graphic>
            <a:graphicData uri="http://schemas.openxmlformats.org/presentationml/2006/ole">
              <mc:AlternateContent xmlns:mc="http://schemas.openxmlformats.org/markup-compatibility/2006">
                <mc:Choice xmlns:v="urn:schemas-microsoft-com:vml" Requires="v">
                  <p:oleObj spid="_x0000_s30726" name="Worksheet" r:id="rId1" imgW="2618740" imgH="2472055" progId="Excel.Sheet.8">
                    <p:embed/>
                  </p:oleObj>
                </mc:Choice>
                <mc:Fallback>
                  <p:oleObj name="Worksheet" r:id="rId1" imgW="2618740" imgH="2472055" progId="Excel.Sheet.8">
                    <p:embed/>
                    <p:pic>
                      <p:nvPicPr>
                        <p:cNvPr id="0" name="Object 20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 y="864"/>
                          <a:ext cx="1584" cy="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Line 2053"/>
            <p:cNvSpPr>
              <a:spLocks noChangeShapeType="1"/>
            </p:cNvSpPr>
            <p:nvPr/>
          </p:nvSpPr>
          <p:spPr bwMode="auto">
            <a:xfrm>
              <a:off x="1982" y="1502"/>
              <a:ext cx="0" cy="12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spAutoFit/>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7" name="Oval 2054"/>
            <p:cNvSpPr>
              <a:spLocks noChangeArrowheads="1"/>
            </p:cNvSpPr>
            <p:nvPr/>
          </p:nvSpPr>
          <p:spPr bwMode="auto">
            <a:xfrm>
              <a:off x="1387" y="1253"/>
              <a:ext cx="164" cy="327"/>
            </a:xfrm>
            <a:prstGeom prst="ellipse">
              <a:avLst/>
            </a:prstGeom>
            <a:noFill/>
            <a:ln w="9525">
              <a:solidFill>
                <a:srgbClr val="000000"/>
              </a:solidFill>
              <a:prstDash val="lgDashDot"/>
              <a:round/>
            </a:ln>
            <a:extLst>
              <a:ext uri="{909E8E84-426E-40DD-AFC4-6F175D3DCCD1}">
                <a14:hiddenFill xmlns:a14="http://schemas.microsoft.com/office/drawing/2010/main">
                  <a:solidFill>
                    <a:srgbClr val="FFFFFF"/>
                  </a:solidFill>
                </a14:hiddenFill>
              </a:ext>
            </a:extLst>
          </p:spPr>
          <p:txBody>
            <a:bodyPr wrap="none"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b="0">
                <a:solidFill>
                  <a:srgbClr val="000000"/>
                </a:solidFill>
              </a:endParaRPr>
            </a:p>
          </p:txBody>
        </p:sp>
        <p:sp>
          <p:nvSpPr>
            <p:cNvPr id="8" name="Oval 2055"/>
            <p:cNvSpPr>
              <a:spLocks noChangeArrowheads="1"/>
            </p:cNvSpPr>
            <p:nvPr/>
          </p:nvSpPr>
          <p:spPr bwMode="auto">
            <a:xfrm>
              <a:off x="1725" y="1529"/>
              <a:ext cx="514" cy="327"/>
            </a:xfrm>
            <a:prstGeom prst="ellipse">
              <a:avLst/>
            </a:prstGeom>
            <a:noFill/>
            <a:ln w="9525">
              <a:solidFill>
                <a:srgbClr val="000000"/>
              </a:solidFill>
              <a:prstDash val="lgDashDot"/>
              <a:round/>
            </a:ln>
            <a:extLst>
              <a:ext uri="{909E8E84-426E-40DD-AFC4-6F175D3DCCD1}">
                <a14:hiddenFill xmlns:a14="http://schemas.microsoft.com/office/drawing/2010/main">
                  <a:solidFill>
                    <a:srgbClr val="FFFFFF"/>
                  </a:solidFill>
                </a14:hiddenFill>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b="0">
                <a:solidFill>
                  <a:srgbClr val="000000"/>
                </a:solidFill>
              </a:endParaRPr>
            </a:p>
          </p:txBody>
        </p:sp>
      </p:grpSp>
      <p:sp>
        <p:nvSpPr>
          <p:cNvPr id="9" name="Text Box 2056"/>
          <p:cNvSpPr txBox="1">
            <a:spLocks noChangeArrowheads="1"/>
          </p:cNvSpPr>
          <p:nvPr/>
        </p:nvSpPr>
        <p:spPr bwMode="auto">
          <a:xfrm>
            <a:off x="7721159" y="811212"/>
            <a:ext cx="14017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eaLnBrk="1" hangingPunct="1">
              <a:spcBef>
                <a:spcPct val="0"/>
              </a:spcBef>
              <a:buClrTx/>
              <a:buFontTx/>
              <a:buNone/>
            </a:pPr>
            <a:r>
              <a:rPr lang="en-US" altLang="ko-KR" sz="1400" b="0">
                <a:latin typeface="Tahoma" panose="020B0604030504040204" pitchFamily="34" charset="0"/>
                <a:ea typeface="Gulim" panose="020B0600000101010101" pitchFamily="34" charset="-127"/>
              </a:rPr>
              <a:t>Total Cost = 20</a:t>
            </a:r>
            <a:endParaRPr lang="en-US" altLang="ko-KR" sz="1400" b="0">
              <a:latin typeface="Tahoma" panose="020B0604030504040204" pitchFamily="34" charset="0"/>
              <a:ea typeface="Gulim" panose="020B0600000101010101" pitchFamily="34" charset="-127"/>
            </a:endParaRPr>
          </a:p>
        </p:txBody>
      </p:sp>
      <p:sp>
        <p:nvSpPr>
          <p:cNvPr id="10" name="Rectangle 2057"/>
          <p:cNvSpPr>
            <a:spLocks noChangeArrowheads="1"/>
          </p:cNvSpPr>
          <p:nvPr/>
        </p:nvSpPr>
        <p:spPr bwMode="auto">
          <a:xfrm>
            <a:off x="101159" y="1109662"/>
            <a:ext cx="2395537" cy="2254250"/>
          </a:xfrm>
          <a:prstGeom prst="rect">
            <a:avLst/>
          </a:prstGeom>
          <a:solidFill>
            <a:srgbClr val="FFFFFF"/>
          </a:solidFill>
          <a:ln w="0">
            <a:solidFill>
              <a:srgbClr val="000000"/>
            </a:solidFill>
            <a:miter lim="800000"/>
          </a:ln>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b="0"/>
          </a:p>
        </p:txBody>
      </p:sp>
      <p:sp>
        <p:nvSpPr>
          <p:cNvPr id="11" name="Rectangle 2058"/>
          <p:cNvSpPr>
            <a:spLocks noChangeArrowheads="1"/>
          </p:cNvSpPr>
          <p:nvPr/>
        </p:nvSpPr>
        <p:spPr bwMode="auto">
          <a:xfrm>
            <a:off x="351984" y="1293812"/>
            <a:ext cx="2014537" cy="17891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b="0"/>
          </a:p>
        </p:txBody>
      </p:sp>
      <p:sp>
        <p:nvSpPr>
          <p:cNvPr id="12" name="Line 2059"/>
          <p:cNvSpPr>
            <a:spLocks noChangeShapeType="1"/>
          </p:cNvSpPr>
          <p:nvPr/>
        </p:nvSpPr>
        <p:spPr bwMode="auto">
          <a:xfrm>
            <a:off x="351984" y="2908300"/>
            <a:ext cx="201453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3" name="Line 2060"/>
          <p:cNvSpPr>
            <a:spLocks noChangeShapeType="1"/>
          </p:cNvSpPr>
          <p:nvPr/>
        </p:nvSpPr>
        <p:spPr bwMode="auto">
          <a:xfrm>
            <a:off x="351984" y="2724150"/>
            <a:ext cx="201453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4" name="Line 2061"/>
          <p:cNvSpPr>
            <a:spLocks noChangeShapeType="1"/>
          </p:cNvSpPr>
          <p:nvPr/>
        </p:nvSpPr>
        <p:spPr bwMode="auto">
          <a:xfrm>
            <a:off x="351984" y="2551112"/>
            <a:ext cx="2014537"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5" name="Line 2062"/>
          <p:cNvSpPr>
            <a:spLocks noChangeShapeType="1"/>
          </p:cNvSpPr>
          <p:nvPr/>
        </p:nvSpPr>
        <p:spPr bwMode="auto">
          <a:xfrm>
            <a:off x="351984" y="2366962"/>
            <a:ext cx="2014537"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7" name="Line 2063"/>
          <p:cNvSpPr>
            <a:spLocks noChangeShapeType="1"/>
          </p:cNvSpPr>
          <p:nvPr/>
        </p:nvSpPr>
        <p:spPr bwMode="auto">
          <a:xfrm>
            <a:off x="351984" y="2193925"/>
            <a:ext cx="201453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8" name="Line 2064"/>
          <p:cNvSpPr>
            <a:spLocks noChangeShapeType="1"/>
          </p:cNvSpPr>
          <p:nvPr/>
        </p:nvSpPr>
        <p:spPr bwMode="auto">
          <a:xfrm>
            <a:off x="351984" y="2009775"/>
            <a:ext cx="201453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9" name="Line 2065"/>
          <p:cNvSpPr>
            <a:spLocks noChangeShapeType="1"/>
          </p:cNvSpPr>
          <p:nvPr/>
        </p:nvSpPr>
        <p:spPr bwMode="auto">
          <a:xfrm>
            <a:off x="351984" y="1836737"/>
            <a:ext cx="2014537"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0" name="Line 2066"/>
          <p:cNvSpPr>
            <a:spLocks noChangeShapeType="1"/>
          </p:cNvSpPr>
          <p:nvPr/>
        </p:nvSpPr>
        <p:spPr bwMode="auto">
          <a:xfrm>
            <a:off x="351984" y="1652587"/>
            <a:ext cx="2014537"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1" name="Line 2067"/>
          <p:cNvSpPr>
            <a:spLocks noChangeShapeType="1"/>
          </p:cNvSpPr>
          <p:nvPr/>
        </p:nvSpPr>
        <p:spPr bwMode="auto">
          <a:xfrm>
            <a:off x="351984" y="1477962"/>
            <a:ext cx="2014537"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2" name="Line 2068"/>
          <p:cNvSpPr>
            <a:spLocks noChangeShapeType="1"/>
          </p:cNvSpPr>
          <p:nvPr/>
        </p:nvSpPr>
        <p:spPr bwMode="auto">
          <a:xfrm>
            <a:off x="351984" y="1293812"/>
            <a:ext cx="2014537"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3" name="Line 2069"/>
          <p:cNvSpPr>
            <a:spLocks noChangeShapeType="1"/>
          </p:cNvSpPr>
          <p:nvPr/>
        </p:nvSpPr>
        <p:spPr bwMode="auto">
          <a:xfrm>
            <a:off x="558359" y="1293812"/>
            <a:ext cx="1587" cy="1789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4" name="Line 2070"/>
          <p:cNvSpPr>
            <a:spLocks noChangeShapeType="1"/>
          </p:cNvSpPr>
          <p:nvPr/>
        </p:nvSpPr>
        <p:spPr bwMode="auto">
          <a:xfrm>
            <a:off x="755209" y="1293812"/>
            <a:ext cx="1587" cy="1789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5" name="Line 2071"/>
          <p:cNvSpPr>
            <a:spLocks noChangeShapeType="1"/>
          </p:cNvSpPr>
          <p:nvPr/>
        </p:nvSpPr>
        <p:spPr bwMode="auto">
          <a:xfrm>
            <a:off x="961584" y="1293812"/>
            <a:ext cx="1587" cy="1789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6" name="Line 2072"/>
          <p:cNvSpPr>
            <a:spLocks noChangeShapeType="1"/>
          </p:cNvSpPr>
          <p:nvPr/>
        </p:nvSpPr>
        <p:spPr bwMode="auto">
          <a:xfrm>
            <a:off x="1158434" y="1293812"/>
            <a:ext cx="1587" cy="1789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7" name="Line 2073"/>
          <p:cNvSpPr>
            <a:spLocks noChangeShapeType="1"/>
          </p:cNvSpPr>
          <p:nvPr/>
        </p:nvSpPr>
        <p:spPr bwMode="auto">
          <a:xfrm>
            <a:off x="1364809" y="1293812"/>
            <a:ext cx="1587" cy="1789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8" name="Line 2074"/>
          <p:cNvSpPr>
            <a:spLocks noChangeShapeType="1"/>
          </p:cNvSpPr>
          <p:nvPr/>
        </p:nvSpPr>
        <p:spPr bwMode="auto">
          <a:xfrm>
            <a:off x="1560071" y="1293812"/>
            <a:ext cx="1588" cy="1789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9" name="Line 2075"/>
          <p:cNvSpPr>
            <a:spLocks noChangeShapeType="1"/>
          </p:cNvSpPr>
          <p:nvPr/>
        </p:nvSpPr>
        <p:spPr bwMode="auto">
          <a:xfrm>
            <a:off x="1768034" y="1293812"/>
            <a:ext cx="1587" cy="1789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0" name="Line 2076"/>
          <p:cNvSpPr>
            <a:spLocks noChangeShapeType="1"/>
          </p:cNvSpPr>
          <p:nvPr/>
        </p:nvSpPr>
        <p:spPr bwMode="auto">
          <a:xfrm>
            <a:off x="1963296" y="1293812"/>
            <a:ext cx="1588" cy="1789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1" name="Line 2077"/>
          <p:cNvSpPr>
            <a:spLocks noChangeShapeType="1"/>
          </p:cNvSpPr>
          <p:nvPr/>
        </p:nvSpPr>
        <p:spPr bwMode="auto">
          <a:xfrm>
            <a:off x="2169671" y="1293812"/>
            <a:ext cx="1588" cy="1789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2" name="Line 2078"/>
          <p:cNvSpPr>
            <a:spLocks noChangeShapeType="1"/>
          </p:cNvSpPr>
          <p:nvPr/>
        </p:nvSpPr>
        <p:spPr bwMode="auto">
          <a:xfrm>
            <a:off x="2366521" y="1293812"/>
            <a:ext cx="1588" cy="1789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3" name="Rectangle 2079"/>
          <p:cNvSpPr>
            <a:spLocks noChangeArrowheads="1"/>
          </p:cNvSpPr>
          <p:nvPr/>
        </p:nvSpPr>
        <p:spPr bwMode="auto">
          <a:xfrm>
            <a:off x="351984" y="1293812"/>
            <a:ext cx="2014537" cy="1789113"/>
          </a:xfrm>
          <a:prstGeom prst="rect">
            <a:avLst/>
          </a:prstGeom>
          <a:noFill/>
          <a:ln w="11113">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b="0"/>
          </a:p>
        </p:txBody>
      </p:sp>
      <p:sp>
        <p:nvSpPr>
          <p:cNvPr id="34" name="Line 2080"/>
          <p:cNvSpPr>
            <a:spLocks noChangeShapeType="1"/>
          </p:cNvSpPr>
          <p:nvPr/>
        </p:nvSpPr>
        <p:spPr bwMode="auto">
          <a:xfrm>
            <a:off x="351984" y="1293812"/>
            <a:ext cx="1587" cy="1789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5" name="Line 2081"/>
          <p:cNvSpPr>
            <a:spLocks noChangeShapeType="1"/>
          </p:cNvSpPr>
          <p:nvPr/>
        </p:nvSpPr>
        <p:spPr bwMode="auto">
          <a:xfrm>
            <a:off x="329759" y="3082925"/>
            <a:ext cx="2222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6" name="Line 2082"/>
          <p:cNvSpPr>
            <a:spLocks noChangeShapeType="1"/>
          </p:cNvSpPr>
          <p:nvPr/>
        </p:nvSpPr>
        <p:spPr bwMode="auto">
          <a:xfrm>
            <a:off x="329759" y="2908300"/>
            <a:ext cx="2222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7" name="Line 2083"/>
          <p:cNvSpPr>
            <a:spLocks noChangeShapeType="1"/>
          </p:cNvSpPr>
          <p:nvPr/>
        </p:nvSpPr>
        <p:spPr bwMode="auto">
          <a:xfrm>
            <a:off x="329759" y="2724150"/>
            <a:ext cx="2222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8" name="Line 2084"/>
          <p:cNvSpPr>
            <a:spLocks noChangeShapeType="1"/>
          </p:cNvSpPr>
          <p:nvPr/>
        </p:nvSpPr>
        <p:spPr bwMode="auto">
          <a:xfrm>
            <a:off x="329759" y="2551112"/>
            <a:ext cx="2222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39" name="Line 2085"/>
          <p:cNvSpPr>
            <a:spLocks noChangeShapeType="1"/>
          </p:cNvSpPr>
          <p:nvPr/>
        </p:nvSpPr>
        <p:spPr bwMode="auto">
          <a:xfrm>
            <a:off x="329759" y="2366962"/>
            <a:ext cx="2222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0" name="Line 2086"/>
          <p:cNvSpPr>
            <a:spLocks noChangeShapeType="1"/>
          </p:cNvSpPr>
          <p:nvPr/>
        </p:nvSpPr>
        <p:spPr bwMode="auto">
          <a:xfrm>
            <a:off x="329759" y="2193925"/>
            <a:ext cx="2222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1" name="Line 2087"/>
          <p:cNvSpPr>
            <a:spLocks noChangeShapeType="1"/>
          </p:cNvSpPr>
          <p:nvPr/>
        </p:nvSpPr>
        <p:spPr bwMode="auto">
          <a:xfrm>
            <a:off x="329759" y="2009775"/>
            <a:ext cx="2222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2" name="Line 2088"/>
          <p:cNvSpPr>
            <a:spLocks noChangeShapeType="1"/>
          </p:cNvSpPr>
          <p:nvPr/>
        </p:nvSpPr>
        <p:spPr bwMode="auto">
          <a:xfrm>
            <a:off x="329759" y="1836737"/>
            <a:ext cx="2222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3" name="Line 2089"/>
          <p:cNvSpPr>
            <a:spLocks noChangeShapeType="1"/>
          </p:cNvSpPr>
          <p:nvPr/>
        </p:nvSpPr>
        <p:spPr bwMode="auto">
          <a:xfrm>
            <a:off x="329759" y="1652587"/>
            <a:ext cx="2222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4" name="Line 2090"/>
          <p:cNvSpPr>
            <a:spLocks noChangeShapeType="1"/>
          </p:cNvSpPr>
          <p:nvPr/>
        </p:nvSpPr>
        <p:spPr bwMode="auto">
          <a:xfrm>
            <a:off x="329759" y="1477962"/>
            <a:ext cx="2222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5" name="Line 2091"/>
          <p:cNvSpPr>
            <a:spLocks noChangeShapeType="1"/>
          </p:cNvSpPr>
          <p:nvPr/>
        </p:nvSpPr>
        <p:spPr bwMode="auto">
          <a:xfrm>
            <a:off x="329759" y="1293812"/>
            <a:ext cx="2222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6" name="Line 2092"/>
          <p:cNvSpPr>
            <a:spLocks noChangeShapeType="1"/>
          </p:cNvSpPr>
          <p:nvPr/>
        </p:nvSpPr>
        <p:spPr bwMode="auto">
          <a:xfrm>
            <a:off x="351984" y="3082925"/>
            <a:ext cx="201453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7" name="Line 2093"/>
          <p:cNvSpPr>
            <a:spLocks noChangeShapeType="1"/>
          </p:cNvSpPr>
          <p:nvPr/>
        </p:nvSpPr>
        <p:spPr bwMode="auto">
          <a:xfrm flipV="1">
            <a:off x="351984" y="3082925"/>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8" name="Line 2094"/>
          <p:cNvSpPr>
            <a:spLocks noChangeShapeType="1"/>
          </p:cNvSpPr>
          <p:nvPr/>
        </p:nvSpPr>
        <p:spPr bwMode="auto">
          <a:xfrm flipV="1">
            <a:off x="558359" y="3082925"/>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49" name="Line 2095"/>
          <p:cNvSpPr>
            <a:spLocks noChangeShapeType="1"/>
          </p:cNvSpPr>
          <p:nvPr/>
        </p:nvSpPr>
        <p:spPr bwMode="auto">
          <a:xfrm flipV="1">
            <a:off x="755209" y="3082925"/>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0" name="Line 2096"/>
          <p:cNvSpPr>
            <a:spLocks noChangeShapeType="1"/>
          </p:cNvSpPr>
          <p:nvPr/>
        </p:nvSpPr>
        <p:spPr bwMode="auto">
          <a:xfrm flipV="1">
            <a:off x="961584" y="3082925"/>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1" name="Line 2097"/>
          <p:cNvSpPr>
            <a:spLocks noChangeShapeType="1"/>
          </p:cNvSpPr>
          <p:nvPr/>
        </p:nvSpPr>
        <p:spPr bwMode="auto">
          <a:xfrm flipV="1">
            <a:off x="1158434" y="3082925"/>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2" name="Line 2098"/>
          <p:cNvSpPr>
            <a:spLocks noChangeShapeType="1"/>
          </p:cNvSpPr>
          <p:nvPr/>
        </p:nvSpPr>
        <p:spPr bwMode="auto">
          <a:xfrm flipV="1">
            <a:off x="1364809" y="3082925"/>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3" name="Line 2099"/>
          <p:cNvSpPr>
            <a:spLocks noChangeShapeType="1"/>
          </p:cNvSpPr>
          <p:nvPr/>
        </p:nvSpPr>
        <p:spPr bwMode="auto">
          <a:xfrm flipV="1">
            <a:off x="1560071" y="3082925"/>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4" name="Line 2100"/>
          <p:cNvSpPr>
            <a:spLocks noChangeShapeType="1"/>
          </p:cNvSpPr>
          <p:nvPr/>
        </p:nvSpPr>
        <p:spPr bwMode="auto">
          <a:xfrm flipV="1">
            <a:off x="1768034" y="3082925"/>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5" name="Line 2101"/>
          <p:cNvSpPr>
            <a:spLocks noChangeShapeType="1"/>
          </p:cNvSpPr>
          <p:nvPr/>
        </p:nvSpPr>
        <p:spPr bwMode="auto">
          <a:xfrm flipV="1">
            <a:off x="1963296" y="3082925"/>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6" name="Line 2102"/>
          <p:cNvSpPr>
            <a:spLocks noChangeShapeType="1"/>
          </p:cNvSpPr>
          <p:nvPr/>
        </p:nvSpPr>
        <p:spPr bwMode="auto">
          <a:xfrm flipV="1">
            <a:off x="2169671" y="3082925"/>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7" name="Line 2103"/>
          <p:cNvSpPr>
            <a:spLocks noChangeShapeType="1"/>
          </p:cNvSpPr>
          <p:nvPr/>
        </p:nvSpPr>
        <p:spPr bwMode="auto">
          <a:xfrm flipV="1">
            <a:off x="2366521" y="3082925"/>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8" name="Freeform 2104"/>
          <p:cNvSpPr/>
          <p:nvPr/>
        </p:nvSpPr>
        <p:spPr bwMode="auto">
          <a:xfrm>
            <a:off x="885384" y="2290762"/>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59" name="Freeform 2105"/>
          <p:cNvSpPr/>
          <p:nvPr/>
        </p:nvSpPr>
        <p:spPr bwMode="auto">
          <a:xfrm>
            <a:off x="679009" y="1933575"/>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60" name="Freeform 2106"/>
          <p:cNvSpPr/>
          <p:nvPr/>
        </p:nvSpPr>
        <p:spPr bwMode="auto">
          <a:xfrm>
            <a:off x="1691834" y="2474912"/>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61" name="Freeform 2107"/>
          <p:cNvSpPr/>
          <p:nvPr/>
        </p:nvSpPr>
        <p:spPr bwMode="auto">
          <a:xfrm>
            <a:off x="1082234" y="1760537"/>
            <a:ext cx="152400" cy="150813"/>
          </a:xfrm>
          <a:custGeom>
            <a:avLst/>
            <a:gdLst>
              <a:gd name="T0" fmla="*/ 2147483647 w 96"/>
              <a:gd name="T1" fmla="*/ 0 h 95"/>
              <a:gd name="T2" fmla="*/ 2147483647 w 96"/>
              <a:gd name="T3" fmla="*/ 2147483647 h 95"/>
              <a:gd name="T4" fmla="*/ 2147483647 w 96"/>
              <a:gd name="T5" fmla="*/ 2147483647 h 95"/>
              <a:gd name="T6" fmla="*/ 0 w 96"/>
              <a:gd name="T7" fmla="*/ 2147483647 h 95"/>
              <a:gd name="T8" fmla="*/ 2147483647 w 96"/>
              <a:gd name="T9" fmla="*/ 0 h 95"/>
              <a:gd name="T10" fmla="*/ 0 60000 65536"/>
              <a:gd name="T11" fmla="*/ 0 60000 65536"/>
              <a:gd name="T12" fmla="*/ 0 60000 65536"/>
              <a:gd name="T13" fmla="*/ 0 60000 65536"/>
              <a:gd name="T14" fmla="*/ 0 60000 65536"/>
              <a:gd name="T15" fmla="*/ 0 w 96"/>
              <a:gd name="T16" fmla="*/ 0 h 95"/>
              <a:gd name="T17" fmla="*/ 96 w 96"/>
              <a:gd name="T18" fmla="*/ 95 h 95"/>
            </a:gdLst>
            <a:ahLst/>
            <a:cxnLst>
              <a:cxn ang="T10">
                <a:pos x="T0" y="T1"/>
              </a:cxn>
              <a:cxn ang="T11">
                <a:pos x="T2" y="T3"/>
              </a:cxn>
              <a:cxn ang="T12">
                <a:pos x="T4" y="T5"/>
              </a:cxn>
              <a:cxn ang="T13">
                <a:pos x="T6" y="T7"/>
              </a:cxn>
              <a:cxn ang="T14">
                <a:pos x="T8" y="T9"/>
              </a:cxn>
            </a:cxnLst>
            <a:rect l="T15" t="T16" r="T17" b="T18"/>
            <a:pathLst>
              <a:path w="96" h="95">
                <a:moveTo>
                  <a:pt x="48" y="0"/>
                </a:moveTo>
                <a:lnTo>
                  <a:pt x="96" y="48"/>
                </a:lnTo>
                <a:lnTo>
                  <a:pt x="48" y="95"/>
                </a:lnTo>
                <a:lnTo>
                  <a:pt x="0" y="48"/>
                </a:lnTo>
                <a:lnTo>
                  <a:pt x="48" y="0"/>
                </a:lnTo>
                <a:close/>
              </a:path>
            </a:pathLst>
          </a:custGeom>
          <a:solidFill>
            <a:srgbClr val="00FFFF"/>
          </a:solidFill>
          <a:ln w="11113">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62" name="Freeform 2108"/>
          <p:cNvSpPr/>
          <p:nvPr/>
        </p:nvSpPr>
        <p:spPr bwMode="auto">
          <a:xfrm>
            <a:off x="1887096" y="2117725"/>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63" name="Freeform 2109"/>
          <p:cNvSpPr/>
          <p:nvPr/>
        </p:nvSpPr>
        <p:spPr bwMode="auto">
          <a:xfrm>
            <a:off x="1483871" y="2649537"/>
            <a:ext cx="152400" cy="150813"/>
          </a:xfrm>
          <a:custGeom>
            <a:avLst/>
            <a:gdLst>
              <a:gd name="T0" fmla="*/ 2147483647 w 96"/>
              <a:gd name="T1" fmla="*/ 0 h 95"/>
              <a:gd name="T2" fmla="*/ 2147483647 w 96"/>
              <a:gd name="T3" fmla="*/ 2147483647 h 95"/>
              <a:gd name="T4" fmla="*/ 2147483647 w 96"/>
              <a:gd name="T5" fmla="*/ 2147483647 h 95"/>
              <a:gd name="T6" fmla="*/ 0 w 96"/>
              <a:gd name="T7" fmla="*/ 2147483647 h 95"/>
              <a:gd name="T8" fmla="*/ 2147483647 w 96"/>
              <a:gd name="T9" fmla="*/ 0 h 95"/>
              <a:gd name="T10" fmla="*/ 0 60000 65536"/>
              <a:gd name="T11" fmla="*/ 0 60000 65536"/>
              <a:gd name="T12" fmla="*/ 0 60000 65536"/>
              <a:gd name="T13" fmla="*/ 0 60000 65536"/>
              <a:gd name="T14" fmla="*/ 0 60000 65536"/>
              <a:gd name="T15" fmla="*/ 0 w 96"/>
              <a:gd name="T16" fmla="*/ 0 h 95"/>
              <a:gd name="T17" fmla="*/ 96 w 96"/>
              <a:gd name="T18" fmla="*/ 95 h 95"/>
            </a:gdLst>
            <a:ahLst/>
            <a:cxnLst>
              <a:cxn ang="T10">
                <a:pos x="T0" y="T1"/>
              </a:cxn>
              <a:cxn ang="T11">
                <a:pos x="T2" y="T3"/>
              </a:cxn>
              <a:cxn ang="T12">
                <a:pos x="T4" y="T5"/>
              </a:cxn>
              <a:cxn ang="T13">
                <a:pos x="T6" y="T7"/>
              </a:cxn>
              <a:cxn ang="T14">
                <a:pos x="T8" y="T9"/>
              </a:cxn>
            </a:cxnLst>
            <a:rect l="T15" t="T16" r="T17" b="T18"/>
            <a:pathLst>
              <a:path w="96" h="95">
                <a:moveTo>
                  <a:pt x="48" y="0"/>
                </a:moveTo>
                <a:lnTo>
                  <a:pt x="96" y="47"/>
                </a:lnTo>
                <a:lnTo>
                  <a:pt x="48" y="95"/>
                </a:lnTo>
                <a:lnTo>
                  <a:pt x="0" y="47"/>
                </a:lnTo>
                <a:lnTo>
                  <a:pt x="48" y="0"/>
                </a:lnTo>
                <a:close/>
              </a:path>
            </a:pathLst>
          </a:custGeom>
          <a:solidFill>
            <a:srgbClr val="00FFFF"/>
          </a:solidFill>
          <a:ln w="11113">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64" name="Freeform 2110"/>
          <p:cNvSpPr/>
          <p:nvPr/>
        </p:nvSpPr>
        <p:spPr bwMode="auto">
          <a:xfrm>
            <a:off x="1691834" y="2290762"/>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65" name="Freeform 2111"/>
          <p:cNvSpPr/>
          <p:nvPr/>
        </p:nvSpPr>
        <p:spPr bwMode="auto">
          <a:xfrm>
            <a:off x="1691834" y="1933575"/>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66" name="Rectangle 2112"/>
          <p:cNvSpPr>
            <a:spLocks noChangeArrowheads="1"/>
          </p:cNvSpPr>
          <p:nvPr/>
        </p:nvSpPr>
        <p:spPr bwMode="auto">
          <a:xfrm>
            <a:off x="258321" y="3049587"/>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0</a:t>
            </a:r>
            <a:endParaRPr lang="ko-KR" altLang="en-US" b="0">
              <a:ea typeface="Gulim" panose="020B0600000101010101" pitchFamily="34" charset="-127"/>
            </a:endParaRPr>
          </a:p>
        </p:txBody>
      </p:sp>
      <p:sp>
        <p:nvSpPr>
          <p:cNvPr id="67" name="Rectangle 2113"/>
          <p:cNvSpPr>
            <a:spLocks noChangeArrowheads="1"/>
          </p:cNvSpPr>
          <p:nvPr/>
        </p:nvSpPr>
        <p:spPr bwMode="auto">
          <a:xfrm>
            <a:off x="258321" y="2876550"/>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1</a:t>
            </a:r>
            <a:endParaRPr lang="ko-KR" altLang="en-US" b="0">
              <a:ea typeface="Gulim" panose="020B0600000101010101" pitchFamily="34" charset="-127"/>
            </a:endParaRPr>
          </a:p>
        </p:txBody>
      </p:sp>
      <p:sp>
        <p:nvSpPr>
          <p:cNvPr id="68" name="Rectangle 2114"/>
          <p:cNvSpPr>
            <a:spLocks noChangeArrowheads="1"/>
          </p:cNvSpPr>
          <p:nvPr/>
        </p:nvSpPr>
        <p:spPr bwMode="auto">
          <a:xfrm>
            <a:off x="258321" y="2692400"/>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2</a:t>
            </a:r>
            <a:endParaRPr lang="ko-KR" altLang="en-US" b="0">
              <a:ea typeface="Gulim" panose="020B0600000101010101" pitchFamily="34" charset="-127"/>
            </a:endParaRPr>
          </a:p>
        </p:txBody>
      </p:sp>
      <p:sp>
        <p:nvSpPr>
          <p:cNvPr id="69" name="Rectangle 2115"/>
          <p:cNvSpPr>
            <a:spLocks noChangeArrowheads="1"/>
          </p:cNvSpPr>
          <p:nvPr/>
        </p:nvSpPr>
        <p:spPr bwMode="auto">
          <a:xfrm>
            <a:off x="258321" y="2519362"/>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3</a:t>
            </a:r>
            <a:endParaRPr lang="ko-KR" altLang="en-US" b="0">
              <a:ea typeface="Gulim" panose="020B0600000101010101" pitchFamily="34" charset="-127"/>
            </a:endParaRPr>
          </a:p>
        </p:txBody>
      </p:sp>
      <p:sp>
        <p:nvSpPr>
          <p:cNvPr id="70" name="Rectangle 2116"/>
          <p:cNvSpPr>
            <a:spLocks noChangeArrowheads="1"/>
          </p:cNvSpPr>
          <p:nvPr/>
        </p:nvSpPr>
        <p:spPr bwMode="auto">
          <a:xfrm>
            <a:off x="258321" y="2335212"/>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4</a:t>
            </a:r>
            <a:endParaRPr lang="ko-KR" altLang="en-US" b="0">
              <a:ea typeface="Gulim" panose="020B0600000101010101" pitchFamily="34" charset="-127"/>
            </a:endParaRPr>
          </a:p>
        </p:txBody>
      </p:sp>
      <p:sp>
        <p:nvSpPr>
          <p:cNvPr id="71" name="Rectangle 2117"/>
          <p:cNvSpPr>
            <a:spLocks noChangeArrowheads="1"/>
          </p:cNvSpPr>
          <p:nvPr/>
        </p:nvSpPr>
        <p:spPr bwMode="auto">
          <a:xfrm>
            <a:off x="258321" y="2160587"/>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5</a:t>
            </a:r>
            <a:endParaRPr lang="ko-KR" altLang="en-US" b="0">
              <a:ea typeface="Gulim" panose="020B0600000101010101" pitchFamily="34" charset="-127"/>
            </a:endParaRPr>
          </a:p>
        </p:txBody>
      </p:sp>
      <p:sp>
        <p:nvSpPr>
          <p:cNvPr id="72" name="Rectangle 2118"/>
          <p:cNvSpPr>
            <a:spLocks noChangeArrowheads="1"/>
          </p:cNvSpPr>
          <p:nvPr/>
        </p:nvSpPr>
        <p:spPr bwMode="auto">
          <a:xfrm>
            <a:off x="258321" y="1976437"/>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6</a:t>
            </a:r>
            <a:endParaRPr lang="ko-KR" altLang="en-US" b="0">
              <a:ea typeface="Gulim" panose="020B0600000101010101" pitchFamily="34" charset="-127"/>
            </a:endParaRPr>
          </a:p>
        </p:txBody>
      </p:sp>
      <p:sp>
        <p:nvSpPr>
          <p:cNvPr id="73" name="Rectangle 2119"/>
          <p:cNvSpPr>
            <a:spLocks noChangeArrowheads="1"/>
          </p:cNvSpPr>
          <p:nvPr/>
        </p:nvSpPr>
        <p:spPr bwMode="auto">
          <a:xfrm>
            <a:off x="258321" y="1803400"/>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7</a:t>
            </a:r>
            <a:endParaRPr lang="ko-KR" altLang="en-US" b="0">
              <a:ea typeface="Gulim" panose="020B0600000101010101" pitchFamily="34" charset="-127"/>
            </a:endParaRPr>
          </a:p>
        </p:txBody>
      </p:sp>
      <p:sp>
        <p:nvSpPr>
          <p:cNvPr id="74" name="Rectangle 2120"/>
          <p:cNvSpPr>
            <a:spLocks noChangeArrowheads="1"/>
          </p:cNvSpPr>
          <p:nvPr/>
        </p:nvSpPr>
        <p:spPr bwMode="auto">
          <a:xfrm>
            <a:off x="258321" y="1619250"/>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8</a:t>
            </a:r>
            <a:endParaRPr lang="ko-KR" altLang="en-US" b="0">
              <a:ea typeface="Gulim" panose="020B0600000101010101" pitchFamily="34" charset="-127"/>
            </a:endParaRPr>
          </a:p>
        </p:txBody>
      </p:sp>
      <p:sp>
        <p:nvSpPr>
          <p:cNvPr id="75" name="Rectangle 2121"/>
          <p:cNvSpPr>
            <a:spLocks noChangeArrowheads="1"/>
          </p:cNvSpPr>
          <p:nvPr/>
        </p:nvSpPr>
        <p:spPr bwMode="auto">
          <a:xfrm>
            <a:off x="258321" y="1446212"/>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9</a:t>
            </a:r>
            <a:endParaRPr lang="ko-KR" altLang="en-US" b="0">
              <a:ea typeface="Gulim" panose="020B0600000101010101" pitchFamily="34" charset="-127"/>
            </a:endParaRPr>
          </a:p>
        </p:txBody>
      </p:sp>
      <p:sp>
        <p:nvSpPr>
          <p:cNvPr id="76" name="Rectangle 2122"/>
          <p:cNvSpPr>
            <a:spLocks noChangeArrowheads="1"/>
          </p:cNvSpPr>
          <p:nvPr/>
        </p:nvSpPr>
        <p:spPr bwMode="auto">
          <a:xfrm>
            <a:off x="213871" y="1262062"/>
            <a:ext cx="71438"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10</a:t>
            </a:r>
            <a:endParaRPr lang="ko-KR" altLang="en-US" b="0">
              <a:ea typeface="Gulim" panose="020B0600000101010101" pitchFamily="34" charset="-127"/>
            </a:endParaRPr>
          </a:p>
        </p:txBody>
      </p:sp>
      <p:sp>
        <p:nvSpPr>
          <p:cNvPr id="77" name="Rectangle 2123"/>
          <p:cNvSpPr>
            <a:spLocks noChangeArrowheads="1"/>
          </p:cNvSpPr>
          <p:nvPr/>
        </p:nvSpPr>
        <p:spPr bwMode="auto">
          <a:xfrm>
            <a:off x="334521" y="3157537"/>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0</a:t>
            </a:r>
            <a:endParaRPr lang="ko-KR" altLang="en-US" b="0">
              <a:ea typeface="Gulim" panose="020B0600000101010101" pitchFamily="34" charset="-127"/>
            </a:endParaRPr>
          </a:p>
        </p:txBody>
      </p:sp>
      <p:sp>
        <p:nvSpPr>
          <p:cNvPr id="78" name="Rectangle 2124"/>
          <p:cNvSpPr>
            <a:spLocks noChangeArrowheads="1"/>
          </p:cNvSpPr>
          <p:nvPr/>
        </p:nvSpPr>
        <p:spPr bwMode="auto">
          <a:xfrm>
            <a:off x="542484" y="3157537"/>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1</a:t>
            </a:r>
            <a:endParaRPr lang="ko-KR" altLang="en-US" b="0">
              <a:ea typeface="Gulim" panose="020B0600000101010101" pitchFamily="34" charset="-127"/>
            </a:endParaRPr>
          </a:p>
        </p:txBody>
      </p:sp>
      <p:sp>
        <p:nvSpPr>
          <p:cNvPr id="79" name="Rectangle 2125"/>
          <p:cNvSpPr>
            <a:spLocks noChangeArrowheads="1"/>
          </p:cNvSpPr>
          <p:nvPr/>
        </p:nvSpPr>
        <p:spPr bwMode="auto">
          <a:xfrm>
            <a:off x="737746" y="3157537"/>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2</a:t>
            </a:r>
            <a:endParaRPr lang="ko-KR" altLang="en-US" b="0">
              <a:ea typeface="Gulim" panose="020B0600000101010101" pitchFamily="34" charset="-127"/>
            </a:endParaRPr>
          </a:p>
        </p:txBody>
      </p:sp>
      <p:sp>
        <p:nvSpPr>
          <p:cNvPr id="80" name="Rectangle 2126"/>
          <p:cNvSpPr>
            <a:spLocks noChangeArrowheads="1"/>
          </p:cNvSpPr>
          <p:nvPr/>
        </p:nvSpPr>
        <p:spPr bwMode="auto">
          <a:xfrm>
            <a:off x="944121" y="3157537"/>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3</a:t>
            </a:r>
            <a:endParaRPr lang="ko-KR" altLang="en-US" b="0">
              <a:ea typeface="Gulim" panose="020B0600000101010101" pitchFamily="34" charset="-127"/>
            </a:endParaRPr>
          </a:p>
        </p:txBody>
      </p:sp>
      <p:sp>
        <p:nvSpPr>
          <p:cNvPr id="81" name="Rectangle 2127"/>
          <p:cNvSpPr>
            <a:spLocks noChangeArrowheads="1"/>
          </p:cNvSpPr>
          <p:nvPr/>
        </p:nvSpPr>
        <p:spPr bwMode="auto">
          <a:xfrm>
            <a:off x="1140971" y="3157537"/>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4</a:t>
            </a:r>
            <a:endParaRPr lang="ko-KR" altLang="en-US" b="0">
              <a:ea typeface="Gulim" panose="020B0600000101010101" pitchFamily="34" charset="-127"/>
            </a:endParaRPr>
          </a:p>
        </p:txBody>
      </p:sp>
      <p:sp>
        <p:nvSpPr>
          <p:cNvPr id="82" name="Rectangle 2128"/>
          <p:cNvSpPr>
            <a:spLocks noChangeArrowheads="1"/>
          </p:cNvSpPr>
          <p:nvPr/>
        </p:nvSpPr>
        <p:spPr bwMode="auto">
          <a:xfrm>
            <a:off x="1347346" y="3157537"/>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5</a:t>
            </a:r>
            <a:endParaRPr lang="ko-KR" altLang="en-US" b="0">
              <a:ea typeface="Gulim" panose="020B0600000101010101" pitchFamily="34" charset="-127"/>
            </a:endParaRPr>
          </a:p>
        </p:txBody>
      </p:sp>
      <p:sp>
        <p:nvSpPr>
          <p:cNvPr id="83" name="Rectangle 2129"/>
          <p:cNvSpPr>
            <a:spLocks noChangeArrowheads="1"/>
          </p:cNvSpPr>
          <p:nvPr/>
        </p:nvSpPr>
        <p:spPr bwMode="auto">
          <a:xfrm>
            <a:off x="1542609" y="3157537"/>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6</a:t>
            </a:r>
            <a:endParaRPr lang="ko-KR" altLang="en-US" b="0">
              <a:ea typeface="Gulim" panose="020B0600000101010101" pitchFamily="34" charset="-127"/>
            </a:endParaRPr>
          </a:p>
        </p:txBody>
      </p:sp>
      <p:sp>
        <p:nvSpPr>
          <p:cNvPr id="84" name="Rectangle 2130"/>
          <p:cNvSpPr>
            <a:spLocks noChangeArrowheads="1"/>
          </p:cNvSpPr>
          <p:nvPr/>
        </p:nvSpPr>
        <p:spPr bwMode="auto">
          <a:xfrm>
            <a:off x="1750571" y="3157537"/>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7</a:t>
            </a:r>
            <a:endParaRPr lang="ko-KR" altLang="en-US" b="0">
              <a:ea typeface="Gulim" panose="020B0600000101010101" pitchFamily="34" charset="-127"/>
            </a:endParaRPr>
          </a:p>
        </p:txBody>
      </p:sp>
      <p:sp>
        <p:nvSpPr>
          <p:cNvPr id="85" name="Rectangle 2131"/>
          <p:cNvSpPr>
            <a:spLocks noChangeArrowheads="1"/>
          </p:cNvSpPr>
          <p:nvPr/>
        </p:nvSpPr>
        <p:spPr bwMode="auto">
          <a:xfrm>
            <a:off x="1945834" y="3157537"/>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8</a:t>
            </a:r>
            <a:endParaRPr lang="ko-KR" altLang="en-US" b="0">
              <a:ea typeface="Gulim" panose="020B0600000101010101" pitchFamily="34" charset="-127"/>
            </a:endParaRPr>
          </a:p>
        </p:txBody>
      </p:sp>
      <p:sp>
        <p:nvSpPr>
          <p:cNvPr id="86" name="Rectangle 2132"/>
          <p:cNvSpPr>
            <a:spLocks noChangeArrowheads="1"/>
          </p:cNvSpPr>
          <p:nvPr/>
        </p:nvSpPr>
        <p:spPr bwMode="auto">
          <a:xfrm>
            <a:off x="2152209" y="3157537"/>
            <a:ext cx="34925"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9</a:t>
            </a:r>
            <a:endParaRPr lang="ko-KR" altLang="en-US" b="0">
              <a:ea typeface="Gulim" panose="020B0600000101010101" pitchFamily="34" charset="-127"/>
            </a:endParaRPr>
          </a:p>
        </p:txBody>
      </p:sp>
      <p:sp>
        <p:nvSpPr>
          <p:cNvPr id="87" name="Rectangle 2133"/>
          <p:cNvSpPr>
            <a:spLocks noChangeArrowheads="1"/>
          </p:cNvSpPr>
          <p:nvPr/>
        </p:nvSpPr>
        <p:spPr bwMode="auto">
          <a:xfrm>
            <a:off x="2314134" y="3157537"/>
            <a:ext cx="71437"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10</a:t>
            </a:r>
            <a:endParaRPr lang="ko-KR" altLang="en-US" b="0">
              <a:ea typeface="Gulim" panose="020B0600000101010101" pitchFamily="34" charset="-127"/>
            </a:endParaRPr>
          </a:p>
        </p:txBody>
      </p:sp>
      <p:sp>
        <p:nvSpPr>
          <p:cNvPr id="88" name="Rectangle 2134"/>
          <p:cNvSpPr>
            <a:spLocks noChangeArrowheads="1"/>
          </p:cNvSpPr>
          <p:nvPr/>
        </p:nvSpPr>
        <p:spPr bwMode="auto">
          <a:xfrm>
            <a:off x="101159" y="1109662"/>
            <a:ext cx="2395537" cy="2254250"/>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b="0"/>
          </a:p>
        </p:txBody>
      </p:sp>
      <p:sp>
        <p:nvSpPr>
          <p:cNvPr id="89" name="Freeform 2135"/>
          <p:cNvSpPr/>
          <p:nvPr/>
        </p:nvSpPr>
        <p:spPr bwMode="auto">
          <a:xfrm>
            <a:off x="896496" y="1601787"/>
            <a:ext cx="152400" cy="150813"/>
          </a:xfrm>
          <a:custGeom>
            <a:avLst/>
            <a:gdLst>
              <a:gd name="T0" fmla="*/ 2147483647 w 96"/>
              <a:gd name="T1" fmla="*/ 0 h 95"/>
              <a:gd name="T2" fmla="*/ 2147483647 w 96"/>
              <a:gd name="T3" fmla="*/ 2147483647 h 95"/>
              <a:gd name="T4" fmla="*/ 2147483647 w 96"/>
              <a:gd name="T5" fmla="*/ 2147483647 h 95"/>
              <a:gd name="T6" fmla="*/ 0 w 96"/>
              <a:gd name="T7" fmla="*/ 2147483647 h 95"/>
              <a:gd name="T8" fmla="*/ 2147483647 w 96"/>
              <a:gd name="T9" fmla="*/ 0 h 95"/>
              <a:gd name="T10" fmla="*/ 0 60000 65536"/>
              <a:gd name="T11" fmla="*/ 0 60000 65536"/>
              <a:gd name="T12" fmla="*/ 0 60000 65536"/>
              <a:gd name="T13" fmla="*/ 0 60000 65536"/>
              <a:gd name="T14" fmla="*/ 0 60000 65536"/>
              <a:gd name="T15" fmla="*/ 0 w 96"/>
              <a:gd name="T16" fmla="*/ 0 h 95"/>
              <a:gd name="T17" fmla="*/ 96 w 96"/>
              <a:gd name="T18" fmla="*/ 95 h 95"/>
            </a:gdLst>
            <a:ahLst/>
            <a:cxnLst>
              <a:cxn ang="T10">
                <a:pos x="T0" y="T1"/>
              </a:cxn>
              <a:cxn ang="T11">
                <a:pos x="T2" y="T3"/>
              </a:cxn>
              <a:cxn ang="T12">
                <a:pos x="T4" y="T5"/>
              </a:cxn>
              <a:cxn ang="T13">
                <a:pos x="T6" y="T7"/>
              </a:cxn>
              <a:cxn ang="T14">
                <a:pos x="T8" y="T9"/>
              </a:cxn>
            </a:cxnLst>
            <a:rect l="T15" t="T16" r="T17" b="T18"/>
            <a:pathLst>
              <a:path w="96" h="95">
                <a:moveTo>
                  <a:pt x="48" y="0"/>
                </a:moveTo>
                <a:lnTo>
                  <a:pt x="96" y="48"/>
                </a:lnTo>
                <a:lnTo>
                  <a:pt x="48" y="95"/>
                </a:lnTo>
                <a:lnTo>
                  <a:pt x="0" y="48"/>
                </a:lnTo>
                <a:lnTo>
                  <a:pt x="48" y="0"/>
                </a:lnTo>
                <a:close/>
              </a:path>
            </a:pathLst>
          </a:custGeom>
          <a:solidFill>
            <a:srgbClr val="00FFFF"/>
          </a:solidFill>
          <a:ln w="11113">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90" name="Freeform 2136"/>
          <p:cNvSpPr/>
          <p:nvPr/>
        </p:nvSpPr>
        <p:spPr bwMode="auto">
          <a:xfrm>
            <a:off x="1506096" y="2438400"/>
            <a:ext cx="152400" cy="152400"/>
          </a:xfrm>
          <a:custGeom>
            <a:avLst/>
            <a:gdLst>
              <a:gd name="T0" fmla="*/ 2147483647 w 96"/>
              <a:gd name="T1" fmla="*/ 0 h 96"/>
              <a:gd name="T2" fmla="*/ 2147483647 w 96"/>
              <a:gd name="T3" fmla="*/ 2147483647 h 96"/>
              <a:gd name="T4" fmla="*/ 2147483647 w 96"/>
              <a:gd name="T5" fmla="*/ 2147483647 h 96"/>
              <a:gd name="T6" fmla="*/ 0 w 96"/>
              <a:gd name="T7" fmla="*/ 2147483647 h 96"/>
              <a:gd name="T8" fmla="*/ 2147483647 w 96"/>
              <a:gd name="T9" fmla="*/ 0 h 96"/>
              <a:gd name="T10" fmla="*/ 0 60000 65536"/>
              <a:gd name="T11" fmla="*/ 0 60000 65536"/>
              <a:gd name="T12" fmla="*/ 0 60000 65536"/>
              <a:gd name="T13" fmla="*/ 0 60000 65536"/>
              <a:gd name="T14" fmla="*/ 0 60000 65536"/>
              <a:gd name="T15" fmla="*/ 0 w 96"/>
              <a:gd name="T16" fmla="*/ 0 h 96"/>
              <a:gd name="T17" fmla="*/ 96 w 96"/>
              <a:gd name="T18" fmla="*/ 96 h 96"/>
            </a:gdLst>
            <a:ahLst/>
            <a:cxnLst>
              <a:cxn ang="T10">
                <a:pos x="T0" y="T1"/>
              </a:cxn>
              <a:cxn ang="T11">
                <a:pos x="T2" y="T3"/>
              </a:cxn>
              <a:cxn ang="T12">
                <a:pos x="T4" y="T5"/>
              </a:cxn>
              <a:cxn ang="T13">
                <a:pos x="T6" y="T7"/>
              </a:cxn>
              <a:cxn ang="T14">
                <a:pos x="T8" y="T9"/>
              </a:cxn>
            </a:cxnLst>
            <a:rect l="T15" t="T16" r="T17" b="T18"/>
            <a:pathLst>
              <a:path w="96" h="96">
                <a:moveTo>
                  <a:pt x="48" y="0"/>
                </a:moveTo>
                <a:lnTo>
                  <a:pt x="96" y="48"/>
                </a:lnTo>
                <a:lnTo>
                  <a:pt x="48" y="96"/>
                </a:lnTo>
                <a:lnTo>
                  <a:pt x="0" y="48"/>
                </a:lnTo>
                <a:lnTo>
                  <a:pt x="48" y="0"/>
                </a:lnTo>
                <a:close/>
              </a:path>
            </a:pathLst>
          </a:custGeom>
          <a:solidFill>
            <a:srgbClr val="00FFFF"/>
          </a:solidFill>
          <a:ln w="11113">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91" name="Text Box 2137"/>
          <p:cNvSpPr txBox="1">
            <a:spLocks noChangeArrowheads="1"/>
          </p:cNvSpPr>
          <p:nvPr/>
        </p:nvSpPr>
        <p:spPr bwMode="auto">
          <a:xfrm>
            <a:off x="186884" y="3386137"/>
            <a:ext cx="6159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eaLnBrk="1" hangingPunct="1">
              <a:spcBef>
                <a:spcPct val="0"/>
              </a:spcBef>
              <a:buClrTx/>
              <a:buFontTx/>
              <a:buNone/>
            </a:pPr>
            <a:r>
              <a:rPr lang="en-US" altLang="ko-KR" sz="1800" b="0">
                <a:latin typeface="Tahoma" panose="020B0604030504040204" pitchFamily="34" charset="0"/>
                <a:ea typeface="Gulim" panose="020B0600000101010101" pitchFamily="34" charset="-127"/>
              </a:rPr>
              <a:t>K=2</a:t>
            </a:r>
            <a:endParaRPr lang="en-US" altLang="ko-KR" sz="1800" b="0">
              <a:latin typeface="Tahoma" panose="020B0604030504040204" pitchFamily="34" charset="0"/>
              <a:ea typeface="Gulim" panose="020B0600000101010101" pitchFamily="34" charset="-127"/>
            </a:endParaRPr>
          </a:p>
        </p:txBody>
      </p:sp>
      <p:sp>
        <p:nvSpPr>
          <p:cNvPr id="92" name="Line 2138"/>
          <p:cNvSpPr>
            <a:spLocks noChangeShapeType="1"/>
          </p:cNvSpPr>
          <p:nvPr/>
        </p:nvSpPr>
        <p:spPr bwMode="auto">
          <a:xfrm>
            <a:off x="2572896" y="1447800"/>
            <a:ext cx="762000" cy="0"/>
          </a:xfrm>
          <a:prstGeom prst="line">
            <a:avLst/>
          </a:prstGeom>
          <a:noFill/>
          <a:ln w="9525">
            <a:solidFill>
              <a:srgbClr val="000000"/>
            </a:solidFill>
            <a:miter lim="800000"/>
            <a:tailEnd type="triangle" w="med" len="med"/>
          </a:ln>
          <a:extLst>
            <a:ext uri="{909E8E84-426E-40DD-AFC4-6F175D3DCCD1}">
              <a14:hiddenFill xmlns:a14="http://schemas.microsoft.com/office/drawing/2010/main">
                <a:noFill/>
              </a14:hiddenFill>
            </a:ext>
          </a:extLst>
        </p:spPr>
        <p:txBody>
          <a:bodyPr wrap="none"/>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93" name="Text Box 2139"/>
          <p:cNvSpPr txBox="1">
            <a:spLocks noChangeArrowheads="1"/>
          </p:cNvSpPr>
          <p:nvPr/>
        </p:nvSpPr>
        <p:spPr bwMode="auto">
          <a:xfrm>
            <a:off x="2466534" y="1644650"/>
            <a:ext cx="914400" cy="116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rIns="36000">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eaLnBrk="1" hangingPunct="1">
              <a:spcBef>
                <a:spcPct val="50000"/>
              </a:spcBef>
              <a:buClrTx/>
              <a:buFontTx/>
              <a:buNone/>
            </a:pPr>
            <a:r>
              <a:rPr lang="en-US" altLang="ko-KR" sz="1400" b="0">
                <a:latin typeface="Tahoma" panose="020B0604030504040204" pitchFamily="34" charset="0"/>
                <a:ea typeface="Gulim" panose="020B0600000101010101" pitchFamily="34" charset="-127"/>
              </a:rPr>
              <a:t>Arbitrary choose k object as initial medoids</a:t>
            </a:r>
            <a:endParaRPr lang="en-US" altLang="ko-KR" sz="1400" b="0">
              <a:latin typeface="Tahoma" panose="020B0604030504040204" pitchFamily="34" charset="0"/>
              <a:ea typeface="Gulim" panose="020B0600000101010101" pitchFamily="34" charset="-127"/>
            </a:endParaRPr>
          </a:p>
        </p:txBody>
      </p:sp>
      <p:graphicFrame>
        <p:nvGraphicFramePr>
          <p:cNvPr id="94" name="Object 2140"/>
          <p:cNvGraphicFramePr>
            <a:graphicFrameLocks noChangeAspect="1"/>
          </p:cNvGraphicFramePr>
          <p:nvPr/>
        </p:nvGraphicFramePr>
        <p:xfrm>
          <a:off x="3411096" y="1066800"/>
          <a:ext cx="2514600" cy="2362200"/>
        </p:xfrm>
        <a:graphic>
          <a:graphicData uri="http://schemas.openxmlformats.org/presentationml/2006/ole">
            <mc:AlternateContent xmlns:mc="http://schemas.openxmlformats.org/markup-compatibility/2006">
              <mc:Choice xmlns:v="urn:schemas-microsoft-com:vml" Requires="v">
                <p:oleObj spid="_x0000_s30727" name="Worksheet" r:id="rId3" imgW="2618740" imgH="2472055" progId="Excel.Sheet.8">
                  <p:embed/>
                </p:oleObj>
              </mc:Choice>
              <mc:Fallback>
                <p:oleObj name="Worksheet" r:id="rId3" imgW="2618740" imgH="2472055" progId="Excel.Sheet.8">
                  <p:embed/>
                  <p:pic>
                    <p:nvPicPr>
                      <p:cNvPr id="0" name="Object 21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1096" y="1066800"/>
                        <a:ext cx="251460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5" name="Line 2141"/>
          <p:cNvSpPr>
            <a:spLocks noChangeShapeType="1"/>
          </p:cNvSpPr>
          <p:nvPr/>
        </p:nvSpPr>
        <p:spPr bwMode="auto">
          <a:xfrm>
            <a:off x="5109721" y="2079625"/>
            <a:ext cx="0" cy="20161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spAutoFit/>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96" name="Line 2142"/>
          <p:cNvSpPr>
            <a:spLocks noChangeShapeType="1"/>
          </p:cNvSpPr>
          <p:nvPr/>
        </p:nvSpPr>
        <p:spPr bwMode="auto">
          <a:xfrm>
            <a:off x="5925696" y="1524000"/>
            <a:ext cx="762000" cy="0"/>
          </a:xfrm>
          <a:prstGeom prst="line">
            <a:avLst/>
          </a:prstGeom>
          <a:noFill/>
          <a:ln w="9525">
            <a:solidFill>
              <a:srgbClr val="000000"/>
            </a:solidFill>
            <a:miter lim="800000"/>
            <a:tailEnd type="triangle" w="med" len="med"/>
          </a:ln>
          <a:extLst>
            <a:ext uri="{909E8E84-426E-40DD-AFC4-6F175D3DCCD1}">
              <a14:hiddenFill xmlns:a14="http://schemas.microsoft.com/office/drawing/2010/main">
                <a:noFill/>
              </a14:hiddenFill>
            </a:ext>
          </a:extLst>
        </p:spPr>
        <p:txBody>
          <a:bodyPr wrap="none"/>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97" name="Text Box 2143"/>
          <p:cNvSpPr txBox="1">
            <a:spLocks noChangeArrowheads="1"/>
          </p:cNvSpPr>
          <p:nvPr/>
        </p:nvSpPr>
        <p:spPr bwMode="auto">
          <a:xfrm>
            <a:off x="5849496" y="1700212"/>
            <a:ext cx="9144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rIns="36000">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eaLnBrk="1" hangingPunct="1">
              <a:spcBef>
                <a:spcPct val="50000"/>
              </a:spcBef>
              <a:buClrTx/>
              <a:buFontTx/>
              <a:buNone/>
            </a:pPr>
            <a:r>
              <a:rPr lang="en-US" altLang="ko-KR" sz="1400" b="0">
                <a:latin typeface="Tahoma" panose="020B0604030504040204" pitchFamily="34" charset="0"/>
                <a:ea typeface="Gulim" panose="020B0600000101010101" pitchFamily="34" charset="-127"/>
              </a:rPr>
              <a:t>Assign each remaining object to nearest medoids</a:t>
            </a:r>
            <a:endParaRPr lang="en-US" altLang="ko-KR" sz="1400" b="0">
              <a:latin typeface="Tahoma" panose="020B0604030504040204" pitchFamily="34" charset="0"/>
              <a:ea typeface="Gulim" panose="020B0600000101010101" pitchFamily="34" charset="-127"/>
            </a:endParaRPr>
          </a:p>
        </p:txBody>
      </p:sp>
      <p:sp>
        <p:nvSpPr>
          <p:cNvPr id="98" name="Line 2144"/>
          <p:cNvSpPr>
            <a:spLocks noChangeShapeType="1"/>
          </p:cNvSpPr>
          <p:nvPr/>
        </p:nvSpPr>
        <p:spPr bwMode="auto">
          <a:xfrm>
            <a:off x="6763896" y="3429000"/>
            <a:ext cx="0" cy="381000"/>
          </a:xfrm>
          <a:prstGeom prst="line">
            <a:avLst/>
          </a:prstGeom>
          <a:noFill/>
          <a:ln w="9525">
            <a:solidFill>
              <a:srgbClr val="000000"/>
            </a:solidFill>
            <a:miter lim="800000"/>
            <a:tailEnd type="triangle" w="med" len="med"/>
          </a:ln>
          <a:extLst>
            <a:ext uri="{909E8E84-426E-40DD-AFC4-6F175D3DCCD1}">
              <a14:hiddenFill xmlns:a14="http://schemas.microsoft.com/office/drawing/2010/main">
                <a:noFill/>
              </a14:hiddenFill>
            </a:ext>
          </a:extLst>
        </p:spPr>
        <p:txBody>
          <a:bodyPr wrap="none"/>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99" name="Text Box 2145"/>
          <p:cNvSpPr txBox="1">
            <a:spLocks noChangeArrowheads="1"/>
          </p:cNvSpPr>
          <p:nvPr/>
        </p:nvSpPr>
        <p:spPr bwMode="auto">
          <a:xfrm>
            <a:off x="6916296" y="3429000"/>
            <a:ext cx="22098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eaLnBrk="1" hangingPunct="1">
              <a:spcBef>
                <a:spcPct val="50000"/>
              </a:spcBef>
              <a:buClrTx/>
              <a:buFontTx/>
              <a:buNone/>
            </a:pPr>
            <a:r>
              <a:rPr lang="en-US" altLang="ko-KR" sz="1400" b="0">
                <a:latin typeface="Tahoma" panose="020B0604030504040204" pitchFamily="34" charset="0"/>
                <a:ea typeface="Gulim" panose="020B0600000101010101" pitchFamily="34" charset="-127"/>
              </a:rPr>
              <a:t>Randomly select a nonmedoid object,O</a:t>
            </a:r>
            <a:r>
              <a:rPr lang="en-US" altLang="ko-KR" sz="1400" b="0" baseline="-25000">
                <a:latin typeface="Tahoma" panose="020B0604030504040204" pitchFamily="34" charset="0"/>
                <a:ea typeface="Gulim" panose="020B0600000101010101" pitchFamily="34" charset="-127"/>
              </a:rPr>
              <a:t>ramdom</a:t>
            </a:r>
            <a:endParaRPr lang="en-US" altLang="ko-KR" sz="1400" b="0" baseline="-25000">
              <a:latin typeface="Tahoma" panose="020B0604030504040204" pitchFamily="34" charset="0"/>
              <a:ea typeface="Gulim" panose="020B0600000101010101" pitchFamily="34" charset="-127"/>
            </a:endParaRPr>
          </a:p>
        </p:txBody>
      </p:sp>
      <p:sp>
        <p:nvSpPr>
          <p:cNvPr id="100" name="Line 2146"/>
          <p:cNvSpPr>
            <a:spLocks noChangeShapeType="1"/>
          </p:cNvSpPr>
          <p:nvPr/>
        </p:nvSpPr>
        <p:spPr bwMode="auto">
          <a:xfrm flipH="1">
            <a:off x="6001896" y="4114800"/>
            <a:ext cx="685800" cy="0"/>
          </a:xfrm>
          <a:prstGeom prst="line">
            <a:avLst/>
          </a:prstGeom>
          <a:noFill/>
          <a:ln w="9525">
            <a:solidFill>
              <a:srgbClr val="000000"/>
            </a:solidFill>
            <a:miter lim="800000"/>
            <a:tailEnd type="triangle" w="med" len="med"/>
          </a:ln>
          <a:extLst>
            <a:ext uri="{909E8E84-426E-40DD-AFC4-6F175D3DCCD1}">
              <a14:hiddenFill xmlns:a14="http://schemas.microsoft.com/office/drawing/2010/main">
                <a:noFill/>
              </a14:hiddenFill>
            </a:ext>
          </a:extLst>
        </p:spPr>
        <p:txBody>
          <a:bodyPr wrap="none"/>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01" name="Text Box 2147"/>
          <p:cNvSpPr txBox="1">
            <a:spLocks noChangeArrowheads="1"/>
          </p:cNvSpPr>
          <p:nvPr/>
        </p:nvSpPr>
        <p:spPr bwMode="auto">
          <a:xfrm>
            <a:off x="5697096" y="4267200"/>
            <a:ext cx="114300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eaLnBrk="1" hangingPunct="1">
              <a:spcBef>
                <a:spcPct val="50000"/>
              </a:spcBef>
              <a:buClrTx/>
              <a:buFontTx/>
              <a:buNone/>
            </a:pPr>
            <a:r>
              <a:rPr lang="en-US" altLang="ko-KR" sz="1400" b="0">
                <a:latin typeface="Tahoma" panose="020B0604030504040204" pitchFamily="34" charset="0"/>
                <a:ea typeface="Gulim" panose="020B0600000101010101" pitchFamily="34" charset="-127"/>
              </a:rPr>
              <a:t>Compute total cost of swapping</a:t>
            </a:r>
            <a:endParaRPr lang="en-US" altLang="ko-KR" sz="1400" b="0">
              <a:latin typeface="Tahoma" panose="020B0604030504040204" pitchFamily="34" charset="0"/>
              <a:ea typeface="Gulim" panose="020B0600000101010101" pitchFamily="34" charset="-127"/>
            </a:endParaRPr>
          </a:p>
        </p:txBody>
      </p:sp>
      <p:grpSp>
        <p:nvGrpSpPr>
          <p:cNvPr id="102" name="Group 2148"/>
          <p:cNvGrpSpPr/>
          <p:nvPr/>
        </p:nvGrpSpPr>
        <p:grpSpPr bwMode="auto">
          <a:xfrm>
            <a:off x="3526984" y="4002087"/>
            <a:ext cx="2176462" cy="2035175"/>
            <a:chOff x="2233" y="2905"/>
            <a:chExt cx="1371" cy="1282"/>
          </a:xfrm>
        </p:grpSpPr>
        <p:sp>
          <p:nvSpPr>
            <p:cNvPr id="103" name="Rectangle 2149"/>
            <p:cNvSpPr>
              <a:spLocks noChangeArrowheads="1"/>
            </p:cNvSpPr>
            <p:nvPr/>
          </p:nvSpPr>
          <p:spPr bwMode="auto">
            <a:xfrm>
              <a:off x="2233" y="2905"/>
              <a:ext cx="1371" cy="1282"/>
            </a:xfrm>
            <a:prstGeom prst="rect">
              <a:avLst/>
            </a:prstGeom>
            <a:solidFill>
              <a:srgbClr val="FFFFFF"/>
            </a:solidFill>
            <a:ln w="0">
              <a:solidFill>
                <a:srgbClr val="000000"/>
              </a:solidFill>
              <a:miter lim="800000"/>
            </a:ln>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b="0">
                <a:solidFill>
                  <a:srgbClr val="000000"/>
                </a:solidFill>
              </a:endParaRPr>
            </a:p>
          </p:txBody>
        </p:sp>
        <p:sp>
          <p:nvSpPr>
            <p:cNvPr id="104" name="Rectangle 2150"/>
            <p:cNvSpPr>
              <a:spLocks noChangeArrowheads="1"/>
            </p:cNvSpPr>
            <p:nvPr/>
          </p:nvSpPr>
          <p:spPr bwMode="auto">
            <a:xfrm>
              <a:off x="2376" y="3009"/>
              <a:ext cx="1154" cy="10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b="0">
                <a:solidFill>
                  <a:srgbClr val="000000"/>
                </a:solidFill>
              </a:endParaRPr>
            </a:p>
          </p:txBody>
        </p:sp>
        <p:sp>
          <p:nvSpPr>
            <p:cNvPr id="105" name="Line 2151"/>
            <p:cNvSpPr>
              <a:spLocks noChangeShapeType="1"/>
            </p:cNvSpPr>
            <p:nvPr/>
          </p:nvSpPr>
          <p:spPr bwMode="auto">
            <a:xfrm>
              <a:off x="2376" y="3928"/>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06" name="Line 2152"/>
            <p:cNvSpPr>
              <a:spLocks noChangeShapeType="1"/>
            </p:cNvSpPr>
            <p:nvPr/>
          </p:nvSpPr>
          <p:spPr bwMode="auto">
            <a:xfrm>
              <a:off x="2376" y="3823"/>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07" name="Line 2153"/>
            <p:cNvSpPr>
              <a:spLocks noChangeShapeType="1"/>
            </p:cNvSpPr>
            <p:nvPr/>
          </p:nvSpPr>
          <p:spPr bwMode="auto">
            <a:xfrm>
              <a:off x="2376" y="3725"/>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08" name="Line 2154"/>
            <p:cNvSpPr>
              <a:spLocks noChangeShapeType="1"/>
            </p:cNvSpPr>
            <p:nvPr/>
          </p:nvSpPr>
          <p:spPr bwMode="auto">
            <a:xfrm>
              <a:off x="2376" y="3620"/>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09" name="Line 2155"/>
            <p:cNvSpPr>
              <a:spLocks noChangeShapeType="1"/>
            </p:cNvSpPr>
            <p:nvPr/>
          </p:nvSpPr>
          <p:spPr bwMode="auto">
            <a:xfrm>
              <a:off x="2376" y="3521"/>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10" name="Line 2156"/>
            <p:cNvSpPr>
              <a:spLocks noChangeShapeType="1"/>
            </p:cNvSpPr>
            <p:nvPr/>
          </p:nvSpPr>
          <p:spPr bwMode="auto">
            <a:xfrm>
              <a:off x="2376" y="3416"/>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11" name="Line 2157"/>
            <p:cNvSpPr>
              <a:spLocks noChangeShapeType="1"/>
            </p:cNvSpPr>
            <p:nvPr/>
          </p:nvSpPr>
          <p:spPr bwMode="auto">
            <a:xfrm>
              <a:off x="2376" y="3318"/>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12" name="Line 2158"/>
            <p:cNvSpPr>
              <a:spLocks noChangeShapeType="1"/>
            </p:cNvSpPr>
            <p:nvPr/>
          </p:nvSpPr>
          <p:spPr bwMode="auto">
            <a:xfrm>
              <a:off x="2376" y="3213"/>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13" name="Line 2159"/>
            <p:cNvSpPr>
              <a:spLocks noChangeShapeType="1"/>
            </p:cNvSpPr>
            <p:nvPr/>
          </p:nvSpPr>
          <p:spPr bwMode="auto">
            <a:xfrm>
              <a:off x="2376" y="3114"/>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14" name="Line 2160"/>
            <p:cNvSpPr>
              <a:spLocks noChangeShapeType="1"/>
            </p:cNvSpPr>
            <p:nvPr/>
          </p:nvSpPr>
          <p:spPr bwMode="auto">
            <a:xfrm>
              <a:off x="2376" y="3009"/>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15" name="Line 2161"/>
            <p:cNvSpPr>
              <a:spLocks noChangeShapeType="1"/>
            </p:cNvSpPr>
            <p:nvPr/>
          </p:nvSpPr>
          <p:spPr bwMode="auto">
            <a:xfrm>
              <a:off x="2495"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16" name="Line 2162"/>
            <p:cNvSpPr>
              <a:spLocks noChangeShapeType="1"/>
            </p:cNvSpPr>
            <p:nvPr/>
          </p:nvSpPr>
          <p:spPr bwMode="auto">
            <a:xfrm>
              <a:off x="2607"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17" name="Line 2163"/>
            <p:cNvSpPr>
              <a:spLocks noChangeShapeType="1"/>
            </p:cNvSpPr>
            <p:nvPr/>
          </p:nvSpPr>
          <p:spPr bwMode="auto">
            <a:xfrm>
              <a:off x="2725"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18" name="Line 2164"/>
            <p:cNvSpPr>
              <a:spLocks noChangeShapeType="1"/>
            </p:cNvSpPr>
            <p:nvPr/>
          </p:nvSpPr>
          <p:spPr bwMode="auto">
            <a:xfrm>
              <a:off x="2838"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19" name="Line 2165"/>
            <p:cNvSpPr>
              <a:spLocks noChangeShapeType="1"/>
            </p:cNvSpPr>
            <p:nvPr/>
          </p:nvSpPr>
          <p:spPr bwMode="auto">
            <a:xfrm>
              <a:off x="2956"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20" name="Line 2166"/>
            <p:cNvSpPr>
              <a:spLocks noChangeShapeType="1"/>
            </p:cNvSpPr>
            <p:nvPr/>
          </p:nvSpPr>
          <p:spPr bwMode="auto">
            <a:xfrm>
              <a:off x="3068"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21" name="Line 2167"/>
            <p:cNvSpPr>
              <a:spLocks noChangeShapeType="1"/>
            </p:cNvSpPr>
            <p:nvPr/>
          </p:nvSpPr>
          <p:spPr bwMode="auto">
            <a:xfrm>
              <a:off x="3187"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22" name="Line 2168"/>
            <p:cNvSpPr>
              <a:spLocks noChangeShapeType="1"/>
            </p:cNvSpPr>
            <p:nvPr/>
          </p:nvSpPr>
          <p:spPr bwMode="auto">
            <a:xfrm>
              <a:off x="3299"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23" name="Line 2169"/>
            <p:cNvSpPr>
              <a:spLocks noChangeShapeType="1"/>
            </p:cNvSpPr>
            <p:nvPr/>
          </p:nvSpPr>
          <p:spPr bwMode="auto">
            <a:xfrm>
              <a:off x="3417"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24" name="Line 2170"/>
            <p:cNvSpPr>
              <a:spLocks noChangeShapeType="1"/>
            </p:cNvSpPr>
            <p:nvPr/>
          </p:nvSpPr>
          <p:spPr bwMode="auto">
            <a:xfrm>
              <a:off x="3530"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25" name="Rectangle 2171"/>
            <p:cNvSpPr>
              <a:spLocks noChangeArrowheads="1"/>
            </p:cNvSpPr>
            <p:nvPr/>
          </p:nvSpPr>
          <p:spPr bwMode="auto">
            <a:xfrm>
              <a:off x="2376" y="3009"/>
              <a:ext cx="1154" cy="101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b="0">
                <a:solidFill>
                  <a:srgbClr val="000000"/>
                </a:solidFill>
              </a:endParaRPr>
            </a:p>
          </p:txBody>
        </p:sp>
        <p:sp>
          <p:nvSpPr>
            <p:cNvPr id="126" name="Line 2172"/>
            <p:cNvSpPr>
              <a:spLocks noChangeShapeType="1"/>
            </p:cNvSpPr>
            <p:nvPr/>
          </p:nvSpPr>
          <p:spPr bwMode="auto">
            <a:xfrm>
              <a:off x="2376"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27" name="Line 2173"/>
            <p:cNvSpPr>
              <a:spLocks noChangeShapeType="1"/>
            </p:cNvSpPr>
            <p:nvPr/>
          </p:nvSpPr>
          <p:spPr bwMode="auto">
            <a:xfrm>
              <a:off x="2364" y="4027"/>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28" name="Line 2174"/>
            <p:cNvSpPr>
              <a:spLocks noChangeShapeType="1"/>
            </p:cNvSpPr>
            <p:nvPr/>
          </p:nvSpPr>
          <p:spPr bwMode="auto">
            <a:xfrm>
              <a:off x="2364" y="3928"/>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29" name="Line 2175"/>
            <p:cNvSpPr>
              <a:spLocks noChangeShapeType="1"/>
            </p:cNvSpPr>
            <p:nvPr/>
          </p:nvSpPr>
          <p:spPr bwMode="auto">
            <a:xfrm>
              <a:off x="2364" y="3823"/>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30" name="Line 2176"/>
            <p:cNvSpPr>
              <a:spLocks noChangeShapeType="1"/>
            </p:cNvSpPr>
            <p:nvPr/>
          </p:nvSpPr>
          <p:spPr bwMode="auto">
            <a:xfrm>
              <a:off x="2364" y="3725"/>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31" name="Line 2177"/>
            <p:cNvSpPr>
              <a:spLocks noChangeShapeType="1"/>
            </p:cNvSpPr>
            <p:nvPr/>
          </p:nvSpPr>
          <p:spPr bwMode="auto">
            <a:xfrm>
              <a:off x="2364" y="3620"/>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32" name="Line 2178"/>
            <p:cNvSpPr>
              <a:spLocks noChangeShapeType="1"/>
            </p:cNvSpPr>
            <p:nvPr/>
          </p:nvSpPr>
          <p:spPr bwMode="auto">
            <a:xfrm>
              <a:off x="2364" y="3521"/>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33" name="Line 2179"/>
            <p:cNvSpPr>
              <a:spLocks noChangeShapeType="1"/>
            </p:cNvSpPr>
            <p:nvPr/>
          </p:nvSpPr>
          <p:spPr bwMode="auto">
            <a:xfrm>
              <a:off x="2364" y="3416"/>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34" name="Line 2180"/>
            <p:cNvSpPr>
              <a:spLocks noChangeShapeType="1"/>
            </p:cNvSpPr>
            <p:nvPr/>
          </p:nvSpPr>
          <p:spPr bwMode="auto">
            <a:xfrm>
              <a:off x="2364" y="3318"/>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35" name="Line 2181"/>
            <p:cNvSpPr>
              <a:spLocks noChangeShapeType="1"/>
            </p:cNvSpPr>
            <p:nvPr/>
          </p:nvSpPr>
          <p:spPr bwMode="auto">
            <a:xfrm>
              <a:off x="2364" y="3213"/>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36" name="Line 2182"/>
            <p:cNvSpPr>
              <a:spLocks noChangeShapeType="1"/>
            </p:cNvSpPr>
            <p:nvPr/>
          </p:nvSpPr>
          <p:spPr bwMode="auto">
            <a:xfrm>
              <a:off x="2364" y="3114"/>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37" name="Line 2183"/>
            <p:cNvSpPr>
              <a:spLocks noChangeShapeType="1"/>
            </p:cNvSpPr>
            <p:nvPr/>
          </p:nvSpPr>
          <p:spPr bwMode="auto">
            <a:xfrm>
              <a:off x="2364" y="3009"/>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38" name="Line 2184"/>
            <p:cNvSpPr>
              <a:spLocks noChangeShapeType="1"/>
            </p:cNvSpPr>
            <p:nvPr/>
          </p:nvSpPr>
          <p:spPr bwMode="auto">
            <a:xfrm>
              <a:off x="2376" y="4027"/>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39" name="Line 2185"/>
            <p:cNvSpPr>
              <a:spLocks noChangeShapeType="1"/>
            </p:cNvSpPr>
            <p:nvPr/>
          </p:nvSpPr>
          <p:spPr bwMode="auto">
            <a:xfrm flipV="1">
              <a:off x="2376"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40" name="Line 2186"/>
            <p:cNvSpPr>
              <a:spLocks noChangeShapeType="1"/>
            </p:cNvSpPr>
            <p:nvPr/>
          </p:nvSpPr>
          <p:spPr bwMode="auto">
            <a:xfrm flipV="1">
              <a:off x="2495"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41" name="Line 2187"/>
            <p:cNvSpPr>
              <a:spLocks noChangeShapeType="1"/>
            </p:cNvSpPr>
            <p:nvPr/>
          </p:nvSpPr>
          <p:spPr bwMode="auto">
            <a:xfrm flipV="1">
              <a:off x="2607"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42" name="Line 2188"/>
            <p:cNvSpPr>
              <a:spLocks noChangeShapeType="1"/>
            </p:cNvSpPr>
            <p:nvPr/>
          </p:nvSpPr>
          <p:spPr bwMode="auto">
            <a:xfrm flipV="1">
              <a:off x="2725"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43" name="Line 2189"/>
            <p:cNvSpPr>
              <a:spLocks noChangeShapeType="1"/>
            </p:cNvSpPr>
            <p:nvPr/>
          </p:nvSpPr>
          <p:spPr bwMode="auto">
            <a:xfrm flipV="1">
              <a:off x="2838"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44" name="Line 2190"/>
            <p:cNvSpPr>
              <a:spLocks noChangeShapeType="1"/>
            </p:cNvSpPr>
            <p:nvPr/>
          </p:nvSpPr>
          <p:spPr bwMode="auto">
            <a:xfrm flipV="1">
              <a:off x="2956"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45" name="Line 2191"/>
            <p:cNvSpPr>
              <a:spLocks noChangeShapeType="1"/>
            </p:cNvSpPr>
            <p:nvPr/>
          </p:nvSpPr>
          <p:spPr bwMode="auto">
            <a:xfrm flipV="1">
              <a:off x="3068"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46" name="Line 2192"/>
            <p:cNvSpPr>
              <a:spLocks noChangeShapeType="1"/>
            </p:cNvSpPr>
            <p:nvPr/>
          </p:nvSpPr>
          <p:spPr bwMode="auto">
            <a:xfrm flipV="1">
              <a:off x="3187"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47" name="Line 2193"/>
            <p:cNvSpPr>
              <a:spLocks noChangeShapeType="1"/>
            </p:cNvSpPr>
            <p:nvPr/>
          </p:nvSpPr>
          <p:spPr bwMode="auto">
            <a:xfrm flipV="1">
              <a:off x="3299"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48" name="Line 2194"/>
            <p:cNvSpPr>
              <a:spLocks noChangeShapeType="1"/>
            </p:cNvSpPr>
            <p:nvPr/>
          </p:nvSpPr>
          <p:spPr bwMode="auto">
            <a:xfrm flipV="1">
              <a:off x="3417"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49" name="Line 2195"/>
            <p:cNvSpPr>
              <a:spLocks noChangeShapeType="1"/>
            </p:cNvSpPr>
            <p:nvPr/>
          </p:nvSpPr>
          <p:spPr bwMode="auto">
            <a:xfrm flipV="1">
              <a:off x="3530"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50" name="Freeform 2196"/>
            <p:cNvSpPr/>
            <p:nvPr/>
          </p:nvSpPr>
          <p:spPr bwMode="auto">
            <a:xfrm>
              <a:off x="2682" y="3577"/>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FFFF"/>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51" name="Freeform 2197"/>
            <p:cNvSpPr/>
            <p:nvPr/>
          </p:nvSpPr>
          <p:spPr bwMode="auto">
            <a:xfrm>
              <a:off x="2563" y="3373"/>
              <a:ext cx="88" cy="87"/>
            </a:xfrm>
            <a:custGeom>
              <a:avLst/>
              <a:gdLst>
                <a:gd name="T0" fmla="*/ 44 w 88"/>
                <a:gd name="T1" fmla="*/ 0 h 87"/>
                <a:gd name="T2" fmla="*/ 88 w 88"/>
                <a:gd name="T3" fmla="*/ 43 h 87"/>
                <a:gd name="T4" fmla="*/ 44 w 88"/>
                <a:gd name="T5" fmla="*/ 87 h 87"/>
                <a:gd name="T6" fmla="*/ 0 w 88"/>
                <a:gd name="T7" fmla="*/ 43 h 87"/>
                <a:gd name="T8" fmla="*/ 44 w 88"/>
                <a:gd name="T9" fmla="*/ 0 h 87"/>
                <a:gd name="T10" fmla="*/ 0 60000 65536"/>
                <a:gd name="T11" fmla="*/ 0 60000 65536"/>
                <a:gd name="T12" fmla="*/ 0 60000 65536"/>
                <a:gd name="T13" fmla="*/ 0 60000 65536"/>
                <a:gd name="T14" fmla="*/ 0 60000 65536"/>
                <a:gd name="T15" fmla="*/ 0 w 88"/>
                <a:gd name="T16" fmla="*/ 0 h 87"/>
                <a:gd name="T17" fmla="*/ 88 w 88"/>
                <a:gd name="T18" fmla="*/ 87 h 87"/>
              </a:gdLst>
              <a:ahLst/>
              <a:cxnLst>
                <a:cxn ang="T10">
                  <a:pos x="T0" y="T1"/>
                </a:cxn>
                <a:cxn ang="T11">
                  <a:pos x="T2" y="T3"/>
                </a:cxn>
                <a:cxn ang="T12">
                  <a:pos x="T4" y="T5"/>
                </a:cxn>
                <a:cxn ang="T13">
                  <a:pos x="T6" y="T7"/>
                </a:cxn>
                <a:cxn ang="T14">
                  <a:pos x="T8" y="T9"/>
                </a:cxn>
              </a:cxnLst>
              <a:rect l="T15" t="T16" r="T17" b="T18"/>
              <a:pathLst>
                <a:path w="88" h="87">
                  <a:moveTo>
                    <a:pt x="44" y="0"/>
                  </a:moveTo>
                  <a:lnTo>
                    <a:pt x="88" y="43"/>
                  </a:lnTo>
                  <a:lnTo>
                    <a:pt x="44" y="87"/>
                  </a:lnTo>
                  <a:lnTo>
                    <a:pt x="0" y="43"/>
                  </a:lnTo>
                  <a:lnTo>
                    <a:pt x="44" y="0"/>
                  </a:lnTo>
                  <a:close/>
                </a:path>
              </a:pathLst>
            </a:custGeom>
            <a:solidFill>
              <a:srgbClr val="00FFFF"/>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52" name="Freeform 2198"/>
            <p:cNvSpPr/>
            <p:nvPr/>
          </p:nvSpPr>
          <p:spPr bwMode="auto">
            <a:xfrm>
              <a:off x="3143" y="3681"/>
              <a:ext cx="87" cy="87"/>
            </a:xfrm>
            <a:custGeom>
              <a:avLst/>
              <a:gdLst>
                <a:gd name="T0" fmla="*/ 44 w 87"/>
                <a:gd name="T1" fmla="*/ 0 h 87"/>
                <a:gd name="T2" fmla="*/ 87 w 87"/>
                <a:gd name="T3" fmla="*/ 44 h 87"/>
                <a:gd name="T4" fmla="*/ 44 w 87"/>
                <a:gd name="T5" fmla="*/ 87 h 87"/>
                <a:gd name="T6" fmla="*/ 0 w 87"/>
                <a:gd name="T7" fmla="*/ 44 h 87"/>
                <a:gd name="T8" fmla="*/ 44 w 87"/>
                <a:gd name="T9" fmla="*/ 0 h 87"/>
                <a:gd name="T10" fmla="*/ 0 60000 65536"/>
                <a:gd name="T11" fmla="*/ 0 60000 65536"/>
                <a:gd name="T12" fmla="*/ 0 60000 65536"/>
                <a:gd name="T13" fmla="*/ 0 60000 65536"/>
                <a:gd name="T14" fmla="*/ 0 60000 65536"/>
                <a:gd name="T15" fmla="*/ 0 w 87"/>
                <a:gd name="T16" fmla="*/ 0 h 87"/>
                <a:gd name="T17" fmla="*/ 87 w 87"/>
                <a:gd name="T18" fmla="*/ 87 h 87"/>
              </a:gdLst>
              <a:ahLst/>
              <a:cxnLst>
                <a:cxn ang="T10">
                  <a:pos x="T0" y="T1"/>
                </a:cxn>
                <a:cxn ang="T11">
                  <a:pos x="T2" y="T3"/>
                </a:cxn>
                <a:cxn ang="T12">
                  <a:pos x="T4" y="T5"/>
                </a:cxn>
                <a:cxn ang="T13">
                  <a:pos x="T6" y="T7"/>
                </a:cxn>
                <a:cxn ang="T14">
                  <a:pos x="T8" y="T9"/>
                </a:cxn>
              </a:cxnLst>
              <a:rect l="T15" t="T16" r="T17" b="T18"/>
              <a:pathLst>
                <a:path w="87" h="87">
                  <a:moveTo>
                    <a:pt x="44" y="0"/>
                  </a:moveTo>
                  <a:lnTo>
                    <a:pt x="87" y="44"/>
                  </a:lnTo>
                  <a:lnTo>
                    <a:pt x="44" y="87"/>
                  </a:lnTo>
                  <a:lnTo>
                    <a:pt x="0" y="44"/>
                  </a:lnTo>
                  <a:lnTo>
                    <a:pt x="44" y="0"/>
                  </a:lnTo>
                  <a:close/>
                </a:path>
              </a:pathLst>
            </a:custGeom>
            <a:solidFill>
              <a:srgbClr val="00FFFF"/>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53" name="Freeform 2199"/>
            <p:cNvSpPr/>
            <p:nvPr/>
          </p:nvSpPr>
          <p:spPr bwMode="auto">
            <a:xfrm>
              <a:off x="2794" y="3275"/>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54" name="Freeform 2200"/>
            <p:cNvSpPr/>
            <p:nvPr/>
          </p:nvSpPr>
          <p:spPr bwMode="auto">
            <a:xfrm>
              <a:off x="2682" y="3170"/>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0080"/>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55" name="Freeform 2201"/>
            <p:cNvSpPr/>
            <p:nvPr/>
          </p:nvSpPr>
          <p:spPr bwMode="auto">
            <a:xfrm>
              <a:off x="3255" y="3478"/>
              <a:ext cx="88" cy="86"/>
            </a:xfrm>
            <a:custGeom>
              <a:avLst/>
              <a:gdLst>
                <a:gd name="T0" fmla="*/ 44 w 88"/>
                <a:gd name="T1" fmla="*/ 0 h 86"/>
                <a:gd name="T2" fmla="*/ 88 w 88"/>
                <a:gd name="T3" fmla="*/ 43 h 86"/>
                <a:gd name="T4" fmla="*/ 44 w 88"/>
                <a:gd name="T5" fmla="*/ 86 h 86"/>
                <a:gd name="T6" fmla="*/ 0 w 88"/>
                <a:gd name="T7" fmla="*/ 43 h 86"/>
                <a:gd name="T8" fmla="*/ 44 w 88"/>
                <a:gd name="T9" fmla="*/ 0 h 86"/>
                <a:gd name="T10" fmla="*/ 0 60000 65536"/>
                <a:gd name="T11" fmla="*/ 0 60000 65536"/>
                <a:gd name="T12" fmla="*/ 0 60000 65536"/>
                <a:gd name="T13" fmla="*/ 0 60000 65536"/>
                <a:gd name="T14" fmla="*/ 0 60000 65536"/>
                <a:gd name="T15" fmla="*/ 0 w 88"/>
                <a:gd name="T16" fmla="*/ 0 h 86"/>
                <a:gd name="T17" fmla="*/ 88 w 88"/>
                <a:gd name="T18" fmla="*/ 86 h 86"/>
              </a:gdLst>
              <a:ahLst/>
              <a:cxnLst>
                <a:cxn ang="T10">
                  <a:pos x="T0" y="T1"/>
                </a:cxn>
                <a:cxn ang="T11">
                  <a:pos x="T2" y="T3"/>
                </a:cxn>
                <a:cxn ang="T12">
                  <a:pos x="T4" y="T5"/>
                </a:cxn>
                <a:cxn ang="T13">
                  <a:pos x="T6" y="T7"/>
                </a:cxn>
                <a:cxn ang="T14">
                  <a:pos x="T8" y="T9"/>
                </a:cxn>
              </a:cxnLst>
              <a:rect l="T15" t="T16" r="T17" b="T18"/>
              <a:pathLst>
                <a:path w="88" h="86">
                  <a:moveTo>
                    <a:pt x="44" y="0"/>
                  </a:moveTo>
                  <a:lnTo>
                    <a:pt x="88" y="43"/>
                  </a:lnTo>
                  <a:lnTo>
                    <a:pt x="44" y="86"/>
                  </a:lnTo>
                  <a:lnTo>
                    <a:pt x="0" y="43"/>
                  </a:lnTo>
                  <a:lnTo>
                    <a:pt x="44" y="0"/>
                  </a:lnTo>
                  <a:close/>
                </a:path>
              </a:pathLst>
            </a:custGeom>
            <a:solidFill>
              <a:srgbClr val="00FFFF"/>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56" name="Freeform 2202"/>
            <p:cNvSpPr/>
            <p:nvPr/>
          </p:nvSpPr>
          <p:spPr bwMode="auto">
            <a:xfrm>
              <a:off x="3143" y="3577"/>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E4A8"/>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57" name="Freeform 2203"/>
            <p:cNvSpPr/>
            <p:nvPr/>
          </p:nvSpPr>
          <p:spPr bwMode="auto">
            <a:xfrm>
              <a:off x="3143" y="3373"/>
              <a:ext cx="87" cy="87"/>
            </a:xfrm>
            <a:custGeom>
              <a:avLst/>
              <a:gdLst>
                <a:gd name="T0" fmla="*/ 44 w 87"/>
                <a:gd name="T1" fmla="*/ 0 h 87"/>
                <a:gd name="T2" fmla="*/ 87 w 87"/>
                <a:gd name="T3" fmla="*/ 43 h 87"/>
                <a:gd name="T4" fmla="*/ 44 w 87"/>
                <a:gd name="T5" fmla="*/ 87 h 87"/>
                <a:gd name="T6" fmla="*/ 0 w 87"/>
                <a:gd name="T7" fmla="*/ 43 h 87"/>
                <a:gd name="T8" fmla="*/ 44 w 87"/>
                <a:gd name="T9" fmla="*/ 0 h 87"/>
                <a:gd name="T10" fmla="*/ 0 60000 65536"/>
                <a:gd name="T11" fmla="*/ 0 60000 65536"/>
                <a:gd name="T12" fmla="*/ 0 60000 65536"/>
                <a:gd name="T13" fmla="*/ 0 60000 65536"/>
                <a:gd name="T14" fmla="*/ 0 60000 65536"/>
                <a:gd name="T15" fmla="*/ 0 w 87"/>
                <a:gd name="T16" fmla="*/ 0 h 87"/>
                <a:gd name="T17" fmla="*/ 87 w 87"/>
                <a:gd name="T18" fmla="*/ 87 h 87"/>
              </a:gdLst>
              <a:ahLst/>
              <a:cxnLst>
                <a:cxn ang="T10">
                  <a:pos x="T0" y="T1"/>
                </a:cxn>
                <a:cxn ang="T11">
                  <a:pos x="T2" y="T3"/>
                </a:cxn>
                <a:cxn ang="T12">
                  <a:pos x="T4" y="T5"/>
                </a:cxn>
                <a:cxn ang="T13">
                  <a:pos x="T6" y="T7"/>
                </a:cxn>
                <a:cxn ang="T14">
                  <a:pos x="T8" y="T9"/>
                </a:cxn>
              </a:cxnLst>
              <a:rect l="T15" t="T16" r="T17" b="T18"/>
              <a:pathLst>
                <a:path w="87" h="87">
                  <a:moveTo>
                    <a:pt x="44" y="0"/>
                  </a:moveTo>
                  <a:lnTo>
                    <a:pt x="87" y="43"/>
                  </a:lnTo>
                  <a:lnTo>
                    <a:pt x="44" y="87"/>
                  </a:lnTo>
                  <a:lnTo>
                    <a:pt x="0" y="43"/>
                  </a:lnTo>
                  <a:lnTo>
                    <a:pt x="44" y="0"/>
                  </a:lnTo>
                  <a:close/>
                </a:path>
              </a:pathLst>
            </a:custGeom>
            <a:solidFill>
              <a:srgbClr val="00FFFF"/>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58" name="Rectangle 2204"/>
            <p:cNvSpPr>
              <a:spLocks noChangeArrowheads="1"/>
            </p:cNvSpPr>
            <p:nvPr/>
          </p:nvSpPr>
          <p:spPr bwMode="auto">
            <a:xfrm>
              <a:off x="2321" y="4008"/>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0</a:t>
              </a:r>
              <a:endParaRPr lang="ko-KR" altLang="en-US" b="0">
                <a:solidFill>
                  <a:srgbClr val="000000"/>
                </a:solidFill>
                <a:ea typeface="Gulim" panose="020B0600000101010101" pitchFamily="34" charset="-127"/>
              </a:endParaRPr>
            </a:p>
          </p:txBody>
        </p:sp>
        <p:sp>
          <p:nvSpPr>
            <p:cNvPr id="159" name="Rectangle 2205"/>
            <p:cNvSpPr>
              <a:spLocks noChangeArrowheads="1"/>
            </p:cNvSpPr>
            <p:nvPr/>
          </p:nvSpPr>
          <p:spPr bwMode="auto">
            <a:xfrm>
              <a:off x="2321" y="391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1</a:t>
              </a:r>
              <a:endParaRPr lang="ko-KR" altLang="en-US" b="0">
                <a:solidFill>
                  <a:srgbClr val="000000"/>
                </a:solidFill>
                <a:ea typeface="Gulim" panose="020B0600000101010101" pitchFamily="34" charset="-127"/>
              </a:endParaRPr>
            </a:p>
          </p:txBody>
        </p:sp>
        <p:sp>
          <p:nvSpPr>
            <p:cNvPr id="160" name="Rectangle 2206"/>
            <p:cNvSpPr>
              <a:spLocks noChangeArrowheads="1"/>
            </p:cNvSpPr>
            <p:nvPr/>
          </p:nvSpPr>
          <p:spPr bwMode="auto">
            <a:xfrm>
              <a:off x="2321" y="3805"/>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2</a:t>
              </a:r>
              <a:endParaRPr lang="ko-KR" altLang="en-US" b="0">
                <a:solidFill>
                  <a:srgbClr val="000000"/>
                </a:solidFill>
                <a:ea typeface="Gulim" panose="020B0600000101010101" pitchFamily="34" charset="-127"/>
              </a:endParaRPr>
            </a:p>
          </p:txBody>
        </p:sp>
        <p:sp>
          <p:nvSpPr>
            <p:cNvPr id="161" name="Rectangle 2207"/>
            <p:cNvSpPr>
              <a:spLocks noChangeArrowheads="1"/>
            </p:cNvSpPr>
            <p:nvPr/>
          </p:nvSpPr>
          <p:spPr bwMode="auto">
            <a:xfrm>
              <a:off x="2321" y="3706"/>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3</a:t>
              </a:r>
              <a:endParaRPr lang="ko-KR" altLang="en-US" b="0">
                <a:solidFill>
                  <a:srgbClr val="000000"/>
                </a:solidFill>
                <a:ea typeface="Gulim" panose="020B0600000101010101" pitchFamily="34" charset="-127"/>
              </a:endParaRPr>
            </a:p>
          </p:txBody>
        </p:sp>
        <p:sp>
          <p:nvSpPr>
            <p:cNvPr id="162" name="Rectangle 2208"/>
            <p:cNvSpPr>
              <a:spLocks noChangeArrowheads="1"/>
            </p:cNvSpPr>
            <p:nvPr/>
          </p:nvSpPr>
          <p:spPr bwMode="auto">
            <a:xfrm>
              <a:off x="2321" y="3601"/>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4</a:t>
              </a:r>
              <a:endParaRPr lang="ko-KR" altLang="en-US" b="0">
                <a:solidFill>
                  <a:srgbClr val="000000"/>
                </a:solidFill>
                <a:ea typeface="Gulim" panose="020B0600000101010101" pitchFamily="34" charset="-127"/>
              </a:endParaRPr>
            </a:p>
          </p:txBody>
        </p:sp>
        <p:sp>
          <p:nvSpPr>
            <p:cNvPr id="163" name="Rectangle 2209"/>
            <p:cNvSpPr>
              <a:spLocks noChangeArrowheads="1"/>
            </p:cNvSpPr>
            <p:nvPr/>
          </p:nvSpPr>
          <p:spPr bwMode="auto">
            <a:xfrm>
              <a:off x="2321" y="3503"/>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5</a:t>
              </a:r>
              <a:endParaRPr lang="ko-KR" altLang="en-US" b="0">
                <a:solidFill>
                  <a:srgbClr val="000000"/>
                </a:solidFill>
                <a:ea typeface="Gulim" panose="020B0600000101010101" pitchFamily="34" charset="-127"/>
              </a:endParaRPr>
            </a:p>
          </p:txBody>
        </p:sp>
        <p:sp>
          <p:nvSpPr>
            <p:cNvPr id="164" name="Rectangle 2210"/>
            <p:cNvSpPr>
              <a:spLocks noChangeArrowheads="1"/>
            </p:cNvSpPr>
            <p:nvPr/>
          </p:nvSpPr>
          <p:spPr bwMode="auto">
            <a:xfrm>
              <a:off x="2321" y="3398"/>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6</a:t>
              </a:r>
              <a:endParaRPr lang="ko-KR" altLang="en-US" b="0">
                <a:solidFill>
                  <a:srgbClr val="000000"/>
                </a:solidFill>
                <a:ea typeface="Gulim" panose="020B0600000101010101" pitchFamily="34" charset="-127"/>
              </a:endParaRPr>
            </a:p>
          </p:txBody>
        </p:sp>
        <p:sp>
          <p:nvSpPr>
            <p:cNvPr id="165" name="Rectangle 2211"/>
            <p:cNvSpPr>
              <a:spLocks noChangeArrowheads="1"/>
            </p:cNvSpPr>
            <p:nvPr/>
          </p:nvSpPr>
          <p:spPr bwMode="auto">
            <a:xfrm>
              <a:off x="2321" y="3299"/>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7</a:t>
              </a:r>
              <a:endParaRPr lang="ko-KR" altLang="en-US" b="0">
                <a:solidFill>
                  <a:srgbClr val="000000"/>
                </a:solidFill>
                <a:ea typeface="Gulim" panose="020B0600000101010101" pitchFamily="34" charset="-127"/>
              </a:endParaRPr>
            </a:p>
          </p:txBody>
        </p:sp>
        <p:sp>
          <p:nvSpPr>
            <p:cNvPr id="166" name="Rectangle 2212"/>
            <p:cNvSpPr>
              <a:spLocks noChangeArrowheads="1"/>
            </p:cNvSpPr>
            <p:nvPr/>
          </p:nvSpPr>
          <p:spPr bwMode="auto">
            <a:xfrm>
              <a:off x="2321" y="3194"/>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8</a:t>
              </a:r>
              <a:endParaRPr lang="ko-KR" altLang="en-US" b="0">
                <a:solidFill>
                  <a:srgbClr val="000000"/>
                </a:solidFill>
                <a:ea typeface="Gulim" panose="020B0600000101010101" pitchFamily="34" charset="-127"/>
              </a:endParaRPr>
            </a:p>
          </p:txBody>
        </p:sp>
        <p:sp>
          <p:nvSpPr>
            <p:cNvPr id="167" name="Rectangle 2213"/>
            <p:cNvSpPr>
              <a:spLocks noChangeArrowheads="1"/>
            </p:cNvSpPr>
            <p:nvPr/>
          </p:nvSpPr>
          <p:spPr bwMode="auto">
            <a:xfrm>
              <a:off x="2321" y="3096"/>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9</a:t>
              </a:r>
              <a:endParaRPr lang="ko-KR" altLang="en-US" b="0">
                <a:solidFill>
                  <a:srgbClr val="000000"/>
                </a:solidFill>
                <a:ea typeface="Gulim" panose="020B0600000101010101" pitchFamily="34" charset="-127"/>
              </a:endParaRPr>
            </a:p>
          </p:txBody>
        </p:sp>
        <p:sp>
          <p:nvSpPr>
            <p:cNvPr id="168" name="Rectangle 2214"/>
            <p:cNvSpPr>
              <a:spLocks noChangeArrowheads="1"/>
            </p:cNvSpPr>
            <p:nvPr/>
          </p:nvSpPr>
          <p:spPr bwMode="auto">
            <a:xfrm>
              <a:off x="2295" y="2991"/>
              <a:ext cx="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10</a:t>
              </a:r>
              <a:endParaRPr lang="ko-KR" altLang="en-US" b="0">
                <a:solidFill>
                  <a:srgbClr val="000000"/>
                </a:solidFill>
                <a:ea typeface="Gulim" panose="020B0600000101010101" pitchFamily="34" charset="-127"/>
              </a:endParaRPr>
            </a:p>
          </p:txBody>
        </p:sp>
        <p:sp>
          <p:nvSpPr>
            <p:cNvPr id="169" name="Rectangle 2215"/>
            <p:cNvSpPr>
              <a:spLocks noChangeArrowheads="1"/>
            </p:cNvSpPr>
            <p:nvPr/>
          </p:nvSpPr>
          <p:spPr bwMode="auto">
            <a:xfrm>
              <a:off x="2365"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0</a:t>
              </a:r>
              <a:endParaRPr lang="ko-KR" altLang="en-US" b="0">
                <a:solidFill>
                  <a:srgbClr val="000000"/>
                </a:solidFill>
                <a:ea typeface="Gulim" panose="020B0600000101010101" pitchFamily="34" charset="-127"/>
              </a:endParaRPr>
            </a:p>
          </p:txBody>
        </p:sp>
        <p:sp>
          <p:nvSpPr>
            <p:cNvPr id="170" name="Rectangle 2216"/>
            <p:cNvSpPr>
              <a:spLocks noChangeArrowheads="1"/>
            </p:cNvSpPr>
            <p:nvPr/>
          </p:nvSpPr>
          <p:spPr bwMode="auto">
            <a:xfrm>
              <a:off x="2484"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1</a:t>
              </a:r>
              <a:endParaRPr lang="ko-KR" altLang="en-US" b="0">
                <a:solidFill>
                  <a:srgbClr val="000000"/>
                </a:solidFill>
                <a:ea typeface="Gulim" panose="020B0600000101010101" pitchFamily="34" charset="-127"/>
              </a:endParaRPr>
            </a:p>
          </p:txBody>
        </p:sp>
        <p:sp>
          <p:nvSpPr>
            <p:cNvPr id="171" name="Rectangle 2217"/>
            <p:cNvSpPr>
              <a:spLocks noChangeArrowheads="1"/>
            </p:cNvSpPr>
            <p:nvPr/>
          </p:nvSpPr>
          <p:spPr bwMode="auto">
            <a:xfrm>
              <a:off x="2596"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2</a:t>
              </a:r>
              <a:endParaRPr lang="ko-KR" altLang="en-US" b="0">
                <a:solidFill>
                  <a:srgbClr val="000000"/>
                </a:solidFill>
                <a:ea typeface="Gulim" panose="020B0600000101010101" pitchFamily="34" charset="-127"/>
              </a:endParaRPr>
            </a:p>
          </p:txBody>
        </p:sp>
        <p:sp>
          <p:nvSpPr>
            <p:cNvPr id="172" name="Rectangle 2218"/>
            <p:cNvSpPr>
              <a:spLocks noChangeArrowheads="1"/>
            </p:cNvSpPr>
            <p:nvPr/>
          </p:nvSpPr>
          <p:spPr bwMode="auto">
            <a:xfrm>
              <a:off x="2714"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3</a:t>
              </a:r>
              <a:endParaRPr lang="ko-KR" altLang="en-US" b="0">
                <a:solidFill>
                  <a:srgbClr val="000000"/>
                </a:solidFill>
                <a:ea typeface="Gulim" panose="020B0600000101010101" pitchFamily="34" charset="-127"/>
              </a:endParaRPr>
            </a:p>
          </p:txBody>
        </p:sp>
        <p:sp>
          <p:nvSpPr>
            <p:cNvPr id="173" name="Rectangle 2219"/>
            <p:cNvSpPr>
              <a:spLocks noChangeArrowheads="1"/>
            </p:cNvSpPr>
            <p:nvPr/>
          </p:nvSpPr>
          <p:spPr bwMode="auto">
            <a:xfrm>
              <a:off x="2826"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4</a:t>
              </a:r>
              <a:endParaRPr lang="ko-KR" altLang="en-US" b="0">
                <a:solidFill>
                  <a:srgbClr val="000000"/>
                </a:solidFill>
                <a:ea typeface="Gulim" panose="020B0600000101010101" pitchFamily="34" charset="-127"/>
              </a:endParaRPr>
            </a:p>
          </p:txBody>
        </p:sp>
        <p:sp>
          <p:nvSpPr>
            <p:cNvPr id="174" name="Rectangle 2220"/>
            <p:cNvSpPr>
              <a:spLocks noChangeArrowheads="1"/>
            </p:cNvSpPr>
            <p:nvPr/>
          </p:nvSpPr>
          <p:spPr bwMode="auto">
            <a:xfrm>
              <a:off x="2945"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5</a:t>
              </a:r>
              <a:endParaRPr lang="ko-KR" altLang="en-US" b="0">
                <a:solidFill>
                  <a:srgbClr val="000000"/>
                </a:solidFill>
                <a:ea typeface="Gulim" panose="020B0600000101010101" pitchFamily="34" charset="-127"/>
              </a:endParaRPr>
            </a:p>
          </p:txBody>
        </p:sp>
        <p:sp>
          <p:nvSpPr>
            <p:cNvPr id="175" name="Rectangle 2221"/>
            <p:cNvSpPr>
              <a:spLocks noChangeArrowheads="1"/>
            </p:cNvSpPr>
            <p:nvPr/>
          </p:nvSpPr>
          <p:spPr bwMode="auto">
            <a:xfrm>
              <a:off x="3057"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6</a:t>
              </a:r>
              <a:endParaRPr lang="ko-KR" altLang="en-US" b="0">
                <a:solidFill>
                  <a:srgbClr val="000000"/>
                </a:solidFill>
                <a:ea typeface="Gulim" panose="020B0600000101010101" pitchFamily="34" charset="-127"/>
              </a:endParaRPr>
            </a:p>
          </p:txBody>
        </p:sp>
        <p:sp>
          <p:nvSpPr>
            <p:cNvPr id="176" name="Rectangle 2222"/>
            <p:cNvSpPr>
              <a:spLocks noChangeArrowheads="1"/>
            </p:cNvSpPr>
            <p:nvPr/>
          </p:nvSpPr>
          <p:spPr bwMode="auto">
            <a:xfrm>
              <a:off x="3175"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7</a:t>
              </a:r>
              <a:endParaRPr lang="ko-KR" altLang="en-US" b="0">
                <a:solidFill>
                  <a:srgbClr val="000000"/>
                </a:solidFill>
                <a:ea typeface="Gulim" panose="020B0600000101010101" pitchFamily="34" charset="-127"/>
              </a:endParaRPr>
            </a:p>
          </p:txBody>
        </p:sp>
        <p:sp>
          <p:nvSpPr>
            <p:cNvPr id="177" name="Rectangle 2223"/>
            <p:cNvSpPr>
              <a:spLocks noChangeArrowheads="1"/>
            </p:cNvSpPr>
            <p:nvPr/>
          </p:nvSpPr>
          <p:spPr bwMode="auto">
            <a:xfrm>
              <a:off x="3288"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8</a:t>
              </a:r>
              <a:endParaRPr lang="ko-KR" altLang="en-US" b="0">
                <a:solidFill>
                  <a:srgbClr val="000000"/>
                </a:solidFill>
                <a:ea typeface="Gulim" panose="020B0600000101010101" pitchFamily="34" charset="-127"/>
              </a:endParaRPr>
            </a:p>
          </p:txBody>
        </p:sp>
        <p:sp>
          <p:nvSpPr>
            <p:cNvPr id="178" name="Rectangle 2224"/>
            <p:cNvSpPr>
              <a:spLocks noChangeArrowheads="1"/>
            </p:cNvSpPr>
            <p:nvPr/>
          </p:nvSpPr>
          <p:spPr bwMode="auto">
            <a:xfrm>
              <a:off x="3406"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9</a:t>
              </a:r>
              <a:endParaRPr lang="ko-KR" altLang="en-US" b="0">
                <a:solidFill>
                  <a:srgbClr val="000000"/>
                </a:solidFill>
                <a:ea typeface="Gulim" panose="020B0600000101010101" pitchFamily="34" charset="-127"/>
              </a:endParaRPr>
            </a:p>
          </p:txBody>
        </p:sp>
        <p:sp>
          <p:nvSpPr>
            <p:cNvPr id="179" name="Rectangle 2225"/>
            <p:cNvSpPr>
              <a:spLocks noChangeArrowheads="1"/>
            </p:cNvSpPr>
            <p:nvPr/>
          </p:nvSpPr>
          <p:spPr bwMode="auto">
            <a:xfrm>
              <a:off x="3498" y="4070"/>
              <a:ext cx="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10</a:t>
              </a:r>
              <a:endParaRPr lang="ko-KR" altLang="en-US" b="0">
                <a:solidFill>
                  <a:srgbClr val="000000"/>
                </a:solidFill>
                <a:ea typeface="Gulim" panose="020B0600000101010101" pitchFamily="34" charset="-127"/>
              </a:endParaRPr>
            </a:p>
          </p:txBody>
        </p:sp>
        <p:sp>
          <p:nvSpPr>
            <p:cNvPr id="180" name="Rectangle 2226"/>
            <p:cNvSpPr>
              <a:spLocks noChangeArrowheads="1"/>
            </p:cNvSpPr>
            <p:nvPr/>
          </p:nvSpPr>
          <p:spPr bwMode="auto">
            <a:xfrm>
              <a:off x="2233" y="2905"/>
              <a:ext cx="1371" cy="1282"/>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b="0">
                <a:solidFill>
                  <a:srgbClr val="000000"/>
                </a:solidFill>
              </a:endParaRPr>
            </a:p>
          </p:txBody>
        </p:sp>
        <p:sp>
          <p:nvSpPr>
            <p:cNvPr id="181" name="Line 2227"/>
            <p:cNvSpPr>
              <a:spLocks noChangeShapeType="1"/>
            </p:cNvSpPr>
            <p:nvPr/>
          </p:nvSpPr>
          <p:spPr bwMode="auto">
            <a:xfrm>
              <a:off x="3181" y="3456"/>
              <a:ext cx="0" cy="11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spAutoFit/>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82" name="Freeform 2228"/>
            <p:cNvSpPr/>
            <p:nvPr/>
          </p:nvSpPr>
          <p:spPr bwMode="auto">
            <a:xfrm>
              <a:off x="3033" y="3600"/>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83" name="Freeform 2229"/>
            <p:cNvSpPr/>
            <p:nvPr/>
          </p:nvSpPr>
          <p:spPr bwMode="auto">
            <a:xfrm>
              <a:off x="3024" y="3792"/>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FF0000"/>
            </a:solidFill>
            <a:ln w="9525">
              <a:solidFill>
                <a:srgbClr val="FF000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grpSp>
      <p:sp>
        <p:nvSpPr>
          <p:cNvPr id="184" name="Rectangle 2230"/>
          <p:cNvSpPr>
            <a:spLocks noChangeArrowheads="1"/>
          </p:cNvSpPr>
          <p:nvPr/>
        </p:nvSpPr>
        <p:spPr bwMode="auto">
          <a:xfrm>
            <a:off x="3557146" y="3657600"/>
            <a:ext cx="15732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en-US" altLang="ko-KR" sz="1400" b="0">
                <a:ea typeface="Gulim" panose="020B0600000101010101" pitchFamily="34" charset="-127"/>
              </a:rPr>
              <a:t>Total Cost = 26</a:t>
            </a:r>
            <a:endParaRPr lang="en-US" altLang="ko-KR" sz="1400" b="0">
              <a:ea typeface="Gulim" panose="020B0600000101010101" pitchFamily="34" charset="-127"/>
            </a:endParaRPr>
          </a:p>
        </p:txBody>
      </p:sp>
      <p:sp>
        <p:nvSpPr>
          <p:cNvPr id="185" name="Line 2231"/>
          <p:cNvSpPr>
            <a:spLocks noChangeShapeType="1"/>
          </p:cNvSpPr>
          <p:nvPr/>
        </p:nvSpPr>
        <p:spPr bwMode="auto">
          <a:xfrm flipV="1">
            <a:off x="5316096" y="3505200"/>
            <a:ext cx="0" cy="381000"/>
          </a:xfrm>
          <a:prstGeom prst="line">
            <a:avLst/>
          </a:prstGeom>
          <a:noFill/>
          <a:ln w="9525">
            <a:solidFill>
              <a:srgbClr val="000000"/>
            </a:solidFill>
            <a:miter lim="800000"/>
            <a:tailEnd type="triangle" w="med" len="med"/>
          </a:ln>
          <a:extLst>
            <a:ext uri="{909E8E84-426E-40DD-AFC4-6F175D3DCCD1}">
              <a14:hiddenFill xmlns:a14="http://schemas.microsoft.com/office/drawing/2010/main">
                <a:noFill/>
              </a14:hiddenFill>
            </a:ext>
          </a:extLst>
        </p:spPr>
        <p:txBody>
          <a:bodyPr wrap="none"/>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86" name="Text Box 2232"/>
          <p:cNvSpPr txBox="1">
            <a:spLocks noChangeArrowheads="1"/>
          </p:cNvSpPr>
          <p:nvPr/>
        </p:nvSpPr>
        <p:spPr bwMode="auto">
          <a:xfrm>
            <a:off x="2344296" y="4419600"/>
            <a:ext cx="1219200"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rIns="36000">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eaLnBrk="1" hangingPunct="1">
              <a:spcBef>
                <a:spcPct val="50000"/>
              </a:spcBef>
              <a:buClrTx/>
              <a:buFontTx/>
              <a:buNone/>
            </a:pPr>
            <a:r>
              <a:rPr lang="en-US" altLang="ko-KR" sz="1400" b="0">
                <a:latin typeface="Tahoma" panose="020B0604030504040204" pitchFamily="34" charset="0"/>
                <a:ea typeface="Gulim" panose="020B0600000101010101" pitchFamily="34" charset="-127"/>
              </a:rPr>
              <a:t>Swapping O and O</a:t>
            </a:r>
            <a:r>
              <a:rPr lang="en-US" altLang="ko-KR" sz="1400" b="0" baseline="-25000">
                <a:latin typeface="Tahoma" panose="020B0604030504040204" pitchFamily="34" charset="0"/>
                <a:ea typeface="Gulim" panose="020B0600000101010101" pitchFamily="34" charset="-127"/>
              </a:rPr>
              <a:t>ramdom </a:t>
            </a:r>
            <a:endParaRPr lang="en-US" altLang="ko-KR" sz="1400" b="0" baseline="-25000">
              <a:latin typeface="Tahoma" panose="020B0604030504040204" pitchFamily="34" charset="0"/>
              <a:ea typeface="Gulim" panose="020B0600000101010101" pitchFamily="34" charset="-127"/>
            </a:endParaRPr>
          </a:p>
          <a:p>
            <a:pPr algn="ctr" eaLnBrk="1" hangingPunct="1">
              <a:spcBef>
                <a:spcPct val="50000"/>
              </a:spcBef>
              <a:buClrTx/>
              <a:buFontTx/>
              <a:buNone/>
            </a:pPr>
            <a:r>
              <a:rPr lang="en-US" altLang="ko-KR" sz="1400" b="0">
                <a:latin typeface="Tahoma" panose="020B0604030504040204" pitchFamily="34" charset="0"/>
                <a:ea typeface="Gulim" panose="020B0600000101010101" pitchFamily="34" charset="-127"/>
              </a:rPr>
              <a:t>If quality is improved.</a:t>
            </a:r>
            <a:endParaRPr lang="en-US" altLang="ko-KR" sz="1400" b="0">
              <a:latin typeface="Tahoma" panose="020B0604030504040204" pitchFamily="34" charset="0"/>
              <a:ea typeface="Gulim" panose="020B0600000101010101" pitchFamily="34" charset="-127"/>
            </a:endParaRPr>
          </a:p>
        </p:txBody>
      </p:sp>
      <p:sp>
        <p:nvSpPr>
          <p:cNvPr id="187" name="Text Box 2233"/>
          <p:cNvSpPr txBox="1">
            <a:spLocks noChangeArrowheads="1"/>
          </p:cNvSpPr>
          <p:nvPr/>
        </p:nvSpPr>
        <p:spPr bwMode="auto">
          <a:xfrm>
            <a:off x="-17904" y="4548187"/>
            <a:ext cx="23320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eaLnBrk="1" hangingPunct="1">
              <a:spcBef>
                <a:spcPct val="0"/>
              </a:spcBef>
              <a:buClrTx/>
              <a:buFontTx/>
              <a:buNone/>
            </a:pPr>
            <a:r>
              <a:rPr lang="en-US" altLang="ko-KR" sz="2000">
                <a:latin typeface="Tahoma" panose="020B0604030504040204" pitchFamily="34" charset="0"/>
                <a:ea typeface="Gulim" panose="020B0600000101010101" pitchFamily="34" charset="-127"/>
              </a:rPr>
              <a:t>Do loop</a:t>
            </a:r>
            <a:endParaRPr lang="en-US" altLang="ko-KR" sz="2000">
              <a:latin typeface="Tahoma" panose="020B0604030504040204" pitchFamily="34" charset="0"/>
              <a:ea typeface="Gulim" panose="020B0600000101010101" pitchFamily="34" charset="-127"/>
            </a:endParaRPr>
          </a:p>
          <a:p>
            <a:pPr algn="ctr" eaLnBrk="1" hangingPunct="1">
              <a:spcBef>
                <a:spcPct val="0"/>
              </a:spcBef>
              <a:buClrTx/>
              <a:buFontTx/>
              <a:buNone/>
            </a:pPr>
            <a:r>
              <a:rPr lang="en-US" altLang="ko-KR" sz="2000">
                <a:latin typeface="Tahoma" panose="020B0604030504040204" pitchFamily="34" charset="0"/>
                <a:ea typeface="Gulim" panose="020B0600000101010101" pitchFamily="34" charset="-127"/>
              </a:rPr>
              <a:t>Until no change</a:t>
            </a:r>
            <a:endParaRPr lang="en-US" altLang="ko-KR" sz="2000">
              <a:latin typeface="Tahoma" panose="020B0604030504040204" pitchFamily="34" charset="0"/>
              <a:ea typeface="Gulim" panose="020B0600000101010101" pitchFamily="34" charset="-127"/>
            </a:endParaRPr>
          </a:p>
        </p:txBody>
      </p:sp>
      <p:grpSp>
        <p:nvGrpSpPr>
          <p:cNvPr id="188" name="Group 2234"/>
          <p:cNvGrpSpPr/>
          <p:nvPr/>
        </p:nvGrpSpPr>
        <p:grpSpPr bwMode="auto">
          <a:xfrm>
            <a:off x="6803584" y="4002087"/>
            <a:ext cx="2176462" cy="2035175"/>
            <a:chOff x="4297" y="2905"/>
            <a:chExt cx="1371" cy="1282"/>
          </a:xfrm>
        </p:grpSpPr>
        <p:sp>
          <p:nvSpPr>
            <p:cNvPr id="189" name="Rectangle 2235"/>
            <p:cNvSpPr>
              <a:spLocks noChangeArrowheads="1"/>
            </p:cNvSpPr>
            <p:nvPr/>
          </p:nvSpPr>
          <p:spPr bwMode="auto">
            <a:xfrm>
              <a:off x="4297" y="2905"/>
              <a:ext cx="1371" cy="1282"/>
            </a:xfrm>
            <a:prstGeom prst="rect">
              <a:avLst/>
            </a:prstGeom>
            <a:solidFill>
              <a:srgbClr val="FFFFFF"/>
            </a:solidFill>
            <a:ln w="0">
              <a:solidFill>
                <a:srgbClr val="000000"/>
              </a:solidFill>
              <a:miter lim="800000"/>
            </a:ln>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b="0">
                <a:solidFill>
                  <a:srgbClr val="000000"/>
                </a:solidFill>
              </a:endParaRPr>
            </a:p>
          </p:txBody>
        </p:sp>
        <p:sp>
          <p:nvSpPr>
            <p:cNvPr id="190" name="Rectangle 2236"/>
            <p:cNvSpPr>
              <a:spLocks noChangeArrowheads="1"/>
            </p:cNvSpPr>
            <p:nvPr/>
          </p:nvSpPr>
          <p:spPr bwMode="auto">
            <a:xfrm>
              <a:off x="4440" y="3009"/>
              <a:ext cx="1154" cy="101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b="0">
                <a:solidFill>
                  <a:srgbClr val="000000"/>
                </a:solidFill>
              </a:endParaRPr>
            </a:p>
          </p:txBody>
        </p:sp>
        <p:sp>
          <p:nvSpPr>
            <p:cNvPr id="191" name="Line 2237"/>
            <p:cNvSpPr>
              <a:spLocks noChangeShapeType="1"/>
            </p:cNvSpPr>
            <p:nvPr/>
          </p:nvSpPr>
          <p:spPr bwMode="auto">
            <a:xfrm>
              <a:off x="4440" y="3928"/>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92" name="Line 2238"/>
            <p:cNvSpPr>
              <a:spLocks noChangeShapeType="1"/>
            </p:cNvSpPr>
            <p:nvPr/>
          </p:nvSpPr>
          <p:spPr bwMode="auto">
            <a:xfrm>
              <a:off x="4440" y="3823"/>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93" name="Line 2239"/>
            <p:cNvSpPr>
              <a:spLocks noChangeShapeType="1"/>
            </p:cNvSpPr>
            <p:nvPr/>
          </p:nvSpPr>
          <p:spPr bwMode="auto">
            <a:xfrm>
              <a:off x="4440" y="3725"/>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94" name="Line 2240"/>
            <p:cNvSpPr>
              <a:spLocks noChangeShapeType="1"/>
            </p:cNvSpPr>
            <p:nvPr/>
          </p:nvSpPr>
          <p:spPr bwMode="auto">
            <a:xfrm>
              <a:off x="4440" y="3620"/>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95" name="Line 2241"/>
            <p:cNvSpPr>
              <a:spLocks noChangeShapeType="1"/>
            </p:cNvSpPr>
            <p:nvPr/>
          </p:nvSpPr>
          <p:spPr bwMode="auto">
            <a:xfrm>
              <a:off x="4440" y="3521"/>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96" name="Line 2242"/>
            <p:cNvSpPr>
              <a:spLocks noChangeShapeType="1"/>
            </p:cNvSpPr>
            <p:nvPr/>
          </p:nvSpPr>
          <p:spPr bwMode="auto">
            <a:xfrm>
              <a:off x="4440" y="3416"/>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97" name="Line 2243"/>
            <p:cNvSpPr>
              <a:spLocks noChangeShapeType="1"/>
            </p:cNvSpPr>
            <p:nvPr/>
          </p:nvSpPr>
          <p:spPr bwMode="auto">
            <a:xfrm>
              <a:off x="4440" y="3318"/>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98" name="Line 2244"/>
            <p:cNvSpPr>
              <a:spLocks noChangeShapeType="1"/>
            </p:cNvSpPr>
            <p:nvPr/>
          </p:nvSpPr>
          <p:spPr bwMode="auto">
            <a:xfrm>
              <a:off x="4440" y="3213"/>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199" name="Line 2245"/>
            <p:cNvSpPr>
              <a:spLocks noChangeShapeType="1"/>
            </p:cNvSpPr>
            <p:nvPr/>
          </p:nvSpPr>
          <p:spPr bwMode="auto">
            <a:xfrm>
              <a:off x="4440" y="3114"/>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00" name="Line 2246"/>
            <p:cNvSpPr>
              <a:spLocks noChangeShapeType="1"/>
            </p:cNvSpPr>
            <p:nvPr/>
          </p:nvSpPr>
          <p:spPr bwMode="auto">
            <a:xfrm>
              <a:off x="4440" y="3009"/>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01" name="Line 2247"/>
            <p:cNvSpPr>
              <a:spLocks noChangeShapeType="1"/>
            </p:cNvSpPr>
            <p:nvPr/>
          </p:nvSpPr>
          <p:spPr bwMode="auto">
            <a:xfrm>
              <a:off x="4559"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02" name="Line 2248"/>
            <p:cNvSpPr>
              <a:spLocks noChangeShapeType="1"/>
            </p:cNvSpPr>
            <p:nvPr/>
          </p:nvSpPr>
          <p:spPr bwMode="auto">
            <a:xfrm>
              <a:off x="4671"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03" name="Line 2249"/>
            <p:cNvSpPr>
              <a:spLocks noChangeShapeType="1"/>
            </p:cNvSpPr>
            <p:nvPr/>
          </p:nvSpPr>
          <p:spPr bwMode="auto">
            <a:xfrm>
              <a:off x="4789"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04" name="Line 2250"/>
            <p:cNvSpPr>
              <a:spLocks noChangeShapeType="1"/>
            </p:cNvSpPr>
            <p:nvPr/>
          </p:nvSpPr>
          <p:spPr bwMode="auto">
            <a:xfrm>
              <a:off x="4902"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05" name="Line 2251"/>
            <p:cNvSpPr>
              <a:spLocks noChangeShapeType="1"/>
            </p:cNvSpPr>
            <p:nvPr/>
          </p:nvSpPr>
          <p:spPr bwMode="auto">
            <a:xfrm>
              <a:off x="5020"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06" name="Line 2252"/>
            <p:cNvSpPr>
              <a:spLocks noChangeShapeType="1"/>
            </p:cNvSpPr>
            <p:nvPr/>
          </p:nvSpPr>
          <p:spPr bwMode="auto">
            <a:xfrm>
              <a:off x="5132"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07" name="Line 2253"/>
            <p:cNvSpPr>
              <a:spLocks noChangeShapeType="1"/>
            </p:cNvSpPr>
            <p:nvPr/>
          </p:nvSpPr>
          <p:spPr bwMode="auto">
            <a:xfrm>
              <a:off x="5251"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08" name="Line 2254"/>
            <p:cNvSpPr>
              <a:spLocks noChangeShapeType="1"/>
            </p:cNvSpPr>
            <p:nvPr/>
          </p:nvSpPr>
          <p:spPr bwMode="auto">
            <a:xfrm>
              <a:off x="5363"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09" name="Line 2255"/>
            <p:cNvSpPr>
              <a:spLocks noChangeShapeType="1"/>
            </p:cNvSpPr>
            <p:nvPr/>
          </p:nvSpPr>
          <p:spPr bwMode="auto">
            <a:xfrm>
              <a:off x="5481"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10" name="Line 2256"/>
            <p:cNvSpPr>
              <a:spLocks noChangeShapeType="1"/>
            </p:cNvSpPr>
            <p:nvPr/>
          </p:nvSpPr>
          <p:spPr bwMode="auto">
            <a:xfrm>
              <a:off x="5594"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11" name="Rectangle 2257"/>
            <p:cNvSpPr>
              <a:spLocks noChangeArrowheads="1"/>
            </p:cNvSpPr>
            <p:nvPr/>
          </p:nvSpPr>
          <p:spPr bwMode="auto">
            <a:xfrm>
              <a:off x="4440" y="3009"/>
              <a:ext cx="1154" cy="101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b="0">
                <a:solidFill>
                  <a:srgbClr val="000000"/>
                </a:solidFill>
              </a:endParaRPr>
            </a:p>
          </p:txBody>
        </p:sp>
        <p:sp>
          <p:nvSpPr>
            <p:cNvPr id="212" name="Line 2258"/>
            <p:cNvSpPr>
              <a:spLocks noChangeShapeType="1"/>
            </p:cNvSpPr>
            <p:nvPr/>
          </p:nvSpPr>
          <p:spPr bwMode="auto">
            <a:xfrm>
              <a:off x="4440" y="3009"/>
              <a:ext cx="1" cy="101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13" name="Line 2259"/>
            <p:cNvSpPr>
              <a:spLocks noChangeShapeType="1"/>
            </p:cNvSpPr>
            <p:nvPr/>
          </p:nvSpPr>
          <p:spPr bwMode="auto">
            <a:xfrm>
              <a:off x="4428" y="4027"/>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14" name="Line 2260"/>
            <p:cNvSpPr>
              <a:spLocks noChangeShapeType="1"/>
            </p:cNvSpPr>
            <p:nvPr/>
          </p:nvSpPr>
          <p:spPr bwMode="auto">
            <a:xfrm>
              <a:off x="4428" y="3928"/>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15" name="Line 2261"/>
            <p:cNvSpPr>
              <a:spLocks noChangeShapeType="1"/>
            </p:cNvSpPr>
            <p:nvPr/>
          </p:nvSpPr>
          <p:spPr bwMode="auto">
            <a:xfrm>
              <a:off x="4428" y="3823"/>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16" name="Line 2262"/>
            <p:cNvSpPr>
              <a:spLocks noChangeShapeType="1"/>
            </p:cNvSpPr>
            <p:nvPr/>
          </p:nvSpPr>
          <p:spPr bwMode="auto">
            <a:xfrm>
              <a:off x="4428" y="3725"/>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17" name="Line 2263"/>
            <p:cNvSpPr>
              <a:spLocks noChangeShapeType="1"/>
            </p:cNvSpPr>
            <p:nvPr/>
          </p:nvSpPr>
          <p:spPr bwMode="auto">
            <a:xfrm>
              <a:off x="4428" y="3620"/>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18" name="Line 2264"/>
            <p:cNvSpPr>
              <a:spLocks noChangeShapeType="1"/>
            </p:cNvSpPr>
            <p:nvPr/>
          </p:nvSpPr>
          <p:spPr bwMode="auto">
            <a:xfrm>
              <a:off x="4428" y="3521"/>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19" name="Line 2265"/>
            <p:cNvSpPr>
              <a:spLocks noChangeShapeType="1"/>
            </p:cNvSpPr>
            <p:nvPr/>
          </p:nvSpPr>
          <p:spPr bwMode="auto">
            <a:xfrm>
              <a:off x="4428" y="3416"/>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20" name="Line 2266"/>
            <p:cNvSpPr>
              <a:spLocks noChangeShapeType="1"/>
            </p:cNvSpPr>
            <p:nvPr/>
          </p:nvSpPr>
          <p:spPr bwMode="auto">
            <a:xfrm>
              <a:off x="4428" y="3318"/>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21" name="Line 2267"/>
            <p:cNvSpPr>
              <a:spLocks noChangeShapeType="1"/>
            </p:cNvSpPr>
            <p:nvPr/>
          </p:nvSpPr>
          <p:spPr bwMode="auto">
            <a:xfrm>
              <a:off x="4428" y="3213"/>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22" name="Line 2268"/>
            <p:cNvSpPr>
              <a:spLocks noChangeShapeType="1"/>
            </p:cNvSpPr>
            <p:nvPr/>
          </p:nvSpPr>
          <p:spPr bwMode="auto">
            <a:xfrm>
              <a:off x="4428" y="3114"/>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23" name="Line 2269"/>
            <p:cNvSpPr>
              <a:spLocks noChangeShapeType="1"/>
            </p:cNvSpPr>
            <p:nvPr/>
          </p:nvSpPr>
          <p:spPr bwMode="auto">
            <a:xfrm>
              <a:off x="4428" y="3009"/>
              <a:ext cx="12"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24" name="Line 2270"/>
            <p:cNvSpPr>
              <a:spLocks noChangeShapeType="1"/>
            </p:cNvSpPr>
            <p:nvPr/>
          </p:nvSpPr>
          <p:spPr bwMode="auto">
            <a:xfrm>
              <a:off x="4440" y="4027"/>
              <a:ext cx="1154" cy="1"/>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25" name="Line 2271"/>
            <p:cNvSpPr>
              <a:spLocks noChangeShapeType="1"/>
            </p:cNvSpPr>
            <p:nvPr/>
          </p:nvSpPr>
          <p:spPr bwMode="auto">
            <a:xfrm flipV="1">
              <a:off x="4440"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26" name="Line 2272"/>
            <p:cNvSpPr>
              <a:spLocks noChangeShapeType="1"/>
            </p:cNvSpPr>
            <p:nvPr/>
          </p:nvSpPr>
          <p:spPr bwMode="auto">
            <a:xfrm flipV="1">
              <a:off x="4559"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27" name="Line 2273"/>
            <p:cNvSpPr>
              <a:spLocks noChangeShapeType="1"/>
            </p:cNvSpPr>
            <p:nvPr/>
          </p:nvSpPr>
          <p:spPr bwMode="auto">
            <a:xfrm flipV="1">
              <a:off x="4671"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28" name="Line 2274"/>
            <p:cNvSpPr>
              <a:spLocks noChangeShapeType="1"/>
            </p:cNvSpPr>
            <p:nvPr/>
          </p:nvSpPr>
          <p:spPr bwMode="auto">
            <a:xfrm flipV="1">
              <a:off x="4789"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29" name="Line 2275"/>
            <p:cNvSpPr>
              <a:spLocks noChangeShapeType="1"/>
            </p:cNvSpPr>
            <p:nvPr/>
          </p:nvSpPr>
          <p:spPr bwMode="auto">
            <a:xfrm flipV="1">
              <a:off x="4902"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30" name="Line 2276"/>
            <p:cNvSpPr>
              <a:spLocks noChangeShapeType="1"/>
            </p:cNvSpPr>
            <p:nvPr/>
          </p:nvSpPr>
          <p:spPr bwMode="auto">
            <a:xfrm flipV="1">
              <a:off x="5020"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31" name="Line 2277"/>
            <p:cNvSpPr>
              <a:spLocks noChangeShapeType="1"/>
            </p:cNvSpPr>
            <p:nvPr/>
          </p:nvSpPr>
          <p:spPr bwMode="auto">
            <a:xfrm flipV="1">
              <a:off x="5132"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32" name="Line 2278"/>
            <p:cNvSpPr>
              <a:spLocks noChangeShapeType="1"/>
            </p:cNvSpPr>
            <p:nvPr/>
          </p:nvSpPr>
          <p:spPr bwMode="auto">
            <a:xfrm flipV="1">
              <a:off x="5251"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33" name="Line 2279"/>
            <p:cNvSpPr>
              <a:spLocks noChangeShapeType="1"/>
            </p:cNvSpPr>
            <p:nvPr/>
          </p:nvSpPr>
          <p:spPr bwMode="auto">
            <a:xfrm flipV="1">
              <a:off x="5363"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34" name="Line 2280"/>
            <p:cNvSpPr>
              <a:spLocks noChangeShapeType="1"/>
            </p:cNvSpPr>
            <p:nvPr/>
          </p:nvSpPr>
          <p:spPr bwMode="auto">
            <a:xfrm flipV="1">
              <a:off x="5481"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35" name="Line 2281"/>
            <p:cNvSpPr>
              <a:spLocks noChangeShapeType="1"/>
            </p:cNvSpPr>
            <p:nvPr/>
          </p:nvSpPr>
          <p:spPr bwMode="auto">
            <a:xfrm flipV="1">
              <a:off x="5594" y="4027"/>
              <a:ext cx="1" cy="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36" name="Freeform 2282"/>
            <p:cNvSpPr/>
            <p:nvPr/>
          </p:nvSpPr>
          <p:spPr bwMode="auto">
            <a:xfrm>
              <a:off x="4746" y="3577"/>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FFFF"/>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37" name="Freeform 2283"/>
            <p:cNvSpPr/>
            <p:nvPr/>
          </p:nvSpPr>
          <p:spPr bwMode="auto">
            <a:xfrm>
              <a:off x="4627" y="3373"/>
              <a:ext cx="88" cy="87"/>
            </a:xfrm>
            <a:custGeom>
              <a:avLst/>
              <a:gdLst>
                <a:gd name="T0" fmla="*/ 44 w 88"/>
                <a:gd name="T1" fmla="*/ 0 h 87"/>
                <a:gd name="T2" fmla="*/ 88 w 88"/>
                <a:gd name="T3" fmla="*/ 43 h 87"/>
                <a:gd name="T4" fmla="*/ 44 w 88"/>
                <a:gd name="T5" fmla="*/ 87 h 87"/>
                <a:gd name="T6" fmla="*/ 0 w 88"/>
                <a:gd name="T7" fmla="*/ 43 h 87"/>
                <a:gd name="T8" fmla="*/ 44 w 88"/>
                <a:gd name="T9" fmla="*/ 0 h 87"/>
                <a:gd name="T10" fmla="*/ 0 60000 65536"/>
                <a:gd name="T11" fmla="*/ 0 60000 65536"/>
                <a:gd name="T12" fmla="*/ 0 60000 65536"/>
                <a:gd name="T13" fmla="*/ 0 60000 65536"/>
                <a:gd name="T14" fmla="*/ 0 60000 65536"/>
                <a:gd name="T15" fmla="*/ 0 w 88"/>
                <a:gd name="T16" fmla="*/ 0 h 87"/>
                <a:gd name="T17" fmla="*/ 88 w 88"/>
                <a:gd name="T18" fmla="*/ 87 h 87"/>
              </a:gdLst>
              <a:ahLst/>
              <a:cxnLst>
                <a:cxn ang="T10">
                  <a:pos x="T0" y="T1"/>
                </a:cxn>
                <a:cxn ang="T11">
                  <a:pos x="T2" y="T3"/>
                </a:cxn>
                <a:cxn ang="T12">
                  <a:pos x="T4" y="T5"/>
                </a:cxn>
                <a:cxn ang="T13">
                  <a:pos x="T6" y="T7"/>
                </a:cxn>
                <a:cxn ang="T14">
                  <a:pos x="T8" y="T9"/>
                </a:cxn>
              </a:cxnLst>
              <a:rect l="T15" t="T16" r="T17" b="T18"/>
              <a:pathLst>
                <a:path w="88" h="87">
                  <a:moveTo>
                    <a:pt x="44" y="0"/>
                  </a:moveTo>
                  <a:lnTo>
                    <a:pt x="88" y="43"/>
                  </a:lnTo>
                  <a:lnTo>
                    <a:pt x="44" y="87"/>
                  </a:lnTo>
                  <a:lnTo>
                    <a:pt x="0" y="43"/>
                  </a:lnTo>
                  <a:lnTo>
                    <a:pt x="44" y="0"/>
                  </a:lnTo>
                  <a:close/>
                </a:path>
              </a:pathLst>
            </a:custGeom>
            <a:solidFill>
              <a:srgbClr val="00FFFF"/>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38" name="Freeform 2284"/>
            <p:cNvSpPr/>
            <p:nvPr/>
          </p:nvSpPr>
          <p:spPr bwMode="auto">
            <a:xfrm>
              <a:off x="5207" y="3681"/>
              <a:ext cx="87" cy="87"/>
            </a:xfrm>
            <a:custGeom>
              <a:avLst/>
              <a:gdLst>
                <a:gd name="T0" fmla="*/ 44 w 87"/>
                <a:gd name="T1" fmla="*/ 0 h 87"/>
                <a:gd name="T2" fmla="*/ 87 w 87"/>
                <a:gd name="T3" fmla="*/ 44 h 87"/>
                <a:gd name="T4" fmla="*/ 44 w 87"/>
                <a:gd name="T5" fmla="*/ 87 h 87"/>
                <a:gd name="T6" fmla="*/ 0 w 87"/>
                <a:gd name="T7" fmla="*/ 44 h 87"/>
                <a:gd name="T8" fmla="*/ 44 w 87"/>
                <a:gd name="T9" fmla="*/ 0 h 87"/>
                <a:gd name="T10" fmla="*/ 0 60000 65536"/>
                <a:gd name="T11" fmla="*/ 0 60000 65536"/>
                <a:gd name="T12" fmla="*/ 0 60000 65536"/>
                <a:gd name="T13" fmla="*/ 0 60000 65536"/>
                <a:gd name="T14" fmla="*/ 0 60000 65536"/>
                <a:gd name="T15" fmla="*/ 0 w 87"/>
                <a:gd name="T16" fmla="*/ 0 h 87"/>
                <a:gd name="T17" fmla="*/ 87 w 87"/>
                <a:gd name="T18" fmla="*/ 87 h 87"/>
              </a:gdLst>
              <a:ahLst/>
              <a:cxnLst>
                <a:cxn ang="T10">
                  <a:pos x="T0" y="T1"/>
                </a:cxn>
                <a:cxn ang="T11">
                  <a:pos x="T2" y="T3"/>
                </a:cxn>
                <a:cxn ang="T12">
                  <a:pos x="T4" y="T5"/>
                </a:cxn>
                <a:cxn ang="T13">
                  <a:pos x="T6" y="T7"/>
                </a:cxn>
                <a:cxn ang="T14">
                  <a:pos x="T8" y="T9"/>
                </a:cxn>
              </a:cxnLst>
              <a:rect l="T15" t="T16" r="T17" b="T18"/>
              <a:pathLst>
                <a:path w="87" h="87">
                  <a:moveTo>
                    <a:pt x="44" y="0"/>
                  </a:moveTo>
                  <a:lnTo>
                    <a:pt x="87" y="44"/>
                  </a:lnTo>
                  <a:lnTo>
                    <a:pt x="44" y="87"/>
                  </a:lnTo>
                  <a:lnTo>
                    <a:pt x="0" y="44"/>
                  </a:lnTo>
                  <a:lnTo>
                    <a:pt x="44" y="0"/>
                  </a:lnTo>
                  <a:close/>
                </a:path>
              </a:pathLst>
            </a:custGeom>
            <a:solidFill>
              <a:srgbClr val="00FFFF"/>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39" name="Freeform 2285"/>
            <p:cNvSpPr/>
            <p:nvPr/>
          </p:nvSpPr>
          <p:spPr bwMode="auto">
            <a:xfrm>
              <a:off x="4858" y="3275"/>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40" name="Freeform 2286"/>
            <p:cNvSpPr/>
            <p:nvPr/>
          </p:nvSpPr>
          <p:spPr bwMode="auto">
            <a:xfrm>
              <a:off x="4746" y="3170"/>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0080"/>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41" name="Freeform 2287"/>
            <p:cNvSpPr/>
            <p:nvPr/>
          </p:nvSpPr>
          <p:spPr bwMode="auto">
            <a:xfrm>
              <a:off x="5319" y="3478"/>
              <a:ext cx="88" cy="86"/>
            </a:xfrm>
            <a:custGeom>
              <a:avLst/>
              <a:gdLst>
                <a:gd name="T0" fmla="*/ 44 w 88"/>
                <a:gd name="T1" fmla="*/ 0 h 86"/>
                <a:gd name="T2" fmla="*/ 88 w 88"/>
                <a:gd name="T3" fmla="*/ 43 h 86"/>
                <a:gd name="T4" fmla="*/ 44 w 88"/>
                <a:gd name="T5" fmla="*/ 86 h 86"/>
                <a:gd name="T6" fmla="*/ 0 w 88"/>
                <a:gd name="T7" fmla="*/ 43 h 86"/>
                <a:gd name="T8" fmla="*/ 44 w 88"/>
                <a:gd name="T9" fmla="*/ 0 h 86"/>
                <a:gd name="T10" fmla="*/ 0 60000 65536"/>
                <a:gd name="T11" fmla="*/ 0 60000 65536"/>
                <a:gd name="T12" fmla="*/ 0 60000 65536"/>
                <a:gd name="T13" fmla="*/ 0 60000 65536"/>
                <a:gd name="T14" fmla="*/ 0 60000 65536"/>
                <a:gd name="T15" fmla="*/ 0 w 88"/>
                <a:gd name="T16" fmla="*/ 0 h 86"/>
                <a:gd name="T17" fmla="*/ 88 w 88"/>
                <a:gd name="T18" fmla="*/ 86 h 86"/>
              </a:gdLst>
              <a:ahLst/>
              <a:cxnLst>
                <a:cxn ang="T10">
                  <a:pos x="T0" y="T1"/>
                </a:cxn>
                <a:cxn ang="T11">
                  <a:pos x="T2" y="T3"/>
                </a:cxn>
                <a:cxn ang="T12">
                  <a:pos x="T4" y="T5"/>
                </a:cxn>
                <a:cxn ang="T13">
                  <a:pos x="T6" y="T7"/>
                </a:cxn>
                <a:cxn ang="T14">
                  <a:pos x="T8" y="T9"/>
                </a:cxn>
              </a:cxnLst>
              <a:rect l="T15" t="T16" r="T17" b="T18"/>
              <a:pathLst>
                <a:path w="88" h="86">
                  <a:moveTo>
                    <a:pt x="44" y="0"/>
                  </a:moveTo>
                  <a:lnTo>
                    <a:pt x="88" y="43"/>
                  </a:lnTo>
                  <a:lnTo>
                    <a:pt x="44" y="86"/>
                  </a:lnTo>
                  <a:lnTo>
                    <a:pt x="0" y="43"/>
                  </a:lnTo>
                  <a:lnTo>
                    <a:pt x="44" y="0"/>
                  </a:lnTo>
                  <a:close/>
                </a:path>
              </a:pathLst>
            </a:custGeom>
            <a:solidFill>
              <a:srgbClr val="00FFFF"/>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42" name="Freeform 2288"/>
            <p:cNvSpPr/>
            <p:nvPr/>
          </p:nvSpPr>
          <p:spPr bwMode="auto">
            <a:xfrm>
              <a:off x="5089" y="3780"/>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FF0000"/>
            </a:solidFill>
            <a:ln w="9525">
              <a:solidFill>
                <a:srgbClr val="FF000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43" name="Freeform 2289"/>
            <p:cNvSpPr/>
            <p:nvPr/>
          </p:nvSpPr>
          <p:spPr bwMode="auto">
            <a:xfrm>
              <a:off x="5207" y="3577"/>
              <a:ext cx="87" cy="86"/>
            </a:xfrm>
            <a:custGeom>
              <a:avLst/>
              <a:gdLst>
                <a:gd name="T0" fmla="*/ 44 w 87"/>
                <a:gd name="T1" fmla="*/ 0 h 86"/>
                <a:gd name="T2" fmla="*/ 87 w 87"/>
                <a:gd name="T3" fmla="*/ 43 h 86"/>
                <a:gd name="T4" fmla="*/ 44 w 87"/>
                <a:gd name="T5" fmla="*/ 86 h 86"/>
                <a:gd name="T6" fmla="*/ 0 w 87"/>
                <a:gd name="T7" fmla="*/ 43 h 86"/>
                <a:gd name="T8" fmla="*/ 44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4" y="0"/>
                  </a:moveTo>
                  <a:lnTo>
                    <a:pt x="87" y="43"/>
                  </a:lnTo>
                  <a:lnTo>
                    <a:pt x="44" y="86"/>
                  </a:lnTo>
                  <a:lnTo>
                    <a:pt x="0" y="43"/>
                  </a:lnTo>
                  <a:lnTo>
                    <a:pt x="44" y="0"/>
                  </a:lnTo>
                  <a:close/>
                </a:path>
              </a:pathLst>
            </a:custGeom>
            <a:solidFill>
              <a:srgbClr val="00FFFF"/>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44" name="Freeform 2290"/>
            <p:cNvSpPr/>
            <p:nvPr/>
          </p:nvSpPr>
          <p:spPr bwMode="auto">
            <a:xfrm>
              <a:off x="5207" y="3373"/>
              <a:ext cx="87" cy="87"/>
            </a:xfrm>
            <a:custGeom>
              <a:avLst/>
              <a:gdLst>
                <a:gd name="T0" fmla="*/ 44 w 87"/>
                <a:gd name="T1" fmla="*/ 0 h 87"/>
                <a:gd name="T2" fmla="*/ 87 w 87"/>
                <a:gd name="T3" fmla="*/ 43 h 87"/>
                <a:gd name="T4" fmla="*/ 44 w 87"/>
                <a:gd name="T5" fmla="*/ 87 h 87"/>
                <a:gd name="T6" fmla="*/ 0 w 87"/>
                <a:gd name="T7" fmla="*/ 43 h 87"/>
                <a:gd name="T8" fmla="*/ 44 w 87"/>
                <a:gd name="T9" fmla="*/ 0 h 87"/>
                <a:gd name="T10" fmla="*/ 0 60000 65536"/>
                <a:gd name="T11" fmla="*/ 0 60000 65536"/>
                <a:gd name="T12" fmla="*/ 0 60000 65536"/>
                <a:gd name="T13" fmla="*/ 0 60000 65536"/>
                <a:gd name="T14" fmla="*/ 0 60000 65536"/>
                <a:gd name="T15" fmla="*/ 0 w 87"/>
                <a:gd name="T16" fmla="*/ 0 h 87"/>
                <a:gd name="T17" fmla="*/ 87 w 87"/>
                <a:gd name="T18" fmla="*/ 87 h 87"/>
              </a:gdLst>
              <a:ahLst/>
              <a:cxnLst>
                <a:cxn ang="T10">
                  <a:pos x="T0" y="T1"/>
                </a:cxn>
                <a:cxn ang="T11">
                  <a:pos x="T2" y="T3"/>
                </a:cxn>
                <a:cxn ang="T12">
                  <a:pos x="T4" y="T5"/>
                </a:cxn>
                <a:cxn ang="T13">
                  <a:pos x="T6" y="T7"/>
                </a:cxn>
                <a:cxn ang="T14">
                  <a:pos x="T8" y="T9"/>
                </a:cxn>
              </a:cxnLst>
              <a:rect l="T15" t="T16" r="T17" b="T18"/>
              <a:pathLst>
                <a:path w="87" h="87">
                  <a:moveTo>
                    <a:pt x="44" y="0"/>
                  </a:moveTo>
                  <a:lnTo>
                    <a:pt x="87" y="43"/>
                  </a:lnTo>
                  <a:lnTo>
                    <a:pt x="44" y="87"/>
                  </a:lnTo>
                  <a:lnTo>
                    <a:pt x="0" y="43"/>
                  </a:lnTo>
                  <a:lnTo>
                    <a:pt x="44" y="0"/>
                  </a:lnTo>
                  <a:close/>
                </a:path>
              </a:pathLst>
            </a:custGeom>
            <a:solidFill>
              <a:srgbClr val="00FFFF"/>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45" name="Rectangle 2291"/>
            <p:cNvSpPr>
              <a:spLocks noChangeArrowheads="1"/>
            </p:cNvSpPr>
            <p:nvPr/>
          </p:nvSpPr>
          <p:spPr bwMode="auto">
            <a:xfrm>
              <a:off x="4385" y="4008"/>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0</a:t>
              </a:r>
              <a:endParaRPr lang="ko-KR" altLang="en-US" b="0">
                <a:solidFill>
                  <a:srgbClr val="000000"/>
                </a:solidFill>
                <a:ea typeface="Gulim" panose="020B0600000101010101" pitchFamily="34" charset="-127"/>
              </a:endParaRPr>
            </a:p>
          </p:txBody>
        </p:sp>
        <p:sp>
          <p:nvSpPr>
            <p:cNvPr id="246" name="Rectangle 2292"/>
            <p:cNvSpPr>
              <a:spLocks noChangeArrowheads="1"/>
            </p:cNvSpPr>
            <p:nvPr/>
          </p:nvSpPr>
          <p:spPr bwMode="auto">
            <a:xfrm>
              <a:off x="4385" y="391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1</a:t>
              </a:r>
              <a:endParaRPr lang="ko-KR" altLang="en-US" b="0">
                <a:solidFill>
                  <a:srgbClr val="000000"/>
                </a:solidFill>
                <a:ea typeface="Gulim" panose="020B0600000101010101" pitchFamily="34" charset="-127"/>
              </a:endParaRPr>
            </a:p>
          </p:txBody>
        </p:sp>
        <p:sp>
          <p:nvSpPr>
            <p:cNvPr id="247" name="Rectangle 2293"/>
            <p:cNvSpPr>
              <a:spLocks noChangeArrowheads="1"/>
            </p:cNvSpPr>
            <p:nvPr/>
          </p:nvSpPr>
          <p:spPr bwMode="auto">
            <a:xfrm>
              <a:off x="4385" y="3805"/>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2</a:t>
              </a:r>
              <a:endParaRPr lang="ko-KR" altLang="en-US" b="0">
                <a:solidFill>
                  <a:srgbClr val="000000"/>
                </a:solidFill>
                <a:ea typeface="Gulim" panose="020B0600000101010101" pitchFamily="34" charset="-127"/>
              </a:endParaRPr>
            </a:p>
          </p:txBody>
        </p:sp>
        <p:sp>
          <p:nvSpPr>
            <p:cNvPr id="248" name="Rectangle 2294"/>
            <p:cNvSpPr>
              <a:spLocks noChangeArrowheads="1"/>
            </p:cNvSpPr>
            <p:nvPr/>
          </p:nvSpPr>
          <p:spPr bwMode="auto">
            <a:xfrm>
              <a:off x="4385" y="3706"/>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3</a:t>
              </a:r>
              <a:endParaRPr lang="ko-KR" altLang="en-US" b="0">
                <a:solidFill>
                  <a:srgbClr val="000000"/>
                </a:solidFill>
                <a:ea typeface="Gulim" panose="020B0600000101010101" pitchFamily="34" charset="-127"/>
              </a:endParaRPr>
            </a:p>
          </p:txBody>
        </p:sp>
        <p:sp>
          <p:nvSpPr>
            <p:cNvPr id="249" name="Rectangle 2295"/>
            <p:cNvSpPr>
              <a:spLocks noChangeArrowheads="1"/>
            </p:cNvSpPr>
            <p:nvPr/>
          </p:nvSpPr>
          <p:spPr bwMode="auto">
            <a:xfrm>
              <a:off x="4385" y="3601"/>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4</a:t>
              </a:r>
              <a:endParaRPr lang="ko-KR" altLang="en-US" b="0">
                <a:solidFill>
                  <a:srgbClr val="000000"/>
                </a:solidFill>
                <a:ea typeface="Gulim" panose="020B0600000101010101" pitchFamily="34" charset="-127"/>
              </a:endParaRPr>
            </a:p>
          </p:txBody>
        </p:sp>
        <p:sp>
          <p:nvSpPr>
            <p:cNvPr id="250" name="Rectangle 2296"/>
            <p:cNvSpPr>
              <a:spLocks noChangeArrowheads="1"/>
            </p:cNvSpPr>
            <p:nvPr/>
          </p:nvSpPr>
          <p:spPr bwMode="auto">
            <a:xfrm>
              <a:off x="4385" y="3503"/>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5</a:t>
              </a:r>
              <a:endParaRPr lang="ko-KR" altLang="en-US" b="0">
                <a:solidFill>
                  <a:srgbClr val="000000"/>
                </a:solidFill>
                <a:ea typeface="Gulim" panose="020B0600000101010101" pitchFamily="34" charset="-127"/>
              </a:endParaRPr>
            </a:p>
          </p:txBody>
        </p:sp>
        <p:sp>
          <p:nvSpPr>
            <p:cNvPr id="251" name="Rectangle 2297"/>
            <p:cNvSpPr>
              <a:spLocks noChangeArrowheads="1"/>
            </p:cNvSpPr>
            <p:nvPr/>
          </p:nvSpPr>
          <p:spPr bwMode="auto">
            <a:xfrm>
              <a:off x="4385" y="3398"/>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6</a:t>
              </a:r>
              <a:endParaRPr lang="ko-KR" altLang="en-US" b="0">
                <a:solidFill>
                  <a:srgbClr val="000000"/>
                </a:solidFill>
                <a:ea typeface="Gulim" panose="020B0600000101010101" pitchFamily="34" charset="-127"/>
              </a:endParaRPr>
            </a:p>
          </p:txBody>
        </p:sp>
        <p:sp>
          <p:nvSpPr>
            <p:cNvPr id="252" name="Rectangle 2298"/>
            <p:cNvSpPr>
              <a:spLocks noChangeArrowheads="1"/>
            </p:cNvSpPr>
            <p:nvPr/>
          </p:nvSpPr>
          <p:spPr bwMode="auto">
            <a:xfrm>
              <a:off x="4385" y="3299"/>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7</a:t>
              </a:r>
              <a:endParaRPr lang="ko-KR" altLang="en-US" b="0">
                <a:solidFill>
                  <a:srgbClr val="000000"/>
                </a:solidFill>
                <a:ea typeface="Gulim" panose="020B0600000101010101" pitchFamily="34" charset="-127"/>
              </a:endParaRPr>
            </a:p>
          </p:txBody>
        </p:sp>
        <p:sp>
          <p:nvSpPr>
            <p:cNvPr id="253" name="Rectangle 2299"/>
            <p:cNvSpPr>
              <a:spLocks noChangeArrowheads="1"/>
            </p:cNvSpPr>
            <p:nvPr/>
          </p:nvSpPr>
          <p:spPr bwMode="auto">
            <a:xfrm>
              <a:off x="4385" y="3194"/>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8</a:t>
              </a:r>
              <a:endParaRPr lang="ko-KR" altLang="en-US" b="0">
                <a:solidFill>
                  <a:srgbClr val="000000"/>
                </a:solidFill>
                <a:ea typeface="Gulim" panose="020B0600000101010101" pitchFamily="34" charset="-127"/>
              </a:endParaRPr>
            </a:p>
          </p:txBody>
        </p:sp>
        <p:sp>
          <p:nvSpPr>
            <p:cNvPr id="254" name="Rectangle 2300"/>
            <p:cNvSpPr>
              <a:spLocks noChangeArrowheads="1"/>
            </p:cNvSpPr>
            <p:nvPr/>
          </p:nvSpPr>
          <p:spPr bwMode="auto">
            <a:xfrm>
              <a:off x="4385" y="3096"/>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9</a:t>
              </a:r>
              <a:endParaRPr lang="ko-KR" altLang="en-US" b="0">
                <a:solidFill>
                  <a:srgbClr val="000000"/>
                </a:solidFill>
                <a:ea typeface="Gulim" panose="020B0600000101010101" pitchFamily="34" charset="-127"/>
              </a:endParaRPr>
            </a:p>
          </p:txBody>
        </p:sp>
        <p:sp>
          <p:nvSpPr>
            <p:cNvPr id="255" name="Rectangle 2301"/>
            <p:cNvSpPr>
              <a:spLocks noChangeArrowheads="1"/>
            </p:cNvSpPr>
            <p:nvPr/>
          </p:nvSpPr>
          <p:spPr bwMode="auto">
            <a:xfrm>
              <a:off x="4359" y="2991"/>
              <a:ext cx="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10</a:t>
              </a:r>
              <a:endParaRPr lang="ko-KR" altLang="en-US" b="0">
                <a:solidFill>
                  <a:srgbClr val="000000"/>
                </a:solidFill>
                <a:ea typeface="Gulim" panose="020B0600000101010101" pitchFamily="34" charset="-127"/>
              </a:endParaRPr>
            </a:p>
          </p:txBody>
        </p:sp>
        <p:sp>
          <p:nvSpPr>
            <p:cNvPr id="256" name="Rectangle 2302"/>
            <p:cNvSpPr>
              <a:spLocks noChangeArrowheads="1"/>
            </p:cNvSpPr>
            <p:nvPr/>
          </p:nvSpPr>
          <p:spPr bwMode="auto">
            <a:xfrm>
              <a:off x="4429"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0</a:t>
              </a:r>
              <a:endParaRPr lang="ko-KR" altLang="en-US" b="0">
                <a:solidFill>
                  <a:srgbClr val="000000"/>
                </a:solidFill>
                <a:ea typeface="Gulim" panose="020B0600000101010101" pitchFamily="34" charset="-127"/>
              </a:endParaRPr>
            </a:p>
          </p:txBody>
        </p:sp>
        <p:sp>
          <p:nvSpPr>
            <p:cNvPr id="257" name="Rectangle 2303"/>
            <p:cNvSpPr>
              <a:spLocks noChangeArrowheads="1"/>
            </p:cNvSpPr>
            <p:nvPr/>
          </p:nvSpPr>
          <p:spPr bwMode="auto">
            <a:xfrm>
              <a:off x="4548"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1</a:t>
              </a:r>
              <a:endParaRPr lang="ko-KR" altLang="en-US" b="0">
                <a:solidFill>
                  <a:srgbClr val="000000"/>
                </a:solidFill>
                <a:ea typeface="Gulim" panose="020B0600000101010101" pitchFamily="34" charset="-127"/>
              </a:endParaRPr>
            </a:p>
          </p:txBody>
        </p:sp>
        <p:sp>
          <p:nvSpPr>
            <p:cNvPr id="258" name="Rectangle 2304"/>
            <p:cNvSpPr>
              <a:spLocks noChangeArrowheads="1"/>
            </p:cNvSpPr>
            <p:nvPr/>
          </p:nvSpPr>
          <p:spPr bwMode="auto">
            <a:xfrm>
              <a:off x="4660"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2</a:t>
              </a:r>
              <a:endParaRPr lang="ko-KR" altLang="en-US" b="0">
                <a:solidFill>
                  <a:srgbClr val="000000"/>
                </a:solidFill>
                <a:ea typeface="Gulim" panose="020B0600000101010101" pitchFamily="34" charset="-127"/>
              </a:endParaRPr>
            </a:p>
          </p:txBody>
        </p:sp>
        <p:sp>
          <p:nvSpPr>
            <p:cNvPr id="259" name="Rectangle 2305"/>
            <p:cNvSpPr>
              <a:spLocks noChangeArrowheads="1"/>
            </p:cNvSpPr>
            <p:nvPr/>
          </p:nvSpPr>
          <p:spPr bwMode="auto">
            <a:xfrm>
              <a:off x="4778"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3</a:t>
              </a:r>
              <a:endParaRPr lang="ko-KR" altLang="en-US" b="0">
                <a:solidFill>
                  <a:srgbClr val="000000"/>
                </a:solidFill>
                <a:ea typeface="Gulim" panose="020B0600000101010101" pitchFamily="34" charset="-127"/>
              </a:endParaRPr>
            </a:p>
          </p:txBody>
        </p:sp>
        <p:sp>
          <p:nvSpPr>
            <p:cNvPr id="260" name="Rectangle 2306"/>
            <p:cNvSpPr>
              <a:spLocks noChangeArrowheads="1"/>
            </p:cNvSpPr>
            <p:nvPr/>
          </p:nvSpPr>
          <p:spPr bwMode="auto">
            <a:xfrm>
              <a:off x="4890"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4</a:t>
              </a:r>
              <a:endParaRPr lang="ko-KR" altLang="en-US" b="0">
                <a:solidFill>
                  <a:srgbClr val="000000"/>
                </a:solidFill>
                <a:ea typeface="Gulim" panose="020B0600000101010101" pitchFamily="34" charset="-127"/>
              </a:endParaRPr>
            </a:p>
          </p:txBody>
        </p:sp>
        <p:sp>
          <p:nvSpPr>
            <p:cNvPr id="261" name="Rectangle 2307"/>
            <p:cNvSpPr>
              <a:spLocks noChangeArrowheads="1"/>
            </p:cNvSpPr>
            <p:nvPr/>
          </p:nvSpPr>
          <p:spPr bwMode="auto">
            <a:xfrm>
              <a:off x="5009"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5</a:t>
              </a:r>
              <a:endParaRPr lang="ko-KR" altLang="en-US" b="0">
                <a:solidFill>
                  <a:srgbClr val="000000"/>
                </a:solidFill>
                <a:ea typeface="Gulim" panose="020B0600000101010101" pitchFamily="34" charset="-127"/>
              </a:endParaRPr>
            </a:p>
          </p:txBody>
        </p:sp>
        <p:sp>
          <p:nvSpPr>
            <p:cNvPr id="262" name="Rectangle 2308"/>
            <p:cNvSpPr>
              <a:spLocks noChangeArrowheads="1"/>
            </p:cNvSpPr>
            <p:nvPr/>
          </p:nvSpPr>
          <p:spPr bwMode="auto">
            <a:xfrm>
              <a:off x="5121"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6</a:t>
              </a:r>
              <a:endParaRPr lang="ko-KR" altLang="en-US" b="0">
                <a:solidFill>
                  <a:srgbClr val="000000"/>
                </a:solidFill>
                <a:ea typeface="Gulim" panose="020B0600000101010101" pitchFamily="34" charset="-127"/>
              </a:endParaRPr>
            </a:p>
          </p:txBody>
        </p:sp>
        <p:sp>
          <p:nvSpPr>
            <p:cNvPr id="263" name="Rectangle 2309"/>
            <p:cNvSpPr>
              <a:spLocks noChangeArrowheads="1"/>
            </p:cNvSpPr>
            <p:nvPr/>
          </p:nvSpPr>
          <p:spPr bwMode="auto">
            <a:xfrm>
              <a:off x="5239"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7</a:t>
              </a:r>
              <a:endParaRPr lang="ko-KR" altLang="en-US" b="0">
                <a:solidFill>
                  <a:srgbClr val="000000"/>
                </a:solidFill>
                <a:ea typeface="Gulim" panose="020B0600000101010101" pitchFamily="34" charset="-127"/>
              </a:endParaRPr>
            </a:p>
          </p:txBody>
        </p:sp>
        <p:sp>
          <p:nvSpPr>
            <p:cNvPr id="264" name="Rectangle 2310"/>
            <p:cNvSpPr>
              <a:spLocks noChangeArrowheads="1"/>
            </p:cNvSpPr>
            <p:nvPr/>
          </p:nvSpPr>
          <p:spPr bwMode="auto">
            <a:xfrm>
              <a:off x="5352"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8</a:t>
              </a:r>
              <a:endParaRPr lang="ko-KR" altLang="en-US" b="0">
                <a:solidFill>
                  <a:srgbClr val="000000"/>
                </a:solidFill>
                <a:ea typeface="Gulim" panose="020B0600000101010101" pitchFamily="34" charset="-127"/>
              </a:endParaRPr>
            </a:p>
          </p:txBody>
        </p:sp>
        <p:sp>
          <p:nvSpPr>
            <p:cNvPr id="265" name="Rectangle 2311"/>
            <p:cNvSpPr>
              <a:spLocks noChangeArrowheads="1"/>
            </p:cNvSpPr>
            <p:nvPr/>
          </p:nvSpPr>
          <p:spPr bwMode="auto">
            <a:xfrm>
              <a:off x="5470" y="4070"/>
              <a:ext cx="2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9</a:t>
              </a:r>
              <a:endParaRPr lang="ko-KR" altLang="en-US" b="0">
                <a:solidFill>
                  <a:srgbClr val="000000"/>
                </a:solidFill>
                <a:ea typeface="Gulim" panose="020B0600000101010101" pitchFamily="34" charset="-127"/>
              </a:endParaRPr>
            </a:p>
          </p:txBody>
        </p:sp>
        <p:sp>
          <p:nvSpPr>
            <p:cNvPr id="266" name="Rectangle 2312"/>
            <p:cNvSpPr>
              <a:spLocks noChangeArrowheads="1"/>
            </p:cNvSpPr>
            <p:nvPr/>
          </p:nvSpPr>
          <p:spPr bwMode="auto">
            <a:xfrm>
              <a:off x="5562" y="4070"/>
              <a:ext cx="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ko-KR" altLang="en-US" sz="500" b="0">
                  <a:solidFill>
                    <a:srgbClr val="000000"/>
                  </a:solidFill>
                  <a:latin typeface="Small Fonts"/>
                  <a:ea typeface="Gulim" panose="020B0600000101010101" pitchFamily="34" charset="-127"/>
                </a:rPr>
                <a:t>10</a:t>
              </a:r>
              <a:endParaRPr lang="ko-KR" altLang="en-US" b="0">
                <a:solidFill>
                  <a:srgbClr val="000000"/>
                </a:solidFill>
                <a:ea typeface="Gulim" panose="020B0600000101010101" pitchFamily="34" charset="-127"/>
              </a:endParaRPr>
            </a:p>
          </p:txBody>
        </p:sp>
        <p:sp>
          <p:nvSpPr>
            <p:cNvPr id="267" name="Rectangle 2313"/>
            <p:cNvSpPr>
              <a:spLocks noChangeArrowheads="1"/>
            </p:cNvSpPr>
            <p:nvPr/>
          </p:nvSpPr>
          <p:spPr bwMode="auto">
            <a:xfrm>
              <a:off x="4297" y="2905"/>
              <a:ext cx="1371" cy="1282"/>
            </a:xfrm>
            <a:prstGeom prst="rect">
              <a:avLst/>
            </a:prstGeom>
            <a:noFill/>
            <a:ln w="0">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b="0">
                <a:solidFill>
                  <a:srgbClr val="000000"/>
                </a:solidFill>
              </a:endParaRPr>
            </a:p>
          </p:txBody>
        </p:sp>
        <p:sp>
          <p:nvSpPr>
            <p:cNvPr id="268" name="Line 2314"/>
            <p:cNvSpPr>
              <a:spLocks noChangeShapeType="1"/>
            </p:cNvSpPr>
            <p:nvPr/>
          </p:nvSpPr>
          <p:spPr bwMode="auto">
            <a:xfrm>
              <a:off x="5245" y="3456"/>
              <a:ext cx="0" cy="11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spAutoFit/>
            </a:bodyPr>
            <a:lstStyle/>
            <a:p>
              <a:pPr algn="ctr" eaLnBrk="1" fontAlgn="auto" hangingPunct="1">
                <a:spcBef>
                  <a:spcPts val="0"/>
                </a:spcBef>
                <a:spcAft>
                  <a:spcPts val="0"/>
                </a:spcAft>
                <a:defRPr/>
              </a:pPr>
              <a:endParaRPr lang="zh-CN" altLang="en-US" b="0" kern="0">
                <a:solidFill>
                  <a:sysClr val="windowText" lastClr="000000"/>
                </a:solidFill>
              </a:endParaRPr>
            </a:p>
          </p:txBody>
        </p:sp>
        <p:sp>
          <p:nvSpPr>
            <p:cNvPr id="269" name="Freeform 2315"/>
            <p:cNvSpPr/>
            <p:nvPr/>
          </p:nvSpPr>
          <p:spPr bwMode="auto">
            <a:xfrm>
              <a:off x="5088" y="3600"/>
              <a:ext cx="87" cy="86"/>
            </a:xfrm>
            <a:custGeom>
              <a:avLst/>
              <a:gdLst>
                <a:gd name="T0" fmla="*/ 43 w 87"/>
                <a:gd name="T1" fmla="*/ 0 h 86"/>
                <a:gd name="T2" fmla="*/ 87 w 87"/>
                <a:gd name="T3" fmla="*/ 43 h 86"/>
                <a:gd name="T4" fmla="*/ 43 w 87"/>
                <a:gd name="T5" fmla="*/ 86 h 86"/>
                <a:gd name="T6" fmla="*/ 0 w 87"/>
                <a:gd name="T7" fmla="*/ 43 h 86"/>
                <a:gd name="T8" fmla="*/ 43 w 87"/>
                <a:gd name="T9" fmla="*/ 0 h 86"/>
                <a:gd name="T10" fmla="*/ 0 60000 65536"/>
                <a:gd name="T11" fmla="*/ 0 60000 65536"/>
                <a:gd name="T12" fmla="*/ 0 60000 65536"/>
                <a:gd name="T13" fmla="*/ 0 60000 65536"/>
                <a:gd name="T14" fmla="*/ 0 60000 65536"/>
                <a:gd name="T15" fmla="*/ 0 w 87"/>
                <a:gd name="T16" fmla="*/ 0 h 86"/>
                <a:gd name="T17" fmla="*/ 87 w 87"/>
                <a:gd name="T18" fmla="*/ 86 h 86"/>
              </a:gdLst>
              <a:ahLst/>
              <a:cxnLst>
                <a:cxn ang="T10">
                  <a:pos x="T0" y="T1"/>
                </a:cxn>
                <a:cxn ang="T11">
                  <a:pos x="T2" y="T3"/>
                </a:cxn>
                <a:cxn ang="T12">
                  <a:pos x="T4" y="T5"/>
                </a:cxn>
                <a:cxn ang="T13">
                  <a:pos x="T6" y="T7"/>
                </a:cxn>
                <a:cxn ang="T14">
                  <a:pos x="T8" y="T9"/>
                </a:cxn>
              </a:cxnLst>
              <a:rect l="T15" t="T16" r="T17" b="T18"/>
              <a:pathLst>
                <a:path w="87" h="86">
                  <a:moveTo>
                    <a:pt x="43" y="0"/>
                  </a:moveTo>
                  <a:lnTo>
                    <a:pt x="87" y="43"/>
                  </a:lnTo>
                  <a:lnTo>
                    <a:pt x="43" y="86"/>
                  </a:lnTo>
                  <a:lnTo>
                    <a:pt x="0" y="43"/>
                  </a:lnTo>
                  <a:lnTo>
                    <a:pt x="43" y="0"/>
                  </a:lnTo>
                  <a:close/>
                </a:path>
              </a:pathLst>
            </a:custGeom>
            <a:solidFill>
              <a:srgbClr val="000080"/>
            </a:solidFill>
            <a:ln w="9525">
              <a:solidFill>
                <a:srgbClr val="000080"/>
              </a:solidFill>
              <a:round/>
            </a:ln>
          </p:spPr>
          <p:txBody>
            <a:bodyPr/>
            <a:lstStyle/>
            <a:p>
              <a:pPr algn="ctr" eaLnBrk="1" fontAlgn="auto" hangingPunct="1">
                <a:spcBef>
                  <a:spcPts val="0"/>
                </a:spcBef>
                <a:spcAft>
                  <a:spcPts val="0"/>
                </a:spcAft>
                <a:defRPr/>
              </a:pPr>
              <a:endParaRPr lang="zh-CN" altLang="en-US" b="0" kern="0">
                <a:solidFill>
                  <a:sysClr val="windowText" lastClr="000000"/>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PAM: A Typical K-Medoids Algorithm</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grpSp>
        <p:nvGrpSpPr>
          <p:cNvPr id="270" name="Group 4"/>
          <p:cNvGrpSpPr/>
          <p:nvPr/>
        </p:nvGrpSpPr>
        <p:grpSpPr bwMode="auto">
          <a:xfrm>
            <a:off x="4989241" y="980728"/>
            <a:ext cx="2667000" cy="2362200"/>
            <a:chOff x="3168" y="720"/>
            <a:chExt cx="1680" cy="1488"/>
          </a:xfrm>
        </p:grpSpPr>
        <p:graphicFrame>
          <p:nvGraphicFramePr>
            <p:cNvPr id="271" name="Object 5"/>
            <p:cNvGraphicFramePr>
              <a:graphicFrameLocks noChangeAspect="1"/>
            </p:cNvGraphicFramePr>
            <p:nvPr/>
          </p:nvGraphicFramePr>
          <p:xfrm>
            <a:off x="3168" y="720"/>
            <a:ext cx="1680" cy="1488"/>
          </p:xfrm>
          <a:graphic>
            <a:graphicData uri="http://schemas.openxmlformats.org/presentationml/2006/ole">
              <mc:AlternateContent xmlns:mc="http://schemas.openxmlformats.org/markup-compatibility/2006">
                <mc:Choice xmlns:v="urn:schemas-microsoft-com:vml" Requires="v">
                  <p:oleObj spid="_x0000_s31762" name="Worksheet" r:id="rId1" imgW="2618740" imgH="2472055" progId="Excel.Sheet.8">
                    <p:embed/>
                  </p:oleObj>
                </mc:Choice>
                <mc:Fallback>
                  <p:oleObj name="Worksheet" r:id="rId1" imgW="2618740" imgH="2472055" progId="Excel.Sheet.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8" y="720"/>
                          <a:ext cx="1680" cy="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2" name="Text Box 6"/>
            <p:cNvSpPr txBox="1">
              <a:spLocks noChangeArrowheads="1"/>
            </p:cNvSpPr>
            <p:nvPr/>
          </p:nvSpPr>
          <p:spPr bwMode="auto">
            <a:xfrm>
              <a:off x="3928" y="884"/>
              <a:ext cx="23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just">
                <a:spcBef>
                  <a:spcPct val="50000"/>
                </a:spcBef>
                <a:buClrTx/>
                <a:buFontTx/>
                <a:buNone/>
              </a:pPr>
              <a:r>
                <a:rPr lang="en-US" altLang="zh-CN" sz="1800" i="1">
                  <a:latin typeface="Times New Roman" panose="02020603050405020304" pitchFamily="18" charset="0"/>
                  <a:ea typeface="宋体" panose="02010600030101010101" pitchFamily="2" charset="-122"/>
                </a:rPr>
                <a:t>j</a:t>
              </a:r>
              <a:endParaRPr lang="en-US" altLang="zh-CN" sz="2400">
                <a:latin typeface="Times New Roman" panose="02020603050405020304" pitchFamily="18" charset="0"/>
                <a:ea typeface="宋体" panose="02010600030101010101" pitchFamily="2" charset="-122"/>
              </a:endParaRPr>
            </a:p>
          </p:txBody>
        </p:sp>
        <p:sp>
          <p:nvSpPr>
            <p:cNvPr id="273" name="Text Box 7"/>
            <p:cNvSpPr txBox="1">
              <a:spLocks noChangeArrowheads="1"/>
            </p:cNvSpPr>
            <p:nvPr/>
          </p:nvSpPr>
          <p:spPr bwMode="auto">
            <a:xfrm>
              <a:off x="3576" y="956"/>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a:spcBef>
                  <a:spcPct val="50000"/>
                </a:spcBef>
                <a:buClrTx/>
                <a:buFontTx/>
                <a:buNone/>
              </a:pPr>
              <a:endParaRPr lang="zh-CN" altLang="zh-CN" sz="2400">
                <a:latin typeface="Times New Roman" panose="02020603050405020304" pitchFamily="18" charset="0"/>
                <a:ea typeface="宋体" panose="02010600030101010101" pitchFamily="2" charset="-122"/>
              </a:endParaRPr>
            </a:p>
          </p:txBody>
        </p:sp>
        <p:sp>
          <p:nvSpPr>
            <p:cNvPr id="274" name="Text Box 8"/>
            <p:cNvSpPr txBox="1">
              <a:spLocks noChangeArrowheads="1"/>
            </p:cNvSpPr>
            <p:nvPr/>
          </p:nvSpPr>
          <p:spPr bwMode="auto">
            <a:xfrm>
              <a:off x="4157" y="1542"/>
              <a:ext cx="29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a:spcBef>
                  <a:spcPct val="50000"/>
                </a:spcBef>
                <a:buClrTx/>
                <a:buFontTx/>
                <a:buNone/>
              </a:pPr>
              <a:r>
                <a:rPr lang="en-US" altLang="zh-CN" sz="1800" i="1">
                  <a:latin typeface="Times New Roman" panose="02020603050405020304" pitchFamily="18" charset="0"/>
                  <a:ea typeface="宋体" panose="02010600030101010101" pitchFamily="2" charset="-122"/>
                </a:rPr>
                <a:t>i</a:t>
              </a:r>
              <a:endParaRPr lang="en-US" altLang="zh-CN" sz="2400">
                <a:latin typeface="Times New Roman" panose="02020603050405020304" pitchFamily="18" charset="0"/>
                <a:ea typeface="宋体" panose="02010600030101010101" pitchFamily="2" charset="-122"/>
              </a:endParaRPr>
            </a:p>
          </p:txBody>
        </p:sp>
        <p:sp>
          <p:nvSpPr>
            <p:cNvPr id="275" name="Text Box 9"/>
            <p:cNvSpPr txBox="1">
              <a:spLocks noChangeArrowheads="1"/>
            </p:cNvSpPr>
            <p:nvPr/>
          </p:nvSpPr>
          <p:spPr bwMode="auto">
            <a:xfrm>
              <a:off x="4136" y="1432"/>
              <a:ext cx="2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a:spcBef>
                  <a:spcPct val="50000"/>
                </a:spcBef>
                <a:buClrTx/>
                <a:buFontTx/>
                <a:buNone/>
              </a:pPr>
              <a:r>
                <a:rPr lang="en-US" altLang="zh-CN" sz="1800" i="1">
                  <a:latin typeface="Times New Roman" panose="02020603050405020304" pitchFamily="18" charset="0"/>
                  <a:ea typeface="宋体" panose="02010600030101010101" pitchFamily="2" charset="-122"/>
                </a:rPr>
                <a:t>h</a:t>
              </a:r>
              <a:endParaRPr lang="en-US" altLang="zh-CN" sz="2400">
                <a:latin typeface="Times New Roman" panose="02020603050405020304" pitchFamily="18" charset="0"/>
                <a:ea typeface="宋体" panose="02010600030101010101" pitchFamily="2" charset="-122"/>
              </a:endParaRPr>
            </a:p>
          </p:txBody>
        </p:sp>
        <p:sp>
          <p:nvSpPr>
            <p:cNvPr id="276" name="Text Box 10"/>
            <p:cNvSpPr txBox="1">
              <a:spLocks noChangeArrowheads="1"/>
            </p:cNvSpPr>
            <p:nvPr/>
          </p:nvSpPr>
          <p:spPr bwMode="auto">
            <a:xfrm>
              <a:off x="3607" y="956"/>
              <a:ext cx="1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a:spcBef>
                  <a:spcPct val="50000"/>
                </a:spcBef>
                <a:buClrTx/>
                <a:buFontTx/>
                <a:buNone/>
              </a:pPr>
              <a:r>
                <a:rPr lang="en-US" altLang="zh-CN" sz="1800" i="1">
                  <a:latin typeface="Times New Roman" panose="02020603050405020304" pitchFamily="18" charset="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277" name="Oval 11"/>
            <p:cNvSpPr>
              <a:spLocks noChangeArrowheads="1"/>
            </p:cNvSpPr>
            <p:nvPr/>
          </p:nvSpPr>
          <p:spPr bwMode="auto">
            <a:xfrm>
              <a:off x="3528" y="837"/>
              <a:ext cx="520" cy="784"/>
            </a:xfrm>
            <a:prstGeom prst="ellipse">
              <a:avLst/>
            </a:prstGeom>
            <a:noFill/>
            <a:ln w="9525">
              <a:solidFill>
                <a:schemeClr val="tx1"/>
              </a:solidFill>
              <a:prstDash val="dashDot"/>
              <a:round/>
            </a:ln>
            <a:extLst>
              <a:ext uri="{909E8E84-426E-40DD-AFC4-6F175D3DCCD1}">
                <a14:hiddenFill xmlns:a14="http://schemas.microsoft.com/office/drawing/2010/main">
                  <a:solidFill>
                    <a:srgbClr val="FFFFFF"/>
                  </a:solidFill>
                </a14:hiddenFill>
              </a:ext>
            </a:extLst>
          </p:spPr>
          <p:txBody>
            <a:bodyPr wrap="none"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78" name="Oval 12"/>
            <p:cNvSpPr>
              <a:spLocks noChangeArrowheads="1"/>
            </p:cNvSpPr>
            <p:nvPr/>
          </p:nvSpPr>
          <p:spPr bwMode="auto">
            <a:xfrm>
              <a:off x="4088" y="1268"/>
              <a:ext cx="520" cy="548"/>
            </a:xfrm>
            <a:prstGeom prst="ellipse">
              <a:avLst/>
            </a:prstGeom>
            <a:noFill/>
            <a:ln w="9525">
              <a:solidFill>
                <a:schemeClr val="tx1"/>
              </a:solidFill>
              <a:prstDash val="dashDot"/>
              <a:round/>
            </a:ln>
            <a:extLst>
              <a:ext uri="{909E8E84-426E-40DD-AFC4-6F175D3DCCD1}">
                <a14:hiddenFill xmlns:a14="http://schemas.microsoft.com/office/drawing/2010/main">
                  <a:solidFill>
                    <a:srgbClr val="FFFFFF"/>
                  </a:solidFill>
                </a14:hiddenFill>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grpSp>
      <p:graphicFrame>
        <p:nvGraphicFramePr>
          <p:cNvPr id="279" name="Object 13"/>
          <p:cNvGraphicFramePr>
            <a:graphicFrameLocks noChangeAspect="1"/>
          </p:cNvGraphicFramePr>
          <p:nvPr/>
        </p:nvGraphicFramePr>
        <p:xfrm>
          <a:off x="5065440" y="3266728"/>
          <a:ext cx="1104900" cy="361950"/>
        </p:xfrm>
        <a:graphic>
          <a:graphicData uri="http://schemas.openxmlformats.org/presentationml/2006/ole">
            <mc:AlternateContent xmlns:mc="http://schemas.openxmlformats.org/markup-compatibility/2006">
              <mc:Choice xmlns:v="urn:schemas-microsoft-com:vml" Requires="v">
                <p:oleObj spid="_x0000_s31763" name="Document" r:id="rId3" imgW="1143000" imgH="387350" progId="Word.Document.8">
                  <p:embed/>
                </p:oleObj>
              </mc:Choice>
              <mc:Fallback>
                <p:oleObj name="Document" r:id="rId3" imgW="1143000" imgH="387350" progId="Word.Document.8">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5440" y="3266728"/>
                        <a:ext cx="1104900"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80" name="Group 14"/>
          <p:cNvGrpSpPr/>
          <p:nvPr/>
        </p:nvGrpSpPr>
        <p:grpSpPr bwMode="auto">
          <a:xfrm>
            <a:off x="1331640" y="980728"/>
            <a:ext cx="2514600" cy="3048000"/>
            <a:chOff x="864" y="720"/>
            <a:chExt cx="1584" cy="1920"/>
          </a:xfrm>
        </p:grpSpPr>
        <p:grpSp>
          <p:nvGrpSpPr>
            <p:cNvPr id="281" name="Group 15"/>
            <p:cNvGrpSpPr/>
            <p:nvPr/>
          </p:nvGrpSpPr>
          <p:grpSpPr bwMode="auto">
            <a:xfrm>
              <a:off x="864" y="720"/>
              <a:ext cx="1584" cy="1488"/>
              <a:chOff x="864" y="720"/>
              <a:chExt cx="1584" cy="1488"/>
            </a:xfrm>
          </p:grpSpPr>
          <p:graphicFrame>
            <p:nvGraphicFramePr>
              <p:cNvPr id="283" name="Object 16"/>
              <p:cNvGraphicFramePr>
                <a:graphicFrameLocks noChangeAspect="1"/>
              </p:cNvGraphicFramePr>
              <p:nvPr/>
            </p:nvGraphicFramePr>
            <p:xfrm>
              <a:off x="864" y="720"/>
              <a:ext cx="1584" cy="1488"/>
            </p:xfrm>
            <a:graphic>
              <a:graphicData uri="http://schemas.openxmlformats.org/presentationml/2006/ole">
                <mc:AlternateContent xmlns:mc="http://schemas.openxmlformats.org/markup-compatibility/2006">
                  <mc:Choice xmlns:v="urn:schemas-microsoft-com:vml" Requires="v">
                    <p:oleObj spid="_x0000_s31764" name="Worksheet" r:id="rId5" imgW="2618740" imgH="2472055" progId="Excel.Sheet.8">
                      <p:embed/>
                    </p:oleObj>
                  </mc:Choice>
                  <mc:Fallback>
                    <p:oleObj name="Worksheet" r:id="rId5" imgW="2618740" imgH="2472055" progId="Excel.Sheet.8">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4" y="720"/>
                            <a:ext cx="1584" cy="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4" name="Text Box 17"/>
              <p:cNvSpPr txBox="1">
                <a:spLocks noChangeArrowheads="1"/>
              </p:cNvSpPr>
              <p:nvPr/>
            </p:nvSpPr>
            <p:spPr bwMode="auto">
              <a:xfrm>
                <a:off x="1257" y="990"/>
                <a:ext cx="2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a:spcBef>
                    <a:spcPct val="50000"/>
                  </a:spcBef>
                  <a:buClrTx/>
                  <a:buFontTx/>
                  <a:buNone/>
                </a:pPr>
                <a:r>
                  <a:rPr lang="en-US" altLang="zh-CN" sz="1800" i="1">
                    <a:latin typeface="Times New Roman" panose="02020603050405020304" pitchFamily="18" charset="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285" name="Text Box 18"/>
              <p:cNvSpPr txBox="1">
                <a:spLocks noChangeArrowheads="1"/>
              </p:cNvSpPr>
              <p:nvPr/>
            </p:nvSpPr>
            <p:spPr bwMode="auto">
              <a:xfrm>
                <a:off x="1653" y="1451"/>
                <a:ext cx="28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a:spcBef>
                    <a:spcPct val="50000"/>
                  </a:spcBef>
                  <a:buClrTx/>
                  <a:buFontTx/>
                  <a:buNone/>
                </a:pPr>
                <a:r>
                  <a:rPr lang="en-US" altLang="zh-CN" sz="1800" i="1">
                    <a:latin typeface="Times New Roman" panose="02020603050405020304" pitchFamily="18" charset="0"/>
                    <a:ea typeface="宋体" panose="02010600030101010101" pitchFamily="2" charset="-122"/>
                  </a:rPr>
                  <a:t>i</a:t>
                </a:r>
                <a:endParaRPr lang="en-US" altLang="zh-CN" sz="2400">
                  <a:latin typeface="Times New Roman" panose="02020603050405020304" pitchFamily="18" charset="0"/>
                  <a:ea typeface="宋体" panose="02010600030101010101" pitchFamily="2" charset="-122"/>
                </a:endParaRPr>
              </a:p>
            </p:txBody>
          </p:sp>
          <p:sp>
            <p:nvSpPr>
              <p:cNvPr id="286" name="Text Box 19"/>
              <p:cNvSpPr txBox="1">
                <a:spLocks noChangeArrowheads="1"/>
              </p:cNvSpPr>
              <p:nvPr/>
            </p:nvSpPr>
            <p:spPr bwMode="auto">
              <a:xfrm>
                <a:off x="1946" y="1451"/>
                <a:ext cx="2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a:spcBef>
                    <a:spcPct val="50000"/>
                  </a:spcBef>
                  <a:buClrTx/>
                  <a:buFontTx/>
                  <a:buNone/>
                </a:pPr>
                <a:r>
                  <a:rPr lang="en-US" altLang="zh-CN" sz="1800" i="1">
                    <a:latin typeface="Times New Roman" panose="02020603050405020304" pitchFamily="18" charset="0"/>
                    <a:ea typeface="宋体" panose="02010600030101010101" pitchFamily="2" charset="-122"/>
                  </a:rPr>
                  <a:t>h</a:t>
                </a:r>
                <a:endParaRPr lang="en-US" altLang="zh-CN" sz="2400">
                  <a:latin typeface="Times New Roman" panose="02020603050405020304" pitchFamily="18" charset="0"/>
                  <a:ea typeface="宋体" panose="02010600030101010101" pitchFamily="2" charset="-122"/>
                </a:endParaRPr>
              </a:p>
            </p:txBody>
          </p:sp>
          <p:sp>
            <p:nvSpPr>
              <p:cNvPr id="287" name="Text Box 20"/>
              <p:cNvSpPr txBox="1">
                <a:spLocks noChangeArrowheads="1"/>
              </p:cNvSpPr>
              <p:nvPr/>
            </p:nvSpPr>
            <p:spPr bwMode="auto">
              <a:xfrm>
                <a:off x="1946" y="1220"/>
                <a:ext cx="22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just">
                  <a:spcBef>
                    <a:spcPct val="50000"/>
                  </a:spcBef>
                  <a:buClrTx/>
                  <a:buFontTx/>
                  <a:buNone/>
                </a:pPr>
                <a:r>
                  <a:rPr lang="en-US" altLang="zh-CN" sz="1800" i="1">
                    <a:latin typeface="Times New Roman" panose="02020603050405020304" pitchFamily="18" charset="0"/>
                    <a:ea typeface="宋体" panose="02010600030101010101" pitchFamily="2" charset="-122"/>
                  </a:rPr>
                  <a:t>j</a:t>
                </a:r>
                <a:endParaRPr lang="en-US" altLang="zh-CN" sz="2400">
                  <a:latin typeface="Times New Roman" panose="02020603050405020304" pitchFamily="18" charset="0"/>
                  <a:ea typeface="宋体" panose="02010600030101010101" pitchFamily="2" charset="-122"/>
                </a:endParaRPr>
              </a:p>
            </p:txBody>
          </p:sp>
          <p:sp>
            <p:nvSpPr>
              <p:cNvPr id="288" name="Line 21"/>
              <p:cNvSpPr>
                <a:spLocks noChangeShapeType="1"/>
              </p:cNvSpPr>
              <p:nvPr/>
            </p:nvSpPr>
            <p:spPr bwMode="auto">
              <a:xfrm>
                <a:off x="1934" y="1358"/>
                <a:ext cx="0" cy="12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89" name="Line 22"/>
              <p:cNvSpPr>
                <a:spLocks noChangeShapeType="1"/>
              </p:cNvSpPr>
              <p:nvPr/>
            </p:nvSpPr>
            <p:spPr bwMode="auto">
              <a:xfrm flipH="1">
                <a:off x="1806" y="1315"/>
                <a:ext cx="85" cy="17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90" name="Oval 23"/>
              <p:cNvSpPr>
                <a:spLocks noChangeArrowheads="1"/>
              </p:cNvSpPr>
              <p:nvPr/>
            </p:nvSpPr>
            <p:spPr bwMode="auto">
              <a:xfrm>
                <a:off x="1164" y="890"/>
                <a:ext cx="513" cy="765"/>
              </a:xfrm>
              <a:prstGeom prst="ellipse">
                <a:avLst/>
              </a:prstGeom>
              <a:noFill/>
              <a:ln w="9525">
                <a:solidFill>
                  <a:schemeClr val="tx1"/>
                </a:solidFill>
                <a:prstDash val="lgDashDot"/>
                <a:round/>
              </a:ln>
              <a:extLst>
                <a:ext uri="{909E8E84-426E-40DD-AFC4-6F175D3DCCD1}">
                  <a14:hiddenFill xmlns:a14="http://schemas.microsoft.com/office/drawing/2010/main">
                    <a:solidFill>
                      <a:srgbClr val="FFFFFF"/>
                    </a:solidFill>
                  </a14:hiddenFill>
                </a:ext>
              </a:extLst>
            </p:spPr>
            <p:txBody>
              <a:bodyPr wrap="none"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91" name="Oval 24"/>
              <p:cNvSpPr>
                <a:spLocks noChangeArrowheads="1"/>
              </p:cNvSpPr>
              <p:nvPr/>
            </p:nvSpPr>
            <p:spPr bwMode="auto">
              <a:xfrm>
                <a:off x="1677" y="1230"/>
                <a:ext cx="514" cy="638"/>
              </a:xfrm>
              <a:prstGeom prst="ellipse">
                <a:avLst/>
              </a:prstGeom>
              <a:noFill/>
              <a:ln w="9525">
                <a:solidFill>
                  <a:schemeClr val="tx1"/>
                </a:solidFill>
                <a:prstDash val="lgDashDot"/>
                <a:round/>
              </a:ln>
              <a:extLst>
                <a:ext uri="{909E8E84-426E-40DD-AFC4-6F175D3DCCD1}">
                  <a14:hiddenFill xmlns:a14="http://schemas.microsoft.com/office/drawing/2010/main">
                    <a:solidFill>
                      <a:srgbClr val="FFFFFF"/>
                    </a:solidFill>
                  </a14:hiddenFill>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grpSp>
        <p:graphicFrame>
          <p:nvGraphicFramePr>
            <p:cNvPr id="282" name="Object 25"/>
            <p:cNvGraphicFramePr>
              <a:graphicFrameLocks noChangeAspect="1"/>
            </p:cNvGraphicFramePr>
            <p:nvPr/>
          </p:nvGraphicFramePr>
          <p:xfrm>
            <a:off x="972" y="2208"/>
            <a:ext cx="1428" cy="432"/>
          </p:xfrm>
          <a:graphic>
            <a:graphicData uri="http://schemas.openxmlformats.org/presentationml/2006/ole">
              <mc:AlternateContent xmlns:mc="http://schemas.openxmlformats.org/markup-compatibility/2006">
                <mc:Choice xmlns:v="urn:schemas-microsoft-com:vml" Requires="v">
                  <p:oleObj spid="_x0000_s31765" name="Document" r:id="rId7" imgW="2324100" imgH="703580" progId="Word.Document.8">
                    <p:embed/>
                  </p:oleObj>
                </mc:Choice>
                <mc:Fallback>
                  <p:oleObj name="Document" r:id="rId7" imgW="2324100" imgH="703580" progId="Word.Document.8">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2" y="2208"/>
                          <a:ext cx="1428"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92" name="Group 27"/>
          <p:cNvGrpSpPr/>
          <p:nvPr/>
        </p:nvGrpSpPr>
        <p:grpSpPr bwMode="auto">
          <a:xfrm>
            <a:off x="1328465" y="3730278"/>
            <a:ext cx="2514600" cy="2362200"/>
            <a:chOff x="864" y="2496"/>
            <a:chExt cx="1584" cy="1488"/>
          </a:xfrm>
        </p:grpSpPr>
        <p:graphicFrame>
          <p:nvGraphicFramePr>
            <p:cNvPr id="293" name="Object 28"/>
            <p:cNvGraphicFramePr>
              <a:graphicFrameLocks noChangeAspect="1"/>
            </p:cNvGraphicFramePr>
            <p:nvPr/>
          </p:nvGraphicFramePr>
          <p:xfrm>
            <a:off x="864" y="2496"/>
            <a:ext cx="1584" cy="1488"/>
          </p:xfrm>
          <a:graphic>
            <a:graphicData uri="http://schemas.openxmlformats.org/presentationml/2006/ole">
              <mc:AlternateContent xmlns:mc="http://schemas.openxmlformats.org/markup-compatibility/2006">
                <mc:Choice xmlns:v="urn:schemas-microsoft-com:vml" Requires="v">
                  <p:oleObj spid="_x0000_s31766" name="Worksheet" r:id="rId9" imgW="2618740" imgH="2472055" progId="Excel.Sheet.8">
                    <p:embed/>
                  </p:oleObj>
                </mc:Choice>
                <mc:Fallback>
                  <p:oleObj name="Worksheet" r:id="rId9" imgW="2618740" imgH="2472055" progId="Excel.Sheet.8">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4" y="2496"/>
                          <a:ext cx="1584" cy="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4" name="Text Box 29"/>
            <p:cNvSpPr txBox="1">
              <a:spLocks noChangeArrowheads="1"/>
            </p:cNvSpPr>
            <p:nvPr/>
          </p:nvSpPr>
          <p:spPr bwMode="auto">
            <a:xfrm>
              <a:off x="1249" y="2751"/>
              <a:ext cx="1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a:spcBef>
                  <a:spcPct val="50000"/>
                </a:spcBef>
                <a:buClrTx/>
                <a:buFontTx/>
                <a:buNone/>
              </a:pPr>
              <a:r>
                <a:rPr lang="en-US" altLang="zh-CN" sz="1800" i="1">
                  <a:latin typeface="Times New Roman" panose="02020603050405020304" pitchFamily="18" charset="0"/>
                  <a:ea typeface="宋体" panose="02010600030101010101" pitchFamily="2" charset="-122"/>
                </a:rPr>
                <a:t>h</a:t>
              </a:r>
              <a:endParaRPr lang="en-US" altLang="zh-CN" sz="2400">
                <a:latin typeface="Times New Roman" panose="02020603050405020304" pitchFamily="18" charset="0"/>
                <a:ea typeface="宋体" panose="02010600030101010101" pitchFamily="2" charset="-122"/>
              </a:endParaRPr>
            </a:p>
          </p:txBody>
        </p:sp>
        <p:sp>
          <p:nvSpPr>
            <p:cNvPr id="295" name="Text Box 30"/>
            <p:cNvSpPr txBox="1">
              <a:spLocks noChangeArrowheads="1"/>
            </p:cNvSpPr>
            <p:nvPr/>
          </p:nvSpPr>
          <p:spPr bwMode="auto">
            <a:xfrm>
              <a:off x="1548" y="3142"/>
              <a:ext cx="1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a:spcBef>
                  <a:spcPct val="50000"/>
                </a:spcBef>
                <a:buClrTx/>
                <a:buFontTx/>
                <a:buNone/>
              </a:pPr>
              <a:r>
                <a:rPr lang="en-US" altLang="zh-CN" sz="1800" i="1">
                  <a:latin typeface="Times New Roman" panose="02020603050405020304" pitchFamily="18" charset="0"/>
                  <a:ea typeface="宋体" panose="02010600030101010101" pitchFamily="2" charset="-122"/>
                </a:rPr>
                <a:t>i</a:t>
              </a:r>
              <a:endParaRPr lang="en-US" altLang="zh-CN" sz="2400">
                <a:latin typeface="Times New Roman" panose="02020603050405020304" pitchFamily="18" charset="0"/>
                <a:ea typeface="宋体" panose="02010600030101010101" pitchFamily="2" charset="-122"/>
              </a:endParaRPr>
            </a:p>
          </p:txBody>
        </p:sp>
        <p:sp>
          <p:nvSpPr>
            <p:cNvPr id="296" name="Text Box 31"/>
            <p:cNvSpPr txBox="1">
              <a:spLocks noChangeArrowheads="1"/>
            </p:cNvSpPr>
            <p:nvPr/>
          </p:nvSpPr>
          <p:spPr bwMode="auto">
            <a:xfrm>
              <a:off x="1764" y="3219"/>
              <a:ext cx="17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a:spcBef>
                  <a:spcPct val="50000"/>
                </a:spcBef>
                <a:buClrTx/>
                <a:buFontTx/>
                <a:buNone/>
              </a:pPr>
              <a:r>
                <a:rPr lang="en-US" altLang="zh-CN" sz="1800" i="1">
                  <a:latin typeface="Times New Roman" panose="02020603050405020304" pitchFamily="18" charset="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297" name="Text Box 32"/>
            <p:cNvSpPr txBox="1">
              <a:spLocks noChangeArrowheads="1"/>
            </p:cNvSpPr>
            <p:nvPr/>
          </p:nvSpPr>
          <p:spPr bwMode="auto">
            <a:xfrm>
              <a:off x="1677" y="2879"/>
              <a:ext cx="1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just">
                <a:spcBef>
                  <a:spcPct val="50000"/>
                </a:spcBef>
                <a:buClrTx/>
                <a:buFontTx/>
                <a:buNone/>
              </a:pPr>
              <a:r>
                <a:rPr lang="en-US" altLang="zh-CN" sz="1800" i="1">
                  <a:latin typeface="Times New Roman" panose="02020603050405020304" pitchFamily="18" charset="0"/>
                  <a:ea typeface="宋体" panose="02010600030101010101" pitchFamily="2" charset="-122"/>
                </a:rPr>
                <a:t>j</a:t>
              </a:r>
              <a:endParaRPr lang="en-US" altLang="zh-CN" sz="2400">
                <a:latin typeface="Times New Roman" panose="02020603050405020304" pitchFamily="18" charset="0"/>
                <a:ea typeface="宋体" panose="02010600030101010101" pitchFamily="2" charset="-122"/>
              </a:endParaRPr>
            </a:p>
          </p:txBody>
        </p:sp>
        <p:sp>
          <p:nvSpPr>
            <p:cNvPr id="298" name="Line 33"/>
            <p:cNvSpPr>
              <a:spLocks noChangeShapeType="1"/>
            </p:cNvSpPr>
            <p:nvPr/>
          </p:nvSpPr>
          <p:spPr bwMode="auto">
            <a:xfrm>
              <a:off x="1463" y="2879"/>
              <a:ext cx="172" cy="21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99" name="Line 34"/>
            <p:cNvSpPr>
              <a:spLocks noChangeShapeType="1"/>
            </p:cNvSpPr>
            <p:nvPr/>
          </p:nvSpPr>
          <p:spPr bwMode="auto">
            <a:xfrm flipH="1">
              <a:off x="1592" y="3134"/>
              <a:ext cx="85" cy="8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00" name="Oval 35"/>
            <p:cNvSpPr>
              <a:spLocks noChangeArrowheads="1"/>
            </p:cNvSpPr>
            <p:nvPr/>
          </p:nvSpPr>
          <p:spPr bwMode="auto">
            <a:xfrm>
              <a:off x="1206" y="2709"/>
              <a:ext cx="600" cy="722"/>
            </a:xfrm>
            <a:prstGeom prst="ellipse">
              <a:avLst/>
            </a:prstGeom>
            <a:noFill/>
            <a:ln w="9525">
              <a:solidFill>
                <a:schemeClr val="tx1"/>
              </a:solidFill>
              <a:prstDash val="lgDashDot"/>
              <a:round/>
            </a:ln>
            <a:extLst>
              <a:ext uri="{909E8E84-426E-40DD-AFC4-6F175D3DCCD1}">
                <a14:hiddenFill xmlns:a14="http://schemas.microsoft.com/office/drawing/2010/main">
                  <a:solidFill>
                    <a:srgbClr val="FFFFFF"/>
                  </a:solidFill>
                </a14:hiddenFill>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301" name="Oval 36"/>
            <p:cNvSpPr>
              <a:spLocks noChangeArrowheads="1"/>
            </p:cNvSpPr>
            <p:nvPr/>
          </p:nvSpPr>
          <p:spPr bwMode="auto">
            <a:xfrm>
              <a:off x="1763" y="3091"/>
              <a:ext cx="428" cy="553"/>
            </a:xfrm>
            <a:prstGeom prst="ellipse">
              <a:avLst/>
            </a:prstGeom>
            <a:noFill/>
            <a:ln w="9525">
              <a:solidFill>
                <a:schemeClr val="tx1"/>
              </a:solidFill>
              <a:prstDash val="lgDashDot"/>
              <a:round/>
            </a:ln>
            <a:extLst>
              <a:ext uri="{909E8E84-426E-40DD-AFC4-6F175D3DCCD1}">
                <a14:hiddenFill xmlns:a14="http://schemas.microsoft.com/office/drawing/2010/main">
                  <a:solidFill>
                    <a:srgbClr val="FFFFFF"/>
                  </a:solidFill>
                </a14:hiddenFill>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grpSp>
      <p:graphicFrame>
        <p:nvGraphicFramePr>
          <p:cNvPr id="302" name="Object 37"/>
          <p:cNvGraphicFramePr>
            <a:graphicFrameLocks noChangeAspect="1"/>
          </p:cNvGraphicFramePr>
          <p:nvPr/>
        </p:nvGraphicFramePr>
        <p:xfrm>
          <a:off x="1255440" y="6016278"/>
          <a:ext cx="2265363" cy="361950"/>
        </p:xfrm>
        <a:graphic>
          <a:graphicData uri="http://schemas.openxmlformats.org/presentationml/2006/ole">
            <mc:AlternateContent xmlns:mc="http://schemas.openxmlformats.org/markup-compatibility/2006">
              <mc:Choice xmlns:v="urn:schemas-microsoft-com:vml" Requires="v">
                <p:oleObj spid="_x0000_s31767" name="Document" r:id="rId11" imgW="2344420" imgH="383540" progId="Word.Document.8">
                  <p:embed/>
                </p:oleObj>
              </mc:Choice>
              <mc:Fallback>
                <p:oleObj name="Document" r:id="rId11" imgW="2344420" imgH="383540" progId="Word.Document.8">
                  <p:embed/>
                  <p:pic>
                    <p:nvPicPr>
                      <p:cNvPr id="0" name="Object 3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55440" y="6016278"/>
                        <a:ext cx="2265363"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03" name="Group 39"/>
          <p:cNvGrpSpPr/>
          <p:nvPr/>
        </p:nvGrpSpPr>
        <p:grpSpPr bwMode="auto">
          <a:xfrm>
            <a:off x="4990828" y="3684241"/>
            <a:ext cx="2743200" cy="2362200"/>
            <a:chOff x="3168" y="2496"/>
            <a:chExt cx="1728" cy="1488"/>
          </a:xfrm>
        </p:grpSpPr>
        <p:graphicFrame>
          <p:nvGraphicFramePr>
            <p:cNvPr id="304" name="Object 40"/>
            <p:cNvGraphicFramePr>
              <a:graphicFrameLocks noChangeAspect="1"/>
            </p:cNvGraphicFramePr>
            <p:nvPr/>
          </p:nvGraphicFramePr>
          <p:xfrm>
            <a:off x="3168" y="2496"/>
            <a:ext cx="1728" cy="1488"/>
          </p:xfrm>
          <a:graphic>
            <a:graphicData uri="http://schemas.openxmlformats.org/presentationml/2006/ole">
              <mc:AlternateContent xmlns:mc="http://schemas.openxmlformats.org/markup-compatibility/2006">
                <mc:Choice xmlns:v="urn:schemas-microsoft-com:vml" Requires="v">
                  <p:oleObj spid="_x0000_s31768" name="Worksheet" r:id="rId13" imgW="2618740" imgH="2472055" progId="Excel.Sheet.8">
                    <p:embed/>
                  </p:oleObj>
                </mc:Choice>
                <mc:Fallback>
                  <p:oleObj name="Worksheet" r:id="rId13" imgW="2618740" imgH="2472055" progId="Excel.Sheet.8">
                    <p:embed/>
                    <p:pic>
                      <p:nvPicPr>
                        <p:cNvPr id="0" name="Object 4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68" y="2496"/>
                          <a:ext cx="1728" cy="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5" name="Text Box 41"/>
            <p:cNvSpPr txBox="1">
              <a:spLocks noChangeArrowheads="1"/>
            </p:cNvSpPr>
            <p:nvPr/>
          </p:nvSpPr>
          <p:spPr bwMode="auto">
            <a:xfrm>
              <a:off x="4178" y="3433"/>
              <a:ext cx="1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a:spcBef>
                  <a:spcPct val="50000"/>
                </a:spcBef>
                <a:buClrTx/>
                <a:buFontTx/>
                <a:buNone/>
              </a:pPr>
              <a:r>
                <a:rPr lang="en-US" altLang="zh-CN" sz="1800" i="1">
                  <a:latin typeface="Times New Roman" panose="02020603050405020304" pitchFamily="18" charset="0"/>
                  <a:ea typeface="宋体" panose="02010600030101010101" pitchFamily="2" charset="-122"/>
                </a:rPr>
                <a:t>t</a:t>
              </a:r>
              <a:endParaRPr lang="en-US" altLang="zh-CN" sz="2400">
                <a:latin typeface="Times New Roman" panose="02020603050405020304" pitchFamily="18" charset="0"/>
                <a:ea typeface="宋体" panose="02010600030101010101" pitchFamily="2" charset="-122"/>
              </a:endParaRPr>
            </a:p>
          </p:txBody>
        </p:sp>
        <p:sp>
          <p:nvSpPr>
            <p:cNvPr id="306" name="Text Box 42"/>
            <p:cNvSpPr txBox="1">
              <a:spLocks noChangeArrowheads="1"/>
            </p:cNvSpPr>
            <p:nvPr/>
          </p:nvSpPr>
          <p:spPr bwMode="auto">
            <a:xfrm>
              <a:off x="3773" y="3066"/>
              <a:ext cx="1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a:spcBef>
                  <a:spcPct val="50000"/>
                </a:spcBef>
                <a:buClrTx/>
                <a:buFontTx/>
                <a:buNone/>
              </a:pPr>
              <a:r>
                <a:rPr lang="en-US" altLang="zh-CN" sz="1800" i="1">
                  <a:latin typeface="Times New Roman" panose="02020603050405020304" pitchFamily="18" charset="0"/>
                  <a:ea typeface="宋体" panose="02010600030101010101" pitchFamily="2" charset="-122"/>
                </a:rPr>
                <a:t>i</a:t>
              </a:r>
              <a:endParaRPr lang="en-US" altLang="zh-CN" sz="2400">
                <a:latin typeface="Times New Roman" panose="02020603050405020304" pitchFamily="18" charset="0"/>
                <a:ea typeface="宋体" panose="02010600030101010101" pitchFamily="2" charset="-122"/>
              </a:endParaRPr>
            </a:p>
          </p:txBody>
        </p:sp>
        <p:sp>
          <p:nvSpPr>
            <p:cNvPr id="307" name="Text Box 43"/>
            <p:cNvSpPr txBox="1">
              <a:spLocks noChangeArrowheads="1"/>
            </p:cNvSpPr>
            <p:nvPr/>
          </p:nvSpPr>
          <p:spPr bwMode="auto">
            <a:xfrm>
              <a:off x="4150" y="3212"/>
              <a:ext cx="1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a:spcBef>
                  <a:spcPct val="50000"/>
                </a:spcBef>
                <a:buClrTx/>
                <a:buFontTx/>
                <a:buNone/>
              </a:pPr>
              <a:r>
                <a:rPr lang="en-US" altLang="zh-CN" sz="1800" i="1">
                  <a:latin typeface="Times New Roman" panose="02020603050405020304" pitchFamily="18" charset="0"/>
                  <a:ea typeface="宋体" panose="02010600030101010101" pitchFamily="2" charset="-122"/>
                </a:rPr>
                <a:t>h</a:t>
              </a:r>
              <a:endParaRPr lang="en-US" altLang="zh-CN" sz="2400">
                <a:latin typeface="Times New Roman" panose="02020603050405020304" pitchFamily="18" charset="0"/>
                <a:ea typeface="宋体" panose="02010600030101010101" pitchFamily="2" charset="-122"/>
              </a:endParaRPr>
            </a:p>
          </p:txBody>
        </p:sp>
        <p:sp>
          <p:nvSpPr>
            <p:cNvPr id="308" name="Text Box 44"/>
            <p:cNvSpPr txBox="1">
              <a:spLocks noChangeArrowheads="1"/>
            </p:cNvSpPr>
            <p:nvPr/>
          </p:nvSpPr>
          <p:spPr bwMode="auto">
            <a:xfrm>
              <a:off x="4504" y="3212"/>
              <a:ext cx="1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just">
                <a:spcBef>
                  <a:spcPct val="50000"/>
                </a:spcBef>
                <a:buClrTx/>
                <a:buFontTx/>
                <a:buNone/>
              </a:pPr>
              <a:r>
                <a:rPr lang="en-US" altLang="zh-CN" sz="1800" i="1">
                  <a:latin typeface="Times New Roman" panose="02020603050405020304" pitchFamily="18" charset="0"/>
                  <a:ea typeface="宋体" panose="02010600030101010101" pitchFamily="2" charset="-122"/>
                </a:rPr>
                <a:t>j</a:t>
              </a:r>
              <a:endParaRPr lang="en-US" altLang="zh-CN" sz="2400">
                <a:latin typeface="Times New Roman" panose="02020603050405020304" pitchFamily="18" charset="0"/>
                <a:ea typeface="宋体" panose="02010600030101010101" pitchFamily="2" charset="-122"/>
              </a:endParaRPr>
            </a:p>
          </p:txBody>
        </p:sp>
        <p:sp>
          <p:nvSpPr>
            <p:cNvPr id="309" name="Line 45"/>
            <p:cNvSpPr>
              <a:spLocks noChangeShapeType="1"/>
            </p:cNvSpPr>
            <p:nvPr/>
          </p:nvSpPr>
          <p:spPr bwMode="auto">
            <a:xfrm>
              <a:off x="4378" y="3311"/>
              <a:ext cx="43"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10" name="Line 46"/>
            <p:cNvSpPr>
              <a:spLocks noChangeShapeType="1"/>
            </p:cNvSpPr>
            <p:nvPr/>
          </p:nvSpPr>
          <p:spPr bwMode="auto">
            <a:xfrm>
              <a:off x="3946" y="3189"/>
              <a:ext cx="518" cy="8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311" name="Oval 47"/>
            <p:cNvSpPr>
              <a:spLocks noChangeArrowheads="1"/>
            </p:cNvSpPr>
            <p:nvPr/>
          </p:nvSpPr>
          <p:spPr bwMode="auto">
            <a:xfrm>
              <a:off x="3470" y="2659"/>
              <a:ext cx="648" cy="856"/>
            </a:xfrm>
            <a:prstGeom prst="ellipse">
              <a:avLst/>
            </a:prstGeom>
            <a:noFill/>
            <a:ln w="9525">
              <a:solidFill>
                <a:schemeClr val="tx1"/>
              </a:solidFill>
              <a:prstDash val="lgDashDot"/>
              <a:round/>
            </a:ln>
            <a:extLst>
              <a:ext uri="{909E8E84-426E-40DD-AFC4-6F175D3DCCD1}">
                <a14:hiddenFill xmlns:a14="http://schemas.microsoft.com/office/drawing/2010/main">
                  <a:solidFill>
                    <a:srgbClr val="FFFFFF"/>
                  </a:solidFill>
                </a14:hiddenFill>
              </a:ext>
            </a:extLst>
          </p:spPr>
          <p:txBody>
            <a:bodyPr wrap="none"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312" name="Oval 48"/>
            <p:cNvSpPr>
              <a:spLocks noChangeArrowheads="1"/>
            </p:cNvSpPr>
            <p:nvPr/>
          </p:nvSpPr>
          <p:spPr bwMode="auto">
            <a:xfrm>
              <a:off x="4118" y="3066"/>
              <a:ext cx="562" cy="571"/>
            </a:xfrm>
            <a:prstGeom prst="ellipse">
              <a:avLst/>
            </a:prstGeom>
            <a:noFill/>
            <a:ln w="9525">
              <a:solidFill>
                <a:schemeClr val="tx1"/>
              </a:solidFill>
              <a:prstDash val="lgDashDot"/>
              <a:round/>
            </a:ln>
            <a:extLst>
              <a:ext uri="{909E8E84-426E-40DD-AFC4-6F175D3DCCD1}">
                <a14:hiddenFill xmlns:a14="http://schemas.microsoft.com/office/drawing/2010/main">
                  <a:solidFill>
                    <a:srgbClr val="FFFFFF"/>
                  </a:solidFill>
                </a14:hiddenFill>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grpSp>
      <p:graphicFrame>
        <p:nvGraphicFramePr>
          <p:cNvPr id="313" name="Object 49"/>
          <p:cNvGraphicFramePr>
            <a:graphicFrameLocks noChangeAspect="1"/>
          </p:cNvGraphicFramePr>
          <p:nvPr/>
        </p:nvGraphicFramePr>
        <p:xfrm>
          <a:off x="4913040" y="5965478"/>
          <a:ext cx="2644775" cy="412750"/>
        </p:xfrm>
        <a:graphic>
          <a:graphicData uri="http://schemas.openxmlformats.org/presentationml/2006/ole">
            <mc:AlternateContent xmlns:mc="http://schemas.openxmlformats.org/markup-compatibility/2006">
              <mc:Choice xmlns:v="urn:schemas-microsoft-com:vml" Requires="v">
                <p:oleObj spid="_x0000_s31769" name="文档" r:id="rId15" imgW="2689860" imgH="421640" progId="Word.Document.8">
                  <p:embed/>
                </p:oleObj>
              </mc:Choice>
              <mc:Fallback>
                <p:oleObj name="文档" r:id="rId15" imgW="2689860" imgH="421640" progId="Word.Document.8">
                  <p:embed/>
                  <p:pic>
                    <p:nvPicPr>
                      <p:cNvPr id="0" name="Object 4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13040" y="5965478"/>
                        <a:ext cx="264477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4" name="圆角矩形 48"/>
          <p:cNvSpPr/>
          <p:nvPr/>
        </p:nvSpPr>
        <p:spPr bwMode="auto">
          <a:xfrm>
            <a:off x="1949178" y="5043141"/>
            <a:ext cx="5314950" cy="887412"/>
          </a:xfrm>
          <a:prstGeom prst="roundRect">
            <a:avLst/>
          </a:prstGeom>
          <a:solidFill>
            <a:srgbClr val="FFFFE7"/>
          </a:solidFill>
          <a:ln w="25400" cap="flat" cmpd="sng" algn="ctr">
            <a:solidFill>
              <a:srgbClr val="FF9933"/>
            </a:solidFill>
            <a:prstDash val="solid"/>
            <a:round/>
            <a:headEnd type="none" w="med" len="med"/>
            <a:tailEnd type="triangle" w="lg" len="lg"/>
          </a:ln>
          <a:effectLst>
            <a:outerShdw blurRad="50800" dist="38100" dir="2700000" algn="tl" rotWithShape="0">
              <a:prstClr val="black">
                <a:alpha val="40000"/>
              </a:prstClr>
            </a:outerShdw>
          </a:effectLst>
        </p:spPr>
        <p:txBody>
          <a:bodyPr tIns="72000" bIns="108000"/>
          <a:lstStyle/>
          <a:p>
            <a:pPr algn="ctr">
              <a:lnSpc>
                <a:spcPct val="130000"/>
              </a:lnSpc>
              <a:spcBef>
                <a:spcPts val="600"/>
              </a:spcBef>
              <a:spcAft>
                <a:spcPts val="600"/>
              </a:spcAft>
              <a:buClr>
                <a:srgbClr val="CC0000"/>
              </a:buClr>
              <a:defRPr/>
            </a:pPr>
            <a:r>
              <a:rPr lang="zh-CN" altLang="en-US" sz="3200" dirty="0">
                <a:solidFill>
                  <a:srgbClr val="FF0000"/>
                </a:solidFill>
                <a:latin typeface="Times New Roman" panose="02020603050405020304" pitchFamily="18" charset="0"/>
                <a:ea typeface="黑体" panose="02010609060101010101" pitchFamily="49" charset="-122"/>
              </a:rPr>
              <a:t>总的替换代价 </a:t>
            </a:r>
            <a:r>
              <a:rPr lang="en-US" altLang="zh-CN" sz="3200" i="1" dirty="0" err="1">
                <a:solidFill>
                  <a:srgbClr val="FF0000"/>
                </a:solidFill>
                <a:latin typeface="Calibri" panose="020F0502020204030204" pitchFamily="34" charset="0"/>
                <a:ea typeface="黑体" panose="02010609060101010101" pitchFamily="49" charset="-122"/>
              </a:rPr>
              <a:t>TC</a:t>
            </a:r>
            <a:r>
              <a:rPr lang="en-US" altLang="zh-CN" sz="3200" i="1" baseline="-25000" dirty="0" err="1">
                <a:solidFill>
                  <a:srgbClr val="FF0000"/>
                </a:solidFill>
                <a:latin typeface="Calibri" panose="020F0502020204030204" pitchFamily="34" charset="0"/>
                <a:ea typeface="黑体" panose="02010609060101010101" pitchFamily="49" charset="-122"/>
              </a:rPr>
              <a:t>ih</a:t>
            </a:r>
            <a:r>
              <a:rPr lang="en-US" altLang="zh-CN" sz="3200" i="1" dirty="0">
                <a:solidFill>
                  <a:srgbClr val="FF0000"/>
                </a:solidFill>
                <a:latin typeface="Calibri" panose="020F0502020204030204" pitchFamily="34" charset="0"/>
                <a:ea typeface="黑体" panose="02010609060101010101" pitchFamily="49" charset="-122"/>
              </a:rPr>
              <a:t>=</a:t>
            </a:r>
            <a:r>
              <a:rPr lang="en-US" altLang="zh-CN" sz="3200" i="1" dirty="0">
                <a:solidFill>
                  <a:srgbClr val="FF0000"/>
                </a:solidFill>
                <a:latin typeface="Calibri" panose="020F0502020204030204" pitchFamily="34" charset="0"/>
                <a:ea typeface="黑体" panose="02010609060101010101" pitchFamily="49" charset="-122"/>
                <a:sym typeface="Symbol" panose="05050102010706020507" pitchFamily="18" charset="2"/>
              </a:rPr>
              <a:t></a:t>
            </a:r>
            <a:r>
              <a:rPr lang="en-US" altLang="zh-CN" sz="3200" i="1" baseline="-25000" dirty="0" err="1">
                <a:solidFill>
                  <a:srgbClr val="FF0000"/>
                </a:solidFill>
                <a:latin typeface="Calibri" panose="020F0502020204030204" pitchFamily="34" charset="0"/>
                <a:ea typeface="黑体" panose="02010609060101010101" pitchFamily="49" charset="-122"/>
                <a:sym typeface="Symbol" panose="05050102010706020507" pitchFamily="18" charset="2"/>
              </a:rPr>
              <a:t>j</a:t>
            </a:r>
            <a:r>
              <a:rPr lang="en-US" altLang="zh-CN" sz="3200" i="1" dirty="0" err="1">
                <a:solidFill>
                  <a:srgbClr val="FF0000"/>
                </a:solidFill>
                <a:latin typeface="Calibri" panose="020F0502020204030204" pitchFamily="34" charset="0"/>
                <a:ea typeface="黑体" panose="02010609060101010101" pitchFamily="49" charset="-122"/>
                <a:sym typeface="Symbol" panose="05050102010706020507" pitchFamily="18" charset="2"/>
              </a:rPr>
              <a:t>C</a:t>
            </a:r>
            <a:r>
              <a:rPr lang="en-US" altLang="zh-CN" sz="3200" i="1" baseline="-25000" dirty="0" err="1">
                <a:solidFill>
                  <a:srgbClr val="FF0000"/>
                </a:solidFill>
                <a:latin typeface="Calibri" panose="020F0502020204030204" pitchFamily="34" charset="0"/>
                <a:ea typeface="黑体" panose="02010609060101010101" pitchFamily="49" charset="-122"/>
                <a:sym typeface="Symbol" panose="05050102010706020507" pitchFamily="18" charset="2"/>
              </a:rPr>
              <a:t>jih</a:t>
            </a:r>
            <a:endParaRPr lang="zh-CN" altLang="zh-CN" sz="3200" b="0" i="1" baseline="-25000" dirty="0">
              <a:solidFill>
                <a:srgbClr val="FF0000"/>
              </a:solidFill>
              <a:latin typeface="Calibri" panose="020F0502020204030204" pitchFamily="34"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PAM: A Typical K-Medoids Algorithm</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228600" y="762963"/>
            <a:ext cx="86868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nSpc>
                <a:spcPct val="120000"/>
              </a:lnSpc>
              <a:buClr>
                <a:schemeClr val="tx1"/>
              </a:buClr>
              <a:buSzPct val="75000"/>
              <a:buFont typeface="Monotype Sorts" panose="05000000000000000000" pitchFamily="2" charset="2"/>
              <a:buChar char="v"/>
            </a:pPr>
            <a:r>
              <a:rPr lang="en-US" altLang="zh-CN" sz="2400" dirty="0">
                <a:solidFill>
                  <a:srgbClr val="FF0000"/>
                </a:solidFill>
                <a:latin typeface="Arial Unicode MS" panose="02010600030101010101" charset="-122"/>
                <a:ea typeface="Arial Unicode MS" panose="02010600030101010101" charset="-122"/>
              </a:rPr>
              <a:t>1, 2, 6, 7, 8, 10, 15, 17, 20 – break into 3 clusters</a:t>
            </a:r>
            <a:endParaRPr lang="en-US" altLang="zh-CN" sz="2400" dirty="0">
              <a:solidFill>
                <a:srgbClr val="FF000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6 – 1, 2</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7 </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8 – 10, 15, 17, 20</a:t>
            </a:r>
            <a:endParaRPr lang="en-US" altLang="zh-CN" sz="2000" dirty="0">
              <a:solidFill>
                <a:srgbClr val="0070C0"/>
              </a:solidFill>
              <a:latin typeface="Arial Unicode MS" panose="02010600030101010101" charset="-122"/>
              <a:ea typeface="Arial Unicode MS" panose="02010600030101010101" charset="-122"/>
            </a:endParaRPr>
          </a:p>
          <a:p>
            <a:pPr>
              <a:lnSpc>
                <a:spcPct val="120000"/>
              </a:lnSpc>
              <a:buClr>
                <a:schemeClr val="tx1"/>
              </a:buClr>
              <a:buSzPct val="75000"/>
              <a:buFont typeface="Monotype Sorts" panose="05000000000000000000" pitchFamily="2" charset="2"/>
              <a:buChar char="v"/>
            </a:pPr>
            <a:r>
              <a:rPr lang="en-US" altLang="zh-CN" sz="2400" dirty="0">
                <a:solidFill>
                  <a:srgbClr val="FF0000"/>
                </a:solidFill>
                <a:latin typeface="Arial Unicode MS" panose="02010600030101010101" charset="-122"/>
                <a:ea typeface="Arial Unicode MS" panose="02010600030101010101" charset="-122"/>
              </a:rPr>
              <a:t>Random non-medoid – 15 replace 7 (total cost=-13)</a:t>
            </a:r>
            <a:endParaRPr lang="en-US" altLang="zh-CN" sz="2400" dirty="0">
              <a:solidFill>
                <a:srgbClr val="FF000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6 – 1 (cost 0), 2 (cost 0), 7(1-0=1)</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8 – 10 (cost 0)</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New Cluster = 15 – 17 (cost 2-9=-7), 20 (cost 5-12=-7)</a:t>
            </a:r>
            <a:endParaRPr lang="en-US" altLang="zh-CN" sz="2000" dirty="0">
              <a:solidFill>
                <a:srgbClr val="0070C0"/>
              </a:solidFill>
              <a:latin typeface="Arial Unicode MS" panose="02010600030101010101" charset="-122"/>
              <a:ea typeface="Arial Unicode MS" panose="02010600030101010101" charset="-122"/>
            </a:endParaRPr>
          </a:p>
          <a:p>
            <a:pPr>
              <a:lnSpc>
                <a:spcPct val="120000"/>
              </a:lnSpc>
              <a:buClr>
                <a:schemeClr val="tx1"/>
              </a:buClr>
              <a:buSzPct val="75000"/>
              <a:buFont typeface="Monotype Sorts" panose="05000000000000000000" pitchFamily="2" charset="2"/>
              <a:buChar char="v"/>
            </a:pPr>
            <a:r>
              <a:rPr lang="en-US" altLang="zh-CN" sz="2400" dirty="0">
                <a:solidFill>
                  <a:srgbClr val="FF0000"/>
                </a:solidFill>
                <a:latin typeface="Arial Unicode MS" panose="02010600030101010101" charset="-122"/>
                <a:ea typeface="Arial Unicode MS" panose="02010600030101010101" charset="-122"/>
              </a:rPr>
              <a:t>Replace medoid 7 with new medoid (15) and reassign</a:t>
            </a:r>
            <a:endParaRPr lang="en-US" altLang="zh-CN" sz="2400" dirty="0">
              <a:solidFill>
                <a:srgbClr val="FF000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6 – 1, 2, 7</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ea typeface="宋体" panose="02010600030101010101" pitchFamily="2" charset="-122"/>
              </a:rPr>
              <a:t>Cluster = 8 – 10</a:t>
            </a:r>
            <a:endParaRPr lang="en-US" altLang="zh-CN" sz="2000" dirty="0">
              <a:solidFill>
                <a:srgbClr val="0070C0"/>
              </a:solidFill>
              <a:ea typeface="宋体" panose="02010600030101010101" pitchFamily="2" charset="-122"/>
            </a:endParaRPr>
          </a:p>
          <a:p>
            <a:pPr lvl="1">
              <a:lnSpc>
                <a:spcPct val="120000"/>
              </a:lnSpc>
              <a:buClr>
                <a:schemeClr val="tx1"/>
              </a:buClr>
              <a:buFontTx/>
              <a:buChar char="–"/>
            </a:pPr>
            <a:r>
              <a:rPr lang="en-US" altLang="zh-CN" sz="2000" dirty="0">
                <a:solidFill>
                  <a:srgbClr val="0070C0"/>
                </a:solidFill>
                <a:ea typeface="宋体" panose="02010600030101010101" pitchFamily="2" charset="-122"/>
              </a:rPr>
              <a:t>Cluster = 15 – 17, 20</a:t>
            </a:r>
            <a:endParaRPr lang="en-US" altLang="zh-CN" sz="2000" dirty="0">
              <a:solidFill>
                <a:srgbClr val="0070C0"/>
              </a:solidFill>
              <a:ea typeface="宋体" panose="02010600030101010101" pitchFamily="2" charset="-122"/>
            </a:endParaRPr>
          </a:p>
          <a:p>
            <a:pPr lvl="1">
              <a:buClr>
                <a:schemeClr val="tx1"/>
              </a:buClr>
              <a:buFontTx/>
              <a:buChar char="–"/>
            </a:pPr>
            <a:endParaRPr lang="en-US" altLang="zh-CN" sz="2000"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PAM: A Typical K-Medoids Algorithm</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228600" y="952500"/>
            <a:ext cx="86868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nSpc>
                <a:spcPct val="110000"/>
              </a:lnSpc>
              <a:buClr>
                <a:schemeClr val="tx1"/>
              </a:buClr>
              <a:buSzPct val="75000"/>
              <a:buFont typeface="Monotype Sorts" panose="05000000000000000000" pitchFamily="2" charset="2"/>
              <a:buChar char="v"/>
            </a:pPr>
            <a:r>
              <a:rPr lang="en-US" altLang="zh-CN" sz="2400" dirty="0">
                <a:solidFill>
                  <a:srgbClr val="FF0000"/>
                </a:solidFill>
                <a:latin typeface="Arial Unicode MS" panose="02010600030101010101" charset="-122"/>
                <a:ea typeface="Arial Unicode MS" panose="02010600030101010101" charset="-122"/>
              </a:rPr>
              <a:t>Random non-medoid – 1 replaces 6</a:t>
            </a:r>
            <a:endParaRPr lang="en-US" altLang="zh-CN" sz="2400" dirty="0">
              <a:solidFill>
                <a:srgbClr val="FF000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8 – 6 (cost 2-0=2) 7 (cost 1-1=0)10 (cost 0)</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15 – 17 (cost 0), 20 (cost 0)</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New Cluster = 1 – 2 (cost 1-4=-3)</a:t>
            </a:r>
            <a:endParaRPr lang="en-US" altLang="zh-CN" sz="2000" dirty="0">
              <a:solidFill>
                <a:srgbClr val="0070C0"/>
              </a:solidFill>
              <a:latin typeface="Arial Unicode MS" panose="02010600030101010101" charset="-122"/>
              <a:ea typeface="Arial Unicode MS" panose="02010600030101010101" charset="-122"/>
            </a:endParaRPr>
          </a:p>
          <a:p>
            <a:pPr>
              <a:lnSpc>
                <a:spcPct val="110000"/>
              </a:lnSpc>
              <a:buClr>
                <a:schemeClr val="tx1"/>
              </a:buClr>
              <a:buSzPct val="75000"/>
              <a:buFont typeface="Monotype Sorts" panose="05000000000000000000" pitchFamily="2" charset="2"/>
              <a:buChar char="v"/>
            </a:pPr>
            <a:r>
              <a:rPr lang="en-US" altLang="zh-CN" sz="2400" dirty="0">
                <a:solidFill>
                  <a:srgbClr val="FF0000"/>
                </a:solidFill>
                <a:latin typeface="Arial Unicode MS" panose="02010600030101010101" charset="-122"/>
                <a:ea typeface="Arial Unicode MS" panose="02010600030101010101" charset="-122"/>
              </a:rPr>
              <a:t>2 replaces 6 (total cost=1)</a:t>
            </a:r>
            <a:endParaRPr lang="en-US" altLang="zh-CN" sz="2400" dirty="0">
              <a:solidFill>
                <a:srgbClr val="FF0000"/>
              </a:solidFill>
              <a:latin typeface="Arial Unicode MS" panose="02010600030101010101" charset="-122"/>
              <a:ea typeface="Arial Unicode MS" panose="02010600030101010101" charset="-122"/>
            </a:endParaRPr>
          </a:p>
          <a:p>
            <a:pPr>
              <a:lnSpc>
                <a:spcPct val="110000"/>
              </a:lnSpc>
              <a:buClr>
                <a:schemeClr val="tx1"/>
              </a:buClr>
              <a:buSzPct val="75000"/>
              <a:buFont typeface="Monotype Sorts" panose="05000000000000000000" pitchFamily="2" charset="2"/>
              <a:buChar char="v"/>
            </a:pPr>
            <a:r>
              <a:rPr lang="en-US" altLang="zh-CN" sz="2400" dirty="0">
                <a:solidFill>
                  <a:srgbClr val="FF0000"/>
                </a:solidFill>
                <a:latin typeface="Arial Unicode MS" panose="02010600030101010101" charset="-122"/>
                <a:ea typeface="Arial Unicode MS" panose="02010600030101010101" charset="-122"/>
              </a:rPr>
              <a:t>Don’t replace medoid 6</a:t>
            </a:r>
            <a:endParaRPr lang="en-US" altLang="zh-CN" sz="2400" dirty="0">
              <a:solidFill>
                <a:srgbClr val="FF000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6 – 1, 2, 7</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8 – 10</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15 – 17, 20</a:t>
            </a:r>
            <a:endParaRPr lang="en-US" altLang="zh-CN" sz="2000" dirty="0">
              <a:solidFill>
                <a:srgbClr val="0070C0"/>
              </a:solidFill>
              <a:latin typeface="Arial Unicode MS" panose="02010600030101010101" charset="-122"/>
              <a:ea typeface="Arial Unicode MS" panose="02010600030101010101" charset="-122"/>
            </a:endParaRPr>
          </a:p>
          <a:p>
            <a:pPr>
              <a:lnSpc>
                <a:spcPct val="110000"/>
              </a:lnSpc>
              <a:buClr>
                <a:schemeClr val="tx1"/>
              </a:buClr>
              <a:buSzPct val="75000"/>
              <a:buFont typeface="Monotype Sorts" panose="05000000000000000000" pitchFamily="2" charset="2"/>
              <a:buChar char="v"/>
            </a:pPr>
            <a:r>
              <a:rPr lang="en-US" altLang="zh-CN" sz="2400" dirty="0">
                <a:solidFill>
                  <a:srgbClr val="FF0000"/>
                </a:solidFill>
                <a:latin typeface="Arial Unicode MS" panose="02010600030101010101" charset="-122"/>
                <a:ea typeface="Arial Unicode MS" panose="02010600030101010101" charset="-122"/>
              </a:rPr>
              <a:t>Random non-medoid – 7 replaces 6 (total cost=3)</a:t>
            </a:r>
            <a:endParaRPr lang="en-US" altLang="zh-CN" sz="2400" dirty="0">
              <a:solidFill>
                <a:srgbClr val="FF000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8 – 10 (cost 0)</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15 – 17(cost 0), 20(cost 0)</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New Cluster = 7 – 6 (cost 1-0=1), 2 (cost 5-4=1)</a:t>
            </a:r>
            <a:r>
              <a:rPr lang="zh-CN" altLang="en-US" sz="2000" dirty="0">
                <a:solidFill>
                  <a:srgbClr val="0070C0"/>
                </a:solidFill>
                <a:latin typeface="Arial Unicode MS" panose="02010600030101010101" charset="-122"/>
                <a:ea typeface="Arial Unicode MS" panose="02010600030101010101" charset="-122"/>
              </a:rPr>
              <a:t>， ？</a:t>
            </a:r>
            <a:endParaRPr lang="en-US" altLang="zh-CN" sz="2000" dirty="0">
              <a:solidFill>
                <a:srgbClr val="0070C0"/>
              </a:solidFill>
              <a:latin typeface="Arial Unicode MS" panose="02010600030101010101" charset="-122"/>
              <a:ea typeface="Arial Unicode MS" panose="02010600030101010101" charset="-122"/>
            </a:endParaRPr>
          </a:p>
          <a:p>
            <a:pPr lvl="1">
              <a:lnSpc>
                <a:spcPct val="110000"/>
              </a:lnSpc>
              <a:buClr>
                <a:schemeClr val="tx1"/>
              </a:buClr>
              <a:buFontTx/>
              <a:buChar char="–"/>
            </a:pPr>
            <a:endParaRPr lang="en-US" altLang="zh-CN" sz="2000" dirty="0">
              <a:latin typeface="Arial Unicode MS" panose="02010600030101010101" charset="-122"/>
              <a:ea typeface="Arial Unicode MS" panose="0201060003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PAM: A Typical K-Medoids Algorithm</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228600" y="836712"/>
            <a:ext cx="86868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buClr>
                <a:schemeClr val="tx1"/>
              </a:buClr>
              <a:buSzPct val="75000"/>
              <a:buFont typeface="Monotype Sorts" panose="05000000000000000000" pitchFamily="2" charset="2"/>
              <a:buChar char="v"/>
            </a:pPr>
            <a:r>
              <a:rPr lang="en-US" altLang="zh-CN" sz="2400" dirty="0">
                <a:solidFill>
                  <a:srgbClr val="FF0000"/>
                </a:solidFill>
                <a:latin typeface="Arial Unicode MS" panose="02010600030101010101" charset="-122"/>
                <a:ea typeface="Arial Unicode MS" panose="02010600030101010101" charset="-122"/>
              </a:rPr>
              <a:t>Don’t Replace medoid 6</a:t>
            </a:r>
            <a:endParaRPr lang="en-US" altLang="zh-CN" sz="2400" dirty="0">
              <a:solidFill>
                <a:srgbClr val="FF000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6 – 1, 2, 7</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8 – 10</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15 – 17, 20</a:t>
            </a:r>
            <a:endParaRPr lang="en-US" altLang="zh-CN" sz="2000" dirty="0">
              <a:solidFill>
                <a:srgbClr val="0070C0"/>
              </a:solidFill>
              <a:latin typeface="Arial Unicode MS" panose="02010600030101010101" charset="-122"/>
              <a:ea typeface="Arial Unicode MS" panose="02010600030101010101" charset="-122"/>
            </a:endParaRPr>
          </a:p>
          <a:p>
            <a:pPr>
              <a:buClr>
                <a:schemeClr val="tx1"/>
              </a:buClr>
              <a:buSzPct val="75000"/>
              <a:buFont typeface="Monotype Sorts" panose="05000000000000000000" pitchFamily="2" charset="2"/>
              <a:buChar char="v"/>
            </a:pPr>
            <a:r>
              <a:rPr lang="en-US" altLang="zh-CN" sz="2400" dirty="0">
                <a:solidFill>
                  <a:srgbClr val="FF0000"/>
                </a:solidFill>
                <a:latin typeface="Arial Unicode MS" panose="02010600030101010101" charset="-122"/>
                <a:ea typeface="Arial Unicode MS" panose="02010600030101010101" charset="-122"/>
              </a:rPr>
              <a:t>Random non-medoid – 10 replaces 8 (total cost=2) don’t replace</a:t>
            </a:r>
            <a:endParaRPr lang="en-US" altLang="zh-CN" sz="2400" dirty="0">
              <a:solidFill>
                <a:srgbClr val="FF000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6 – 1(cost 0),  2(cost 0),  7(cost 0)</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15 – 17 (cost 0), 20(cost 0)</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New Cluster = 10 – 8 (cost 2-0=2)</a:t>
            </a:r>
            <a:endParaRPr lang="en-US" altLang="zh-CN" sz="2000" dirty="0">
              <a:solidFill>
                <a:srgbClr val="0070C0"/>
              </a:solidFill>
              <a:latin typeface="Arial Unicode MS" panose="02010600030101010101" charset="-122"/>
              <a:ea typeface="Arial Unicode MS" panose="02010600030101010101" charset="-122"/>
            </a:endParaRPr>
          </a:p>
          <a:p>
            <a:pPr>
              <a:buClr>
                <a:schemeClr val="tx1"/>
              </a:buClr>
              <a:buSzPct val="75000"/>
              <a:buFont typeface="Monotype Sorts" panose="05000000000000000000" pitchFamily="2" charset="2"/>
              <a:buChar char="v"/>
            </a:pPr>
            <a:r>
              <a:rPr lang="en-US" altLang="zh-CN" sz="2400" dirty="0">
                <a:solidFill>
                  <a:srgbClr val="FF0000"/>
                </a:solidFill>
                <a:latin typeface="Arial Unicode MS" panose="02010600030101010101" charset="-122"/>
                <a:ea typeface="Arial Unicode MS" panose="02010600030101010101" charset="-122"/>
              </a:rPr>
              <a:t>Random non-medoid – 17 replaces 15 (total cost=0) don’t replace</a:t>
            </a:r>
            <a:endParaRPr lang="en-US" altLang="zh-CN" sz="2400" dirty="0">
              <a:solidFill>
                <a:srgbClr val="FF000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6 – 1(cost 0),  2(cost 0),  7(cost 0)</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8 – 10 (cost 0)</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New Cluster = 17 – 15 (cost 2-0=2), 20(cost 3-5=-2)</a:t>
            </a:r>
            <a:endParaRPr lang="en-US" altLang="zh-CN" sz="2000" dirty="0">
              <a:solidFill>
                <a:srgbClr val="0070C0"/>
              </a:solidFill>
              <a:latin typeface="Arial Unicode MS" panose="02010600030101010101" charset="-122"/>
              <a:ea typeface="Arial Unicode MS" panose="0201060003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PAM: A Typical K-Medoids Algorithm</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228600" y="762963"/>
            <a:ext cx="86868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nSpc>
                <a:spcPct val="110000"/>
              </a:lnSpc>
              <a:buClr>
                <a:schemeClr val="tx1"/>
              </a:buClr>
              <a:buSzPct val="75000"/>
              <a:buFont typeface="Monotype Sorts" panose="05000000000000000000" pitchFamily="2" charset="2"/>
              <a:buChar char="v"/>
            </a:pPr>
            <a:r>
              <a:rPr lang="en-US" altLang="zh-CN" sz="2800" dirty="0">
                <a:solidFill>
                  <a:srgbClr val="FF0000"/>
                </a:solidFill>
                <a:latin typeface="Arial Unicode MS" panose="02010600030101010101" charset="-122"/>
                <a:ea typeface="Arial Unicode MS" panose="02010600030101010101" charset="-122"/>
              </a:rPr>
              <a:t>Random non-medoid – 20 replaces 15 (total cost=3) don’t replace</a:t>
            </a:r>
            <a:endParaRPr lang="en-US" altLang="zh-CN" sz="2800" dirty="0">
              <a:solidFill>
                <a:srgbClr val="FF000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6 – 1(cost 0),  2(cost 0),  7(cost 0)</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8 – 10 (cost 0)</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New Cluster = 20 – 15 (cost 5-0=2), 17(cost 3-2=1)</a:t>
            </a:r>
            <a:endParaRPr lang="en-US" altLang="zh-CN" sz="2000" dirty="0">
              <a:solidFill>
                <a:srgbClr val="0070C0"/>
              </a:solidFill>
              <a:latin typeface="Arial Unicode MS" panose="02010600030101010101" charset="-122"/>
              <a:ea typeface="Arial Unicode MS" panose="02010600030101010101" charset="-122"/>
            </a:endParaRPr>
          </a:p>
          <a:p>
            <a:pPr>
              <a:lnSpc>
                <a:spcPct val="110000"/>
              </a:lnSpc>
              <a:buClr>
                <a:schemeClr val="tx1"/>
              </a:buClr>
              <a:buSzPct val="75000"/>
              <a:buFont typeface="Monotype Sorts" panose="05000000000000000000" pitchFamily="2" charset="2"/>
              <a:buChar char="v"/>
            </a:pPr>
            <a:r>
              <a:rPr lang="en-US" altLang="zh-CN" sz="2800" dirty="0">
                <a:solidFill>
                  <a:srgbClr val="FF0000"/>
                </a:solidFill>
                <a:latin typeface="Arial Unicode MS" panose="02010600030101010101" charset="-122"/>
                <a:ea typeface="Arial Unicode MS" panose="02010600030101010101" charset="-122"/>
              </a:rPr>
              <a:t>Other possible changes all have high costs</a:t>
            </a:r>
            <a:endParaRPr lang="en-US" altLang="zh-CN" sz="2800" dirty="0">
              <a:solidFill>
                <a:srgbClr val="FF000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1 replaces 15, 2 replaces 15, 1 replaces 8, …</a:t>
            </a:r>
            <a:endParaRPr lang="en-US" altLang="zh-CN" sz="2000" dirty="0">
              <a:solidFill>
                <a:srgbClr val="0070C0"/>
              </a:solidFill>
              <a:latin typeface="Arial Unicode MS" panose="02010600030101010101" charset="-122"/>
              <a:ea typeface="Arial Unicode MS" panose="02010600030101010101" charset="-122"/>
            </a:endParaRPr>
          </a:p>
          <a:p>
            <a:pPr>
              <a:lnSpc>
                <a:spcPct val="110000"/>
              </a:lnSpc>
              <a:buClr>
                <a:schemeClr val="tx1"/>
              </a:buClr>
              <a:buSzPct val="75000"/>
              <a:buFont typeface="Monotype Sorts" panose="05000000000000000000" pitchFamily="2" charset="2"/>
              <a:buChar char="v"/>
            </a:pPr>
            <a:r>
              <a:rPr lang="en-US" altLang="zh-CN" sz="2800" dirty="0">
                <a:solidFill>
                  <a:srgbClr val="FF0000"/>
                </a:solidFill>
                <a:latin typeface="Arial Unicode MS" panose="02010600030101010101" charset="-122"/>
                <a:ea typeface="Arial Unicode MS" panose="02010600030101010101" charset="-122"/>
              </a:rPr>
              <a:t>No changes, final clusters</a:t>
            </a:r>
            <a:endParaRPr lang="en-US" altLang="zh-CN" sz="2800" dirty="0">
              <a:solidFill>
                <a:srgbClr val="FF000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6 – 1, 2, 7</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8 – 10</a:t>
            </a:r>
            <a:endParaRPr lang="en-US" altLang="zh-CN" sz="2000" dirty="0">
              <a:solidFill>
                <a:srgbClr val="0070C0"/>
              </a:solidFill>
              <a:latin typeface="Arial Unicode MS" panose="02010600030101010101" charset="-122"/>
              <a:ea typeface="Arial Unicode MS" panose="02010600030101010101" charset="-122"/>
            </a:endParaRPr>
          </a:p>
          <a:p>
            <a:pPr lvl="1">
              <a:lnSpc>
                <a:spcPct val="120000"/>
              </a:lnSpc>
              <a:buClr>
                <a:schemeClr val="tx1"/>
              </a:buClr>
              <a:buFontTx/>
              <a:buChar char="–"/>
            </a:pPr>
            <a:r>
              <a:rPr lang="en-US" altLang="zh-CN" sz="2000" dirty="0">
                <a:solidFill>
                  <a:srgbClr val="0070C0"/>
                </a:solidFill>
                <a:latin typeface="Arial Unicode MS" panose="02010600030101010101" charset="-122"/>
                <a:ea typeface="Arial Unicode MS" panose="02010600030101010101" charset="-122"/>
              </a:rPr>
              <a:t>Cluster = 15 – 17, 20</a:t>
            </a:r>
            <a:endParaRPr lang="en-US" altLang="zh-CN" sz="2000" dirty="0">
              <a:solidFill>
                <a:srgbClr val="0070C0"/>
              </a:solidFill>
              <a:latin typeface="Arial Unicode MS" panose="02010600030101010101" charset="-122"/>
              <a:ea typeface="Arial Unicode MS" panose="0201060003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PAM: A Typical K-Medoids Algorithm</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6"/>
          <p:cNvSpPr>
            <a:spLocks noChangeArrowheads="1"/>
          </p:cNvSpPr>
          <p:nvPr/>
        </p:nvSpPr>
        <p:spPr bwMode="auto">
          <a:xfrm>
            <a:off x="181625" y="3486944"/>
            <a:ext cx="315022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1600" dirty="0">
                <a:solidFill>
                  <a:srgbClr val="0070C0"/>
                </a:solidFill>
                <a:latin typeface="Tahoma" panose="020B0604030504040204" pitchFamily="34" charset="0"/>
                <a:ea typeface="MS PGothic" panose="020B0600070205080204" pitchFamily="34" charset="-128"/>
              </a:rPr>
              <a:t>Assume </a:t>
            </a:r>
            <a:r>
              <a:rPr lang="en-US" altLang="zh-CN" sz="1600" i="1" dirty="0">
                <a:solidFill>
                  <a:srgbClr val="0070C0"/>
                </a:solidFill>
                <a:latin typeface="Tahoma" panose="020B0604030504040204" pitchFamily="34" charset="0"/>
                <a:ea typeface="MS PGothic" panose="020B0600070205080204" pitchFamily="34" charset="-128"/>
              </a:rPr>
              <a:t>k</a:t>
            </a:r>
            <a:r>
              <a:rPr lang="en-US" altLang="zh-CN" sz="1600" dirty="0">
                <a:solidFill>
                  <a:srgbClr val="0070C0"/>
                </a:solidFill>
                <a:latin typeface="Tahoma" panose="020B0604030504040204" pitchFamily="34" charset="0"/>
                <a:ea typeface="MS PGothic" panose="020B0600070205080204" pitchFamily="34" charset="-128"/>
              </a:rPr>
              <a:t>=2</a:t>
            </a:r>
            <a:endParaRPr lang="en-US" altLang="zh-CN" sz="1600" dirty="0">
              <a:solidFill>
                <a:srgbClr val="0070C0"/>
              </a:solidFill>
              <a:latin typeface="Tahoma" panose="020B0604030504040204" pitchFamily="34" charset="0"/>
              <a:ea typeface="MS PGothic" panose="020B0600070205080204" pitchFamily="34" charset="-128"/>
            </a:endParaRPr>
          </a:p>
          <a:p>
            <a:pPr>
              <a:spcBef>
                <a:spcPct val="0"/>
              </a:spcBef>
              <a:buClrTx/>
              <a:buFontTx/>
              <a:buNone/>
            </a:pPr>
            <a:r>
              <a:rPr lang="en-US" altLang="zh-CN" sz="1600" dirty="0">
                <a:solidFill>
                  <a:srgbClr val="0070C0"/>
                </a:solidFill>
                <a:latin typeface="Tahoma" panose="020B0604030504040204" pitchFamily="34" charset="0"/>
                <a:ea typeface="MS PGothic" panose="020B0600070205080204" pitchFamily="34" charset="-128"/>
              </a:rPr>
              <a:t>Select X5 and X9 as medoids</a:t>
            </a:r>
            <a:endParaRPr lang="en-US" altLang="zh-CN" sz="1800" i="1" dirty="0">
              <a:solidFill>
                <a:srgbClr val="0070C0"/>
              </a:solidFill>
              <a:latin typeface="Tahoma" panose="020B0604030504040204" pitchFamily="34" charset="0"/>
              <a:ea typeface="MS PGothic" panose="020B0600070205080204" pitchFamily="34" charset="-128"/>
            </a:endParaRPr>
          </a:p>
        </p:txBody>
      </p:sp>
      <p:sp>
        <p:nvSpPr>
          <p:cNvPr id="4" name="Rectangle 9"/>
          <p:cNvSpPr>
            <a:spLocks noChangeArrowheads="1"/>
          </p:cNvSpPr>
          <p:nvPr/>
        </p:nvSpPr>
        <p:spPr bwMode="auto">
          <a:xfrm>
            <a:off x="3032775" y="5134769"/>
            <a:ext cx="61436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1600" dirty="0">
                <a:solidFill>
                  <a:srgbClr val="0070C0"/>
                </a:solidFill>
                <a:latin typeface="Tahoma" panose="020B0604030504040204" pitchFamily="34" charset="0"/>
                <a:ea typeface="MS PGothic" panose="020B0600070205080204" pitchFamily="34" charset="-128"/>
              </a:rPr>
              <a:t>Current clustering: {X2,X5,X6,X7},{X1,X3,X4,X8,X9,X10}</a:t>
            </a:r>
            <a:endParaRPr lang="en-US" altLang="zh-CN" sz="1800" i="1" dirty="0">
              <a:solidFill>
                <a:srgbClr val="0070C0"/>
              </a:solidFill>
              <a:latin typeface="Tahoma" panose="020B0604030504040204" pitchFamily="34" charset="0"/>
              <a:ea typeface="MS PGothic" panose="020B0600070205080204" pitchFamily="34" charset="-128"/>
            </a:endParaRPr>
          </a:p>
        </p:txBody>
      </p:sp>
      <p:sp>
        <p:nvSpPr>
          <p:cNvPr id="5" name="矩形 1"/>
          <p:cNvSpPr>
            <a:spLocks noChangeArrowheads="1"/>
          </p:cNvSpPr>
          <p:nvPr/>
        </p:nvSpPr>
        <p:spPr bwMode="auto">
          <a:xfrm>
            <a:off x="4774263" y="5871369"/>
            <a:ext cx="40497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a:solidFill>
                  <a:srgbClr val="0000FF"/>
                </a:solidFill>
              </a:rPr>
              <a:t>FROM Data Mining Lab of BYU</a:t>
            </a:r>
            <a:endParaRPr lang="en-US" altLang="zh-CN">
              <a:solidFill>
                <a:srgbClr val="0000FF"/>
              </a:solidFill>
            </a:endParaRPr>
          </a:p>
        </p:txBody>
      </p:sp>
      <p:grpSp>
        <p:nvGrpSpPr>
          <p:cNvPr id="6" name="组合 14"/>
          <p:cNvGrpSpPr/>
          <p:nvPr/>
        </p:nvGrpSpPr>
        <p:grpSpPr bwMode="auto">
          <a:xfrm>
            <a:off x="3326463" y="1124744"/>
            <a:ext cx="5094287" cy="2781300"/>
            <a:chOff x="3412291" y="1511130"/>
            <a:chExt cx="5094288" cy="2781300"/>
          </a:xfrm>
        </p:grpSpPr>
        <p:grpSp>
          <p:nvGrpSpPr>
            <p:cNvPr id="7" name="Group 12"/>
            <p:cNvGrpSpPr/>
            <p:nvPr/>
          </p:nvGrpSpPr>
          <p:grpSpPr bwMode="auto">
            <a:xfrm>
              <a:off x="3412291" y="1511130"/>
              <a:ext cx="5094288" cy="2781300"/>
              <a:chOff x="2439" y="755"/>
              <a:chExt cx="3209" cy="1752"/>
            </a:xfrm>
          </p:grpSpPr>
          <p:pic>
            <p:nvPicPr>
              <p:cNvPr id="19" name="图片 10"/>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439" y="755"/>
                <a:ext cx="3209" cy="17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sp>
            <p:nvSpPr>
              <p:cNvPr id="20" name="Freeform 10"/>
              <p:cNvSpPr/>
              <p:nvPr/>
            </p:nvSpPr>
            <p:spPr bwMode="auto">
              <a:xfrm>
                <a:off x="2802" y="1374"/>
                <a:ext cx="1641" cy="886"/>
              </a:xfrm>
              <a:custGeom>
                <a:avLst/>
                <a:gdLst>
                  <a:gd name="T0" fmla="*/ 27 w 1641"/>
                  <a:gd name="T1" fmla="*/ 162 h 886"/>
                  <a:gd name="T2" fmla="*/ 420 w 1641"/>
                  <a:gd name="T3" fmla="*/ 762 h 886"/>
                  <a:gd name="T4" fmla="*/ 1477 w 1641"/>
                  <a:gd name="T5" fmla="*/ 848 h 886"/>
                  <a:gd name="T6" fmla="*/ 1405 w 1641"/>
                  <a:gd name="T7" fmla="*/ 533 h 886"/>
                  <a:gd name="T8" fmla="*/ 255 w 1641"/>
                  <a:gd name="T9" fmla="*/ 62 h 886"/>
                  <a:gd name="T10" fmla="*/ 27 w 1641"/>
                  <a:gd name="T11" fmla="*/ 162 h 886"/>
                  <a:gd name="T12" fmla="*/ 0 60000 65536"/>
                  <a:gd name="T13" fmla="*/ 0 60000 65536"/>
                  <a:gd name="T14" fmla="*/ 0 60000 65536"/>
                  <a:gd name="T15" fmla="*/ 0 60000 65536"/>
                  <a:gd name="T16" fmla="*/ 0 60000 65536"/>
                  <a:gd name="T17" fmla="*/ 0 60000 65536"/>
                  <a:gd name="T18" fmla="*/ 0 w 1641"/>
                  <a:gd name="T19" fmla="*/ 0 h 886"/>
                  <a:gd name="T20" fmla="*/ 1641 w 1641"/>
                  <a:gd name="T21" fmla="*/ 886 h 886"/>
                </a:gdLst>
                <a:ahLst/>
                <a:cxnLst>
                  <a:cxn ang="T12">
                    <a:pos x="T0" y="T1"/>
                  </a:cxn>
                  <a:cxn ang="T13">
                    <a:pos x="T2" y="T3"/>
                  </a:cxn>
                  <a:cxn ang="T14">
                    <a:pos x="T4" y="T5"/>
                  </a:cxn>
                  <a:cxn ang="T15">
                    <a:pos x="T6" y="T7"/>
                  </a:cxn>
                  <a:cxn ang="T16">
                    <a:pos x="T8" y="T9"/>
                  </a:cxn>
                  <a:cxn ang="T17">
                    <a:pos x="T10" y="T11"/>
                  </a:cxn>
                </a:cxnLst>
                <a:rect l="T18" t="T19" r="T20" b="T21"/>
                <a:pathLst>
                  <a:path w="1641" h="886">
                    <a:moveTo>
                      <a:pt x="27" y="162"/>
                    </a:moveTo>
                    <a:cubicBezTo>
                      <a:pt x="54" y="279"/>
                      <a:pt x="178" y="648"/>
                      <a:pt x="420" y="762"/>
                    </a:cubicBezTo>
                    <a:cubicBezTo>
                      <a:pt x="662" y="876"/>
                      <a:pt x="1313" y="886"/>
                      <a:pt x="1477" y="848"/>
                    </a:cubicBezTo>
                    <a:cubicBezTo>
                      <a:pt x="1641" y="810"/>
                      <a:pt x="1609" y="664"/>
                      <a:pt x="1405" y="533"/>
                    </a:cubicBezTo>
                    <a:cubicBezTo>
                      <a:pt x="1201" y="402"/>
                      <a:pt x="483" y="124"/>
                      <a:pt x="255" y="62"/>
                    </a:cubicBezTo>
                    <a:cubicBezTo>
                      <a:pt x="27" y="0"/>
                      <a:pt x="0" y="45"/>
                      <a:pt x="27" y="162"/>
                    </a:cubicBezTo>
                    <a:close/>
                  </a:path>
                </a:pathLst>
              </a:cu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 name="Freeform 11"/>
              <p:cNvSpPr/>
              <p:nvPr/>
            </p:nvSpPr>
            <p:spPr bwMode="auto">
              <a:xfrm>
                <a:off x="2842" y="1108"/>
                <a:ext cx="1850" cy="832"/>
              </a:xfrm>
              <a:custGeom>
                <a:avLst/>
                <a:gdLst>
                  <a:gd name="T0" fmla="*/ 186 w 1850"/>
                  <a:gd name="T1" fmla="*/ 264 h 832"/>
                  <a:gd name="T2" fmla="*/ 1536 w 1850"/>
                  <a:gd name="T3" fmla="*/ 814 h 832"/>
                  <a:gd name="T4" fmla="*/ 1664 w 1850"/>
                  <a:gd name="T5" fmla="*/ 371 h 832"/>
                  <a:gd name="T6" fmla="*/ 422 w 1850"/>
                  <a:gd name="T7" fmla="*/ 21 h 832"/>
                  <a:gd name="T8" fmla="*/ 186 w 1850"/>
                  <a:gd name="T9" fmla="*/ 264 h 832"/>
                  <a:gd name="T10" fmla="*/ 0 60000 65536"/>
                  <a:gd name="T11" fmla="*/ 0 60000 65536"/>
                  <a:gd name="T12" fmla="*/ 0 60000 65536"/>
                  <a:gd name="T13" fmla="*/ 0 60000 65536"/>
                  <a:gd name="T14" fmla="*/ 0 60000 65536"/>
                  <a:gd name="T15" fmla="*/ 0 w 1850"/>
                  <a:gd name="T16" fmla="*/ 0 h 832"/>
                  <a:gd name="T17" fmla="*/ 1850 w 1850"/>
                  <a:gd name="T18" fmla="*/ 832 h 832"/>
                </a:gdLst>
                <a:ahLst/>
                <a:cxnLst>
                  <a:cxn ang="T10">
                    <a:pos x="T0" y="T1"/>
                  </a:cxn>
                  <a:cxn ang="T11">
                    <a:pos x="T2" y="T3"/>
                  </a:cxn>
                  <a:cxn ang="T12">
                    <a:pos x="T4" y="T5"/>
                  </a:cxn>
                  <a:cxn ang="T13">
                    <a:pos x="T6" y="T7"/>
                  </a:cxn>
                  <a:cxn ang="T14">
                    <a:pos x="T8" y="T9"/>
                  </a:cxn>
                </a:cxnLst>
                <a:rect l="T15" t="T16" r="T17" b="T18"/>
                <a:pathLst>
                  <a:path w="1850" h="832">
                    <a:moveTo>
                      <a:pt x="186" y="264"/>
                    </a:moveTo>
                    <a:cubicBezTo>
                      <a:pt x="372" y="396"/>
                      <a:pt x="1290" y="796"/>
                      <a:pt x="1536" y="814"/>
                    </a:cubicBezTo>
                    <a:cubicBezTo>
                      <a:pt x="1782" y="832"/>
                      <a:pt x="1850" y="503"/>
                      <a:pt x="1664" y="371"/>
                    </a:cubicBezTo>
                    <a:cubicBezTo>
                      <a:pt x="1478" y="239"/>
                      <a:pt x="667" y="42"/>
                      <a:pt x="422" y="21"/>
                    </a:cubicBezTo>
                    <a:cubicBezTo>
                      <a:pt x="177" y="0"/>
                      <a:pt x="0" y="132"/>
                      <a:pt x="186" y="264"/>
                    </a:cubicBezTo>
                    <a:close/>
                  </a:path>
                </a:pathLst>
              </a:custGeom>
              <a:noFill/>
              <a:ln w="12700">
                <a:solidFill>
                  <a:srgbClr val="80008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8" name="矩形 16"/>
            <p:cNvSpPr>
              <a:spLocks noChangeArrowheads="1"/>
            </p:cNvSpPr>
            <p:nvPr/>
          </p:nvSpPr>
          <p:spPr bwMode="auto">
            <a:xfrm>
              <a:off x="4079732" y="2706101"/>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1</a:t>
              </a:r>
              <a:endParaRPr lang="en-US" altLang="zh-CN" sz="1600">
                <a:solidFill>
                  <a:srgbClr val="0000FF"/>
                </a:solidFill>
              </a:endParaRPr>
            </a:p>
          </p:txBody>
        </p:sp>
        <p:sp>
          <p:nvSpPr>
            <p:cNvPr id="9" name="矩形 17"/>
            <p:cNvSpPr>
              <a:spLocks noChangeArrowheads="1"/>
            </p:cNvSpPr>
            <p:nvPr/>
          </p:nvSpPr>
          <p:spPr bwMode="auto">
            <a:xfrm>
              <a:off x="4439773" y="3223041"/>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2</a:t>
              </a:r>
              <a:endParaRPr lang="en-US" altLang="zh-CN" sz="1600">
                <a:solidFill>
                  <a:srgbClr val="0000FF"/>
                </a:solidFill>
              </a:endParaRPr>
            </a:p>
          </p:txBody>
        </p:sp>
        <p:sp>
          <p:nvSpPr>
            <p:cNvPr id="10" name="矩形 18"/>
            <p:cNvSpPr>
              <a:spLocks noChangeArrowheads="1"/>
            </p:cNvSpPr>
            <p:nvPr/>
          </p:nvSpPr>
          <p:spPr bwMode="auto">
            <a:xfrm>
              <a:off x="4439773" y="2324516"/>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3</a:t>
              </a:r>
              <a:endParaRPr lang="en-US" altLang="zh-CN" sz="1600">
                <a:solidFill>
                  <a:srgbClr val="0000FF"/>
                </a:solidFill>
              </a:endParaRPr>
            </a:p>
          </p:txBody>
        </p:sp>
        <p:sp>
          <p:nvSpPr>
            <p:cNvPr id="11" name="矩形 19"/>
            <p:cNvSpPr>
              <a:spLocks noChangeArrowheads="1"/>
            </p:cNvSpPr>
            <p:nvPr/>
          </p:nvSpPr>
          <p:spPr bwMode="auto">
            <a:xfrm>
              <a:off x="4860032" y="2562641"/>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4</a:t>
              </a:r>
              <a:endParaRPr lang="en-US" altLang="zh-CN" sz="1600">
                <a:solidFill>
                  <a:srgbClr val="0000FF"/>
                </a:solidFill>
              </a:endParaRPr>
            </a:p>
          </p:txBody>
        </p:sp>
        <p:sp>
          <p:nvSpPr>
            <p:cNvPr id="12" name="矩形 20"/>
            <p:cNvSpPr>
              <a:spLocks noChangeArrowheads="1"/>
            </p:cNvSpPr>
            <p:nvPr/>
          </p:nvSpPr>
          <p:spPr bwMode="auto">
            <a:xfrm>
              <a:off x="5538999" y="3805018"/>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5</a:t>
              </a:r>
              <a:endParaRPr lang="en-US" altLang="zh-CN" sz="1600">
                <a:solidFill>
                  <a:srgbClr val="0000FF"/>
                </a:solidFill>
              </a:endParaRPr>
            </a:p>
          </p:txBody>
        </p:sp>
        <p:sp>
          <p:nvSpPr>
            <p:cNvPr id="13" name="矩形 21"/>
            <p:cNvSpPr>
              <a:spLocks noChangeArrowheads="1"/>
            </p:cNvSpPr>
            <p:nvPr/>
          </p:nvSpPr>
          <p:spPr bwMode="auto">
            <a:xfrm>
              <a:off x="5591901" y="3212976"/>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6</a:t>
              </a:r>
              <a:endParaRPr lang="en-US" altLang="zh-CN" sz="1600">
                <a:solidFill>
                  <a:srgbClr val="0000FF"/>
                </a:solidFill>
              </a:endParaRPr>
            </a:p>
          </p:txBody>
        </p:sp>
        <p:sp>
          <p:nvSpPr>
            <p:cNvPr id="14" name="矩形 22"/>
            <p:cNvSpPr>
              <a:spLocks noChangeArrowheads="1"/>
            </p:cNvSpPr>
            <p:nvPr/>
          </p:nvSpPr>
          <p:spPr bwMode="auto">
            <a:xfrm>
              <a:off x="6012160" y="3429000"/>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7</a:t>
              </a:r>
              <a:endParaRPr lang="en-US" altLang="zh-CN" sz="1600">
                <a:solidFill>
                  <a:srgbClr val="0000FF"/>
                </a:solidFill>
              </a:endParaRPr>
            </a:p>
          </p:txBody>
        </p:sp>
        <p:sp>
          <p:nvSpPr>
            <p:cNvPr id="15" name="矩形 23"/>
            <p:cNvSpPr>
              <a:spLocks noChangeArrowheads="1"/>
            </p:cNvSpPr>
            <p:nvPr/>
          </p:nvSpPr>
          <p:spPr bwMode="auto">
            <a:xfrm>
              <a:off x="6156176" y="3068960"/>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8</a:t>
              </a:r>
              <a:endParaRPr lang="en-US" altLang="zh-CN" sz="1600">
                <a:solidFill>
                  <a:srgbClr val="0000FF"/>
                </a:solidFill>
              </a:endParaRPr>
            </a:p>
          </p:txBody>
        </p:sp>
        <p:sp>
          <p:nvSpPr>
            <p:cNvPr id="17" name="矩形 24"/>
            <p:cNvSpPr>
              <a:spLocks noChangeArrowheads="1"/>
            </p:cNvSpPr>
            <p:nvPr/>
          </p:nvSpPr>
          <p:spPr bwMode="auto">
            <a:xfrm>
              <a:off x="6464526" y="3027778"/>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9</a:t>
              </a:r>
              <a:endParaRPr lang="en-US" altLang="zh-CN" sz="1600">
                <a:solidFill>
                  <a:srgbClr val="0000FF"/>
                </a:solidFill>
              </a:endParaRPr>
            </a:p>
          </p:txBody>
        </p:sp>
        <p:sp>
          <p:nvSpPr>
            <p:cNvPr id="18" name="矩形 25"/>
            <p:cNvSpPr>
              <a:spLocks noChangeArrowheads="1"/>
            </p:cNvSpPr>
            <p:nvPr/>
          </p:nvSpPr>
          <p:spPr bwMode="auto">
            <a:xfrm>
              <a:off x="6012159" y="2732528"/>
              <a:ext cx="56427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10</a:t>
              </a:r>
              <a:endParaRPr lang="en-US" altLang="zh-CN" sz="1600">
                <a:solidFill>
                  <a:srgbClr val="0000FF"/>
                </a:solidFill>
              </a:endParaRPr>
            </a:p>
          </p:txBody>
        </p:sp>
      </p:grpSp>
      <p:graphicFrame>
        <p:nvGraphicFramePr>
          <p:cNvPr id="22" name="表格 21"/>
          <p:cNvGraphicFramePr>
            <a:graphicFrameLocks noGrp="1"/>
          </p:cNvGraphicFramePr>
          <p:nvPr/>
        </p:nvGraphicFramePr>
        <p:xfrm>
          <a:off x="311800" y="4637882"/>
          <a:ext cx="2268539" cy="1594215"/>
        </p:xfrm>
        <a:graphic>
          <a:graphicData uri="http://schemas.openxmlformats.org/drawingml/2006/table">
            <a:tbl>
              <a:tblPr/>
              <a:tblGrid>
                <a:gridCol w="896219"/>
                <a:gridCol w="686160"/>
                <a:gridCol w="686160"/>
              </a:tblGrid>
              <a:tr h="177094">
                <a:tc>
                  <a:txBody>
                    <a:bodyPr/>
                    <a:lstStyle/>
                    <a:p>
                      <a:pPr algn="l" fontAlgn="b"/>
                      <a:r>
                        <a:rPr lang="en-US" altLang="zh-CN" sz="1100" b="1" i="0" u="none" strike="noStrike" dirty="0">
                          <a:solidFill>
                            <a:srgbClr val="000000"/>
                          </a:solidFill>
                          <a:effectLst/>
                          <a:latin typeface="宋体" panose="02010600030101010101" pitchFamily="2" charset="-122"/>
                        </a:rPr>
                        <a:t>Distance</a:t>
                      </a:r>
                      <a:endParaRPr lang="zh-CN" altLang="en-US" sz="1100" b="1" i="0" u="none" strike="noStrike" dirty="0">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c>
                  <a:txBody>
                    <a:bodyPr/>
                    <a:lstStyle/>
                    <a:p>
                      <a:pPr algn="l" fontAlgn="b"/>
                      <a:r>
                        <a:rPr lang="en-US" sz="1100" b="1" i="0" u="none" strike="noStrike">
                          <a:solidFill>
                            <a:srgbClr val="000000"/>
                          </a:solidFill>
                          <a:effectLst/>
                          <a:latin typeface="宋体" panose="02010600030101010101" pitchFamily="2" charset="-122"/>
                        </a:rPr>
                        <a:t>to X5</a:t>
                      </a:r>
                      <a:endParaRPr lang="en-US" sz="1100" b="1"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c>
                  <a:txBody>
                    <a:bodyPr/>
                    <a:lstStyle/>
                    <a:p>
                      <a:pPr algn="l" fontAlgn="b"/>
                      <a:r>
                        <a:rPr lang="en-US" sz="1100" b="1" i="0" u="none" strike="noStrike" dirty="0">
                          <a:solidFill>
                            <a:srgbClr val="000000"/>
                          </a:solidFill>
                          <a:effectLst/>
                          <a:latin typeface="宋体" panose="02010600030101010101" pitchFamily="2" charset="-122"/>
                        </a:rPr>
                        <a:t>to X9</a:t>
                      </a:r>
                      <a:endParaRPr lang="en-US" sz="1100" b="1" i="0" u="none" strike="noStrike" dirty="0">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r>
              <a:tr h="177094">
                <a:tc>
                  <a:txBody>
                    <a:bodyPr/>
                    <a:lstStyle/>
                    <a:p>
                      <a:pPr algn="l" fontAlgn="b"/>
                      <a:r>
                        <a:rPr lang="en-US" sz="1100" b="0" i="0" u="none" strike="noStrike">
                          <a:solidFill>
                            <a:srgbClr val="000000"/>
                          </a:solidFill>
                          <a:effectLst/>
                          <a:latin typeface="宋体" panose="02010600030101010101" pitchFamily="2" charset="-122"/>
                        </a:rPr>
                        <a:t>X1</a:t>
                      </a:r>
                      <a:endParaRPr lang="en-US"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8</a:t>
                      </a:r>
                      <a:endParaRPr lang="en-US" altLang="zh-CN" sz="1100" b="0" i="0" u="none" strike="noStrike" dirty="0">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7</a:t>
                      </a:r>
                      <a:endParaRPr lang="en-US" altLang="zh-CN"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solidFill>
                      <a:srgbClr val="FFFF00"/>
                    </a:solidFill>
                  </a:tcPr>
                </a:tc>
              </a:tr>
              <a:tr h="177094">
                <a:tc>
                  <a:txBody>
                    <a:bodyPr/>
                    <a:lstStyle/>
                    <a:p>
                      <a:pPr algn="l" fontAlgn="b"/>
                      <a:r>
                        <a:rPr lang="en-US" sz="1100" b="0" i="0" u="none" strike="noStrike">
                          <a:solidFill>
                            <a:srgbClr val="000000"/>
                          </a:solidFill>
                          <a:effectLst/>
                          <a:latin typeface="宋体" panose="02010600030101010101" pitchFamily="2" charset="-122"/>
                        </a:rPr>
                        <a:t>X2</a:t>
                      </a:r>
                      <a:endParaRPr lang="en-US"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5</a:t>
                      </a:r>
                      <a:endParaRPr lang="en-US" altLang="zh-CN"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solidFill>
                      <a:srgbClr val="FFFF00"/>
                    </a:solidFill>
                  </a:tcPr>
                </a:tc>
                <a:tc>
                  <a:txBody>
                    <a:bodyPr/>
                    <a:lstStyle/>
                    <a:p>
                      <a:pPr algn="r" fontAlgn="b"/>
                      <a:r>
                        <a:rPr lang="en-US" altLang="zh-CN" sz="1100" b="0" i="0" u="none" strike="noStrike">
                          <a:solidFill>
                            <a:srgbClr val="000000"/>
                          </a:solidFill>
                          <a:effectLst/>
                          <a:latin typeface="宋体" panose="02010600030101010101" pitchFamily="2" charset="-122"/>
                        </a:rPr>
                        <a:t>6</a:t>
                      </a:r>
                      <a:endParaRPr lang="en-US" altLang="zh-CN"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r>
              <a:tr h="177094">
                <a:tc>
                  <a:txBody>
                    <a:bodyPr/>
                    <a:lstStyle/>
                    <a:p>
                      <a:pPr algn="l" fontAlgn="b"/>
                      <a:r>
                        <a:rPr lang="en-US" sz="1100" b="0" i="0" u="none" strike="noStrike">
                          <a:solidFill>
                            <a:srgbClr val="000000"/>
                          </a:solidFill>
                          <a:effectLst/>
                          <a:latin typeface="宋体" panose="02010600030101010101" pitchFamily="2" charset="-122"/>
                        </a:rPr>
                        <a:t>X3</a:t>
                      </a:r>
                      <a:endParaRPr lang="en-US"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9</a:t>
                      </a:r>
                      <a:endParaRPr lang="en-US" altLang="zh-CN"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8</a:t>
                      </a:r>
                      <a:endParaRPr lang="en-US" altLang="zh-CN"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solidFill>
                      <a:srgbClr val="FFFF00"/>
                    </a:solidFill>
                  </a:tcPr>
                </a:tc>
              </a:tr>
              <a:tr h="177094">
                <a:tc>
                  <a:txBody>
                    <a:bodyPr/>
                    <a:lstStyle/>
                    <a:p>
                      <a:pPr algn="l" fontAlgn="b"/>
                      <a:r>
                        <a:rPr lang="en-US" sz="1100" b="0" i="0" u="none" strike="noStrike">
                          <a:solidFill>
                            <a:srgbClr val="000000"/>
                          </a:solidFill>
                          <a:effectLst/>
                          <a:latin typeface="宋体" panose="02010600030101010101" pitchFamily="2" charset="-122"/>
                        </a:rPr>
                        <a:t>X4</a:t>
                      </a:r>
                      <a:endParaRPr lang="en-US"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7</a:t>
                      </a:r>
                      <a:endParaRPr lang="en-US" altLang="zh-CN"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6</a:t>
                      </a:r>
                      <a:endParaRPr lang="en-US" altLang="zh-CN"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solidFill>
                      <a:srgbClr val="FFFF00"/>
                    </a:solidFill>
                  </a:tcPr>
                </a:tc>
              </a:tr>
              <a:tr h="177094">
                <a:tc>
                  <a:txBody>
                    <a:bodyPr/>
                    <a:lstStyle/>
                    <a:p>
                      <a:pPr algn="l" fontAlgn="b"/>
                      <a:r>
                        <a:rPr lang="en-US" sz="1100" b="0" i="0" u="none" strike="noStrike">
                          <a:solidFill>
                            <a:srgbClr val="000000"/>
                          </a:solidFill>
                          <a:effectLst/>
                          <a:latin typeface="宋体" panose="02010600030101010101" pitchFamily="2" charset="-122"/>
                        </a:rPr>
                        <a:t>X6</a:t>
                      </a:r>
                      <a:endParaRPr lang="en-US"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solidFill>
                      <a:srgbClr val="FFFF00"/>
                    </a:solidFill>
                  </a:tcPr>
                </a:tc>
                <a:tc>
                  <a:txBody>
                    <a:bodyPr/>
                    <a:lstStyle/>
                    <a:p>
                      <a:pPr algn="r" fontAlgn="b"/>
                      <a:r>
                        <a:rPr lang="en-US" altLang="zh-CN" sz="1100" b="0" i="0" u="none" strike="noStrike" dirty="0">
                          <a:solidFill>
                            <a:srgbClr val="000000"/>
                          </a:solidFill>
                          <a:effectLst/>
                          <a:latin typeface="宋体" panose="02010600030101010101" pitchFamily="2" charset="-122"/>
                        </a:rPr>
                        <a:t>3</a:t>
                      </a:r>
                      <a:endParaRPr lang="en-US" altLang="zh-CN" sz="1100" b="0" i="0" u="none" strike="noStrike" dirty="0">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r>
              <a:tr h="177094">
                <a:tc>
                  <a:txBody>
                    <a:bodyPr/>
                    <a:lstStyle/>
                    <a:p>
                      <a:pPr algn="l" fontAlgn="b"/>
                      <a:r>
                        <a:rPr lang="en-US" sz="1100" b="0" i="0" u="none" strike="noStrike">
                          <a:solidFill>
                            <a:srgbClr val="000000"/>
                          </a:solidFill>
                          <a:effectLst/>
                          <a:latin typeface="宋体" panose="02010600030101010101" pitchFamily="2" charset="-122"/>
                        </a:rPr>
                        <a:t>X7</a:t>
                      </a:r>
                      <a:endParaRPr lang="en-US"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solidFill>
                      <a:srgbClr val="FFFF00"/>
                    </a:solidFill>
                  </a:tcPr>
                </a:tc>
                <a:tc>
                  <a:txBody>
                    <a:bodyPr/>
                    <a:lstStyle/>
                    <a:p>
                      <a:pPr algn="r" fontAlgn="b"/>
                      <a:r>
                        <a:rPr lang="en-US" altLang="zh-CN" sz="1100" b="0" i="0" u="none" strike="noStrike">
                          <a:solidFill>
                            <a:srgbClr val="000000"/>
                          </a:solidFill>
                          <a:effectLst/>
                          <a:latin typeface="宋体" panose="02010600030101010101" pitchFamily="2" charset="-122"/>
                        </a:rPr>
                        <a:t>3</a:t>
                      </a:r>
                      <a:endParaRPr lang="en-US" altLang="zh-CN"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r>
              <a:tr h="177094">
                <a:tc>
                  <a:txBody>
                    <a:bodyPr/>
                    <a:lstStyle/>
                    <a:p>
                      <a:pPr algn="l" fontAlgn="b"/>
                      <a:r>
                        <a:rPr lang="en-US" sz="1100" b="0" i="0" u="none" strike="noStrike">
                          <a:solidFill>
                            <a:srgbClr val="000000"/>
                          </a:solidFill>
                          <a:effectLst/>
                          <a:latin typeface="宋体" panose="02010600030101010101" pitchFamily="2" charset="-122"/>
                        </a:rPr>
                        <a:t>X8</a:t>
                      </a:r>
                      <a:endParaRPr lang="en-US"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3</a:t>
                      </a:r>
                      <a:endParaRPr lang="en-US" altLang="zh-CN"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solidFill>
                      <a:srgbClr val="FFFF00"/>
                    </a:solidFill>
                  </a:tcPr>
                </a:tc>
              </a:tr>
              <a:tr h="177094">
                <a:tc>
                  <a:txBody>
                    <a:bodyPr/>
                    <a:lstStyle/>
                    <a:p>
                      <a:pPr algn="l" fontAlgn="b"/>
                      <a:r>
                        <a:rPr lang="en-US" sz="1100" b="0" i="0" u="none" strike="noStrike">
                          <a:solidFill>
                            <a:srgbClr val="000000"/>
                          </a:solidFill>
                          <a:effectLst/>
                          <a:latin typeface="宋体" panose="02010600030101010101" pitchFamily="2" charset="-122"/>
                        </a:rPr>
                        <a:t>X10</a:t>
                      </a:r>
                      <a:endParaRPr lang="en-US" sz="1100" b="0" i="0" u="none" strike="noStrike">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5</a:t>
                      </a:r>
                      <a:endParaRPr lang="en-US" altLang="zh-CN" sz="1100" b="0" i="0" u="none" strike="noStrike" dirty="0">
                        <a:solidFill>
                          <a:srgbClr val="000000"/>
                        </a:solidFill>
                        <a:effectLst/>
                        <a:latin typeface="宋体" panose="02010600030101010101" pitchFamily="2" charset="-122"/>
                      </a:endParaRPr>
                    </a:p>
                  </a:txBody>
                  <a:tcPr marL="9530" marR="9530" marT="9495"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2</a:t>
                      </a:r>
                      <a:endParaRPr lang="en-US" altLang="zh-CN" sz="1100" b="0" i="0" u="none" strike="noStrike" dirty="0">
                        <a:solidFill>
                          <a:srgbClr val="000000"/>
                        </a:solidFill>
                        <a:effectLst/>
                        <a:latin typeface="宋体" panose="02010600030101010101" pitchFamily="2" charset="-122"/>
                      </a:endParaRPr>
                    </a:p>
                  </a:txBody>
                  <a:tcPr marL="9530" marR="9530" marT="9495" marB="0" anchor="b">
                    <a:lnL>
                      <a:noFill/>
                    </a:lnL>
                    <a:lnR>
                      <a:noFill/>
                    </a:lnR>
                    <a:lnT>
                      <a:noFill/>
                    </a:lnT>
                    <a:lnB>
                      <a:noFill/>
                    </a:lnB>
                    <a:solidFill>
                      <a:srgbClr val="FFFF00"/>
                    </a:solidFill>
                  </a:tcPr>
                </a:tc>
              </a:tr>
            </a:tbl>
          </a:graphicData>
        </a:graphic>
      </p:graphicFrame>
      <p:graphicFrame>
        <p:nvGraphicFramePr>
          <p:cNvPr id="23" name="表格 22"/>
          <p:cNvGraphicFramePr>
            <a:graphicFrameLocks noGrp="1"/>
          </p:cNvGraphicFramePr>
          <p:nvPr/>
        </p:nvGraphicFramePr>
        <p:xfrm>
          <a:off x="454675" y="1289844"/>
          <a:ext cx="2057400" cy="1771650"/>
        </p:xfrm>
        <a:graphic>
          <a:graphicData uri="http://schemas.openxmlformats.org/drawingml/2006/table">
            <a:tbl>
              <a:tblPr/>
              <a:tblGrid>
                <a:gridCol w="685800"/>
                <a:gridCol w="685800"/>
                <a:gridCol w="685800"/>
              </a:tblGrid>
              <a:tr h="171450">
                <a:tc>
                  <a:txBody>
                    <a:bodyPr/>
                    <a:lstStyle/>
                    <a:p>
                      <a:pPr algn="l" fontAlgn="b"/>
                      <a:r>
                        <a:rPr lang="en-US" sz="1100" b="0" i="0" u="none" strike="noStrike" dirty="0">
                          <a:solidFill>
                            <a:srgbClr val="000000"/>
                          </a:solidFill>
                          <a:effectLst/>
                          <a:latin typeface="宋体" panose="02010600030101010101" pitchFamily="2" charset="-122"/>
                        </a:rPr>
                        <a:t>x1</a:t>
                      </a:r>
                      <a:endParaRPr lang="en-US" sz="1100" b="0" i="0" u="none" strike="noStrike" dirty="0">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6</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a:solidFill>
                            <a:srgbClr val="000000"/>
                          </a:solidFill>
                          <a:effectLst/>
                          <a:latin typeface="宋体" panose="02010600030101010101" pitchFamily="2" charset="-122"/>
                        </a:rPr>
                        <a:t>x2</a:t>
                      </a:r>
                      <a:endParaRPr lang="en-US"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3</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4</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a:solidFill>
                            <a:srgbClr val="000000"/>
                          </a:solidFill>
                          <a:effectLst/>
                          <a:latin typeface="宋体" panose="02010600030101010101" pitchFamily="2" charset="-122"/>
                        </a:rPr>
                        <a:t>x3</a:t>
                      </a:r>
                      <a:endParaRPr lang="en-US"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3</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8</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a:solidFill>
                            <a:srgbClr val="000000"/>
                          </a:solidFill>
                          <a:effectLst/>
                          <a:latin typeface="宋体" panose="02010600030101010101" pitchFamily="2" charset="-122"/>
                        </a:rPr>
                        <a:t>x4</a:t>
                      </a:r>
                      <a:endParaRPr lang="en-US"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4</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7</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a:solidFill>
                            <a:srgbClr val="000000"/>
                          </a:solidFill>
                          <a:effectLst/>
                          <a:latin typeface="宋体" panose="02010600030101010101" pitchFamily="2" charset="-122"/>
                        </a:rPr>
                        <a:t>x5</a:t>
                      </a:r>
                      <a:endParaRPr lang="en-US"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solidFill>
                      <a:srgbClr val="FFFF00"/>
                    </a:solidFill>
                  </a:tcPr>
                </a:tc>
                <a:tc>
                  <a:txBody>
                    <a:bodyPr/>
                    <a:lstStyle/>
                    <a:p>
                      <a:pPr algn="r" fontAlgn="b"/>
                      <a:r>
                        <a:rPr lang="en-US" altLang="zh-CN" sz="1100" b="0" i="0" u="none" strike="noStrike" dirty="0">
                          <a:solidFill>
                            <a:srgbClr val="000000"/>
                          </a:solidFill>
                          <a:effectLst/>
                          <a:latin typeface="宋体" panose="02010600030101010101" pitchFamily="2" charset="-122"/>
                        </a:rPr>
                        <a:t>6</a:t>
                      </a:r>
                      <a:endParaRPr lang="en-US" altLang="zh-CN" sz="1100" b="0" i="0" u="none" strike="noStrike" dirty="0">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a:solidFill>
                            <a:srgbClr val="000000"/>
                          </a:solidFill>
                          <a:effectLst/>
                          <a:latin typeface="宋体" panose="02010600030101010101" pitchFamily="2" charset="-122"/>
                        </a:rPr>
                        <a:t>x6</a:t>
                      </a:r>
                      <a:endParaRPr lang="en-US"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6</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4</a:t>
                      </a:r>
                      <a:endParaRPr lang="en-US" altLang="zh-CN" sz="1100" b="0" i="0" u="none" strike="noStrike" dirty="0">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a:solidFill>
                            <a:srgbClr val="000000"/>
                          </a:solidFill>
                          <a:effectLst/>
                          <a:latin typeface="宋体" panose="02010600030101010101" pitchFamily="2" charset="-122"/>
                        </a:rPr>
                        <a:t>x7</a:t>
                      </a:r>
                      <a:endParaRPr lang="en-US"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7</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3</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a:solidFill>
                            <a:srgbClr val="000000"/>
                          </a:solidFill>
                          <a:effectLst/>
                          <a:latin typeface="宋体" panose="02010600030101010101" pitchFamily="2" charset="-122"/>
                        </a:rPr>
                        <a:t>x8</a:t>
                      </a:r>
                      <a:endParaRPr lang="en-US"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7</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4</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a:solidFill>
                            <a:srgbClr val="000000"/>
                          </a:solidFill>
                          <a:effectLst/>
                          <a:latin typeface="宋体" panose="02010600030101010101" pitchFamily="2" charset="-122"/>
                        </a:rPr>
                        <a:t>x9</a:t>
                      </a:r>
                      <a:endParaRPr lang="en-US"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solidFill>
                      <a:srgbClr val="FFFF00"/>
                    </a:solidFill>
                  </a:tcPr>
                </a:tc>
                <a:tc>
                  <a:txBody>
                    <a:bodyPr/>
                    <a:lstStyle/>
                    <a:p>
                      <a:pPr algn="r" fontAlgn="b"/>
                      <a:r>
                        <a:rPr lang="en-US" altLang="zh-CN" sz="1100" b="0" i="0" u="none" strike="noStrike">
                          <a:solidFill>
                            <a:srgbClr val="000000"/>
                          </a:solidFill>
                          <a:effectLst/>
                          <a:latin typeface="宋体" panose="02010600030101010101" pitchFamily="2" charset="-122"/>
                        </a:rPr>
                        <a:t>8</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5</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a:solidFill>
                            <a:srgbClr val="000000"/>
                          </a:solidFill>
                          <a:effectLst/>
                          <a:latin typeface="宋体" panose="02010600030101010101" pitchFamily="2" charset="-122"/>
                        </a:rPr>
                        <a:t>x10</a:t>
                      </a:r>
                      <a:endParaRPr lang="en-US"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7</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6</a:t>
                      </a:r>
                      <a:endParaRPr lang="en-US" altLang="zh-CN" sz="1100" b="0" i="0" u="none" strike="noStrike" dirty="0">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PAM: A Typical K-Medoids Algorithm</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8"/>
          <p:cNvSpPr>
            <a:spLocks noChangeArrowheads="1"/>
          </p:cNvSpPr>
          <p:nvPr/>
        </p:nvSpPr>
        <p:spPr bwMode="auto">
          <a:xfrm>
            <a:off x="410443" y="1341214"/>
            <a:ext cx="5127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1800" dirty="0">
                <a:solidFill>
                  <a:srgbClr val="0070C0"/>
                </a:solidFill>
                <a:latin typeface="Tahoma" panose="020B0604030504040204" pitchFamily="34" charset="0"/>
                <a:ea typeface="MS PGothic" panose="020B0600070205080204" pitchFamily="34" charset="-128"/>
              </a:rPr>
              <a:t>Replace X5 by X3 and compute the change</a:t>
            </a:r>
            <a:endParaRPr lang="en-US" altLang="zh-CN" sz="1800" dirty="0">
              <a:solidFill>
                <a:srgbClr val="0070C0"/>
              </a:solidFill>
              <a:latin typeface="Tahoma" panose="020B0604030504040204" pitchFamily="34" charset="0"/>
              <a:ea typeface="MS PGothic" panose="020B0600070205080204" pitchFamily="34" charset="-128"/>
            </a:endParaRPr>
          </a:p>
        </p:txBody>
      </p:sp>
      <p:graphicFrame>
        <p:nvGraphicFramePr>
          <p:cNvPr id="4" name="表格 3"/>
          <p:cNvGraphicFramePr>
            <a:graphicFrameLocks noGrp="1"/>
          </p:cNvGraphicFramePr>
          <p:nvPr/>
        </p:nvGraphicFramePr>
        <p:xfrm>
          <a:off x="6084168" y="1196752"/>
          <a:ext cx="2057400" cy="1771650"/>
        </p:xfrm>
        <a:graphic>
          <a:graphicData uri="http://schemas.openxmlformats.org/drawingml/2006/table">
            <a:tbl>
              <a:tblPr/>
              <a:tblGrid>
                <a:gridCol w="685800"/>
                <a:gridCol w="685800"/>
                <a:gridCol w="685800"/>
              </a:tblGrid>
              <a:tr h="155163">
                <a:tc>
                  <a:txBody>
                    <a:bodyPr/>
                    <a:lstStyle/>
                    <a:p>
                      <a:pPr algn="l" fontAlgn="b"/>
                      <a:r>
                        <a:rPr lang="en-US" sz="1100" b="0" i="0" u="none" strike="noStrike" dirty="0">
                          <a:solidFill>
                            <a:srgbClr val="000000"/>
                          </a:solidFill>
                          <a:effectLst/>
                          <a:latin typeface="宋体" panose="02010600030101010101" pitchFamily="2" charset="-122"/>
                        </a:rPr>
                        <a:t>x1</a:t>
                      </a:r>
                      <a:endParaRPr lang="en-US" sz="1100" b="0" i="0" u="none" strike="noStrike" dirty="0">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6</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dirty="0">
                          <a:solidFill>
                            <a:srgbClr val="000000"/>
                          </a:solidFill>
                          <a:effectLst/>
                          <a:latin typeface="宋体" panose="02010600030101010101" pitchFamily="2" charset="-122"/>
                        </a:rPr>
                        <a:t>x2</a:t>
                      </a:r>
                      <a:endParaRPr lang="en-US" sz="1100" b="0" i="0" u="none" strike="noStrike" dirty="0">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3</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4</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a:solidFill>
                            <a:srgbClr val="000000"/>
                          </a:solidFill>
                          <a:effectLst/>
                          <a:latin typeface="宋体" panose="02010600030101010101" pitchFamily="2" charset="-122"/>
                        </a:rPr>
                        <a:t>x3</a:t>
                      </a:r>
                      <a:endParaRPr lang="en-US"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solidFill>
                      <a:srgbClr val="FFFF00"/>
                    </a:solidFill>
                  </a:tcPr>
                </a:tc>
                <a:tc>
                  <a:txBody>
                    <a:bodyPr/>
                    <a:lstStyle/>
                    <a:p>
                      <a:pPr algn="r" fontAlgn="b"/>
                      <a:r>
                        <a:rPr lang="en-US" altLang="zh-CN" sz="1100" b="0" i="0" u="none" strike="noStrike" dirty="0">
                          <a:solidFill>
                            <a:srgbClr val="000000"/>
                          </a:solidFill>
                          <a:effectLst/>
                          <a:latin typeface="宋体" panose="02010600030101010101" pitchFamily="2" charset="-122"/>
                        </a:rPr>
                        <a:t>3</a:t>
                      </a:r>
                      <a:endParaRPr lang="en-US" altLang="zh-CN" sz="1100" b="0" i="0" u="none" strike="noStrike" dirty="0">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8</a:t>
                      </a:r>
                      <a:endParaRPr lang="en-US" altLang="zh-CN" sz="1100" b="0" i="0" u="none" strike="noStrike" dirty="0">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a:solidFill>
                            <a:srgbClr val="000000"/>
                          </a:solidFill>
                          <a:effectLst/>
                          <a:latin typeface="宋体" panose="02010600030101010101" pitchFamily="2" charset="-122"/>
                        </a:rPr>
                        <a:t>x4</a:t>
                      </a:r>
                      <a:endParaRPr lang="en-US"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4</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7</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dirty="0">
                          <a:solidFill>
                            <a:srgbClr val="000000"/>
                          </a:solidFill>
                          <a:effectLst/>
                          <a:latin typeface="宋体" panose="02010600030101010101" pitchFamily="2" charset="-122"/>
                        </a:rPr>
                        <a:t>x5</a:t>
                      </a:r>
                      <a:endParaRPr lang="en-US" sz="1100" b="0" i="0" u="none" strike="noStrike" dirty="0">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6</a:t>
                      </a:r>
                      <a:endParaRPr lang="en-US" altLang="zh-CN" sz="1100" b="0" i="0" u="none" strike="noStrike" dirty="0">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2</a:t>
                      </a:r>
                      <a:endParaRPr lang="en-US" altLang="zh-CN" sz="1100" b="0" i="0" u="none" strike="noStrike" dirty="0">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a:solidFill>
                            <a:srgbClr val="000000"/>
                          </a:solidFill>
                          <a:effectLst/>
                          <a:latin typeface="宋体" panose="02010600030101010101" pitchFamily="2" charset="-122"/>
                        </a:rPr>
                        <a:t>x6</a:t>
                      </a:r>
                      <a:endParaRPr lang="en-US"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6</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4</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a:solidFill>
                            <a:srgbClr val="000000"/>
                          </a:solidFill>
                          <a:effectLst/>
                          <a:latin typeface="宋体" panose="02010600030101010101" pitchFamily="2" charset="-122"/>
                        </a:rPr>
                        <a:t>x7</a:t>
                      </a:r>
                      <a:endParaRPr lang="en-US"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7</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3</a:t>
                      </a:r>
                      <a:endParaRPr lang="en-US" altLang="zh-CN" sz="1100" b="0" i="0" u="none" strike="noStrike" dirty="0">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a:solidFill>
                            <a:srgbClr val="000000"/>
                          </a:solidFill>
                          <a:effectLst/>
                          <a:latin typeface="宋体" panose="02010600030101010101" pitchFamily="2" charset="-122"/>
                        </a:rPr>
                        <a:t>x8</a:t>
                      </a:r>
                      <a:endParaRPr lang="en-US"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7</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4</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a:solidFill>
                            <a:srgbClr val="000000"/>
                          </a:solidFill>
                          <a:effectLst/>
                          <a:latin typeface="宋体" panose="02010600030101010101" pitchFamily="2" charset="-122"/>
                        </a:rPr>
                        <a:t>x9</a:t>
                      </a:r>
                      <a:endParaRPr lang="en-US"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solidFill>
                      <a:srgbClr val="FFFF00"/>
                    </a:solidFill>
                  </a:tcPr>
                </a:tc>
                <a:tc>
                  <a:txBody>
                    <a:bodyPr/>
                    <a:lstStyle/>
                    <a:p>
                      <a:pPr algn="r" fontAlgn="b"/>
                      <a:r>
                        <a:rPr lang="en-US" altLang="zh-CN" sz="1100" b="0" i="0" u="none" strike="noStrike">
                          <a:solidFill>
                            <a:srgbClr val="000000"/>
                          </a:solidFill>
                          <a:effectLst/>
                          <a:latin typeface="宋体" panose="02010600030101010101" pitchFamily="2" charset="-122"/>
                        </a:rPr>
                        <a:t>8</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5</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r h="171450">
                <a:tc>
                  <a:txBody>
                    <a:bodyPr/>
                    <a:lstStyle/>
                    <a:p>
                      <a:pPr algn="l" fontAlgn="b"/>
                      <a:r>
                        <a:rPr lang="en-US" sz="1100" b="0" i="0" u="none" strike="noStrike">
                          <a:solidFill>
                            <a:srgbClr val="000000"/>
                          </a:solidFill>
                          <a:effectLst/>
                          <a:latin typeface="宋体" panose="02010600030101010101" pitchFamily="2" charset="-122"/>
                        </a:rPr>
                        <a:t>x10</a:t>
                      </a:r>
                      <a:endParaRPr lang="en-US"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7</a:t>
                      </a:r>
                      <a:endParaRPr lang="en-US" altLang="zh-CN" sz="1100" b="0" i="0" u="none" strike="noStrike">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6</a:t>
                      </a:r>
                      <a:endParaRPr lang="en-US" altLang="zh-CN" sz="1100" b="0" i="0" u="none" strike="noStrike" dirty="0">
                        <a:solidFill>
                          <a:srgbClr val="000000"/>
                        </a:solidFill>
                        <a:effectLst/>
                        <a:latin typeface="宋体" panose="02010600030101010101" pitchFamily="2" charset="-122"/>
                      </a:endParaRPr>
                    </a:p>
                  </a:txBody>
                  <a:tcPr marL="9525" marR="9525" marT="9525" marB="0" anchor="b">
                    <a:lnL>
                      <a:noFill/>
                    </a:lnL>
                    <a:lnR>
                      <a:noFill/>
                    </a:lnR>
                    <a:lnT>
                      <a:noFill/>
                    </a:lnT>
                    <a:lnB>
                      <a:noFill/>
                    </a:lnB>
                  </a:tcPr>
                </a:tc>
              </a:tr>
            </a:tbl>
          </a:graphicData>
        </a:graphic>
      </p:graphicFrame>
      <p:graphicFrame>
        <p:nvGraphicFramePr>
          <p:cNvPr id="5" name="表格 4"/>
          <p:cNvGraphicFramePr>
            <a:graphicFrameLocks noGrp="1"/>
          </p:cNvGraphicFramePr>
          <p:nvPr/>
        </p:nvGraphicFramePr>
        <p:xfrm>
          <a:off x="2498006" y="2996977"/>
          <a:ext cx="3240087" cy="2520946"/>
        </p:xfrm>
        <a:graphic>
          <a:graphicData uri="http://schemas.openxmlformats.org/drawingml/2006/table">
            <a:tbl>
              <a:tblPr/>
              <a:tblGrid>
                <a:gridCol w="1549607"/>
                <a:gridCol w="845240"/>
                <a:gridCol w="845240"/>
              </a:tblGrid>
              <a:tr h="280106">
                <a:tc>
                  <a:txBody>
                    <a:bodyPr/>
                    <a:lstStyle/>
                    <a:p>
                      <a:pPr algn="l" fontAlgn="b"/>
                      <a:endParaRPr lang="zh-CN" altLang="en-US" sz="1100" b="0" i="0" u="none" strike="noStrike" dirty="0">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c>
                  <a:txBody>
                    <a:bodyPr/>
                    <a:lstStyle/>
                    <a:p>
                      <a:pPr algn="l" fontAlgn="b"/>
                      <a:r>
                        <a:rPr lang="en-US" sz="1100" b="0" i="0" u="none" strike="noStrike">
                          <a:solidFill>
                            <a:srgbClr val="000000"/>
                          </a:solidFill>
                          <a:effectLst/>
                          <a:latin typeface="宋体" panose="02010600030101010101" pitchFamily="2" charset="-122"/>
                        </a:rPr>
                        <a:t>to X3</a:t>
                      </a:r>
                      <a:endParaRPr lang="en-US"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c>
                  <a:txBody>
                    <a:bodyPr/>
                    <a:lstStyle/>
                    <a:p>
                      <a:pPr algn="l" fontAlgn="b"/>
                      <a:r>
                        <a:rPr lang="en-US" sz="1100" b="0" i="0" u="none" strike="noStrike">
                          <a:solidFill>
                            <a:srgbClr val="000000"/>
                          </a:solidFill>
                          <a:effectLst/>
                          <a:latin typeface="宋体" panose="02010600030101010101" pitchFamily="2" charset="-122"/>
                        </a:rPr>
                        <a:t>to X9</a:t>
                      </a:r>
                      <a:endParaRPr lang="en-US"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r>
              <a:tr h="280105">
                <a:tc>
                  <a:txBody>
                    <a:bodyPr/>
                    <a:lstStyle/>
                    <a:p>
                      <a:pPr algn="l" fontAlgn="b"/>
                      <a:r>
                        <a:rPr lang="en-US" sz="1100" b="0" i="0" u="none" strike="noStrike" dirty="0">
                          <a:solidFill>
                            <a:srgbClr val="000000"/>
                          </a:solidFill>
                          <a:effectLst/>
                          <a:latin typeface="宋体" panose="02010600030101010101" pitchFamily="2" charset="-122"/>
                        </a:rPr>
                        <a:t>X1</a:t>
                      </a:r>
                      <a:endParaRPr lang="en-US" sz="1100" b="0" i="0" u="none" strike="noStrike" dirty="0">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3</a:t>
                      </a:r>
                      <a:endParaRPr lang="en-US" altLang="zh-CN"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solidFill>
                      <a:srgbClr val="FFFF00"/>
                    </a:solidFill>
                  </a:tcPr>
                </a:tc>
                <a:tc>
                  <a:txBody>
                    <a:bodyPr/>
                    <a:lstStyle/>
                    <a:p>
                      <a:pPr algn="r" fontAlgn="b"/>
                      <a:r>
                        <a:rPr lang="en-US" altLang="zh-CN" sz="1100" b="0" i="0" u="none" strike="noStrike">
                          <a:solidFill>
                            <a:srgbClr val="000000"/>
                          </a:solidFill>
                          <a:effectLst/>
                          <a:latin typeface="宋体" panose="02010600030101010101" pitchFamily="2" charset="-122"/>
                        </a:rPr>
                        <a:t>7</a:t>
                      </a:r>
                      <a:endParaRPr lang="en-US" altLang="zh-CN"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r>
              <a:tr h="280105">
                <a:tc>
                  <a:txBody>
                    <a:bodyPr/>
                    <a:lstStyle/>
                    <a:p>
                      <a:pPr algn="l" fontAlgn="b"/>
                      <a:r>
                        <a:rPr lang="en-US" sz="1100" b="0" i="0" u="none" strike="noStrike">
                          <a:solidFill>
                            <a:srgbClr val="000000"/>
                          </a:solidFill>
                          <a:effectLst/>
                          <a:latin typeface="宋体" panose="02010600030101010101" pitchFamily="2" charset="-122"/>
                        </a:rPr>
                        <a:t>X2</a:t>
                      </a:r>
                      <a:endParaRPr lang="en-US"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4</a:t>
                      </a:r>
                      <a:endParaRPr lang="en-US" altLang="zh-CN"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solidFill>
                      <a:srgbClr val="FFFF00"/>
                    </a:solidFill>
                  </a:tcPr>
                </a:tc>
                <a:tc>
                  <a:txBody>
                    <a:bodyPr/>
                    <a:lstStyle/>
                    <a:p>
                      <a:pPr algn="r" fontAlgn="b"/>
                      <a:r>
                        <a:rPr lang="en-US" altLang="zh-CN" sz="1100" b="0" i="0" u="none" strike="noStrike">
                          <a:solidFill>
                            <a:srgbClr val="000000"/>
                          </a:solidFill>
                          <a:effectLst/>
                          <a:latin typeface="宋体" panose="02010600030101010101" pitchFamily="2" charset="-122"/>
                        </a:rPr>
                        <a:t>6</a:t>
                      </a:r>
                      <a:endParaRPr lang="en-US" altLang="zh-CN"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r>
              <a:tr h="280105">
                <a:tc>
                  <a:txBody>
                    <a:bodyPr/>
                    <a:lstStyle/>
                    <a:p>
                      <a:pPr algn="l" fontAlgn="b"/>
                      <a:r>
                        <a:rPr lang="en-US" sz="1100" b="0" i="0" u="none" strike="noStrike">
                          <a:solidFill>
                            <a:srgbClr val="000000"/>
                          </a:solidFill>
                          <a:effectLst/>
                          <a:latin typeface="宋体" panose="02010600030101010101" pitchFamily="2" charset="-122"/>
                        </a:rPr>
                        <a:t>X4</a:t>
                      </a:r>
                      <a:endParaRPr lang="en-US"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solidFill>
                      <a:srgbClr val="FFFF00"/>
                    </a:solidFill>
                  </a:tcPr>
                </a:tc>
                <a:tc>
                  <a:txBody>
                    <a:bodyPr/>
                    <a:lstStyle/>
                    <a:p>
                      <a:pPr algn="r" fontAlgn="b"/>
                      <a:r>
                        <a:rPr lang="en-US" altLang="zh-CN" sz="1100" b="0" i="0" u="none" strike="noStrike" dirty="0">
                          <a:solidFill>
                            <a:srgbClr val="000000"/>
                          </a:solidFill>
                          <a:effectLst/>
                          <a:latin typeface="宋体" panose="02010600030101010101" pitchFamily="2" charset="-122"/>
                        </a:rPr>
                        <a:t>6</a:t>
                      </a:r>
                      <a:endParaRPr lang="en-US" altLang="zh-CN" sz="1100" b="0" i="0" u="none" strike="noStrike" dirty="0">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r>
              <a:tr h="280105">
                <a:tc>
                  <a:txBody>
                    <a:bodyPr/>
                    <a:lstStyle/>
                    <a:p>
                      <a:pPr algn="l" fontAlgn="b"/>
                      <a:r>
                        <a:rPr lang="en-US" sz="1100" b="0" i="0" u="none" strike="noStrike">
                          <a:solidFill>
                            <a:srgbClr val="000000"/>
                          </a:solidFill>
                          <a:effectLst/>
                          <a:latin typeface="宋体" panose="02010600030101010101" pitchFamily="2" charset="-122"/>
                        </a:rPr>
                        <a:t>X5</a:t>
                      </a:r>
                      <a:endParaRPr lang="en-US"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9</a:t>
                      </a:r>
                      <a:endParaRPr lang="en-US" altLang="zh-CN"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5</a:t>
                      </a:r>
                      <a:endParaRPr lang="en-US" altLang="zh-CN"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solidFill>
                      <a:srgbClr val="FFFF00"/>
                    </a:solidFill>
                  </a:tcPr>
                </a:tc>
              </a:tr>
              <a:tr h="280105">
                <a:tc>
                  <a:txBody>
                    <a:bodyPr/>
                    <a:lstStyle/>
                    <a:p>
                      <a:pPr algn="l" fontAlgn="b"/>
                      <a:r>
                        <a:rPr lang="en-US" sz="1100" b="0" i="0" u="none" strike="noStrike">
                          <a:solidFill>
                            <a:srgbClr val="000000"/>
                          </a:solidFill>
                          <a:effectLst/>
                          <a:latin typeface="宋体" panose="02010600030101010101" pitchFamily="2" charset="-122"/>
                        </a:rPr>
                        <a:t>X6</a:t>
                      </a:r>
                      <a:endParaRPr lang="en-US"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7</a:t>
                      </a:r>
                      <a:endParaRPr lang="en-US" altLang="zh-CN"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3</a:t>
                      </a:r>
                      <a:endParaRPr lang="en-US" altLang="zh-CN"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solidFill>
                      <a:srgbClr val="FFFF00"/>
                    </a:solidFill>
                  </a:tcPr>
                </a:tc>
              </a:tr>
              <a:tr h="280105">
                <a:tc>
                  <a:txBody>
                    <a:bodyPr/>
                    <a:lstStyle/>
                    <a:p>
                      <a:pPr algn="l" fontAlgn="b"/>
                      <a:r>
                        <a:rPr lang="en-US" sz="1100" b="0" i="0" u="none" strike="noStrike">
                          <a:solidFill>
                            <a:srgbClr val="000000"/>
                          </a:solidFill>
                          <a:effectLst/>
                          <a:latin typeface="宋体" panose="02010600030101010101" pitchFamily="2" charset="-122"/>
                        </a:rPr>
                        <a:t>X7</a:t>
                      </a:r>
                      <a:endParaRPr lang="en-US"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9</a:t>
                      </a:r>
                      <a:endParaRPr lang="en-US" altLang="zh-CN"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3</a:t>
                      </a:r>
                      <a:endParaRPr lang="en-US" altLang="zh-CN"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solidFill>
                      <a:srgbClr val="FFFF00"/>
                    </a:solidFill>
                  </a:tcPr>
                </a:tc>
              </a:tr>
              <a:tr h="280105">
                <a:tc>
                  <a:txBody>
                    <a:bodyPr/>
                    <a:lstStyle/>
                    <a:p>
                      <a:pPr algn="l" fontAlgn="b"/>
                      <a:r>
                        <a:rPr lang="en-US" sz="1100" b="0" i="0" u="none" strike="noStrike">
                          <a:solidFill>
                            <a:srgbClr val="000000"/>
                          </a:solidFill>
                          <a:effectLst/>
                          <a:latin typeface="宋体" panose="02010600030101010101" pitchFamily="2" charset="-122"/>
                        </a:rPr>
                        <a:t>X8</a:t>
                      </a:r>
                      <a:endParaRPr lang="en-US"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8</a:t>
                      </a:r>
                      <a:endParaRPr lang="en-US" altLang="zh-CN"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solidFill>
                      <a:srgbClr val="FFFF00"/>
                    </a:solidFill>
                  </a:tcPr>
                </a:tc>
              </a:tr>
              <a:tr h="280105">
                <a:tc>
                  <a:txBody>
                    <a:bodyPr/>
                    <a:lstStyle/>
                    <a:p>
                      <a:pPr algn="l" fontAlgn="b"/>
                      <a:r>
                        <a:rPr lang="en-US" sz="1100" b="0" i="0" u="none" strike="noStrike">
                          <a:solidFill>
                            <a:srgbClr val="000000"/>
                          </a:solidFill>
                          <a:effectLst/>
                          <a:latin typeface="宋体" panose="02010600030101010101" pitchFamily="2" charset="-122"/>
                        </a:rPr>
                        <a:t>X10</a:t>
                      </a:r>
                      <a:endParaRPr lang="en-US"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6</a:t>
                      </a:r>
                      <a:endParaRPr lang="en-US" altLang="zh-CN" sz="1100" b="0" i="0" u="none" strike="noStrike">
                        <a:solidFill>
                          <a:srgbClr val="000000"/>
                        </a:solidFill>
                        <a:effectLst/>
                        <a:latin typeface="宋体" panose="02010600030101010101" pitchFamily="2" charset="-122"/>
                      </a:endParaRPr>
                    </a:p>
                  </a:txBody>
                  <a:tcPr marL="9524" marR="9524" marT="9528"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2</a:t>
                      </a:r>
                      <a:endParaRPr lang="en-US" altLang="zh-CN" sz="1100" b="0" i="0" u="none" strike="noStrike" dirty="0">
                        <a:solidFill>
                          <a:srgbClr val="000000"/>
                        </a:solidFill>
                        <a:effectLst/>
                        <a:latin typeface="宋体" panose="02010600030101010101" pitchFamily="2" charset="-122"/>
                      </a:endParaRPr>
                    </a:p>
                  </a:txBody>
                  <a:tcPr marL="9524" marR="9524" marT="9528" marB="0" anchor="b">
                    <a:lnL>
                      <a:noFill/>
                    </a:lnL>
                    <a:lnR>
                      <a:noFill/>
                    </a:lnR>
                    <a:lnT>
                      <a:noFill/>
                    </a:lnT>
                    <a:lnB>
                      <a:noFill/>
                    </a:lnB>
                    <a:solidFill>
                      <a:srgbClr val="FFFF00"/>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PAM: A Typical K-Medoids Algorithm</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8"/>
          <p:cNvSpPr>
            <a:spLocks noChangeArrowheads="1"/>
          </p:cNvSpPr>
          <p:nvPr/>
        </p:nvSpPr>
        <p:spPr bwMode="auto">
          <a:xfrm>
            <a:off x="6660232" y="5301208"/>
            <a:ext cx="24913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1800" dirty="0">
                <a:latin typeface="Tahoma" panose="020B0604030504040204" pitchFamily="34" charset="0"/>
                <a:ea typeface="MS PGothic" panose="020B0600070205080204" pitchFamily="34" charset="-128"/>
                <a:sym typeface="Symbol" panose="05050102010706020507" pitchFamily="18" charset="2"/>
              </a:rPr>
              <a:t> </a:t>
            </a:r>
            <a:r>
              <a:rPr lang="en-US" altLang="zh-CN" sz="1800" dirty="0">
                <a:solidFill>
                  <a:srgbClr val="0070C0"/>
                </a:solidFill>
                <a:latin typeface="Tahoma" panose="020B0604030504040204" pitchFamily="34" charset="0"/>
                <a:ea typeface="MS PGothic" panose="020B0600070205080204" pitchFamily="34" charset="-128"/>
              </a:rPr>
              <a:t>Replace X5 by X3</a:t>
            </a:r>
            <a:endParaRPr lang="en-US" altLang="zh-CN" sz="1800" dirty="0">
              <a:solidFill>
                <a:srgbClr val="0070C0"/>
              </a:solidFill>
              <a:latin typeface="Tahoma" panose="020B0604030504040204" pitchFamily="34" charset="0"/>
              <a:ea typeface="MS PGothic" panose="020B0600070205080204" pitchFamily="34" charset="-128"/>
            </a:endParaRPr>
          </a:p>
        </p:txBody>
      </p:sp>
      <p:grpSp>
        <p:nvGrpSpPr>
          <p:cNvPr id="4" name="组合 13"/>
          <p:cNvGrpSpPr/>
          <p:nvPr/>
        </p:nvGrpSpPr>
        <p:grpSpPr bwMode="auto">
          <a:xfrm>
            <a:off x="256257" y="1005433"/>
            <a:ext cx="3536950" cy="5621338"/>
            <a:chOff x="3153528" y="1152355"/>
            <a:chExt cx="4521200" cy="3435350"/>
          </a:xfrm>
        </p:grpSpPr>
        <p:grpSp>
          <p:nvGrpSpPr>
            <p:cNvPr id="5" name="Group 12"/>
            <p:cNvGrpSpPr/>
            <p:nvPr/>
          </p:nvGrpSpPr>
          <p:grpSpPr bwMode="auto">
            <a:xfrm>
              <a:off x="3153528" y="1152355"/>
              <a:ext cx="4521200" cy="3435350"/>
              <a:chOff x="2276" y="529"/>
              <a:chExt cx="2848" cy="2164"/>
            </a:xfrm>
          </p:grpSpPr>
          <p:pic>
            <p:nvPicPr>
              <p:cNvPr id="17" name="图片 2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276" y="529"/>
                <a:ext cx="2848" cy="2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sp>
            <p:nvSpPr>
              <p:cNvPr id="18" name="Freeform 10"/>
              <p:cNvSpPr/>
              <p:nvPr/>
            </p:nvSpPr>
            <p:spPr bwMode="auto">
              <a:xfrm>
                <a:off x="2630" y="1233"/>
                <a:ext cx="1813" cy="1027"/>
              </a:xfrm>
              <a:custGeom>
                <a:avLst/>
                <a:gdLst>
                  <a:gd name="T0" fmla="*/ 73 w 1641"/>
                  <a:gd name="T1" fmla="*/ 712 h 886"/>
                  <a:gd name="T2" fmla="*/ 1140 w 1641"/>
                  <a:gd name="T3" fmla="*/ 3337 h 886"/>
                  <a:gd name="T4" fmla="*/ 4004 w 1641"/>
                  <a:gd name="T5" fmla="*/ 3709 h 886"/>
                  <a:gd name="T6" fmla="*/ 3807 w 1641"/>
                  <a:gd name="T7" fmla="*/ 2332 h 886"/>
                  <a:gd name="T8" fmla="*/ 694 w 1641"/>
                  <a:gd name="T9" fmla="*/ 271 h 886"/>
                  <a:gd name="T10" fmla="*/ 73 w 1641"/>
                  <a:gd name="T11" fmla="*/ 712 h 886"/>
                  <a:gd name="T12" fmla="*/ 0 60000 65536"/>
                  <a:gd name="T13" fmla="*/ 0 60000 65536"/>
                  <a:gd name="T14" fmla="*/ 0 60000 65536"/>
                  <a:gd name="T15" fmla="*/ 0 60000 65536"/>
                  <a:gd name="T16" fmla="*/ 0 60000 65536"/>
                  <a:gd name="T17" fmla="*/ 0 60000 65536"/>
                  <a:gd name="T18" fmla="*/ 0 w 1641"/>
                  <a:gd name="T19" fmla="*/ 0 h 886"/>
                  <a:gd name="T20" fmla="*/ 1641 w 1641"/>
                  <a:gd name="T21" fmla="*/ 886 h 886"/>
                </a:gdLst>
                <a:ahLst/>
                <a:cxnLst>
                  <a:cxn ang="T12">
                    <a:pos x="T0" y="T1"/>
                  </a:cxn>
                  <a:cxn ang="T13">
                    <a:pos x="T2" y="T3"/>
                  </a:cxn>
                  <a:cxn ang="T14">
                    <a:pos x="T4" y="T5"/>
                  </a:cxn>
                  <a:cxn ang="T15">
                    <a:pos x="T6" y="T7"/>
                  </a:cxn>
                  <a:cxn ang="T16">
                    <a:pos x="T8" y="T9"/>
                  </a:cxn>
                  <a:cxn ang="T17">
                    <a:pos x="T10" y="T11"/>
                  </a:cxn>
                </a:cxnLst>
                <a:rect l="T18" t="T19" r="T20" b="T21"/>
                <a:pathLst>
                  <a:path w="1641" h="886">
                    <a:moveTo>
                      <a:pt x="27" y="162"/>
                    </a:moveTo>
                    <a:cubicBezTo>
                      <a:pt x="54" y="279"/>
                      <a:pt x="178" y="648"/>
                      <a:pt x="420" y="762"/>
                    </a:cubicBezTo>
                    <a:cubicBezTo>
                      <a:pt x="662" y="876"/>
                      <a:pt x="1313" y="886"/>
                      <a:pt x="1477" y="848"/>
                    </a:cubicBezTo>
                    <a:cubicBezTo>
                      <a:pt x="1641" y="810"/>
                      <a:pt x="1609" y="664"/>
                      <a:pt x="1405" y="533"/>
                    </a:cubicBezTo>
                    <a:cubicBezTo>
                      <a:pt x="1201" y="402"/>
                      <a:pt x="483" y="124"/>
                      <a:pt x="255" y="62"/>
                    </a:cubicBezTo>
                    <a:cubicBezTo>
                      <a:pt x="27" y="0"/>
                      <a:pt x="0" y="45"/>
                      <a:pt x="27" y="162"/>
                    </a:cubicBezTo>
                    <a:close/>
                  </a:path>
                </a:pathLst>
              </a:cu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9" name="Freeform 11"/>
              <p:cNvSpPr/>
              <p:nvPr/>
            </p:nvSpPr>
            <p:spPr bwMode="auto">
              <a:xfrm>
                <a:off x="2842" y="870"/>
                <a:ext cx="1850" cy="1070"/>
              </a:xfrm>
              <a:custGeom>
                <a:avLst/>
                <a:gdLst>
                  <a:gd name="T0" fmla="*/ 186 w 1850"/>
                  <a:gd name="T1" fmla="*/ 3272 h 832"/>
                  <a:gd name="T2" fmla="*/ 1536 w 1850"/>
                  <a:gd name="T3" fmla="*/ 10076 h 832"/>
                  <a:gd name="T4" fmla="*/ 1664 w 1850"/>
                  <a:gd name="T5" fmla="*/ 4584 h 832"/>
                  <a:gd name="T6" fmla="*/ 422 w 1850"/>
                  <a:gd name="T7" fmla="*/ 261 h 832"/>
                  <a:gd name="T8" fmla="*/ 186 w 1850"/>
                  <a:gd name="T9" fmla="*/ 3272 h 832"/>
                  <a:gd name="T10" fmla="*/ 0 60000 65536"/>
                  <a:gd name="T11" fmla="*/ 0 60000 65536"/>
                  <a:gd name="T12" fmla="*/ 0 60000 65536"/>
                  <a:gd name="T13" fmla="*/ 0 60000 65536"/>
                  <a:gd name="T14" fmla="*/ 0 60000 65536"/>
                  <a:gd name="T15" fmla="*/ 0 w 1850"/>
                  <a:gd name="T16" fmla="*/ 0 h 832"/>
                  <a:gd name="T17" fmla="*/ 1850 w 1850"/>
                  <a:gd name="T18" fmla="*/ 832 h 832"/>
                </a:gdLst>
                <a:ahLst/>
                <a:cxnLst>
                  <a:cxn ang="T10">
                    <a:pos x="T0" y="T1"/>
                  </a:cxn>
                  <a:cxn ang="T11">
                    <a:pos x="T2" y="T3"/>
                  </a:cxn>
                  <a:cxn ang="T12">
                    <a:pos x="T4" y="T5"/>
                  </a:cxn>
                  <a:cxn ang="T13">
                    <a:pos x="T6" y="T7"/>
                  </a:cxn>
                  <a:cxn ang="T14">
                    <a:pos x="T8" y="T9"/>
                  </a:cxn>
                </a:cxnLst>
                <a:rect l="T15" t="T16" r="T17" b="T18"/>
                <a:pathLst>
                  <a:path w="1850" h="832">
                    <a:moveTo>
                      <a:pt x="186" y="264"/>
                    </a:moveTo>
                    <a:cubicBezTo>
                      <a:pt x="372" y="396"/>
                      <a:pt x="1290" y="796"/>
                      <a:pt x="1536" y="814"/>
                    </a:cubicBezTo>
                    <a:cubicBezTo>
                      <a:pt x="1782" y="832"/>
                      <a:pt x="1850" y="503"/>
                      <a:pt x="1664" y="371"/>
                    </a:cubicBezTo>
                    <a:cubicBezTo>
                      <a:pt x="1478" y="239"/>
                      <a:pt x="667" y="42"/>
                      <a:pt x="422" y="21"/>
                    </a:cubicBezTo>
                    <a:cubicBezTo>
                      <a:pt x="177" y="0"/>
                      <a:pt x="0" y="132"/>
                      <a:pt x="186" y="264"/>
                    </a:cubicBezTo>
                    <a:close/>
                  </a:path>
                </a:pathLst>
              </a:custGeom>
              <a:noFill/>
              <a:ln w="12700">
                <a:solidFill>
                  <a:srgbClr val="80008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6" name="矩形 15"/>
            <p:cNvSpPr>
              <a:spLocks noChangeArrowheads="1"/>
            </p:cNvSpPr>
            <p:nvPr/>
          </p:nvSpPr>
          <p:spPr bwMode="auto">
            <a:xfrm>
              <a:off x="3988553" y="2324515"/>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1</a:t>
              </a:r>
              <a:endParaRPr lang="en-US" altLang="zh-CN" sz="1600">
                <a:solidFill>
                  <a:srgbClr val="0000FF"/>
                </a:solidFill>
              </a:endParaRPr>
            </a:p>
          </p:txBody>
        </p:sp>
        <p:sp>
          <p:nvSpPr>
            <p:cNvPr id="7" name="矩形 16"/>
            <p:cNvSpPr>
              <a:spLocks noChangeArrowheads="1"/>
            </p:cNvSpPr>
            <p:nvPr/>
          </p:nvSpPr>
          <p:spPr bwMode="auto">
            <a:xfrm>
              <a:off x="4276980" y="2905154"/>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2</a:t>
              </a:r>
              <a:endParaRPr lang="en-US" altLang="zh-CN" sz="1600">
                <a:solidFill>
                  <a:srgbClr val="0000FF"/>
                </a:solidFill>
              </a:endParaRPr>
            </a:p>
          </p:txBody>
        </p:sp>
        <p:sp>
          <p:nvSpPr>
            <p:cNvPr id="8" name="矩形 17"/>
            <p:cNvSpPr>
              <a:spLocks noChangeArrowheads="1"/>
            </p:cNvSpPr>
            <p:nvPr/>
          </p:nvSpPr>
          <p:spPr bwMode="auto">
            <a:xfrm>
              <a:off x="4276980" y="1766068"/>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3</a:t>
              </a:r>
              <a:endParaRPr lang="en-US" altLang="zh-CN" sz="1600">
                <a:solidFill>
                  <a:srgbClr val="0000FF"/>
                </a:solidFill>
              </a:endParaRPr>
            </a:p>
          </p:txBody>
        </p:sp>
        <p:sp>
          <p:nvSpPr>
            <p:cNvPr id="9" name="矩形 18"/>
            <p:cNvSpPr>
              <a:spLocks noChangeArrowheads="1"/>
            </p:cNvSpPr>
            <p:nvPr/>
          </p:nvSpPr>
          <p:spPr bwMode="auto">
            <a:xfrm>
              <a:off x="4648091" y="2101233"/>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4</a:t>
              </a:r>
              <a:endParaRPr lang="en-US" altLang="zh-CN" sz="1600">
                <a:solidFill>
                  <a:srgbClr val="0000FF"/>
                </a:solidFill>
              </a:endParaRPr>
            </a:p>
          </p:txBody>
        </p:sp>
        <p:sp>
          <p:nvSpPr>
            <p:cNvPr id="10" name="矩形 19"/>
            <p:cNvSpPr>
              <a:spLocks noChangeArrowheads="1"/>
            </p:cNvSpPr>
            <p:nvPr/>
          </p:nvSpPr>
          <p:spPr bwMode="auto">
            <a:xfrm>
              <a:off x="5324041" y="3550926"/>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5</a:t>
              </a:r>
              <a:endParaRPr lang="en-US" altLang="zh-CN" sz="1600">
                <a:solidFill>
                  <a:srgbClr val="0000FF"/>
                </a:solidFill>
              </a:endParaRPr>
            </a:p>
          </p:txBody>
        </p:sp>
        <p:sp>
          <p:nvSpPr>
            <p:cNvPr id="11" name="矩形 20"/>
            <p:cNvSpPr>
              <a:spLocks noChangeArrowheads="1"/>
            </p:cNvSpPr>
            <p:nvPr/>
          </p:nvSpPr>
          <p:spPr bwMode="auto">
            <a:xfrm>
              <a:off x="5324041" y="2959180"/>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6</a:t>
              </a:r>
              <a:endParaRPr lang="en-US" altLang="zh-CN" sz="1600">
                <a:solidFill>
                  <a:srgbClr val="0000FF"/>
                </a:solidFill>
              </a:endParaRPr>
            </a:p>
          </p:txBody>
        </p:sp>
        <p:sp>
          <p:nvSpPr>
            <p:cNvPr id="12" name="矩形 21"/>
            <p:cNvSpPr>
              <a:spLocks noChangeArrowheads="1"/>
            </p:cNvSpPr>
            <p:nvPr/>
          </p:nvSpPr>
          <p:spPr bwMode="auto">
            <a:xfrm>
              <a:off x="5606140" y="3197055"/>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7</a:t>
              </a:r>
              <a:endParaRPr lang="en-US" altLang="zh-CN" sz="1600">
                <a:solidFill>
                  <a:srgbClr val="0000FF"/>
                </a:solidFill>
              </a:endParaRPr>
            </a:p>
          </p:txBody>
        </p:sp>
        <p:sp>
          <p:nvSpPr>
            <p:cNvPr id="13" name="矩形 22"/>
            <p:cNvSpPr>
              <a:spLocks noChangeArrowheads="1"/>
            </p:cNvSpPr>
            <p:nvPr/>
          </p:nvSpPr>
          <p:spPr bwMode="auto">
            <a:xfrm>
              <a:off x="5724740" y="2857521"/>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8</a:t>
              </a:r>
              <a:endParaRPr lang="en-US" altLang="zh-CN" sz="1600">
                <a:solidFill>
                  <a:srgbClr val="0000FF"/>
                </a:solidFill>
              </a:endParaRPr>
            </a:p>
          </p:txBody>
        </p:sp>
        <p:sp>
          <p:nvSpPr>
            <p:cNvPr id="14" name="矩形 23"/>
            <p:cNvSpPr>
              <a:spLocks noChangeArrowheads="1"/>
            </p:cNvSpPr>
            <p:nvPr/>
          </p:nvSpPr>
          <p:spPr bwMode="auto">
            <a:xfrm>
              <a:off x="6318676" y="2579333"/>
              <a:ext cx="4202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9</a:t>
              </a:r>
              <a:endParaRPr lang="en-US" altLang="zh-CN" sz="1600">
                <a:solidFill>
                  <a:srgbClr val="0000FF"/>
                </a:solidFill>
              </a:endParaRPr>
            </a:p>
          </p:txBody>
        </p:sp>
        <p:sp>
          <p:nvSpPr>
            <p:cNvPr id="15" name="矩形 24"/>
            <p:cNvSpPr>
              <a:spLocks noChangeArrowheads="1"/>
            </p:cNvSpPr>
            <p:nvPr/>
          </p:nvSpPr>
          <p:spPr bwMode="auto">
            <a:xfrm>
              <a:off x="5453163" y="2372459"/>
              <a:ext cx="907773" cy="206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en-US" altLang="zh-CN" sz="1600">
                  <a:solidFill>
                    <a:srgbClr val="0000FF"/>
                  </a:solidFill>
                </a:rPr>
                <a:t>10</a:t>
              </a:r>
              <a:endParaRPr lang="en-US" altLang="zh-CN" sz="1600">
                <a:solidFill>
                  <a:srgbClr val="0000FF"/>
                </a:solidFill>
              </a:endParaRPr>
            </a:p>
          </p:txBody>
        </p:sp>
      </p:grpSp>
      <p:graphicFrame>
        <p:nvGraphicFramePr>
          <p:cNvPr id="20" name="表格 19"/>
          <p:cNvGraphicFramePr>
            <a:graphicFrameLocks noGrp="1"/>
          </p:cNvGraphicFramePr>
          <p:nvPr/>
        </p:nvGraphicFramePr>
        <p:xfrm>
          <a:off x="5098132" y="3010446"/>
          <a:ext cx="3314700" cy="2125860"/>
        </p:xfrm>
        <a:graphic>
          <a:graphicData uri="http://schemas.openxmlformats.org/drawingml/2006/table">
            <a:tbl>
              <a:tblPr/>
              <a:tblGrid>
                <a:gridCol w="1257300"/>
                <a:gridCol w="685800"/>
                <a:gridCol w="685800"/>
                <a:gridCol w="685800"/>
              </a:tblGrid>
              <a:tr h="177139">
                <a:tc>
                  <a:txBody>
                    <a:bodyPr/>
                    <a:lstStyle/>
                    <a:p>
                      <a:pPr algn="l" fontAlgn="b"/>
                      <a:r>
                        <a:rPr lang="en-US" sz="1100" b="0" i="0" u="none" strike="noStrike" dirty="0">
                          <a:solidFill>
                            <a:srgbClr val="000000"/>
                          </a:solidFill>
                          <a:effectLst/>
                          <a:latin typeface="宋体" panose="02010600030101010101" pitchFamily="2" charset="-122"/>
                        </a:rPr>
                        <a:t>Repl. X5 by X3</a:t>
                      </a:r>
                      <a:endParaRPr lang="en-US" sz="1100" b="0" i="0" u="none" strike="noStrike" dirty="0">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sz="1100" b="0" i="0" u="none" strike="noStrike" dirty="0" err="1">
                          <a:solidFill>
                            <a:srgbClr val="000000"/>
                          </a:solidFill>
                          <a:effectLst/>
                          <a:latin typeface="宋体" panose="02010600030101010101" pitchFamily="2" charset="-122"/>
                        </a:rPr>
                        <a:t>Bef</a:t>
                      </a:r>
                      <a:endParaRPr lang="en-US" sz="1100" b="0" i="0" u="none" strike="noStrike" dirty="0">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sz="1100" b="0" i="0" u="none" strike="noStrike" dirty="0">
                          <a:solidFill>
                            <a:srgbClr val="000000"/>
                          </a:solidFill>
                          <a:effectLst/>
                          <a:latin typeface="宋体" panose="02010600030101010101" pitchFamily="2" charset="-122"/>
                        </a:rPr>
                        <a:t>Aft</a:t>
                      </a:r>
                      <a:endParaRPr lang="en-US" sz="1100" b="0" i="0" u="none" strike="noStrike" dirty="0">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l" fontAlgn="b"/>
                      <a:endParaRPr lang="zh-CN" altLang="en-US"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r>
              <a:tr h="177139">
                <a:tc>
                  <a:txBody>
                    <a:bodyPr/>
                    <a:lstStyle/>
                    <a:p>
                      <a:pPr algn="l" fontAlgn="b"/>
                      <a:r>
                        <a:rPr lang="en-US" sz="1100" b="0" i="0" u="none" strike="noStrike">
                          <a:solidFill>
                            <a:srgbClr val="000000"/>
                          </a:solidFill>
                          <a:effectLst/>
                          <a:latin typeface="宋体" panose="02010600030101010101" pitchFamily="2" charset="-122"/>
                        </a:rPr>
                        <a:t>X1</a:t>
                      </a:r>
                      <a:endParaRPr lang="en-US"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7</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3</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-4</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r>
              <a:tr h="177139">
                <a:tc>
                  <a:txBody>
                    <a:bodyPr/>
                    <a:lstStyle/>
                    <a:p>
                      <a:pPr algn="l" fontAlgn="b"/>
                      <a:r>
                        <a:rPr lang="en-US" sz="1100" b="0" i="0" u="none" strike="noStrike">
                          <a:solidFill>
                            <a:srgbClr val="000000"/>
                          </a:solidFill>
                          <a:effectLst/>
                          <a:latin typeface="宋体" panose="02010600030101010101" pitchFamily="2" charset="-122"/>
                        </a:rPr>
                        <a:t>X2</a:t>
                      </a:r>
                      <a:endParaRPr lang="en-US"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5</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4</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-1</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r>
              <a:tr h="177139">
                <a:tc>
                  <a:txBody>
                    <a:bodyPr/>
                    <a:lstStyle/>
                    <a:p>
                      <a:pPr algn="l" fontAlgn="b"/>
                      <a:r>
                        <a:rPr lang="en-US" sz="1100" b="0" i="0" u="none" strike="noStrike">
                          <a:solidFill>
                            <a:srgbClr val="000000"/>
                          </a:solidFill>
                          <a:effectLst/>
                          <a:latin typeface="宋体" panose="02010600030101010101" pitchFamily="2" charset="-122"/>
                        </a:rPr>
                        <a:t>X3</a:t>
                      </a:r>
                      <a:endParaRPr lang="en-US"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8</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0</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-8</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r>
              <a:tr h="177139">
                <a:tc>
                  <a:txBody>
                    <a:bodyPr/>
                    <a:lstStyle/>
                    <a:p>
                      <a:pPr algn="l" fontAlgn="b"/>
                      <a:r>
                        <a:rPr lang="en-US" sz="1100" b="0" i="0" u="none" strike="noStrike">
                          <a:solidFill>
                            <a:srgbClr val="000000"/>
                          </a:solidFill>
                          <a:effectLst/>
                          <a:latin typeface="宋体" panose="02010600030101010101" pitchFamily="2" charset="-122"/>
                        </a:rPr>
                        <a:t>X4</a:t>
                      </a:r>
                      <a:endParaRPr lang="en-US"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6</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-4</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r>
              <a:tr h="177139">
                <a:tc>
                  <a:txBody>
                    <a:bodyPr/>
                    <a:lstStyle/>
                    <a:p>
                      <a:pPr algn="l" fontAlgn="b"/>
                      <a:r>
                        <a:rPr lang="en-US" sz="1100" b="0" i="0" u="none" strike="noStrike">
                          <a:solidFill>
                            <a:srgbClr val="000000"/>
                          </a:solidFill>
                          <a:effectLst/>
                          <a:latin typeface="宋体" panose="02010600030101010101" pitchFamily="2" charset="-122"/>
                        </a:rPr>
                        <a:t>X5</a:t>
                      </a:r>
                      <a:endParaRPr lang="en-US"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0</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5</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-5</a:t>
                      </a:r>
                      <a:endParaRPr lang="en-US" altLang="zh-CN" sz="1100" b="0" i="0" u="none" strike="noStrike" dirty="0">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r>
              <a:tr h="177139">
                <a:tc>
                  <a:txBody>
                    <a:bodyPr/>
                    <a:lstStyle/>
                    <a:p>
                      <a:pPr algn="l" fontAlgn="b"/>
                      <a:r>
                        <a:rPr lang="en-US" sz="1100" b="0" i="0" u="none" strike="noStrike">
                          <a:solidFill>
                            <a:srgbClr val="000000"/>
                          </a:solidFill>
                          <a:effectLst/>
                          <a:latin typeface="宋体" panose="02010600030101010101" pitchFamily="2" charset="-122"/>
                        </a:rPr>
                        <a:t>X6</a:t>
                      </a:r>
                      <a:endParaRPr lang="en-US"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3</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1</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r>
              <a:tr h="177139">
                <a:tc>
                  <a:txBody>
                    <a:bodyPr/>
                    <a:lstStyle/>
                    <a:p>
                      <a:pPr algn="l" fontAlgn="b"/>
                      <a:r>
                        <a:rPr lang="en-US" sz="1100" b="0" i="0" u="none" strike="noStrike" dirty="0">
                          <a:solidFill>
                            <a:srgbClr val="000000"/>
                          </a:solidFill>
                          <a:effectLst/>
                          <a:latin typeface="宋体" panose="02010600030101010101" pitchFamily="2" charset="-122"/>
                        </a:rPr>
                        <a:t>X7</a:t>
                      </a:r>
                      <a:endParaRPr lang="en-US" sz="1100" b="0" i="0" u="none" strike="noStrike" dirty="0">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3</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1</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r>
              <a:tr h="177139">
                <a:tc>
                  <a:txBody>
                    <a:bodyPr/>
                    <a:lstStyle/>
                    <a:p>
                      <a:pPr algn="l" fontAlgn="b"/>
                      <a:r>
                        <a:rPr lang="en-US" sz="1100" b="0" i="0" u="none" strike="noStrike">
                          <a:solidFill>
                            <a:srgbClr val="000000"/>
                          </a:solidFill>
                          <a:effectLst/>
                          <a:latin typeface="宋体" panose="02010600030101010101" pitchFamily="2" charset="-122"/>
                        </a:rPr>
                        <a:t>X8</a:t>
                      </a:r>
                      <a:endParaRPr lang="en-US"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0</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r>
              <a:tr h="177139">
                <a:tc>
                  <a:txBody>
                    <a:bodyPr/>
                    <a:lstStyle/>
                    <a:p>
                      <a:pPr algn="l" fontAlgn="b"/>
                      <a:r>
                        <a:rPr lang="en-US" sz="1100" b="0" i="0" u="none" strike="noStrike" dirty="0">
                          <a:solidFill>
                            <a:srgbClr val="000000"/>
                          </a:solidFill>
                          <a:effectLst/>
                          <a:latin typeface="宋体" panose="02010600030101010101" pitchFamily="2" charset="-122"/>
                        </a:rPr>
                        <a:t>X9</a:t>
                      </a:r>
                      <a:endParaRPr lang="en-US" sz="1100" b="0" i="0" u="none" strike="noStrike" dirty="0">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0</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0</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0</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r>
              <a:tr h="177139">
                <a:tc>
                  <a:txBody>
                    <a:bodyPr/>
                    <a:lstStyle/>
                    <a:p>
                      <a:pPr algn="l" fontAlgn="b"/>
                      <a:r>
                        <a:rPr lang="en-US" sz="1100" b="0" i="0" u="none" strike="noStrike" dirty="0">
                          <a:solidFill>
                            <a:srgbClr val="000000"/>
                          </a:solidFill>
                          <a:effectLst/>
                          <a:latin typeface="宋体" panose="02010600030101010101" pitchFamily="2" charset="-122"/>
                        </a:rPr>
                        <a:t>X10</a:t>
                      </a:r>
                      <a:endParaRPr lang="en-US" sz="1100" b="0" i="0" u="none" strike="noStrike" dirty="0">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0</a:t>
                      </a:r>
                      <a:endParaRPr lang="en-US" altLang="zh-CN"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r>
              <a:tr h="177139">
                <a:tc>
                  <a:txBody>
                    <a:bodyPr/>
                    <a:lstStyle/>
                    <a:p>
                      <a:pPr algn="l" fontAlgn="b"/>
                      <a:r>
                        <a:rPr lang="en-US" sz="1100" b="0" i="0" u="none" strike="noStrike">
                          <a:solidFill>
                            <a:srgbClr val="000000"/>
                          </a:solidFill>
                          <a:effectLst/>
                          <a:latin typeface="宋体" panose="02010600030101010101" pitchFamily="2" charset="-122"/>
                        </a:rPr>
                        <a:t>totalChange</a:t>
                      </a:r>
                      <a:endParaRPr lang="en-US"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l" fontAlgn="b"/>
                      <a:endParaRPr lang="zh-CN" altLang="en-US"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l" fontAlgn="b"/>
                      <a:endParaRPr lang="zh-CN" altLang="en-US" sz="1100" b="0" i="0" u="none" strike="noStrike">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-20</a:t>
                      </a:r>
                      <a:endParaRPr lang="en-US" altLang="zh-CN" sz="1100" b="0" i="0" u="none" strike="noStrike" dirty="0">
                        <a:solidFill>
                          <a:srgbClr val="000000"/>
                        </a:solidFill>
                        <a:effectLst/>
                        <a:latin typeface="宋体" panose="02010600030101010101" pitchFamily="2" charset="-122"/>
                      </a:endParaRPr>
                    </a:p>
                  </a:txBody>
                  <a:tcPr marL="9525" marR="9525" marT="9515" marB="0" anchor="b">
                    <a:lnL>
                      <a:noFill/>
                    </a:lnL>
                    <a:lnR>
                      <a:noFill/>
                    </a:lnR>
                    <a:lnT>
                      <a:noFill/>
                    </a:lnT>
                    <a:lnB>
                      <a:noFill/>
                    </a:lnB>
                  </a:tcPr>
                </a:tc>
              </a:tr>
            </a:tbl>
          </a:graphicData>
        </a:graphic>
      </p:graphicFrame>
      <p:graphicFrame>
        <p:nvGraphicFramePr>
          <p:cNvPr id="21" name="表格 20"/>
          <p:cNvGraphicFramePr>
            <a:graphicFrameLocks noGrp="1"/>
          </p:cNvGraphicFramePr>
          <p:nvPr/>
        </p:nvGraphicFramePr>
        <p:xfrm>
          <a:off x="4088482" y="1261021"/>
          <a:ext cx="2049463" cy="1594215"/>
        </p:xfrm>
        <a:graphic>
          <a:graphicData uri="http://schemas.openxmlformats.org/drawingml/2006/table">
            <a:tbl>
              <a:tblPr/>
              <a:tblGrid>
                <a:gridCol w="650541"/>
                <a:gridCol w="779025"/>
                <a:gridCol w="619897"/>
              </a:tblGrid>
              <a:tr h="177094">
                <a:tc>
                  <a:txBody>
                    <a:bodyPr/>
                    <a:lstStyle/>
                    <a:p>
                      <a:pPr algn="l" fontAlgn="b"/>
                      <a:r>
                        <a:rPr lang="en-US" altLang="zh-CN" sz="1100" b="1" i="0" u="none" strike="noStrike" dirty="0">
                          <a:solidFill>
                            <a:srgbClr val="000000"/>
                          </a:solidFill>
                          <a:effectLst/>
                          <a:latin typeface="宋体" panose="02010600030101010101" pitchFamily="2" charset="-122"/>
                        </a:rPr>
                        <a:t>Distance</a:t>
                      </a:r>
                      <a:endParaRPr lang="zh-CN" altLang="en-US" sz="1100" b="1" i="0" u="none" strike="noStrike" dirty="0">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c>
                  <a:txBody>
                    <a:bodyPr/>
                    <a:lstStyle/>
                    <a:p>
                      <a:pPr algn="l" fontAlgn="b"/>
                      <a:r>
                        <a:rPr lang="en-US" sz="1100" b="1" i="0" u="none" strike="noStrike">
                          <a:solidFill>
                            <a:srgbClr val="000000"/>
                          </a:solidFill>
                          <a:effectLst/>
                          <a:latin typeface="宋体" panose="02010600030101010101" pitchFamily="2" charset="-122"/>
                        </a:rPr>
                        <a:t>to X5</a:t>
                      </a:r>
                      <a:endParaRPr lang="en-US" sz="1100" b="1"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c>
                  <a:txBody>
                    <a:bodyPr/>
                    <a:lstStyle/>
                    <a:p>
                      <a:pPr algn="l" fontAlgn="b"/>
                      <a:r>
                        <a:rPr lang="en-US" sz="1100" b="1" i="0" u="none" strike="noStrike" dirty="0">
                          <a:solidFill>
                            <a:srgbClr val="000000"/>
                          </a:solidFill>
                          <a:effectLst/>
                          <a:latin typeface="宋体" panose="02010600030101010101" pitchFamily="2" charset="-122"/>
                        </a:rPr>
                        <a:t>to X9</a:t>
                      </a:r>
                      <a:endParaRPr lang="en-US" sz="1100" b="1" i="0" u="none" strike="noStrike" dirty="0">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r>
              <a:tr h="177094">
                <a:tc>
                  <a:txBody>
                    <a:bodyPr/>
                    <a:lstStyle/>
                    <a:p>
                      <a:pPr algn="l" fontAlgn="b"/>
                      <a:r>
                        <a:rPr lang="en-US" sz="1100" b="0" i="0" u="none" strike="noStrike">
                          <a:solidFill>
                            <a:srgbClr val="000000"/>
                          </a:solidFill>
                          <a:effectLst/>
                          <a:latin typeface="宋体" panose="02010600030101010101" pitchFamily="2" charset="-122"/>
                        </a:rPr>
                        <a:t>X1</a:t>
                      </a:r>
                      <a:endParaRPr lang="en-US"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8</a:t>
                      </a:r>
                      <a:endParaRPr lang="en-US" altLang="zh-CN" sz="1100" b="0" i="0" u="none" strike="noStrike" dirty="0">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7</a:t>
                      </a:r>
                      <a:endParaRPr lang="en-US" altLang="zh-CN" sz="1100" b="0" i="0" u="none" strike="noStrike" dirty="0">
                        <a:solidFill>
                          <a:srgbClr val="000000"/>
                        </a:solidFill>
                        <a:effectLst/>
                        <a:latin typeface="宋体" panose="02010600030101010101" pitchFamily="2" charset="-122"/>
                      </a:endParaRPr>
                    </a:p>
                  </a:txBody>
                  <a:tcPr marL="9527" marR="9527" marT="9495" marB="0" anchor="b">
                    <a:lnL>
                      <a:noFill/>
                    </a:lnL>
                    <a:lnR>
                      <a:noFill/>
                    </a:lnR>
                    <a:lnT>
                      <a:noFill/>
                    </a:lnT>
                    <a:lnB>
                      <a:noFill/>
                    </a:lnB>
                    <a:solidFill>
                      <a:srgbClr val="FFFF00"/>
                    </a:solidFill>
                  </a:tcPr>
                </a:tc>
              </a:tr>
              <a:tr h="177094">
                <a:tc>
                  <a:txBody>
                    <a:bodyPr/>
                    <a:lstStyle/>
                    <a:p>
                      <a:pPr algn="l" fontAlgn="b"/>
                      <a:r>
                        <a:rPr lang="en-US" sz="1100" b="0" i="0" u="none" strike="noStrike">
                          <a:solidFill>
                            <a:srgbClr val="000000"/>
                          </a:solidFill>
                          <a:effectLst/>
                          <a:latin typeface="宋体" panose="02010600030101010101" pitchFamily="2" charset="-122"/>
                        </a:rPr>
                        <a:t>X2</a:t>
                      </a:r>
                      <a:endParaRPr lang="en-US"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5</a:t>
                      </a:r>
                      <a:endParaRPr lang="en-US" altLang="zh-CN"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solidFill>
                      <a:srgbClr val="FFFF00"/>
                    </a:solidFill>
                  </a:tcPr>
                </a:tc>
                <a:tc>
                  <a:txBody>
                    <a:bodyPr/>
                    <a:lstStyle/>
                    <a:p>
                      <a:pPr algn="r" fontAlgn="b"/>
                      <a:r>
                        <a:rPr lang="en-US" altLang="zh-CN" sz="1100" b="0" i="0" u="none" strike="noStrike">
                          <a:solidFill>
                            <a:srgbClr val="000000"/>
                          </a:solidFill>
                          <a:effectLst/>
                          <a:latin typeface="宋体" panose="02010600030101010101" pitchFamily="2" charset="-122"/>
                        </a:rPr>
                        <a:t>6</a:t>
                      </a:r>
                      <a:endParaRPr lang="en-US" altLang="zh-CN"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r>
              <a:tr h="177094">
                <a:tc>
                  <a:txBody>
                    <a:bodyPr/>
                    <a:lstStyle/>
                    <a:p>
                      <a:pPr algn="l" fontAlgn="b"/>
                      <a:r>
                        <a:rPr lang="en-US" sz="1100" b="0" i="0" u="none" strike="noStrike">
                          <a:solidFill>
                            <a:srgbClr val="000000"/>
                          </a:solidFill>
                          <a:effectLst/>
                          <a:latin typeface="宋体" panose="02010600030101010101" pitchFamily="2" charset="-122"/>
                        </a:rPr>
                        <a:t>X3</a:t>
                      </a:r>
                      <a:endParaRPr lang="en-US"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9</a:t>
                      </a:r>
                      <a:endParaRPr lang="en-US" altLang="zh-CN"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8</a:t>
                      </a:r>
                      <a:endParaRPr lang="en-US" altLang="zh-CN"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solidFill>
                      <a:srgbClr val="FFFF00"/>
                    </a:solidFill>
                  </a:tcPr>
                </a:tc>
              </a:tr>
              <a:tr h="177094">
                <a:tc>
                  <a:txBody>
                    <a:bodyPr/>
                    <a:lstStyle/>
                    <a:p>
                      <a:pPr algn="l" fontAlgn="b"/>
                      <a:r>
                        <a:rPr lang="en-US" sz="1100" b="0" i="0" u="none" strike="noStrike">
                          <a:solidFill>
                            <a:srgbClr val="000000"/>
                          </a:solidFill>
                          <a:effectLst/>
                          <a:latin typeface="宋体" panose="02010600030101010101" pitchFamily="2" charset="-122"/>
                        </a:rPr>
                        <a:t>X4</a:t>
                      </a:r>
                      <a:endParaRPr lang="en-US"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7</a:t>
                      </a:r>
                      <a:endParaRPr lang="en-US" altLang="zh-CN"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6</a:t>
                      </a:r>
                      <a:endParaRPr lang="en-US" altLang="zh-CN"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solidFill>
                      <a:srgbClr val="FFFF00"/>
                    </a:solidFill>
                  </a:tcPr>
                </a:tc>
              </a:tr>
              <a:tr h="177094">
                <a:tc>
                  <a:txBody>
                    <a:bodyPr/>
                    <a:lstStyle/>
                    <a:p>
                      <a:pPr algn="l" fontAlgn="b"/>
                      <a:r>
                        <a:rPr lang="en-US" sz="1100" b="0" i="0" u="none" strike="noStrike">
                          <a:solidFill>
                            <a:srgbClr val="000000"/>
                          </a:solidFill>
                          <a:effectLst/>
                          <a:latin typeface="宋体" panose="02010600030101010101" pitchFamily="2" charset="-122"/>
                        </a:rPr>
                        <a:t>X6</a:t>
                      </a:r>
                      <a:endParaRPr lang="en-US"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solidFill>
                      <a:srgbClr val="FFFF00"/>
                    </a:solidFill>
                  </a:tcPr>
                </a:tc>
                <a:tc>
                  <a:txBody>
                    <a:bodyPr/>
                    <a:lstStyle/>
                    <a:p>
                      <a:pPr algn="r" fontAlgn="b"/>
                      <a:r>
                        <a:rPr lang="en-US" altLang="zh-CN" sz="1100" b="0" i="0" u="none" strike="noStrike" dirty="0">
                          <a:solidFill>
                            <a:srgbClr val="000000"/>
                          </a:solidFill>
                          <a:effectLst/>
                          <a:latin typeface="宋体" panose="02010600030101010101" pitchFamily="2" charset="-122"/>
                        </a:rPr>
                        <a:t>3</a:t>
                      </a:r>
                      <a:endParaRPr lang="en-US" altLang="zh-CN" sz="1100" b="0" i="0" u="none" strike="noStrike" dirty="0">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r>
              <a:tr h="177094">
                <a:tc>
                  <a:txBody>
                    <a:bodyPr/>
                    <a:lstStyle/>
                    <a:p>
                      <a:pPr algn="l" fontAlgn="b"/>
                      <a:r>
                        <a:rPr lang="en-US" sz="1100" b="0" i="0" u="none" strike="noStrike">
                          <a:solidFill>
                            <a:srgbClr val="000000"/>
                          </a:solidFill>
                          <a:effectLst/>
                          <a:latin typeface="宋体" panose="02010600030101010101" pitchFamily="2" charset="-122"/>
                        </a:rPr>
                        <a:t>X7</a:t>
                      </a:r>
                      <a:endParaRPr lang="en-US"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solidFill>
                      <a:srgbClr val="FFFF00"/>
                    </a:solidFill>
                  </a:tcPr>
                </a:tc>
                <a:tc>
                  <a:txBody>
                    <a:bodyPr/>
                    <a:lstStyle/>
                    <a:p>
                      <a:pPr algn="r" fontAlgn="b"/>
                      <a:r>
                        <a:rPr lang="en-US" altLang="zh-CN" sz="1100" b="0" i="0" u="none" strike="noStrike">
                          <a:solidFill>
                            <a:srgbClr val="000000"/>
                          </a:solidFill>
                          <a:effectLst/>
                          <a:latin typeface="宋体" panose="02010600030101010101" pitchFamily="2" charset="-122"/>
                        </a:rPr>
                        <a:t>3</a:t>
                      </a:r>
                      <a:endParaRPr lang="en-US" altLang="zh-CN"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r>
              <a:tr h="177094">
                <a:tc>
                  <a:txBody>
                    <a:bodyPr/>
                    <a:lstStyle/>
                    <a:p>
                      <a:pPr algn="l" fontAlgn="b"/>
                      <a:r>
                        <a:rPr lang="en-US" sz="1100" b="0" i="0" u="none" strike="noStrike">
                          <a:solidFill>
                            <a:srgbClr val="000000"/>
                          </a:solidFill>
                          <a:effectLst/>
                          <a:latin typeface="宋体" panose="02010600030101010101" pitchFamily="2" charset="-122"/>
                        </a:rPr>
                        <a:t>X8</a:t>
                      </a:r>
                      <a:endParaRPr lang="en-US"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3</a:t>
                      </a:r>
                      <a:endParaRPr lang="en-US" altLang="zh-CN"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solidFill>
                      <a:srgbClr val="FFFF00"/>
                    </a:solidFill>
                  </a:tcPr>
                </a:tc>
              </a:tr>
              <a:tr h="177094">
                <a:tc>
                  <a:txBody>
                    <a:bodyPr/>
                    <a:lstStyle/>
                    <a:p>
                      <a:pPr algn="l" fontAlgn="b"/>
                      <a:r>
                        <a:rPr lang="en-US" sz="1100" b="0" i="0" u="none" strike="noStrike">
                          <a:solidFill>
                            <a:srgbClr val="000000"/>
                          </a:solidFill>
                          <a:effectLst/>
                          <a:latin typeface="宋体" panose="02010600030101010101" pitchFamily="2" charset="-122"/>
                        </a:rPr>
                        <a:t>X10</a:t>
                      </a:r>
                      <a:endParaRPr lang="en-US" sz="1100" b="0" i="0" u="none" strike="noStrike">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5</a:t>
                      </a:r>
                      <a:endParaRPr lang="en-US" altLang="zh-CN" sz="1100" b="0" i="0" u="none" strike="noStrike" dirty="0">
                        <a:solidFill>
                          <a:srgbClr val="000000"/>
                        </a:solidFill>
                        <a:effectLst/>
                        <a:latin typeface="宋体" panose="02010600030101010101" pitchFamily="2" charset="-122"/>
                      </a:endParaRPr>
                    </a:p>
                  </a:txBody>
                  <a:tcPr marL="9527" marR="9527" marT="9495"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2</a:t>
                      </a:r>
                      <a:endParaRPr lang="en-US" altLang="zh-CN" sz="1100" b="0" i="0" u="none" strike="noStrike" dirty="0">
                        <a:solidFill>
                          <a:srgbClr val="000000"/>
                        </a:solidFill>
                        <a:effectLst/>
                        <a:latin typeface="宋体" panose="02010600030101010101" pitchFamily="2" charset="-122"/>
                      </a:endParaRPr>
                    </a:p>
                  </a:txBody>
                  <a:tcPr marL="9527" marR="9527" marT="9495" marB="0" anchor="b">
                    <a:lnL>
                      <a:noFill/>
                    </a:lnL>
                    <a:lnR>
                      <a:noFill/>
                    </a:lnR>
                    <a:lnT>
                      <a:noFill/>
                    </a:lnT>
                    <a:lnB>
                      <a:noFill/>
                    </a:lnB>
                    <a:solidFill>
                      <a:srgbClr val="FFFF00"/>
                    </a:solidFill>
                  </a:tcPr>
                </a:tc>
              </a:tr>
            </a:tbl>
          </a:graphicData>
        </a:graphic>
      </p:graphicFrame>
      <p:graphicFrame>
        <p:nvGraphicFramePr>
          <p:cNvPr id="22" name="表格 21"/>
          <p:cNvGraphicFramePr>
            <a:graphicFrameLocks noGrp="1"/>
          </p:cNvGraphicFramePr>
          <p:nvPr/>
        </p:nvGraphicFramePr>
        <p:xfrm>
          <a:off x="6645945" y="1261021"/>
          <a:ext cx="2141537" cy="1654173"/>
        </p:xfrm>
        <a:graphic>
          <a:graphicData uri="http://schemas.openxmlformats.org/drawingml/2006/table">
            <a:tbl>
              <a:tblPr/>
              <a:tblGrid>
                <a:gridCol w="1024213"/>
                <a:gridCol w="558662"/>
                <a:gridCol w="558662"/>
              </a:tblGrid>
              <a:tr h="183797">
                <a:tc>
                  <a:txBody>
                    <a:bodyPr/>
                    <a:lstStyle/>
                    <a:p>
                      <a:pPr algn="l" fontAlgn="b"/>
                      <a:endParaRPr lang="zh-CN" altLang="en-US" sz="1100" b="0" i="0" u="none" strike="noStrike" dirty="0">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c>
                  <a:txBody>
                    <a:bodyPr/>
                    <a:lstStyle/>
                    <a:p>
                      <a:pPr algn="l" fontAlgn="b"/>
                      <a:r>
                        <a:rPr lang="en-US" sz="1100" b="0" i="0" u="none" strike="noStrike">
                          <a:solidFill>
                            <a:srgbClr val="000000"/>
                          </a:solidFill>
                          <a:effectLst/>
                          <a:latin typeface="宋体" panose="02010600030101010101" pitchFamily="2" charset="-122"/>
                        </a:rPr>
                        <a:t>to X3</a:t>
                      </a:r>
                      <a:endParaRPr lang="en-US"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c>
                  <a:txBody>
                    <a:bodyPr/>
                    <a:lstStyle/>
                    <a:p>
                      <a:pPr algn="l" fontAlgn="b"/>
                      <a:r>
                        <a:rPr lang="en-US" sz="1100" b="0" i="0" u="none" strike="noStrike">
                          <a:solidFill>
                            <a:srgbClr val="000000"/>
                          </a:solidFill>
                          <a:effectLst/>
                          <a:latin typeface="宋体" panose="02010600030101010101" pitchFamily="2" charset="-122"/>
                        </a:rPr>
                        <a:t>to X9</a:t>
                      </a:r>
                      <a:endParaRPr lang="en-US"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r>
              <a:tr h="183797">
                <a:tc>
                  <a:txBody>
                    <a:bodyPr/>
                    <a:lstStyle/>
                    <a:p>
                      <a:pPr algn="l" fontAlgn="b"/>
                      <a:r>
                        <a:rPr lang="en-US" sz="1100" b="0" i="0" u="none" strike="noStrike" dirty="0">
                          <a:solidFill>
                            <a:srgbClr val="000000"/>
                          </a:solidFill>
                          <a:effectLst/>
                          <a:latin typeface="宋体" panose="02010600030101010101" pitchFamily="2" charset="-122"/>
                        </a:rPr>
                        <a:t>X1</a:t>
                      </a:r>
                      <a:endParaRPr lang="en-US" sz="1100" b="0" i="0" u="none" strike="noStrike" dirty="0">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3</a:t>
                      </a:r>
                      <a:endParaRPr lang="en-US" altLang="zh-CN" sz="1100" b="0" i="0" u="none" strike="noStrike" dirty="0">
                        <a:solidFill>
                          <a:srgbClr val="000000"/>
                        </a:solidFill>
                        <a:effectLst/>
                        <a:latin typeface="宋体" panose="02010600030101010101" pitchFamily="2" charset="-122"/>
                      </a:endParaRPr>
                    </a:p>
                  </a:txBody>
                  <a:tcPr marL="9530" marR="9530" marT="9532" marB="0" anchor="b">
                    <a:lnL>
                      <a:noFill/>
                    </a:lnL>
                    <a:lnR>
                      <a:noFill/>
                    </a:lnR>
                    <a:lnT>
                      <a:noFill/>
                    </a:lnT>
                    <a:lnB>
                      <a:noFill/>
                    </a:lnB>
                    <a:solidFill>
                      <a:srgbClr val="FFFF00"/>
                    </a:solidFill>
                  </a:tcPr>
                </a:tc>
                <a:tc>
                  <a:txBody>
                    <a:bodyPr/>
                    <a:lstStyle/>
                    <a:p>
                      <a:pPr algn="r" fontAlgn="b"/>
                      <a:r>
                        <a:rPr lang="en-US" altLang="zh-CN" sz="1100" b="0" i="0" u="none" strike="noStrike" dirty="0">
                          <a:solidFill>
                            <a:srgbClr val="000000"/>
                          </a:solidFill>
                          <a:effectLst/>
                          <a:latin typeface="宋体" panose="02010600030101010101" pitchFamily="2" charset="-122"/>
                        </a:rPr>
                        <a:t>7</a:t>
                      </a:r>
                      <a:endParaRPr lang="en-US" altLang="zh-CN" sz="1100" b="0" i="0" u="none" strike="noStrike" dirty="0">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r>
              <a:tr h="183797">
                <a:tc>
                  <a:txBody>
                    <a:bodyPr/>
                    <a:lstStyle/>
                    <a:p>
                      <a:pPr algn="l" fontAlgn="b"/>
                      <a:r>
                        <a:rPr lang="en-US" sz="1100" b="0" i="0" u="none" strike="noStrike">
                          <a:solidFill>
                            <a:srgbClr val="000000"/>
                          </a:solidFill>
                          <a:effectLst/>
                          <a:latin typeface="宋体" panose="02010600030101010101" pitchFamily="2" charset="-122"/>
                        </a:rPr>
                        <a:t>X2</a:t>
                      </a:r>
                      <a:endParaRPr lang="en-US"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4</a:t>
                      </a:r>
                      <a:endParaRPr lang="en-US" altLang="zh-CN"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solidFill>
                      <a:srgbClr val="FFFF00"/>
                    </a:solidFill>
                  </a:tcPr>
                </a:tc>
                <a:tc>
                  <a:txBody>
                    <a:bodyPr/>
                    <a:lstStyle/>
                    <a:p>
                      <a:pPr algn="r" fontAlgn="b"/>
                      <a:r>
                        <a:rPr lang="en-US" altLang="zh-CN" sz="1100" b="0" i="0" u="none" strike="noStrike">
                          <a:solidFill>
                            <a:srgbClr val="000000"/>
                          </a:solidFill>
                          <a:effectLst/>
                          <a:latin typeface="宋体" panose="02010600030101010101" pitchFamily="2" charset="-122"/>
                        </a:rPr>
                        <a:t>6</a:t>
                      </a:r>
                      <a:endParaRPr lang="en-US" altLang="zh-CN"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r>
              <a:tr h="183797">
                <a:tc>
                  <a:txBody>
                    <a:bodyPr/>
                    <a:lstStyle/>
                    <a:p>
                      <a:pPr algn="l" fontAlgn="b"/>
                      <a:r>
                        <a:rPr lang="en-US" sz="1100" b="0" i="0" u="none" strike="noStrike">
                          <a:solidFill>
                            <a:srgbClr val="000000"/>
                          </a:solidFill>
                          <a:effectLst/>
                          <a:latin typeface="宋体" panose="02010600030101010101" pitchFamily="2" charset="-122"/>
                        </a:rPr>
                        <a:t>X4</a:t>
                      </a:r>
                      <a:endParaRPr lang="en-US"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solidFill>
                      <a:srgbClr val="FFFF00"/>
                    </a:solidFill>
                  </a:tcPr>
                </a:tc>
                <a:tc>
                  <a:txBody>
                    <a:bodyPr/>
                    <a:lstStyle/>
                    <a:p>
                      <a:pPr algn="r" fontAlgn="b"/>
                      <a:r>
                        <a:rPr lang="en-US" altLang="zh-CN" sz="1100" b="0" i="0" u="none" strike="noStrike" dirty="0">
                          <a:solidFill>
                            <a:srgbClr val="000000"/>
                          </a:solidFill>
                          <a:effectLst/>
                          <a:latin typeface="宋体" panose="02010600030101010101" pitchFamily="2" charset="-122"/>
                        </a:rPr>
                        <a:t>6</a:t>
                      </a:r>
                      <a:endParaRPr lang="en-US" altLang="zh-CN" sz="1100" b="0" i="0" u="none" strike="noStrike" dirty="0">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r>
              <a:tr h="183797">
                <a:tc>
                  <a:txBody>
                    <a:bodyPr/>
                    <a:lstStyle/>
                    <a:p>
                      <a:pPr algn="l" fontAlgn="b"/>
                      <a:r>
                        <a:rPr lang="en-US" sz="1100" b="0" i="0" u="none" strike="noStrike">
                          <a:solidFill>
                            <a:srgbClr val="000000"/>
                          </a:solidFill>
                          <a:effectLst/>
                          <a:latin typeface="宋体" panose="02010600030101010101" pitchFamily="2" charset="-122"/>
                        </a:rPr>
                        <a:t>X5</a:t>
                      </a:r>
                      <a:endParaRPr lang="en-US"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9</a:t>
                      </a:r>
                      <a:endParaRPr lang="en-US" altLang="zh-CN"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5</a:t>
                      </a:r>
                      <a:endParaRPr lang="en-US" altLang="zh-CN"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solidFill>
                      <a:srgbClr val="FFFF00"/>
                    </a:solidFill>
                  </a:tcPr>
                </a:tc>
              </a:tr>
              <a:tr h="183797">
                <a:tc>
                  <a:txBody>
                    <a:bodyPr/>
                    <a:lstStyle/>
                    <a:p>
                      <a:pPr algn="l" fontAlgn="b"/>
                      <a:r>
                        <a:rPr lang="en-US" sz="1100" b="0" i="0" u="none" strike="noStrike">
                          <a:solidFill>
                            <a:srgbClr val="000000"/>
                          </a:solidFill>
                          <a:effectLst/>
                          <a:latin typeface="宋体" panose="02010600030101010101" pitchFamily="2" charset="-122"/>
                        </a:rPr>
                        <a:t>X6</a:t>
                      </a:r>
                      <a:endParaRPr lang="en-US"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7</a:t>
                      </a:r>
                      <a:endParaRPr lang="en-US" altLang="zh-CN"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3</a:t>
                      </a:r>
                      <a:endParaRPr lang="en-US" altLang="zh-CN"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solidFill>
                      <a:srgbClr val="FFFF00"/>
                    </a:solidFill>
                  </a:tcPr>
                </a:tc>
              </a:tr>
              <a:tr h="183797">
                <a:tc>
                  <a:txBody>
                    <a:bodyPr/>
                    <a:lstStyle/>
                    <a:p>
                      <a:pPr algn="l" fontAlgn="b"/>
                      <a:r>
                        <a:rPr lang="en-US" sz="1100" b="0" i="0" u="none" strike="noStrike">
                          <a:solidFill>
                            <a:srgbClr val="000000"/>
                          </a:solidFill>
                          <a:effectLst/>
                          <a:latin typeface="宋体" panose="02010600030101010101" pitchFamily="2" charset="-122"/>
                        </a:rPr>
                        <a:t>X7</a:t>
                      </a:r>
                      <a:endParaRPr lang="en-US"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9</a:t>
                      </a:r>
                      <a:endParaRPr lang="en-US" altLang="zh-CN"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3</a:t>
                      </a:r>
                      <a:endParaRPr lang="en-US" altLang="zh-CN"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solidFill>
                      <a:srgbClr val="FFFF00"/>
                    </a:solidFill>
                  </a:tcPr>
                </a:tc>
              </a:tr>
              <a:tr h="183797">
                <a:tc>
                  <a:txBody>
                    <a:bodyPr/>
                    <a:lstStyle/>
                    <a:p>
                      <a:pPr algn="l" fontAlgn="b"/>
                      <a:r>
                        <a:rPr lang="en-US" sz="1100" b="0" i="0" u="none" strike="noStrike">
                          <a:solidFill>
                            <a:srgbClr val="000000"/>
                          </a:solidFill>
                          <a:effectLst/>
                          <a:latin typeface="宋体" panose="02010600030101010101" pitchFamily="2" charset="-122"/>
                        </a:rPr>
                        <a:t>X8</a:t>
                      </a:r>
                      <a:endParaRPr lang="en-US"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8</a:t>
                      </a:r>
                      <a:endParaRPr lang="en-US" altLang="zh-CN"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2</a:t>
                      </a:r>
                      <a:endParaRPr lang="en-US" altLang="zh-CN"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solidFill>
                      <a:srgbClr val="FFFF00"/>
                    </a:solidFill>
                  </a:tcPr>
                </a:tc>
              </a:tr>
              <a:tr h="183797">
                <a:tc>
                  <a:txBody>
                    <a:bodyPr/>
                    <a:lstStyle/>
                    <a:p>
                      <a:pPr algn="l" fontAlgn="b"/>
                      <a:r>
                        <a:rPr lang="en-US" sz="1100" b="0" i="0" u="none" strike="noStrike">
                          <a:solidFill>
                            <a:srgbClr val="000000"/>
                          </a:solidFill>
                          <a:effectLst/>
                          <a:latin typeface="宋体" panose="02010600030101010101" pitchFamily="2" charset="-122"/>
                        </a:rPr>
                        <a:t>X10</a:t>
                      </a:r>
                      <a:endParaRPr lang="en-US"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c>
                  <a:txBody>
                    <a:bodyPr/>
                    <a:lstStyle/>
                    <a:p>
                      <a:pPr algn="r" fontAlgn="b"/>
                      <a:r>
                        <a:rPr lang="en-US" altLang="zh-CN" sz="1100" b="0" i="0" u="none" strike="noStrike">
                          <a:solidFill>
                            <a:srgbClr val="000000"/>
                          </a:solidFill>
                          <a:effectLst/>
                          <a:latin typeface="宋体" panose="02010600030101010101" pitchFamily="2" charset="-122"/>
                        </a:rPr>
                        <a:t>6</a:t>
                      </a:r>
                      <a:endParaRPr lang="en-US" altLang="zh-CN" sz="1100" b="0" i="0" u="none" strike="noStrike">
                        <a:solidFill>
                          <a:srgbClr val="000000"/>
                        </a:solidFill>
                        <a:effectLst/>
                        <a:latin typeface="宋体" panose="02010600030101010101" pitchFamily="2" charset="-122"/>
                      </a:endParaRPr>
                    </a:p>
                  </a:txBody>
                  <a:tcPr marL="9530" marR="9530" marT="9532" marB="0" anchor="b">
                    <a:lnL>
                      <a:noFill/>
                    </a:lnL>
                    <a:lnR>
                      <a:noFill/>
                    </a:lnR>
                    <a:lnT>
                      <a:noFill/>
                    </a:lnT>
                    <a:lnB>
                      <a:noFill/>
                    </a:lnB>
                  </a:tcPr>
                </a:tc>
                <a:tc>
                  <a:txBody>
                    <a:bodyPr/>
                    <a:lstStyle/>
                    <a:p>
                      <a:pPr algn="r" fontAlgn="b"/>
                      <a:r>
                        <a:rPr lang="en-US" altLang="zh-CN" sz="1100" b="0" i="0" u="none" strike="noStrike" dirty="0">
                          <a:solidFill>
                            <a:srgbClr val="000000"/>
                          </a:solidFill>
                          <a:effectLst/>
                          <a:latin typeface="宋体" panose="02010600030101010101" pitchFamily="2" charset="-122"/>
                        </a:rPr>
                        <a:t>2</a:t>
                      </a:r>
                      <a:endParaRPr lang="en-US" altLang="zh-CN" sz="1100" b="0" i="0" u="none" strike="noStrike" dirty="0">
                        <a:solidFill>
                          <a:srgbClr val="000000"/>
                        </a:solidFill>
                        <a:effectLst/>
                        <a:latin typeface="宋体" panose="02010600030101010101" pitchFamily="2" charset="-122"/>
                      </a:endParaRPr>
                    </a:p>
                  </a:txBody>
                  <a:tcPr marL="9530" marR="9530" marT="9532" marB="0" anchor="b">
                    <a:lnL>
                      <a:noFill/>
                    </a:lnL>
                    <a:lnR>
                      <a:noFill/>
                    </a:lnR>
                    <a:lnT>
                      <a:noFill/>
                    </a:lnT>
                    <a:lnB>
                      <a:noFill/>
                    </a:lnB>
                    <a:solidFill>
                      <a:srgbClr val="FFFF00"/>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PAM: A Typical K-Medoids Algorithm</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4"/>
          <p:cNvSpPr>
            <a:spLocks noChangeArrowheads="1"/>
          </p:cNvSpPr>
          <p:nvPr/>
        </p:nvSpPr>
        <p:spPr bwMode="auto">
          <a:xfrm>
            <a:off x="510406" y="1569244"/>
            <a:ext cx="2698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b="0">
                <a:solidFill>
                  <a:srgbClr val="000000"/>
                </a:solidFill>
                <a:latin typeface="Tahoma" panose="020B0604030504040204" pitchFamily="34" charset="0"/>
                <a:ea typeface="MS PGothic" panose="020B0600070205080204" pitchFamily="34" charset="-128"/>
              </a:rPr>
              <a:t>X3 and X9 are new medoids</a:t>
            </a:r>
            <a:endParaRPr lang="en-US" altLang="zh-CN" sz="1800" b="0" i="1">
              <a:solidFill>
                <a:srgbClr val="000000"/>
              </a:solidFill>
              <a:latin typeface="Tahoma" panose="020B0604030504040204" pitchFamily="34" charset="0"/>
              <a:ea typeface="MS PGothic" panose="020B0600070205080204" pitchFamily="34" charset="-128"/>
            </a:endParaRPr>
          </a:p>
        </p:txBody>
      </p:sp>
      <p:sp>
        <p:nvSpPr>
          <p:cNvPr id="4" name="Rectangle 6"/>
          <p:cNvSpPr>
            <a:spLocks noChangeArrowheads="1"/>
          </p:cNvSpPr>
          <p:nvPr/>
        </p:nvSpPr>
        <p:spPr bwMode="auto">
          <a:xfrm>
            <a:off x="3307581" y="4431506"/>
            <a:ext cx="5260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1600" b="0">
                <a:solidFill>
                  <a:srgbClr val="000000"/>
                </a:solidFill>
                <a:latin typeface="Tahoma" panose="020B0604030504040204" pitchFamily="34" charset="0"/>
                <a:ea typeface="MS PGothic" panose="020B0600070205080204" pitchFamily="34" charset="-128"/>
              </a:rPr>
              <a:t>Current clustering: {X1,X2,X3,X4},{X5,X6,X7,X8,X9,X10}</a:t>
            </a:r>
            <a:endParaRPr lang="en-US" altLang="zh-CN" sz="1800" b="0" i="1">
              <a:solidFill>
                <a:srgbClr val="000000"/>
              </a:solidFill>
              <a:latin typeface="Tahoma" panose="020B0604030504040204" pitchFamily="34" charset="0"/>
              <a:ea typeface="MS PGothic" panose="020B0600070205080204" pitchFamily="34" charset="-128"/>
            </a:endParaRPr>
          </a:p>
        </p:txBody>
      </p:sp>
      <p:pic>
        <p:nvPicPr>
          <p:cNvPr id="5" name="图片 2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7544" y="2642394"/>
            <a:ext cx="2459037" cy="157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grpSp>
        <p:nvGrpSpPr>
          <p:cNvPr id="6" name="Group 16"/>
          <p:cNvGrpSpPr/>
          <p:nvPr/>
        </p:nvGrpSpPr>
        <p:grpSpPr bwMode="auto">
          <a:xfrm>
            <a:off x="3591744" y="1170781"/>
            <a:ext cx="5094287" cy="2781300"/>
            <a:chOff x="2240" y="1098"/>
            <a:chExt cx="3209" cy="1752"/>
          </a:xfrm>
        </p:grpSpPr>
        <p:pic>
          <p:nvPicPr>
            <p:cNvPr id="7" name="图片 2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40" y="1098"/>
              <a:ext cx="3209" cy="17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sp>
          <p:nvSpPr>
            <p:cNvPr id="8" name="Freeform 12"/>
            <p:cNvSpPr/>
            <p:nvPr/>
          </p:nvSpPr>
          <p:spPr bwMode="auto">
            <a:xfrm>
              <a:off x="2628" y="1282"/>
              <a:ext cx="984" cy="943"/>
            </a:xfrm>
            <a:custGeom>
              <a:avLst/>
              <a:gdLst>
                <a:gd name="T0" fmla="*/ 301 w 984"/>
                <a:gd name="T1" fmla="*/ 97 h 943"/>
                <a:gd name="T2" fmla="*/ 601 w 984"/>
                <a:gd name="T3" fmla="*/ 25 h 943"/>
                <a:gd name="T4" fmla="*/ 979 w 984"/>
                <a:gd name="T5" fmla="*/ 247 h 943"/>
                <a:gd name="T6" fmla="*/ 629 w 984"/>
                <a:gd name="T7" fmla="*/ 904 h 943"/>
                <a:gd name="T8" fmla="*/ 58 w 984"/>
                <a:gd name="T9" fmla="*/ 482 h 943"/>
                <a:gd name="T10" fmla="*/ 301 w 984"/>
                <a:gd name="T11" fmla="*/ 97 h 943"/>
                <a:gd name="T12" fmla="*/ 0 60000 65536"/>
                <a:gd name="T13" fmla="*/ 0 60000 65536"/>
                <a:gd name="T14" fmla="*/ 0 60000 65536"/>
                <a:gd name="T15" fmla="*/ 0 60000 65536"/>
                <a:gd name="T16" fmla="*/ 0 60000 65536"/>
                <a:gd name="T17" fmla="*/ 0 60000 65536"/>
                <a:gd name="T18" fmla="*/ 0 w 984"/>
                <a:gd name="T19" fmla="*/ 0 h 943"/>
                <a:gd name="T20" fmla="*/ 984 w 984"/>
                <a:gd name="T21" fmla="*/ 943 h 943"/>
              </a:gdLst>
              <a:ahLst/>
              <a:cxnLst>
                <a:cxn ang="T12">
                  <a:pos x="T0" y="T1"/>
                </a:cxn>
                <a:cxn ang="T13">
                  <a:pos x="T2" y="T3"/>
                </a:cxn>
                <a:cxn ang="T14">
                  <a:pos x="T4" y="T5"/>
                </a:cxn>
                <a:cxn ang="T15">
                  <a:pos x="T6" y="T7"/>
                </a:cxn>
                <a:cxn ang="T16">
                  <a:pos x="T8" y="T9"/>
                </a:cxn>
                <a:cxn ang="T17">
                  <a:pos x="T10" y="T11"/>
                </a:cxn>
              </a:cxnLst>
              <a:rect l="T18" t="T19" r="T20" b="T21"/>
              <a:pathLst>
                <a:path w="984" h="943">
                  <a:moveTo>
                    <a:pt x="301" y="97"/>
                  </a:moveTo>
                  <a:cubicBezTo>
                    <a:pt x="392" y="21"/>
                    <a:pt x="488" y="0"/>
                    <a:pt x="601" y="25"/>
                  </a:cubicBezTo>
                  <a:cubicBezTo>
                    <a:pt x="714" y="50"/>
                    <a:pt x="974" y="101"/>
                    <a:pt x="979" y="247"/>
                  </a:cubicBezTo>
                  <a:cubicBezTo>
                    <a:pt x="984" y="393"/>
                    <a:pt x="782" y="865"/>
                    <a:pt x="629" y="904"/>
                  </a:cubicBezTo>
                  <a:cubicBezTo>
                    <a:pt x="476" y="943"/>
                    <a:pt x="116" y="615"/>
                    <a:pt x="58" y="482"/>
                  </a:cubicBezTo>
                  <a:cubicBezTo>
                    <a:pt x="0" y="349"/>
                    <a:pt x="210" y="173"/>
                    <a:pt x="301" y="97"/>
                  </a:cubicBezTo>
                  <a:close/>
                </a:path>
              </a:pathLst>
            </a:cu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 name="Freeform 13"/>
            <p:cNvSpPr/>
            <p:nvPr/>
          </p:nvSpPr>
          <p:spPr bwMode="auto">
            <a:xfrm>
              <a:off x="3750" y="1560"/>
              <a:ext cx="895" cy="990"/>
            </a:xfrm>
            <a:custGeom>
              <a:avLst/>
              <a:gdLst>
                <a:gd name="T0" fmla="*/ 72 w 895"/>
                <a:gd name="T1" fmla="*/ 804 h 990"/>
                <a:gd name="T2" fmla="*/ 64 w 895"/>
                <a:gd name="T3" fmla="*/ 262 h 990"/>
                <a:gd name="T4" fmla="*/ 457 w 895"/>
                <a:gd name="T5" fmla="*/ 4 h 990"/>
                <a:gd name="T6" fmla="*/ 864 w 895"/>
                <a:gd name="T7" fmla="*/ 283 h 990"/>
                <a:gd name="T8" fmla="*/ 272 w 895"/>
                <a:gd name="T9" fmla="*/ 904 h 990"/>
                <a:gd name="T10" fmla="*/ 72 w 895"/>
                <a:gd name="T11" fmla="*/ 804 h 990"/>
                <a:gd name="T12" fmla="*/ 0 60000 65536"/>
                <a:gd name="T13" fmla="*/ 0 60000 65536"/>
                <a:gd name="T14" fmla="*/ 0 60000 65536"/>
                <a:gd name="T15" fmla="*/ 0 60000 65536"/>
                <a:gd name="T16" fmla="*/ 0 60000 65536"/>
                <a:gd name="T17" fmla="*/ 0 60000 65536"/>
                <a:gd name="T18" fmla="*/ 0 w 895"/>
                <a:gd name="T19" fmla="*/ 0 h 990"/>
                <a:gd name="T20" fmla="*/ 895 w 895"/>
                <a:gd name="T21" fmla="*/ 990 h 990"/>
              </a:gdLst>
              <a:ahLst/>
              <a:cxnLst>
                <a:cxn ang="T12">
                  <a:pos x="T0" y="T1"/>
                </a:cxn>
                <a:cxn ang="T13">
                  <a:pos x="T2" y="T3"/>
                </a:cxn>
                <a:cxn ang="T14">
                  <a:pos x="T4" y="T5"/>
                </a:cxn>
                <a:cxn ang="T15">
                  <a:pos x="T6" y="T7"/>
                </a:cxn>
                <a:cxn ang="T16">
                  <a:pos x="T8" y="T9"/>
                </a:cxn>
                <a:cxn ang="T17">
                  <a:pos x="T10" y="T11"/>
                </a:cxn>
              </a:cxnLst>
              <a:rect l="T18" t="T19" r="T20" b="T21"/>
              <a:pathLst>
                <a:path w="895" h="990">
                  <a:moveTo>
                    <a:pt x="72" y="804"/>
                  </a:moveTo>
                  <a:cubicBezTo>
                    <a:pt x="37" y="697"/>
                    <a:pt x="0" y="395"/>
                    <a:pt x="64" y="262"/>
                  </a:cubicBezTo>
                  <a:cubicBezTo>
                    <a:pt x="128" y="129"/>
                    <a:pt x="324" y="0"/>
                    <a:pt x="457" y="4"/>
                  </a:cubicBezTo>
                  <a:cubicBezTo>
                    <a:pt x="590" y="8"/>
                    <a:pt x="895" y="133"/>
                    <a:pt x="864" y="283"/>
                  </a:cubicBezTo>
                  <a:cubicBezTo>
                    <a:pt x="833" y="433"/>
                    <a:pt x="402" y="818"/>
                    <a:pt x="272" y="904"/>
                  </a:cubicBezTo>
                  <a:cubicBezTo>
                    <a:pt x="142" y="990"/>
                    <a:pt x="107" y="911"/>
                    <a:pt x="72" y="804"/>
                  </a:cubicBezTo>
                  <a:close/>
                </a:path>
              </a:pathLst>
            </a:custGeom>
            <a:noFill/>
            <a:ln w="12700">
              <a:solidFill>
                <a:srgbClr val="80008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10" name="Rectangle 14"/>
          <p:cNvSpPr>
            <a:spLocks noChangeArrowheads="1"/>
          </p:cNvSpPr>
          <p:nvPr/>
        </p:nvSpPr>
        <p:spPr bwMode="auto">
          <a:xfrm>
            <a:off x="1161281" y="5152231"/>
            <a:ext cx="7297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304925" indent="-395605">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94180" indent="-38735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94230" indent="-39878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514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30086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658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923030" indent="-39878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eaLnBrk="1" hangingPunct="1">
              <a:spcBef>
                <a:spcPct val="0"/>
              </a:spcBef>
              <a:buClrTx/>
              <a:buFontTx/>
              <a:buNone/>
            </a:pPr>
            <a:r>
              <a:rPr lang="en-US" altLang="zh-CN" sz="2400" b="0" dirty="0">
                <a:solidFill>
                  <a:srgbClr val="0070C0"/>
                </a:solidFill>
                <a:latin typeface="Tahoma" panose="020B0604030504040204" pitchFamily="34" charset="0"/>
                <a:ea typeface="MS PGothic" panose="020B0600070205080204" pitchFamily="34" charset="-128"/>
              </a:rPr>
              <a:t>No change in medoids yields better quality </a:t>
            </a:r>
            <a:r>
              <a:rPr lang="en-US" altLang="zh-CN" sz="2400" b="0" dirty="0">
                <a:solidFill>
                  <a:srgbClr val="0070C0"/>
                </a:solidFill>
                <a:latin typeface="Tahoma" panose="020B0604030504040204" pitchFamily="34" charset="0"/>
                <a:ea typeface="MS PGothic" panose="020B0600070205080204" pitchFamily="34" charset="-128"/>
                <a:sym typeface="Symbol" panose="05050102010706020507" pitchFamily="18" charset="2"/>
              </a:rPr>
              <a:t> DONE!</a:t>
            </a:r>
            <a:endParaRPr lang="en-US" altLang="zh-CN" sz="2000" b="0" i="1" dirty="0">
              <a:solidFill>
                <a:srgbClr val="0070C0"/>
              </a:solidFill>
              <a:latin typeface="Tahoma" panose="020B0604030504040204" pitchFamily="34" charset="0"/>
              <a:ea typeface="MS PGothic" panose="020B0600070205080204" pitchFamily="34" charset="-128"/>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6.3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划分方法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PAM: A Typical K-Medoids Algorithm</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内容占位符 2"/>
          <p:cNvSpPr txBox="1"/>
          <p:nvPr/>
        </p:nvSpPr>
        <p:spPr>
          <a:xfrm>
            <a:off x="457200" y="1166019"/>
            <a:ext cx="8229600" cy="4525962"/>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30000"/>
              </a:lnSpc>
              <a:spcBef>
                <a:spcPts val="600"/>
              </a:spcBef>
              <a:buSzPct val="100000"/>
              <a:buFont typeface="Wingdings" panose="05000000000000000000" pitchFamily="2" charset="2"/>
              <a:buChar char="n"/>
              <a:defRPr/>
            </a:pPr>
            <a:r>
              <a:rPr lang="zh-CN" altLang="en-US" sz="2800" b="0" kern="12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当存在噪声和离群点时，</a:t>
            </a:r>
            <a:r>
              <a:rPr lang="en-US" altLang="ko-KR" sz="2800" b="0" kern="0" dirty="0">
                <a:latin typeface="Calibri" panose="020F0502020204030204" pitchFamily="34" charset="0"/>
                <a:ea typeface="Gulim" panose="020B0600000101010101" pitchFamily="34" charset="-127"/>
                <a:cs typeface="Calibri" panose="020F0502020204030204" pitchFamily="34" charset="0"/>
              </a:rPr>
              <a:t> </a:t>
            </a:r>
            <a:r>
              <a:rPr lang="en-US" altLang="zh-CN" sz="2800" b="0" kern="0" dirty="0">
                <a:solidFill>
                  <a:srgbClr val="FF0000"/>
                </a:solidFill>
                <a:latin typeface="Calibri" panose="020F0502020204030204" pitchFamily="34" charset="0"/>
                <a:ea typeface="Gulim" panose="020B0600000101010101" pitchFamily="34" charset="-127"/>
                <a:cs typeface="Calibri" panose="020F0502020204030204" pitchFamily="34" charset="0"/>
              </a:rPr>
              <a:t>k</a:t>
            </a:r>
            <a:r>
              <a:rPr lang="en-US" altLang="ko-KR" sz="2800" b="0" kern="0" dirty="0">
                <a:solidFill>
                  <a:srgbClr val="FF0000"/>
                </a:solidFill>
                <a:latin typeface="Calibri" panose="020F0502020204030204" pitchFamily="34" charset="0"/>
                <a:ea typeface="Gulim" panose="020B0600000101010101" pitchFamily="34" charset="-127"/>
                <a:cs typeface="Calibri" panose="020F0502020204030204" pitchFamily="34" charset="0"/>
              </a:rPr>
              <a:t>-</a:t>
            </a:r>
            <a:r>
              <a:rPr lang="en-US" altLang="zh-CN" sz="2800" b="0" kern="0" dirty="0">
                <a:solidFill>
                  <a:srgbClr val="FF0000"/>
                </a:solidFill>
                <a:latin typeface="Calibri" panose="020F0502020204030204" pitchFamily="34" charset="0"/>
                <a:ea typeface="Gulim" panose="020B0600000101010101" pitchFamily="34" charset="-127"/>
                <a:cs typeface="Calibri" panose="020F0502020204030204" pitchFamily="34" charset="0"/>
              </a:rPr>
              <a:t>m</a:t>
            </a:r>
            <a:r>
              <a:rPr lang="en-US" altLang="ko-KR" sz="2800" b="0" kern="0" dirty="0">
                <a:solidFill>
                  <a:srgbClr val="FF0000"/>
                </a:solidFill>
                <a:latin typeface="Calibri" panose="020F0502020204030204" pitchFamily="34" charset="0"/>
                <a:ea typeface="Gulim" panose="020B0600000101010101" pitchFamily="34" charset="-127"/>
                <a:cs typeface="Calibri" panose="020F0502020204030204" pitchFamily="34" charset="0"/>
              </a:rPr>
              <a:t>edoids</a:t>
            </a:r>
            <a:r>
              <a:rPr lang="zh-CN" altLang="en-US"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比</a:t>
            </a:r>
            <a:r>
              <a:rPr lang="en-US" altLang="zh-CN" sz="2800" b="0" kern="0" dirty="0">
                <a:solidFill>
                  <a:srgbClr val="FF0000"/>
                </a:solidFill>
                <a:latin typeface="Calibri" panose="020F0502020204030204" pitchFamily="34" charset="0"/>
                <a:ea typeface="Gulim" panose="020B0600000101010101" pitchFamily="34" charset="-127"/>
                <a:cs typeface="Calibri" panose="020F0502020204030204" pitchFamily="34" charset="0"/>
              </a:rPr>
              <a:t>k-means</a:t>
            </a:r>
            <a:r>
              <a:rPr lang="zh-CN" altLang="en-US"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更加鲁棒</a:t>
            </a:r>
            <a:endParaRPr lang="en-US" altLang="zh-CN"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600"/>
              </a:spcBef>
              <a:buFont typeface="Wingdings" panose="05000000000000000000" pitchFamily="2" charset="2"/>
              <a:buChar char="ü"/>
              <a:defRPr/>
            </a:pPr>
            <a:r>
              <a:rPr lang="zh-CN" altLang="en-US" sz="2400" b="0" kern="0" dirty="0"/>
              <a:t>中心点较少的受离群点影响</a:t>
            </a:r>
            <a:endParaRPr lang="en-US" altLang="zh-CN" sz="2400" b="0" kern="0" dirty="0"/>
          </a:p>
          <a:p>
            <a:pPr eaLnBrk="1" hangingPunct="1">
              <a:lnSpc>
                <a:spcPct val="130000"/>
              </a:lnSpc>
              <a:spcBef>
                <a:spcPts val="600"/>
              </a:spcBef>
              <a:buSzPct val="100000"/>
              <a:buFont typeface="Wingdings" panose="05000000000000000000" pitchFamily="2" charset="2"/>
              <a:buChar char="n"/>
              <a:defRPr/>
            </a:pPr>
            <a:r>
              <a:rPr lang="en-US" altLang="zh-CN" sz="2800" b="0" kern="0" dirty="0">
                <a:solidFill>
                  <a:srgbClr val="FF0000"/>
                </a:solidFill>
                <a:latin typeface="Calibri" panose="020F0502020204030204" pitchFamily="34" charset="0"/>
                <a:ea typeface="Gulim" panose="020B0600000101010101" pitchFamily="34" charset="-127"/>
                <a:cs typeface="Calibri" panose="020F0502020204030204" pitchFamily="34" charset="0"/>
              </a:rPr>
              <a:t>k</a:t>
            </a:r>
            <a:r>
              <a:rPr lang="en-US" altLang="ko-KR" sz="2800" b="0" kern="0" dirty="0">
                <a:solidFill>
                  <a:srgbClr val="FF0000"/>
                </a:solidFill>
                <a:latin typeface="Calibri" panose="020F0502020204030204" pitchFamily="34" charset="0"/>
                <a:ea typeface="Gulim" panose="020B0600000101010101" pitchFamily="34" charset="-127"/>
                <a:cs typeface="Calibri" panose="020F0502020204030204" pitchFamily="34" charset="0"/>
              </a:rPr>
              <a:t>-</a:t>
            </a:r>
            <a:r>
              <a:rPr lang="en-US" altLang="zh-CN" sz="2800" b="0" kern="0" dirty="0">
                <a:solidFill>
                  <a:srgbClr val="FF0000"/>
                </a:solidFill>
                <a:latin typeface="Calibri" panose="020F0502020204030204" pitchFamily="34" charset="0"/>
                <a:ea typeface="Gulim" panose="020B0600000101010101" pitchFamily="34" charset="-127"/>
                <a:cs typeface="Calibri" panose="020F0502020204030204" pitchFamily="34" charset="0"/>
              </a:rPr>
              <a:t>m</a:t>
            </a:r>
            <a:r>
              <a:rPr lang="en-US" altLang="ko-KR" sz="2800" b="0" kern="0" dirty="0">
                <a:solidFill>
                  <a:srgbClr val="FF0000"/>
                </a:solidFill>
                <a:latin typeface="Calibri" panose="020F0502020204030204" pitchFamily="34" charset="0"/>
                <a:ea typeface="Gulim" panose="020B0600000101010101" pitchFamily="34" charset="-127"/>
                <a:cs typeface="Calibri" panose="020F0502020204030204" pitchFamily="34" charset="0"/>
              </a:rPr>
              <a:t>edoids</a:t>
            </a:r>
            <a:r>
              <a:rPr lang="zh-CN" altLang="en-US"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方法的执行代价比</a:t>
            </a:r>
            <a:r>
              <a:rPr lang="en-US" altLang="zh-CN" sz="2800" b="0" kern="0" dirty="0">
                <a:solidFill>
                  <a:srgbClr val="FF0000"/>
                </a:solidFill>
                <a:latin typeface="Calibri" panose="020F0502020204030204" pitchFamily="34" charset="0"/>
                <a:ea typeface="Gulim" panose="020B0600000101010101" pitchFamily="34" charset="-127"/>
                <a:cs typeface="Calibri" panose="020F0502020204030204" pitchFamily="34" charset="0"/>
              </a:rPr>
              <a:t>k-means</a:t>
            </a:r>
            <a:r>
              <a:rPr lang="zh-CN" altLang="en-US"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方法要高</a:t>
            </a:r>
            <a:endParaRPr lang="en-US" altLang="zh-CN"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600"/>
              </a:spcBef>
              <a:buFont typeface="Wingdings" panose="05000000000000000000" pitchFamily="2" charset="2"/>
              <a:buChar char="ü"/>
              <a:defRPr/>
            </a:pPr>
            <a:r>
              <a:rPr lang="en-US" altLang="zh-CN" sz="2400" b="0" kern="0" dirty="0">
                <a:solidFill>
                  <a:srgbClr val="0070C0"/>
                </a:solidFill>
                <a:latin typeface="Calibri" panose="020F0502020204030204" pitchFamily="34" charset="0"/>
                <a:cs typeface="Calibri" panose="020F0502020204030204" pitchFamily="34" charset="0"/>
              </a:rPr>
              <a:t>k-means</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方法：</a:t>
            </a:r>
            <a:r>
              <a:rPr lang="en-US" altLang="zh-CN"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 </a:t>
            </a:r>
            <a:r>
              <a:rPr lang="en-US" altLang="zh-CN" sz="2400" b="0" i="1" kern="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O(</a:t>
            </a:r>
            <a:r>
              <a:rPr lang="en-US" altLang="zh-CN" sz="2400" b="0" i="1" kern="0" dirty="0" err="1">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nkt</a:t>
            </a:r>
            <a:r>
              <a:rPr lang="en-US" altLang="zh-CN" sz="2400" b="0" i="1" kern="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t>
            </a:r>
            <a:endParaRPr lang="en-US" altLang="zh-CN" sz="2400" b="0" i="1" kern="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p>
            <a:pPr lvl="1" eaLnBrk="1" hangingPunct="1">
              <a:lnSpc>
                <a:spcPct val="120000"/>
              </a:lnSpc>
              <a:spcBef>
                <a:spcPts val="600"/>
              </a:spcBef>
              <a:buFont typeface="Wingdings" panose="05000000000000000000" pitchFamily="2" charset="2"/>
              <a:buChar char="ü"/>
              <a:defRPr/>
            </a:pPr>
            <a:r>
              <a:rPr lang="en-US" altLang="zh-CN" sz="2400" b="0" kern="0" dirty="0">
                <a:solidFill>
                  <a:srgbClr val="0070C0"/>
                </a:solidFill>
                <a:latin typeface="Calibri" panose="020F0502020204030204" pitchFamily="34" charset="0"/>
                <a:cs typeface="Calibri" panose="020F0502020204030204" pitchFamily="34" charset="0"/>
              </a:rPr>
              <a:t>k-medoids</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方法：</a:t>
            </a:r>
            <a:r>
              <a:rPr lang="en-US" altLang="zh-CN" sz="2400" b="0" i="1" kern="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O(k(n-k)</a:t>
            </a:r>
            <a:r>
              <a:rPr lang="en-US" altLang="zh-CN" sz="2400" b="0" i="1" kern="0" baseline="3000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2</a:t>
            </a:r>
            <a:r>
              <a:rPr lang="en-US" altLang="zh-CN" sz="2400" b="0" i="1" kern="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t>
            </a:r>
            <a:endParaRPr lang="en-US" altLang="zh-CN" sz="2400" b="0" i="1" kern="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a:p>
            <a:pPr eaLnBrk="1" hangingPunct="1">
              <a:lnSpc>
                <a:spcPct val="130000"/>
              </a:lnSpc>
              <a:spcBef>
                <a:spcPts val="600"/>
              </a:spcBef>
              <a:buSzPct val="100000"/>
              <a:buFont typeface="Wingdings" panose="05000000000000000000" pitchFamily="2" charset="2"/>
              <a:buChar char="n"/>
              <a:defRPr/>
            </a:pPr>
            <a:r>
              <a:rPr lang="zh-CN" altLang="en-US"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两种方法都要用户指定簇的数目</a:t>
            </a:r>
            <a:r>
              <a:rPr lang="en-US" altLang="zh-CN" sz="2800" b="0" i="1" kern="1200" dirty="0">
                <a:solidFill>
                  <a:srgbClr val="0000FF"/>
                </a:solidFill>
                <a:latin typeface="Calibri" panose="020F0502020204030204" pitchFamily="34" charset="0"/>
                <a:cs typeface="Calibri" panose="020F0502020204030204" pitchFamily="34" charset="0"/>
              </a:rPr>
              <a:t>k</a:t>
            </a:r>
            <a:endParaRPr lang="zh-CN" altLang="en-US" sz="2800" b="0" i="1" kern="1200" dirty="0">
              <a:solidFill>
                <a:srgbClr val="0000FF"/>
              </a:solidFill>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646331"/>
          </a:xfrm>
          <a:prstGeom prst="rect">
            <a:avLst/>
          </a:prstGeom>
        </p:spPr>
        <p:txBody>
          <a:bodyPr wrap="square">
            <a:spAutoFit/>
          </a:bodyPr>
          <a:lstStyle/>
          <a:p>
            <a:pPr algn="ct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本章内容</a:t>
            </a:r>
            <a:endPar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6" name="内容占位符 2"/>
          <p:cNvSpPr txBox="1">
            <a:spLocks noChangeArrowheads="1"/>
          </p:cNvSpPr>
          <p:nvPr/>
        </p:nvSpPr>
        <p:spPr>
          <a:xfrm>
            <a:off x="611560" y="1094492"/>
            <a:ext cx="8137525" cy="29825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6.1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什么是聚类分析</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6.2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聚类分析中的数据类型</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6.3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划分方法</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FF0000"/>
                </a:solidFill>
                <a:latin typeface="Times New Roman" panose="02020603050405020304" pitchFamily="18" charset="0"/>
                <a:cs typeface="Times New Roman" panose="02020603050405020304" pitchFamily="18" charset="0"/>
              </a:rPr>
              <a:t>6.4  </a:t>
            </a:r>
            <a:r>
              <a:rPr lang="zh-CN" altLang="zh-CN" sz="2800" b="0" kern="0" dirty="0">
                <a:solidFill>
                  <a:srgbClr val="FF0000"/>
                </a:solidFill>
                <a:latin typeface="方正兰亭中黑_GBK" panose="02000000000000000000" pitchFamily="2" charset="-122"/>
                <a:ea typeface="方正兰亭中黑_GBK" panose="02000000000000000000" pitchFamily="2" charset="-122"/>
                <a:cs typeface="Times New Roman" panose="02020603050405020304" pitchFamily="18" charset="0"/>
              </a:rPr>
              <a:t>层次方法</a:t>
            </a:r>
            <a:endParaRPr lang="zh-CN" altLang="zh-CN" sz="2800" b="0" kern="0" dirty="0">
              <a:solidFill>
                <a:srgbClr val="FF000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6.5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基于密度的方法</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a:t>
            </a:r>
            <a:r>
              <a:rPr lang="en-US" altLang="zh-CN" sz="3600" b="0" kern="0" dirty="0">
                <a:solidFill>
                  <a:srgbClr val="1557AE"/>
                </a:solidFill>
                <a:latin typeface="Calibri" panose="020F0502020204030204" pitchFamily="34" charset="0"/>
                <a:ea typeface="方正兰亭中黑_GBK" panose="02000000000000000000" pitchFamily="2" charset="-122"/>
                <a:cs typeface="Calibri" panose="020F0502020204030204" pitchFamily="34" charset="0"/>
              </a:rPr>
              <a:t>Hierarchical Methods</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内容占位符 2"/>
          <p:cNvSpPr txBox="1"/>
          <p:nvPr/>
        </p:nvSpPr>
        <p:spPr>
          <a:xfrm>
            <a:off x="179512" y="980728"/>
            <a:ext cx="8353425" cy="4267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20000"/>
              </a:lnSpc>
              <a:spcBef>
                <a:spcPts val="600"/>
              </a:spcBef>
              <a:buSzPct val="100000"/>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层次聚类方法</a:t>
            </a:r>
            <a:r>
              <a:rPr lang="zh-CN" altLang="en-US" sz="2800" b="0" kern="12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将数据对象组成一棵聚类的树</a:t>
            </a:r>
            <a:endParaRPr lang="zh-CN" altLang="en-US" sz="2800" b="0" kern="12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eaLnBrk="1" hangingPunct="1">
              <a:lnSpc>
                <a:spcPct val="120000"/>
              </a:lnSpc>
              <a:spcBef>
                <a:spcPts val="600"/>
              </a:spcBef>
              <a:buSzPct val="100000"/>
              <a:buFont typeface="Wingdings" panose="05000000000000000000" pitchFamily="2" charset="2"/>
              <a:buChar char="n"/>
              <a:defRPr/>
            </a:pPr>
            <a:r>
              <a:rPr lang="zh-CN" altLang="en-US"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根据层次分解是</a:t>
            </a:r>
            <a:r>
              <a:rPr lang="zh-CN" altLang="en-US" sz="2800" b="0" kern="12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自底向上</a:t>
            </a:r>
            <a:r>
              <a:rPr lang="en-US" altLang="zh-CN"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 </a:t>
            </a:r>
            <a:r>
              <a:rPr lang="zh-CN" altLang="en-US"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还是</a:t>
            </a: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自顶向下</a:t>
            </a:r>
            <a:r>
              <a:rPr lang="zh-CN" altLang="en-US"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形成</a:t>
            </a:r>
            <a:r>
              <a:rPr lang="en-US" altLang="zh-CN"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 </a:t>
            </a:r>
            <a:r>
              <a:rPr lang="zh-CN" altLang="en-US"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层次聚类方法可分为</a:t>
            </a: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凝聚的</a:t>
            </a:r>
            <a:r>
              <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a:t>
            </a:r>
            <a:r>
              <a:rPr lang="en-US" altLang="zh-CN" sz="2800" b="0" dirty="0">
                <a:solidFill>
                  <a:srgbClr val="FF0000"/>
                </a:solidFill>
                <a:latin typeface="Calibri" panose="020F0502020204030204" pitchFamily="34" charset="0"/>
                <a:ea typeface="方正兰亭中黑_GBK" panose="02000000000000000000" pitchFamily="2" charset="-122"/>
                <a:cs typeface="Calibri" panose="020F0502020204030204" pitchFamily="34" charset="0"/>
              </a:rPr>
              <a:t>agglomerative</a:t>
            </a:r>
            <a:r>
              <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a:t>
            </a:r>
            <a:r>
              <a:rPr lang="zh-CN" altLang="en-US"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和</a:t>
            </a: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分裂的</a:t>
            </a:r>
            <a:r>
              <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a:t>
            </a:r>
            <a:r>
              <a:rPr lang="en-US" altLang="zh-CN" sz="2800" b="0" dirty="0">
                <a:solidFill>
                  <a:srgbClr val="FF0000"/>
                </a:solidFill>
                <a:latin typeface="Calibri" panose="020F0502020204030204" pitchFamily="34" charset="0"/>
                <a:ea typeface="方正兰亭中黑_GBK" panose="02000000000000000000" pitchFamily="2" charset="-122"/>
                <a:cs typeface="Calibri" panose="020F0502020204030204" pitchFamily="34" charset="0"/>
              </a:rPr>
              <a:t>divisive</a:t>
            </a:r>
            <a:r>
              <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a:t>
            </a:r>
            <a:endPar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eaLnBrk="1" hangingPunct="1">
              <a:lnSpc>
                <a:spcPct val="120000"/>
              </a:lnSpc>
              <a:spcBef>
                <a:spcPts val="600"/>
              </a:spcBef>
              <a:buSzPct val="100000"/>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聚类质量受限于如下特点</a:t>
            </a:r>
            <a:r>
              <a:rPr lang="zh-CN" altLang="en-US" sz="2800" b="0" kern="1200" dirty="0">
                <a:solidFill>
                  <a:srgbClr val="C0000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t>
            </a:r>
            <a:r>
              <a:rPr lang="zh-CN" altLang="en-US"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一旦一个合并或分裂被执行，就不能修正 </a:t>
            </a:r>
            <a:endParaRPr lang="zh-CN" altLang="en-US"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eaLnBrk="1" hangingPunct="1">
              <a:lnSpc>
                <a:spcPct val="120000"/>
              </a:lnSpc>
              <a:spcBef>
                <a:spcPts val="600"/>
              </a:spcBef>
              <a:buSzPct val="100000"/>
              <a:buFont typeface="Wingdings" panose="05000000000000000000" pitchFamily="2" charset="2"/>
              <a:buChar char="n"/>
              <a:defRPr/>
            </a:pPr>
            <a:r>
              <a:rPr lang="zh-CN" altLang="en-US"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使用距离矩阵作为聚类标准</a:t>
            </a:r>
            <a:r>
              <a:rPr lang="en-US" altLang="zh-CN"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  </a:t>
            </a:r>
            <a:r>
              <a:rPr lang="zh-CN" altLang="en-US"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该方法不需要输入聚类数目</a:t>
            </a:r>
            <a:r>
              <a:rPr lang="zh-CN" altLang="en-US" sz="2800" b="0" kern="1200" dirty="0">
                <a:latin typeface="Calibri" panose="020F0502020204030204" pitchFamily="34" charset="0"/>
                <a:cs typeface="Calibri" panose="020F0502020204030204" pitchFamily="34" charset="0"/>
              </a:rPr>
              <a:t> </a:t>
            </a:r>
            <a:r>
              <a:rPr lang="en-US" altLang="zh-CN" sz="2800" b="0" i="1" kern="1200" dirty="0">
                <a:solidFill>
                  <a:srgbClr val="0000FF"/>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k</a:t>
            </a:r>
            <a:r>
              <a:rPr lang="en-US" altLang="zh-CN"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 </a:t>
            </a:r>
            <a:r>
              <a:rPr lang="zh-CN" altLang="en-US"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但需要终止条件</a:t>
            </a:r>
            <a:endParaRPr lang="zh-CN" altLang="en-US" sz="2800" b="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内容占位符 2"/>
          <p:cNvSpPr txBox="1"/>
          <p:nvPr/>
        </p:nvSpPr>
        <p:spPr>
          <a:xfrm>
            <a:off x="611560" y="1052736"/>
            <a:ext cx="8353425" cy="4267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20000"/>
              </a:lnSpc>
              <a:spcBef>
                <a:spcPts val="600"/>
              </a:spcBef>
              <a:buSzPct val="100000"/>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凝聚的和分裂的层次聚类</a:t>
            </a:r>
            <a:endPar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grpSp>
        <p:nvGrpSpPr>
          <p:cNvPr id="4" name="Group 4"/>
          <p:cNvGrpSpPr/>
          <p:nvPr/>
        </p:nvGrpSpPr>
        <p:grpSpPr bwMode="auto">
          <a:xfrm>
            <a:off x="1116385" y="1702023"/>
            <a:ext cx="7272338" cy="3946525"/>
            <a:chOff x="1200" y="1776"/>
            <a:chExt cx="4382" cy="2294"/>
          </a:xfrm>
        </p:grpSpPr>
        <p:sp>
          <p:nvSpPr>
            <p:cNvPr id="5" name="Line 5"/>
            <p:cNvSpPr>
              <a:spLocks noChangeShapeType="1"/>
            </p:cNvSpPr>
            <p:nvPr/>
          </p:nvSpPr>
          <p:spPr bwMode="auto">
            <a:xfrm>
              <a:off x="1200" y="2112"/>
              <a:ext cx="3216" cy="0"/>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 name="Group 6"/>
            <p:cNvGrpSpPr/>
            <p:nvPr/>
          </p:nvGrpSpPr>
          <p:grpSpPr bwMode="auto">
            <a:xfrm>
              <a:off x="1440" y="1785"/>
              <a:ext cx="480" cy="327"/>
              <a:chOff x="1104" y="1785"/>
              <a:chExt cx="480" cy="327"/>
            </a:xfrm>
          </p:grpSpPr>
          <p:sp>
            <p:nvSpPr>
              <p:cNvPr id="59" name="Line 7"/>
              <p:cNvSpPr>
                <a:spLocks noChangeShapeType="1"/>
              </p:cNvSpPr>
              <p:nvPr/>
            </p:nvSpPr>
            <p:spPr bwMode="auto">
              <a:xfrm flipH="1">
                <a:off x="1200" y="2016"/>
                <a:ext cx="0"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Text Box 8"/>
              <p:cNvSpPr txBox="1">
                <a:spLocks noChangeArrowheads="1"/>
              </p:cNvSpPr>
              <p:nvPr/>
            </p:nvSpPr>
            <p:spPr bwMode="auto">
              <a:xfrm>
                <a:off x="1104" y="1785"/>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lang="en-US" altLang="zh-CN" sz="1800">
                    <a:latin typeface="Times New Roman" panose="02020603050405020304" pitchFamily="18" charset="0"/>
                    <a:ea typeface="宋体" panose="02010600030101010101" pitchFamily="2" charset="-122"/>
                  </a:rPr>
                  <a:t>Step 0</a:t>
                </a:r>
                <a:endParaRPr lang="en-US" altLang="zh-CN" sz="2400">
                  <a:latin typeface="Times New Roman" panose="02020603050405020304" pitchFamily="18" charset="0"/>
                  <a:ea typeface="宋体" panose="02010600030101010101" pitchFamily="2" charset="-122"/>
                </a:endParaRPr>
              </a:p>
            </p:txBody>
          </p:sp>
        </p:grpSp>
        <p:grpSp>
          <p:nvGrpSpPr>
            <p:cNvPr id="7" name="Group 9"/>
            <p:cNvGrpSpPr/>
            <p:nvPr/>
          </p:nvGrpSpPr>
          <p:grpSpPr bwMode="auto">
            <a:xfrm>
              <a:off x="1968" y="1776"/>
              <a:ext cx="480" cy="327"/>
              <a:chOff x="1104" y="1785"/>
              <a:chExt cx="480" cy="327"/>
            </a:xfrm>
          </p:grpSpPr>
          <p:sp>
            <p:nvSpPr>
              <p:cNvPr id="57" name="Line 10"/>
              <p:cNvSpPr>
                <a:spLocks noChangeShapeType="1"/>
              </p:cNvSpPr>
              <p:nvPr/>
            </p:nvSpPr>
            <p:spPr bwMode="auto">
              <a:xfrm flipH="1">
                <a:off x="1200" y="2016"/>
                <a:ext cx="0"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Text Box 11"/>
              <p:cNvSpPr txBox="1">
                <a:spLocks noChangeArrowheads="1"/>
              </p:cNvSpPr>
              <p:nvPr/>
            </p:nvSpPr>
            <p:spPr bwMode="auto">
              <a:xfrm>
                <a:off x="1104" y="1785"/>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lang="en-US" altLang="zh-CN" sz="1800">
                    <a:latin typeface="Times New Roman" panose="02020603050405020304" pitchFamily="18" charset="0"/>
                    <a:ea typeface="宋体" panose="02010600030101010101" pitchFamily="2" charset="-122"/>
                  </a:rPr>
                  <a:t>Step 1</a:t>
                </a:r>
                <a:endParaRPr lang="en-US" altLang="zh-CN" sz="2400">
                  <a:latin typeface="Times New Roman" panose="02020603050405020304" pitchFamily="18" charset="0"/>
                  <a:ea typeface="宋体" panose="02010600030101010101" pitchFamily="2" charset="-122"/>
                </a:endParaRPr>
              </a:p>
            </p:txBody>
          </p:sp>
        </p:grpSp>
        <p:grpSp>
          <p:nvGrpSpPr>
            <p:cNvPr id="8" name="Group 12"/>
            <p:cNvGrpSpPr/>
            <p:nvPr/>
          </p:nvGrpSpPr>
          <p:grpSpPr bwMode="auto">
            <a:xfrm>
              <a:off x="2496" y="1776"/>
              <a:ext cx="480" cy="327"/>
              <a:chOff x="1104" y="1785"/>
              <a:chExt cx="480" cy="327"/>
            </a:xfrm>
          </p:grpSpPr>
          <p:sp>
            <p:nvSpPr>
              <p:cNvPr id="55" name="Line 13"/>
              <p:cNvSpPr>
                <a:spLocks noChangeShapeType="1"/>
              </p:cNvSpPr>
              <p:nvPr/>
            </p:nvSpPr>
            <p:spPr bwMode="auto">
              <a:xfrm flipH="1">
                <a:off x="1200" y="2016"/>
                <a:ext cx="0"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Text Box 14"/>
              <p:cNvSpPr txBox="1">
                <a:spLocks noChangeArrowheads="1"/>
              </p:cNvSpPr>
              <p:nvPr/>
            </p:nvSpPr>
            <p:spPr bwMode="auto">
              <a:xfrm>
                <a:off x="1104" y="1785"/>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lang="en-US" altLang="zh-CN" sz="1800">
                    <a:latin typeface="Times New Roman" panose="02020603050405020304" pitchFamily="18" charset="0"/>
                    <a:ea typeface="宋体" panose="02010600030101010101" pitchFamily="2" charset="-122"/>
                  </a:rPr>
                  <a:t>Step 2</a:t>
                </a:r>
                <a:endParaRPr lang="en-US" altLang="zh-CN" sz="2400">
                  <a:latin typeface="Times New Roman" panose="02020603050405020304" pitchFamily="18" charset="0"/>
                  <a:ea typeface="宋体" panose="02010600030101010101" pitchFamily="2" charset="-122"/>
                </a:endParaRPr>
              </a:p>
            </p:txBody>
          </p:sp>
        </p:grpSp>
        <p:grpSp>
          <p:nvGrpSpPr>
            <p:cNvPr id="9" name="Group 15"/>
            <p:cNvGrpSpPr/>
            <p:nvPr/>
          </p:nvGrpSpPr>
          <p:grpSpPr bwMode="auto">
            <a:xfrm>
              <a:off x="2976" y="1776"/>
              <a:ext cx="480" cy="327"/>
              <a:chOff x="1104" y="1785"/>
              <a:chExt cx="480" cy="327"/>
            </a:xfrm>
          </p:grpSpPr>
          <p:sp>
            <p:nvSpPr>
              <p:cNvPr id="53" name="Line 16"/>
              <p:cNvSpPr>
                <a:spLocks noChangeShapeType="1"/>
              </p:cNvSpPr>
              <p:nvPr/>
            </p:nvSpPr>
            <p:spPr bwMode="auto">
              <a:xfrm flipH="1">
                <a:off x="1200" y="2016"/>
                <a:ext cx="0"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Text Box 17"/>
              <p:cNvSpPr txBox="1">
                <a:spLocks noChangeArrowheads="1"/>
              </p:cNvSpPr>
              <p:nvPr/>
            </p:nvSpPr>
            <p:spPr bwMode="auto">
              <a:xfrm>
                <a:off x="1104" y="1785"/>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lang="en-US" altLang="zh-CN" sz="1800">
                    <a:latin typeface="Times New Roman" panose="02020603050405020304" pitchFamily="18" charset="0"/>
                    <a:ea typeface="宋体" panose="02010600030101010101" pitchFamily="2" charset="-122"/>
                  </a:rPr>
                  <a:t>Step 3</a:t>
                </a:r>
                <a:endParaRPr lang="en-US" altLang="zh-CN" sz="2400">
                  <a:latin typeface="Times New Roman" panose="02020603050405020304" pitchFamily="18" charset="0"/>
                  <a:ea typeface="宋体" panose="02010600030101010101" pitchFamily="2" charset="-122"/>
                </a:endParaRPr>
              </a:p>
            </p:txBody>
          </p:sp>
        </p:grpSp>
        <p:grpSp>
          <p:nvGrpSpPr>
            <p:cNvPr id="10" name="Group 18"/>
            <p:cNvGrpSpPr/>
            <p:nvPr/>
          </p:nvGrpSpPr>
          <p:grpSpPr bwMode="auto">
            <a:xfrm>
              <a:off x="3456" y="1776"/>
              <a:ext cx="480" cy="327"/>
              <a:chOff x="1104" y="1785"/>
              <a:chExt cx="480" cy="327"/>
            </a:xfrm>
          </p:grpSpPr>
          <p:sp>
            <p:nvSpPr>
              <p:cNvPr id="51" name="Line 19"/>
              <p:cNvSpPr>
                <a:spLocks noChangeShapeType="1"/>
              </p:cNvSpPr>
              <p:nvPr/>
            </p:nvSpPr>
            <p:spPr bwMode="auto">
              <a:xfrm flipH="1">
                <a:off x="1200" y="2016"/>
                <a:ext cx="0"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Text Box 20"/>
              <p:cNvSpPr txBox="1">
                <a:spLocks noChangeArrowheads="1"/>
              </p:cNvSpPr>
              <p:nvPr/>
            </p:nvSpPr>
            <p:spPr bwMode="auto">
              <a:xfrm>
                <a:off x="1104" y="1785"/>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lang="en-US" altLang="zh-CN" sz="1800">
                    <a:latin typeface="Times New Roman" panose="02020603050405020304" pitchFamily="18" charset="0"/>
                    <a:ea typeface="宋体" panose="02010600030101010101" pitchFamily="2" charset="-122"/>
                  </a:rPr>
                  <a:t>Step 4</a:t>
                </a:r>
                <a:endParaRPr lang="en-US" altLang="zh-CN" sz="2400">
                  <a:latin typeface="Times New Roman" panose="02020603050405020304" pitchFamily="18" charset="0"/>
                  <a:ea typeface="宋体" panose="02010600030101010101" pitchFamily="2" charset="-122"/>
                </a:endParaRPr>
              </a:p>
            </p:txBody>
          </p:sp>
        </p:grpSp>
        <p:sp>
          <p:nvSpPr>
            <p:cNvPr id="11" name="Text Box 21"/>
            <p:cNvSpPr txBox="1">
              <a:spLocks noChangeArrowheads="1"/>
            </p:cNvSpPr>
            <p:nvPr/>
          </p:nvSpPr>
          <p:spPr bwMode="auto">
            <a:xfrm>
              <a:off x="1440" y="250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2400">
                  <a:latin typeface="Times New Roman" panose="02020603050405020304" pitchFamily="18" charset="0"/>
                  <a:ea typeface="宋体" panose="02010600030101010101" pitchFamily="2" charset="-122"/>
                </a:rPr>
                <a:t>b</a:t>
              </a:r>
              <a:endParaRPr lang="en-US" altLang="zh-CN" sz="2400">
                <a:latin typeface="Times New Roman" panose="02020603050405020304" pitchFamily="18" charset="0"/>
                <a:ea typeface="宋体" panose="02010600030101010101" pitchFamily="2" charset="-122"/>
              </a:endParaRPr>
            </a:p>
          </p:txBody>
        </p:sp>
        <p:sp>
          <p:nvSpPr>
            <p:cNvPr id="12" name="Text Box 22"/>
            <p:cNvSpPr txBox="1">
              <a:spLocks noChangeArrowheads="1"/>
            </p:cNvSpPr>
            <p:nvPr/>
          </p:nvSpPr>
          <p:spPr bwMode="auto">
            <a:xfrm>
              <a:off x="1440" y="3108"/>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2400">
                  <a:latin typeface="Times New Roman" panose="02020603050405020304" pitchFamily="18" charset="0"/>
                  <a:ea typeface="宋体" panose="02010600030101010101" pitchFamily="2" charset="-122"/>
                </a:rPr>
                <a:t>d</a:t>
              </a:r>
              <a:endParaRPr lang="en-US" altLang="zh-CN" sz="2400">
                <a:latin typeface="Times New Roman" panose="02020603050405020304" pitchFamily="18" charset="0"/>
                <a:ea typeface="宋体" panose="02010600030101010101" pitchFamily="2" charset="-122"/>
              </a:endParaRPr>
            </a:p>
          </p:txBody>
        </p:sp>
        <p:sp>
          <p:nvSpPr>
            <p:cNvPr id="13" name="Text Box 23"/>
            <p:cNvSpPr txBox="1">
              <a:spLocks noChangeArrowheads="1"/>
            </p:cNvSpPr>
            <p:nvPr/>
          </p:nvSpPr>
          <p:spPr bwMode="auto">
            <a:xfrm>
              <a:off x="1440" y="2808"/>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2400">
                  <a:latin typeface="Times New Roman" panose="02020603050405020304" pitchFamily="18" charset="0"/>
                  <a:ea typeface="宋体" panose="02010600030101010101" pitchFamily="2" charset="-122"/>
                </a:rPr>
                <a:t>c</a:t>
              </a:r>
              <a:endParaRPr lang="en-US" altLang="zh-CN" sz="2400">
                <a:latin typeface="Times New Roman" panose="02020603050405020304" pitchFamily="18" charset="0"/>
                <a:ea typeface="宋体" panose="02010600030101010101" pitchFamily="2" charset="-122"/>
              </a:endParaRPr>
            </a:p>
          </p:txBody>
        </p:sp>
        <p:sp>
          <p:nvSpPr>
            <p:cNvPr id="14" name="Text Box 24"/>
            <p:cNvSpPr txBox="1">
              <a:spLocks noChangeArrowheads="1"/>
            </p:cNvSpPr>
            <p:nvPr/>
          </p:nvSpPr>
          <p:spPr bwMode="auto">
            <a:xfrm>
              <a:off x="1440" y="3408"/>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2400">
                  <a:latin typeface="Times New Roman" panose="02020603050405020304" pitchFamily="18" charset="0"/>
                  <a:ea typeface="宋体" panose="02010600030101010101" pitchFamily="2" charset="-122"/>
                </a:rPr>
                <a:t>e</a:t>
              </a:r>
              <a:endParaRPr lang="en-US" altLang="zh-CN" sz="2400">
                <a:latin typeface="Times New Roman" panose="02020603050405020304" pitchFamily="18" charset="0"/>
                <a:ea typeface="宋体" panose="02010600030101010101" pitchFamily="2" charset="-122"/>
              </a:endParaRPr>
            </a:p>
          </p:txBody>
        </p:sp>
        <p:sp>
          <p:nvSpPr>
            <p:cNvPr id="15" name="Text Box 25"/>
            <p:cNvSpPr txBox="1">
              <a:spLocks noChangeArrowheads="1"/>
            </p:cNvSpPr>
            <p:nvPr/>
          </p:nvSpPr>
          <p:spPr bwMode="auto">
            <a:xfrm>
              <a:off x="1440" y="2208"/>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2400">
                  <a:latin typeface="Times New Roman" panose="02020603050405020304" pitchFamily="18" charset="0"/>
                  <a:ea typeface="宋体" panose="02010600030101010101" pitchFamily="2" charset="-122"/>
                </a:rPr>
                <a:t>a</a:t>
              </a:r>
              <a:endParaRPr lang="en-US" altLang="zh-CN" sz="2400">
                <a:latin typeface="Times New Roman" panose="02020603050405020304" pitchFamily="18" charset="0"/>
                <a:ea typeface="宋体" panose="02010600030101010101" pitchFamily="2" charset="-122"/>
              </a:endParaRPr>
            </a:p>
          </p:txBody>
        </p:sp>
        <p:sp>
          <p:nvSpPr>
            <p:cNvPr id="17" name="Oval 26"/>
            <p:cNvSpPr>
              <a:spLocks noChangeArrowheads="1"/>
            </p:cNvSpPr>
            <p:nvPr/>
          </p:nvSpPr>
          <p:spPr bwMode="auto">
            <a:xfrm>
              <a:off x="1392" y="2256"/>
              <a:ext cx="288" cy="24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8" name="Oval 27"/>
            <p:cNvSpPr>
              <a:spLocks noChangeArrowheads="1"/>
            </p:cNvSpPr>
            <p:nvPr/>
          </p:nvSpPr>
          <p:spPr bwMode="auto">
            <a:xfrm>
              <a:off x="1392" y="2544"/>
              <a:ext cx="288" cy="24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9" name="Oval 28"/>
            <p:cNvSpPr>
              <a:spLocks noChangeArrowheads="1"/>
            </p:cNvSpPr>
            <p:nvPr/>
          </p:nvSpPr>
          <p:spPr bwMode="auto">
            <a:xfrm>
              <a:off x="1392" y="2832"/>
              <a:ext cx="288" cy="24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0" name="Oval 29"/>
            <p:cNvSpPr>
              <a:spLocks noChangeArrowheads="1"/>
            </p:cNvSpPr>
            <p:nvPr/>
          </p:nvSpPr>
          <p:spPr bwMode="auto">
            <a:xfrm>
              <a:off x="1392" y="3120"/>
              <a:ext cx="288" cy="24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1" name="Oval 30"/>
            <p:cNvSpPr>
              <a:spLocks noChangeArrowheads="1"/>
            </p:cNvSpPr>
            <p:nvPr/>
          </p:nvSpPr>
          <p:spPr bwMode="auto">
            <a:xfrm>
              <a:off x="1392" y="3408"/>
              <a:ext cx="288" cy="24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2" name="Text Box 31"/>
            <p:cNvSpPr txBox="1">
              <a:spLocks noChangeArrowheads="1"/>
            </p:cNvSpPr>
            <p:nvPr/>
          </p:nvSpPr>
          <p:spPr bwMode="auto">
            <a:xfrm>
              <a:off x="1968" y="2304"/>
              <a:ext cx="3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2400">
                  <a:latin typeface="Times New Roman" panose="02020603050405020304" pitchFamily="18" charset="0"/>
                  <a:ea typeface="宋体" panose="02010600030101010101" pitchFamily="2" charset="-122"/>
                </a:rPr>
                <a:t>a b</a:t>
              </a:r>
              <a:endParaRPr lang="en-US" altLang="zh-CN" sz="2400">
                <a:latin typeface="Times New Roman" panose="02020603050405020304" pitchFamily="18" charset="0"/>
                <a:ea typeface="宋体" panose="02010600030101010101" pitchFamily="2" charset="-122"/>
              </a:endParaRPr>
            </a:p>
          </p:txBody>
        </p:sp>
        <p:sp>
          <p:nvSpPr>
            <p:cNvPr id="23" name="Oval 32"/>
            <p:cNvSpPr>
              <a:spLocks noChangeArrowheads="1"/>
            </p:cNvSpPr>
            <p:nvPr/>
          </p:nvSpPr>
          <p:spPr bwMode="auto">
            <a:xfrm>
              <a:off x="1872" y="2352"/>
              <a:ext cx="528" cy="24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4" name="Text Box 33"/>
            <p:cNvSpPr txBox="1">
              <a:spLocks noChangeArrowheads="1"/>
            </p:cNvSpPr>
            <p:nvPr/>
          </p:nvSpPr>
          <p:spPr bwMode="auto">
            <a:xfrm>
              <a:off x="2496" y="3216"/>
              <a:ext cx="3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2400">
                  <a:latin typeface="Times New Roman" panose="02020603050405020304" pitchFamily="18" charset="0"/>
                  <a:ea typeface="宋体" panose="02010600030101010101" pitchFamily="2" charset="-122"/>
                </a:rPr>
                <a:t>d e</a:t>
              </a:r>
              <a:endParaRPr lang="en-US" altLang="zh-CN" sz="2400">
                <a:latin typeface="Times New Roman" panose="02020603050405020304" pitchFamily="18" charset="0"/>
                <a:ea typeface="宋体" panose="02010600030101010101" pitchFamily="2" charset="-122"/>
              </a:endParaRPr>
            </a:p>
          </p:txBody>
        </p:sp>
        <p:sp>
          <p:nvSpPr>
            <p:cNvPr id="25" name="Oval 34"/>
            <p:cNvSpPr>
              <a:spLocks noChangeArrowheads="1"/>
            </p:cNvSpPr>
            <p:nvPr/>
          </p:nvSpPr>
          <p:spPr bwMode="auto">
            <a:xfrm>
              <a:off x="2400" y="3264"/>
              <a:ext cx="528" cy="240"/>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6" name="Text Box 35"/>
            <p:cNvSpPr txBox="1">
              <a:spLocks noChangeArrowheads="1"/>
            </p:cNvSpPr>
            <p:nvPr/>
          </p:nvSpPr>
          <p:spPr bwMode="auto">
            <a:xfrm>
              <a:off x="2880" y="2928"/>
              <a:ext cx="47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2400">
                  <a:latin typeface="Times New Roman" panose="02020603050405020304" pitchFamily="18" charset="0"/>
                  <a:ea typeface="宋体" panose="02010600030101010101" pitchFamily="2" charset="-122"/>
                </a:rPr>
                <a:t>c d e</a:t>
              </a:r>
              <a:endParaRPr lang="en-US" altLang="zh-CN" sz="2400">
                <a:latin typeface="Times New Roman" panose="02020603050405020304" pitchFamily="18" charset="0"/>
                <a:ea typeface="宋体" panose="02010600030101010101" pitchFamily="2" charset="-122"/>
              </a:endParaRPr>
            </a:p>
          </p:txBody>
        </p:sp>
        <p:sp>
          <p:nvSpPr>
            <p:cNvPr id="27" name="Oval 36"/>
            <p:cNvSpPr>
              <a:spLocks noChangeArrowheads="1"/>
            </p:cNvSpPr>
            <p:nvPr/>
          </p:nvSpPr>
          <p:spPr bwMode="auto">
            <a:xfrm>
              <a:off x="2784" y="2928"/>
              <a:ext cx="624"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8" name="Text Box 37"/>
            <p:cNvSpPr txBox="1">
              <a:spLocks noChangeArrowheads="1"/>
            </p:cNvSpPr>
            <p:nvPr/>
          </p:nvSpPr>
          <p:spPr bwMode="auto">
            <a:xfrm>
              <a:off x="3216" y="2592"/>
              <a:ext cx="7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0"/>
                </a:spcBef>
                <a:buClrTx/>
                <a:buFontTx/>
                <a:buNone/>
              </a:pPr>
              <a:r>
                <a:rPr lang="en-US" altLang="zh-CN" sz="2400">
                  <a:latin typeface="Times New Roman" panose="02020603050405020304" pitchFamily="18" charset="0"/>
                  <a:ea typeface="宋体" panose="02010600030101010101" pitchFamily="2" charset="-122"/>
                </a:rPr>
                <a:t>a b c d e</a:t>
              </a:r>
              <a:endParaRPr lang="en-US" altLang="zh-CN" sz="2400">
                <a:latin typeface="Times New Roman" panose="02020603050405020304" pitchFamily="18" charset="0"/>
                <a:ea typeface="宋体" panose="02010600030101010101" pitchFamily="2" charset="-122"/>
              </a:endParaRPr>
            </a:p>
          </p:txBody>
        </p:sp>
        <p:sp>
          <p:nvSpPr>
            <p:cNvPr id="29" name="Oval 38"/>
            <p:cNvSpPr>
              <a:spLocks noChangeArrowheads="1"/>
            </p:cNvSpPr>
            <p:nvPr/>
          </p:nvSpPr>
          <p:spPr bwMode="auto">
            <a:xfrm>
              <a:off x="3120" y="2592"/>
              <a:ext cx="1008" cy="288"/>
            </a:xfrm>
            <a:prstGeom prst="ellipse">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30" name="Line 39"/>
            <p:cNvSpPr>
              <a:spLocks noChangeShapeType="1"/>
            </p:cNvSpPr>
            <p:nvPr/>
          </p:nvSpPr>
          <p:spPr bwMode="auto">
            <a:xfrm>
              <a:off x="1200" y="3753"/>
              <a:ext cx="3216" cy="0"/>
            </a:xfrm>
            <a:prstGeom prst="line">
              <a:avLst/>
            </a:prstGeom>
            <a:noFill/>
            <a:ln w="1905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40"/>
            <p:cNvSpPr>
              <a:spLocks noChangeShapeType="1"/>
            </p:cNvSpPr>
            <p:nvPr/>
          </p:nvSpPr>
          <p:spPr bwMode="auto">
            <a:xfrm flipH="1">
              <a:off x="1536" y="3753"/>
              <a:ext cx="0"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Text Box 41"/>
            <p:cNvSpPr txBox="1">
              <a:spLocks noChangeArrowheads="1"/>
            </p:cNvSpPr>
            <p:nvPr/>
          </p:nvSpPr>
          <p:spPr bwMode="auto">
            <a:xfrm>
              <a:off x="1440" y="381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lang="en-US" altLang="zh-CN" sz="1800">
                  <a:latin typeface="Times New Roman" panose="02020603050405020304" pitchFamily="18" charset="0"/>
                  <a:ea typeface="宋体" panose="02010600030101010101" pitchFamily="2" charset="-122"/>
                </a:rPr>
                <a:t>Step 4</a:t>
              </a:r>
              <a:endParaRPr lang="en-US" altLang="zh-CN" sz="2400">
                <a:latin typeface="Times New Roman" panose="02020603050405020304" pitchFamily="18" charset="0"/>
                <a:ea typeface="宋体" panose="02010600030101010101" pitchFamily="2" charset="-122"/>
              </a:endParaRPr>
            </a:p>
          </p:txBody>
        </p:sp>
        <p:sp>
          <p:nvSpPr>
            <p:cNvPr id="33" name="Line 42"/>
            <p:cNvSpPr>
              <a:spLocks noChangeShapeType="1"/>
            </p:cNvSpPr>
            <p:nvPr/>
          </p:nvSpPr>
          <p:spPr bwMode="auto">
            <a:xfrm flipH="1">
              <a:off x="2064" y="3744"/>
              <a:ext cx="0"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Text Box 43"/>
            <p:cNvSpPr txBox="1">
              <a:spLocks noChangeArrowheads="1"/>
            </p:cNvSpPr>
            <p:nvPr/>
          </p:nvSpPr>
          <p:spPr bwMode="auto">
            <a:xfrm>
              <a:off x="1968" y="3801"/>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lang="en-US" altLang="zh-CN" sz="1800">
                  <a:latin typeface="Times New Roman" panose="02020603050405020304" pitchFamily="18" charset="0"/>
                  <a:ea typeface="宋体" panose="02010600030101010101" pitchFamily="2" charset="-122"/>
                </a:rPr>
                <a:t>Step 3</a:t>
              </a:r>
              <a:endParaRPr lang="en-US" altLang="zh-CN" sz="2400">
                <a:latin typeface="Times New Roman" panose="02020603050405020304" pitchFamily="18" charset="0"/>
                <a:ea typeface="宋体" panose="02010600030101010101" pitchFamily="2" charset="-122"/>
              </a:endParaRPr>
            </a:p>
          </p:txBody>
        </p:sp>
        <p:sp>
          <p:nvSpPr>
            <p:cNvPr id="35" name="Line 44"/>
            <p:cNvSpPr>
              <a:spLocks noChangeShapeType="1"/>
            </p:cNvSpPr>
            <p:nvPr/>
          </p:nvSpPr>
          <p:spPr bwMode="auto">
            <a:xfrm flipH="1">
              <a:off x="2592" y="3744"/>
              <a:ext cx="0"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Text Box 45"/>
            <p:cNvSpPr txBox="1">
              <a:spLocks noChangeArrowheads="1"/>
            </p:cNvSpPr>
            <p:nvPr/>
          </p:nvSpPr>
          <p:spPr bwMode="auto">
            <a:xfrm>
              <a:off x="2496" y="3801"/>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lang="en-US" altLang="zh-CN" sz="1800">
                  <a:latin typeface="Times New Roman" panose="02020603050405020304" pitchFamily="18" charset="0"/>
                  <a:ea typeface="宋体" panose="02010600030101010101" pitchFamily="2" charset="-122"/>
                </a:rPr>
                <a:t>Step 2</a:t>
              </a:r>
              <a:endParaRPr lang="en-US" altLang="zh-CN" sz="2400">
                <a:latin typeface="Times New Roman" panose="02020603050405020304" pitchFamily="18" charset="0"/>
                <a:ea typeface="宋体" panose="02010600030101010101" pitchFamily="2" charset="-122"/>
              </a:endParaRPr>
            </a:p>
          </p:txBody>
        </p:sp>
        <p:sp>
          <p:nvSpPr>
            <p:cNvPr id="37" name="Line 46"/>
            <p:cNvSpPr>
              <a:spLocks noChangeShapeType="1"/>
            </p:cNvSpPr>
            <p:nvPr/>
          </p:nvSpPr>
          <p:spPr bwMode="auto">
            <a:xfrm flipH="1">
              <a:off x="3072" y="3744"/>
              <a:ext cx="0"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Text Box 47"/>
            <p:cNvSpPr txBox="1">
              <a:spLocks noChangeArrowheads="1"/>
            </p:cNvSpPr>
            <p:nvPr/>
          </p:nvSpPr>
          <p:spPr bwMode="auto">
            <a:xfrm>
              <a:off x="2976" y="3801"/>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lang="en-US" altLang="zh-CN" sz="1800">
                  <a:latin typeface="Times New Roman" panose="02020603050405020304" pitchFamily="18" charset="0"/>
                  <a:ea typeface="宋体" panose="02010600030101010101" pitchFamily="2" charset="-122"/>
                </a:rPr>
                <a:t>Step 1</a:t>
              </a:r>
              <a:endParaRPr lang="en-US" altLang="zh-CN" sz="2400">
                <a:latin typeface="Times New Roman" panose="02020603050405020304" pitchFamily="18" charset="0"/>
                <a:ea typeface="宋体" panose="02010600030101010101" pitchFamily="2" charset="-122"/>
              </a:endParaRPr>
            </a:p>
          </p:txBody>
        </p:sp>
        <p:sp>
          <p:nvSpPr>
            <p:cNvPr id="39" name="Line 48"/>
            <p:cNvSpPr>
              <a:spLocks noChangeShapeType="1"/>
            </p:cNvSpPr>
            <p:nvPr/>
          </p:nvSpPr>
          <p:spPr bwMode="auto">
            <a:xfrm flipH="1">
              <a:off x="3552" y="3744"/>
              <a:ext cx="0"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Text Box 49"/>
            <p:cNvSpPr txBox="1">
              <a:spLocks noChangeArrowheads="1"/>
            </p:cNvSpPr>
            <p:nvPr/>
          </p:nvSpPr>
          <p:spPr bwMode="auto">
            <a:xfrm>
              <a:off x="3456" y="3801"/>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spcBef>
                  <a:spcPct val="50000"/>
                </a:spcBef>
                <a:buClrTx/>
                <a:buFontTx/>
                <a:buNone/>
              </a:pPr>
              <a:r>
                <a:rPr lang="en-US" altLang="zh-CN" sz="1800">
                  <a:latin typeface="Times New Roman" panose="02020603050405020304" pitchFamily="18" charset="0"/>
                  <a:ea typeface="宋体" panose="02010600030101010101" pitchFamily="2" charset="-122"/>
                </a:rPr>
                <a:t>Step 0</a:t>
              </a:r>
              <a:endParaRPr lang="en-US" altLang="zh-CN" sz="2400">
                <a:latin typeface="Times New Roman" panose="02020603050405020304" pitchFamily="18" charset="0"/>
                <a:ea typeface="宋体" panose="02010600030101010101" pitchFamily="2" charset="-122"/>
              </a:endParaRPr>
            </a:p>
          </p:txBody>
        </p:sp>
        <p:sp>
          <p:nvSpPr>
            <p:cNvPr id="41" name="Line 50"/>
            <p:cNvSpPr>
              <a:spLocks noChangeShapeType="1"/>
            </p:cNvSpPr>
            <p:nvPr/>
          </p:nvSpPr>
          <p:spPr bwMode="auto">
            <a:xfrm>
              <a:off x="1680" y="2352"/>
              <a:ext cx="192"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51"/>
            <p:cNvSpPr>
              <a:spLocks noChangeShapeType="1"/>
            </p:cNvSpPr>
            <p:nvPr/>
          </p:nvSpPr>
          <p:spPr bwMode="auto">
            <a:xfrm flipV="1">
              <a:off x="1680" y="2448"/>
              <a:ext cx="192"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52"/>
            <p:cNvSpPr>
              <a:spLocks noChangeShapeType="1"/>
            </p:cNvSpPr>
            <p:nvPr/>
          </p:nvSpPr>
          <p:spPr bwMode="auto">
            <a:xfrm>
              <a:off x="1680" y="3216"/>
              <a:ext cx="720" cy="14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53"/>
            <p:cNvSpPr>
              <a:spLocks noChangeShapeType="1"/>
            </p:cNvSpPr>
            <p:nvPr/>
          </p:nvSpPr>
          <p:spPr bwMode="auto">
            <a:xfrm flipV="1">
              <a:off x="1680" y="3360"/>
              <a:ext cx="720" cy="14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54"/>
            <p:cNvSpPr>
              <a:spLocks noChangeShapeType="1"/>
            </p:cNvSpPr>
            <p:nvPr/>
          </p:nvSpPr>
          <p:spPr bwMode="auto">
            <a:xfrm>
              <a:off x="1680" y="2976"/>
              <a:ext cx="1104"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55"/>
            <p:cNvSpPr>
              <a:spLocks noChangeShapeType="1"/>
            </p:cNvSpPr>
            <p:nvPr/>
          </p:nvSpPr>
          <p:spPr bwMode="auto">
            <a:xfrm flipV="1">
              <a:off x="2688" y="3072"/>
              <a:ext cx="96"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56"/>
            <p:cNvSpPr>
              <a:spLocks noChangeShapeType="1"/>
            </p:cNvSpPr>
            <p:nvPr/>
          </p:nvSpPr>
          <p:spPr bwMode="auto">
            <a:xfrm>
              <a:off x="2400" y="2496"/>
              <a:ext cx="72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57"/>
            <p:cNvSpPr>
              <a:spLocks noChangeShapeType="1"/>
            </p:cNvSpPr>
            <p:nvPr/>
          </p:nvSpPr>
          <p:spPr bwMode="auto">
            <a:xfrm flipV="1">
              <a:off x="3072" y="2736"/>
              <a:ext cx="48" cy="19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Text Box 58"/>
            <p:cNvSpPr txBox="1">
              <a:spLocks noChangeArrowheads="1"/>
            </p:cNvSpPr>
            <p:nvPr/>
          </p:nvSpPr>
          <p:spPr bwMode="auto">
            <a:xfrm>
              <a:off x="4305" y="1824"/>
              <a:ext cx="1277"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a:spcBef>
                  <a:spcPct val="0"/>
                </a:spcBef>
                <a:buClrTx/>
                <a:buFontTx/>
                <a:buNone/>
              </a:pPr>
              <a:r>
                <a:rPr lang="en-US" altLang="zh-CN" sz="2400">
                  <a:latin typeface="Times New Roman" panose="02020603050405020304" pitchFamily="18" charset="0"/>
                  <a:ea typeface="宋体" panose="02010600030101010101" pitchFamily="2" charset="-122"/>
                </a:rPr>
                <a:t>agglomerative</a:t>
              </a:r>
              <a:endParaRPr lang="en-US" altLang="zh-CN" sz="2400">
                <a:latin typeface="Times New Roman" panose="02020603050405020304" pitchFamily="18" charset="0"/>
                <a:ea typeface="宋体" panose="02010600030101010101" pitchFamily="2" charset="-122"/>
              </a:endParaRPr>
            </a:p>
            <a:p>
              <a:pPr algn="ctr">
                <a:spcBef>
                  <a:spcPct val="0"/>
                </a:spcBef>
                <a:buClrTx/>
                <a:buFontTx/>
                <a:buNone/>
              </a:pPr>
              <a:r>
                <a:rPr lang="en-US" altLang="zh-CN" sz="2400">
                  <a:latin typeface="Times New Roman" panose="02020603050405020304" pitchFamily="18" charset="0"/>
                  <a:ea typeface="宋体" panose="02010600030101010101" pitchFamily="2" charset="-122"/>
                </a:rPr>
                <a:t>(AGNES)</a:t>
              </a:r>
              <a:endParaRPr lang="en-US" altLang="zh-CN" sz="2400">
                <a:latin typeface="Times New Roman" panose="02020603050405020304" pitchFamily="18" charset="0"/>
                <a:ea typeface="宋体" panose="02010600030101010101" pitchFamily="2" charset="-122"/>
              </a:endParaRPr>
            </a:p>
          </p:txBody>
        </p:sp>
        <p:sp>
          <p:nvSpPr>
            <p:cNvPr id="50" name="Text Box 59"/>
            <p:cNvSpPr txBox="1">
              <a:spLocks noChangeArrowheads="1"/>
            </p:cNvSpPr>
            <p:nvPr/>
          </p:nvSpPr>
          <p:spPr bwMode="auto">
            <a:xfrm>
              <a:off x="4401" y="3552"/>
              <a:ext cx="875"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a:spcBef>
                  <a:spcPct val="0"/>
                </a:spcBef>
                <a:buClrTx/>
                <a:buFontTx/>
                <a:buNone/>
              </a:pPr>
              <a:r>
                <a:rPr lang="en-US" altLang="zh-CN" sz="2400">
                  <a:latin typeface="Times New Roman" panose="02020603050405020304" pitchFamily="18" charset="0"/>
                  <a:ea typeface="宋体" panose="02010600030101010101" pitchFamily="2" charset="-122"/>
                </a:rPr>
                <a:t>divisive</a:t>
              </a:r>
              <a:endParaRPr lang="en-US" altLang="zh-CN" sz="2400">
                <a:latin typeface="Times New Roman" panose="02020603050405020304" pitchFamily="18" charset="0"/>
                <a:ea typeface="宋体" panose="02010600030101010101" pitchFamily="2" charset="-122"/>
              </a:endParaRPr>
            </a:p>
            <a:p>
              <a:pPr algn="ctr">
                <a:spcBef>
                  <a:spcPct val="0"/>
                </a:spcBef>
                <a:buClrTx/>
                <a:buFontTx/>
                <a:buNone/>
              </a:pPr>
              <a:r>
                <a:rPr lang="en-US" altLang="zh-CN" sz="2400">
                  <a:latin typeface="Times New Roman" panose="02020603050405020304" pitchFamily="18" charset="0"/>
                  <a:ea typeface="宋体" panose="02010600030101010101" pitchFamily="2" charset="-122"/>
                </a:rPr>
                <a:t>(DIANA)</a:t>
              </a:r>
              <a:endParaRPr lang="en-US" altLang="zh-CN" sz="2400">
                <a:latin typeface="Times New Roman" panose="02020603050405020304" pitchFamily="18"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内容占位符 2"/>
          <p:cNvSpPr txBox="1"/>
          <p:nvPr/>
        </p:nvSpPr>
        <p:spPr>
          <a:xfrm>
            <a:off x="395287" y="908720"/>
            <a:ext cx="8353425" cy="4267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20000"/>
              </a:lnSpc>
              <a:spcBef>
                <a:spcPts val="600"/>
              </a:spcBef>
              <a:buSzPct val="100000"/>
              <a:buFont typeface="Wingdings" panose="05000000000000000000" pitchFamily="2" charset="2"/>
              <a:buChar char="n"/>
              <a:defRPr/>
            </a:pPr>
            <a:r>
              <a:rPr lang="en-US" altLang="zh-CN" sz="2800" b="0" kern="1200" dirty="0">
                <a:solidFill>
                  <a:srgbClr val="FF0000"/>
                </a:solidFill>
                <a:latin typeface="Calibri" panose="020F0502020204030204" pitchFamily="34" charset="0"/>
                <a:cs typeface="Calibri" panose="020F0502020204030204" pitchFamily="34" charset="0"/>
              </a:rPr>
              <a:t>AGNES (Agglomerative Nesting)</a:t>
            </a:r>
            <a:r>
              <a:rPr lang="zh-CN" altLang="en-US" sz="2800" b="0" kern="1200" dirty="0">
                <a:solidFill>
                  <a:srgbClr val="FF0000"/>
                </a:solidFill>
                <a:latin typeface="Calibri" panose="020F0502020204030204" pitchFamily="34" charset="0"/>
                <a:cs typeface="Calibri" panose="020F0502020204030204" pitchFamily="34" charset="0"/>
              </a:rPr>
              <a:t>：</a:t>
            </a:r>
            <a:r>
              <a:rPr lang="zh-CN" altLang="en-US" sz="28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由 </a:t>
            </a:r>
            <a:r>
              <a:rPr lang="en-US" altLang="zh-CN" sz="2800" b="0" kern="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Kaufmann</a:t>
            </a:r>
            <a:r>
              <a:rPr lang="zh-CN" altLang="en-US" sz="28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和</a:t>
            </a:r>
            <a:r>
              <a:rPr lang="en-US" altLang="zh-CN" sz="2800" b="0" kern="0" dirty="0" err="1">
                <a:solidFill>
                  <a:srgbClr val="0070C0"/>
                </a:solidFill>
                <a:latin typeface="Calibri" panose="020F0502020204030204" pitchFamily="34" charset="0"/>
                <a:ea typeface="方正兰亭中黑_GBK" panose="02000000000000000000" pitchFamily="2" charset="-122"/>
                <a:cs typeface="Calibri" panose="020F0502020204030204" pitchFamily="34" charset="0"/>
              </a:rPr>
              <a:t>Rousseeuw</a:t>
            </a:r>
            <a:r>
              <a:rPr lang="zh-CN" altLang="en-US" sz="28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提出(</a:t>
            </a:r>
            <a:r>
              <a:rPr lang="zh-CN" altLang="en-US" sz="2800" b="0" kern="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1990</a:t>
            </a:r>
            <a:r>
              <a:rPr lang="zh-CN" altLang="en-US" sz="28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a:t>
            </a:r>
            <a:endParaRPr lang="en-US" altLang="zh-CN" sz="28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6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使用</a:t>
            </a:r>
            <a:r>
              <a:rPr lang="zh-CN" altLang="en-US" sz="24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单链接(</a:t>
            </a:r>
            <a:r>
              <a:rPr lang="en-US" altLang="zh-CN" sz="2400" b="0" kern="0" dirty="0">
                <a:solidFill>
                  <a:srgbClr val="0000FF"/>
                </a:solidFill>
                <a:latin typeface="Calibri" panose="020F0502020204030204" pitchFamily="34" charset="0"/>
                <a:ea typeface="方正兰亭中黑_GBK" panose="02000000000000000000" pitchFamily="2" charset="-122"/>
                <a:cs typeface="Calibri" panose="020F0502020204030204" pitchFamily="34" charset="0"/>
              </a:rPr>
              <a:t>Single-Link</a:t>
            </a:r>
            <a:r>
              <a:rPr lang="en-US" altLang="zh-CN" sz="24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a:t>
            </a:r>
            <a:r>
              <a:rPr lang="zh-CN" altLang="en-US" sz="24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方法</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和</a:t>
            </a:r>
            <a:r>
              <a:rPr lang="zh-CN" altLang="en-US" sz="24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相异度矩阵 </a:t>
            </a:r>
            <a:endParaRPr lang="zh-CN" altLang="en-US" sz="24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6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合并具有</a:t>
            </a:r>
            <a:r>
              <a:rPr lang="zh-CN" altLang="en-US" sz="24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最小相异度</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的节点</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6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以非递减的方式继续</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6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最终所有的节点属于同一个簇</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eaLnBrk="1" hangingPunct="1">
              <a:lnSpc>
                <a:spcPct val="120000"/>
              </a:lnSpc>
              <a:spcBef>
                <a:spcPts val="600"/>
              </a:spcBef>
              <a:buSzPct val="100000"/>
              <a:buFont typeface="Wingdings" panose="05000000000000000000" pitchFamily="2" charset="2"/>
              <a:buChar char="n"/>
              <a:defRPr/>
            </a:pPr>
            <a:endParaRPr lang="zh-CN" altLang="en-US" sz="2800" b="0" kern="0" dirty="0">
              <a:latin typeface="Calibri" panose="020F0502020204030204" pitchFamily="34" charset="0"/>
              <a:cs typeface="Calibri" panose="020F0502020204030204" pitchFamily="34" charset="0"/>
            </a:endParaRPr>
          </a:p>
          <a:p>
            <a:pPr eaLnBrk="1" hangingPunct="1">
              <a:lnSpc>
                <a:spcPct val="120000"/>
              </a:lnSpc>
              <a:spcBef>
                <a:spcPts val="600"/>
              </a:spcBef>
              <a:buSzPct val="100000"/>
              <a:buFont typeface="Wingdings" panose="05000000000000000000" pitchFamily="2" charset="2"/>
              <a:buChar char="n"/>
              <a:defRPr/>
            </a:pPr>
            <a:endParaRPr lang="en-US" altLang="zh-CN" sz="2800" b="0" kern="1200" dirty="0">
              <a:solidFill>
                <a:srgbClr val="C0000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grpSp>
        <p:nvGrpSpPr>
          <p:cNvPr id="4" name="Group 4"/>
          <p:cNvGrpSpPr/>
          <p:nvPr/>
        </p:nvGrpSpPr>
        <p:grpSpPr bwMode="auto">
          <a:xfrm>
            <a:off x="434975" y="4137695"/>
            <a:ext cx="2209800" cy="2017712"/>
            <a:chOff x="384" y="2496"/>
            <a:chExt cx="1392" cy="1271"/>
          </a:xfrm>
        </p:grpSpPr>
        <p:graphicFrame>
          <p:nvGraphicFramePr>
            <p:cNvPr id="5" name="Object 5"/>
            <p:cNvGraphicFramePr>
              <a:graphicFrameLocks noChangeAspect="1"/>
            </p:cNvGraphicFramePr>
            <p:nvPr/>
          </p:nvGraphicFramePr>
          <p:xfrm>
            <a:off x="384" y="2496"/>
            <a:ext cx="1392" cy="1271"/>
          </p:xfrm>
          <a:graphic>
            <a:graphicData uri="http://schemas.openxmlformats.org/presentationml/2006/ole">
              <mc:AlternateContent xmlns:mc="http://schemas.openxmlformats.org/markup-compatibility/2006">
                <mc:Choice xmlns:v="urn:schemas-microsoft-com:vml" Requires="v">
                  <p:oleObj spid="_x0000_s32776" name="Worksheet" r:id="rId1" imgW="2618740" imgH="2472055" progId="Excel.Sheet.8">
                    <p:embed/>
                  </p:oleObj>
                </mc:Choice>
                <mc:Fallback>
                  <p:oleObj name="Worksheet" r:id="rId1" imgW="2618740" imgH="2472055" progId="Excel.Sheet.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Oval 6"/>
            <p:cNvSpPr>
              <a:spLocks noChangeArrowheads="1"/>
            </p:cNvSpPr>
            <p:nvPr/>
          </p:nvSpPr>
          <p:spPr bwMode="auto">
            <a:xfrm>
              <a:off x="816" y="2736"/>
              <a:ext cx="288" cy="288"/>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7" name="Oval 7"/>
            <p:cNvSpPr>
              <a:spLocks noChangeArrowheads="1"/>
            </p:cNvSpPr>
            <p:nvPr/>
          </p:nvSpPr>
          <p:spPr bwMode="auto">
            <a:xfrm>
              <a:off x="816" y="3024"/>
              <a:ext cx="288" cy="288"/>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8" name="Oval 8"/>
            <p:cNvSpPr>
              <a:spLocks noChangeArrowheads="1"/>
            </p:cNvSpPr>
            <p:nvPr/>
          </p:nvSpPr>
          <p:spPr bwMode="auto">
            <a:xfrm>
              <a:off x="1392" y="3024"/>
              <a:ext cx="144" cy="288"/>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grpSp>
      <p:grpSp>
        <p:nvGrpSpPr>
          <p:cNvPr id="9" name="Group 9"/>
          <p:cNvGrpSpPr/>
          <p:nvPr/>
        </p:nvGrpSpPr>
        <p:grpSpPr bwMode="auto">
          <a:xfrm>
            <a:off x="3254375" y="4137695"/>
            <a:ext cx="2209800" cy="2017712"/>
            <a:chOff x="1968" y="2496"/>
            <a:chExt cx="1392" cy="1271"/>
          </a:xfrm>
        </p:grpSpPr>
        <p:graphicFrame>
          <p:nvGraphicFramePr>
            <p:cNvPr id="10" name="Object 10"/>
            <p:cNvGraphicFramePr>
              <a:graphicFrameLocks noChangeAspect="1"/>
            </p:cNvGraphicFramePr>
            <p:nvPr/>
          </p:nvGraphicFramePr>
          <p:xfrm>
            <a:off x="1968" y="2496"/>
            <a:ext cx="1392" cy="1271"/>
          </p:xfrm>
          <a:graphic>
            <a:graphicData uri="http://schemas.openxmlformats.org/presentationml/2006/ole">
              <mc:AlternateContent xmlns:mc="http://schemas.openxmlformats.org/markup-compatibility/2006">
                <mc:Choice xmlns:v="urn:schemas-microsoft-com:vml" Requires="v">
                  <p:oleObj spid="_x0000_s32777" name="Worksheet" r:id="rId3" imgW="2618740" imgH="2472055" progId="Excel.Sheet.8">
                    <p:embed/>
                  </p:oleObj>
                </mc:Choice>
                <mc:Fallback>
                  <p:oleObj name="Worksheet" r:id="rId3" imgW="2618740" imgH="2472055" progId="Excel.Sheet.8">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Oval 11"/>
            <p:cNvSpPr>
              <a:spLocks noChangeArrowheads="1"/>
            </p:cNvSpPr>
            <p:nvPr/>
          </p:nvSpPr>
          <p:spPr bwMode="auto">
            <a:xfrm>
              <a:off x="2736" y="3312"/>
              <a:ext cx="288" cy="192"/>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2" name="Oval 12"/>
            <p:cNvSpPr>
              <a:spLocks noChangeArrowheads="1"/>
            </p:cNvSpPr>
            <p:nvPr/>
          </p:nvSpPr>
          <p:spPr bwMode="auto">
            <a:xfrm>
              <a:off x="2256" y="2688"/>
              <a:ext cx="384" cy="384"/>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3" name="Oval 13"/>
            <p:cNvSpPr>
              <a:spLocks noChangeArrowheads="1"/>
            </p:cNvSpPr>
            <p:nvPr/>
          </p:nvSpPr>
          <p:spPr bwMode="auto">
            <a:xfrm>
              <a:off x="2352" y="3024"/>
              <a:ext cx="384" cy="240"/>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4" name="Oval 14"/>
            <p:cNvSpPr>
              <a:spLocks noChangeArrowheads="1"/>
            </p:cNvSpPr>
            <p:nvPr/>
          </p:nvSpPr>
          <p:spPr bwMode="auto">
            <a:xfrm>
              <a:off x="2832" y="3024"/>
              <a:ext cx="288" cy="288"/>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grpSp>
      <p:grpSp>
        <p:nvGrpSpPr>
          <p:cNvPr id="15" name="Group 15"/>
          <p:cNvGrpSpPr/>
          <p:nvPr/>
        </p:nvGrpSpPr>
        <p:grpSpPr bwMode="auto">
          <a:xfrm>
            <a:off x="6073775" y="4137695"/>
            <a:ext cx="2209800" cy="2017712"/>
            <a:chOff x="3552" y="2496"/>
            <a:chExt cx="1392" cy="1271"/>
          </a:xfrm>
        </p:grpSpPr>
        <p:graphicFrame>
          <p:nvGraphicFramePr>
            <p:cNvPr id="17" name="Object 16"/>
            <p:cNvGraphicFramePr>
              <a:graphicFrameLocks noChangeAspect="1"/>
            </p:cNvGraphicFramePr>
            <p:nvPr/>
          </p:nvGraphicFramePr>
          <p:xfrm>
            <a:off x="3552" y="2496"/>
            <a:ext cx="1392" cy="1271"/>
          </p:xfrm>
          <a:graphic>
            <a:graphicData uri="http://schemas.openxmlformats.org/presentationml/2006/ole">
              <mc:AlternateContent xmlns:mc="http://schemas.openxmlformats.org/markup-compatibility/2006">
                <mc:Choice xmlns:v="urn:schemas-microsoft-com:vml" Requires="v">
                  <p:oleObj spid="_x0000_s32778" name="Worksheet" r:id="rId4" imgW="2618740" imgH="2472055" progId="Excel.Sheet.8">
                    <p:embed/>
                  </p:oleObj>
                </mc:Choice>
                <mc:Fallback>
                  <p:oleObj name="Worksheet" r:id="rId4" imgW="2618740" imgH="2472055" progId="Excel.Sheet.8">
                    <p:embed/>
                    <p:pic>
                      <p:nvPicPr>
                        <p:cNvPr id="0" name="Object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2"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Oval 17"/>
            <p:cNvSpPr>
              <a:spLocks noChangeArrowheads="1"/>
            </p:cNvSpPr>
            <p:nvPr/>
          </p:nvSpPr>
          <p:spPr bwMode="auto">
            <a:xfrm>
              <a:off x="3888" y="2688"/>
              <a:ext cx="384" cy="624"/>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9" name="Oval 18"/>
            <p:cNvSpPr>
              <a:spLocks noChangeArrowheads="1"/>
            </p:cNvSpPr>
            <p:nvPr/>
          </p:nvSpPr>
          <p:spPr bwMode="auto">
            <a:xfrm>
              <a:off x="4272" y="3024"/>
              <a:ext cx="480" cy="480"/>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grpSp>
      <p:sp>
        <p:nvSpPr>
          <p:cNvPr id="20" name="Line 19"/>
          <p:cNvSpPr>
            <a:spLocks noChangeShapeType="1"/>
          </p:cNvSpPr>
          <p:nvPr/>
        </p:nvSpPr>
        <p:spPr bwMode="auto">
          <a:xfrm>
            <a:off x="2873375" y="5052095"/>
            <a:ext cx="3048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1" name="Line 20"/>
          <p:cNvSpPr>
            <a:spLocks noChangeShapeType="1"/>
          </p:cNvSpPr>
          <p:nvPr/>
        </p:nvSpPr>
        <p:spPr bwMode="auto">
          <a:xfrm>
            <a:off x="5692775" y="4975895"/>
            <a:ext cx="3048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内容占位符 2"/>
          <p:cNvSpPr txBox="1"/>
          <p:nvPr/>
        </p:nvSpPr>
        <p:spPr>
          <a:xfrm>
            <a:off x="395287" y="1196752"/>
            <a:ext cx="8353425" cy="4267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20000"/>
              </a:lnSpc>
              <a:spcBef>
                <a:spcPts val="600"/>
              </a:spcBef>
              <a:buSzPct val="100000"/>
              <a:buFont typeface="Wingdings" panose="05000000000000000000" pitchFamily="2" charset="2"/>
              <a:buChar char="n"/>
              <a:defRPr/>
            </a:pPr>
            <a:r>
              <a:rPr lang="en-US" altLang="zh-CN" sz="2800" b="0" dirty="0">
                <a:solidFill>
                  <a:srgbClr val="FF0000"/>
                </a:solidFill>
                <a:latin typeface="Calibri" panose="020F0502020204030204" pitchFamily="34" charset="0"/>
                <a:cs typeface="Calibri" panose="020F0502020204030204" pitchFamily="34" charset="0"/>
              </a:rPr>
              <a:t>DIANA (Divisive Analysis)</a:t>
            </a:r>
            <a:r>
              <a:rPr lang="zh-CN" altLang="en-US" sz="2800" b="0" dirty="0">
                <a:solidFill>
                  <a:srgbClr val="FF0000"/>
                </a:solidFill>
                <a:latin typeface="Calibri" panose="020F0502020204030204" pitchFamily="34" charset="0"/>
                <a:cs typeface="Calibri" panose="020F0502020204030204" pitchFamily="34" charset="0"/>
              </a:rPr>
              <a:t>：</a:t>
            </a:r>
            <a:r>
              <a:rPr lang="zh-CN" altLang="en-US" sz="28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由 </a:t>
            </a:r>
            <a:r>
              <a:rPr lang="en-US" altLang="zh-CN" sz="2800" b="0" kern="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Kaufmann</a:t>
            </a:r>
            <a:r>
              <a:rPr lang="zh-CN" altLang="en-US" sz="28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和</a:t>
            </a:r>
            <a:r>
              <a:rPr lang="en-US" altLang="zh-CN" sz="2800" b="0" kern="0" dirty="0" err="1">
                <a:solidFill>
                  <a:srgbClr val="0070C0"/>
                </a:solidFill>
                <a:latin typeface="Calibri" panose="020F0502020204030204" pitchFamily="34" charset="0"/>
                <a:ea typeface="方正兰亭中黑_GBK" panose="02000000000000000000" pitchFamily="2" charset="-122"/>
                <a:cs typeface="Calibri" panose="020F0502020204030204" pitchFamily="34" charset="0"/>
              </a:rPr>
              <a:t>Rousseeuw</a:t>
            </a:r>
            <a:r>
              <a:rPr lang="zh-CN" altLang="en-US" sz="28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提出(</a:t>
            </a:r>
            <a:r>
              <a:rPr lang="zh-CN" altLang="en-US" sz="2800" b="0" kern="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1990</a:t>
            </a:r>
            <a:r>
              <a:rPr lang="zh-CN" altLang="en-US" sz="28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a:t>
            </a:r>
            <a:endParaRPr lang="en-US" altLang="zh-CN" sz="28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6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是 </a:t>
            </a:r>
            <a:r>
              <a:rPr lang="en-US" altLang="zh-CN" sz="2400" b="0" kern="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AGNES</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的逆</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600"/>
              </a:spcBef>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最终每个节点自己形成一个簇</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eaLnBrk="1" hangingPunct="1">
              <a:lnSpc>
                <a:spcPct val="120000"/>
              </a:lnSpc>
              <a:spcBef>
                <a:spcPts val="600"/>
              </a:spcBef>
              <a:buSzPct val="100000"/>
              <a:buFont typeface="Wingdings" panose="05000000000000000000" pitchFamily="2" charset="2"/>
              <a:buChar char="n"/>
              <a:defRPr/>
            </a:pPr>
            <a:endParaRPr lang="en-US" altLang="zh-CN" sz="2800" b="0" kern="1200" dirty="0">
              <a:solidFill>
                <a:srgbClr val="C00000"/>
              </a:solidFill>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p:txBody>
      </p:sp>
      <p:grpSp>
        <p:nvGrpSpPr>
          <p:cNvPr id="4" name="Group 4"/>
          <p:cNvGrpSpPr/>
          <p:nvPr/>
        </p:nvGrpSpPr>
        <p:grpSpPr bwMode="auto">
          <a:xfrm>
            <a:off x="693737" y="3674839"/>
            <a:ext cx="2209800" cy="2017713"/>
            <a:chOff x="3552" y="2496"/>
            <a:chExt cx="1392" cy="1271"/>
          </a:xfrm>
        </p:grpSpPr>
        <p:graphicFrame>
          <p:nvGraphicFramePr>
            <p:cNvPr id="5" name="Object 5"/>
            <p:cNvGraphicFramePr>
              <a:graphicFrameLocks noChangeAspect="1"/>
            </p:cNvGraphicFramePr>
            <p:nvPr/>
          </p:nvGraphicFramePr>
          <p:xfrm>
            <a:off x="3552" y="2496"/>
            <a:ext cx="1392" cy="1271"/>
          </p:xfrm>
          <a:graphic>
            <a:graphicData uri="http://schemas.openxmlformats.org/presentationml/2006/ole">
              <mc:AlternateContent xmlns:mc="http://schemas.openxmlformats.org/markup-compatibility/2006">
                <mc:Choice xmlns:v="urn:schemas-microsoft-com:vml" Requires="v">
                  <p:oleObj spid="_x0000_s33800" name="Worksheet" r:id="rId1" imgW="2618740" imgH="2472055" progId="Excel.Sheet.8">
                    <p:embed/>
                  </p:oleObj>
                </mc:Choice>
                <mc:Fallback>
                  <p:oleObj name="Worksheet" r:id="rId1" imgW="2618740" imgH="2472055" progId="Excel.Sheet.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2"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Oval 6"/>
            <p:cNvSpPr>
              <a:spLocks noChangeArrowheads="1"/>
            </p:cNvSpPr>
            <p:nvPr/>
          </p:nvSpPr>
          <p:spPr bwMode="auto">
            <a:xfrm>
              <a:off x="3888" y="2688"/>
              <a:ext cx="384" cy="624"/>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7" name="Oval 7"/>
            <p:cNvSpPr>
              <a:spLocks noChangeArrowheads="1"/>
            </p:cNvSpPr>
            <p:nvPr/>
          </p:nvSpPr>
          <p:spPr bwMode="auto">
            <a:xfrm>
              <a:off x="4272" y="3024"/>
              <a:ext cx="480" cy="480"/>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grpSp>
      <p:grpSp>
        <p:nvGrpSpPr>
          <p:cNvPr id="8" name="Group 8"/>
          <p:cNvGrpSpPr/>
          <p:nvPr/>
        </p:nvGrpSpPr>
        <p:grpSpPr bwMode="auto">
          <a:xfrm>
            <a:off x="3360737" y="3711352"/>
            <a:ext cx="2209800" cy="2017712"/>
            <a:chOff x="1968" y="2496"/>
            <a:chExt cx="1392" cy="1271"/>
          </a:xfrm>
        </p:grpSpPr>
        <p:graphicFrame>
          <p:nvGraphicFramePr>
            <p:cNvPr id="9" name="Object 9"/>
            <p:cNvGraphicFramePr>
              <a:graphicFrameLocks noChangeAspect="1"/>
            </p:cNvGraphicFramePr>
            <p:nvPr/>
          </p:nvGraphicFramePr>
          <p:xfrm>
            <a:off x="1968" y="2496"/>
            <a:ext cx="1392" cy="1271"/>
          </p:xfrm>
          <a:graphic>
            <a:graphicData uri="http://schemas.openxmlformats.org/presentationml/2006/ole">
              <mc:AlternateContent xmlns:mc="http://schemas.openxmlformats.org/markup-compatibility/2006">
                <mc:Choice xmlns:v="urn:schemas-microsoft-com:vml" Requires="v">
                  <p:oleObj spid="_x0000_s33801" name="Worksheet" r:id="rId3" imgW="2618740" imgH="2472055" progId="Excel.Sheet.8">
                    <p:embed/>
                  </p:oleObj>
                </mc:Choice>
                <mc:Fallback>
                  <p:oleObj name="Worksheet" r:id="rId3" imgW="2618740" imgH="2472055" progId="Excel.Sheet.8">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 y="2496"/>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Oval 10"/>
            <p:cNvSpPr>
              <a:spLocks noChangeArrowheads="1"/>
            </p:cNvSpPr>
            <p:nvPr/>
          </p:nvSpPr>
          <p:spPr bwMode="auto">
            <a:xfrm>
              <a:off x="2736" y="3312"/>
              <a:ext cx="288" cy="192"/>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1" name="Oval 11"/>
            <p:cNvSpPr>
              <a:spLocks noChangeArrowheads="1"/>
            </p:cNvSpPr>
            <p:nvPr/>
          </p:nvSpPr>
          <p:spPr bwMode="auto">
            <a:xfrm>
              <a:off x="2256" y="2688"/>
              <a:ext cx="384" cy="384"/>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2" name="Oval 12"/>
            <p:cNvSpPr>
              <a:spLocks noChangeArrowheads="1"/>
            </p:cNvSpPr>
            <p:nvPr/>
          </p:nvSpPr>
          <p:spPr bwMode="auto">
            <a:xfrm>
              <a:off x="2352" y="3024"/>
              <a:ext cx="384" cy="240"/>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3" name="Oval 13"/>
            <p:cNvSpPr>
              <a:spLocks noChangeArrowheads="1"/>
            </p:cNvSpPr>
            <p:nvPr/>
          </p:nvSpPr>
          <p:spPr bwMode="auto">
            <a:xfrm>
              <a:off x="2832" y="3024"/>
              <a:ext cx="288" cy="288"/>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grpSp>
      <p:grpSp>
        <p:nvGrpSpPr>
          <p:cNvPr id="14" name="Group 14"/>
          <p:cNvGrpSpPr/>
          <p:nvPr/>
        </p:nvGrpSpPr>
        <p:grpSpPr bwMode="auto">
          <a:xfrm>
            <a:off x="6103937" y="3674839"/>
            <a:ext cx="2209800" cy="2017713"/>
            <a:chOff x="3792" y="2473"/>
            <a:chExt cx="1392" cy="1271"/>
          </a:xfrm>
        </p:grpSpPr>
        <p:graphicFrame>
          <p:nvGraphicFramePr>
            <p:cNvPr id="15" name="Object 15"/>
            <p:cNvGraphicFramePr>
              <a:graphicFrameLocks noChangeAspect="1"/>
            </p:cNvGraphicFramePr>
            <p:nvPr/>
          </p:nvGraphicFramePr>
          <p:xfrm>
            <a:off x="3792" y="2473"/>
            <a:ext cx="1392" cy="1271"/>
          </p:xfrm>
          <a:graphic>
            <a:graphicData uri="http://schemas.openxmlformats.org/presentationml/2006/ole">
              <mc:AlternateContent xmlns:mc="http://schemas.openxmlformats.org/markup-compatibility/2006">
                <mc:Choice xmlns:v="urn:schemas-microsoft-com:vml" Requires="v">
                  <p:oleObj spid="_x0000_s33802" name="Worksheet" r:id="rId4" imgW="2618740" imgH="2472055" progId="Excel.Sheet.8">
                    <p:embed/>
                  </p:oleObj>
                </mc:Choice>
                <mc:Fallback>
                  <p:oleObj name="Worksheet" r:id="rId4" imgW="2618740" imgH="2472055" progId="Excel.Sheet.8">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2" y="2473"/>
                          <a:ext cx="1392" cy="1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Oval 16"/>
            <p:cNvSpPr>
              <a:spLocks noChangeArrowheads="1"/>
            </p:cNvSpPr>
            <p:nvPr/>
          </p:nvSpPr>
          <p:spPr bwMode="auto">
            <a:xfrm>
              <a:off x="4224" y="2713"/>
              <a:ext cx="288" cy="288"/>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8" name="Oval 17"/>
            <p:cNvSpPr>
              <a:spLocks noChangeArrowheads="1"/>
            </p:cNvSpPr>
            <p:nvPr/>
          </p:nvSpPr>
          <p:spPr bwMode="auto">
            <a:xfrm>
              <a:off x="4224" y="3001"/>
              <a:ext cx="288" cy="288"/>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9" name="Oval 18"/>
            <p:cNvSpPr>
              <a:spLocks noChangeArrowheads="1"/>
            </p:cNvSpPr>
            <p:nvPr/>
          </p:nvSpPr>
          <p:spPr bwMode="auto">
            <a:xfrm>
              <a:off x="4800" y="3001"/>
              <a:ext cx="144" cy="288"/>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0" name="Oval 19"/>
            <p:cNvSpPr>
              <a:spLocks noChangeArrowheads="1"/>
            </p:cNvSpPr>
            <p:nvPr/>
          </p:nvSpPr>
          <p:spPr bwMode="auto">
            <a:xfrm>
              <a:off x="4128" y="2880"/>
              <a:ext cx="96" cy="192"/>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1" name="Oval 20"/>
            <p:cNvSpPr>
              <a:spLocks noChangeArrowheads="1"/>
            </p:cNvSpPr>
            <p:nvPr/>
          </p:nvSpPr>
          <p:spPr bwMode="auto">
            <a:xfrm rot="-5400000">
              <a:off x="4608" y="3216"/>
              <a:ext cx="144" cy="288"/>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2" name="Oval 21"/>
            <p:cNvSpPr>
              <a:spLocks noChangeArrowheads="1"/>
            </p:cNvSpPr>
            <p:nvPr/>
          </p:nvSpPr>
          <p:spPr bwMode="auto">
            <a:xfrm rot="-5400000">
              <a:off x="4704" y="3072"/>
              <a:ext cx="96" cy="192"/>
            </a:xfrm>
            <a:prstGeom prst="ellipse">
              <a:avLst/>
            </a:prstGeom>
            <a:noFill/>
            <a:ln w="28575">
              <a:solidFill>
                <a:schemeClr val="tx1"/>
              </a:solidFill>
              <a:prstDash val="lg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grpSp>
      <p:sp>
        <p:nvSpPr>
          <p:cNvPr id="23" name="Line 22"/>
          <p:cNvSpPr>
            <a:spLocks noChangeShapeType="1"/>
          </p:cNvSpPr>
          <p:nvPr/>
        </p:nvSpPr>
        <p:spPr bwMode="auto">
          <a:xfrm>
            <a:off x="2979737" y="4625752"/>
            <a:ext cx="3048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4" name="Line 23"/>
          <p:cNvSpPr>
            <a:spLocks noChangeShapeType="1"/>
          </p:cNvSpPr>
          <p:nvPr/>
        </p:nvSpPr>
        <p:spPr bwMode="auto">
          <a:xfrm>
            <a:off x="5722937" y="4701952"/>
            <a:ext cx="30480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内容占位符 2"/>
          <p:cNvSpPr txBox="1"/>
          <p:nvPr/>
        </p:nvSpPr>
        <p:spPr>
          <a:xfrm>
            <a:off x="287337" y="777851"/>
            <a:ext cx="8569325" cy="3887787"/>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20000"/>
              </a:lnSpc>
              <a:spcBef>
                <a:spcPts val="300"/>
              </a:spcBef>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四个广泛采用的簇间距离度量方法 </a:t>
            </a:r>
            <a:endPar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spcBef>
                <a:spcPts val="300"/>
              </a:spcBef>
              <a:buFont typeface="Wingdings" panose="05000000000000000000" pitchFamily="2" charset="2"/>
              <a:buChar char="ü"/>
              <a:defRPr/>
            </a:pPr>
            <a:r>
              <a:rPr lang="en-US" altLang="zh-CN" sz="2400" b="0" kern="0" dirty="0">
                <a:solidFill>
                  <a:srgbClr val="0000FF"/>
                </a:solidFill>
                <a:latin typeface="Calibri" panose="020F0502020204030204" pitchFamily="34" charset="0"/>
                <a:cs typeface="Calibri" panose="020F0502020204030204" pitchFamily="34" charset="0"/>
              </a:rPr>
              <a:t>Single linkage</a:t>
            </a:r>
            <a:r>
              <a:rPr lang="zh-CN" altLang="en-US" sz="2400" b="0" kern="0" dirty="0">
                <a:solidFill>
                  <a:srgbClr val="0000FF"/>
                </a:solidFill>
                <a:latin typeface="Calibri" panose="020F0502020204030204" pitchFamily="34" charset="0"/>
                <a:cs typeface="Calibri" panose="020F0502020204030204" pitchFamily="34" charset="0"/>
              </a:rPr>
              <a:t>：</a:t>
            </a:r>
            <a:r>
              <a:rPr lang="en-US" altLang="zh-CN" sz="2400" b="0" i="1" kern="0" dirty="0" err="1">
                <a:latin typeface="Calibri" panose="020F0502020204030204" pitchFamily="34" charset="0"/>
                <a:cs typeface="Calibri" panose="020F0502020204030204" pitchFamily="34" charset="0"/>
              </a:rPr>
              <a:t>d</a:t>
            </a:r>
            <a:r>
              <a:rPr lang="en-US" altLang="zh-CN" sz="2400" b="0" i="1" kern="0" baseline="-30000" dirty="0" err="1">
                <a:latin typeface="Calibri" panose="020F0502020204030204" pitchFamily="34" charset="0"/>
                <a:cs typeface="Calibri" panose="020F0502020204030204" pitchFamily="34" charset="0"/>
              </a:rPr>
              <a:t>min</a:t>
            </a:r>
            <a:r>
              <a:rPr lang="en-US" altLang="zh-CN" sz="2400" b="0" kern="0" dirty="0">
                <a:latin typeface="Calibri" panose="020F0502020204030204" pitchFamily="34" charset="0"/>
                <a:cs typeface="Calibri" panose="020F0502020204030204" pitchFamily="34" charset="0"/>
              </a:rPr>
              <a:t>(</a:t>
            </a:r>
            <a:r>
              <a:rPr lang="en-US" altLang="zh-CN" sz="2400" b="0" i="1" kern="0" dirty="0" err="1">
                <a:latin typeface="Calibri" panose="020F0502020204030204" pitchFamily="34" charset="0"/>
                <a:cs typeface="Calibri" panose="020F0502020204030204" pitchFamily="34" charset="0"/>
              </a:rPr>
              <a:t>C</a:t>
            </a:r>
            <a:r>
              <a:rPr lang="en-US" altLang="zh-CN" sz="2400" b="0" i="1" kern="0" baseline="-30000" dirty="0" err="1">
                <a:latin typeface="Calibri" panose="020F0502020204030204" pitchFamily="34" charset="0"/>
                <a:cs typeface="Calibri" panose="020F0502020204030204" pitchFamily="34" charset="0"/>
              </a:rPr>
              <a:t>i</a:t>
            </a:r>
            <a:r>
              <a:rPr lang="en-US" altLang="zh-CN" sz="2400" b="0" i="1" kern="0" dirty="0" err="1">
                <a:latin typeface="Calibri" panose="020F0502020204030204" pitchFamily="34" charset="0"/>
                <a:cs typeface="Calibri" panose="020F0502020204030204" pitchFamily="34" charset="0"/>
              </a:rPr>
              <a:t>,C</a:t>
            </a:r>
            <a:r>
              <a:rPr lang="en-US" altLang="zh-CN" sz="2400" b="0" i="1" kern="0" baseline="-30000" dirty="0" err="1">
                <a:latin typeface="Calibri" panose="020F0502020204030204" pitchFamily="34" charset="0"/>
                <a:cs typeface="Calibri" panose="020F0502020204030204" pitchFamily="34" charset="0"/>
              </a:rPr>
              <a:t>j</a:t>
            </a:r>
            <a:r>
              <a:rPr lang="en-US" altLang="zh-CN" sz="2400" b="0" kern="0" dirty="0">
                <a:latin typeface="Calibri" panose="020F0502020204030204" pitchFamily="34" charset="0"/>
                <a:cs typeface="Calibri" panose="020F0502020204030204" pitchFamily="34" charset="0"/>
              </a:rPr>
              <a:t>) = </a:t>
            </a:r>
            <a:r>
              <a:rPr lang="en-US" altLang="zh-CN" sz="2400" b="0" i="1" kern="0" dirty="0">
                <a:latin typeface="Calibri" panose="020F0502020204030204" pitchFamily="34" charset="0"/>
                <a:cs typeface="Calibri" panose="020F0502020204030204" pitchFamily="34" charset="0"/>
              </a:rPr>
              <a:t>min</a:t>
            </a:r>
            <a:r>
              <a:rPr lang="en-US" altLang="zh-CN" sz="2400" b="0" kern="0" dirty="0">
                <a:latin typeface="Calibri" panose="020F0502020204030204" pitchFamily="34" charset="0"/>
                <a:cs typeface="Calibri" panose="020F0502020204030204" pitchFamily="34" charset="0"/>
              </a:rPr>
              <a:t> </a:t>
            </a:r>
            <a:r>
              <a:rPr lang="en-US" altLang="zh-CN" sz="2400" b="0" kern="0" baseline="-30000" dirty="0" err="1">
                <a:latin typeface="Calibri" panose="020F0502020204030204" pitchFamily="34" charset="0"/>
                <a:cs typeface="Calibri" panose="020F0502020204030204" pitchFamily="34" charset="0"/>
              </a:rPr>
              <a:t>p∈Ci</a:t>
            </a:r>
            <a:r>
              <a:rPr lang="en-US" altLang="zh-CN" sz="2400" b="0" kern="0" baseline="-30000" dirty="0">
                <a:latin typeface="Calibri" panose="020F0502020204030204" pitchFamily="34" charset="0"/>
                <a:cs typeface="Calibri" panose="020F0502020204030204" pitchFamily="34" charset="0"/>
              </a:rPr>
              <a:t>, p’∈</a:t>
            </a:r>
            <a:r>
              <a:rPr lang="en-US" altLang="zh-CN" sz="2400" b="0" kern="0" baseline="-30000" dirty="0" err="1">
                <a:latin typeface="Calibri" panose="020F0502020204030204" pitchFamily="34" charset="0"/>
                <a:cs typeface="Calibri" panose="020F0502020204030204" pitchFamily="34" charset="0"/>
              </a:rPr>
              <a:t>Cj</a:t>
            </a:r>
            <a:r>
              <a:rPr lang="en-US" altLang="zh-CN" sz="2400" b="0" kern="0" dirty="0">
                <a:latin typeface="Calibri" panose="020F0502020204030204" pitchFamily="34" charset="0"/>
                <a:cs typeface="Calibri" panose="020F0502020204030204" pitchFamily="34" charset="0"/>
              </a:rPr>
              <a:t> </a:t>
            </a:r>
            <a:r>
              <a:rPr lang="en-US" altLang="zh-CN" sz="2400" b="0" i="1" kern="0" dirty="0">
                <a:latin typeface="Calibri" panose="020F0502020204030204" pitchFamily="34" charset="0"/>
                <a:cs typeface="Calibri" panose="020F0502020204030204" pitchFamily="34" charset="0"/>
              </a:rPr>
              <a:t>|p-p’</a:t>
            </a:r>
            <a:r>
              <a:rPr lang="en-US" altLang="zh-CN" sz="2400" b="0" kern="0" dirty="0">
                <a:latin typeface="Calibri" panose="020F0502020204030204" pitchFamily="34" charset="0"/>
                <a:cs typeface="Calibri" panose="020F0502020204030204" pitchFamily="34" charset="0"/>
              </a:rPr>
              <a:t>| </a:t>
            </a:r>
            <a:endParaRPr lang="en-US" altLang="zh-CN" sz="2400" b="0" kern="0" dirty="0">
              <a:latin typeface="Calibri" panose="020F0502020204030204" pitchFamily="34" charset="0"/>
              <a:cs typeface="Calibri" panose="020F0502020204030204" pitchFamily="34" charset="0"/>
            </a:endParaRPr>
          </a:p>
          <a:p>
            <a:pPr lvl="1" eaLnBrk="1" hangingPunct="1">
              <a:lnSpc>
                <a:spcPct val="120000"/>
              </a:lnSpc>
              <a:spcBef>
                <a:spcPts val="300"/>
              </a:spcBef>
              <a:buFont typeface="Wingdings" panose="05000000000000000000" pitchFamily="2" charset="2"/>
              <a:buChar char="ü"/>
              <a:defRPr/>
            </a:pPr>
            <a:r>
              <a:rPr lang="en-US" altLang="zh-CN" sz="2400" b="0" kern="0" dirty="0">
                <a:solidFill>
                  <a:srgbClr val="0000FF"/>
                </a:solidFill>
                <a:latin typeface="Calibri" panose="020F0502020204030204" pitchFamily="34" charset="0"/>
                <a:cs typeface="Calibri" panose="020F0502020204030204" pitchFamily="34" charset="0"/>
              </a:rPr>
              <a:t>Complete linkage</a:t>
            </a:r>
            <a:r>
              <a:rPr lang="zh-CN" altLang="en-US" sz="2400" b="0" kern="0" dirty="0">
                <a:solidFill>
                  <a:srgbClr val="0000FF"/>
                </a:solidFill>
                <a:latin typeface="Calibri" panose="020F0502020204030204" pitchFamily="34" charset="0"/>
                <a:cs typeface="Calibri" panose="020F0502020204030204" pitchFamily="34" charset="0"/>
              </a:rPr>
              <a:t>：</a:t>
            </a:r>
            <a:r>
              <a:rPr lang="en-US" altLang="zh-CN" sz="2400" b="0" i="1" kern="0" dirty="0" err="1">
                <a:latin typeface="Calibri" panose="020F0502020204030204" pitchFamily="34" charset="0"/>
                <a:cs typeface="Calibri" panose="020F0502020204030204" pitchFamily="34" charset="0"/>
              </a:rPr>
              <a:t>d</a:t>
            </a:r>
            <a:r>
              <a:rPr lang="en-US" altLang="zh-CN" sz="2400" b="0" i="1" kern="0" baseline="-30000" dirty="0" err="1">
                <a:latin typeface="Calibri" panose="020F0502020204030204" pitchFamily="34" charset="0"/>
                <a:cs typeface="Calibri" panose="020F0502020204030204" pitchFamily="34" charset="0"/>
              </a:rPr>
              <a:t>max</a:t>
            </a:r>
            <a:r>
              <a:rPr lang="en-US" altLang="zh-CN" sz="2400" b="0" kern="0" dirty="0">
                <a:latin typeface="Calibri" panose="020F0502020204030204" pitchFamily="34" charset="0"/>
                <a:cs typeface="Calibri" panose="020F0502020204030204" pitchFamily="34" charset="0"/>
              </a:rPr>
              <a:t>(</a:t>
            </a:r>
            <a:r>
              <a:rPr lang="en-US" altLang="zh-CN" sz="2400" b="0" i="1" kern="0" dirty="0" err="1">
                <a:latin typeface="Calibri" panose="020F0502020204030204" pitchFamily="34" charset="0"/>
                <a:cs typeface="Calibri" panose="020F0502020204030204" pitchFamily="34" charset="0"/>
              </a:rPr>
              <a:t>C</a:t>
            </a:r>
            <a:r>
              <a:rPr lang="en-US" altLang="zh-CN" sz="2400" b="0" i="1" kern="0" baseline="-30000" dirty="0" err="1">
                <a:latin typeface="Calibri" panose="020F0502020204030204" pitchFamily="34" charset="0"/>
                <a:cs typeface="Calibri" panose="020F0502020204030204" pitchFamily="34" charset="0"/>
              </a:rPr>
              <a:t>i</a:t>
            </a:r>
            <a:r>
              <a:rPr lang="en-US" altLang="zh-CN" sz="2400" b="0" i="1" kern="0" dirty="0" err="1">
                <a:latin typeface="Calibri" panose="020F0502020204030204" pitchFamily="34" charset="0"/>
                <a:cs typeface="Calibri" panose="020F0502020204030204" pitchFamily="34" charset="0"/>
              </a:rPr>
              <a:t>,C</a:t>
            </a:r>
            <a:r>
              <a:rPr lang="en-US" altLang="zh-CN" sz="2400" b="0" i="1" kern="0" baseline="-30000" dirty="0" err="1">
                <a:latin typeface="Calibri" panose="020F0502020204030204" pitchFamily="34" charset="0"/>
                <a:cs typeface="Calibri" panose="020F0502020204030204" pitchFamily="34" charset="0"/>
              </a:rPr>
              <a:t>j</a:t>
            </a:r>
            <a:r>
              <a:rPr lang="en-US" altLang="zh-CN" sz="2400" b="0" kern="0" dirty="0">
                <a:latin typeface="Calibri" panose="020F0502020204030204" pitchFamily="34" charset="0"/>
                <a:cs typeface="Calibri" panose="020F0502020204030204" pitchFamily="34" charset="0"/>
              </a:rPr>
              <a:t>) = </a:t>
            </a:r>
            <a:r>
              <a:rPr lang="en-US" altLang="zh-CN" sz="2400" b="0" i="1" kern="0" dirty="0">
                <a:latin typeface="Calibri" panose="020F0502020204030204" pitchFamily="34" charset="0"/>
                <a:cs typeface="Calibri" panose="020F0502020204030204" pitchFamily="34" charset="0"/>
              </a:rPr>
              <a:t>max</a:t>
            </a:r>
            <a:r>
              <a:rPr lang="en-US" altLang="zh-CN" sz="2400" b="0" kern="0" dirty="0">
                <a:latin typeface="Calibri" panose="020F0502020204030204" pitchFamily="34" charset="0"/>
                <a:cs typeface="Calibri" panose="020F0502020204030204" pitchFamily="34" charset="0"/>
              </a:rPr>
              <a:t> </a:t>
            </a:r>
            <a:r>
              <a:rPr lang="en-US" altLang="zh-CN" sz="2400" b="0" kern="0" baseline="-30000" dirty="0" err="1">
                <a:latin typeface="Calibri" panose="020F0502020204030204" pitchFamily="34" charset="0"/>
                <a:cs typeface="Calibri" panose="020F0502020204030204" pitchFamily="34" charset="0"/>
              </a:rPr>
              <a:t>p∈Ci</a:t>
            </a:r>
            <a:r>
              <a:rPr lang="en-US" altLang="zh-CN" sz="2400" b="0" kern="0" baseline="-30000" dirty="0">
                <a:latin typeface="Calibri" panose="020F0502020204030204" pitchFamily="34" charset="0"/>
                <a:cs typeface="Calibri" panose="020F0502020204030204" pitchFamily="34" charset="0"/>
              </a:rPr>
              <a:t>, p’∈</a:t>
            </a:r>
            <a:r>
              <a:rPr lang="en-US" altLang="zh-CN" sz="2400" b="0" kern="0" baseline="-30000" dirty="0" err="1">
                <a:latin typeface="Calibri" panose="020F0502020204030204" pitchFamily="34" charset="0"/>
                <a:cs typeface="Calibri" panose="020F0502020204030204" pitchFamily="34" charset="0"/>
              </a:rPr>
              <a:t>Cj</a:t>
            </a:r>
            <a:r>
              <a:rPr lang="en-US" altLang="zh-CN" sz="2400" b="0" kern="0" dirty="0">
                <a:latin typeface="Calibri" panose="020F0502020204030204" pitchFamily="34" charset="0"/>
                <a:cs typeface="Calibri" panose="020F0502020204030204" pitchFamily="34" charset="0"/>
              </a:rPr>
              <a:t> |</a:t>
            </a:r>
            <a:r>
              <a:rPr lang="en-US" altLang="zh-CN" sz="2400" b="0" i="1" kern="0" dirty="0">
                <a:latin typeface="Calibri" panose="020F0502020204030204" pitchFamily="34" charset="0"/>
                <a:cs typeface="Calibri" panose="020F0502020204030204" pitchFamily="34" charset="0"/>
              </a:rPr>
              <a:t>p-p’</a:t>
            </a:r>
            <a:r>
              <a:rPr lang="en-US" altLang="zh-CN" sz="2400" b="0" kern="0" dirty="0">
                <a:latin typeface="Calibri" panose="020F0502020204030204" pitchFamily="34" charset="0"/>
                <a:cs typeface="Calibri" panose="020F0502020204030204" pitchFamily="34" charset="0"/>
              </a:rPr>
              <a:t>| </a:t>
            </a:r>
            <a:endParaRPr lang="en-US" altLang="zh-CN" sz="2400" b="0" kern="0" dirty="0">
              <a:latin typeface="Calibri" panose="020F0502020204030204" pitchFamily="34" charset="0"/>
              <a:cs typeface="Calibri" panose="020F0502020204030204" pitchFamily="34" charset="0"/>
            </a:endParaRPr>
          </a:p>
          <a:p>
            <a:pPr lvl="1" eaLnBrk="1" hangingPunct="1">
              <a:lnSpc>
                <a:spcPct val="120000"/>
              </a:lnSpc>
              <a:spcBef>
                <a:spcPts val="300"/>
              </a:spcBef>
              <a:buFont typeface="Wingdings" panose="05000000000000000000" pitchFamily="2" charset="2"/>
              <a:buChar char="ü"/>
              <a:defRPr/>
            </a:pPr>
            <a:r>
              <a:rPr lang="en-US" altLang="zh-CN" sz="2400" b="0" kern="0" dirty="0">
                <a:solidFill>
                  <a:srgbClr val="0000FF"/>
                </a:solidFill>
                <a:latin typeface="Calibri" panose="020F0502020204030204" pitchFamily="34" charset="0"/>
                <a:cs typeface="Calibri" panose="020F0502020204030204" pitchFamily="34" charset="0"/>
              </a:rPr>
              <a:t>Distance Between Centroids</a:t>
            </a:r>
            <a:r>
              <a:rPr lang="zh-CN" altLang="en-US" sz="2400" b="0" kern="0" dirty="0">
                <a:solidFill>
                  <a:srgbClr val="0000FF"/>
                </a:solidFill>
                <a:latin typeface="Calibri" panose="020F0502020204030204" pitchFamily="34" charset="0"/>
                <a:cs typeface="Calibri" panose="020F0502020204030204" pitchFamily="34" charset="0"/>
              </a:rPr>
              <a:t>：</a:t>
            </a:r>
            <a:r>
              <a:rPr lang="en-US" altLang="zh-CN" sz="2400" b="0" i="1" kern="0" dirty="0" err="1">
                <a:latin typeface="Calibri" panose="020F0502020204030204" pitchFamily="34" charset="0"/>
                <a:cs typeface="Calibri" panose="020F0502020204030204" pitchFamily="34" charset="0"/>
              </a:rPr>
              <a:t>d</a:t>
            </a:r>
            <a:r>
              <a:rPr lang="en-US" altLang="zh-CN" sz="2400" b="0" i="1" kern="0" baseline="-30000" dirty="0" err="1">
                <a:latin typeface="Calibri" panose="020F0502020204030204" pitchFamily="34" charset="0"/>
                <a:cs typeface="Calibri" panose="020F0502020204030204" pitchFamily="34" charset="0"/>
              </a:rPr>
              <a:t>mean</a:t>
            </a:r>
            <a:r>
              <a:rPr lang="en-US" altLang="zh-CN" sz="2400" b="0" kern="0" dirty="0">
                <a:latin typeface="Calibri" panose="020F0502020204030204" pitchFamily="34" charset="0"/>
                <a:cs typeface="Calibri" panose="020F0502020204030204" pitchFamily="34" charset="0"/>
              </a:rPr>
              <a:t>(</a:t>
            </a:r>
            <a:r>
              <a:rPr lang="en-US" altLang="zh-CN" sz="2400" b="0" i="1" kern="0" dirty="0" err="1">
                <a:latin typeface="Calibri" panose="020F0502020204030204" pitchFamily="34" charset="0"/>
                <a:cs typeface="Calibri" panose="020F0502020204030204" pitchFamily="34" charset="0"/>
              </a:rPr>
              <a:t>C</a:t>
            </a:r>
            <a:r>
              <a:rPr lang="en-US" altLang="zh-CN" sz="2400" b="0" i="1" kern="0" baseline="-30000" dirty="0" err="1">
                <a:latin typeface="Calibri" panose="020F0502020204030204" pitchFamily="34" charset="0"/>
                <a:cs typeface="Calibri" panose="020F0502020204030204" pitchFamily="34" charset="0"/>
              </a:rPr>
              <a:t>i</a:t>
            </a:r>
            <a:r>
              <a:rPr lang="en-US" altLang="zh-CN" sz="2400" b="0" i="1" kern="0" dirty="0" err="1">
                <a:latin typeface="Calibri" panose="020F0502020204030204" pitchFamily="34" charset="0"/>
                <a:cs typeface="Calibri" panose="020F0502020204030204" pitchFamily="34" charset="0"/>
              </a:rPr>
              <a:t>,C</a:t>
            </a:r>
            <a:r>
              <a:rPr lang="en-US" altLang="zh-CN" sz="2400" b="0" i="1" kern="0" baseline="-30000" dirty="0" err="1">
                <a:latin typeface="Calibri" panose="020F0502020204030204" pitchFamily="34" charset="0"/>
                <a:cs typeface="Calibri" panose="020F0502020204030204" pitchFamily="34" charset="0"/>
              </a:rPr>
              <a:t>j</a:t>
            </a:r>
            <a:r>
              <a:rPr lang="en-US" altLang="zh-CN" sz="2400" b="0" kern="0" dirty="0">
                <a:latin typeface="Calibri" panose="020F0502020204030204" pitchFamily="34" charset="0"/>
                <a:cs typeface="Calibri" panose="020F0502020204030204" pitchFamily="34" charset="0"/>
              </a:rPr>
              <a:t>) = | </a:t>
            </a:r>
            <a:r>
              <a:rPr lang="en-US" altLang="zh-CN" sz="2400" b="0" i="1" kern="0" dirty="0">
                <a:latin typeface="Calibri" panose="020F0502020204030204" pitchFamily="34" charset="0"/>
                <a:cs typeface="Calibri" panose="020F0502020204030204" pitchFamily="34" charset="0"/>
              </a:rPr>
              <a:t>m</a:t>
            </a:r>
            <a:r>
              <a:rPr lang="en-US" altLang="zh-CN" sz="2400" b="0" i="1" kern="0" baseline="-30000" dirty="0">
                <a:latin typeface="Calibri" panose="020F0502020204030204" pitchFamily="34" charset="0"/>
                <a:cs typeface="Calibri" panose="020F0502020204030204" pitchFamily="34" charset="0"/>
              </a:rPr>
              <a:t>i</a:t>
            </a:r>
            <a:r>
              <a:rPr lang="en-US" altLang="zh-CN" sz="2400" b="0" i="1" kern="0" dirty="0">
                <a:latin typeface="Calibri" panose="020F0502020204030204" pitchFamily="34" charset="0"/>
                <a:cs typeface="Calibri" panose="020F0502020204030204" pitchFamily="34" charset="0"/>
              </a:rPr>
              <a:t> - </a:t>
            </a:r>
            <a:r>
              <a:rPr lang="en-US" altLang="zh-CN" sz="2400" b="0" i="1" kern="0" dirty="0" err="1">
                <a:latin typeface="Calibri" panose="020F0502020204030204" pitchFamily="34" charset="0"/>
                <a:cs typeface="Calibri" panose="020F0502020204030204" pitchFamily="34" charset="0"/>
              </a:rPr>
              <a:t>m</a:t>
            </a:r>
            <a:r>
              <a:rPr lang="en-US" altLang="zh-CN" sz="2400" b="0" i="1" kern="0" baseline="-30000" dirty="0" err="1">
                <a:latin typeface="Calibri" panose="020F0502020204030204" pitchFamily="34" charset="0"/>
                <a:cs typeface="Calibri" panose="020F0502020204030204" pitchFamily="34" charset="0"/>
              </a:rPr>
              <a:t>j</a:t>
            </a:r>
            <a:r>
              <a:rPr lang="en-US" altLang="zh-CN" sz="2400" b="0" kern="0" dirty="0">
                <a:latin typeface="Calibri" panose="020F0502020204030204" pitchFamily="34" charset="0"/>
                <a:cs typeface="Calibri" panose="020F0502020204030204" pitchFamily="34" charset="0"/>
              </a:rPr>
              <a:t> | </a:t>
            </a:r>
            <a:endParaRPr lang="en-US" altLang="zh-CN" sz="2400" b="0" kern="0" dirty="0">
              <a:latin typeface="Calibri" panose="020F0502020204030204" pitchFamily="34" charset="0"/>
              <a:cs typeface="Calibri" panose="020F0502020204030204" pitchFamily="34" charset="0"/>
            </a:endParaRPr>
          </a:p>
          <a:p>
            <a:pPr lvl="1" eaLnBrk="1" hangingPunct="1">
              <a:lnSpc>
                <a:spcPct val="120000"/>
              </a:lnSpc>
              <a:spcBef>
                <a:spcPts val="300"/>
              </a:spcBef>
              <a:buFont typeface="Wingdings" panose="05000000000000000000" pitchFamily="2" charset="2"/>
              <a:buChar char="ü"/>
              <a:defRPr/>
            </a:pPr>
            <a:r>
              <a:rPr lang="en-US" altLang="zh-CN" sz="2400" b="0" kern="0" dirty="0">
                <a:solidFill>
                  <a:srgbClr val="0000FF"/>
                </a:solidFill>
                <a:latin typeface="Calibri" panose="020F0502020204030204" pitchFamily="34" charset="0"/>
                <a:cs typeface="Calibri" panose="020F0502020204030204" pitchFamily="34" charset="0"/>
              </a:rPr>
              <a:t>Group Average</a:t>
            </a:r>
            <a:r>
              <a:rPr lang="zh-CN" altLang="en-US" sz="2400" b="0" kern="0" dirty="0">
                <a:solidFill>
                  <a:srgbClr val="0000FF"/>
                </a:solidFill>
                <a:latin typeface="Calibri" panose="020F0502020204030204" pitchFamily="34" charset="0"/>
                <a:cs typeface="Calibri" panose="020F0502020204030204" pitchFamily="34" charset="0"/>
              </a:rPr>
              <a:t>：</a:t>
            </a:r>
            <a:r>
              <a:rPr lang="en-US" altLang="zh-CN" sz="2400" b="0" i="1" kern="0" dirty="0" err="1">
                <a:latin typeface="Calibri" panose="020F0502020204030204" pitchFamily="34" charset="0"/>
                <a:cs typeface="Calibri" panose="020F0502020204030204" pitchFamily="34" charset="0"/>
              </a:rPr>
              <a:t>d</a:t>
            </a:r>
            <a:r>
              <a:rPr lang="en-US" altLang="zh-CN" sz="2400" b="0" i="1" kern="0" baseline="-30000" dirty="0" err="1">
                <a:latin typeface="Calibri" panose="020F0502020204030204" pitchFamily="34" charset="0"/>
                <a:cs typeface="Calibri" panose="020F0502020204030204" pitchFamily="34" charset="0"/>
              </a:rPr>
              <a:t>avg</a:t>
            </a:r>
            <a:r>
              <a:rPr lang="en-US" altLang="zh-CN" sz="2400" b="0" kern="0" dirty="0">
                <a:latin typeface="Calibri" panose="020F0502020204030204" pitchFamily="34" charset="0"/>
                <a:cs typeface="Calibri" panose="020F0502020204030204" pitchFamily="34" charset="0"/>
              </a:rPr>
              <a:t>(</a:t>
            </a:r>
            <a:r>
              <a:rPr lang="en-US" altLang="zh-CN" sz="2400" b="0" i="1" kern="0" dirty="0" err="1">
                <a:latin typeface="Calibri" panose="020F0502020204030204" pitchFamily="34" charset="0"/>
                <a:cs typeface="Calibri" panose="020F0502020204030204" pitchFamily="34" charset="0"/>
              </a:rPr>
              <a:t>C</a:t>
            </a:r>
            <a:r>
              <a:rPr lang="en-US" altLang="zh-CN" sz="2400" b="0" i="1" kern="0" baseline="-30000" dirty="0" err="1">
                <a:latin typeface="Calibri" panose="020F0502020204030204" pitchFamily="34" charset="0"/>
                <a:cs typeface="Calibri" panose="020F0502020204030204" pitchFamily="34" charset="0"/>
              </a:rPr>
              <a:t>i</a:t>
            </a:r>
            <a:r>
              <a:rPr lang="en-US" altLang="zh-CN" sz="2400" b="0" i="1" kern="0" dirty="0" err="1">
                <a:latin typeface="Calibri" panose="020F0502020204030204" pitchFamily="34" charset="0"/>
                <a:cs typeface="Calibri" panose="020F0502020204030204" pitchFamily="34" charset="0"/>
              </a:rPr>
              <a:t>,C</a:t>
            </a:r>
            <a:r>
              <a:rPr lang="en-US" altLang="zh-CN" sz="2400" b="0" i="1" kern="0" baseline="-30000" dirty="0" err="1">
                <a:latin typeface="Calibri" panose="020F0502020204030204" pitchFamily="34" charset="0"/>
                <a:cs typeface="Calibri" panose="020F0502020204030204" pitchFamily="34" charset="0"/>
              </a:rPr>
              <a:t>j</a:t>
            </a:r>
            <a:r>
              <a:rPr lang="en-US" altLang="zh-CN" sz="2400" b="0" kern="0" dirty="0">
                <a:latin typeface="Calibri" panose="020F0502020204030204" pitchFamily="34" charset="0"/>
                <a:cs typeface="Calibri" panose="020F0502020204030204" pitchFamily="34" charset="0"/>
              </a:rPr>
              <a:t>) =∑ </a:t>
            </a:r>
            <a:r>
              <a:rPr lang="en-US" altLang="zh-CN" sz="2400" b="0" kern="0" baseline="-30000" dirty="0" err="1">
                <a:latin typeface="Calibri" panose="020F0502020204030204" pitchFamily="34" charset="0"/>
                <a:cs typeface="Calibri" panose="020F0502020204030204" pitchFamily="34" charset="0"/>
              </a:rPr>
              <a:t>p∈Ci</a:t>
            </a:r>
            <a:r>
              <a:rPr lang="en-US" altLang="zh-CN" sz="2400" b="0" kern="0" baseline="-30000" dirty="0">
                <a:latin typeface="Calibri" panose="020F0502020204030204" pitchFamily="34" charset="0"/>
                <a:cs typeface="Calibri" panose="020F0502020204030204" pitchFamily="34" charset="0"/>
              </a:rPr>
              <a:t> </a:t>
            </a:r>
            <a:r>
              <a:rPr lang="en-US" altLang="zh-CN" sz="2400" b="0" kern="0" dirty="0">
                <a:latin typeface="Calibri" panose="020F0502020204030204" pitchFamily="34" charset="0"/>
                <a:cs typeface="Calibri" panose="020F0502020204030204" pitchFamily="34" charset="0"/>
              </a:rPr>
              <a:t>∑</a:t>
            </a:r>
            <a:r>
              <a:rPr lang="en-US" altLang="zh-CN" sz="2400" b="0" kern="0" baseline="-30000" dirty="0">
                <a:latin typeface="Calibri" panose="020F0502020204030204" pitchFamily="34" charset="0"/>
                <a:cs typeface="Calibri" panose="020F0502020204030204" pitchFamily="34" charset="0"/>
              </a:rPr>
              <a:t>p’∈</a:t>
            </a:r>
            <a:r>
              <a:rPr lang="en-US" altLang="zh-CN" sz="2400" b="0" kern="0" baseline="-30000" dirty="0" err="1">
                <a:latin typeface="Calibri" panose="020F0502020204030204" pitchFamily="34" charset="0"/>
                <a:cs typeface="Calibri" panose="020F0502020204030204" pitchFamily="34" charset="0"/>
              </a:rPr>
              <a:t>Cj</a:t>
            </a:r>
            <a:r>
              <a:rPr lang="en-US" altLang="zh-CN" sz="2400" b="0" kern="0" dirty="0">
                <a:latin typeface="Calibri" panose="020F0502020204030204" pitchFamily="34" charset="0"/>
                <a:cs typeface="Calibri" panose="020F0502020204030204" pitchFamily="34" charset="0"/>
              </a:rPr>
              <a:t> |</a:t>
            </a:r>
            <a:r>
              <a:rPr lang="en-US" altLang="zh-CN" sz="2400" b="0" i="1" kern="0" dirty="0">
                <a:latin typeface="Calibri" panose="020F0502020204030204" pitchFamily="34" charset="0"/>
                <a:cs typeface="Calibri" panose="020F0502020204030204" pitchFamily="34" charset="0"/>
              </a:rPr>
              <a:t>p-p’</a:t>
            </a:r>
            <a:r>
              <a:rPr lang="en-US" altLang="zh-CN" sz="2400" b="0" kern="0" dirty="0">
                <a:latin typeface="Calibri" panose="020F0502020204030204" pitchFamily="34" charset="0"/>
                <a:cs typeface="Calibri" panose="020F0502020204030204" pitchFamily="34" charset="0"/>
              </a:rPr>
              <a:t>| /</a:t>
            </a:r>
            <a:r>
              <a:rPr lang="en-US" altLang="zh-CN" sz="2400" b="0" i="1" kern="0" dirty="0" err="1">
                <a:latin typeface="Calibri" panose="020F0502020204030204" pitchFamily="34" charset="0"/>
                <a:cs typeface="Calibri" panose="020F0502020204030204" pitchFamily="34" charset="0"/>
              </a:rPr>
              <a:t>n</a:t>
            </a:r>
            <a:r>
              <a:rPr lang="en-US" altLang="zh-CN" sz="2400" b="0" i="1" kern="0" baseline="-25000" dirty="0" err="1">
                <a:latin typeface="Calibri" panose="020F0502020204030204" pitchFamily="34" charset="0"/>
                <a:cs typeface="Calibri" panose="020F0502020204030204" pitchFamily="34" charset="0"/>
              </a:rPr>
              <a:t>i</a:t>
            </a:r>
            <a:r>
              <a:rPr lang="en-US" altLang="zh-CN" sz="2400" b="0" i="1" kern="0" dirty="0" err="1">
                <a:latin typeface="Calibri" panose="020F0502020204030204" pitchFamily="34" charset="0"/>
                <a:cs typeface="Calibri" panose="020F0502020204030204" pitchFamily="34" charset="0"/>
              </a:rPr>
              <a:t>n</a:t>
            </a:r>
            <a:r>
              <a:rPr lang="en-US" altLang="zh-CN" sz="2400" b="0" i="1" kern="0" baseline="-25000" dirty="0" err="1">
                <a:latin typeface="Calibri" panose="020F0502020204030204" pitchFamily="34" charset="0"/>
                <a:cs typeface="Calibri" panose="020F0502020204030204" pitchFamily="34" charset="0"/>
              </a:rPr>
              <a:t>j</a:t>
            </a:r>
            <a:endParaRPr lang="en-US" altLang="zh-CN" sz="2400" b="0" i="1" kern="0" baseline="-25000" dirty="0">
              <a:latin typeface="Calibri" panose="020F0502020204030204" pitchFamily="34" charset="0"/>
              <a:cs typeface="Calibri" panose="020F0502020204030204" pitchFamily="34" charset="0"/>
            </a:endParaRPr>
          </a:p>
          <a:p>
            <a:pPr lvl="1" eaLnBrk="1" hangingPunct="1">
              <a:lnSpc>
                <a:spcPct val="120000"/>
              </a:lnSpc>
              <a:spcBef>
                <a:spcPts val="300"/>
              </a:spcBef>
              <a:buNone/>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其中, </a:t>
            </a:r>
            <a:r>
              <a:rPr lang="zh-CN" altLang="en-US" sz="2400" b="0" kern="0" dirty="0">
                <a:solidFill>
                  <a:srgbClr val="0000FF"/>
                </a:solidFill>
                <a:latin typeface="Calibri" panose="020F0502020204030204" pitchFamily="34" charset="0"/>
                <a:cs typeface="Calibri" panose="020F0502020204030204" pitchFamily="34" charset="0"/>
              </a:rPr>
              <a:t>|</a:t>
            </a:r>
            <a:r>
              <a:rPr lang="en-US" altLang="zh-CN" sz="2400" b="0" i="1" kern="0" dirty="0">
                <a:solidFill>
                  <a:srgbClr val="0000FF"/>
                </a:solidFill>
                <a:latin typeface="Calibri" panose="020F0502020204030204" pitchFamily="34" charset="0"/>
                <a:cs typeface="Calibri" panose="020F0502020204030204" pitchFamily="34" charset="0"/>
              </a:rPr>
              <a:t>p-p’</a:t>
            </a:r>
            <a:r>
              <a:rPr lang="en-US" altLang="zh-CN" sz="2400" b="0" kern="0" dirty="0">
                <a:solidFill>
                  <a:srgbClr val="0000FF"/>
                </a:solidFill>
                <a:latin typeface="Calibri" panose="020F0502020204030204" pitchFamily="34" charset="0"/>
                <a:cs typeface="Calibri" panose="020F0502020204030204" pitchFamily="34" charset="0"/>
              </a:rPr>
              <a:t>|</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是两个对象</a:t>
            </a:r>
            <a:r>
              <a:rPr lang="en-US" altLang="zh-CN" sz="2400" b="0" i="1" kern="0" dirty="0">
                <a:solidFill>
                  <a:srgbClr val="0000FF"/>
                </a:solidFill>
                <a:latin typeface="Calibri" panose="020F0502020204030204" pitchFamily="34" charset="0"/>
                <a:cs typeface="Calibri" panose="020F0502020204030204" pitchFamily="34" charset="0"/>
              </a:rPr>
              <a:t>p</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和</a:t>
            </a:r>
            <a:r>
              <a:rPr lang="en-US" altLang="zh-CN" sz="2400" b="0" i="1" kern="0" dirty="0">
                <a:solidFill>
                  <a:srgbClr val="0000FF"/>
                </a:solidFill>
                <a:latin typeface="Calibri" panose="020F0502020204030204" pitchFamily="34" charset="0"/>
                <a:cs typeface="Calibri" panose="020F0502020204030204" pitchFamily="34" charset="0"/>
              </a:rPr>
              <a:t>p</a:t>
            </a:r>
            <a:r>
              <a:rPr lang="en-US" altLang="zh-CN" sz="2400" b="0" kern="0" dirty="0">
                <a:solidFill>
                  <a:srgbClr val="0000FF"/>
                </a:solidFill>
                <a:latin typeface="Calibri" panose="020F0502020204030204" pitchFamily="34" charset="0"/>
                <a:cs typeface="Calibri" panose="020F0502020204030204" pitchFamily="34" charset="0"/>
              </a:rPr>
              <a:t>’</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之间的距离，</a:t>
            </a:r>
            <a:r>
              <a:rPr lang="en-US" altLang="zh-CN" sz="2400" b="0" i="1" kern="0" dirty="0">
                <a:solidFill>
                  <a:srgbClr val="0000FF"/>
                </a:solidFill>
                <a:latin typeface="Calibri" panose="020F0502020204030204" pitchFamily="34" charset="0"/>
                <a:cs typeface="Calibri" panose="020F0502020204030204" pitchFamily="34" charset="0"/>
              </a:rPr>
              <a:t>m</a:t>
            </a:r>
            <a:r>
              <a:rPr lang="en-US" altLang="zh-CN" sz="2400" b="0" i="1" kern="0" baseline="-30000" dirty="0">
                <a:solidFill>
                  <a:srgbClr val="0000FF"/>
                </a:solidFill>
                <a:latin typeface="Calibri" panose="020F0502020204030204" pitchFamily="34" charset="0"/>
                <a:cs typeface="Calibri" panose="020F0502020204030204" pitchFamily="34" charset="0"/>
              </a:rPr>
              <a:t>i</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是簇</a:t>
            </a:r>
            <a:r>
              <a:rPr lang="en-US" altLang="zh-CN" sz="2400" b="0" i="1" kern="0" dirty="0">
                <a:solidFill>
                  <a:srgbClr val="0000FF"/>
                </a:solidFill>
                <a:latin typeface="Calibri" panose="020F0502020204030204" pitchFamily="34" charset="0"/>
                <a:cs typeface="Calibri" panose="020F0502020204030204" pitchFamily="34" charset="0"/>
              </a:rPr>
              <a:t>C</a:t>
            </a:r>
            <a:r>
              <a:rPr lang="en-US" altLang="zh-CN" sz="2400" b="0" i="1" kern="0" baseline="-30000" dirty="0">
                <a:solidFill>
                  <a:srgbClr val="0000FF"/>
                </a:solidFill>
                <a:latin typeface="Calibri" panose="020F0502020204030204" pitchFamily="34" charset="0"/>
                <a:cs typeface="Calibri" panose="020F0502020204030204" pitchFamily="34" charset="0"/>
              </a:rPr>
              <a:t>i</a:t>
            </a:r>
            <a:r>
              <a:rPr lang="en-US" altLang="zh-CN" sz="2400" b="0" kern="0" dirty="0">
                <a:solidFill>
                  <a:srgbClr val="0000FF"/>
                </a:solidFill>
                <a:latin typeface="Calibri" panose="020F0502020204030204" pitchFamily="34" charset="0"/>
                <a:cs typeface="Calibri" panose="020F0502020204030204" pitchFamily="34" charset="0"/>
              </a:rPr>
              <a:t> </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的平均值，</a:t>
            </a:r>
            <a:r>
              <a:rPr lang="en-US" altLang="zh-CN" sz="2400" b="0" i="1" kern="0" dirty="0" err="1">
                <a:solidFill>
                  <a:srgbClr val="0000FF"/>
                </a:solidFill>
                <a:latin typeface="Calibri" panose="020F0502020204030204" pitchFamily="34" charset="0"/>
                <a:cs typeface="Calibri" panose="020F0502020204030204" pitchFamily="34" charset="0"/>
              </a:rPr>
              <a:t>n</a:t>
            </a:r>
            <a:r>
              <a:rPr lang="en-US" altLang="zh-CN" sz="2400" b="0" i="1" kern="0" baseline="-30000" dirty="0" err="1">
                <a:solidFill>
                  <a:srgbClr val="0000FF"/>
                </a:solidFill>
                <a:latin typeface="Calibri" panose="020F0502020204030204" pitchFamily="34" charset="0"/>
                <a:cs typeface="Calibri" panose="020F0502020204030204" pitchFamily="34" charset="0"/>
              </a:rPr>
              <a:t>i</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是簇</a:t>
            </a:r>
            <a:r>
              <a:rPr lang="en-US" altLang="zh-CN" sz="2400" b="0" i="1" kern="0" dirty="0">
                <a:solidFill>
                  <a:srgbClr val="0000FF"/>
                </a:solidFill>
                <a:latin typeface="Calibri" panose="020F0502020204030204" pitchFamily="34" charset="0"/>
                <a:cs typeface="Calibri" panose="020F0502020204030204" pitchFamily="34" charset="0"/>
              </a:rPr>
              <a:t>C</a:t>
            </a:r>
            <a:r>
              <a:rPr lang="en-US" altLang="zh-CN" sz="2400" b="0" i="1" kern="0" baseline="-25000" dirty="0">
                <a:solidFill>
                  <a:srgbClr val="0000FF"/>
                </a:solidFill>
                <a:latin typeface="Calibri" panose="020F0502020204030204" pitchFamily="34" charset="0"/>
                <a:cs typeface="Calibri" panose="020F0502020204030204" pitchFamily="34" charset="0"/>
              </a:rPr>
              <a:t>i</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中对象的数目</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eaLnBrk="1" hangingPunct="1">
              <a:lnSpc>
                <a:spcPct val="120000"/>
              </a:lnSpc>
              <a:spcBef>
                <a:spcPts val="600"/>
              </a:spcBef>
              <a:buFont typeface="Wingdings" panose="05000000000000000000" pitchFamily="2" charset="2"/>
              <a:buChar char="n"/>
              <a:defRPr/>
            </a:pPr>
            <a:endParaRPr lang="en-US" altLang="zh-CN" sz="2800" b="0" kern="0" dirty="0">
              <a:solidFill>
                <a:srgbClr val="C00000"/>
              </a:solidFill>
              <a:effectLst>
                <a:outerShdw blurRad="38100" dist="38100" dir="2700000" algn="tl">
                  <a:srgbClr val="C0C0C0"/>
                </a:outerShdw>
              </a:effectLst>
              <a:latin typeface="Calibri" panose="020F0502020204030204" pitchFamily="34" charset="0"/>
              <a:cs typeface="Calibri" panose="020F0502020204030204" pitchFamily="34" charset="0"/>
            </a:endParaRPr>
          </a:p>
        </p:txBody>
      </p:sp>
      <p:pic>
        <p:nvPicPr>
          <p:cNvPr id="4" name="Picture 4" descr="Single_Linkage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39862" y="4368776"/>
            <a:ext cx="1611313" cy="175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farthest_neighbor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4762" y="4368776"/>
            <a:ext cx="1657350" cy="176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descr="Group_Average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4275" y="4379888"/>
            <a:ext cx="1738312" cy="175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矩形 10"/>
          <p:cNvSpPr>
            <a:spLocks noChangeArrowheads="1"/>
          </p:cNvSpPr>
          <p:nvPr/>
        </p:nvSpPr>
        <p:spPr bwMode="auto">
          <a:xfrm>
            <a:off x="672768" y="1124744"/>
            <a:ext cx="346761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buFont typeface="Wingdings" panose="05000000000000000000" pitchFamily="2" charset="2"/>
              <a:buChar char="n"/>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例子 </a:t>
            </a:r>
            <a:r>
              <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 </a:t>
            </a:r>
            <a:r>
              <a:rPr lang="en-US" altLang="zh-CN" sz="2800" dirty="0">
                <a:solidFill>
                  <a:srgbClr val="FF0000"/>
                </a:solidFill>
                <a:latin typeface="Calibri" panose="020F0502020204030204" pitchFamily="34" charset="0"/>
                <a:ea typeface="黑体" panose="02010609060101010101" pitchFamily="49" charset="-122"/>
                <a:cs typeface="Calibri" panose="020F0502020204030204" pitchFamily="34" charset="0"/>
              </a:rPr>
              <a:t>Single Link </a:t>
            </a:r>
            <a:endParaRPr lang="zh-CN" altLang="en-US" sz="2800" dirty="0">
              <a:solidFill>
                <a:srgbClr val="FF0000"/>
              </a:solidFill>
              <a:latin typeface="Calibri" panose="020F0502020204030204" pitchFamily="34" charset="0"/>
              <a:ea typeface="黑体" panose="02010609060101010101" pitchFamily="49" charset="-122"/>
              <a:cs typeface="Calibri" panose="020F0502020204030204" pitchFamily="34" charset="0"/>
            </a:endParaRPr>
          </a:p>
        </p:txBody>
      </p:sp>
      <p:grpSp>
        <p:nvGrpSpPr>
          <p:cNvPr id="4" name="Group 4"/>
          <p:cNvGrpSpPr/>
          <p:nvPr/>
        </p:nvGrpSpPr>
        <p:grpSpPr bwMode="auto">
          <a:xfrm>
            <a:off x="847651" y="1874044"/>
            <a:ext cx="7353300" cy="4046538"/>
            <a:chOff x="623" y="1104"/>
            <a:chExt cx="4632" cy="2549"/>
          </a:xfrm>
        </p:grpSpPr>
        <p:sp>
          <p:nvSpPr>
            <p:cNvPr id="5" name="Line 5"/>
            <p:cNvSpPr>
              <a:spLocks noChangeShapeType="1"/>
            </p:cNvSpPr>
            <p:nvPr/>
          </p:nvSpPr>
          <p:spPr bwMode="auto">
            <a:xfrm flipV="1">
              <a:off x="624" y="1104"/>
              <a:ext cx="0" cy="2544"/>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zh-CN" altLang="en-US"/>
            </a:p>
          </p:txBody>
        </p:sp>
        <p:sp>
          <p:nvSpPr>
            <p:cNvPr id="6" name="Line 6"/>
            <p:cNvSpPr>
              <a:spLocks noChangeShapeType="1"/>
            </p:cNvSpPr>
            <p:nvPr/>
          </p:nvSpPr>
          <p:spPr bwMode="auto">
            <a:xfrm>
              <a:off x="623" y="3653"/>
              <a:ext cx="4632"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zh-CN" altLang="en-US"/>
            </a:p>
          </p:txBody>
        </p:sp>
      </p:grpSp>
      <p:sp>
        <p:nvSpPr>
          <p:cNvPr id="7" name="Oval 7"/>
          <p:cNvSpPr>
            <a:spLocks noChangeArrowheads="1"/>
          </p:cNvSpPr>
          <p:nvPr/>
        </p:nvSpPr>
        <p:spPr bwMode="auto">
          <a:xfrm>
            <a:off x="1611238" y="2788444"/>
            <a:ext cx="74613" cy="74613"/>
          </a:xfrm>
          <a:prstGeom prst="ellipse">
            <a:avLst/>
          </a:prstGeom>
          <a:solidFill>
            <a:schemeClr val="accent1"/>
          </a:solidFill>
          <a:ln w="12700">
            <a:solidFill>
              <a:schemeClr val="tx1"/>
            </a:solidFill>
            <a:round/>
          </a:ln>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8" name="Oval 10"/>
          <p:cNvSpPr>
            <a:spLocks noChangeArrowheads="1"/>
          </p:cNvSpPr>
          <p:nvPr/>
        </p:nvSpPr>
        <p:spPr bwMode="auto">
          <a:xfrm>
            <a:off x="2449438" y="2788444"/>
            <a:ext cx="74613" cy="74613"/>
          </a:xfrm>
          <a:prstGeom prst="ellipse">
            <a:avLst/>
          </a:prstGeom>
          <a:solidFill>
            <a:schemeClr val="accent1"/>
          </a:solidFill>
          <a:ln w="12700">
            <a:solidFill>
              <a:schemeClr val="tx1"/>
            </a:solidFill>
            <a:round/>
          </a:ln>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9" name="Oval 11"/>
          <p:cNvSpPr>
            <a:spLocks noChangeArrowheads="1"/>
          </p:cNvSpPr>
          <p:nvPr/>
        </p:nvSpPr>
        <p:spPr bwMode="auto">
          <a:xfrm>
            <a:off x="1611238" y="4236244"/>
            <a:ext cx="74613" cy="74613"/>
          </a:xfrm>
          <a:prstGeom prst="ellipse">
            <a:avLst/>
          </a:prstGeom>
          <a:solidFill>
            <a:schemeClr val="accent1"/>
          </a:solidFill>
          <a:ln w="12700">
            <a:solidFill>
              <a:schemeClr val="tx1"/>
            </a:solidFill>
            <a:round/>
          </a:ln>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0" name="Oval 12"/>
          <p:cNvSpPr>
            <a:spLocks noChangeArrowheads="1"/>
          </p:cNvSpPr>
          <p:nvPr/>
        </p:nvSpPr>
        <p:spPr bwMode="auto">
          <a:xfrm>
            <a:off x="2449438" y="4236244"/>
            <a:ext cx="74613" cy="74613"/>
          </a:xfrm>
          <a:prstGeom prst="ellipse">
            <a:avLst/>
          </a:prstGeom>
          <a:solidFill>
            <a:schemeClr val="accent1"/>
          </a:solidFill>
          <a:ln w="12700">
            <a:solidFill>
              <a:schemeClr val="tx1"/>
            </a:solidFill>
            <a:round/>
          </a:ln>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1" name="Oval 13"/>
          <p:cNvSpPr>
            <a:spLocks noChangeArrowheads="1"/>
          </p:cNvSpPr>
          <p:nvPr/>
        </p:nvSpPr>
        <p:spPr bwMode="auto">
          <a:xfrm>
            <a:off x="3744838" y="2788444"/>
            <a:ext cx="74613" cy="74613"/>
          </a:xfrm>
          <a:prstGeom prst="ellipse">
            <a:avLst/>
          </a:prstGeom>
          <a:solidFill>
            <a:schemeClr val="accent1"/>
          </a:solidFill>
          <a:ln w="12700">
            <a:solidFill>
              <a:schemeClr val="tx1"/>
            </a:solidFill>
            <a:round/>
          </a:ln>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2" name="Oval 14"/>
          <p:cNvSpPr>
            <a:spLocks noChangeArrowheads="1"/>
          </p:cNvSpPr>
          <p:nvPr/>
        </p:nvSpPr>
        <p:spPr bwMode="auto">
          <a:xfrm>
            <a:off x="4583038" y="2788444"/>
            <a:ext cx="74613" cy="74613"/>
          </a:xfrm>
          <a:prstGeom prst="ellipse">
            <a:avLst/>
          </a:prstGeom>
          <a:solidFill>
            <a:schemeClr val="accent1"/>
          </a:solidFill>
          <a:ln w="12700">
            <a:solidFill>
              <a:schemeClr val="tx1"/>
            </a:solidFill>
            <a:round/>
          </a:ln>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3" name="Oval 15"/>
          <p:cNvSpPr>
            <a:spLocks noChangeArrowheads="1"/>
          </p:cNvSpPr>
          <p:nvPr/>
        </p:nvSpPr>
        <p:spPr bwMode="auto">
          <a:xfrm>
            <a:off x="3744838" y="4236244"/>
            <a:ext cx="74613" cy="74613"/>
          </a:xfrm>
          <a:prstGeom prst="ellipse">
            <a:avLst/>
          </a:prstGeom>
          <a:solidFill>
            <a:schemeClr val="accent1"/>
          </a:solidFill>
          <a:ln w="12700">
            <a:solidFill>
              <a:schemeClr val="tx1"/>
            </a:solidFill>
            <a:round/>
          </a:ln>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4" name="Oval 16"/>
          <p:cNvSpPr>
            <a:spLocks noChangeArrowheads="1"/>
          </p:cNvSpPr>
          <p:nvPr/>
        </p:nvSpPr>
        <p:spPr bwMode="auto">
          <a:xfrm>
            <a:off x="4583038" y="4236244"/>
            <a:ext cx="74613" cy="74613"/>
          </a:xfrm>
          <a:prstGeom prst="ellipse">
            <a:avLst/>
          </a:prstGeom>
          <a:solidFill>
            <a:schemeClr val="accent1"/>
          </a:solidFill>
          <a:ln w="12700">
            <a:solidFill>
              <a:schemeClr val="tx1"/>
            </a:solidFill>
            <a:round/>
          </a:ln>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5" name="Oval 18"/>
          <p:cNvSpPr>
            <a:spLocks noChangeArrowheads="1"/>
          </p:cNvSpPr>
          <p:nvPr/>
        </p:nvSpPr>
        <p:spPr bwMode="auto">
          <a:xfrm>
            <a:off x="1306438" y="2483644"/>
            <a:ext cx="1524000" cy="68580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7" name="Oval 19"/>
          <p:cNvSpPr>
            <a:spLocks noChangeArrowheads="1"/>
          </p:cNvSpPr>
          <p:nvPr/>
        </p:nvSpPr>
        <p:spPr bwMode="auto">
          <a:xfrm>
            <a:off x="3440038" y="3931444"/>
            <a:ext cx="1524000" cy="68580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8" name="Oval 20"/>
          <p:cNvSpPr>
            <a:spLocks noChangeArrowheads="1"/>
          </p:cNvSpPr>
          <p:nvPr/>
        </p:nvSpPr>
        <p:spPr bwMode="auto">
          <a:xfrm>
            <a:off x="3440038" y="2483644"/>
            <a:ext cx="1524000" cy="68580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9" name="Oval 21"/>
          <p:cNvSpPr>
            <a:spLocks noChangeArrowheads="1"/>
          </p:cNvSpPr>
          <p:nvPr/>
        </p:nvSpPr>
        <p:spPr bwMode="auto">
          <a:xfrm>
            <a:off x="1306438" y="3931444"/>
            <a:ext cx="1524000" cy="68580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20" name="Oval 22"/>
          <p:cNvSpPr>
            <a:spLocks noChangeArrowheads="1"/>
          </p:cNvSpPr>
          <p:nvPr/>
        </p:nvSpPr>
        <p:spPr bwMode="auto">
          <a:xfrm>
            <a:off x="1077838" y="2331244"/>
            <a:ext cx="4114800" cy="99060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21" name="Oval 23"/>
          <p:cNvSpPr>
            <a:spLocks noChangeArrowheads="1"/>
          </p:cNvSpPr>
          <p:nvPr/>
        </p:nvSpPr>
        <p:spPr bwMode="auto">
          <a:xfrm>
            <a:off x="1001638" y="3779044"/>
            <a:ext cx="4114800" cy="99060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22" name="Oval 24"/>
          <p:cNvSpPr>
            <a:spLocks noChangeArrowheads="1"/>
          </p:cNvSpPr>
          <p:nvPr/>
        </p:nvSpPr>
        <p:spPr bwMode="auto">
          <a:xfrm>
            <a:off x="634926" y="1734344"/>
            <a:ext cx="4876800" cy="365760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P spid="19" grpId="0" animBg="1"/>
      <p:bldP spid="20" grpId="0" animBg="1"/>
      <p:bldP spid="21" grpId="0" animBg="1"/>
      <p:bldP spid="2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矩形 10"/>
          <p:cNvSpPr>
            <a:spLocks noChangeArrowheads="1"/>
          </p:cNvSpPr>
          <p:nvPr/>
        </p:nvSpPr>
        <p:spPr bwMode="auto">
          <a:xfrm>
            <a:off x="717550" y="1056854"/>
            <a:ext cx="38465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buFont typeface="Wingdings" panose="05000000000000000000" pitchFamily="2" charset="2"/>
              <a:buChar char="n"/>
            </a:pPr>
            <a:r>
              <a:rPr lang="zh-CN" altLang="en-US" sz="2800" dirty="0">
                <a:solidFill>
                  <a:srgbClr val="FF0000"/>
                </a:solidFill>
                <a:latin typeface="Calibri" panose="020F0502020204030204" pitchFamily="34" charset="0"/>
                <a:ea typeface="黑体" panose="02010609060101010101" pitchFamily="49" charset="-122"/>
                <a:cs typeface="Calibri" panose="020F0502020204030204" pitchFamily="34" charset="0"/>
              </a:rPr>
              <a:t>例子 </a:t>
            </a:r>
            <a:r>
              <a:rPr lang="en-US" altLang="zh-CN" sz="2800" dirty="0">
                <a:solidFill>
                  <a:srgbClr val="FF0000"/>
                </a:solidFill>
                <a:latin typeface="Calibri" panose="020F0502020204030204" pitchFamily="34" charset="0"/>
                <a:ea typeface="黑体" panose="02010609060101010101" pitchFamily="49" charset="-122"/>
                <a:cs typeface="Calibri" panose="020F0502020204030204" pitchFamily="34" charset="0"/>
              </a:rPr>
              <a:t>- Complete Link </a:t>
            </a:r>
            <a:endParaRPr lang="zh-CN" altLang="en-US" sz="2800" dirty="0">
              <a:solidFill>
                <a:srgbClr val="FF0000"/>
              </a:solidFill>
              <a:latin typeface="Calibri" panose="020F0502020204030204" pitchFamily="34" charset="0"/>
              <a:ea typeface="黑体" panose="02010609060101010101" pitchFamily="49" charset="-122"/>
              <a:cs typeface="Calibri" panose="020F0502020204030204" pitchFamily="34" charset="0"/>
            </a:endParaRPr>
          </a:p>
        </p:txBody>
      </p:sp>
      <p:grpSp>
        <p:nvGrpSpPr>
          <p:cNvPr id="4" name="Group 4"/>
          <p:cNvGrpSpPr/>
          <p:nvPr/>
        </p:nvGrpSpPr>
        <p:grpSpPr bwMode="auto">
          <a:xfrm>
            <a:off x="895350" y="1772816"/>
            <a:ext cx="7353300" cy="4046538"/>
            <a:chOff x="623" y="1104"/>
            <a:chExt cx="4632" cy="2549"/>
          </a:xfrm>
        </p:grpSpPr>
        <p:sp>
          <p:nvSpPr>
            <p:cNvPr id="5" name="Line 5"/>
            <p:cNvSpPr>
              <a:spLocks noChangeShapeType="1"/>
            </p:cNvSpPr>
            <p:nvPr/>
          </p:nvSpPr>
          <p:spPr bwMode="auto">
            <a:xfrm flipV="1">
              <a:off x="624" y="1104"/>
              <a:ext cx="0" cy="2544"/>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zh-CN" altLang="en-US"/>
            </a:p>
          </p:txBody>
        </p:sp>
        <p:sp>
          <p:nvSpPr>
            <p:cNvPr id="6" name="Line 6"/>
            <p:cNvSpPr>
              <a:spLocks noChangeShapeType="1"/>
            </p:cNvSpPr>
            <p:nvPr/>
          </p:nvSpPr>
          <p:spPr bwMode="auto">
            <a:xfrm>
              <a:off x="623" y="3653"/>
              <a:ext cx="4632"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zh-CN" altLang="en-US"/>
            </a:p>
          </p:txBody>
        </p:sp>
      </p:grpSp>
      <p:sp>
        <p:nvSpPr>
          <p:cNvPr id="7" name="Oval 6"/>
          <p:cNvSpPr>
            <a:spLocks noChangeArrowheads="1"/>
          </p:cNvSpPr>
          <p:nvPr/>
        </p:nvSpPr>
        <p:spPr bwMode="auto">
          <a:xfrm>
            <a:off x="1931987" y="3017416"/>
            <a:ext cx="74613" cy="74613"/>
          </a:xfrm>
          <a:prstGeom prst="ellipse">
            <a:avLst/>
          </a:prstGeom>
          <a:solidFill>
            <a:schemeClr val="accent1"/>
          </a:solidFill>
          <a:ln w="12700">
            <a:solidFill>
              <a:schemeClr val="tx1"/>
            </a:solidFill>
            <a:round/>
          </a:ln>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8" name="Oval 7"/>
          <p:cNvSpPr>
            <a:spLocks noChangeArrowheads="1"/>
          </p:cNvSpPr>
          <p:nvPr/>
        </p:nvSpPr>
        <p:spPr bwMode="auto">
          <a:xfrm>
            <a:off x="2770187" y="3017416"/>
            <a:ext cx="74613" cy="74613"/>
          </a:xfrm>
          <a:prstGeom prst="ellipse">
            <a:avLst/>
          </a:prstGeom>
          <a:solidFill>
            <a:schemeClr val="accent1"/>
          </a:solidFill>
          <a:ln w="12700">
            <a:solidFill>
              <a:schemeClr val="tx1"/>
            </a:solidFill>
            <a:round/>
          </a:ln>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9" name="Oval 8"/>
          <p:cNvSpPr>
            <a:spLocks noChangeArrowheads="1"/>
          </p:cNvSpPr>
          <p:nvPr/>
        </p:nvSpPr>
        <p:spPr bwMode="auto">
          <a:xfrm>
            <a:off x="1931987" y="4465216"/>
            <a:ext cx="74613" cy="74613"/>
          </a:xfrm>
          <a:prstGeom prst="ellipse">
            <a:avLst/>
          </a:prstGeom>
          <a:solidFill>
            <a:schemeClr val="accent1"/>
          </a:solidFill>
          <a:ln w="12700">
            <a:solidFill>
              <a:schemeClr val="tx1"/>
            </a:solidFill>
            <a:round/>
          </a:ln>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0" name="Oval 9"/>
          <p:cNvSpPr>
            <a:spLocks noChangeArrowheads="1"/>
          </p:cNvSpPr>
          <p:nvPr/>
        </p:nvSpPr>
        <p:spPr bwMode="auto">
          <a:xfrm>
            <a:off x="2770187" y="4465216"/>
            <a:ext cx="74613" cy="74613"/>
          </a:xfrm>
          <a:prstGeom prst="ellipse">
            <a:avLst/>
          </a:prstGeom>
          <a:solidFill>
            <a:schemeClr val="accent1"/>
          </a:solidFill>
          <a:ln w="12700">
            <a:solidFill>
              <a:schemeClr val="tx1"/>
            </a:solidFill>
            <a:round/>
          </a:ln>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1" name="Oval 10"/>
          <p:cNvSpPr>
            <a:spLocks noChangeArrowheads="1"/>
          </p:cNvSpPr>
          <p:nvPr/>
        </p:nvSpPr>
        <p:spPr bwMode="auto">
          <a:xfrm>
            <a:off x="4065587" y="3017416"/>
            <a:ext cx="74613" cy="74613"/>
          </a:xfrm>
          <a:prstGeom prst="ellipse">
            <a:avLst/>
          </a:prstGeom>
          <a:solidFill>
            <a:schemeClr val="accent1"/>
          </a:solidFill>
          <a:ln w="12700">
            <a:solidFill>
              <a:schemeClr val="tx1"/>
            </a:solidFill>
            <a:round/>
          </a:ln>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2" name="Oval 11"/>
          <p:cNvSpPr>
            <a:spLocks noChangeArrowheads="1"/>
          </p:cNvSpPr>
          <p:nvPr/>
        </p:nvSpPr>
        <p:spPr bwMode="auto">
          <a:xfrm>
            <a:off x="4903787" y="3017416"/>
            <a:ext cx="74613" cy="74613"/>
          </a:xfrm>
          <a:prstGeom prst="ellipse">
            <a:avLst/>
          </a:prstGeom>
          <a:solidFill>
            <a:schemeClr val="accent1"/>
          </a:solidFill>
          <a:ln w="12700">
            <a:solidFill>
              <a:schemeClr val="tx1"/>
            </a:solidFill>
            <a:round/>
          </a:ln>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3" name="Oval 12"/>
          <p:cNvSpPr>
            <a:spLocks noChangeArrowheads="1"/>
          </p:cNvSpPr>
          <p:nvPr/>
        </p:nvSpPr>
        <p:spPr bwMode="auto">
          <a:xfrm>
            <a:off x="4065587" y="4465216"/>
            <a:ext cx="74613" cy="74613"/>
          </a:xfrm>
          <a:prstGeom prst="ellipse">
            <a:avLst/>
          </a:prstGeom>
          <a:solidFill>
            <a:schemeClr val="accent1"/>
          </a:solidFill>
          <a:ln w="12700">
            <a:solidFill>
              <a:schemeClr val="tx1"/>
            </a:solidFill>
            <a:round/>
          </a:ln>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4" name="Oval 13"/>
          <p:cNvSpPr>
            <a:spLocks noChangeArrowheads="1"/>
          </p:cNvSpPr>
          <p:nvPr/>
        </p:nvSpPr>
        <p:spPr bwMode="auto">
          <a:xfrm>
            <a:off x="4903787" y="4465216"/>
            <a:ext cx="74613" cy="74613"/>
          </a:xfrm>
          <a:prstGeom prst="ellipse">
            <a:avLst/>
          </a:prstGeom>
          <a:solidFill>
            <a:schemeClr val="accent1"/>
          </a:solidFill>
          <a:ln w="12700">
            <a:solidFill>
              <a:schemeClr val="tx1"/>
            </a:solidFill>
            <a:round/>
          </a:ln>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5" name="Oval 14"/>
          <p:cNvSpPr>
            <a:spLocks noChangeArrowheads="1"/>
          </p:cNvSpPr>
          <p:nvPr/>
        </p:nvSpPr>
        <p:spPr bwMode="auto">
          <a:xfrm>
            <a:off x="1627187" y="2712616"/>
            <a:ext cx="1524000" cy="68580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7" name="Oval 15"/>
          <p:cNvSpPr>
            <a:spLocks noChangeArrowheads="1"/>
          </p:cNvSpPr>
          <p:nvPr/>
        </p:nvSpPr>
        <p:spPr bwMode="auto">
          <a:xfrm>
            <a:off x="3760787" y="4160416"/>
            <a:ext cx="1524000" cy="68580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8" name="Oval 16"/>
          <p:cNvSpPr>
            <a:spLocks noChangeArrowheads="1"/>
          </p:cNvSpPr>
          <p:nvPr/>
        </p:nvSpPr>
        <p:spPr bwMode="auto">
          <a:xfrm>
            <a:off x="3760787" y="2712616"/>
            <a:ext cx="1524000" cy="68580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19" name="Oval 17"/>
          <p:cNvSpPr>
            <a:spLocks noChangeArrowheads="1"/>
          </p:cNvSpPr>
          <p:nvPr/>
        </p:nvSpPr>
        <p:spPr bwMode="auto">
          <a:xfrm>
            <a:off x="1627187" y="4160416"/>
            <a:ext cx="1524000" cy="68580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20" name="Oval 18"/>
          <p:cNvSpPr>
            <a:spLocks noChangeArrowheads="1"/>
          </p:cNvSpPr>
          <p:nvPr/>
        </p:nvSpPr>
        <p:spPr bwMode="auto">
          <a:xfrm>
            <a:off x="1347787" y="2407816"/>
            <a:ext cx="2057400" cy="281940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21" name="Oval 19"/>
          <p:cNvSpPr>
            <a:spLocks noChangeArrowheads="1"/>
          </p:cNvSpPr>
          <p:nvPr/>
        </p:nvSpPr>
        <p:spPr bwMode="auto">
          <a:xfrm>
            <a:off x="3517900" y="2406229"/>
            <a:ext cx="2057400" cy="281940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
        <p:nvSpPr>
          <p:cNvPr id="22" name="Oval 20"/>
          <p:cNvSpPr>
            <a:spLocks noChangeArrowheads="1"/>
          </p:cNvSpPr>
          <p:nvPr/>
        </p:nvSpPr>
        <p:spPr bwMode="auto">
          <a:xfrm>
            <a:off x="1017587" y="1963316"/>
            <a:ext cx="4876800" cy="3657600"/>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P spid="19" grpId="0" animBg="1"/>
      <p:bldP spid="20" grpId="0" animBg="1"/>
      <p:bldP spid="21" grpId="0" animBg="1"/>
      <p:bldP spid="2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矩形 10"/>
          <p:cNvSpPr>
            <a:spLocks noChangeArrowheads="1"/>
          </p:cNvSpPr>
          <p:nvPr/>
        </p:nvSpPr>
        <p:spPr bwMode="auto">
          <a:xfrm>
            <a:off x="755576" y="1196752"/>
            <a:ext cx="3302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buFont typeface="Wingdings" panose="05000000000000000000" pitchFamily="2" charset="2"/>
              <a:buChar char="n"/>
            </a:pPr>
            <a:r>
              <a:rPr lang="zh-CN" altLang="en-US" sz="2800" dirty="0">
                <a:solidFill>
                  <a:srgbClr val="FF0000"/>
                </a:solidFill>
                <a:latin typeface="Calibri" panose="020F0502020204030204" pitchFamily="34" charset="0"/>
                <a:ea typeface="黑体" panose="02010609060101010101" pitchFamily="49" charset="-122"/>
                <a:cs typeface="Calibri" panose="020F0502020204030204" pitchFamily="34" charset="0"/>
              </a:rPr>
              <a:t>例子 </a:t>
            </a:r>
            <a:r>
              <a:rPr lang="en-US" altLang="zh-CN" sz="2800" dirty="0">
                <a:solidFill>
                  <a:srgbClr val="FF0000"/>
                </a:solidFill>
                <a:latin typeface="Calibri" panose="020F0502020204030204" pitchFamily="34" charset="0"/>
                <a:ea typeface="黑体" panose="02010609060101010101" pitchFamily="49" charset="-122"/>
                <a:cs typeface="Calibri" panose="020F0502020204030204" pitchFamily="34" charset="0"/>
              </a:rPr>
              <a:t>- Single Link </a:t>
            </a:r>
            <a:endParaRPr lang="zh-CN" altLang="en-US" sz="2800" dirty="0">
              <a:solidFill>
                <a:srgbClr val="FF0000"/>
              </a:solidFill>
              <a:latin typeface="Calibri" panose="020F0502020204030204" pitchFamily="34" charset="0"/>
              <a:ea typeface="黑体" panose="02010609060101010101" pitchFamily="49" charset="-122"/>
              <a:cs typeface="Calibri" panose="020F0502020204030204" pitchFamily="34" charset="0"/>
            </a:endParaRPr>
          </a:p>
        </p:txBody>
      </p:sp>
      <p:sp>
        <p:nvSpPr>
          <p:cNvPr id="4" name="Text Box 3"/>
          <p:cNvSpPr txBox="1">
            <a:spLocks noChangeArrowheads="1"/>
          </p:cNvSpPr>
          <p:nvPr/>
        </p:nvSpPr>
        <p:spPr bwMode="auto">
          <a:xfrm>
            <a:off x="682551" y="4138390"/>
            <a:ext cx="2895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US" altLang="zh-CN" dirty="0">
                <a:latin typeface="Calibri" panose="020F0502020204030204" pitchFamily="34" charset="0"/>
                <a:ea typeface="+mn-ea"/>
                <a:cs typeface="Calibri" panose="020F0502020204030204" pitchFamily="34" charset="0"/>
              </a:rPr>
              <a:t>Original Points</a:t>
            </a:r>
            <a:endParaRPr lang="en-US" altLang="zh-CN" dirty="0">
              <a:latin typeface="Calibri" panose="020F0502020204030204" pitchFamily="34" charset="0"/>
              <a:ea typeface="+mn-ea"/>
              <a:cs typeface="Calibri" panose="020F0502020204030204" pitchFamily="34" charset="0"/>
            </a:endParaRPr>
          </a:p>
        </p:txBody>
      </p:sp>
      <p:grpSp>
        <p:nvGrpSpPr>
          <p:cNvPr id="5" name="Group 4"/>
          <p:cNvGrpSpPr/>
          <p:nvPr/>
        </p:nvGrpSpPr>
        <p:grpSpPr bwMode="auto">
          <a:xfrm>
            <a:off x="4671938" y="2020665"/>
            <a:ext cx="4103688" cy="2484437"/>
            <a:chOff x="3072" y="1248"/>
            <a:chExt cx="2585" cy="1565"/>
          </a:xfrm>
        </p:grpSpPr>
        <p:sp>
          <p:nvSpPr>
            <p:cNvPr id="6" name="Text Box 5"/>
            <p:cNvSpPr txBox="1">
              <a:spLocks noChangeArrowheads="1"/>
            </p:cNvSpPr>
            <p:nvPr/>
          </p:nvSpPr>
          <p:spPr bwMode="auto">
            <a:xfrm>
              <a:off x="3621" y="2582"/>
              <a:ext cx="14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US" altLang="zh-CN" dirty="0">
                  <a:latin typeface="Calibri" panose="020F0502020204030204" pitchFamily="34" charset="0"/>
                  <a:ea typeface="+mn-ea"/>
                  <a:cs typeface="Calibri" panose="020F0502020204030204" pitchFamily="34" charset="0"/>
                </a:rPr>
                <a:t>Two Clusters</a:t>
              </a:r>
              <a:endParaRPr lang="en-US" altLang="zh-CN" dirty="0">
                <a:latin typeface="Calibri" panose="020F0502020204030204" pitchFamily="34" charset="0"/>
                <a:ea typeface="+mn-ea"/>
                <a:cs typeface="Calibri" panose="020F0502020204030204" pitchFamily="34" charset="0"/>
              </a:endParaRPr>
            </a:p>
          </p:txBody>
        </p:sp>
        <p:pic>
          <p:nvPicPr>
            <p:cNvPr id="7" name="Picture 6"/>
            <p:cNvPicPr>
              <a:picLocks noChangeAspect="1" noChangeArrowheads="1"/>
            </p:cNvPicPr>
            <p:nvPr/>
          </p:nvPicPr>
          <p:blipFill>
            <a:blip r:embed="rId1">
              <a:extLst>
                <a:ext uri="{28A0092B-C50C-407E-A947-70E740481C1C}">
                  <a14:useLocalDpi xmlns:a14="http://schemas.microsoft.com/office/drawing/2010/main" val="0"/>
                </a:ext>
              </a:extLst>
            </a:blip>
            <a:srcRect l="8928" r="7143"/>
            <a:stretch>
              <a:fillRect/>
            </a:stretch>
          </p:blipFill>
          <p:spPr bwMode="auto">
            <a:xfrm>
              <a:off x="3072" y="1248"/>
              <a:ext cx="2585" cy="1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l="8928" r="5357"/>
          <a:stretch>
            <a:fillRect/>
          </a:stretch>
        </p:blipFill>
        <p:spPr bwMode="auto">
          <a:xfrm>
            <a:off x="198363" y="2020665"/>
            <a:ext cx="4186238" cy="209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Box 8"/>
          <p:cNvSpPr txBox="1">
            <a:spLocks noChangeArrowheads="1"/>
          </p:cNvSpPr>
          <p:nvPr/>
        </p:nvSpPr>
        <p:spPr bwMode="auto">
          <a:xfrm>
            <a:off x="1222301" y="4879752"/>
            <a:ext cx="63246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2400" dirty="0">
                <a:solidFill>
                  <a:srgbClr val="0000FF"/>
                </a:solidFill>
                <a:latin typeface="Calibri" panose="020F0502020204030204" pitchFamily="34" charset="0"/>
                <a:ea typeface="+mn-ea"/>
                <a:cs typeface="Calibri" panose="020F0502020204030204" pitchFamily="34" charset="0"/>
              </a:rPr>
              <a:t>优点：</a:t>
            </a:r>
            <a:r>
              <a:rPr lang="en-US" altLang="zh-CN" sz="2400" dirty="0">
                <a:solidFill>
                  <a:srgbClr val="0000FF"/>
                </a:solidFill>
                <a:latin typeface="Calibri" panose="020F0502020204030204" pitchFamily="34" charset="0"/>
                <a:ea typeface="+mn-ea"/>
                <a:cs typeface="Calibri" panose="020F0502020204030204" pitchFamily="34" charset="0"/>
              </a:rPr>
              <a:t>Can handle non-globular shapes</a:t>
            </a:r>
            <a:endParaRPr lang="en-US" altLang="zh-CN" sz="2400" dirty="0">
              <a:solidFill>
                <a:srgbClr val="0000FF"/>
              </a:solidFill>
              <a:latin typeface="Calibri" panose="020F0502020204030204" pitchFamily="34" charset="0"/>
              <a:ea typeface="+mn-ea"/>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矩形 10"/>
          <p:cNvSpPr>
            <a:spLocks noChangeArrowheads="1"/>
          </p:cNvSpPr>
          <p:nvPr/>
        </p:nvSpPr>
        <p:spPr bwMode="auto">
          <a:xfrm>
            <a:off x="827584" y="1124744"/>
            <a:ext cx="3302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buFont typeface="Wingdings" panose="05000000000000000000" pitchFamily="2" charset="2"/>
              <a:buChar char="n"/>
            </a:pPr>
            <a:r>
              <a:rPr lang="zh-CN" altLang="en-US" sz="2800" dirty="0">
                <a:solidFill>
                  <a:srgbClr val="FF0000"/>
                </a:solidFill>
                <a:latin typeface="Calibri" panose="020F0502020204030204" pitchFamily="34" charset="0"/>
                <a:ea typeface="黑体" panose="02010609060101010101" pitchFamily="49" charset="-122"/>
                <a:cs typeface="Calibri" panose="020F0502020204030204" pitchFamily="34" charset="0"/>
              </a:rPr>
              <a:t>例子 </a:t>
            </a:r>
            <a:r>
              <a:rPr lang="en-US" altLang="zh-CN" sz="2800" dirty="0">
                <a:solidFill>
                  <a:srgbClr val="FF0000"/>
                </a:solidFill>
                <a:latin typeface="Calibri" panose="020F0502020204030204" pitchFamily="34" charset="0"/>
                <a:ea typeface="黑体" panose="02010609060101010101" pitchFamily="49" charset="-122"/>
                <a:cs typeface="Calibri" panose="020F0502020204030204" pitchFamily="34" charset="0"/>
              </a:rPr>
              <a:t>- Single Link </a:t>
            </a:r>
            <a:endParaRPr lang="zh-CN" altLang="en-US" sz="2800" dirty="0">
              <a:solidFill>
                <a:srgbClr val="FF0000"/>
              </a:solidFill>
              <a:latin typeface="Calibri" panose="020F0502020204030204" pitchFamily="34" charset="0"/>
              <a:ea typeface="黑体" panose="02010609060101010101" pitchFamily="49" charset="-122"/>
              <a:cs typeface="Calibri" panose="020F0502020204030204" pitchFamily="34" charset="0"/>
            </a:endParaRPr>
          </a:p>
        </p:txBody>
      </p:sp>
      <p:grpSp>
        <p:nvGrpSpPr>
          <p:cNvPr id="4" name="Group 167"/>
          <p:cNvGrpSpPr/>
          <p:nvPr/>
        </p:nvGrpSpPr>
        <p:grpSpPr bwMode="auto">
          <a:xfrm>
            <a:off x="595809" y="1869282"/>
            <a:ext cx="2301875" cy="2744787"/>
            <a:chOff x="216" y="960"/>
            <a:chExt cx="1450" cy="1729"/>
          </a:xfrm>
        </p:grpSpPr>
        <p:sp>
          <p:nvSpPr>
            <p:cNvPr id="5" name="Text Box 3"/>
            <p:cNvSpPr txBox="1">
              <a:spLocks noChangeArrowheads="1"/>
            </p:cNvSpPr>
            <p:nvPr/>
          </p:nvSpPr>
          <p:spPr bwMode="auto">
            <a:xfrm>
              <a:off x="216" y="2458"/>
              <a:ext cx="145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a:spcBef>
                  <a:spcPct val="50000"/>
                </a:spcBef>
              </a:pPr>
              <a:r>
                <a:rPr lang="en-US" altLang="zh-CN">
                  <a:latin typeface="Calibri" panose="020F0502020204030204" pitchFamily="34" charset="0"/>
                  <a:cs typeface="Calibri" panose="020F0502020204030204" pitchFamily="34" charset="0"/>
                </a:rPr>
                <a:t>Original Points</a:t>
              </a:r>
              <a:endParaRPr lang="en-US" altLang="zh-CN">
                <a:latin typeface="Calibri" panose="020F0502020204030204" pitchFamily="34" charset="0"/>
                <a:cs typeface="Calibri" panose="020F0502020204030204" pitchFamily="34" charset="0"/>
              </a:endParaRPr>
            </a:p>
          </p:txBody>
        </p:sp>
        <p:sp>
          <p:nvSpPr>
            <p:cNvPr id="6" name="Oval 9"/>
            <p:cNvSpPr>
              <a:spLocks noChangeArrowheads="1"/>
            </p:cNvSpPr>
            <p:nvPr/>
          </p:nvSpPr>
          <p:spPr bwMode="auto">
            <a:xfrm>
              <a:off x="600" y="960"/>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7" name="Oval 10"/>
            <p:cNvSpPr>
              <a:spLocks noChangeArrowheads="1"/>
            </p:cNvSpPr>
            <p:nvPr/>
          </p:nvSpPr>
          <p:spPr bwMode="auto">
            <a:xfrm>
              <a:off x="504" y="1008"/>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8" name="Oval 11"/>
            <p:cNvSpPr>
              <a:spLocks noChangeArrowheads="1"/>
            </p:cNvSpPr>
            <p:nvPr/>
          </p:nvSpPr>
          <p:spPr bwMode="auto">
            <a:xfrm>
              <a:off x="384" y="1056"/>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9" name="Oval 12"/>
            <p:cNvSpPr>
              <a:spLocks noChangeArrowheads="1"/>
            </p:cNvSpPr>
            <p:nvPr/>
          </p:nvSpPr>
          <p:spPr bwMode="auto">
            <a:xfrm>
              <a:off x="456" y="1104"/>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0" name="Oval 13"/>
            <p:cNvSpPr>
              <a:spLocks noChangeArrowheads="1"/>
            </p:cNvSpPr>
            <p:nvPr/>
          </p:nvSpPr>
          <p:spPr bwMode="auto">
            <a:xfrm>
              <a:off x="576" y="1080"/>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1" name="Oval 14"/>
            <p:cNvSpPr>
              <a:spLocks noChangeArrowheads="1"/>
            </p:cNvSpPr>
            <p:nvPr/>
          </p:nvSpPr>
          <p:spPr bwMode="auto">
            <a:xfrm>
              <a:off x="672" y="1032"/>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2" name="Oval 15"/>
            <p:cNvSpPr>
              <a:spLocks noChangeArrowheads="1"/>
            </p:cNvSpPr>
            <p:nvPr/>
          </p:nvSpPr>
          <p:spPr bwMode="auto">
            <a:xfrm>
              <a:off x="576" y="1152"/>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3" name="Oval 16"/>
            <p:cNvSpPr>
              <a:spLocks noChangeArrowheads="1"/>
            </p:cNvSpPr>
            <p:nvPr/>
          </p:nvSpPr>
          <p:spPr bwMode="auto">
            <a:xfrm>
              <a:off x="480" y="1176"/>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4" name="Oval 17"/>
            <p:cNvSpPr>
              <a:spLocks noChangeArrowheads="1"/>
            </p:cNvSpPr>
            <p:nvPr/>
          </p:nvSpPr>
          <p:spPr bwMode="auto">
            <a:xfrm>
              <a:off x="720" y="1152"/>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5" name="Oval 18"/>
            <p:cNvSpPr>
              <a:spLocks noChangeArrowheads="1"/>
            </p:cNvSpPr>
            <p:nvPr/>
          </p:nvSpPr>
          <p:spPr bwMode="auto">
            <a:xfrm>
              <a:off x="494" y="1777"/>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7" name="Oval 19"/>
            <p:cNvSpPr>
              <a:spLocks noChangeArrowheads="1"/>
            </p:cNvSpPr>
            <p:nvPr/>
          </p:nvSpPr>
          <p:spPr bwMode="auto">
            <a:xfrm>
              <a:off x="408" y="1800"/>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8" name="Oval 20"/>
            <p:cNvSpPr>
              <a:spLocks noChangeArrowheads="1"/>
            </p:cNvSpPr>
            <p:nvPr/>
          </p:nvSpPr>
          <p:spPr bwMode="auto">
            <a:xfrm>
              <a:off x="288" y="1848"/>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9" name="Oval 21"/>
            <p:cNvSpPr>
              <a:spLocks noChangeArrowheads="1"/>
            </p:cNvSpPr>
            <p:nvPr/>
          </p:nvSpPr>
          <p:spPr bwMode="auto">
            <a:xfrm>
              <a:off x="360" y="1896"/>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20" name="Oval 22"/>
            <p:cNvSpPr>
              <a:spLocks noChangeArrowheads="1"/>
            </p:cNvSpPr>
            <p:nvPr/>
          </p:nvSpPr>
          <p:spPr bwMode="auto">
            <a:xfrm>
              <a:off x="480" y="1872"/>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21" name="Oval 23"/>
            <p:cNvSpPr>
              <a:spLocks noChangeArrowheads="1"/>
            </p:cNvSpPr>
            <p:nvPr/>
          </p:nvSpPr>
          <p:spPr bwMode="auto">
            <a:xfrm>
              <a:off x="561" y="1824"/>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22" name="Oval 24"/>
            <p:cNvSpPr>
              <a:spLocks noChangeArrowheads="1"/>
            </p:cNvSpPr>
            <p:nvPr/>
          </p:nvSpPr>
          <p:spPr bwMode="auto">
            <a:xfrm>
              <a:off x="480" y="1944"/>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23" name="Oval 25"/>
            <p:cNvSpPr>
              <a:spLocks noChangeArrowheads="1"/>
            </p:cNvSpPr>
            <p:nvPr/>
          </p:nvSpPr>
          <p:spPr bwMode="auto">
            <a:xfrm>
              <a:off x="384" y="1968"/>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24" name="Oval 26"/>
            <p:cNvSpPr>
              <a:spLocks noChangeArrowheads="1"/>
            </p:cNvSpPr>
            <p:nvPr/>
          </p:nvSpPr>
          <p:spPr bwMode="auto">
            <a:xfrm>
              <a:off x="574" y="1924"/>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25" name="Oval 27"/>
            <p:cNvSpPr>
              <a:spLocks noChangeArrowheads="1"/>
            </p:cNvSpPr>
            <p:nvPr/>
          </p:nvSpPr>
          <p:spPr bwMode="auto">
            <a:xfrm>
              <a:off x="1272" y="1800"/>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26" name="Oval 28"/>
            <p:cNvSpPr>
              <a:spLocks noChangeArrowheads="1"/>
            </p:cNvSpPr>
            <p:nvPr/>
          </p:nvSpPr>
          <p:spPr bwMode="auto">
            <a:xfrm>
              <a:off x="1176" y="1848"/>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27" name="Oval 29"/>
            <p:cNvSpPr>
              <a:spLocks noChangeArrowheads="1"/>
            </p:cNvSpPr>
            <p:nvPr/>
          </p:nvSpPr>
          <p:spPr bwMode="auto">
            <a:xfrm>
              <a:off x="1051" y="1871"/>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28" name="Oval 30"/>
            <p:cNvSpPr>
              <a:spLocks noChangeArrowheads="1"/>
            </p:cNvSpPr>
            <p:nvPr/>
          </p:nvSpPr>
          <p:spPr bwMode="auto">
            <a:xfrm>
              <a:off x="1128" y="1944"/>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29" name="Oval 31"/>
            <p:cNvSpPr>
              <a:spLocks noChangeArrowheads="1"/>
            </p:cNvSpPr>
            <p:nvPr/>
          </p:nvSpPr>
          <p:spPr bwMode="auto">
            <a:xfrm>
              <a:off x="1233" y="1915"/>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30" name="Oval 32"/>
            <p:cNvSpPr>
              <a:spLocks noChangeArrowheads="1"/>
            </p:cNvSpPr>
            <p:nvPr/>
          </p:nvSpPr>
          <p:spPr bwMode="auto">
            <a:xfrm>
              <a:off x="1314" y="1872"/>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31" name="Oval 33"/>
            <p:cNvSpPr>
              <a:spLocks noChangeArrowheads="1"/>
            </p:cNvSpPr>
            <p:nvPr/>
          </p:nvSpPr>
          <p:spPr bwMode="auto">
            <a:xfrm>
              <a:off x="1248" y="1992"/>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32" name="Oval 34"/>
            <p:cNvSpPr>
              <a:spLocks noChangeArrowheads="1"/>
            </p:cNvSpPr>
            <p:nvPr/>
          </p:nvSpPr>
          <p:spPr bwMode="auto">
            <a:xfrm>
              <a:off x="1152" y="2016"/>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33" name="Oval 35"/>
            <p:cNvSpPr>
              <a:spLocks noChangeArrowheads="1"/>
            </p:cNvSpPr>
            <p:nvPr/>
          </p:nvSpPr>
          <p:spPr bwMode="auto">
            <a:xfrm>
              <a:off x="1342" y="1967"/>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34" name="Oval 36"/>
            <p:cNvSpPr>
              <a:spLocks noChangeArrowheads="1"/>
            </p:cNvSpPr>
            <p:nvPr/>
          </p:nvSpPr>
          <p:spPr bwMode="auto">
            <a:xfrm>
              <a:off x="744" y="1484"/>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35" name="Oval 37"/>
            <p:cNvSpPr>
              <a:spLocks noChangeArrowheads="1"/>
            </p:cNvSpPr>
            <p:nvPr/>
          </p:nvSpPr>
          <p:spPr bwMode="auto">
            <a:xfrm>
              <a:off x="648" y="1512"/>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36" name="Oval 38"/>
            <p:cNvSpPr>
              <a:spLocks noChangeArrowheads="1"/>
            </p:cNvSpPr>
            <p:nvPr/>
          </p:nvSpPr>
          <p:spPr bwMode="auto">
            <a:xfrm>
              <a:off x="528" y="1560"/>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37" name="Oval 39"/>
            <p:cNvSpPr>
              <a:spLocks noChangeArrowheads="1"/>
            </p:cNvSpPr>
            <p:nvPr/>
          </p:nvSpPr>
          <p:spPr bwMode="auto">
            <a:xfrm>
              <a:off x="600" y="1608"/>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38" name="Oval 40"/>
            <p:cNvSpPr>
              <a:spLocks noChangeArrowheads="1"/>
            </p:cNvSpPr>
            <p:nvPr/>
          </p:nvSpPr>
          <p:spPr bwMode="auto">
            <a:xfrm>
              <a:off x="720" y="1584"/>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39" name="Oval 41"/>
            <p:cNvSpPr>
              <a:spLocks noChangeArrowheads="1"/>
            </p:cNvSpPr>
            <p:nvPr/>
          </p:nvSpPr>
          <p:spPr bwMode="auto">
            <a:xfrm>
              <a:off x="816" y="1536"/>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40" name="Oval 42"/>
            <p:cNvSpPr>
              <a:spLocks noChangeArrowheads="1"/>
            </p:cNvSpPr>
            <p:nvPr/>
          </p:nvSpPr>
          <p:spPr bwMode="auto">
            <a:xfrm>
              <a:off x="720" y="1656"/>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41" name="Oval 43"/>
            <p:cNvSpPr>
              <a:spLocks noChangeArrowheads="1"/>
            </p:cNvSpPr>
            <p:nvPr/>
          </p:nvSpPr>
          <p:spPr bwMode="auto">
            <a:xfrm>
              <a:off x="624" y="1680"/>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42" name="Oval 44"/>
            <p:cNvSpPr>
              <a:spLocks noChangeArrowheads="1"/>
            </p:cNvSpPr>
            <p:nvPr/>
          </p:nvSpPr>
          <p:spPr bwMode="auto">
            <a:xfrm>
              <a:off x="864" y="1656"/>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43" name="Oval 45"/>
            <p:cNvSpPr>
              <a:spLocks noChangeArrowheads="1"/>
            </p:cNvSpPr>
            <p:nvPr/>
          </p:nvSpPr>
          <p:spPr bwMode="auto">
            <a:xfrm>
              <a:off x="940" y="1747"/>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44" name="Oval 46"/>
            <p:cNvSpPr>
              <a:spLocks noChangeArrowheads="1"/>
            </p:cNvSpPr>
            <p:nvPr/>
          </p:nvSpPr>
          <p:spPr bwMode="auto">
            <a:xfrm>
              <a:off x="998" y="1804"/>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45" name="Oval 47"/>
            <p:cNvSpPr>
              <a:spLocks noChangeArrowheads="1"/>
            </p:cNvSpPr>
            <p:nvPr/>
          </p:nvSpPr>
          <p:spPr bwMode="auto">
            <a:xfrm>
              <a:off x="864" y="1728"/>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46" name="Oval 48"/>
            <p:cNvSpPr>
              <a:spLocks noChangeArrowheads="1"/>
            </p:cNvSpPr>
            <p:nvPr/>
          </p:nvSpPr>
          <p:spPr bwMode="auto">
            <a:xfrm>
              <a:off x="783" y="1632"/>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47" name="Oval 49"/>
            <p:cNvSpPr>
              <a:spLocks noChangeArrowheads="1"/>
            </p:cNvSpPr>
            <p:nvPr/>
          </p:nvSpPr>
          <p:spPr bwMode="auto">
            <a:xfrm>
              <a:off x="671" y="1613"/>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48" name="Oval 50"/>
            <p:cNvSpPr>
              <a:spLocks noChangeArrowheads="1"/>
            </p:cNvSpPr>
            <p:nvPr/>
          </p:nvSpPr>
          <p:spPr bwMode="auto">
            <a:xfrm>
              <a:off x="550" y="1666"/>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49" name="Oval 51"/>
            <p:cNvSpPr>
              <a:spLocks noChangeArrowheads="1"/>
            </p:cNvSpPr>
            <p:nvPr/>
          </p:nvSpPr>
          <p:spPr bwMode="auto">
            <a:xfrm>
              <a:off x="471" y="1635"/>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50" name="Oval 52"/>
            <p:cNvSpPr>
              <a:spLocks noChangeArrowheads="1"/>
            </p:cNvSpPr>
            <p:nvPr/>
          </p:nvSpPr>
          <p:spPr bwMode="auto">
            <a:xfrm>
              <a:off x="407" y="1681"/>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51" name="Oval 53"/>
            <p:cNvSpPr>
              <a:spLocks noChangeArrowheads="1"/>
            </p:cNvSpPr>
            <p:nvPr/>
          </p:nvSpPr>
          <p:spPr bwMode="auto">
            <a:xfrm>
              <a:off x="1548" y="1756"/>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52" name="Oval 54"/>
            <p:cNvSpPr>
              <a:spLocks noChangeArrowheads="1"/>
            </p:cNvSpPr>
            <p:nvPr/>
          </p:nvSpPr>
          <p:spPr bwMode="auto">
            <a:xfrm>
              <a:off x="1452" y="1804"/>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53" name="Oval 55"/>
            <p:cNvSpPr>
              <a:spLocks noChangeArrowheads="1"/>
            </p:cNvSpPr>
            <p:nvPr/>
          </p:nvSpPr>
          <p:spPr bwMode="auto">
            <a:xfrm>
              <a:off x="1404" y="1900"/>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54" name="Oval 56"/>
            <p:cNvSpPr>
              <a:spLocks noChangeArrowheads="1"/>
            </p:cNvSpPr>
            <p:nvPr/>
          </p:nvSpPr>
          <p:spPr bwMode="auto">
            <a:xfrm>
              <a:off x="1509" y="1871"/>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55" name="Oval 57"/>
            <p:cNvSpPr>
              <a:spLocks noChangeArrowheads="1"/>
            </p:cNvSpPr>
            <p:nvPr/>
          </p:nvSpPr>
          <p:spPr bwMode="auto">
            <a:xfrm>
              <a:off x="1590" y="1828"/>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56" name="Oval 58"/>
            <p:cNvSpPr>
              <a:spLocks noChangeArrowheads="1"/>
            </p:cNvSpPr>
            <p:nvPr/>
          </p:nvSpPr>
          <p:spPr bwMode="auto">
            <a:xfrm>
              <a:off x="1524" y="1948"/>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57" name="Oval 59"/>
            <p:cNvSpPr>
              <a:spLocks noChangeArrowheads="1"/>
            </p:cNvSpPr>
            <p:nvPr/>
          </p:nvSpPr>
          <p:spPr bwMode="auto">
            <a:xfrm>
              <a:off x="1428" y="1972"/>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58" name="Oval 60"/>
            <p:cNvSpPr>
              <a:spLocks noChangeArrowheads="1"/>
            </p:cNvSpPr>
            <p:nvPr/>
          </p:nvSpPr>
          <p:spPr bwMode="auto">
            <a:xfrm>
              <a:off x="1618" y="1923"/>
              <a:ext cx="48" cy="48"/>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grpSp>
      <p:grpSp>
        <p:nvGrpSpPr>
          <p:cNvPr id="59" name="Group 168"/>
          <p:cNvGrpSpPr/>
          <p:nvPr/>
        </p:nvGrpSpPr>
        <p:grpSpPr bwMode="auto">
          <a:xfrm>
            <a:off x="3289796" y="1886744"/>
            <a:ext cx="2451100" cy="2727325"/>
            <a:chOff x="1913" y="971"/>
            <a:chExt cx="1544" cy="1718"/>
          </a:xfrm>
        </p:grpSpPr>
        <p:sp>
          <p:nvSpPr>
            <p:cNvPr id="60" name="Oval 61"/>
            <p:cNvSpPr>
              <a:spLocks noChangeArrowheads="1"/>
            </p:cNvSpPr>
            <p:nvPr/>
          </p:nvSpPr>
          <p:spPr bwMode="auto">
            <a:xfrm>
              <a:off x="2391" y="971"/>
              <a:ext cx="48" cy="48"/>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61" name="Oval 62"/>
            <p:cNvSpPr>
              <a:spLocks noChangeArrowheads="1"/>
            </p:cNvSpPr>
            <p:nvPr/>
          </p:nvSpPr>
          <p:spPr bwMode="auto">
            <a:xfrm>
              <a:off x="2295" y="1019"/>
              <a:ext cx="48" cy="48"/>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62" name="Oval 63"/>
            <p:cNvSpPr>
              <a:spLocks noChangeArrowheads="1"/>
            </p:cNvSpPr>
            <p:nvPr/>
          </p:nvSpPr>
          <p:spPr bwMode="auto">
            <a:xfrm>
              <a:off x="2175" y="1067"/>
              <a:ext cx="48" cy="48"/>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63" name="Oval 64"/>
            <p:cNvSpPr>
              <a:spLocks noChangeArrowheads="1"/>
            </p:cNvSpPr>
            <p:nvPr/>
          </p:nvSpPr>
          <p:spPr bwMode="auto">
            <a:xfrm>
              <a:off x="2247" y="1115"/>
              <a:ext cx="48" cy="48"/>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64" name="Oval 65"/>
            <p:cNvSpPr>
              <a:spLocks noChangeArrowheads="1"/>
            </p:cNvSpPr>
            <p:nvPr/>
          </p:nvSpPr>
          <p:spPr bwMode="auto">
            <a:xfrm>
              <a:off x="2367" y="1091"/>
              <a:ext cx="48" cy="48"/>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65" name="Oval 66"/>
            <p:cNvSpPr>
              <a:spLocks noChangeArrowheads="1"/>
            </p:cNvSpPr>
            <p:nvPr/>
          </p:nvSpPr>
          <p:spPr bwMode="auto">
            <a:xfrm>
              <a:off x="2463" y="1043"/>
              <a:ext cx="48" cy="48"/>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66" name="Oval 67"/>
            <p:cNvSpPr>
              <a:spLocks noChangeArrowheads="1"/>
            </p:cNvSpPr>
            <p:nvPr/>
          </p:nvSpPr>
          <p:spPr bwMode="auto">
            <a:xfrm>
              <a:off x="2367" y="1163"/>
              <a:ext cx="48" cy="48"/>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67" name="Oval 68"/>
            <p:cNvSpPr>
              <a:spLocks noChangeArrowheads="1"/>
            </p:cNvSpPr>
            <p:nvPr/>
          </p:nvSpPr>
          <p:spPr bwMode="auto">
            <a:xfrm>
              <a:off x="2271" y="1187"/>
              <a:ext cx="48" cy="48"/>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68" name="Oval 69"/>
            <p:cNvSpPr>
              <a:spLocks noChangeArrowheads="1"/>
            </p:cNvSpPr>
            <p:nvPr/>
          </p:nvSpPr>
          <p:spPr bwMode="auto">
            <a:xfrm>
              <a:off x="2511" y="1163"/>
              <a:ext cx="48" cy="48"/>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69" name="Oval 70"/>
            <p:cNvSpPr>
              <a:spLocks noChangeArrowheads="1"/>
            </p:cNvSpPr>
            <p:nvPr/>
          </p:nvSpPr>
          <p:spPr bwMode="auto">
            <a:xfrm>
              <a:off x="2295" y="1783"/>
              <a:ext cx="48" cy="48"/>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70" name="Oval 71"/>
            <p:cNvSpPr>
              <a:spLocks noChangeArrowheads="1"/>
            </p:cNvSpPr>
            <p:nvPr/>
          </p:nvSpPr>
          <p:spPr bwMode="auto">
            <a:xfrm>
              <a:off x="2199" y="1811"/>
              <a:ext cx="48" cy="48"/>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71" name="Oval 72"/>
            <p:cNvSpPr>
              <a:spLocks noChangeArrowheads="1"/>
            </p:cNvSpPr>
            <p:nvPr/>
          </p:nvSpPr>
          <p:spPr bwMode="auto">
            <a:xfrm>
              <a:off x="2079" y="1859"/>
              <a:ext cx="48" cy="48"/>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72" name="Oval 73"/>
            <p:cNvSpPr>
              <a:spLocks noChangeArrowheads="1"/>
            </p:cNvSpPr>
            <p:nvPr/>
          </p:nvSpPr>
          <p:spPr bwMode="auto">
            <a:xfrm>
              <a:off x="2151" y="1907"/>
              <a:ext cx="48" cy="48"/>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73" name="Oval 74"/>
            <p:cNvSpPr>
              <a:spLocks noChangeArrowheads="1"/>
            </p:cNvSpPr>
            <p:nvPr/>
          </p:nvSpPr>
          <p:spPr bwMode="auto">
            <a:xfrm>
              <a:off x="2271" y="1883"/>
              <a:ext cx="48" cy="48"/>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74" name="Oval 75"/>
            <p:cNvSpPr>
              <a:spLocks noChangeArrowheads="1"/>
            </p:cNvSpPr>
            <p:nvPr/>
          </p:nvSpPr>
          <p:spPr bwMode="auto">
            <a:xfrm>
              <a:off x="2367" y="1835"/>
              <a:ext cx="48" cy="48"/>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75" name="Oval 76"/>
            <p:cNvSpPr>
              <a:spLocks noChangeArrowheads="1"/>
            </p:cNvSpPr>
            <p:nvPr/>
          </p:nvSpPr>
          <p:spPr bwMode="auto">
            <a:xfrm>
              <a:off x="2271" y="1955"/>
              <a:ext cx="48" cy="48"/>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76" name="Oval 77"/>
            <p:cNvSpPr>
              <a:spLocks noChangeArrowheads="1"/>
            </p:cNvSpPr>
            <p:nvPr/>
          </p:nvSpPr>
          <p:spPr bwMode="auto">
            <a:xfrm>
              <a:off x="2175" y="1979"/>
              <a:ext cx="48" cy="48"/>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77" name="Oval 78"/>
            <p:cNvSpPr>
              <a:spLocks noChangeArrowheads="1"/>
            </p:cNvSpPr>
            <p:nvPr/>
          </p:nvSpPr>
          <p:spPr bwMode="auto">
            <a:xfrm>
              <a:off x="2365" y="1940"/>
              <a:ext cx="48" cy="48"/>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78" name="Oval 79"/>
            <p:cNvSpPr>
              <a:spLocks noChangeArrowheads="1"/>
            </p:cNvSpPr>
            <p:nvPr/>
          </p:nvSpPr>
          <p:spPr bwMode="auto">
            <a:xfrm>
              <a:off x="3063" y="1811"/>
              <a:ext cx="48" cy="48"/>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79" name="Oval 80"/>
            <p:cNvSpPr>
              <a:spLocks noChangeArrowheads="1"/>
            </p:cNvSpPr>
            <p:nvPr/>
          </p:nvSpPr>
          <p:spPr bwMode="auto">
            <a:xfrm>
              <a:off x="2967" y="1859"/>
              <a:ext cx="48" cy="48"/>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80" name="Oval 81"/>
            <p:cNvSpPr>
              <a:spLocks noChangeArrowheads="1"/>
            </p:cNvSpPr>
            <p:nvPr/>
          </p:nvSpPr>
          <p:spPr bwMode="auto">
            <a:xfrm>
              <a:off x="2842" y="1892"/>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81" name="Oval 82"/>
            <p:cNvSpPr>
              <a:spLocks noChangeArrowheads="1"/>
            </p:cNvSpPr>
            <p:nvPr/>
          </p:nvSpPr>
          <p:spPr bwMode="auto">
            <a:xfrm>
              <a:off x="2939" y="1945"/>
              <a:ext cx="48" cy="48"/>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82" name="Oval 83"/>
            <p:cNvSpPr>
              <a:spLocks noChangeArrowheads="1"/>
            </p:cNvSpPr>
            <p:nvPr/>
          </p:nvSpPr>
          <p:spPr bwMode="auto">
            <a:xfrm>
              <a:off x="3024" y="1926"/>
              <a:ext cx="48" cy="48"/>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83" name="Oval 84"/>
            <p:cNvSpPr>
              <a:spLocks noChangeArrowheads="1"/>
            </p:cNvSpPr>
            <p:nvPr/>
          </p:nvSpPr>
          <p:spPr bwMode="auto">
            <a:xfrm>
              <a:off x="3105" y="1883"/>
              <a:ext cx="48" cy="48"/>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84" name="Oval 85"/>
            <p:cNvSpPr>
              <a:spLocks noChangeArrowheads="1"/>
            </p:cNvSpPr>
            <p:nvPr/>
          </p:nvSpPr>
          <p:spPr bwMode="auto">
            <a:xfrm>
              <a:off x="3039" y="2003"/>
              <a:ext cx="48" cy="48"/>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85" name="Oval 86"/>
            <p:cNvSpPr>
              <a:spLocks noChangeArrowheads="1"/>
            </p:cNvSpPr>
            <p:nvPr/>
          </p:nvSpPr>
          <p:spPr bwMode="auto">
            <a:xfrm>
              <a:off x="2963" y="2022"/>
              <a:ext cx="48" cy="48"/>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86" name="Oval 87"/>
            <p:cNvSpPr>
              <a:spLocks noChangeArrowheads="1"/>
            </p:cNvSpPr>
            <p:nvPr/>
          </p:nvSpPr>
          <p:spPr bwMode="auto">
            <a:xfrm>
              <a:off x="3133" y="1978"/>
              <a:ext cx="48" cy="48"/>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87" name="Oval 88"/>
            <p:cNvSpPr>
              <a:spLocks noChangeArrowheads="1"/>
            </p:cNvSpPr>
            <p:nvPr/>
          </p:nvSpPr>
          <p:spPr bwMode="auto">
            <a:xfrm>
              <a:off x="2535" y="1505"/>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88" name="Oval 89"/>
            <p:cNvSpPr>
              <a:spLocks noChangeArrowheads="1"/>
            </p:cNvSpPr>
            <p:nvPr/>
          </p:nvSpPr>
          <p:spPr bwMode="auto">
            <a:xfrm>
              <a:off x="2439" y="1523"/>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89" name="Oval 90"/>
            <p:cNvSpPr>
              <a:spLocks noChangeArrowheads="1"/>
            </p:cNvSpPr>
            <p:nvPr/>
          </p:nvSpPr>
          <p:spPr bwMode="auto">
            <a:xfrm>
              <a:off x="2319" y="1571"/>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90" name="Oval 91"/>
            <p:cNvSpPr>
              <a:spLocks noChangeArrowheads="1"/>
            </p:cNvSpPr>
            <p:nvPr/>
          </p:nvSpPr>
          <p:spPr bwMode="auto">
            <a:xfrm>
              <a:off x="2391" y="1619"/>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91" name="Oval 92"/>
            <p:cNvSpPr>
              <a:spLocks noChangeArrowheads="1"/>
            </p:cNvSpPr>
            <p:nvPr/>
          </p:nvSpPr>
          <p:spPr bwMode="auto">
            <a:xfrm>
              <a:off x="2511" y="1595"/>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92" name="Oval 93"/>
            <p:cNvSpPr>
              <a:spLocks noChangeArrowheads="1"/>
            </p:cNvSpPr>
            <p:nvPr/>
          </p:nvSpPr>
          <p:spPr bwMode="auto">
            <a:xfrm>
              <a:off x="2607" y="1547"/>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93" name="Oval 94"/>
            <p:cNvSpPr>
              <a:spLocks noChangeArrowheads="1"/>
            </p:cNvSpPr>
            <p:nvPr/>
          </p:nvSpPr>
          <p:spPr bwMode="auto">
            <a:xfrm>
              <a:off x="2511" y="1667"/>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94" name="Oval 95"/>
            <p:cNvSpPr>
              <a:spLocks noChangeArrowheads="1"/>
            </p:cNvSpPr>
            <p:nvPr/>
          </p:nvSpPr>
          <p:spPr bwMode="auto">
            <a:xfrm>
              <a:off x="2415" y="1691"/>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95" name="Oval 96"/>
            <p:cNvSpPr>
              <a:spLocks noChangeArrowheads="1"/>
            </p:cNvSpPr>
            <p:nvPr/>
          </p:nvSpPr>
          <p:spPr bwMode="auto">
            <a:xfrm>
              <a:off x="2655" y="1667"/>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96" name="Oval 97"/>
            <p:cNvSpPr>
              <a:spLocks noChangeArrowheads="1"/>
            </p:cNvSpPr>
            <p:nvPr/>
          </p:nvSpPr>
          <p:spPr bwMode="auto">
            <a:xfrm>
              <a:off x="2736" y="1768"/>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97" name="Oval 98"/>
            <p:cNvSpPr>
              <a:spLocks noChangeArrowheads="1"/>
            </p:cNvSpPr>
            <p:nvPr/>
          </p:nvSpPr>
          <p:spPr bwMode="auto">
            <a:xfrm>
              <a:off x="2794" y="1830"/>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98" name="Oval 99"/>
            <p:cNvSpPr>
              <a:spLocks noChangeArrowheads="1"/>
            </p:cNvSpPr>
            <p:nvPr/>
          </p:nvSpPr>
          <p:spPr bwMode="auto">
            <a:xfrm>
              <a:off x="2655" y="1739"/>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99" name="Oval 100"/>
            <p:cNvSpPr>
              <a:spLocks noChangeArrowheads="1"/>
            </p:cNvSpPr>
            <p:nvPr/>
          </p:nvSpPr>
          <p:spPr bwMode="auto">
            <a:xfrm>
              <a:off x="2574" y="1643"/>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00" name="Oval 101"/>
            <p:cNvSpPr>
              <a:spLocks noChangeArrowheads="1"/>
            </p:cNvSpPr>
            <p:nvPr/>
          </p:nvSpPr>
          <p:spPr bwMode="auto">
            <a:xfrm>
              <a:off x="2462" y="1624"/>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01" name="Oval 102"/>
            <p:cNvSpPr>
              <a:spLocks noChangeArrowheads="1"/>
            </p:cNvSpPr>
            <p:nvPr/>
          </p:nvSpPr>
          <p:spPr bwMode="auto">
            <a:xfrm>
              <a:off x="2341" y="1677"/>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02" name="Oval 103"/>
            <p:cNvSpPr>
              <a:spLocks noChangeArrowheads="1"/>
            </p:cNvSpPr>
            <p:nvPr/>
          </p:nvSpPr>
          <p:spPr bwMode="auto">
            <a:xfrm>
              <a:off x="2262" y="1646"/>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03" name="Oval 104"/>
            <p:cNvSpPr>
              <a:spLocks noChangeArrowheads="1"/>
            </p:cNvSpPr>
            <p:nvPr/>
          </p:nvSpPr>
          <p:spPr bwMode="auto">
            <a:xfrm>
              <a:off x="2198" y="1692"/>
              <a:ext cx="48" cy="48"/>
            </a:xfrm>
            <a:prstGeom prst="ellipse">
              <a:avLst/>
            </a:prstGeom>
            <a:solidFill>
              <a:srgbClr val="FFFF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04" name="Oval 105"/>
            <p:cNvSpPr>
              <a:spLocks noChangeArrowheads="1"/>
            </p:cNvSpPr>
            <p:nvPr/>
          </p:nvSpPr>
          <p:spPr bwMode="auto">
            <a:xfrm>
              <a:off x="3339" y="1767"/>
              <a:ext cx="48" cy="48"/>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05" name="Oval 106"/>
            <p:cNvSpPr>
              <a:spLocks noChangeArrowheads="1"/>
            </p:cNvSpPr>
            <p:nvPr/>
          </p:nvSpPr>
          <p:spPr bwMode="auto">
            <a:xfrm>
              <a:off x="3243" y="1815"/>
              <a:ext cx="48" cy="48"/>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06" name="Oval 107"/>
            <p:cNvSpPr>
              <a:spLocks noChangeArrowheads="1"/>
            </p:cNvSpPr>
            <p:nvPr/>
          </p:nvSpPr>
          <p:spPr bwMode="auto">
            <a:xfrm>
              <a:off x="3195" y="1911"/>
              <a:ext cx="48" cy="48"/>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07" name="Oval 108"/>
            <p:cNvSpPr>
              <a:spLocks noChangeArrowheads="1"/>
            </p:cNvSpPr>
            <p:nvPr/>
          </p:nvSpPr>
          <p:spPr bwMode="auto">
            <a:xfrm>
              <a:off x="3300" y="1882"/>
              <a:ext cx="48" cy="48"/>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08" name="Oval 109"/>
            <p:cNvSpPr>
              <a:spLocks noChangeArrowheads="1"/>
            </p:cNvSpPr>
            <p:nvPr/>
          </p:nvSpPr>
          <p:spPr bwMode="auto">
            <a:xfrm>
              <a:off x="3381" y="1839"/>
              <a:ext cx="48" cy="48"/>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09" name="Oval 110"/>
            <p:cNvSpPr>
              <a:spLocks noChangeArrowheads="1"/>
            </p:cNvSpPr>
            <p:nvPr/>
          </p:nvSpPr>
          <p:spPr bwMode="auto">
            <a:xfrm>
              <a:off x="3315" y="1959"/>
              <a:ext cx="48" cy="48"/>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10" name="Oval 111"/>
            <p:cNvSpPr>
              <a:spLocks noChangeArrowheads="1"/>
            </p:cNvSpPr>
            <p:nvPr/>
          </p:nvSpPr>
          <p:spPr bwMode="auto">
            <a:xfrm>
              <a:off x="3219" y="1983"/>
              <a:ext cx="48" cy="48"/>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11" name="Oval 112"/>
            <p:cNvSpPr>
              <a:spLocks noChangeArrowheads="1"/>
            </p:cNvSpPr>
            <p:nvPr/>
          </p:nvSpPr>
          <p:spPr bwMode="auto">
            <a:xfrm>
              <a:off x="3409" y="1934"/>
              <a:ext cx="48" cy="48"/>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12" name="Text Box 113"/>
            <p:cNvSpPr txBox="1">
              <a:spLocks noChangeArrowheads="1"/>
            </p:cNvSpPr>
            <p:nvPr/>
          </p:nvSpPr>
          <p:spPr bwMode="auto">
            <a:xfrm>
              <a:off x="1913" y="2458"/>
              <a:ext cx="145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a:spcBef>
                  <a:spcPct val="50000"/>
                </a:spcBef>
              </a:pPr>
              <a:r>
                <a:rPr lang="en-US" altLang="zh-CN">
                  <a:latin typeface="Calibri" panose="020F0502020204030204" pitchFamily="34" charset="0"/>
                  <a:cs typeface="Calibri" panose="020F0502020204030204" pitchFamily="34" charset="0"/>
                </a:rPr>
                <a:t>Four clusters</a:t>
              </a:r>
              <a:endParaRPr lang="en-US" altLang="zh-CN">
                <a:latin typeface="Calibri" panose="020F0502020204030204" pitchFamily="34" charset="0"/>
                <a:cs typeface="Calibri" panose="020F0502020204030204" pitchFamily="34" charset="0"/>
              </a:endParaRPr>
            </a:p>
          </p:txBody>
        </p:sp>
      </p:grpSp>
      <p:sp>
        <p:nvSpPr>
          <p:cNvPr id="113" name="Oval 114"/>
          <p:cNvSpPr>
            <a:spLocks noChangeArrowheads="1"/>
          </p:cNvSpPr>
          <p:nvPr/>
        </p:nvSpPr>
        <p:spPr bwMode="auto">
          <a:xfrm>
            <a:off x="6934696" y="1962944"/>
            <a:ext cx="79375" cy="76200"/>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14" name="Oval 115"/>
          <p:cNvSpPr>
            <a:spLocks noChangeArrowheads="1"/>
          </p:cNvSpPr>
          <p:nvPr/>
        </p:nvSpPr>
        <p:spPr bwMode="auto">
          <a:xfrm>
            <a:off x="6777534" y="2039144"/>
            <a:ext cx="79375" cy="76200"/>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15" name="Oval 116"/>
          <p:cNvSpPr>
            <a:spLocks noChangeArrowheads="1"/>
          </p:cNvSpPr>
          <p:nvPr/>
        </p:nvSpPr>
        <p:spPr bwMode="auto">
          <a:xfrm>
            <a:off x="6580684" y="2115344"/>
            <a:ext cx="77787" cy="76200"/>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16" name="Oval 117"/>
          <p:cNvSpPr>
            <a:spLocks noChangeArrowheads="1"/>
          </p:cNvSpPr>
          <p:nvPr/>
        </p:nvSpPr>
        <p:spPr bwMode="auto">
          <a:xfrm>
            <a:off x="6698159" y="2191544"/>
            <a:ext cx="79375" cy="76200"/>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17" name="Oval 118"/>
          <p:cNvSpPr>
            <a:spLocks noChangeArrowheads="1"/>
          </p:cNvSpPr>
          <p:nvPr/>
        </p:nvSpPr>
        <p:spPr bwMode="auto">
          <a:xfrm>
            <a:off x="6895009" y="2153444"/>
            <a:ext cx="79375" cy="76200"/>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18" name="Oval 119"/>
          <p:cNvSpPr>
            <a:spLocks noChangeArrowheads="1"/>
          </p:cNvSpPr>
          <p:nvPr/>
        </p:nvSpPr>
        <p:spPr bwMode="auto">
          <a:xfrm>
            <a:off x="7053759" y="2077244"/>
            <a:ext cx="77787" cy="76200"/>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19" name="Oval 120"/>
          <p:cNvSpPr>
            <a:spLocks noChangeArrowheads="1"/>
          </p:cNvSpPr>
          <p:nvPr/>
        </p:nvSpPr>
        <p:spPr bwMode="auto">
          <a:xfrm>
            <a:off x="6895009" y="2267744"/>
            <a:ext cx="79375" cy="76200"/>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20" name="Oval 121"/>
          <p:cNvSpPr>
            <a:spLocks noChangeArrowheads="1"/>
          </p:cNvSpPr>
          <p:nvPr/>
        </p:nvSpPr>
        <p:spPr bwMode="auto">
          <a:xfrm>
            <a:off x="6737846" y="2305844"/>
            <a:ext cx="79375" cy="76200"/>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21" name="Oval 122"/>
          <p:cNvSpPr>
            <a:spLocks noChangeArrowheads="1"/>
          </p:cNvSpPr>
          <p:nvPr/>
        </p:nvSpPr>
        <p:spPr bwMode="auto">
          <a:xfrm>
            <a:off x="7131546" y="2267744"/>
            <a:ext cx="79375" cy="76200"/>
          </a:xfrm>
          <a:prstGeom prst="ellipse">
            <a:avLst/>
          </a:prstGeom>
          <a:solidFill>
            <a:srgbClr val="3333CC"/>
          </a:solidFill>
          <a:ln w="952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22" name="Oval 123"/>
          <p:cNvSpPr>
            <a:spLocks noChangeArrowheads="1"/>
          </p:cNvSpPr>
          <p:nvPr/>
        </p:nvSpPr>
        <p:spPr bwMode="auto">
          <a:xfrm>
            <a:off x="6777534" y="3251994"/>
            <a:ext cx="79375" cy="76200"/>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23" name="Oval 124"/>
          <p:cNvSpPr>
            <a:spLocks noChangeArrowheads="1"/>
          </p:cNvSpPr>
          <p:nvPr/>
        </p:nvSpPr>
        <p:spPr bwMode="auto">
          <a:xfrm>
            <a:off x="6620371" y="3296444"/>
            <a:ext cx="77788" cy="76200"/>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24" name="Oval 125"/>
          <p:cNvSpPr>
            <a:spLocks noChangeArrowheads="1"/>
          </p:cNvSpPr>
          <p:nvPr/>
        </p:nvSpPr>
        <p:spPr bwMode="auto">
          <a:xfrm>
            <a:off x="6423521" y="3372644"/>
            <a:ext cx="77788" cy="76200"/>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25" name="Oval 126"/>
          <p:cNvSpPr>
            <a:spLocks noChangeArrowheads="1"/>
          </p:cNvSpPr>
          <p:nvPr/>
        </p:nvSpPr>
        <p:spPr bwMode="auto">
          <a:xfrm>
            <a:off x="6540996" y="3448844"/>
            <a:ext cx="79375" cy="76200"/>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26" name="Oval 127"/>
          <p:cNvSpPr>
            <a:spLocks noChangeArrowheads="1"/>
          </p:cNvSpPr>
          <p:nvPr/>
        </p:nvSpPr>
        <p:spPr bwMode="auto">
          <a:xfrm>
            <a:off x="6737846" y="3410744"/>
            <a:ext cx="79375" cy="76200"/>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27" name="Oval 128"/>
          <p:cNvSpPr>
            <a:spLocks noChangeArrowheads="1"/>
          </p:cNvSpPr>
          <p:nvPr/>
        </p:nvSpPr>
        <p:spPr bwMode="auto">
          <a:xfrm>
            <a:off x="6895009" y="3334544"/>
            <a:ext cx="79375" cy="76200"/>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28" name="Oval 129"/>
          <p:cNvSpPr>
            <a:spLocks noChangeArrowheads="1"/>
          </p:cNvSpPr>
          <p:nvPr/>
        </p:nvSpPr>
        <p:spPr bwMode="auto">
          <a:xfrm>
            <a:off x="6737846" y="3525044"/>
            <a:ext cx="79375" cy="76200"/>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29" name="Oval 130"/>
          <p:cNvSpPr>
            <a:spLocks noChangeArrowheads="1"/>
          </p:cNvSpPr>
          <p:nvPr/>
        </p:nvSpPr>
        <p:spPr bwMode="auto">
          <a:xfrm>
            <a:off x="6580684" y="3563144"/>
            <a:ext cx="77787" cy="76200"/>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30" name="Oval 131"/>
          <p:cNvSpPr>
            <a:spLocks noChangeArrowheads="1"/>
          </p:cNvSpPr>
          <p:nvPr/>
        </p:nvSpPr>
        <p:spPr bwMode="auto">
          <a:xfrm>
            <a:off x="6891834" y="3501232"/>
            <a:ext cx="79375" cy="76200"/>
          </a:xfrm>
          <a:prstGeom prst="ellipse">
            <a:avLst/>
          </a:prstGeom>
          <a:solidFill>
            <a:srgbClr val="006666"/>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31" name="Oval 132"/>
          <p:cNvSpPr>
            <a:spLocks noChangeArrowheads="1"/>
          </p:cNvSpPr>
          <p:nvPr/>
        </p:nvSpPr>
        <p:spPr bwMode="auto">
          <a:xfrm>
            <a:off x="8038009" y="3296444"/>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32" name="Oval 133"/>
          <p:cNvSpPr>
            <a:spLocks noChangeArrowheads="1"/>
          </p:cNvSpPr>
          <p:nvPr/>
        </p:nvSpPr>
        <p:spPr bwMode="auto">
          <a:xfrm>
            <a:off x="7880846" y="3372644"/>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33" name="Oval 134"/>
          <p:cNvSpPr>
            <a:spLocks noChangeArrowheads="1"/>
          </p:cNvSpPr>
          <p:nvPr/>
        </p:nvSpPr>
        <p:spPr bwMode="auto">
          <a:xfrm>
            <a:off x="7676059" y="3425032"/>
            <a:ext cx="77787"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34" name="Oval 135"/>
          <p:cNvSpPr>
            <a:spLocks noChangeArrowheads="1"/>
          </p:cNvSpPr>
          <p:nvPr/>
        </p:nvSpPr>
        <p:spPr bwMode="auto">
          <a:xfrm>
            <a:off x="7834809" y="3509169"/>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35" name="Oval 136"/>
          <p:cNvSpPr>
            <a:spLocks noChangeArrowheads="1"/>
          </p:cNvSpPr>
          <p:nvPr/>
        </p:nvSpPr>
        <p:spPr bwMode="auto">
          <a:xfrm>
            <a:off x="7974509" y="3479007"/>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36" name="Oval 137"/>
          <p:cNvSpPr>
            <a:spLocks noChangeArrowheads="1"/>
          </p:cNvSpPr>
          <p:nvPr/>
        </p:nvSpPr>
        <p:spPr bwMode="auto">
          <a:xfrm>
            <a:off x="8107859" y="3410744"/>
            <a:ext cx="77787"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37" name="Oval 138"/>
          <p:cNvSpPr>
            <a:spLocks noChangeArrowheads="1"/>
          </p:cNvSpPr>
          <p:nvPr/>
        </p:nvSpPr>
        <p:spPr bwMode="auto">
          <a:xfrm>
            <a:off x="7999909" y="3601244"/>
            <a:ext cx="77787"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38" name="Oval 139"/>
          <p:cNvSpPr>
            <a:spLocks noChangeArrowheads="1"/>
          </p:cNvSpPr>
          <p:nvPr/>
        </p:nvSpPr>
        <p:spPr bwMode="auto">
          <a:xfrm>
            <a:off x="7874496" y="3631407"/>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39" name="Oval 140"/>
          <p:cNvSpPr>
            <a:spLocks noChangeArrowheads="1"/>
          </p:cNvSpPr>
          <p:nvPr/>
        </p:nvSpPr>
        <p:spPr bwMode="auto">
          <a:xfrm>
            <a:off x="8153896" y="3561557"/>
            <a:ext cx="77788"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40" name="Oval 141"/>
          <p:cNvSpPr>
            <a:spLocks noChangeArrowheads="1"/>
          </p:cNvSpPr>
          <p:nvPr/>
        </p:nvSpPr>
        <p:spPr bwMode="auto">
          <a:xfrm>
            <a:off x="7171234" y="2810669"/>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41" name="Oval 142"/>
          <p:cNvSpPr>
            <a:spLocks noChangeArrowheads="1"/>
          </p:cNvSpPr>
          <p:nvPr/>
        </p:nvSpPr>
        <p:spPr bwMode="auto">
          <a:xfrm>
            <a:off x="7014071" y="2839244"/>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42" name="Oval 143"/>
          <p:cNvSpPr>
            <a:spLocks noChangeArrowheads="1"/>
          </p:cNvSpPr>
          <p:nvPr/>
        </p:nvSpPr>
        <p:spPr bwMode="auto">
          <a:xfrm>
            <a:off x="6817221" y="2915444"/>
            <a:ext cx="77788"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43" name="Oval 144"/>
          <p:cNvSpPr>
            <a:spLocks noChangeArrowheads="1"/>
          </p:cNvSpPr>
          <p:nvPr/>
        </p:nvSpPr>
        <p:spPr bwMode="auto">
          <a:xfrm>
            <a:off x="6934696" y="2991644"/>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44" name="Oval 145"/>
          <p:cNvSpPr>
            <a:spLocks noChangeArrowheads="1"/>
          </p:cNvSpPr>
          <p:nvPr/>
        </p:nvSpPr>
        <p:spPr bwMode="auto">
          <a:xfrm>
            <a:off x="7131546" y="2953544"/>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45" name="Oval 146"/>
          <p:cNvSpPr>
            <a:spLocks noChangeArrowheads="1"/>
          </p:cNvSpPr>
          <p:nvPr/>
        </p:nvSpPr>
        <p:spPr bwMode="auto">
          <a:xfrm>
            <a:off x="7290296" y="2877344"/>
            <a:ext cx="77788"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46" name="Oval 147"/>
          <p:cNvSpPr>
            <a:spLocks noChangeArrowheads="1"/>
          </p:cNvSpPr>
          <p:nvPr/>
        </p:nvSpPr>
        <p:spPr bwMode="auto">
          <a:xfrm>
            <a:off x="7131546" y="3067844"/>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47" name="Oval 148"/>
          <p:cNvSpPr>
            <a:spLocks noChangeArrowheads="1"/>
          </p:cNvSpPr>
          <p:nvPr/>
        </p:nvSpPr>
        <p:spPr bwMode="auto">
          <a:xfrm>
            <a:off x="6974384" y="3105944"/>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48" name="Oval 149"/>
          <p:cNvSpPr>
            <a:spLocks noChangeArrowheads="1"/>
          </p:cNvSpPr>
          <p:nvPr/>
        </p:nvSpPr>
        <p:spPr bwMode="auto">
          <a:xfrm>
            <a:off x="7368084" y="3067844"/>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49" name="Oval 150"/>
          <p:cNvSpPr>
            <a:spLocks noChangeArrowheads="1"/>
          </p:cNvSpPr>
          <p:nvPr/>
        </p:nvSpPr>
        <p:spPr bwMode="auto">
          <a:xfrm>
            <a:off x="7501434" y="3228182"/>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50" name="Oval 151"/>
          <p:cNvSpPr>
            <a:spLocks noChangeArrowheads="1"/>
          </p:cNvSpPr>
          <p:nvPr/>
        </p:nvSpPr>
        <p:spPr bwMode="auto">
          <a:xfrm>
            <a:off x="7596684" y="3326607"/>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51" name="Oval 152"/>
          <p:cNvSpPr>
            <a:spLocks noChangeArrowheads="1"/>
          </p:cNvSpPr>
          <p:nvPr/>
        </p:nvSpPr>
        <p:spPr bwMode="auto">
          <a:xfrm>
            <a:off x="7368084" y="3182144"/>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52" name="Oval 153"/>
          <p:cNvSpPr>
            <a:spLocks noChangeArrowheads="1"/>
          </p:cNvSpPr>
          <p:nvPr/>
        </p:nvSpPr>
        <p:spPr bwMode="auto">
          <a:xfrm>
            <a:off x="7236321" y="3029744"/>
            <a:ext cx="77788"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53" name="Oval 154"/>
          <p:cNvSpPr>
            <a:spLocks noChangeArrowheads="1"/>
          </p:cNvSpPr>
          <p:nvPr/>
        </p:nvSpPr>
        <p:spPr bwMode="auto">
          <a:xfrm>
            <a:off x="7052171" y="2999582"/>
            <a:ext cx="77788"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54" name="Oval 155"/>
          <p:cNvSpPr>
            <a:spLocks noChangeArrowheads="1"/>
          </p:cNvSpPr>
          <p:nvPr/>
        </p:nvSpPr>
        <p:spPr bwMode="auto">
          <a:xfrm>
            <a:off x="6853734" y="3083719"/>
            <a:ext cx="77787"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55" name="Oval 156"/>
          <p:cNvSpPr>
            <a:spLocks noChangeArrowheads="1"/>
          </p:cNvSpPr>
          <p:nvPr/>
        </p:nvSpPr>
        <p:spPr bwMode="auto">
          <a:xfrm>
            <a:off x="6723559" y="3034507"/>
            <a:ext cx="77787"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56" name="Oval 157"/>
          <p:cNvSpPr>
            <a:spLocks noChangeArrowheads="1"/>
          </p:cNvSpPr>
          <p:nvPr/>
        </p:nvSpPr>
        <p:spPr bwMode="auto">
          <a:xfrm>
            <a:off x="6618784" y="3107532"/>
            <a:ext cx="77787"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57" name="Oval 158"/>
          <p:cNvSpPr>
            <a:spLocks noChangeArrowheads="1"/>
          </p:cNvSpPr>
          <p:nvPr/>
        </p:nvSpPr>
        <p:spPr bwMode="auto">
          <a:xfrm>
            <a:off x="8492034" y="3226594"/>
            <a:ext cx="77787"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58" name="Oval 159"/>
          <p:cNvSpPr>
            <a:spLocks noChangeArrowheads="1"/>
          </p:cNvSpPr>
          <p:nvPr/>
        </p:nvSpPr>
        <p:spPr bwMode="auto">
          <a:xfrm>
            <a:off x="8334871" y="3302794"/>
            <a:ext cx="77788"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59" name="Oval 160"/>
          <p:cNvSpPr>
            <a:spLocks noChangeArrowheads="1"/>
          </p:cNvSpPr>
          <p:nvPr/>
        </p:nvSpPr>
        <p:spPr bwMode="auto">
          <a:xfrm>
            <a:off x="8255496" y="3455194"/>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60" name="Oval 161"/>
          <p:cNvSpPr>
            <a:spLocks noChangeArrowheads="1"/>
          </p:cNvSpPr>
          <p:nvPr/>
        </p:nvSpPr>
        <p:spPr bwMode="auto">
          <a:xfrm>
            <a:off x="8426946" y="3409157"/>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61" name="Oval 162"/>
          <p:cNvSpPr>
            <a:spLocks noChangeArrowheads="1"/>
          </p:cNvSpPr>
          <p:nvPr/>
        </p:nvSpPr>
        <p:spPr bwMode="auto">
          <a:xfrm>
            <a:off x="8560296" y="3340894"/>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62" name="Oval 163"/>
          <p:cNvSpPr>
            <a:spLocks noChangeArrowheads="1"/>
          </p:cNvSpPr>
          <p:nvPr/>
        </p:nvSpPr>
        <p:spPr bwMode="auto">
          <a:xfrm>
            <a:off x="8452346" y="3531394"/>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63" name="Oval 164"/>
          <p:cNvSpPr>
            <a:spLocks noChangeArrowheads="1"/>
          </p:cNvSpPr>
          <p:nvPr/>
        </p:nvSpPr>
        <p:spPr bwMode="auto">
          <a:xfrm>
            <a:off x="8295184" y="3569494"/>
            <a:ext cx="77787"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64" name="Oval 165"/>
          <p:cNvSpPr>
            <a:spLocks noChangeArrowheads="1"/>
          </p:cNvSpPr>
          <p:nvPr/>
        </p:nvSpPr>
        <p:spPr bwMode="auto">
          <a:xfrm>
            <a:off x="8606334" y="3491707"/>
            <a:ext cx="79375" cy="762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latin typeface="Calibri" panose="020F0502020204030204" pitchFamily="34" charset="0"/>
              <a:cs typeface="Calibri" panose="020F0502020204030204" pitchFamily="34" charset="0"/>
            </a:endParaRPr>
          </a:p>
        </p:txBody>
      </p:sp>
      <p:sp>
        <p:nvSpPr>
          <p:cNvPr id="165" name="Text Box 166"/>
          <p:cNvSpPr txBox="1">
            <a:spLocks noChangeArrowheads="1"/>
          </p:cNvSpPr>
          <p:nvPr/>
        </p:nvSpPr>
        <p:spPr bwMode="auto">
          <a:xfrm>
            <a:off x="6172696" y="4247357"/>
            <a:ext cx="2747963"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dirty="0">
                <a:latin typeface="Calibri" panose="020F0502020204030204" pitchFamily="34" charset="0"/>
                <a:cs typeface="Calibri" panose="020F0502020204030204" pitchFamily="34" charset="0"/>
              </a:rPr>
              <a:t>Three clusters:</a:t>
            </a:r>
            <a:endParaRPr lang="en-US" altLang="zh-CN" dirty="0">
              <a:latin typeface="Calibri" panose="020F0502020204030204" pitchFamily="34" charset="0"/>
              <a:cs typeface="Calibri" panose="020F0502020204030204" pitchFamily="34" charset="0"/>
            </a:endParaRPr>
          </a:p>
          <a:p>
            <a:pPr>
              <a:spcBef>
                <a:spcPct val="50000"/>
              </a:spcBef>
            </a:pPr>
            <a:r>
              <a:rPr lang="en-US" altLang="zh-CN" dirty="0">
                <a:latin typeface="Calibri" panose="020F0502020204030204" pitchFamily="34" charset="0"/>
                <a:cs typeface="Calibri" panose="020F0502020204030204" pitchFamily="34" charset="0"/>
              </a:rPr>
              <a:t>The yellow points got wrongly merged with the red ones, as opposed to the green one.</a:t>
            </a:r>
            <a:endParaRPr lang="en-US" altLang="zh-CN" dirty="0">
              <a:latin typeface="Calibri" panose="020F0502020204030204" pitchFamily="34" charset="0"/>
              <a:cs typeface="Calibri" panose="020F0502020204030204" pitchFamily="34" charset="0"/>
            </a:endParaRPr>
          </a:p>
        </p:txBody>
      </p:sp>
      <p:sp>
        <p:nvSpPr>
          <p:cNvPr id="166" name="Text Box 8"/>
          <p:cNvSpPr txBox="1">
            <a:spLocks noChangeArrowheads="1"/>
          </p:cNvSpPr>
          <p:nvPr/>
        </p:nvSpPr>
        <p:spPr bwMode="auto">
          <a:xfrm>
            <a:off x="325934" y="5074444"/>
            <a:ext cx="63246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2400" dirty="0">
                <a:solidFill>
                  <a:srgbClr val="0000FF"/>
                </a:solidFill>
                <a:latin typeface="Calibri" panose="020F0502020204030204" pitchFamily="34" charset="0"/>
                <a:ea typeface="+mn-ea"/>
                <a:cs typeface="Calibri" panose="020F0502020204030204" pitchFamily="34" charset="0"/>
              </a:rPr>
              <a:t>缺点：</a:t>
            </a:r>
            <a:r>
              <a:rPr lang="en-US" altLang="zh-CN" sz="2400" dirty="0">
                <a:solidFill>
                  <a:srgbClr val="0000FF"/>
                </a:solidFill>
                <a:latin typeface="Calibri" panose="020F0502020204030204" pitchFamily="34" charset="0"/>
                <a:ea typeface="+mn-ea"/>
                <a:cs typeface="Calibri" panose="020F0502020204030204" pitchFamily="34" charset="0"/>
              </a:rPr>
              <a:t>Sensitive to noise and outliers</a:t>
            </a:r>
            <a:endParaRPr lang="en-US" altLang="zh-CN" sz="2400" dirty="0">
              <a:solidFill>
                <a:srgbClr val="0000FF"/>
              </a:solidFill>
              <a:latin typeface="Calibri" panose="020F0502020204030204" pitchFamily="34" charset="0"/>
              <a:ea typeface="+mn-ea"/>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9"/>
                                        </p:tgtEl>
                                        <p:attrNameLst>
                                          <p:attrName>style.visibility</p:attrName>
                                        </p:attrNameLst>
                                      </p:cBhvr>
                                      <p:to>
                                        <p:strVal val="visible"/>
                                      </p:to>
                                    </p:set>
                                    <p:anim calcmode="lin" valueType="num">
                                      <p:cBhvr>
                                        <p:cTn id="13" dur="500" fill="hold"/>
                                        <p:tgtEl>
                                          <p:spTgt spid="59"/>
                                        </p:tgtEl>
                                        <p:attrNameLst>
                                          <p:attrName>ppt_w</p:attrName>
                                        </p:attrNameLst>
                                      </p:cBhvr>
                                      <p:tavLst>
                                        <p:tav tm="0">
                                          <p:val>
                                            <p:fltVal val="0"/>
                                          </p:val>
                                        </p:tav>
                                        <p:tav tm="100000">
                                          <p:val>
                                            <p:strVal val="#ppt_w"/>
                                          </p:val>
                                        </p:tav>
                                      </p:tavLst>
                                    </p:anim>
                                    <p:anim calcmode="lin" valueType="num">
                                      <p:cBhvr>
                                        <p:cTn id="14" dur="500" fill="hold"/>
                                        <p:tgtEl>
                                          <p:spTgt spid="59"/>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矩形 10"/>
          <p:cNvSpPr>
            <a:spLocks noChangeArrowheads="1"/>
          </p:cNvSpPr>
          <p:nvPr/>
        </p:nvSpPr>
        <p:spPr bwMode="auto">
          <a:xfrm>
            <a:off x="585912" y="1078706"/>
            <a:ext cx="384651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buFont typeface="Wingdings" panose="05000000000000000000" pitchFamily="2" charset="2"/>
              <a:buChar char="n"/>
            </a:pPr>
            <a:r>
              <a:rPr lang="zh-CN" altLang="en-US" sz="2800" dirty="0">
                <a:solidFill>
                  <a:srgbClr val="FF0000"/>
                </a:solidFill>
                <a:latin typeface="Calibri" panose="020F0502020204030204" pitchFamily="34" charset="0"/>
                <a:ea typeface="黑体" panose="02010609060101010101" pitchFamily="49" charset="-122"/>
                <a:cs typeface="Calibri" panose="020F0502020204030204" pitchFamily="34" charset="0"/>
              </a:rPr>
              <a:t>例子 </a:t>
            </a:r>
            <a:r>
              <a:rPr lang="en-US" altLang="zh-CN" sz="2800" dirty="0">
                <a:solidFill>
                  <a:srgbClr val="FF0000"/>
                </a:solidFill>
                <a:latin typeface="Calibri" panose="020F0502020204030204" pitchFamily="34" charset="0"/>
                <a:ea typeface="黑体" panose="02010609060101010101" pitchFamily="49" charset="-122"/>
                <a:cs typeface="Calibri" panose="020F0502020204030204" pitchFamily="34" charset="0"/>
              </a:rPr>
              <a:t>- Complete Link </a:t>
            </a:r>
            <a:endParaRPr lang="zh-CN" altLang="en-US" sz="2800" dirty="0">
              <a:solidFill>
                <a:srgbClr val="FF0000"/>
              </a:solidFill>
              <a:latin typeface="Calibri" panose="020F0502020204030204" pitchFamily="34" charset="0"/>
              <a:ea typeface="黑体" panose="02010609060101010101" pitchFamily="49" charset="-122"/>
              <a:cs typeface="Calibri" panose="020F0502020204030204" pitchFamily="34" charset="0"/>
            </a:endParaRPr>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9512" y="1981993"/>
            <a:ext cx="3905250" cy="289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4"/>
          <p:cNvSpPr txBox="1">
            <a:spLocks noChangeArrowheads="1"/>
          </p:cNvSpPr>
          <p:nvPr/>
        </p:nvSpPr>
        <p:spPr bwMode="auto">
          <a:xfrm>
            <a:off x="1060574" y="5055393"/>
            <a:ext cx="2895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a:spcBef>
                <a:spcPct val="50000"/>
              </a:spcBef>
            </a:pPr>
            <a:r>
              <a:rPr lang="en-US" altLang="zh-CN">
                <a:latin typeface="Calibri" panose="020F0502020204030204" pitchFamily="34" charset="0"/>
                <a:cs typeface="Calibri" panose="020F0502020204030204" pitchFamily="34" charset="0"/>
              </a:rPr>
              <a:t>Original Points</a:t>
            </a:r>
            <a:endParaRPr lang="en-US" altLang="zh-CN">
              <a:latin typeface="Calibri" panose="020F0502020204030204" pitchFamily="34" charset="0"/>
              <a:cs typeface="Calibri" panose="020F0502020204030204" pitchFamily="34" charset="0"/>
            </a:endParaRPr>
          </a:p>
        </p:txBody>
      </p:sp>
      <p:grpSp>
        <p:nvGrpSpPr>
          <p:cNvPr id="6" name="Group 5"/>
          <p:cNvGrpSpPr/>
          <p:nvPr/>
        </p:nvGrpSpPr>
        <p:grpSpPr bwMode="auto">
          <a:xfrm>
            <a:off x="4432424" y="1981993"/>
            <a:ext cx="4043363" cy="3413125"/>
            <a:chOff x="2783" y="864"/>
            <a:chExt cx="2689" cy="2378"/>
          </a:xfrm>
        </p:grpSpPr>
        <p:pic>
          <p:nvPicPr>
            <p:cNvPr id="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3" y="864"/>
              <a:ext cx="2689" cy="2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 Box 7"/>
            <p:cNvSpPr txBox="1">
              <a:spLocks noChangeArrowheads="1"/>
            </p:cNvSpPr>
            <p:nvPr/>
          </p:nvSpPr>
          <p:spPr bwMode="auto">
            <a:xfrm>
              <a:off x="3263" y="2985"/>
              <a:ext cx="1824"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a:spcBef>
                  <a:spcPct val="50000"/>
                </a:spcBef>
              </a:pPr>
              <a:r>
                <a:rPr lang="en-US" altLang="zh-CN" dirty="0">
                  <a:latin typeface="Calibri" panose="020F0502020204030204" pitchFamily="34" charset="0"/>
                  <a:cs typeface="Calibri" panose="020F0502020204030204" pitchFamily="34" charset="0"/>
                </a:rPr>
                <a:t>Two Clusters</a:t>
              </a:r>
              <a:endParaRPr lang="en-US" altLang="zh-CN" dirty="0">
                <a:latin typeface="Calibri" panose="020F0502020204030204" pitchFamily="34" charset="0"/>
                <a:cs typeface="Calibri" panose="020F0502020204030204" pitchFamily="34" charset="0"/>
              </a:endParaRPr>
            </a:p>
          </p:txBody>
        </p:sp>
      </p:grpSp>
      <p:sp>
        <p:nvSpPr>
          <p:cNvPr id="9" name="Text Box 8"/>
          <p:cNvSpPr txBox="1">
            <a:spLocks noChangeArrowheads="1"/>
          </p:cNvSpPr>
          <p:nvPr/>
        </p:nvSpPr>
        <p:spPr bwMode="auto">
          <a:xfrm>
            <a:off x="1132012" y="5571331"/>
            <a:ext cx="63246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zh-CN" altLang="en-US" sz="2000" b="0" dirty="0">
                <a:solidFill>
                  <a:srgbClr val="0000FF"/>
                </a:solidFill>
                <a:latin typeface="Calibri" panose="020F0502020204030204" pitchFamily="34" charset="0"/>
                <a:ea typeface="+mn-ea"/>
                <a:cs typeface="Calibri" panose="020F0502020204030204" pitchFamily="34" charset="0"/>
              </a:rPr>
              <a:t>缺点</a:t>
            </a:r>
            <a:r>
              <a:rPr lang="zh-CN" altLang="en-US" sz="2000" b="0" dirty="0">
                <a:solidFill>
                  <a:schemeClr val="tx1"/>
                </a:solidFill>
                <a:latin typeface="Calibri" panose="020F0502020204030204" pitchFamily="34" charset="0"/>
                <a:ea typeface="+mn-ea"/>
                <a:cs typeface="Calibri" panose="020F0502020204030204" pitchFamily="34" charset="0"/>
              </a:rPr>
              <a:t>： </a:t>
            </a:r>
            <a:r>
              <a:rPr lang="en-US" altLang="zh-CN" sz="2000" dirty="0">
                <a:solidFill>
                  <a:schemeClr val="tx1"/>
                </a:solidFill>
                <a:latin typeface="Calibri" panose="020F0502020204030204" pitchFamily="34" charset="0"/>
                <a:ea typeface="+mn-ea"/>
                <a:cs typeface="Calibri" panose="020F0502020204030204" pitchFamily="34" charset="0"/>
              </a:rPr>
              <a:t>Tends to break large clusters</a:t>
            </a:r>
            <a:endParaRPr lang="en-US" altLang="zh-CN" sz="2000" dirty="0">
              <a:solidFill>
                <a:schemeClr val="tx1"/>
              </a:solidFill>
              <a:latin typeface="Calibri" panose="020F0502020204030204" pitchFamily="34" charset="0"/>
              <a:ea typeface="+mn-ea"/>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5401" y="1676053"/>
            <a:ext cx="3311525" cy="245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0314" y="1780828"/>
            <a:ext cx="3978275"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401" y="4173190"/>
            <a:ext cx="7186613" cy="191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10"/>
          <p:cNvSpPr>
            <a:spLocks noChangeArrowheads="1"/>
          </p:cNvSpPr>
          <p:nvPr/>
        </p:nvSpPr>
        <p:spPr bwMode="auto">
          <a:xfrm>
            <a:off x="755576" y="980728"/>
            <a:ext cx="13668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buFont typeface="Wingdings" panose="05000000000000000000" pitchFamily="2" charset="2"/>
              <a:buChar char="n"/>
            </a:pPr>
            <a:r>
              <a:rPr lang="zh-CN" altLang="en-US" sz="2800" dirty="0">
                <a:solidFill>
                  <a:srgbClr val="FF0000"/>
                </a:solidFill>
                <a:latin typeface="黑体" panose="02010609060101010101" pitchFamily="49" charset="-122"/>
                <a:ea typeface="黑体" panose="02010609060101010101" pitchFamily="49" charset="-122"/>
              </a:rPr>
              <a:t>例子</a:t>
            </a:r>
            <a:endParaRPr lang="zh-CN" altLang="en-US" sz="2800" dirty="0">
              <a:solidFill>
                <a:srgbClr val="FF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6741" y="1784003"/>
            <a:ext cx="7777162" cy="426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2"/>
          <p:cNvSpPr>
            <a:spLocks noChangeArrowheads="1"/>
          </p:cNvSpPr>
          <p:nvPr/>
        </p:nvSpPr>
        <p:spPr bwMode="auto">
          <a:xfrm>
            <a:off x="323528" y="980728"/>
            <a:ext cx="26812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buFont typeface="Wingdings" panose="05000000000000000000" pitchFamily="2" charset="2"/>
              <a:buChar char="n"/>
            </a:pPr>
            <a:r>
              <a:rPr lang="en-US" altLang="zh-CN" sz="2800" dirty="0">
                <a:solidFill>
                  <a:srgbClr val="FF0000"/>
                </a:solidFill>
                <a:latin typeface="Calibri" panose="020F0502020204030204" pitchFamily="34" charset="0"/>
                <a:cs typeface="Calibri" panose="020F0502020204030204" pitchFamily="34" charset="0"/>
              </a:rPr>
              <a:t>Single linkage</a:t>
            </a:r>
            <a:endParaRPr lang="zh-CN" altLang="en-US" sz="2800"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矩形 2"/>
          <p:cNvSpPr>
            <a:spLocks noChangeArrowheads="1"/>
          </p:cNvSpPr>
          <p:nvPr/>
        </p:nvSpPr>
        <p:spPr bwMode="auto">
          <a:xfrm>
            <a:off x="323528" y="908720"/>
            <a:ext cx="32273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buFont typeface="Wingdings" panose="05000000000000000000" pitchFamily="2" charset="2"/>
              <a:buChar char="n"/>
            </a:pPr>
            <a:r>
              <a:rPr lang="en-US" altLang="zh-CN" sz="2800" dirty="0">
                <a:solidFill>
                  <a:srgbClr val="FF0000"/>
                </a:solidFill>
                <a:latin typeface="Calibri" panose="020F0502020204030204" pitchFamily="34" charset="0"/>
                <a:cs typeface="Calibri" panose="020F0502020204030204" pitchFamily="34" charset="0"/>
              </a:rPr>
              <a:t>Complete linkage</a:t>
            </a:r>
            <a:endParaRPr lang="zh-CN" altLang="en-US" sz="2800" dirty="0">
              <a:solidFill>
                <a:srgbClr val="FF0000"/>
              </a:solidFill>
            </a:endParaRPr>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03066" y="3309020"/>
            <a:ext cx="5832475" cy="273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791" y="1364332"/>
            <a:ext cx="7186612" cy="191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矩形 2"/>
          <p:cNvSpPr>
            <a:spLocks noChangeArrowheads="1"/>
          </p:cNvSpPr>
          <p:nvPr/>
        </p:nvSpPr>
        <p:spPr bwMode="auto">
          <a:xfrm>
            <a:off x="251520" y="1052736"/>
            <a:ext cx="32273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buFont typeface="Wingdings" panose="05000000000000000000" pitchFamily="2" charset="2"/>
              <a:buChar char="n"/>
            </a:pPr>
            <a:r>
              <a:rPr lang="en-US" altLang="zh-CN" sz="2800" dirty="0">
                <a:solidFill>
                  <a:srgbClr val="FF0000"/>
                </a:solidFill>
                <a:latin typeface="Calibri" panose="020F0502020204030204" pitchFamily="34" charset="0"/>
                <a:cs typeface="Calibri" panose="020F0502020204030204" pitchFamily="34" charset="0"/>
              </a:rPr>
              <a:t>Complete linkage</a:t>
            </a:r>
            <a:endParaRPr lang="zh-CN" altLang="en-US" sz="2800" dirty="0">
              <a:solidFill>
                <a:srgbClr val="FF0000"/>
              </a:solidFill>
            </a:endParaRPr>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6345" y="1989361"/>
            <a:ext cx="8189913" cy="3240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矩形 2"/>
          <p:cNvSpPr>
            <a:spLocks noChangeArrowheads="1"/>
          </p:cNvSpPr>
          <p:nvPr/>
        </p:nvSpPr>
        <p:spPr bwMode="auto">
          <a:xfrm>
            <a:off x="333251" y="973609"/>
            <a:ext cx="28606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buFont typeface="Wingdings" panose="05000000000000000000" pitchFamily="2" charset="2"/>
              <a:buChar char="n"/>
            </a:pPr>
            <a:r>
              <a:rPr lang="en-US" altLang="zh-CN" sz="2800" dirty="0">
                <a:solidFill>
                  <a:srgbClr val="FF0000"/>
                </a:solidFill>
                <a:latin typeface="Calibri" panose="020F0502020204030204" pitchFamily="34" charset="0"/>
                <a:cs typeface="Calibri" panose="020F0502020204030204" pitchFamily="34" charset="0"/>
              </a:rPr>
              <a:t>Group Average</a:t>
            </a:r>
            <a:endParaRPr lang="zh-CN" altLang="en-US" sz="2800" dirty="0">
              <a:solidFill>
                <a:srgbClr val="FF0000"/>
              </a:solidFill>
            </a:endParaRPr>
          </a:p>
        </p:txBody>
      </p:sp>
      <p:sp>
        <p:nvSpPr>
          <p:cNvPr id="4" name="矩形 8"/>
          <p:cNvSpPr>
            <a:spLocks noChangeArrowheads="1"/>
          </p:cNvSpPr>
          <p:nvPr/>
        </p:nvSpPr>
        <p:spPr bwMode="auto">
          <a:xfrm>
            <a:off x="947614" y="2326159"/>
            <a:ext cx="32734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32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画出聚类树</a:t>
            </a:r>
            <a:r>
              <a:rPr lang="zh-CN" altLang="en-US" sz="3200" dirty="0">
                <a:solidFill>
                  <a:srgbClr val="FF0000"/>
                </a:solidFill>
                <a:latin typeface="黑体" panose="02010609060101010101" pitchFamily="49" charset="-122"/>
                <a:ea typeface="黑体" panose="02010609060101010101" pitchFamily="49" charset="-122"/>
                <a:cs typeface="Calibri" panose="020F0502020204030204" pitchFamily="34" charset="0"/>
              </a:rPr>
              <a:t>？</a:t>
            </a:r>
            <a:endParaRPr lang="zh-CN" altLang="en-US" sz="3200" dirty="0">
              <a:solidFill>
                <a:srgbClr val="FF0000"/>
              </a:solidFill>
              <a:latin typeface="黑体" panose="02010609060101010101" pitchFamily="49" charset="-122"/>
              <a:ea typeface="黑体" panose="02010609060101010101" pitchFamily="49" charset="-122"/>
              <a:cs typeface="Calibri" panose="020F0502020204030204" pitchFamily="34" charset="0"/>
            </a:endParaRPr>
          </a:p>
        </p:txBody>
      </p:sp>
      <p:pic>
        <p:nvPicPr>
          <p:cNvPr id="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47614" y="3805709"/>
            <a:ext cx="7410450" cy="197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976" y="1484784"/>
            <a:ext cx="3979863"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矩形 2"/>
          <p:cNvSpPr>
            <a:spLocks noChangeArrowheads="1"/>
          </p:cNvSpPr>
          <p:nvPr/>
        </p:nvSpPr>
        <p:spPr bwMode="auto">
          <a:xfrm>
            <a:off x="395536" y="908720"/>
            <a:ext cx="28606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buFont typeface="Wingdings" panose="05000000000000000000" pitchFamily="2" charset="2"/>
              <a:buChar char="n"/>
            </a:pPr>
            <a:r>
              <a:rPr lang="en-US" altLang="zh-CN" sz="2800" dirty="0">
                <a:solidFill>
                  <a:srgbClr val="FF0000"/>
                </a:solidFill>
                <a:latin typeface="Calibri" panose="020F0502020204030204" pitchFamily="34" charset="0"/>
                <a:cs typeface="Calibri" panose="020F0502020204030204" pitchFamily="34" charset="0"/>
              </a:rPr>
              <a:t>Group Average</a:t>
            </a:r>
            <a:endParaRPr lang="zh-CN" altLang="en-US" sz="2800" dirty="0">
              <a:solidFill>
                <a:srgbClr val="FF0000"/>
              </a:solidFill>
            </a:endParaRPr>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6211" y="1581820"/>
            <a:ext cx="8064500" cy="2011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5874" y="3772570"/>
            <a:ext cx="5589587" cy="2338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内容占位符 2"/>
          <p:cNvSpPr txBox="1"/>
          <p:nvPr/>
        </p:nvSpPr>
        <p:spPr>
          <a:xfrm>
            <a:off x="395287" y="1052736"/>
            <a:ext cx="8353425" cy="4267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20000"/>
              </a:lnSpc>
              <a:spcBef>
                <a:spcPts val="600"/>
              </a:spcBef>
              <a:buSzPct val="100000"/>
              <a:buFont typeface="Wingdings" panose="05000000000000000000" pitchFamily="2" charset="2"/>
              <a:buChar char="n"/>
              <a:defRPr/>
            </a:pPr>
            <a:r>
              <a:rPr lang="zh-CN" altLang="en-US" sz="2800" b="0" kern="12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层次</a:t>
            </a: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聚类的</a:t>
            </a:r>
            <a:r>
              <a:rPr lang="zh-CN" altLang="en-US" sz="2800" b="0" kern="12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主要缺点</a:t>
            </a:r>
            <a:endParaRPr lang="zh-CN" altLang="en-US" sz="2800" b="0" kern="120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spcAft>
                <a:spcPct val="40000"/>
              </a:spcAft>
              <a:buFont typeface="Wingdings" panose="05000000000000000000" pitchFamily="2" charset="2"/>
              <a:buChar char="ü"/>
              <a:defRPr/>
            </a:pPr>
            <a:r>
              <a:rPr lang="zh-CN" altLang="en-US" sz="24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不具有很好的可扩展性: </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时间复杂性至少是</a:t>
            </a:r>
            <a:r>
              <a:rPr lang="zh-CN" altLang="en-US" sz="2400" b="0" kern="0" dirty="0">
                <a:latin typeface="Calibri" panose="020F0502020204030204" pitchFamily="34" charset="0"/>
                <a:cs typeface="Calibri" panose="020F0502020204030204" pitchFamily="34" charset="0"/>
              </a:rPr>
              <a:t> </a:t>
            </a:r>
            <a:r>
              <a:rPr lang="en-US" altLang="zh-CN" sz="2400" b="0" i="1" kern="0" dirty="0">
                <a:solidFill>
                  <a:srgbClr val="0000FF"/>
                </a:solidFill>
                <a:latin typeface="Calibri" panose="020F0502020204030204" pitchFamily="34" charset="0"/>
                <a:cs typeface="Calibri" panose="020F0502020204030204" pitchFamily="34" charset="0"/>
              </a:rPr>
              <a:t>O(n</a:t>
            </a:r>
            <a:r>
              <a:rPr lang="en-US" altLang="zh-CN" sz="2400" b="0" i="1" kern="0" baseline="30000" dirty="0">
                <a:solidFill>
                  <a:srgbClr val="0000FF"/>
                </a:solidFill>
                <a:latin typeface="Calibri" panose="020F0502020204030204" pitchFamily="34" charset="0"/>
                <a:cs typeface="Calibri" panose="020F0502020204030204" pitchFamily="34" charset="0"/>
              </a:rPr>
              <a:t>2</a:t>
            </a:r>
            <a:r>
              <a:rPr lang="en-US" altLang="zh-CN" sz="2400" b="0" kern="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a:t>
            </a:r>
            <a:r>
              <a:rPr lang="en-US" altLang="zh-CN"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 </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其中 </a:t>
            </a:r>
            <a:r>
              <a:rPr lang="en-US" altLang="zh-CN" sz="2400" i="1" kern="0" dirty="0">
                <a:latin typeface="Calibri" panose="020F0502020204030204" pitchFamily="34" charset="0"/>
                <a:cs typeface="Calibri" panose="020F0502020204030204" pitchFamily="34" charset="0"/>
              </a:rPr>
              <a:t>n</a:t>
            </a:r>
            <a:r>
              <a:rPr lang="en-US" altLang="zh-CN" sz="2400" b="0" kern="0" dirty="0">
                <a:latin typeface="Calibri" panose="020F0502020204030204" pitchFamily="34" charset="0"/>
                <a:cs typeface="Calibri" panose="020F0502020204030204" pitchFamily="34" charset="0"/>
              </a:rPr>
              <a:t> </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对象总数</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spcAft>
                <a:spcPct val="40000"/>
              </a:spcAft>
              <a:buFont typeface="Wingdings" panose="05000000000000000000" pitchFamily="2" charset="2"/>
              <a:buChar char="ü"/>
              <a:defRPr/>
            </a:pP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合并或分裂的决定需要检查和估算大量的对象或簇 </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spcAft>
                <a:spcPct val="40000"/>
              </a:spcAft>
              <a:buFont typeface="Wingdings" panose="05000000000000000000" pitchFamily="2" charset="2"/>
              <a:buChar char="ü"/>
              <a:defRPr/>
            </a:pPr>
            <a:r>
              <a:rPr lang="zh-CN" altLang="en-US" sz="2400" b="0" kern="0" dirty="0">
                <a:solidFill>
                  <a:srgbClr val="0000FF"/>
                </a:solidFill>
                <a:latin typeface="方正兰亭中黑_GBK" panose="02000000000000000000" pitchFamily="2" charset="-122"/>
                <a:ea typeface="方正兰亭中黑_GBK" panose="02000000000000000000" pitchFamily="2" charset="-122"/>
                <a:cs typeface="Calibri" panose="020F0502020204030204" pitchFamily="34" charset="0"/>
              </a:rPr>
              <a:t>不能撤消已做的处理, </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聚类之间不能交换对象. 如果某一步没有很好地选择合并或分裂的决定, 可能会导致低质量的聚类结果</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6.4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层次方法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内容占位符 2"/>
          <p:cNvSpPr txBox="1"/>
          <p:nvPr/>
        </p:nvSpPr>
        <p:spPr>
          <a:xfrm>
            <a:off x="539552" y="1124744"/>
            <a:ext cx="8353425" cy="4267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eaLnBrk="1" hangingPunct="1">
              <a:lnSpc>
                <a:spcPct val="120000"/>
              </a:lnSpc>
              <a:spcBef>
                <a:spcPts val="600"/>
              </a:spcBef>
              <a:buSzPct val="100000"/>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改进层次聚类质量的方法:  </a:t>
            </a:r>
            <a:r>
              <a:rPr lang="zh-CN" altLang="en-US" sz="2800" b="0" kern="12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将层次聚类和其他的聚类技术进行集成, 形成多阶段聚类 </a:t>
            </a:r>
            <a:endParaRPr lang="en-US" altLang="zh-CN" sz="2800" b="0" kern="120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spcAft>
                <a:spcPct val="40000"/>
              </a:spcAft>
              <a:buFont typeface="Wingdings" panose="05000000000000000000" pitchFamily="2" charset="2"/>
              <a:buChar char="ü"/>
              <a:defRPr/>
            </a:pPr>
            <a:r>
              <a:rPr lang="en-US" altLang="zh-CN" sz="2400" kern="0" dirty="0">
                <a:solidFill>
                  <a:srgbClr val="0000FF"/>
                </a:solidFill>
                <a:latin typeface="Calibri" panose="020F0502020204030204" pitchFamily="34" charset="0"/>
                <a:cs typeface="Calibri" panose="020F0502020204030204" pitchFamily="34" charset="0"/>
              </a:rPr>
              <a:t>BIRCH (1996): </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使用</a:t>
            </a:r>
            <a:r>
              <a:rPr lang="zh-CN" altLang="en-US" sz="2400" b="0" kern="0" dirty="0">
                <a:latin typeface="Calibri" panose="020F0502020204030204" pitchFamily="34" charset="0"/>
                <a:cs typeface="Calibri" panose="020F0502020204030204" pitchFamily="34" charset="0"/>
              </a:rPr>
              <a:t> </a:t>
            </a:r>
            <a:r>
              <a:rPr lang="en-US" altLang="zh-CN" sz="2400" kern="0" dirty="0">
                <a:solidFill>
                  <a:srgbClr val="0070C0"/>
                </a:solidFill>
                <a:latin typeface="Calibri" panose="020F0502020204030204" pitchFamily="34" charset="0"/>
                <a:cs typeface="Calibri" panose="020F0502020204030204" pitchFamily="34" charset="0"/>
              </a:rPr>
              <a:t>CF-tree</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对对象进行层次划分, 然后采用其他的聚类算法对聚类结果进行求精 </a:t>
            </a:r>
            <a:endParaRPr lang="en-US" altLang="zh-CN"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spcAft>
                <a:spcPct val="40000"/>
              </a:spcAft>
              <a:buFont typeface="Wingdings" panose="05000000000000000000" pitchFamily="2" charset="2"/>
              <a:buChar char="ü"/>
              <a:defRPr/>
            </a:pPr>
            <a:r>
              <a:rPr lang="en-US" altLang="zh-CN" sz="2400" kern="0" dirty="0">
                <a:solidFill>
                  <a:srgbClr val="0000FF"/>
                </a:solidFill>
                <a:latin typeface="Calibri" panose="020F0502020204030204" pitchFamily="34" charset="0"/>
                <a:cs typeface="Calibri" panose="020F0502020204030204" pitchFamily="34" charset="0"/>
              </a:rPr>
              <a:t>ROCK1999</a:t>
            </a:r>
            <a:r>
              <a:rPr lang="zh-CN" altLang="en-US" sz="2400" kern="0" dirty="0">
                <a:solidFill>
                  <a:srgbClr val="0000FF"/>
                </a:solidFill>
                <a:latin typeface="Calibri" panose="020F0502020204030204" pitchFamily="34" charset="0"/>
                <a:cs typeface="Calibri" panose="020F0502020204030204" pitchFamily="34" charset="0"/>
              </a:rPr>
              <a:t>：</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基于簇间的互联性进行合并</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spcAft>
                <a:spcPct val="40000"/>
              </a:spcAft>
              <a:buFont typeface="Wingdings" panose="05000000000000000000" pitchFamily="2" charset="2"/>
              <a:buChar char="ü"/>
              <a:defRPr/>
            </a:pPr>
            <a:r>
              <a:rPr lang="en-US" altLang="zh-CN" sz="2400" kern="0" dirty="0">
                <a:solidFill>
                  <a:srgbClr val="0000FF"/>
                </a:solidFill>
                <a:latin typeface="Calibri" panose="020F0502020204030204" pitchFamily="34" charset="0"/>
                <a:cs typeface="Calibri" panose="020F0502020204030204" pitchFamily="34" charset="0"/>
              </a:rPr>
              <a:t>CHAMELEON (1999): </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使用动态模型进行层次聚类</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spcAft>
                <a:spcPct val="40000"/>
              </a:spcAft>
              <a:buFont typeface="Wingdings" panose="05000000000000000000" pitchFamily="2" charset="2"/>
              <a:buChar char="ü"/>
              <a:defRPr/>
            </a:pPr>
            <a:r>
              <a:rPr lang="en-US" altLang="zh-CN" sz="2400" kern="0" dirty="0">
                <a:solidFill>
                  <a:srgbClr val="0000FF"/>
                </a:solidFill>
                <a:latin typeface="Calibri" panose="020F0502020204030204" pitchFamily="34" charset="0"/>
                <a:cs typeface="Calibri" panose="020F0502020204030204" pitchFamily="34" charset="0"/>
              </a:rPr>
              <a:t>CURE (1998):</a:t>
            </a:r>
            <a:r>
              <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rPr>
              <a:t>采用固定数目的代表对象来表示每个簇，然后依据一个指定的收缩因子向着聚类中心对它们进行收缩</a:t>
            </a:r>
            <a:endParaRPr lang="zh-CN" altLang="en-US" sz="2400" b="0" kern="0" dirty="0">
              <a:solidFill>
                <a:srgbClr val="0070C0"/>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827584" y="116632"/>
            <a:ext cx="7344816" cy="646331"/>
          </a:xfrm>
          <a:prstGeom prst="rect">
            <a:avLst/>
          </a:prstGeom>
        </p:spPr>
        <p:txBody>
          <a:bodyPr wrap="square">
            <a:spAutoFit/>
          </a:bodyPr>
          <a:lstStyle/>
          <a:p>
            <a:pPr algn="ct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本章内容</a:t>
            </a:r>
            <a:endParaRPr lang="en-US" altLang="zh-CN" sz="280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6" name="内容占位符 2"/>
          <p:cNvSpPr txBox="1">
            <a:spLocks noChangeArrowheads="1"/>
          </p:cNvSpPr>
          <p:nvPr/>
        </p:nvSpPr>
        <p:spPr>
          <a:xfrm>
            <a:off x="611560" y="1094492"/>
            <a:ext cx="8137525" cy="29825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6.1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什么是聚类分析</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6.2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聚类分析中的数据类型</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6.3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划分方法</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0070C0"/>
                </a:solidFill>
                <a:latin typeface="Times New Roman" panose="02020603050405020304" pitchFamily="18" charset="0"/>
                <a:cs typeface="Times New Roman" panose="02020603050405020304" pitchFamily="18" charset="0"/>
              </a:rPr>
              <a:t>6.4  </a:t>
            </a:r>
            <a:r>
              <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rPr>
              <a:t>层次方法</a:t>
            </a:r>
            <a:endParaRPr lang="zh-CN" altLang="zh-CN" sz="2800" b="0" kern="0" dirty="0">
              <a:solidFill>
                <a:srgbClr val="0070C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a:p>
            <a:pPr marL="0" indent="0" eaLnBrk="1" hangingPunct="1">
              <a:lnSpc>
                <a:spcPct val="120000"/>
              </a:lnSpc>
              <a:spcBef>
                <a:spcPts val="600"/>
              </a:spcBef>
              <a:buFont typeface="Wingdings" panose="05000000000000000000" pitchFamily="2" charset="2"/>
              <a:buNone/>
            </a:pPr>
            <a:r>
              <a:rPr lang="en-US" altLang="zh-CN" sz="2800" b="0" kern="0" dirty="0">
                <a:solidFill>
                  <a:srgbClr val="FF0000"/>
                </a:solidFill>
                <a:latin typeface="Times New Roman" panose="02020603050405020304" pitchFamily="18" charset="0"/>
                <a:cs typeface="Times New Roman" panose="02020603050405020304" pitchFamily="18" charset="0"/>
              </a:rPr>
              <a:t>6.5  </a:t>
            </a:r>
            <a:r>
              <a:rPr lang="zh-CN" altLang="zh-CN" sz="2800" b="0" kern="0" dirty="0">
                <a:solidFill>
                  <a:srgbClr val="FF0000"/>
                </a:solidFill>
                <a:latin typeface="方正兰亭中黑_GBK" panose="02000000000000000000" pitchFamily="2" charset="-122"/>
                <a:ea typeface="方正兰亭中黑_GBK" panose="02000000000000000000" pitchFamily="2" charset="-122"/>
                <a:cs typeface="Times New Roman" panose="02020603050405020304" pitchFamily="18" charset="0"/>
              </a:rPr>
              <a:t>基于密度的方法</a:t>
            </a:r>
            <a:endParaRPr lang="zh-CN" altLang="zh-CN" sz="2800" b="0" kern="0" dirty="0">
              <a:solidFill>
                <a:srgbClr val="FF0000"/>
              </a:solidFill>
              <a:latin typeface="方正兰亭中黑_GBK" panose="02000000000000000000" pitchFamily="2" charset="-122"/>
              <a:ea typeface="方正兰亭中黑_GBK" panose="02000000000000000000"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228600" y="894556"/>
            <a:ext cx="8686800" cy="5198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0850" indent="-450850" eaLnBrk="0" hangingPunct="0">
              <a:defRPr b="1">
                <a:solidFill>
                  <a:schemeClr val="tx1"/>
                </a:solidFill>
                <a:latin typeface="Verdana" panose="020B0604030504040204" pitchFamily="34" charset="0"/>
                <a:ea typeface="宋体" panose="02010600030101010101" pitchFamily="2" charset="-122"/>
              </a:defRPr>
            </a:lvl1pPr>
            <a:lvl2pPr marL="908050" indent="-43688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nSpc>
                <a:spcPct val="130000"/>
              </a:lnSpc>
              <a:spcBef>
                <a:spcPct val="20000"/>
              </a:spcBef>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基于密度的聚类：</a:t>
            </a:r>
            <a:r>
              <a:rPr lang="zh-CN" altLang="en-US" sz="2800" dirty="0">
                <a:solidFill>
                  <a:srgbClr val="0070C0"/>
                </a:solidFill>
                <a:latin typeface="方正兰亭中黑_GBK" panose="02000000000000000000" pitchFamily="2" charset="-122"/>
                <a:ea typeface="方正兰亭中黑_GBK" panose="02000000000000000000" pitchFamily="2" charset="-122"/>
              </a:rPr>
              <a:t>把簇看做数据空间中被稀疏区域分开的稠密区域</a:t>
            </a:r>
            <a:endParaRPr lang="en-US" altLang="zh-CN" sz="280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20000"/>
              </a:lnSpc>
              <a:spcBef>
                <a:spcPts val="300"/>
              </a:spcBef>
              <a:buClr>
                <a:schemeClr val="accent2"/>
              </a:buClr>
              <a:buFont typeface="Wingdings" panose="05000000000000000000" pitchFamily="2" charset="2"/>
              <a:buChar char="ü"/>
              <a:defRPr/>
            </a:pPr>
            <a:r>
              <a:rPr lang="zh-CN" altLang="en-US" sz="2400" b="0" dirty="0">
                <a:solidFill>
                  <a:srgbClr val="0070C0"/>
                </a:solidFill>
                <a:latin typeface="方正兰亭中黑_GBK" panose="02000000000000000000" pitchFamily="2" charset="-122"/>
                <a:ea typeface="方正兰亭中黑_GBK" panose="02000000000000000000" pitchFamily="2" charset="-122"/>
              </a:rPr>
              <a:t>能发现任意形状的簇</a:t>
            </a:r>
            <a:endParaRPr lang="en-US" altLang="zh-CN" sz="2400" b="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20000"/>
              </a:lnSpc>
              <a:spcBef>
                <a:spcPts val="300"/>
              </a:spcBef>
              <a:buClr>
                <a:schemeClr val="accent2"/>
              </a:buClr>
              <a:buFont typeface="Wingdings" panose="05000000000000000000" pitchFamily="2" charset="2"/>
              <a:buChar char="ü"/>
              <a:defRPr/>
            </a:pPr>
            <a:r>
              <a:rPr lang="zh-CN" altLang="en-US" sz="2400" b="0" dirty="0">
                <a:solidFill>
                  <a:srgbClr val="0070C0"/>
                </a:solidFill>
                <a:latin typeface="方正兰亭中黑_GBK" panose="02000000000000000000" pitchFamily="2" charset="-122"/>
                <a:ea typeface="方正兰亭中黑_GBK" panose="02000000000000000000" pitchFamily="2" charset="-122"/>
              </a:rPr>
              <a:t>不需要事先确定划分的聚类个数</a:t>
            </a:r>
            <a:r>
              <a:rPr lang="en-US" altLang="zh-CN" sz="2400" b="0" i="1" dirty="0">
                <a:solidFill>
                  <a:srgbClr val="0070C0"/>
                </a:solidFill>
                <a:ea typeface="黑体" panose="02010609060101010101" pitchFamily="49" charset="-122"/>
              </a:rPr>
              <a:t>k</a:t>
            </a:r>
            <a:endParaRPr lang="en-US" altLang="zh-CN" sz="2400" b="0" i="1" dirty="0">
              <a:solidFill>
                <a:srgbClr val="0070C0"/>
              </a:solidFill>
              <a:ea typeface="黑体" panose="02010609060101010101" pitchFamily="49" charset="-122"/>
            </a:endParaRPr>
          </a:p>
          <a:p>
            <a:pPr lvl="1" eaLnBrk="1" hangingPunct="1">
              <a:lnSpc>
                <a:spcPct val="120000"/>
              </a:lnSpc>
              <a:spcBef>
                <a:spcPts val="300"/>
              </a:spcBef>
              <a:buClr>
                <a:schemeClr val="accent2"/>
              </a:buClr>
              <a:buFont typeface="Wingdings" panose="05000000000000000000" pitchFamily="2" charset="2"/>
              <a:buChar char="ü"/>
              <a:defRPr/>
            </a:pPr>
            <a:r>
              <a:rPr lang="zh-CN" altLang="en-US" sz="2400" b="0" dirty="0">
                <a:solidFill>
                  <a:srgbClr val="0070C0"/>
                </a:solidFill>
                <a:latin typeface="方正兰亭中黑_GBK" panose="02000000000000000000" pitchFamily="2" charset="-122"/>
                <a:ea typeface="方正兰亭中黑_GBK" panose="02000000000000000000" pitchFamily="2" charset="-122"/>
              </a:rPr>
              <a:t>对噪音数据不敏感</a:t>
            </a:r>
            <a:endParaRPr lang="en-US" altLang="zh-CN" sz="2400" b="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20000"/>
              </a:lnSpc>
              <a:spcBef>
                <a:spcPts val="300"/>
              </a:spcBef>
              <a:buClr>
                <a:schemeClr val="accent2"/>
              </a:buClr>
              <a:buFont typeface="Wingdings" panose="05000000000000000000" pitchFamily="2" charset="2"/>
              <a:buChar char="ü"/>
              <a:defRPr/>
            </a:pPr>
            <a:r>
              <a:rPr lang="zh-CN" altLang="en-US" sz="2400" b="0" dirty="0">
                <a:solidFill>
                  <a:srgbClr val="0070C0"/>
                </a:solidFill>
                <a:latin typeface="方正兰亭中黑_GBK" panose="02000000000000000000" pitchFamily="2" charset="-122"/>
                <a:ea typeface="方正兰亭中黑_GBK" panose="02000000000000000000" pitchFamily="2" charset="-122"/>
              </a:rPr>
              <a:t>需要密度参数作为终止条件</a:t>
            </a:r>
            <a:endParaRPr lang="en-US" altLang="zh-CN" sz="2400" b="0" dirty="0">
              <a:solidFill>
                <a:srgbClr val="0070C0"/>
              </a:solidFill>
              <a:latin typeface="方正兰亭中黑_GBK" panose="02000000000000000000" pitchFamily="2" charset="-122"/>
              <a:ea typeface="方正兰亭中黑_GBK" panose="02000000000000000000" pitchFamily="2" charset="-122"/>
            </a:endParaRPr>
          </a:p>
          <a:p>
            <a:pPr>
              <a:lnSpc>
                <a:spcPct val="130000"/>
              </a:lnSpc>
              <a:spcBef>
                <a:spcPts val="600"/>
              </a:spcBef>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典型算法</a:t>
            </a:r>
            <a:endPar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buClr>
                <a:schemeClr val="accent2"/>
              </a:buClr>
              <a:buFont typeface="Wingdings" panose="05000000000000000000" pitchFamily="2" charset="2"/>
              <a:buChar char="ü"/>
              <a:defRPr/>
            </a:pPr>
            <a:r>
              <a:rPr lang="en-US" altLang="zh-CN" sz="2400" dirty="0">
                <a:solidFill>
                  <a:srgbClr val="FF0000"/>
                </a:solidFill>
                <a:latin typeface="Calibri" panose="020F0502020204030204" pitchFamily="34" charset="0"/>
                <a:ea typeface="黑体" panose="02010609060101010101" pitchFamily="49" charset="-122"/>
              </a:rPr>
              <a:t>DBSCAN: Ester, et al. (KDD’96)</a:t>
            </a:r>
            <a:endParaRPr lang="en-US" altLang="zh-CN" sz="2400" dirty="0">
              <a:solidFill>
                <a:srgbClr val="FF0000"/>
              </a:solidFill>
              <a:latin typeface="Calibri" panose="020F0502020204030204" pitchFamily="34" charset="0"/>
              <a:ea typeface="黑体" panose="02010609060101010101" pitchFamily="49" charset="-122"/>
            </a:endParaRPr>
          </a:p>
          <a:p>
            <a:pPr lvl="1" eaLnBrk="1" hangingPunct="1">
              <a:lnSpc>
                <a:spcPct val="120000"/>
              </a:lnSpc>
              <a:buClr>
                <a:schemeClr val="accent2"/>
              </a:buClr>
              <a:buFont typeface="Wingdings" panose="05000000000000000000" pitchFamily="2" charset="2"/>
              <a:buChar char="ü"/>
              <a:defRPr/>
            </a:pPr>
            <a:r>
              <a:rPr lang="en-US" altLang="zh-CN" sz="2400" dirty="0">
                <a:solidFill>
                  <a:srgbClr val="0070C0"/>
                </a:solidFill>
                <a:latin typeface="Calibri" panose="020F0502020204030204" pitchFamily="34" charset="0"/>
                <a:ea typeface="黑体" panose="02010609060101010101" pitchFamily="49" charset="-122"/>
              </a:rPr>
              <a:t>OPTICS: </a:t>
            </a:r>
            <a:r>
              <a:rPr lang="en-US" altLang="zh-CN" sz="2400" dirty="0" err="1">
                <a:solidFill>
                  <a:srgbClr val="0070C0"/>
                </a:solidFill>
                <a:latin typeface="Calibri" panose="020F0502020204030204" pitchFamily="34" charset="0"/>
                <a:ea typeface="黑体" panose="02010609060101010101" pitchFamily="49" charset="-122"/>
              </a:rPr>
              <a:t>Ankerst</a:t>
            </a:r>
            <a:r>
              <a:rPr lang="en-US" altLang="zh-CN" sz="2400" dirty="0">
                <a:solidFill>
                  <a:srgbClr val="0070C0"/>
                </a:solidFill>
                <a:latin typeface="Calibri" panose="020F0502020204030204" pitchFamily="34" charset="0"/>
                <a:ea typeface="黑体" panose="02010609060101010101" pitchFamily="49" charset="-122"/>
              </a:rPr>
              <a:t>, et al (SIGMOD’99).</a:t>
            </a:r>
            <a:endParaRPr lang="en-US" altLang="zh-CN" sz="2400" dirty="0">
              <a:solidFill>
                <a:srgbClr val="0070C0"/>
              </a:solidFill>
              <a:latin typeface="Calibri" panose="020F0502020204030204" pitchFamily="34" charset="0"/>
              <a:ea typeface="黑体" panose="02010609060101010101" pitchFamily="49" charset="-122"/>
            </a:endParaRPr>
          </a:p>
          <a:p>
            <a:pPr lvl="1" eaLnBrk="1" hangingPunct="1">
              <a:lnSpc>
                <a:spcPct val="120000"/>
              </a:lnSpc>
              <a:buClr>
                <a:schemeClr val="accent2"/>
              </a:buClr>
              <a:buFont typeface="Wingdings" panose="05000000000000000000" pitchFamily="2" charset="2"/>
              <a:buChar char="ü"/>
              <a:defRPr/>
            </a:pPr>
            <a:r>
              <a:rPr lang="en-US" altLang="zh-CN" sz="2400" dirty="0">
                <a:solidFill>
                  <a:srgbClr val="0070C0"/>
                </a:solidFill>
                <a:latin typeface="Calibri" panose="020F0502020204030204" pitchFamily="34" charset="0"/>
                <a:ea typeface="黑体" panose="02010609060101010101" pitchFamily="49" charset="-122"/>
              </a:rPr>
              <a:t>DENCLUE: </a:t>
            </a:r>
            <a:r>
              <a:rPr lang="en-US" altLang="zh-CN" sz="2400" dirty="0" err="1">
                <a:solidFill>
                  <a:srgbClr val="0070C0"/>
                </a:solidFill>
                <a:latin typeface="Calibri" panose="020F0502020204030204" pitchFamily="34" charset="0"/>
                <a:ea typeface="黑体" panose="02010609060101010101" pitchFamily="49" charset="-122"/>
              </a:rPr>
              <a:t>Hinneburg</a:t>
            </a:r>
            <a:r>
              <a:rPr lang="en-US" altLang="zh-CN" sz="2400" dirty="0">
                <a:solidFill>
                  <a:srgbClr val="0070C0"/>
                </a:solidFill>
                <a:latin typeface="Calibri" panose="020F0502020204030204" pitchFamily="34" charset="0"/>
                <a:ea typeface="黑体" panose="02010609060101010101" pitchFamily="49" charset="-122"/>
              </a:rPr>
              <a:t> &amp; D. </a:t>
            </a:r>
            <a:r>
              <a:rPr lang="en-US" altLang="zh-CN" sz="2400" dirty="0" err="1">
                <a:solidFill>
                  <a:srgbClr val="0070C0"/>
                </a:solidFill>
                <a:latin typeface="Calibri" panose="020F0502020204030204" pitchFamily="34" charset="0"/>
                <a:ea typeface="黑体" panose="02010609060101010101" pitchFamily="49" charset="-122"/>
              </a:rPr>
              <a:t>Keim</a:t>
            </a:r>
            <a:r>
              <a:rPr lang="en-US" altLang="zh-CN" sz="2400" dirty="0">
                <a:solidFill>
                  <a:srgbClr val="0070C0"/>
                </a:solidFill>
                <a:latin typeface="Calibri" panose="020F0502020204030204" pitchFamily="34" charset="0"/>
                <a:ea typeface="黑体" panose="02010609060101010101" pitchFamily="49" charset="-122"/>
              </a:rPr>
              <a:t>  (KDD’98)</a:t>
            </a:r>
            <a:endParaRPr lang="en-US" altLang="zh-CN" sz="2400" dirty="0">
              <a:solidFill>
                <a:srgbClr val="0070C0"/>
              </a:solidFill>
              <a:latin typeface="Calibri" panose="020F0502020204030204" pitchFamily="34" charset="0"/>
              <a:ea typeface="黑体" panose="02010609060101010101" pitchFamily="49" charset="-122"/>
            </a:endParaRPr>
          </a:p>
          <a:p>
            <a:pPr lvl="1" eaLnBrk="1" hangingPunct="1">
              <a:lnSpc>
                <a:spcPct val="120000"/>
              </a:lnSpc>
              <a:buClr>
                <a:schemeClr val="accent2"/>
              </a:buClr>
              <a:buFont typeface="Wingdings" panose="05000000000000000000" pitchFamily="2" charset="2"/>
              <a:buChar char="ü"/>
              <a:defRPr/>
            </a:pPr>
            <a:r>
              <a:rPr lang="en-US" altLang="zh-CN" sz="2400" dirty="0">
                <a:solidFill>
                  <a:srgbClr val="0070C0"/>
                </a:solidFill>
                <a:latin typeface="Calibri" panose="020F0502020204030204" pitchFamily="34" charset="0"/>
                <a:ea typeface="黑体" panose="02010609060101010101" pitchFamily="49" charset="-122"/>
              </a:rPr>
              <a:t>CLIQUE: </a:t>
            </a:r>
            <a:r>
              <a:rPr lang="en-US" altLang="zh-CN" sz="2400" dirty="0" err="1">
                <a:solidFill>
                  <a:srgbClr val="0070C0"/>
                </a:solidFill>
                <a:latin typeface="Calibri" panose="020F0502020204030204" pitchFamily="34" charset="0"/>
                <a:ea typeface="黑体" panose="02010609060101010101" pitchFamily="49" charset="-122"/>
              </a:rPr>
              <a:t>Agrawal</a:t>
            </a:r>
            <a:r>
              <a:rPr lang="en-US" altLang="zh-CN" sz="2400" dirty="0">
                <a:solidFill>
                  <a:srgbClr val="0070C0"/>
                </a:solidFill>
                <a:latin typeface="Calibri" panose="020F0502020204030204" pitchFamily="34" charset="0"/>
                <a:ea typeface="黑体" panose="02010609060101010101" pitchFamily="49" charset="-122"/>
              </a:rPr>
              <a:t>, et al. (SIGMOD’98) (more grid-based)</a:t>
            </a:r>
            <a:endParaRPr lang="en-US" altLang="zh-CN" sz="2400" dirty="0">
              <a:solidFill>
                <a:srgbClr val="0070C0"/>
              </a:solidFill>
              <a:latin typeface="Calibri" panose="020F0502020204030204" pitchFamily="34" charset="0"/>
              <a:ea typeface="黑体" panose="02010609060101010101" pitchFamily="49" charset="-122"/>
            </a:endParaRPr>
          </a:p>
          <a:p>
            <a:pPr>
              <a:lnSpc>
                <a:spcPct val="130000"/>
              </a:lnSpc>
              <a:spcBef>
                <a:spcPts val="1200"/>
              </a:spcBef>
              <a:buClr>
                <a:schemeClr val="accent2"/>
              </a:buClr>
              <a:buFont typeface="Wingdings" panose="05000000000000000000" pitchFamily="2" charset="2"/>
              <a:buChar char="n"/>
              <a:defRPr/>
            </a:pPr>
            <a:endParaRPr lang="en-US" altLang="zh-CN" sz="2800" dirty="0">
              <a:solidFill>
                <a:srgbClr val="C00000"/>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p:txBody>
      </p:sp>
      <p:pic>
        <p:nvPicPr>
          <p:cNvPr id="4" name="Picture 4"/>
          <p:cNvPicPr>
            <a:picLocks noChangeAspect="1" noChangeArrowheads="1"/>
          </p:cNvPicPr>
          <p:nvPr/>
        </p:nvPicPr>
        <p:blipFill>
          <a:blip r:embed="rId1">
            <a:extLst>
              <a:ext uri="{28A0092B-C50C-407E-A947-70E740481C1C}">
                <a14:useLocalDpi xmlns:a14="http://schemas.microsoft.com/office/drawing/2010/main" val="0"/>
              </a:ext>
            </a:extLst>
          </a:blip>
          <a:srcRect r="33768" b="13937"/>
          <a:stretch>
            <a:fillRect/>
          </a:stretch>
        </p:blipFill>
        <p:spPr bwMode="auto">
          <a:xfrm>
            <a:off x="5718175" y="1808955"/>
            <a:ext cx="3197225" cy="1582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600" b="0" kern="0" dirty="0">
                <a:solidFill>
                  <a:srgbClr val="1557AE"/>
                </a:solidFill>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Calibri" panose="020F0502020204030204" pitchFamily="34" charset="0"/>
              <a:ea typeface="方正兰亭中黑_GBK" panose="02000000000000000000" pitchFamily="2" charset="-122"/>
              <a:cs typeface="Calibri" panose="020F0502020204030204" pitchFamily="34" charset="0"/>
            </a:endParaRPr>
          </a:p>
        </p:txBody>
      </p:sp>
      <p:sp>
        <p:nvSpPr>
          <p:cNvPr id="3" name="Rectangle 3"/>
          <p:cNvSpPr txBox="1">
            <a:spLocks noChangeArrowheads="1"/>
          </p:cNvSpPr>
          <p:nvPr/>
        </p:nvSpPr>
        <p:spPr bwMode="auto">
          <a:xfrm>
            <a:off x="239712" y="1052736"/>
            <a:ext cx="8664575" cy="5068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0850" indent="-450850"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nSpc>
                <a:spcPct val="130000"/>
              </a:lnSpc>
              <a:spcBef>
                <a:spcPct val="20000"/>
              </a:spcBef>
              <a:buClr>
                <a:schemeClr val="accent2"/>
              </a:buClr>
              <a:buFont typeface="Wingdings" panose="05000000000000000000" pitchFamily="2" charset="2"/>
              <a:buChar char="n"/>
              <a:defRPr/>
            </a:pPr>
            <a:r>
              <a:rPr lang="en-US" altLang="zh-CN" sz="2800" b="0" dirty="0">
                <a:solidFill>
                  <a:srgbClr val="FF0000"/>
                </a:solidFill>
                <a:latin typeface="Calibri" panose="020F0502020204030204" pitchFamily="34" charset="0"/>
                <a:ea typeface="黑体" panose="02010609060101010101" pitchFamily="49" charset="-122"/>
                <a:cs typeface="Calibri" panose="020F0502020204030204" pitchFamily="34" charset="0"/>
              </a:rPr>
              <a:t>DBSCAN</a:t>
            </a:r>
            <a:r>
              <a:rPr lang="zh-CN" altLang="en-US" sz="2800" b="0" dirty="0">
                <a:solidFill>
                  <a:srgbClr val="FF0000"/>
                </a:solidFill>
                <a:effectLst>
                  <a:outerShdw blurRad="38100" dist="38100" dir="2700000" algn="tl">
                    <a:srgbClr val="C0C0C0"/>
                  </a:outerShdw>
                </a:effectLst>
                <a:latin typeface="Calibri" panose="020F0502020204030204" pitchFamily="34" charset="0"/>
                <a:ea typeface="黑体" panose="02010609060101010101" pitchFamily="49" charset="-122"/>
                <a:cs typeface="Calibri" panose="020F0502020204030204" pitchFamily="34" charset="0"/>
              </a:rPr>
              <a:t>：</a:t>
            </a:r>
            <a:r>
              <a:rPr lang="en-US" altLang="zh-CN" sz="2800" dirty="0">
                <a:solidFill>
                  <a:srgbClr val="0070C0"/>
                </a:solidFill>
                <a:latin typeface="Calibri" panose="020F0502020204030204" pitchFamily="34" charset="0"/>
                <a:ea typeface="黑体" panose="02010609060101010101" pitchFamily="49" charset="-122"/>
              </a:rPr>
              <a:t>Density-Based Spatial Clustering of Applications with Noise</a:t>
            </a:r>
            <a:endParaRPr lang="en-US" altLang="zh-CN" sz="2800" dirty="0">
              <a:solidFill>
                <a:srgbClr val="0070C0"/>
              </a:solidFill>
              <a:latin typeface="Calibri" panose="020F0502020204030204" pitchFamily="34" charset="0"/>
              <a:ea typeface="黑体" panose="02010609060101010101" pitchFamily="49" charset="-122"/>
            </a:endParaRPr>
          </a:p>
          <a:p>
            <a:pPr>
              <a:lnSpc>
                <a:spcPct val="130000"/>
              </a:lnSpc>
              <a:spcBef>
                <a:spcPts val="600"/>
              </a:spcBef>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假设：</a:t>
            </a:r>
            <a:r>
              <a:rPr lang="zh-CN" altLang="en-US" sz="2800" b="0" dirty="0">
                <a:solidFill>
                  <a:srgbClr val="0070C0"/>
                </a:solidFill>
                <a:latin typeface="方正兰亭中黑_GBK" panose="02000000000000000000" pitchFamily="2" charset="-122"/>
                <a:ea typeface="方正兰亭中黑_GBK" panose="02000000000000000000" pitchFamily="2" charset="-122"/>
              </a:rPr>
              <a:t>一个簇能够被其中任意一个核心对象所确定</a:t>
            </a:r>
            <a:endParaRPr lang="en-US" altLang="zh-CN" sz="2800" b="0" dirty="0">
              <a:solidFill>
                <a:srgbClr val="0070C0"/>
              </a:solidFill>
              <a:latin typeface="方正兰亭中黑_GBK" panose="02000000000000000000" pitchFamily="2" charset="-122"/>
              <a:ea typeface="方正兰亭中黑_GBK" panose="02000000000000000000" pitchFamily="2" charset="-122"/>
            </a:endParaRPr>
          </a:p>
          <a:p>
            <a:pPr>
              <a:lnSpc>
                <a:spcPct val="130000"/>
              </a:lnSpc>
              <a:spcBef>
                <a:spcPts val="600"/>
              </a:spcBef>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基本思想：</a:t>
            </a:r>
            <a:r>
              <a:rPr lang="zh-CN" altLang="en-US" sz="2800" b="0" dirty="0">
                <a:solidFill>
                  <a:srgbClr val="0070C0"/>
                </a:solidFill>
                <a:latin typeface="方正兰亭中黑_GBK" panose="02000000000000000000" pitchFamily="2" charset="-122"/>
                <a:ea typeface="方正兰亭中黑_GBK" panose="02000000000000000000" pitchFamily="2" charset="-122"/>
              </a:rPr>
              <a:t>考察数据库 </a:t>
            </a:r>
            <a:r>
              <a:rPr lang="en-US" altLang="zh-CN" sz="2800" i="1" dirty="0">
                <a:solidFill>
                  <a:srgbClr val="0000FF"/>
                </a:solidFill>
                <a:latin typeface="Calibri" panose="020F0502020204030204" pitchFamily="34" charset="0"/>
                <a:ea typeface="黑体" panose="02010609060101010101" pitchFamily="49" charset="-122"/>
              </a:rPr>
              <a:t>D </a:t>
            </a:r>
            <a:r>
              <a:rPr lang="zh-CN" altLang="en-US" sz="2800" b="0" dirty="0">
                <a:solidFill>
                  <a:srgbClr val="0070C0"/>
                </a:solidFill>
                <a:latin typeface="方正兰亭中黑_GBK" panose="02000000000000000000" pitchFamily="2" charset="-122"/>
                <a:ea typeface="方正兰亭中黑_GBK" panose="02000000000000000000" pitchFamily="2" charset="-122"/>
              </a:rPr>
              <a:t>中的核心对象 </a:t>
            </a:r>
            <a:r>
              <a:rPr lang="en-US" altLang="zh-CN" sz="2800" i="1" dirty="0">
                <a:solidFill>
                  <a:srgbClr val="0000FF"/>
                </a:solidFill>
                <a:latin typeface="Calibri" panose="020F0502020204030204" pitchFamily="34" charset="0"/>
                <a:ea typeface="黑体" panose="02010609060101010101" pitchFamily="49" charset="-122"/>
              </a:rPr>
              <a:t>P</a:t>
            </a:r>
            <a:r>
              <a:rPr lang="en-US" altLang="zh-CN" sz="2800" b="0" dirty="0">
                <a:latin typeface="Calibri" panose="020F0502020204030204" pitchFamily="34" charset="0"/>
                <a:ea typeface="黑体" panose="02010609060101010101" pitchFamily="49" charset="-122"/>
              </a:rPr>
              <a:t> </a:t>
            </a:r>
            <a:r>
              <a:rPr lang="zh-CN" altLang="en-US" sz="2800" b="0" dirty="0">
                <a:solidFill>
                  <a:srgbClr val="0070C0"/>
                </a:solidFill>
                <a:latin typeface="方正兰亭中黑_GBK" panose="02000000000000000000" pitchFamily="2" charset="-122"/>
                <a:ea typeface="方正兰亭中黑_GBK" panose="02000000000000000000" pitchFamily="2" charset="-122"/>
              </a:rPr>
              <a:t>，则通过区域查询得到该对象的邻域，邻域中的对象和 </a:t>
            </a:r>
            <a:r>
              <a:rPr lang="en-US" altLang="zh-CN" sz="2800" i="1" dirty="0">
                <a:solidFill>
                  <a:srgbClr val="0000FF"/>
                </a:solidFill>
                <a:latin typeface="Calibri" panose="020F0502020204030204" pitchFamily="34" charset="0"/>
                <a:cs typeface="Calibri" panose="020F0502020204030204" pitchFamily="34" charset="0"/>
              </a:rPr>
              <a:t>P</a:t>
            </a:r>
            <a:r>
              <a:rPr lang="en-US" altLang="zh-CN" sz="2800" b="0" i="1" dirty="0">
                <a:solidFill>
                  <a:srgbClr val="0000FF"/>
                </a:solidFill>
                <a:latin typeface="Calibri" panose="020F0502020204030204" pitchFamily="34" charset="0"/>
                <a:cs typeface="Calibri" panose="020F0502020204030204" pitchFamily="34" charset="0"/>
              </a:rPr>
              <a:t> </a:t>
            </a:r>
            <a:r>
              <a:rPr lang="zh-CN" altLang="en-US" sz="2800" b="0" dirty="0">
                <a:solidFill>
                  <a:srgbClr val="0070C0"/>
                </a:solidFill>
                <a:latin typeface="方正兰亭中黑_GBK" panose="02000000000000000000" pitchFamily="2" charset="-122"/>
                <a:ea typeface="方正兰亭中黑_GBK" panose="02000000000000000000" pitchFamily="2" charset="-122"/>
              </a:rPr>
              <a:t>同属于一个簇，这些对象将作为下一轮的考察对象，并通过不断地对种子对象进行区域查询来扩展它们所在的簇，直至找到一个完整的簇</a:t>
            </a:r>
            <a:endParaRPr lang="en-US" altLang="zh-CN" sz="2800" b="0" dirty="0">
              <a:solidFill>
                <a:srgbClr val="0070C0"/>
              </a:solidFill>
              <a:latin typeface="方正兰亭中黑_GBK" panose="02000000000000000000" pitchFamily="2" charset="-122"/>
              <a:ea typeface="方正兰亭中黑_GBK"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 </a:t>
            </a:r>
            <a:r>
              <a:rPr kumimoji="0" lang="en-US" altLang="zh-CN" sz="3600" b="0"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en-US" altLang="zh-CN" sz="3600" b="0" i="0" u="none" strike="noStrike" kern="0" cap="none" spc="0" normalizeH="0" baseline="0" noProof="0" dirty="0">
                <a:ln>
                  <a:noFill/>
                </a:ln>
                <a:solidFill>
                  <a:srgbClr val="1557AE"/>
                </a:solidFill>
                <a:effectLst/>
                <a:uLnTx/>
                <a:uFillTx/>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228600" y="894556"/>
            <a:ext cx="8686800" cy="5068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0850" indent="-450850" eaLnBrk="0" hangingPunct="0">
              <a:defRPr b="1">
                <a:solidFill>
                  <a:schemeClr val="tx1"/>
                </a:solidFill>
                <a:latin typeface="Verdana" panose="020B0604030504040204" pitchFamily="34" charset="0"/>
                <a:ea typeface="宋体" panose="02010600030101010101" pitchFamily="2" charset="-122"/>
              </a:defRPr>
            </a:lvl1pPr>
            <a:lvl2pPr marL="908050" indent="-43688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nSpc>
                <a:spcPct val="130000"/>
              </a:lnSpc>
              <a:spcBef>
                <a:spcPts val="600"/>
              </a:spcBef>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两个参数</a:t>
            </a:r>
            <a:endPar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buClr>
                <a:schemeClr val="tx1"/>
              </a:buClr>
              <a:buFont typeface="Wingdings" panose="05000000000000000000" pitchFamily="2" charset="2"/>
              <a:buChar char="ü"/>
              <a:defRPr/>
            </a:pPr>
            <a:r>
              <a:rPr lang="el-GR" altLang="zh-CN" sz="2400" dirty="0">
                <a:solidFill>
                  <a:srgbClr val="0000FF"/>
                </a:solidFill>
                <a:latin typeface="Calibri" panose="020F0502020204030204" pitchFamily="34" charset="0"/>
                <a:ea typeface="黑体" panose="02010609060101010101" pitchFamily="49" charset="-122"/>
              </a:rPr>
              <a:t>ε</a:t>
            </a:r>
            <a:r>
              <a:rPr lang="en-US" altLang="zh-CN" sz="2400" dirty="0">
                <a:solidFill>
                  <a:srgbClr val="0000FF"/>
                </a:solidFill>
                <a:latin typeface="Calibri" panose="020F0502020204030204" pitchFamily="34" charset="0"/>
                <a:ea typeface="黑体" panose="02010609060101010101" pitchFamily="49" charset="-122"/>
              </a:rPr>
              <a:t>:</a:t>
            </a:r>
            <a:r>
              <a:rPr lang="en-US" altLang="zh-CN" sz="2400" dirty="0">
                <a:latin typeface="Calibri" panose="020F0502020204030204" pitchFamily="34" charset="0"/>
                <a:ea typeface="黑体" panose="02010609060101010101" pitchFamily="49"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数据对象的邻域半径</a:t>
            </a:r>
            <a:endParaRPr lang="en-US" altLang="zh-CN" sz="2400" b="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20000"/>
              </a:lnSpc>
              <a:buClr>
                <a:srgbClr val="0000FF"/>
              </a:buClr>
              <a:buFont typeface="Wingdings" panose="05000000000000000000" pitchFamily="2" charset="2"/>
              <a:buChar char="ü"/>
              <a:defRPr/>
            </a:pPr>
            <a:r>
              <a:rPr lang="en-US" altLang="zh-CN" sz="2400" dirty="0" err="1">
                <a:solidFill>
                  <a:srgbClr val="0000FF"/>
                </a:solidFill>
                <a:latin typeface="Calibri" panose="020F0502020204030204" pitchFamily="34" charset="0"/>
                <a:ea typeface="黑体" panose="02010609060101010101" pitchFamily="49" charset="-122"/>
              </a:rPr>
              <a:t>MinPts</a:t>
            </a:r>
            <a:r>
              <a:rPr lang="en-US" altLang="zh-CN" sz="2400" dirty="0">
                <a:solidFill>
                  <a:srgbClr val="0000FF"/>
                </a:solidFill>
                <a:latin typeface="Calibri" panose="020F0502020204030204" pitchFamily="34" charset="0"/>
                <a:ea typeface="黑体" panose="02010609060101010101" pitchFamily="49"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稠密区域的密度阈值，邻域的密度是指邻域内的对象数</a:t>
            </a:r>
            <a:endParaRPr lang="en-US" altLang="zh-CN" sz="2400" b="0" dirty="0">
              <a:solidFill>
                <a:srgbClr val="0070C0"/>
              </a:solidFill>
              <a:latin typeface="方正兰亭中黑_GBK" panose="02000000000000000000" pitchFamily="2" charset="-122"/>
              <a:ea typeface="方正兰亭中黑_GBK" panose="02000000000000000000" pitchFamily="2" charset="-122"/>
            </a:endParaRPr>
          </a:p>
          <a:p>
            <a:pPr>
              <a:lnSpc>
                <a:spcPct val="130000"/>
              </a:lnSpc>
              <a:spcBef>
                <a:spcPts val="600"/>
              </a:spcBef>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定义</a:t>
            </a:r>
            <a:endPar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buClr>
                <a:schemeClr val="tx1"/>
              </a:buClr>
              <a:buFont typeface="Wingdings" panose="05000000000000000000" pitchFamily="2" charset="2"/>
              <a:buChar char="ü"/>
              <a:defRPr/>
            </a:pPr>
            <a:r>
              <a:rPr lang="zh-CN" altLang="en-US" sz="2400" dirty="0">
                <a:solidFill>
                  <a:srgbClr val="0000FF"/>
                </a:solidFill>
                <a:latin typeface="Calibri" panose="020F0502020204030204" pitchFamily="34" charset="0"/>
                <a:ea typeface="黑体" panose="02010609060101010101" pitchFamily="49" charset="-122"/>
              </a:rPr>
              <a:t>核心对象</a:t>
            </a:r>
            <a:r>
              <a:rPr lang="en-US" altLang="zh-CN" sz="2400" dirty="0">
                <a:solidFill>
                  <a:srgbClr val="0000FF"/>
                </a:solidFill>
                <a:latin typeface="Calibri" panose="020F0502020204030204" pitchFamily="34" charset="0"/>
                <a:ea typeface="黑体" panose="02010609060101010101" pitchFamily="49"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如果一个数据对象的</a:t>
            </a:r>
            <a:r>
              <a:rPr lang="el-GR" altLang="zh-CN" sz="2400" dirty="0">
                <a:solidFill>
                  <a:srgbClr val="0000FF"/>
                </a:solidFill>
                <a:latin typeface="Calibri" panose="020F0502020204030204" pitchFamily="34" charset="0"/>
                <a:ea typeface="黑体" panose="02010609060101010101" pitchFamily="49" charset="-122"/>
              </a:rPr>
              <a:t>ε</a:t>
            </a:r>
            <a:r>
              <a:rPr lang="en-US" altLang="zh-CN" sz="2400" dirty="0">
                <a:solidFill>
                  <a:srgbClr val="0000FF"/>
                </a:solidFill>
                <a:latin typeface="Calibri" panose="020F0502020204030204" pitchFamily="34" charset="0"/>
                <a:ea typeface="黑体" panose="02010609060101010101" pitchFamily="49" charset="-122"/>
              </a:rPr>
              <a:t>-</a:t>
            </a:r>
            <a:r>
              <a:rPr lang="zh-CN" altLang="en-US" sz="2400" dirty="0">
                <a:solidFill>
                  <a:srgbClr val="0000FF"/>
                </a:solidFill>
                <a:latin typeface="Calibri" panose="020F0502020204030204" pitchFamily="34" charset="0"/>
                <a:ea typeface="黑体" panose="02010609060101010101" pitchFamily="49" charset="-122"/>
              </a:rPr>
              <a:t>邻域</a:t>
            </a:r>
            <a:r>
              <a:rPr lang="zh-CN" altLang="en-US" sz="2400" b="0" dirty="0">
                <a:solidFill>
                  <a:srgbClr val="0070C0"/>
                </a:solidFill>
                <a:latin typeface="方正兰亭中黑_GBK" panose="02000000000000000000" pitchFamily="2" charset="-122"/>
                <a:ea typeface="方正兰亭中黑_GBK" panose="02000000000000000000" pitchFamily="2" charset="-122"/>
              </a:rPr>
              <a:t>至少包含</a:t>
            </a:r>
            <a:r>
              <a:rPr lang="en-US" altLang="zh-CN" sz="2400" dirty="0" err="1">
                <a:solidFill>
                  <a:srgbClr val="0000FF"/>
                </a:solidFill>
                <a:latin typeface="Calibri" panose="020F0502020204030204" pitchFamily="34" charset="0"/>
                <a:ea typeface="黑体" panose="02010609060101010101" pitchFamily="49" charset="-122"/>
              </a:rPr>
              <a:t>MinPts</a:t>
            </a:r>
            <a:r>
              <a:rPr lang="zh-CN" altLang="en-US" sz="2400" b="0" dirty="0">
                <a:solidFill>
                  <a:srgbClr val="0070C0"/>
                </a:solidFill>
                <a:latin typeface="方正兰亭中黑_GBK" panose="02000000000000000000" pitchFamily="2" charset="-122"/>
                <a:ea typeface="方正兰亭中黑_GBK" panose="02000000000000000000" pitchFamily="2" charset="-122"/>
              </a:rPr>
              <a:t>个对象，则该对象为核心对象。</a:t>
            </a:r>
            <a:endParaRPr lang="en-US" altLang="zh-CN" sz="2400" b="0" dirty="0">
              <a:solidFill>
                <a:srgbClr val="0070C0"/>
              </a:solidFill>
              <a:latin typeface="方正兰亭中黑_GBK" panose="02000000000000000000" pitchFamily="2" charset="-122"/>
              <a:ea typeface="方正兰亭中黑_GBK" panose="02000000000000000000" pitchFamily="2" charset="-122"/>
            </a:endParaRPr>
          </a:p>
        </p:txBody>
      </p:sp>
      <p:sp>
        <p:nvSpPr>
          <p:cNvPr id="4" name="Line 2"/>
          <p:cNvSpPr>
            <a:spLocks noChangeShapeType="1"/>
          </p:cNvSpPr>
          <p:nvPr/>
        </p:nvSpPr>
        <p:spPr bwMode="auto">
          <a:xfrm>
            <a:off x="1547813" y="5277644"/>
            <a:ext cx="609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6796" dir="12393903" algn="ctr" rotWithShape="0">
                    <a:schemeClr val="bg2"/>
                  </a:outerShdw>
                </a:effectLst>
              </a14:hiddenEffects>
            </a:ext>
          </a:extLst>
        </p:spPr>
        <p:txBody>
          <a:bodyPr wrap="none" anchor="ctr"/>
          <a:lstStyle/>
          <a:p>
            <a:endParaRPr lang="zh-CN" altLang="en-US"/>
          </a:p>
        </p:txBody>
      </p:sp>
      <p:sp>
        <p:nvSpPr>
          <p:cNvPr id="5" name="Oval 3"/>
          <p:cNvSpPr>
            <a:spLocks noChangeArrowheads="1"/>
          </p:cNvSpPr>
          <p:nvPr/>
        </p:nvSpPr>
        <p:spPr bwMode="auto">
          <a:xfrm>
            <a:off x="1547813" y="4591844"/>
            <a:ext cx="1447800" cy="1447800"/>
          </a:xfrm>
          <a:prstGeom prst="ellipse">
            <a:avLst/>
          </a:prstGeom>
          <a:noFill/>
          <a:ln w="9525">
            <a:solidFill>
              <a:schemeClr val="tx1"/>
            </a:solidFill>
            <a:rou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6" name="Oval 4"/>
          <p:cNvSpPr>
            <a:spLocks noChangeArrowheads="1"/>
          </p:cNvSpPr>
          <p:nvPr/>
        </p:nvSpPr>
        <p:spPr bwMode="auto">
          <a:xfrm>
            <a:off x="2233613" y="4515644"/>
            <a:ext cx="1447800" cy="1447800"/>
          </a:xfrm>
          <a:prstGeom prst="ellipse">
            <a:avLst/>
          </a:prstGeom>
          <a:noFill/>
          <a:ln w="9525">
            <a:solidFill>
              <a:schemeClr val="tx1"/>
            </a:solidFill>
            <a:rou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7" name="Oval 7"/>
          <p:cNvSpPr>
            <a:spLocks noChangeArrowheads="1"/>
          </p:cNvSpPr>
          <p:nvPr/>
        </p:nvSpPr>
        <p:spPr bwMode="auto">
          <a:xfrm>
            <a:off x="2157413" y="5201444"/>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1"/>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i="1">
                <a:solidFill>
                  <a:srgbClr val="FF0000"/>
                </a:solidFill>
                <a:latin typeface="Times New Roman" panose="02020603050405020304" pitchFamily="18" charset="0"/>
                <a:cs typeface="Times New Roman" panose="02020603050405020304" pitchFamily="18" charset="0"/>
              </a:rPr>
              <a:t>q</a:t>
            </a:r>
            <a:endParaRPr lang="en-US" altLang="zh-CN" sz="2400" i="1">
              <a:solidFill>
                <a:srgbClr val="FF0000"/>
              </a:solidFill>
              <a:latin typeface="Times New Roman" panose="02020603050405020304" pitchFamily="18" charset="0"/>
              <a:cs typeface="Times New Roman" panose="02020603050405020304" pitchFamily="18" charset="0"/>
            </a:endParaRPr>
          </a:p>
        </p:txBody>
      </p:sp>
      <p:sp>
        <p:nvSpPr>
          <p:cNvPr id="8" name="Oval 8"/>
          <p:cNvSpPr>
            <a:spLocks noChangeArrowheads="1"/>
          </p:cNvSpPr>
          <p:nvPr/>
        </p:nvSpPr>
        <p:spPr bwMode="auto">
          <a:xfrm>
            <a:off x="2538413" y="5353844"/>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9" name="Oval 9"/>
          <p:cNvSpPr>
            <a:spLocks noChangeArrowheads="1"/>
          </p:cNvSpPr>
          <p:nvPr/>
        </p:nvSpPr>
        <p:spPr bwMode="auto">
          <a:xfrm>
            <a:off x="3452813" y="5506244"/>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0" name="Oval 10"/>
          <p:cNvSpPr>
            <a:spLocks noChangeArrowheads="1"/>
          </p:cNvSpPr>
          <p:nvPr/>
        </p:nvSpPr>
        <p:spPr bwMode="auto">
          <a:xfrm>
            <a:off x="2843213" y="5125244"/>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1"/>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i="1">
                <a:solidFill>
                  <a:srgbClr val="FF0000"/>
                </a:solidFill>
                <a:latin typeface="Times New Roman" panose="02020603050405020304" pitchFamily="18" charset="0"/>
                <a:cs typeface="Times New Roman" panose="02020603050405020304" pitchFamily="18" charset="0"/>
              </a:rPr>
              <a:t>p</a:t>
            </a:r>
            <a:endParaRPr lang="en-US" altLang="zh-CN" sz="2400" i="1">
              <a:solidFill>
                <a:srgbClr val="FF0000"/>
              </a:solidFill>
              <a:latin typeface="Times New Roman" panose="02020603050405020304" pitchFamily="18" charset="0"/>
              <a:cs typeface="Times New Roman" panose="02020603050405020304" pitchFamily="18" charset="0"/>
            </a:endParaRPr>
          </a:p>
        </p:txBody>
      </p:sp>
      <p:sp>
        <p:nvSpPr>
          <p:cNvPr id="11" name="Line 11"/>
          <p:cNvSpPr>
            <a:spLocks noChangeShapeType="1"/>
          </p:cNvSpPr>
          <p:nvPr/>
        </p:nvSpPr>
        <p:spPr bwMode="auto">
          <a:xfrm>
            <a:off x="3071813" y="5201444"/>
            <a:ext cx="609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6796" dir="12393903" algn="ctr" rotWithShape="0">
                    <a:schemeClr val="bg2"/>
                  </a:outerShdw>
                </a:effectLst>
              </a14:hiddenEffects>
            </a:ext>
          </a:extLst>
        </p:spPr>
        <p:txBody>
          <a:bodyPr wrap="none" anchor="ctr"/>
          <a:lstStyle/>
          <a:p>
            <a:endParaRPr lang="zh-CN" altLang="en-US"/>
          </a:p>
        </p:txBody>
      </p:sp>
      <p:sp>
        <p:nvSpPr>
          <p:cNvPr id="12" name="Text Box 12"/>
          <p:cNvSpPr txBox="1">
            <a:spLocks noChangeArrowheads="1"/>
          </p:cNvSpPr>
          <p:nvPr/>
        </p:nvSpPr>
        <p:spPr bwMode="auto">
          <a:xfrm>
            <a:off x="3148013" y="4896644"/>
            <a:ext cx="314325" cy="457200"/>
          </a:xfrm>
          <a:prstGeom prst="rect">
            <a:avLst/>
          </a:prstGeom>
          <a:noFill/>
          <a:ln>
            <a:noFill/>
          </a:ln>
          <a:effectLst/>
          <a:extLst>
            <a:ext uri="{909E8E84-426E-40DD-AFC4-6F175D3DCCD1}">
              <a14:hiddenFill xmlns:a14="http://schemas.microsoft.com/office/drawing/2010/main">
                <a:solidFill>
                  <a:srgbClr val="95FFE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6796" dir="12393903" algn="ctr" rotWithShape="0">
                    <a:schemeClr val="bg2"/>
                  </a:outerShdw>
                </a:effectLst>
              </a14:hiddenEffects>
            </a:ext>
          </a:extLst>
        </p:spPr>
        <p:txBody>
          <a:bodyPr wrap="non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defRPr/>
            </a:pPr>
            <a:r>
              <a:rPr lang="en-US" altLang="zh-CN" sz="2400">
                <a:solidFill>
                  <a:srgbClr val="23238E"/>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ε</a:t>
            </a:r>
            <a:endParaRPr lang="en-US" altLang="zh-CN" sz="2400">
              <a:solidFill>
                <a:srgbClr val="23238E"/>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13" name="Text Box 13"/>
          <p:cNvSpPr txBox="1">
            <a:spLocks noChangeArrowheads="1"/>
          </p:cNvSpPr>
          <p:nvPr/>
        </p:nvSpPr>
        <p:spPr bwMode="auto">
          <a:xfrm>
            <a:off x="1690688" y="4896644"/>
            <a:ext cx="314325" cy="457200"/>
          </a:xfrm>
          <a:prstGeom prst="rect">
            <a:avLst/>
          </a:prstGeom>
          <a:noFill/>
          <a:ln>
            <a:noFill/>
          </a:ln>
          <a:effectLst/>
          <a:extLst>
            <a:ext uri="{909E8E84-426E-40DD-AFC4-6F175D3DCCD1}">
              <a14:hiddenFill xmlns:a14="http://schemas.microsoft.com/office/drawing/2010/main">
                <a:solidFill>
                  <a:srgbClr val="95FFE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6796" dir="12393903" algn="ctr" rotWithShape="0">
                    <a:schemeClr val="bg2"/>
                  </a:outerShdw>
                </a:effectLst>
              </a14:hiddenEffects>
            </a:ext>
          </a:extLst>
        </p:spPr>
        <p:txBody>
          <a:bodyPr wrap="non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defRPr/>
            </a:pPr>
            <a:r>
              <a:rPr lang="en-US" altLang="zh-CN" sz="2400">
                <a:solidFill>
                  <a:srgbClr val="23238E"/>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ε</a:t>
            </a:r>
            <a:endParaRPr lang="en-US" altLang="zh-CN" sz="2400">
              <a:solidFill>
                <a:srgbClr val="23238E"/>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14" name="Text Box 14"/>
          <p:cNvSpPr txBox="1">
            <a:spLocks noChangeArrowheads="1"/>
          </p:cNvSpPr>
          <p:nvPr/>
        </p:nvSpPr>
        <p:spPr bwMode="auto">
          <a:xfrm>
            <a:off x="4010025" y="4287044"/>
            <a:ext cx="3454400" cy="457200"/>
          </a:xfrm>
          <a:prstGeom prst="rect">
            <a:avLst/>
          </a:prstGeom>
          <a:noFill/>
          <a:ln>
            <a:noFill/>
          </a:ln>
          <a:effectLst>
            <a:outerShdw dist="56796" dir="12393903" algn="ctr" rotWithShape="0">
              <a:srgbClr val="808080"/>
            </a:outerShdw>
          </a:effectLst>
          <a:extLst>
            <a:ext uri="{909E8E84-426E-40DD-AFC4-6F175D3DCCD1}">
              <a14:hiddenFill xmlns:a14="http://schemas.microsoft.com/office/drawing/2010/main">
                <a:solidFill>
                  <a:srgbClr val="95FFE3"/>
                </a:solidFill>
              </a14:hiddenFill>
            </a:ext>
            <a:ext uri="{91240B29-F687-4F45-9708-019B960494DF}">
              <a14:hiddenLine xmlns:a14="http://schemas.microsoft.com/office/drawing/2010/main" w="9525">
                <a:solidFill>
                  <a:schemeClr val="tx1"/>
                </a:solidFill>
                <a:miter lim="800000"/>
                <a:headEnd/>
                <a:tailEnd/>
              </a14:hiddenLine>
            </a:ext>
          </a:extLst>
        </p:spPr>
        <p:txBody>
          <a:bodyPr anchorCtr="1">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gn="ctr" eaLnBrk="1" hangingPunct="1">
              <a:spcBef>
                <a:spcPct val="50000"/>
              </a:spcBef>
              <a:buClrTx/>
              <a:buFontTx/>
              <a:buNone/>
            </a:pPr>
            <a:endParaRPr lang="zh-CN" altLang="zh-CN" sz="2400" b="0" i="1">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Text Box 17"/>
          <p:cNvSpPr txBox="1">
            <a:spLocks noChangeArrowheads="1"/>
          </p:cNvSpPr>
          <p:nvPr/>
        </p:nvSpPr>
        <p:spPr bwMode="auto">
          <a:xfrm>
            <a:off x="4037013" y="4693444"/>
            <a:ext cx="4281487" cy="1016000"/>
          </a:xfrm>
          <a:prstGeom prst="rect">
            <a:avLst/>
          </a:prstGeom>
          <a:noFill/>
          <a:ln>
            <a:noFill/>
          </a:ln>
          <a:effectLst/>
          <a:extLst>
            <a:ext uri="{909E8E84-426E-40DD-AFC4-6F175D3DCCD1}">
              <a14:hiddenFill xmlns:a14="http://schemas.microsoft.com/office/drawing/2010/main">
                <a:solidFill>
                  <a:srgbClr val="95FFE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6796" dir="12393903" algn="ctr" rotWithShape="0">
                    <a:schemeClr val="bg2"/>
                  </a:outerShdw>
                </a:effectLst>
              </a14:hiddenEffects>
            </a:ext>
          </a:extLst>
        </p:spPr>
        <p:txBody>
          <a:bodyPr anchorCtr="1">
            <a:spAutoFit/>
          </a:bodyPr>
          <a:lstStyle>
            <a:lvl1pPr>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742950" indent="-2857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eaLnBrk="1" hangingPunct="1">
              <a:spcBef>
                <a:spcPct val="50000"/>
              </a:spcBef>
              <a:buClrTx/>
              <a:buFontTx/>
              <a:buNone/>
            </a:pPr>
            <a:r>
              <a:rPr lang="en-US" altLang="zh-CN" sz="2400" i="1">
                <a:solidFill>
                  <a:srgbClr val="0000FF"/>
                </a:solidFill>
                <a:latin typeface="Calibri" panose="020F0502020204030204" pitchFamily="34" charset="0"/>
              </a:rPr>
              <a:t>p</a:t>
            </a:r>
            <a:r>
              <a:rPr lang="en-US" altLang="zh-CN" sz="2400" i="1">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a:solidFill>
                  <a:srgbClr val="0000FF"/>
                </a:solidFill>
                <a:latin typeface="黑体" panose="02010609060101010101" pitchFamily="49" charset="-122"/>
              </a:rPr>
              <a:t>是</a:t>
            </a:r>
            <a:r>
              <a:rPr lang="zh-CN" altLang="en-US" sz="2400">
                <a:solidFill>
                  <a:srgbClr val="0000FF"/>
                </a:solidFill>
                <a:latin typeface="Calibri" panose="020F0502020204030204" pitchFamily="34" charset="0"/>
              </a:rPr>
              <a:t>核心</a:t>
            </a:r>
            <a:r>
              <a:rPr lang="zh-CN" altLang="en-US" sz="2400">
                <a:solidFill>
                  <a:srgbClr val="0000FF"/>
                </a:solidFill>
                <a:latin typeface="黑体" panose="02010609060101010101" pitchFamily="49" charset="-122"/>
              </a:rPr>
              <a:t>对象 </a:t>
            </a:r>
            <a:r>
              <a:rPr lang="en-US" altLang="zh-CN" sz="2400">
                <a:solidFill>
                  <a:srgbClr val="0000FF"/>
                </a:solidFill>
                <a:latin typeface="Times New Roman" panose="02020603050405020304" pitchFamily="18" charset="0"/>
                <a:ea typeface="宋体" panose="02010600030101010101" pitchFamily="2" charset="-122"/>
              </a:rPr>
              <a:t>(</a:t>
            </a:r>
            <a:r>
              <a:rPr lang="en-US" altLang="zh-CN" sz="2400">
                <a:solidFill>
                  <a:srgbClr val="0000FF"/>
                </a:solidFill>
                <a:latin typeface="Calibri" panose="020F0502020204030204" pitchFamily="34" charset="0"/>
              </a:rPr>
              <a:t>MinPts</a:t>
            </a:r>
            <a:r>
              <a:rPr lang="en-US" altLang="zh-CN" sz="2400">
                <a:solidFill>
                  <a:srgbClr val="0000FF"/>
                </a:solidFill>
                <a:latin typeface="Times New Roman" panose="02020603050405020304" pitchFamily="18" charset="0"/>
                <a:ea typeface="宋体" panose="02010600030101010101" pitchFamily="2" charset="-122"/>
              </a:rPr>
              <a:t> = 4)</a:t>
            </a:r>
            <a:endParaRPr lang="en-US" altLang="zh-CN" sz="2400">
              <a:solidFill>
                <a:srgbClr val="0000FF"/>
              </a:solidFill>
              <a:latin typeface="Times New Roman" panose="02020603050405020304" pitchFamily="18" charset="0"/>
              <a:ea typeface="宋体" panose="02010600030101010101" pitchFamily="2" charset="-122"/>
            </a:endParaRPr>
          </a:p>
          <a:p>
            <a:pPr eaLnBrk="1" hangingPunct="1">
              <a:spcBef>
                <a:spcPct val="50000"/>
              </a:spcBef>
              <a:buClrTx/>
              <a:buFontTx/>
              <a:buNone/>
            </a:pPr>
            <a:r>
              <a:rPr lang="en-US" altLang="zh-CN" sz="2400" i="1">
                <a:solidFill>
                  <a:srgbClr val="0000FF"/>
                </a:solidFill>
                <a:latin typeface="Calibri" panose="020F0502020204030204" pitchFamily="34" charset="0"/>
              </a:rPr>
              <a:t>q</a:t>
            </a:r>
            <a:r>
              <a:rPr lang="en-US" altLang="zh-CN" sz="2400" i="1">
                <a:solidFill>
                  <a:srgbClr val="0000FF"/>
                </a:solidFill>
                <a:latin typeface="Times New Roman" panose="02020603050405020304" pitchFamily="18" charset="0"/>
                <a:ea typeface="宋体" panose="02010600030101010101" pitchFamily="2" charset="-122"/>
              </a:rPr>
              <a:t> </a:t>
            </a:r>
            <a:r>
              <a:rPr lang="zh-CN" altLang="en-US" sz="2400">
                <a:solidFill>
                  <a:srgbClr val="0000FF"/>
                </a:solidFill>
                <a:latin typeface="黑体" panose="02010609060101010101" pitchFamily="49" charset="-122"/>
              </a:rPr>
              <a:t>不是</a:t>
            </a:r>
            <a:r>
              <a:rPr lang="zh-CN" altLang="en-US" sz="2400">
                <a:solidFill>
                  <a:srgbClr val="0000FF"/>
                </a:solidFill>
                <a:latin typeface="Calibri" panose="020F0502020204030204" pitchFamily="34" charset="0"/>
              </a:rPr>
              <a:t>核心</a:t>
            </a:r>
            <a:r>
              <a:rPr lang="zh-CN" altLang="en-US" sz="2400">
                <a:solidFill>
                  <a:srgbClr val="0000FF"/>
                </a:solidFill>
                <a:latin typeface="黑体" panose="02010609060101010101" pitchFamily="49" charset="-122"/>
              </a:rPr>
              <a:t>对象</a:t>
            </a:r>
            <a:endParaRPr lang="en-US" altLang="zh-CN" sz="2400" i="1">
              <a:solidFill>
                <a:srgbClr val="0000FF"/>
              </a:solidFill>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600" b="0" kern="0" dirty="0">
                <a:solidFill>
                  <a:srgbClr val="1557AE"/>
                </a:solidFill>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Calibri" panose="020F0502020204030204" pitchFamily="34" charset="0"/>
              <a:ea typeface="方正兰亭中黑_GBK" panose="02000000000000000000" pitchFamily="2" charset="-122"/>
              <a:cs typeface="Calibri" panose="020F0502020204030204" pitchFamily="34" charset="0"/>
            </a:endParaRPr>
          </a:p>
        </p:txBody>
      </p:sp>
      <p:sp>
        <p:nvSpPr>
          <p:cNvPr id="15" name="Rectangle 3"/>
          <p:cNvSpPr txBox="1">
            <a:spLocks noChangeArrowheads="1"/>
          </p:cNvSpPr>
          <p:nvPr/>
        </p:nvSpPr>
        <p:spPr bwMode="auto">
          <a:xfrm>
            <a:off x="228600" y="1002506"/>
            <a:ext cx="8686800" cy="485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0850" indent="-450850" eaLnBrk="0" hangingPunct="0">
              <a:defRPr b="1">
                <a:solidFill>
                  <a:schemeClr val="tx1"/>
                </a:solidFill>
                <a:latin typeface="Verdana" panose="020B0604030504040204" pitchFamily="34" charset="0"/>
                <a:ea typeface="宋体" panose="02010600030101010101" pitchFamily="2" charset="-122"/>
              </a:defRPr>
            </a:lvl1pPr>
            <a:lvl2pPr marL="908050" indent="-43688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nSpc>
                <a:spcPct val="130000"/>
              </a:lnSpc>
              <a:spcBef>
                <a:spcPts val="600"/>
              </a:spcBef>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定义</a:t>
            </a:r>
            <a:endPar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buClr>
                <a:schemeClr val="tx1"/>
              </a:buClr>
              <a:buFont typeface="Wingdings" panose="05000000000000000000" pitchFamily="2" charset="2"/>
              <a:buChar char="ü"/>
              <a:defRPr/>
            </a:pPr>
            <a:r>
              <a:rPr lang="zh-CN" altLang="en-US" sz="2400" b="0" dirty="0">
                <a:solidFill>
                  <a:srgbClr val="0000FF"/>
                </a:solidFill>
                <a:latin typeface="方正兰亭中黑_GBK" panose="02000000000000000000" pitchFamily="2" charset="-122"/>
                <a:ea typeface="方正兰亭中黑_GBK" panose="02000000000000000000" pitchFamily="2" charset="-122"/>
              </a:rPr>
              <a:t>直接密度可达的</a:t>
            </a:r>
            <a:r>
              <a:rPr lang="zh-CN" altLang="en-US" sz="2400" dirty="0">
                <a:solidFill>
                  <a:srgbClr val="0000FF"/>
                </a:solidFill>
                <a:latin typeface="Calibri" panose="020F0502020204030204" pitchFamily="34" charset="0"/>
                <a:ea typeface="黑体" panose="02010609060101010101" pitchFamily="49" charset="-122"/>
              </a:rPr>
              <a:t>（</a:t>
            </a:r>
            <a:r>
              <a:rPr lang="en-US" altLang="zh-CN" sz="2400" dirty="0">
                <a:solidFill>
                  <a:srgbClr val="0000FF"/>
                </a:solidFill>
                <a:latin typeface="Calibri" panose="020F0502020204030204" pitchFamily="34" charset="0"/>
                <a:ea typeface="黑体" panose="02010609060101010101" pitchFamily="49" charset="-122"/>
              </a:rPr>
              <a:t>Directly density-reachable</a:t>
            </a:r>
            <a:r>
              <a:rPr lang="zh-CN" altLang="en-US" sz="2400" dirty="0">
                <a:solidFill>
                  <a:srgbClr val="0000FF"/>
                </a:solidFill>
                <a:latin typeface="Calibri" panose="020F0502020204030204" pitchFamily="34" charset="0"/>
                <a:ea typeface="黑体" panose="02010609060101010101" pitchFamily="49" charset="-122"/>
              </a:rPr>
              <a:t>）</a:t>
            </a:r>
            <a:r>
              <a:rPr lang="en-US" altLang="zh-CN" sz="2400" dirty="0">
                <a:solidFill>
                  <a:srgbClr val="0000FF"/>
                </a:solidFill>
                <a:latin typeface="Calibri" panose="020F0502020204030204" pitchFamily="34" charset="0"/>
                <a:ea typeface="黑体" panose="02010609060101010101" pitchFamily="49"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如果</a:t>
            </a:r>
            <a:r>
              <a:rPr lang="zh-CN" altLang="en-US" sz="2400" b="0" dirty="0">
                <a:latin typeface="Calibri" panose="020F0502020204030204" pitchFamily="34" charset="0"/>
                <a:ea typeface="黑体" panose="02010609060101010101" pitchFamily="49" charset="-122"/>
              </a:rPr>
              <a:t> </a:t>
            </a:r>
            <a:r>
              <a:rPr lang="en-US" altLang="zh-CN" sz="2400" dirty="0">
                <a:solidFill>
                  <a:srgbClr val="0000FF"/>
                </a:solidFill>
                <a:latin typeface="Calibri" panose="020F0502020204030204" pitchFamily="34" charset="0"/>
                <a:ea typeface="黑体" panose="02010609060101010101" pitchFamily="49" charset="-122"/>
              </a:rPr>
              <a:t>p</a:t>
            </a:r>
            <a:r>
              <a:rPr lang="en-US" altLang="zh-CN" sz="2400" b="0" dirty="0">
                <a:solidFill>
                  <a:srgbClr val="0000FF"/>
                </a:solidFill>
                <a:latin typeface="Calibri" panose="020F0502020204030204" pitchFamily="34" charset="0"/>
                <a:ea typeface="黑体" panose="02010609060101010101" pitchFamily="49"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是从 </a:t>
            </a:r>
            <a:r>
              <a:rPr lang="en-US" altLang="zh-CN" sz="2400" dirty="0">
                <a:solidFill>
                  <a:srgbClr val="0000FF"/>
                </a:solidFill>
                <a:latin typeface="Calibri" panose="020F0502020204030204" pitchFamily="34" charset="0"/>
                <a:ea typeface="黑体" panose="02010609060101010101" pitchFamily="49" charset="-122"/>
              </a:rPr>
              <a:t>q</a:t>
            </a:r>
            <a:r>
              <a:rPr lang="zh-CN" altLang="en-US" sz="2400" b="0" dirty="0">
                <a:solidFill>
                  <a:srgbClr val="0070C0"/>
                </a:solidFill>
                <a:latin typeface="方正兰亭中黑_GBK" panose="02000000000000000000" pitchFamily="2" charset="-122"/>
                <a:ea typeface="方正兰亭中黑_GBK" panose="02000000000000000000" pitchFamily="2" charset="-122"/>
              </a:rPr>
              <a:t>（关于</a:t>
            </a:r>
            <a:r>
              <a:rPr lang="el-GR" altLang="zh-CN" sz="2400" dirty="0">
                <a:solidFill>
                  <a:srgbClr val="0000FF"/>
                </a:solidFill>
                <a:latin typeface="Calibri" panose="020F0502020204030204" pitchFamily="34" charset="0"/>
                <a:ea typeface="黑体" panose="02010609060101010101" pitchFamily="49" charset="-122"/>
              </a:rPr>
              <a:t>ε</a:t>
            </a:r>
            <a:r>
              <a:rPr lang="el-GR" altLang="zh-CN" sz="2400" b="0" dirty="0">
                <a:latin typeface="Calibri" panose="020F0502020204030204" pitchFamily="34" charset="0"/>
                <a:ea typeface="黑体" panose="02010609060101010101" pitchFamily="49"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与</a:t>
            </a:r>
            <a:r>
              <a:rPr lang="en-US" altLang="zh-CN" sz="2400" dirty="0" err="1">
                <a:solidFill>
                  <a:srgbClr val="0000FF"/>
                </a:solidFill>
                <a:latin typeface="Calibri" panose="020F0502020204030204" pitchFamily="34" charset="0"/>
                <a:ea typeface="黑体" panose="02010609060101010101" pitchFamily="49" charset="-122"/>
              </a:rPr>
              <a:t>MinPts</a:t>
            </a:r>
            <a:r>
              <a:rPr lang="en-US" altLang="zh-CN" sz="2400" dirty="0">
                <a:solidFill>
                  <a:srgbClr val="0000FF"/>
                </a:solidFill>
                <a:latin typeface="Calibri" panose="020F0502020204030204" pitchFamily="34" charset="0"/>
                <a:ea typeface="黑体" panose="02010609060101010101" pitchFamily="49"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）直接密度可达的，当且仅当 </a:t>
            </a:r>
            <a:r>
              <a:rPr lang="en-US" altLang="zh-CN" sz="2400" dirty="0">
                <a:solidFill>
                  <a:srgbClr val="0000FF"/>
                </a:solidFill>
                <a:latin typeface="Calibri" panose="020F0502020204030204" pitchFamily="34" charset="0"/>
                <a:ea typeface="黑体" panose="02010609060101010101" pitchFamily="49" charset="-122"/>
              </a:rPr>
              <a:t>q </a:t>
            </a:r>
            <a:r>
              <a:rPr lang="zh-CN" altLang="en-US" sz="2400" b="0" dirty="0">
                <a:solidFill>
                  <a:srgbClr val="0070C0"/>
                </a:solidFill>
                <a:latin typeface="方正兰亭中黑_GBK" panose="02000000000000000000" pitchFamily="2" charset="-122"/>
                <a:ea typeface="方正兰亭中黑_GBK" panose="02000000000000000000" pitchFamily="2" charset="-122"/>
              </a:rPr>
              <a:t>是核心对象，并且 </a:t>
            </a:r>
            <a:r>
              <a:rPr lang="en-US" altLang="zh-CN" sz="2400" dirty="0">
                <a:solidFill>
                  <a:srgbClr val="0000FF"/>
                </a:solidFill>
                <a:latin typeface="Calibri" panose="020F0502020204030204" pitchFamily="34" charset="0"/>
                <a:ea typeface="黑体" panose="02010609060101010101" pitchFamily="49" charset="-122"/>
              </a:rPr>
              <a:t>p </a:t>
            </a:r>
            <a:r>
              <a:rPr lang="zh-CN" altLang="en-US" sz="2400" b="0" dirty="0">
                <a:solidFill>
                  <a:srgbClr val="0070C0"/>
                </a:solidFill>
                <a:latin typeface="方正兰亭中黑_GBK" panose="02000000000000000000" pitchFamily="2" charset="-122"/>
                <a:ea typeface="方正兰亭中黑_GBK" panose="02000000000000000000" pitchFamily="2" charset="-122"/>
              </a:rPr>
              <a:t>在</a:t>
            </a:r>
            <a:r>
              <a:rPr lang="zh-CN" altLang="en-US" sz="2400" dirty="0">
                <a:solidFill>
                  <a:srgbClr val="0000FF"/>
                </a:solidFill>
                <a:latin typeface="Calibri" panose="020F0502020204030204" pitchFamily="34" charset="0"/>
                <a:ea typeface="黑体" panose="02010609060101010101" pitchFamily="49" charset="-122"/>
              </a:rPr>
              <a:t> </a:t>
            </a:r>
            <a:r>
              <a:rPr lang="en-US" altLang="zh-CN" sz="2400" dirty="0">
                <a:solidFill>
                  <a:srgbClr val="0000FF"/>
                </a:solidFill>
                <a:latin typeface="Calibri" panose="020F0502020204030204" pitchFamily="34" charset="0"/>
                <a:ea typeface="黑体" panose="02010609060101010101" pitchFamily="49" charset="-122"/>
              </a:rPr>
              <a:t>q </a:t>
            </a:r>
            <a:r>
              <a:rPr lang="zh-CN" altLang="en-US" sz="2400" b="0" dirty="0">
                <a:solidFill>
                  <a:srgbClr val="0070C0"/>
                </a:solidFill>
                <a:latin typeface="方正兰亭中黑_GBK" panose="02000000000000000000" pitchFamily="2" charset="-122"/>
                <a:ea typeface="方正兰亭中黑_GBK" panose="02000000000000000000" pitchFamily="2" charset="-122"/>
              </a:rPr>
              <a:t>的</a:t>
            </a:r>
            <a:r>
              <a:rPr lang="el-GR" altLang="zh-CN" sz="2400" dirty="0">
                <a:solidFill>
                  <a:srgbClr val="0000FF"/>
                </a:solidFill>
                <a:latin typeface="Calibri" panose="020F0502020204030204" pitchFamily="34" charset="0"/>
                <a:ea typeface="黑体" panose="02010609060101010101" pitchFamily="49" charset="-122"/>
              </a:rPr>
              <a:t>ε</a:t>
            </a:r>
            <a:r>
              <a:rPr lang="en-US" altLang="zh-CN" sz="2400" dirty="0">
                <a:solidFill>
                  <a:srgbClr val="0000FF"/>
                </a:solidFill>
                <a:latin typeface="Calibri" panose="020F0502020204030204" pitchFamily="34" charset="0"/>
                <a:ea typeface="黑体" panose="02010609060101010101" pitchFamily="49" charset="-122"/>
              </a:rPr>
              <a:t>-</a:t>
            </a:r>
            <a:r>
              <a:rPr lang="zh-CN" altLang="en-US" sz="2400" b="0" dirty="0">
                <a:solidFill>
                  <a:srgbClr val="0000FF"/>
                </a:solidFill>
                <a:latin typeface="Calibri" panose="020F0502020204030204" pitchFamily="34" charset="0"/>
                <a:ea typeface="黑体" panose="02010609060101010101" pitchFamily="49" charset="-122"/>
              </a:rPr>
              <a:t>邻域</a:t>
            </a:r>
            <a:r>
              <a:rPr lang="zh-CN" altLang="en-US" sz="2400" b="0" dirty="0">
                <a:latin typeface="+mn-ea"/>
                <a:ea typeface="+mn-ea"/>
              </a:rPr>
              <a:t>。</a:t>
            </a:r>
            <a:endParaRPr lang="en-US" altLang="zh-CN" sz="2400" b="0" dirty="0">
              <a:latin typeface="+mn-ea"/>
              <a:ea typeface="+mn-ea"/>
            </a:endParaRPr>
          </a:p>
        </p:txBody>
      </p:sp>
      <p:sp>
        <p:nvSpPr>
          <p:cNvPr id="17" name="Line 4"/>
          <p:cNvSpPr>
            <a:spLocks noChangeShapeType="1"/>
          </p:cNvSpPr>
          <p:nvPr/>
        </p:nvSpPr>
        <p:spPr bwMode="auto">
          <a:xfrm>
            <a:off x="838200" y="4356894"/>
            <a:ext cx="609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6796" dir="12393903" algn="ctr" rotWithShape="0">
                    <a:schemeClr val="bg2"/>
                  </a:outerShdw>
                </a:effectLst>
              </a14:hiddenEffects>
            </a:ext>
          </a:extLst>
        </p:spPr>
        <p:txBody>
          <a:bodyPr wrap="none" anchor="ctr"/>
          <a:lstStyle/>
          <a:p>
            <a:endParaRPr lang="zh-CN" altLang="en-US"/>
          </a:p>
        </p:txBody>
      </p:sp>
      <p:sp>
        <p:nvSpPr>
          <p:cNvPr id="18" name="Oval 5"/>
          <p:cNvSpPr>
            <a:spLocks noChangeArrowheads="1"/>
          </p:cNvSpPr>
          <p:nvPr/>
        </p:nvSpPr>
        <p:spPr bwMode="auto">
          <a:xfrm>
            <a:off x="838200" y="3671094"/>
            <a:ext cx="1447800" cy="1447800"/>
          </a:xfrm>
          <a:prstGeom prst="ellipse">
            <a:avLst/>
          </a:prstGeom>
          <a:noFill/>
          <a:ln w="9525">
            <a:solidFill>
              <a:schemeClr val="tx1"/>
            </a:solidFill>
            <a:rou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9" name="Oval 6"/>
          <p:cNvSpPr>
            <a:spLocks noChangeArrowheads="1"/>
          </p:cNvSpPr>
          <p:nvPr/>
        </p:nvSpPr>
        <p:spPr bwMode="auto">
          <a:xfrm>
            <a:off x="1524000" y="3594894"/>
            <a:ext cx="1447800" cy="1447800"/>
          </a:xfrm>
          <a:prstGeom prst="ellipse">
            <a:avLst/>
          </a:prstGeom>
          <a:noFill/>
          <a:ln w="9525">
            <a:solidFill>
              <a:schemeClr val="tx1"/>
            </a:solidFill>
            <a:rou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0" name="Oval 7"/>
          <p:cNvSpPr>
            <a:spLocks noChangeArrowheads="1"/>
          </p:cNvSpPr>
          <p:nvPr/>
        </p:nvSpPr>
        <p:spPr bwMode="auto">
          <a:xfrm>
            <a:off x="2133600" y="3671094"/>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1" name="Oval 8"/>
          <p:cNvSpPr>
            <a:spLocks noChangeArrowheads="1"/>
          </p:cNvSpPr>
          <p:nvPr/>
        </p:nvSpPr>
        <p:spPr bwMode="auto">
          <a:xfrm>
            <a:off x="1447800" y="4280694"/>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1"/>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i="1">
                <a:solidFill>
                  <a:srgbClr val="FF0000"/>
                </a:solidFill>
                <a:latin typeface="Times New Roman" panose="02020603050405020304" pitchFamily="18" charset="0"/>
                <a:cs typeface="Times New Roman" panose="02020603050405020304" pitchFamily="18" charset="0"/>
              </a:rPr>
              <a:t>q</a:t>
            </a:r>
            <a:endParaRPr lang="en-US" altLang="zh-CN" sz="2400" i="1">
              <a:solidFill>
                <a:srgbClr val="FF0000"/>
              </a:solidFill>
              <a:latin typeface="Times New Roman" panose="02020603050405020304" pitchFamily="18" charset="0"/>
              <a:cs typeface="Times New Roman" panose="02020603050405020304" pitchFamily="18" charset="0"/>
            </a:endParaRPr>
          </a:p>
        </p:txBody>
      </p:sp>
      <p:sp>
        <p:nvSpPr>
          <p:cNvPr id="22" name="Oval 9"/>
          <p:cNvSpPr>
            <a:spLocks noChangeArrowheads="1"/>
          </p:cNvSpPr>
          <p:nvPr/>
        </p:nvSpPr>
        <p:spPr bwMode="auto">
          <a:xfrm>
            <a:off x="1828800" y="4433094"/>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3" name="Oval 10"/>
          <p:cNvSpPr>
            <a:spLocks noChangeArrowheads="1"/>
          </p:cNvSpPr>
          <p:nvPr/>
        </p:nvSpPr>
        <p:spPr bwMode="auto">
          <a:xfrm>
            <a:off x="2743200" y="4585494"/>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24" name="Oval 11"/>
          <p:cNvSpPr>
            <a:spLocks noChangeArrowheads="1"/>
          </p:cNvSpPr>
          <p:nvPr/>
        </p:nvSpPr>
        <p:spPr bwMode="auto">
          <a:xfrm>
            <a:off x="2133600" y="4204494"/>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1"/>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i="1">
                <a:solidFill>
                  <a:srgbClr val="FF0000"/>
                </a:solidFill>
                <a:latin typeface="Times New Roman" panose="02020603050405020304" pitchFamily="18" charset="0"/>
                <a:cs typeface="Times New Roman" panose="02020603050405020304" pitchFamily="18" charset="0"/>
              </a:rPr>
              <a:t>p</a:t>
            </a:r>
            <a:endParaRPr lang="en-US" altLang="zh-CN" sz="2400" i="1">
              <a:solidFill>
                <a:srgbClr val="FF0000"/>
              </a:solidFill>
              <a:latin typeface="Times New Roman" panose="02020603050405020304" pitchFamily="18" charset="0"/>
              <a:cs typeface="Times New Roman" panose="02020603050405020304" pitchFamily="18" charset="0"/>
            </a:endParaRPr>
          </a:p>
        </p:txBody>
      </p:sp>
      <p:sp>
        <p:nvSpPr>
          <p:cNvPr id="25" name="Line 12"/>
          <p:cNvSpPr>
            <a:spLocks noChangeShapeType="1"/>
          </p:cNvSpPr>
          <p:nvPr/>
        </p:nvSpPr>
        <p:spPr bwMode="auto">
          <a:xfrm>
            <a:off x="2362200" y="4280694"/>
            <a:ext cx="6096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6796" dir="12393903" algn="ctr" rotWithShape="0">
                    <a:schemeClr val="bg2"/>
                  </a:outerShdw>
                </a:effectLst>
              </a14:hiddenEffects>
            </a:ext>
          </a:extLst>
        </p:spPr>
        <p:txBody>
          <a:bodyPr wrap="none" anchor="ctr"/>
          <a:lstStyle/>
          <a:p>
            <a:endParaRPr lang="zh-CN" altLang="en-US"/>
          </a:p>
        </p:txBody>
      </p:sp>
      <p:sp>
        <p:nvSpPr>
          <p:cNvPr id="26" name="Text Box 13"/>
          <p:cNvSpPr txBox="1">
            <a:spLocks noChangeArrowheads="1"/>
          </p:cNvSpPr>
          <p:nvPr/>
        </p:nvSpPr>
        <p:spPr bwMode="auto">
          <a:xfrm>
            <a:off x="2438400" y="3975894"/>
            <a:ext cx="314325" cy="457200"/>
          </a:xfrm>
          <a:prstGeom prst="rect">
            <a:avLst/>
          </a:prstGeom>
          <a:noFill/>
          <a:ln>
            <a:noFill/>
          </a:ln>
          <a:effectLst/>
          <a:extLst>
            <a:ext uri="{909E8E84-426E-40DD-AFC4-6F175D3DCCD1}">
              <a14:hiddenFill xmlns:a14="http://schemas.microsoft.com/office/drawing/2010/main">
                <a:solidFill>
                  <a:srgbClr val="95FFE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6796" dir="12393903" algn="ctr" rotWithShape="0">
                    <a:schemeClr val="bg2"/>
                  </a:outerShdw>
                </a:effectLst>
              </a14:hiddenEffects>
            </a:ext>
          </a:extLst>
        </p:spPr>
        <p:txBody>
          <a:bodyPr wrap="non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defRPr/>
            </a:pPr>
            <a:r>
              <a:rPr lang="en-US" altLang="zh-CN" sz="2400">
                <a:solidFill>
                  <a:srgbClr val="23238E"/>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ε</a:t>
            </a:r>
            <a:endParaRPr lang="en-US" altLang="zh-CN" sz="2400">
              <a:solidFill>
                <a:srgbClr val="23238E"/>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27" name="Text Box 14"/>
          <p:cNvSpPr txBox="1">
            <a:spLocks noChangeArrowheads="1"/>
          </p:cNvSpPr>
          <p:nvPr/>
        </p:nvSpPr>
        <p:spPr bwMode="auto">
          <a:xfrm>
            <a:off x="981075" y="3975894"/>
            <a:ext cx="314325" cy="457200"/>
          </a:xfrm>
          <a:prstGeom prst="rect">
            <a:avLst/>
          </a:prstGeom>
          <a:noFill/>
          <a:ln>
            <a:noFill/>
          </a:ln>
          <a:effectLst/>
          <a:extLst>
            <a:ext uri="{909E8E84-426E-40DD-AFC4-6F175D3DCCD1}">
              <a14:hiddenFill xmlns:a14="http://schemas.microsoft.com/office/drawing/2010/main">
                <a:solidFill>
                  <a:srgbClr val="95FFE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6796" dir="12393903" algn="ctr" rotWithShape="0">
                    <a:schemeClr val="bg2"/>
                  </a:outerShdw>
                </a:effectLst>
              </a14:hiddenEffects>
            </a:ext>
          </a:extLst>
        </p:spPr>
        <p:txBody>
          <a:bodyPr wrap="non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defRPr/>
            </a:pPr>
            <a:r>
              <a:rPr lang="en-US" altLang="zh-CN" sz="2400">
                <a:solidFill>
                  <a:srgbClr val="23238E"/>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ε</a:t>
            </a:r>
            <a:endParaRPr lang="en-US" altLang="zh-CN" sz="2400">
              <a:solidFill>
                <a:srgbClr val="23238E"/>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28" name="Rectangle 15"/>
          <p:cNvSpPr>
            <a:spLocks noChangeArrowheads="1"/>
          </p:cNvSpPr>
          <p:nvPr/>
        </p:nvSpPr>
        <p:spPr bwMode="auto">
          <a:xfrm>
            <a:off x="3429000" y="3799681"/>
            <a:ext cx="5181600" cy="1189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lnSpc>
                <a:spcPct val="150000"/>
              </a:lnSpc>
              <a:spcBef>
                <a:spcPts val="600"/>
              </a:spcBef>
              <a:buClr>
                <a:schemeClr val="accent1"/>
              </a:buClr>
              <a:buSzPct val="70000"/>
              <a:defRPr/>
            </a:pPr>
            <a:r>
              <a:rPr lang="en-US" altLang="zh-CN" sz="2400" dirty="0">
                <a:solidFill>
                  <a:srgbClr val="0000FF"/>
                </a:solidFill>
                <a:latin typeface="Calibri" panose="020F0502020204030204" pitchFamily="34" charset="0"/>
                <a:ea typeface="黑体" panose="02010609060101010101" pitchFamily="49" charset="-122"/>
              </a:rPr>
              <a:t>q</a:t>
            </a:r>
            <a:r>
              <a:rPr lang="en-US" altLang="zh-CN" sz="2400" b="0" dirty="0">
                <a:solidFill>
                  <a:srgbClr val="0070C0"/>
                </a:solidFill>
                <a:latin typeface="Calibri" panose="020F0502020204030204" pitchFamily="34" charset="0"/>
                <a:ea typeface="黑体" panose="02010609060101010101" pitchFamily="49" charset="-122"/>
              </a:rPr>
              <a:t> </a:t>
            </a:r>
            <a:r>
              <a:rPr lang="zh-CN" altLang="en-US" sz="2400" b="0" dirty="0">
                <a:solidFill>
                  <a:srgbClr val="0070C0"/>
                </a:solidFill>
                <a:latin typeface="Calibri" panose="020F0502020204030204" pitchFamily="34" charset="0"/>
                <a:ea typeface="黑体" panose="02010609060101010101" pitchFamily="49" charset="-122"/>
              </a:rPr>
              <a:t>是从 </a:t>
            </a:r>
            <a:r>
              <a:rPr lang="en-US" altLang="zh-CN" sz="2400" dirty="0">
                <a:solidFill>
                  <a:srgbClr val="0000FF"/>
                </a:solidFill>
                <a:latin typeface="Calibri" panose="020F0502020204030204" pitchFamily="34" charset="0"/>
                <a:ea typeface="黑体" panose="02010609060101010101" pitchFamily="49" charset="-122"/>
              </a:rPr>
              <a:t>p</a:t>
            </a:r>
            <a:r>
              <a:rPr lang="en-US" altLang="zh-CN" sz="2400" b="0" dirty="0">
                <a:solidFill>
                  <a:srgbClr val="0070C0"/>
                </a:solidFill>
                <a:latin typeface="Calibri" panose="020F0502020204030204" pitchFamily="34" charset="0"/>
                <a:ea typeface="黑体" panose="02010609060101010101" pitchFamily="49" charset="-122"/>
              </a:rPr>
              <a:t> </a:t>
            </a:r>
            <a:r>
              <a:rPr lang="zh-CN" altLang="en-US" sz="2400" b="0" dirty="0">
                <a:solidFill>
                  <a:srgbClr val="0070C0"/>
                </a:solidFill>
                <a:latin typeface="Calibri" panose="020F0502020204030204" pitchFamily="34" charset="0"/>
                <a:ea typeface="黑体" panose="02010609060101010101" pitchFamily="49" charset="-122"/>
              </a:rPr>
              <a:t>直接密度可达的</a:t>
            </a:r>
            <a:endParaRPr lang="en-US" altLang="zh-CN" sz="2400" b="0" dirty="0">
              <a:solidFill>
                <a:srgbClr val="0070C0"/>
              </a:solidFill>
              <a:latin typeface="Calibri" panose="020F0502020204030204" pitchFamily="34" charset="0"/>
              <a:ea typeface="黑体" panose="02010609060101010101" pitchFamily="49" charset="-122"/>
            </a:endParaRPr>
          </a:p>
          <a:p>
            <a:pPr eaLnBrk="1" hangingPunct="1">
              <a:lnSpc>
                <a:spcPct val="150000"/>
              </a:lnSpc>
              <a:spcBef>
                <a:spcPts val="600"/>
              </a:spcBef>
              <a:buClr>
                <a:schemeClr val="accent1"/>
              </a:buClr>
              <a:buSzPct val="70000"/>
              <a:defRPr/>
            </a:pPr>
            <a:r>
              <a:rPr lang="en-US" altLang="zh-CN" sz="2400" dirty="0">
                <a:solidFill>
                  <a:srgbClr val="0000FF"/>
                </a:solidFill>
                <a:latin typeface="Calibri" panose="020F0502020204030204" pitchFamily="34" charset="0"/>
                <a:ea typeface="黑体" panose="02010609060101010101" pitchFamily="49" charset="-122"/>
              </a:rPr>
              <a:t>p</a:t>
            </a:r>
            <a:r>
              <a:rPr lang="en-US" altLang="zh-CN" sz="2400" b="0" dirty="0">
                <a:solidFill>
                  <a:srgbClr val="0000FF"/>
                </a:solidFill>
                <a:latin typeface="Calibri" panose="020F0502020204030204" pitchFamily="34" charset="0"/>
                <a:ea typeface="黑体" panose="02010609060101010101" pitchFamily="49" charset="-122"/>
              </a:rPr>
              <a:t> </a:t>
            </a:r>
            <a:r>
              <a:rPr lang="zh-CN" altLang="en-US" sz="2400" b="0" dirty="0">
                <a:solidFill>
                  <a:srgbClr val="0070C0"/>
                </a:solidFill>
                <a:latin typeface="Calibri" panose="020F0502020204030204" pitchFamily="34" charset="0"/>
                <a:ea typeface="黑体" panose="02010609060101010101" pitchFamily="49" charset="-122"/>
              </a:rPr>
              <a:t>不是从 </a:t>
            </a:r>
            <a:r>
              <a:rPr lang="en-US" altLang="zh-CN" sz="2400" dirty="0">
                <a:solidFill>
                  <a:srgbClr val="0000FF"/>
                </a:solidFill>
                <a:latin typeface="Calibri" panose="020F0502020204030204" pitchFamily="34" charset="0"/>
                <a:ea typeface="黑体" panose="02010609060101010101" pitchFamily="49" charset="-122"/>
              </a:rPr>
              <a:t>q </a:t>
            </a:r>
            <a:r>
              <a:rPr lang="zh-CN" altLang="en-US" sz="2400" b="0" dirty="0">
                <a:solidFill>
                  <a:srgbClr val="0070C0"/>
                </a:solidFill>
                <a:latin typeface="Calibri" panose="020F0502020204030204" pitchFamily="34" charset="0"/>
                <a:ea typeface="黑体" panose="02010609060101010101" pitchFamily="49" charset="-122"/>
              </a:rPr>
              <a:t>直接密度可达的？</a:t>
            </a:r>
            <a:endParaRPr lang="en-US" altLang="zh-CN" sz="2400" b="0" dirty="0">
              <a:solidFill>
                <a:srgbClr val="0070C0"/>
              </a:solidFill>
              <a:latin typeface="Calibri" panose="020F0502020204030204" pitchFamily="34" charset="0"/>
              <a:ea typeface="黑体" panose="02010609060101010101" pitchFamily="49" charset="-122"/>
            </a:endParaRPr>
          </a:p>
          <a:p>
            <a:pPr marL="447675" indent="-447675" eaLnBrk="1" hangingPunct="1">
              <a:spcBef>
                <a:spcPct val="20000"/>
              </a:spcBef>
              <a:buClr>
                <a:schemeClr val="accent1"/>
              </a:buClr>
              <a:buSzPct val="70000"/>
              <a:buFont typeface="Wingdings" panose="05000000000000000000" pitchFamily="2" charset="2"/>
              <a:buChar char="n"/>
              <a:defRPr/>
            </a:pPr>
            <a:endParaRPr lang="en-US" altLang="zh-CN" sz="2800" b="0" dirty="0">
              <a:latin typeface="Calibri" panose="020F0502020204030204" pitchFamily="34" charset="0"/>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600" b="0" kern="0" dirty="0">
                <a:solidFill>
                  <a:srgbClr val="1557AE"/>
                </a:solidFill>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Calibri" panose="020F0502020204030204" pitchFamily="34" charset="0"/>
              <a:ea typeface="方正兰亭中黑_GBK" panose="02000000000000000000" pitchFamily="2" charset="-122"/>
              <a:cs typeface="Calibri" panose="020F0502020204030204" pitchFamily="34" charset="0"/>
            </a:endParaRPr>
          </a:p>
        </p:txBody>
      </p:sp>
      <p:sp>
        <p:nvSpPr>
          <p:cNvPr id="3" name="Rectangle 3"/>
          <p:cNvSpPr txBox="1">
            <a:spLocks noChangeArrowheads="1"/>
          </p:cNvSpPr>
          <p:nvPr/>
        </p:nvSpPr>
        <p:spPr bwMode="auto">
          <a:xfrm>
            <a:off x="228600" y="1124744"/>
            <a:ext cx="8686800" cy="485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0850" indent="-450850" eaLnBrk="0" hangingPunct="0">
              <a:defRPr b="1">
                <a:solidFill>
                  <a:schemeClr val="tx1"/>
                </a:solidFill>
                <a:latin typeface="Verdana" panose="020B0604030504040204" pitchFamily="34" charset="0"/>
                <a:ea typeface="宋体" panose="02010600030101010101" pitchFamily="2" charset="-122"/>
              </a:defRPr>
            </a:lvl1pPr>
            <a:lvl2pPr marL="908050" indent="-43688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nSpc>
                <a:spcPct val="130000"/>
              </a:lnSpc>
              <a:spcBef>
                <a:spcPts val="600"/>
              </a:spcBef>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定义</a:t>
            </a:r>
            <a:endPar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buClr>
                <a:schemeClr val="tx1"/>
              </a:buClr>
              <a:buFont typeface="Wingdings" panose="05000000000000000000" pitchFamily="2" charset="2"/>
              <a:buChar char="ü"/>
              <a:defRPr/>
            </a:pPr>
            <a:r>
              <a:rPr lang="zh-CN" altLang="en-US" sz="2400" dirty="0">
                <a:solidFill>
                  <a:srgbClr val="0000FF"/>
                </a:solidFill>
                <a:latin typeface="方正兰亭中黑_GBK" panose="02000000000000000000" pitchFamily="2" charset="-122"/>
                <a:ea typeface="方正兰亭中黑_GBK" panose="02000000000000000000" pitchFamily="2" charset="-122"/>
              </a:rPr>
              <a:t>密度可达的</a:t>
            </a:r>
            <a:r>
              <a:rPr lang="zh-CN" altLang="en-US" sz="2400" dirty="0">
                <a:solidFill>
                  <a:srgbClr val="0000FF"/>
                </a:solidFill>
                <a:latin typeface="Calibri" panose="020F0502020204030204" pitchFamily="34" charset="0"/>
                <a:ea typeface="黑体" panose="02010609060101010101" pitchFamily="49" charset="-122"/>
              </a:rPr>
              <a:t>（</a:t>
            </a:r>
            <a:r>
              <a:rPr lang="en-US" altLang="zh-CN" sz="2400" dirty="0">
                <a:solidFill>
                  <a:srgbClr val="0000FF"/>
                </a:solidFill>
                <a:latin typeface="Calibri" panose="020F0502020204030204" pitchFamily="34" charset="0"/>
                <a:ea typeface="黑体" panose="02010609060101010101" pitchFamily="49" charset="-122"/>
              </a:rPr>
              <a:t>Density-reachable</a:t>
            </a:r>
            <a:r>
              <a:rPr lang="zh-CN" altLang="en-US" sz="2400" dirty="0">
                <a:solidFill>
                  <a:srgbClr val="0000FF"/>
                </a:solidFill>
                <a:latin typeface="Calibri" panose="020F0502020204030204" pitchFamily="34" charset="0"/>
                <a:ea typeface="黑体" panose="02010609060101010101" pitchFamily="49" charset="-122"/>
              </a:rPr>
              <a:t>）</a:t>
            </a:r>
            <a:r>
              <a:rPr lang="en-US" altLang="zh-CN" sz="2400" dirty="0">
                <a:solidFill>
                  <a:srgbClr val="0000FF"/>
                </a:solidFill>
                <a:latin typeface="Calibri" panose="020F0502020204030204" pitchFamily="34" charset="0"/>
                <a:ea typeface="黑体" panose="02010609060101010101" pitchFamily="49"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如果存在一个对象链</a:t>
            </a:r>
            <a:r>
              <a:rPr lang="en-US" altLang="zh-CN" sz="2400" b="0" dirty="0">
                <a:solidFill>
                  <a:srgbClr val="0070C0"/>
                </a:solidFill>
                <a:latin typeface="方正兰亭中黑_GBK" panose="02000000000000000000" pitchFamily="2" charset="-122"/>
                <a:ea typeface="方正兰亭中黑_GBK" panose="02000000000000000000" pitchFamily="2" charset="-122"/>
              </a:rPr>
              <a:t> </a:t>
            </a:r>
            <a:r>
              <a:rPr lang="en-US" altLang="zh-CN" sz="2400" dirty="0">
                <a:solidFill>
                  <a:srgbClr val="0000FF"/>
                </a:solidFill>
                <a:latin typeface="Calibri" panose="020F0502020204030204" pitchFamily="34" charset="0"/>
                <a:cs typeface="Calibri" panose="020F0502020204030204" pitchFamily="34" charset="0"/>
              </a:rPr>
              <a:t>p</a:t>
            </a:r>
            <a:r>
              <a:rPr lang="en-US" altLang="zh-CN" sz="2400" baseline="-25000" dirty="0">
                <a:solidFill>
                  <a:srgbClr val="0000FF"/>
                </a:solidFill>
                <a:latin typeface="Calibri" panose="020F0502020204030204" pitchFamily="34" charset="0"/>
                <a:cs typeface="Calibri" panose="020F0502020204030204" pitchFamily="34" charset="0"/>
              </a:rPr>
              <a:t>1</a:t>
            </a:r>
            <a:r>
              <a:rPr lang="en-US" altLang="zh-CN" sz="2400" dirty="0">
                <a:solidFill>
                  <a:srgbClr val="0000FF"/>
                </a:solidFill>
                <a:latin typeface="Calibri" panose="020F0502020204030204" pitchFamily="34" charset="0"/>
                <a:cs typeface="Calibri" panose="020F0502020204030204" pitchFamily="34" charset="0"/>
              </a:rPr>
              <a:t>,…,</a:t>
            </a:r>
            <a:r>
              <a:rPr lang="en-US" altLang="zh-CN" sz="2400" dirty="0" err="1">
                <a:solidFill>
                  <a:srgbClr val="0000FF"/>
                </a:solidFill>
                <a:latin typeface="Calibri" panose="020F0502020204030204" pitchFamily="34" charset="0"/>
                <a:cs typeface="Calibri" panose="020F0502020204030204" pitchFamily="34" charset="0"/>
              </a:rPr>
              <a:t>p</a:t>
            </a:r>
            <a:r>
              <a:rPr lang="en-US" altLang="zh-CN" sz="2400" baseline="-25000" dirty="0" err="1">
                <a:solidFill>
                  <a:srgbClr val="0000FF"/>
                </a:solidFill>
                <a:latin typeface="Calibri" panose="020F0502020204030204" pitchFamily="34" charset="0"/>
                <a:cs typeface="Calibri" panose="020F0502020204030204" pitchFamily="34" charset="0"/>
              </a:rPr>
              <a:t>n</a:t>
            </a:r>
            <a:r>
              <a:rPr lang="en-US" altLang="zh-CN" sz="2400" b="0" dirty="0">
                <a:solidFill>
                  <a:srgbClr val="0070C0"/>
                </a:solidFill>
                <a:latin typeface="方正兰亭中黑_GBK" panose="02000000000000000000" pitchFamily="2" charset="-122"/>
                <a:ea typeface="方正兰亭中黑_GBK" panose="02000000000000000000" pitchFamily="2"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使得 </a:t>
            </a:r>
            <a:r>
              <a:rPr lang="en-US" altLang="zh-CN" sz="2400" dirty="0">
                <a:solidFill>
                  <a:srgbClr val="0000FF"/>
                </a:solidFill>
                <a:latin typeface="Calibri" panose="020F0502020204030204" pitchFamily="34" charset="0"/>
                <a:cs typeface="Calibri" panose="020F0502020204030204" pitchFamily="34" charset="0"/>
              </a:rPr>
              <a:t>p</a:t>
            </a:r>
            <a:r>
              <a:rPr lang="en-US" altLang="zh-CN" sz="2400" baseline="-25000" dirty="0">
                <a:solidFill>
                  <a:srgbClr val="0000FF"/>
                </a:solidFill>
                <a:latin typeface="Calibri" panose="020F0502020204030204" pitchFamily="34" charset="0"/>
                <a:cs typeface="Calibri" panose="020F0502020204030204" pitchFamily="34" charset="0"/>
              </a:rPr>
              <a:t>1</a:t>
            </a:r>
            <a:r>
              <a:rPr lang="en-US" altLang="zh-CN" sz="2400" dirty="0">
                <a:solidFill>
                  <a:srgbClr val="0000FF"/>
                </a:solidFill>
                <a:latin typeface="Calibri" panose="020F0502020204030204" pitchFamily="34" charset="0"/>
                <a:cs typeface="Calibri" panose="020F0502020204030204" pitchFamily="34" charset="0"/>
              </a:rPr>
              <a:t>=p, </a:t>
            </a:r>
            <a:r>
              <a:rPr lang="en-US" altLang="zh-CN" sz="2400" dirty="0" err="1">
                <a:solidFill>
                  <a:srgbClr val="0000FF"/>
                </a:solidFill>
                <a:latin typeface="Calibri" panose="020F0502020204030204" pitchFamily="34" charset="0"/>
                <a:cs typeface="Calibri" panose="020F0502020204030204" pitchFamily="34" charset="0"/>
              </a:rPr>
              <a:t>p</a:t>
            </a:r>
            <a:r>
              <a:rPr lang="en-US" altLang="zh-CN" sz="2400" baseline="-25000" dirty="0" err="1">
                <a:solidFill>
                  <a:srgbClr val="0000FF"/>
                </a:solidFill>
                <a:latin typeface="Calibri" panose="020F0502020204030204" pitchFamily="34" charset="0"/>
                <a:cs typeface="Calibri" panose="020F0502020204030204" pitchFamily="34" charset="0"/>
              </a:rPr>
              <a:t>n</a:t>
            </a:r>
            <a:r>
              <a:rPr lang="en-US" altLang="zh-CN" sz="2400" dirty="0">
                <a:solidFill>
                  <a:srgbClr val="0000FF"/>
                </a:solidFill>
                <a:latin typeface="Calibri" panose="020F0502020204030204" pitchFamily="34" charset="0"/>
                <a:cs typeface="Calibri" panose="020F0502020204030204" pitchFamily="34" charset="0"/>
              </a:rPr>
              <a:t>=q</a:t>
            </a:r>
            <a:r>
              <a:rPr lang="en-US" altLang="zh-CN" sz="2400" b="0" dirty="0">
                <a:solidFill>
                  <a:srgbClr val="0070C0"/>
                </a:solidFill>
                <a:latin typeface="方正兰亭中黑_GBK" panose="02000000000000000000" pitchFamily="2" charset="-122"/>
                <a:ea typeface="方正兰亭中黑_GBK" panose="02000000000000000000" pitchFamily="2"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并且对于</a:t>
            </a:r>
            <a:r>
              <a:rPr lang="en-US" altLang="zh-CN" sz="2400" dirty="0">
                <a:solidFill>
                  <a:srgbClr val="0000FF"/>
                </a:solidFill>
                <a:latin typeface="Calibri" panose="020F0502020204030204" pitchFamily="34" charset="0"/>
                <a:cs typeface="Calibri" panose="020F0502020204030204" pitchFamily="34" charset="0"/>
              </a:rPr>
              <a:t>p</a:t>
            </a:r>
            <a:r>
              <a:rPr lang="en-US" altLang="zh-CN" sz="2400" baseline="-25000" dirty="0">
                <a:solidFill>
                  <a:srgbClr val="0000FF"/>
                </a:solidFill>
                <a:latin typeface="Calibri" panose="020F0502020204030204" pitchFamily="34" charset="0"/>
                <a:cs typeface="Calibri" panose="020F0502020204030204" pitchFamily="34" charset="0"/>
              </a:rPr>
              <a:t>i</a:t>
            </a:r>
            <a:r>
              <a:rPr lang="zh-CN" altLang="en-US" sz="2400" dirty="0">
                <a:solidFill>
                  <a:srgbClr val="0000FF"/>
                </a:solidFill>
                <a:latin typeface="Calibri" panose="020F0502020204030204" pitchFamily="34" charset="0"/>
                <a:cs typeface="Calibri" panose="020F0502020204030204" pitchFamily="34" charset="0"/>
              </a:rPr>
              <a:t>（</a:t>
            </a:r>
            <a:r>
              <a:rPr lang="en-US" altLang="zh-CN" sz="2400" dirty="0">
                <a:solidFill>
                  <a:srgbClr val="0000FF"/>
                </a:solidFill>
                <a:latin typeface="Calibri" panose="020F0502020204030204" pitchFamily="34" charset="0"/>
                <a:cs typeface="Calibri" panose="020F0502020204030204" pitchFamily="34" charset="0"/>
              </a:rPr>
              <a:t>1 &lt;= i &lt;n</a:t>
            </a:r>
            <a:r>
              <a:rPr lang="zh-CN" altLang="en-US" sz="2400" dirty="0">
                <a:solidFill>
                  <a:srgbClr val="0000FF"/>
                </a:solidFill>
                <a:latin typeface="Calibri" panose="020F0502020204030204" pitchFamily="34" charset="0"/>
                <a:cs typeface="Calibri" panose="020F0502020204030204" pitchFamily="34" charset="0"/>
              </a:rPr>
              <a:t>）</a:t>
            </a:r>
            <a:r>
              <a:rPr lang="en-US" altLang="zh-CN" sz="2400" b="0" dirty="0">
                <a:solidFill>
                  <a:srgbClr val="0070C0"/>
                </a:solidFill>
                <a:latin typeface="方正兰亭中黑_GBK" panose="02000000000000000000" pitchFamily="2" charset="-122"/>
                <a:ea typeface="方正兰亭中黑_GBK" panose="02000000000000000000" pitchFamily="2" charset="-122"/>
              </a:rPr>
              <a:t>,</a:t>
            </a:r>
            <a:r>
              <a:rPr lang="en-US" altLang="zh-CN" sz="2400" dirty="0">
                <a:latin typeface="Calibri" panose="020F0502020204030204" pitchFamily="34" charset="0"/>
                <a:cs typeface="Calibri" panose="020F0502020204030204" pitchFamily="34" charset="0"/>
              </a:rPr>
              <a:t> </a:t>
            </a:r>
            <a:r>
              <a:rPr lang="en-US" altLang="zh-CN" sz="2400" dirty="0">
                <a:solidFill>
                  <a:srgbClr val="0000FF"/>
                </a:solidFill>
                <a:latin typeface="Calibri" panose="020F0502020204030204" pitchFamily="34" charset="0"/>
                <a:cs typeface="Calibri" panose="020F0502020204030204" pitchFamily="34" charset="0"/>
              </a:rPr>
              <a:t>p</a:t>
            </a:r>
            <a:r>
              <a:rPr lang="en-US" altLang="zh-CN" sz="2400" baseline="-25000" dirty="0">
                <a:solidFill>
                  <a:srgbClr val="0000FF"/>
                </a:solidFill>
                <a:latin typeface="Calibri" panose="020F0502020204030204" pitchFamily="34" charset="0"/>
                <a:cs typeface="Calibri" panose="020F0502020204030204" pitchFamily="34" charset="0"/>
              </a:rPr>
              <a:t>i+1</a:t>
            </a:r>
            <a:r>
              <a:rPr lang="zh-CN" altLang="en-US" sz="2400" b="0" dirty="0">
                <a:solidFill>
                  <a:srgbClr val="0070C0"/>
                </a:solidFill>
                <a:latin typeface="方正兰亭中黑_GBK" panose="02000000000000000000" pitchFamily="2" charset="-122"/>
                <a:ea typeface="方正兰亭中黑_GBK" panose="02000000000000000000" pitchFamily="2" charset="-122"/>
              </a:rPr>
              <a:t>是从</a:t>
            </a:r>
            <a:r>
              <a:rPr lang="en-US" altLang="zh-CN" sz="2400" dirty="0">
                <a:solidFill>
                  <a:srgbClr val="0000FF"/>
                </a:solidFill>
                <a:latin typeface="Calibri" panose="020F0502020204030204" pitchFamily="34" charset="0"/>
                <a:cs typeface="Calibri" panose="020F0502020204030204" pitchFamily="34" charset="0"/>
              </a:rPr>
              <a:t>p</a:t>
            </a:r>
            <a:r>
              <a:rPr lang="en-US" altLang="zh-CN" sz="2400" baseline="-25000" dirty="0">
                <a:solidFill>
                  <a:srgbClr val="0000FF"/>
                </a:solidFill>
                <a:latin typeface="Calibri" panose="020F0502020204030204" pitchFamily="34" charset="0"/>
                <a:cs typeface="Calibri" panose="020F0502020204030204" pitchFamily="34" charset="0"/>
              </a:rPr>
              <a:t>i</a:t>
            </a:r>
            <a:r>
              <a:rPr lang="zh-CN" altLang="en-US" sz="2400" b="0" dirty="0">
                <a:latin typeface="Calibri" panose="020F0502020204030204" pitchFamily="34" charset="0"/>
                <a:ea typeface="黑体" panose="02010609060101010101" pitchFamily="49"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（关于</a:t>
            </a:r>
            <a:r>
              <a:rPr lang="el-GR" altLang="zh-CN" sz="2400" dirty="0">
                <a:solidFill>
                  <a:srgbClr val="0000FF"/>
                </a:solidFill>
                <a:latin typeface="Calibri" panose="020F0502020204030204" pitchFamily="34" charset="0"/>
                <a:ea typeface="黑体" panose="02010609060101010101" pitchFamily="49" charset="-122"/>
              </a:rPr>
              <a:t>ε</a:t>
            </a:r>
            <a:r>
              <a:rPr lang="el-GR" altLang="zh-CN" sz="2400" b="0" dirty="0">
                <a:latin typeface="Calibri" panose="020F0502020204030204" pitchFamily="34" charset="0"/>
                <a:ea typeface="黑体" panose="02010609060101010101" pitchFamily="49"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与</a:t>
            </a:r>
            <a:r>
              <a:rPr lang="en-US" altLang="zh-CN" sz="2400" dirty="0" err="1">
                <a:solidFill>
                  <a:srgbClr val="0000FF"/>
                </a:solidFill>
                <a:latin typeface="Calibri" panose="020F0502020204030204" pitchFamily="34" charset="0"/>
                <a:ea typeface="黑体" panose="02010609060101010101" pitchFamily="49" charset="-122"/>
              </a:rPr>
              <a:t>MinPts</a:t>
            </a:r>
            <a:r>
              <a:rPr lang="en-US" altLang="zh-CN" sz="2400" dirty="0">
                <a:solidFill>
                  <a:srgbClr val="0000FF"/>
                </a:solidFill>
                <a:latin typeface="Calibri" panose="020F0502020204030204" pitchFamily="34" charset="0"/>
                <a:ea typeface="黑体" panose="02010609060101010101" pitchFamily="49"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）直接密度可达的，则</a:t>
            </a:r>
            <a:r>
              <a:rPr lang="zh-CN" altLang="en-US" sz="2400" b="0" dirty="0">
                <a:latin typeface="Calibri" panose="020F0502020204030204" pitchFamily="34" charset="0"/>
                <a:ea typeface="黑体" panose="02010609060101010101" pitchFamily="49" charset="-122"/>
              </a:rPr>
              <a:t> </a:t>
            </a:r>
            <a:r>
              <a:rPr lang="en-US" altLang="zh-CN" sz="2400" dirty="0">
                <a:solidFill>
                  <a:srgbClr val="0000FF"/>
                </a:solidFill>
                <a:latin typeface="Calibri" panose="020F0502020204030204" pitchFamily="34" charset="0"/>
                <a:ea typeface="黑体" panose="02010609060101010101" pitchFamily="49" charset="-122"/>
              </a:rPr>
              <a:t>q</a:t>
            </a:r>
            <a:r>
              <a:rPr lang="en-US" altLang="zh-CN" sz="2400" b="0" dirty="0">
                <a:solidFill>
                  <a:srgbClr val="0000FF"/>
                </a:solidFill>
                <a:latin typeface="Calibri" panose="020F0502020204030204" pitchFamily="34" charset="0"/>
                <a:ea typeface="黑体" panose="02010609060101010101" pitchFamily="49"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是从 </a:t>
            </a:r>
            <a:r>
              <a:rPr lang="en-US" altLang="zh-CN" sz="2400" dirty="0">
                <a:solidFill>
                  <a:srgbClr val="0000FF"/>
                </a:solidFill>
                <a:latin typeface="Calibri" panose="020F0502020204030204" pitchFamily="34" charset="0"/>
                <a:ea typeface="黑体" panose="02010609060101010101" pitchFamily="49" charset="-122"/>
              </a:rPr>
              <a:t>p </a:t>
            </a:r>
            <a:r>
              <a:rPr lang="zh-CN" altLang="en-US" sz="2400" b="0" dirty="0">
                <a:solidFill>
                  <a:srgbClr val="0070C0"/>
                </a:solidFill>
                <a:latin typeface="方正兰亭中黑_GBK" panose="02000000000000000000" pitchFamily="2" charset="-122"/>
                <a:ea typeface="方正兰亭中黑_GBK" panose="02000000000000000000" pitchFamily="2" charset="-122"/>
              </a:rPr>
              <a:t>密度可达的。</a:t>
            </a:r>
            <a:endParaRPr lang="en-US" altLang="zh-CN" sz="2400" b="0" dirty="0">
              <a:solidFill>
                <a:srgbClr val="0070C0"/>
              </a:solidFill>
              <a:latin typeface="方正兰亭中黑_GBK" panose="02000000000000000000" pitchFamily="2" charset="-122"/>
              <a:ea typeface="方正兰亭中黑_GBK" panose="02000000000000000000" pitchFamily="2" charset="-122"/>
            </a:endParaRPr>
          </a:p>
        </p:txBody>
      </p:sp>
      <p:sp>
        <p:nvSpPr>
          <p:cNvPr id="4" name="Rectangle 15"/>
          <p:cNvSpPr>
            <a:spLocks noChangeArrowheads="1"/>
          </p:cNvSpPr>
          <p:nvPr/>
        </p:nvSpPr>
        <p:spPr bwMode="auto">
          <a:xfrm>
            <a:off x="3429000" y="3921918"/>
            <a:ext cx="5486400" cy="2171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lnSpc>
                <a:spcPct val="150000"/>
              </a:lnSpc>
              <a:spcBef>
                <a:spcPts val="600"/>
              </a:spcBef>
              <a:buClr>
                <a:schemeClr val="accent1"/>
              </a:buClr>
              <a:buSzPct val="70000"/>
              <a:defRPr/>
            </a:pPr>
            <a:r>
              <a:rPr lang="en-US" altLang="zh-CN" sz="2400" dirty="0">
                <a:solidFill>
                  <a:srgbClr val="0000FF"/>
                </a:solidFill>
                <a:latin typeface="Calibri" panose="020F0502020204030204" pitchFamily="34" charset="0"/>
                <a:ea typeface="黑体" panose="02010609060101010101" pitchFamily="49" charset="-122"/>
              </a:rPr>
              <a:t>q</a:t>
            </a:r>
            <a:r>
              <a:rPr lang="en-US" altLang="zh-CN" sz="2400" b="0" dirty="0">
                <a:solidFill>
                  <a:srgbClr val="0000FF"/>
                </a:solidFill>
                <a:latin typeface="Calibri" panose="020F0502020204030204" pitchFamily="34" charset="0"/>
                <a:ea typeface="黑体" panose="02010609060101010101" pitchFamily="49"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是从 </a:t>
            </a:r>
            <a:r>
              <a:rPr lang="en-US" altLang="zh-CN" sz="2400" dirty="0">
                <a:solidFill>
                  <a:srgbClr val="0000FF"/>
                </a:solidFill>
                <a:latin typeface="Calibri" panose="020F0502020204030204" pitchFamily="34" charset="0"/>
                <a:ea typeface="黑体" panose="02010609060101010101" pitchFamily="49" charset="-122"/>
              </a:rPr>
              <a:t>p </a:t>
            </a:r>
            <a:r>
              <a:rPr lang="zh-CN" altLang="en-US" sz="2400" b="0" dirty="0">
                <a:solidFill>
                  <a:srgbClr val="0070C0"/>
                </a:solidFill>
                <a:latin typeface="方正兰亭中黑_GBK" panose="02000000000000000000" pitchFamily="2" charset="-122"/>
                <a:ea typeface="方正兰亭中黑_GBK" panose="02000000000000000000" pitchFamily="2" charset="-122"/>
              </a:rPr>
              <a:t>密度可达的</a:t>
            </a:r>
            <a:endParaRPr lang="en-US" altLang="zh-CN" sz="2400" b="0" dirty="0">
              <a:solidFill>
                <a:srgbClr val="0070C0"/>
              </a:solidFill>
              <a:latin typeface="方正兰亭中黑_GBK" panose="02000000000000000000" pitchFamily="2" charset="-122"/>
              <a:ea typeface="方正兰亭中黑_GBK" panose="02000000000000000000" pitchFamily="2" charset="-122"/>
            </a:endParaRPr>
          </a:p>
          <a:p>
            <a:pPr eaLnBrk="1" hangingPunct="1">
              <a:lnSpc>
                <a:spcPct val="150000"/>
              </a:lnSpc>
              <a:spcBef>
                <a:spcPts val="600"/>
              </a:spcBef>
              <a:buClr>
                <a:schemeClr val="accent1"/>
              </a:buClr>
              <a:buSzPct val="70000"/>
              <a:defRPr/>
            </a:pPr>
            <a:r>
              <a:rPr lang="en-US" altLang="zh-CN" sz="2400" dirty="0">
                <a:solidFill>
                  <a:srgbClr val="0000FF"/>
                </a:solidFill>
                <a:latin typeface="Calibri" panose="020F0502020204030204" pitchFamily="34" charset="0"/>
                <a:ea typeface="黑体" panose="02010609060101010101" pitchFamily="49" charset="-122"/>
              </a:rPr>
              <a:t>p</a:t>
            </a:r>
            <a:r>
              <a:rPr lang="en-US" altLang="zh-CN" sz="2400" b="0" dirty="0">
                <a:solidFill>
                  <a:srgbClr val="0070C0"/>
                </a:solidFill>
                <a:latin typeface="方正兰亭中黑_GBK" panose="02000000000000000000" pitchFamily="2" charset="-122"/>
                <a:ea typeface="方正兰亭中黑_GBK" panose="02000000000000000000" pitchFamily="2"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不是从</a:t>
            </a:r>
            <a:r>
              <a:rPr lang="zh-CN" altLang="en-US" sz="2400" b="0" dirty="0">
                <a:latin typeface="Calibri" panose="020F0502020204030204" pitchFamily="34" charset="0"/>
                <a:ea typeface="黑体" panose="02010609060101010101" pitchFamily="49" charset="-122"/>
              </a:rPr>
              <a:t> </a:t>
            </a:r>
            <a:r>
              <a:rPr lang="en-US" altLang="zh-CN" sz="2400" dirty="0">
                <a:solidFill>
                  <a:srgbClr val="0000FF"/>
                </a:solidFill>
                <a:latin typeface="Calibri" panose="020F0502020204030204" pitchFamily="34" charset="0"/>
                <a:ea typeface="黑体" panose="02010609060101010101" pitchFamily="49" charset="-122"/>
              </a:rPr>
              <a:t>q</a:t>
            </a:r>
            <a:r>
              <a:rPr lang="en-US" altLang="zh-CN" sz="2400" b="0" dirty="0">
                <a:solidFill>
                  <a:srgbClr val="0070C0"/>
                </a:solidFill>
                <a:latin typeface="方正兰亭中黑_GBK" panose="02000000000000000000" pitchFamily="2" charset="-122"/>
                <a:ea typeface="方正兰亭中黑_GBK" panose="02000000000000000000" pitchFamily="2"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直接密度可达的？</a:t>
            </a:r>
            <a:endParaRPr lang="en-US" altLang="zh-CN" sz="2400" b="0" dirty="0">
              <a:solidFill>
                <a:srgbClr val="0070C0"/>
              </a:solidFill>
              <a:latin typeface="方正兰亭中黑_GBK" panose="02000000000000000000" pitchFamily="2" charset="-122"/>
              <a:ea typeface="方正兰亭中黑_GBK" panose="02000000000000000000" pitchFamily="2" charset="-122"/>
            </a:endParaRPr>
          </a:p>
          <a:p>
            <a:pPr eaLnBrk="1" hangingPunct="1">
              <a:lnSpc>
                <a:spcPct val="150000"/>
              </a:lnSpc>
              <a:spcBef>
                <a:spcPts val="600"/>
              </a:spcBef>
              <a:buClr>
                <a:schemeClr val="accent1"/>
              </a:buClr>
              <a:buSzPct val="70000"/>
              <a:defRPr/>
            </a:pPr>
            <a:r>
              <a:rPr lang="zh-CN" altLang="en-US" sz="2400" b="0" dirty="0">
                <a:solidFill>
                  <a:srgbClr val="FF0000"/>
                </a:solidFill>
                <a:latin typeface="方正兰亭中黑_GBK" panose="02000000000000000000" pitchFamily="2" charset="-122"/>
                <a:ea typeface="方正兰亭中黑_GBK" panose="02000000000000000000" pitchFamily="2" charset="-122"/>
              </a:rPr>
              <a:t>密度可达不是等价关系因为不是对称的</a:t>
            </a:r>
            <a:endParaRPr lang="en-US" altLang="zh-CN" sz="2400" b="0" dirty="0">
              <a:solidFill>
                <a:srgbClr val="FF0000"/>
              </a:solidFill>
              <a:latin typeface="方正兰亭中黑_GBK" panose="02000000000000000000" pitchFamily="2" charset="-122"/>
              <a:ea typeface="方正兰亭中黑_GBK" panose="02000000000000000000" pitchFamily="2" charset="-122"/>
            </a:endParaRPr>
          </a:p>
          <a:p>
            <a:pPr marL="447675" indent="-447675" eaLnBrk="1" hangingPunct="1">
              <a:spcBef>
                <a:spcPct val="20000"/>
              </a:spcBef>
              <a:buClr>
                <a:schemeClr val="accent1"/>
              </a:buClr>
              <a:buSzPct val="70000"/>
              <a:buFont typeface="Wingdings" panose="05000000000000000000" pitchFamily="2" charset="2"/>
              <a:buChar char="n"/>
              <a:defRPr/>
            </a:pPr>
            <a:endParaRPr lang="en-US" altLang="zh-CN" sz="2800" b="0" dirty="0">
              <a:latin typeface="Calibri" panose="020F0502020204030204" pitchFamily="34" charset="0"/>
              <a:ea typeface="黑体" panose="02010609060101010101" pitchFamily="49" charset="-122"/>
            </a:endParaRPr>
          </a:p>
        </p:txBody>
      </p:sp>
      <p:sp>
        <p:nvSpPr>
          <p:cNvPr id="5" name="Oval 4"/>
          <p:cNvSpPr>
            <a:spLocks noChangeArrowheads="1"/>
          </p:cNvSpPr>
          <p:nvPr/>
        </p:nvSpPr>
        <p:spPr bwMode="auto">
          <a:xfrm>
            <a:off x="1066800" y="4525169"/>
            <a:ext cx="1447800" cy="1447800"/>
          </a:xfrm>
          <a:prstGeom prst="ellipse">
            <a:avLst/>
          </a:prstGeom>
          <a:noFill/>
          <a:ln w="9525">
            <a:solidFill>
              <a:schemeClr val="tx1"/>
            </a:solidFill>
            <a:rou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6" name="Oval 5"/>
          <p:cNvSpPr>
            <a:spLocks noChangeArrowheads="1"/>
          </p:cNvSpPr>
          <p:nvPr/>
        </p:nvSpPr>
        <p:spPr bwMode="auto">
          <a:xfrm>
            <a:off x="1752600" y="4448969"/>
            <a:ext cx="1447800" cy="1447800"/>
          </a:xfrm>
          <a:prstGeom prst="ellipse">
            <a:avLst/>
          </a:prstGeom>
          <a:noFill/>
          <a:ln w="9525">
            <a:solidFill>
              <a:schemeClr val="tx1"/>
            </a:solidFill>
            <a:rou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7" name="Oval 6"/>
          <p:cNvSpPr>
            <a:spLocks noChangeArrowheads="1"/>
          </p:cNvSpPr>
          <p:nvPr/>
        </p:nvSpPr>
        <p:spPr bwMode="auto">
          <a:xfrm>
            <a:off x="2362200" y="4525169"/>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8" name="Oval 7"/>
          <p:cNvSpPr>
            <a:spLocks noChangeArrowheads="1"/>
          </p:cNvSpPr>
          <p:nvPr/>
        </p:nvSpPr>
        <p:spPr bwMode="auto">
          <a:xfrm>
            <a:off x="2057400" y="5287169"/>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1"/>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sz="2400" i="1">
              <a:solidFill>
                <a:srgbClr val="FF0000"/>
              </a:solidFill>
              <a:latin typeface="Times New Roman" panose="02020603050405020304" pitchFamily="18" charset="0"/>
              <a:cs typeface="Times New Roman" panose="02020603050405020304" pitchFamily="18" charset="0"/>
            </a:endParaRPr>
          </a:p>
        </p:txBody>
      </p:sp>
      <p:sp>
        <p:nvSpPr>
          <p:cNvPr id="9" name="Oval 8"/>
          <p:cNvSpPr>
            <a:spLocks noChangeArrowheads="1"/>
          </p:cNvSpPr>
          <p:nvPr/>
        </p:nvSpPr>
        <p:spPr bwMode="auto">
          <a:xfrm>
            <a:off x="2971800" y="5439569"/>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0" name="Oval 9"/>
          <p:cNvSpPr>
            <a:spLocks noChangeArrowheads="1"/>
          </p:cNvSpPr>
          <p:nvPr/>
        </p:nvSpPr>
        <p:spPr bwMode="auto">
          <a:xfrm>
            <a:off x="2362200" y="5058569"/>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1"/>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i="1">
                <a:solidFill>
                  <a:srgbClr val="FF0000"/>
                </a:solidFill>
                <a:latin typeface="Times New Roman" panose="02020603050405020304" pitchFamily="18" charset="0"/>
                <a:cs typeface="Times New Roman" panose="02020603050405020304" pitchFamily="18" charset="0"/>
              </a:rPr>
              <a:t>p</a:t>
            </a:r>
            <a:endParaRPr lang="en-US" altLang="zh-CN" sz="2400" i="1">
              <a:solidFill>
                <a:srgbClr val="FF0000"/>
              </a:solidFill>
              <a:latin typeface="Times New Roman" panose="02020603050405020304" pitchFamily="18" charset="0"/>
              <a:cs typeface="Times New Roman" panose="02020603050405020304" pitchFamily="18" charset="0"/>
            </a:endParaRPr>
          </a:p>
        </p:txBody>
      </p:sp>
      <p:sp>
        <p:nvSpPr>
          <p:cNvPr id="11" name="Oval 11"/>
          <p:cNvSpPr>
            <a:spLocks noChangeArrowheads="1"/>
          </p:cNvSpPr>
          <p:nvPr/>
        </p:nvSpPr>
        <p:spPr bwMode="auto">
          <a:xfrm>
            <a:off x="1600200" y="4448969"/>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2" name="Oval 12"/>
          <p:cNvSpPr>
            <a:spLocks noChangeArrowheads="1"/>
          </p:cNvSpPr>
          <p:nvPr/>
        </p:nvSpPr>
        <p:spPr bwMode="auto">
          <a:xfrm>
            <a:off x="533400" y="3991769"/>
            <a:ext cx="1447800" cy="1447800"/>
          </a:xfrm>
          <a:prstGeom prst="ellipse">
            <a:avLst/>
          </a:prstGeom>
          <a:noFill/>
          <a:ln w="9525">
            <a:solidFill>
              <a:schemeClr val="tx1"/>
            </a:solidFill>
            <a:rou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3" name="Oval 13"/>
          <p:cNvSpPr>
            <a:spLocks noChangeArrowheads="1"/>
          </p:cNvSpPr>
          <p:nvPr/>
        </p:nvSpPr>
        <p:spPr bwMode="auto">
          <a:xfrm>
            <a:off x="1295400" y="5744369"/>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a:p>
        </p:txBody>
      </p:sp>
      <p:sp>
        <p:nvSpPr>
          <p:cNvPr id="14" name="Oval 14"/>
          <p:cNvSpPr>
            <a:spLocks noChangeArrowheads="1"/>
          </p:cNvSpPr>
          <p:nvPr/>
        </p:nvSpPr>
        <p:spPr bwMode="auto">
          <a:xfrm>
            <a:off x="1143000" y="4601369"/>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1"/>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r>
              <a:rPr lang="en-US" altLang="zh-CN" sz="2400" i="1">
                <a:solidFill>
                  <a:srgbClr val="FF0000"/>
                </a:solidFill>
                <a:latin typeface="Times New Roman" panose="02020603050405020304" pitchFamily="18" charset="0"/>
                <a:cs typeface="Times New Roman" panose="02020603050405020304" pitchFamily="18" charset="0"/>
              </a:rPr>
              <a:t>q</a:t>
            </a:r>
            <a:endParaRPr lang="en-US" altLang="zh-CN" sz="2400" i="1">
              <a:solidFill>
                <a:srgbClr val="FF0000"/>
              </a:solidFill>
              <a:latin typeface="Times New Roman" panose="02020603050405020304" pitchFamily="18" charset="0"/>
              <a:cs typeface="Times New Roman" panose="02020603050405020304" pitchFamily="18" charset="0"/>
            </a:endParaRPr>
          </a:p>
        </p:txBody>
      </p:sp>
      <p:sp>
        <p:nvSpPr>
          <p:cNvPr id="15" name="Oval 15"/>
          <p:cNvSpPr>
            <a:spLocks noChangeArrowheads="1"/>
          </p:cNvSpPr>
          <p:nvPr/>
        </p:nvSpPr>
        <p:spPr bwMode="auto">
          <a:xfrm>
            <a:off x="1676400" y="5134769"/>
            <a:ext cx="228600" cy="228600"/>
          </a:xfrm>
          <a:prstGeom prst="ellipse">
            <a:avLst/>
          </a:prstGeom>
          <a:solidFill>
            <a:srgbClr val="95FFE3"/>
          </a:solidFill>
          <a:ln w="9525">
            <a:solidFill>
              <a:schemeClr val="tx1"/>
            </a:solidFill>
            <a:round/>
          </a:ln>
          <a:effectLst>
            <a:outerShdw dist="56796" dir="12393903" algn="ctr" rotWithShape="0">
              <a:schemeClr val="bg2"/>
            </a:outerShdw>
          </a:effectLst>
        </p:spPr>
        <p:txBody>
          <a:bodyPr wrap="none" anchorCtr="1"/>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zh-CN" sz="2400" i="1">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600" b="0" kern="0" dirty="0">
                <a:solidFill>
                  <a:srgbClr val="1557AE"/>
                </a:solidFill>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Calibri" panose="020F0502020204030204" pitchFamily="34" charset="0"/>
              <a:ea typeface="方正兰亭中黑_GBK" panose="02000000000000000000" pitchFamily="2" charset="-122"/>
              <a:cs typeface="Calibri" panose="020F0502020204030204" pitchFamily="34" charset="0"/>
            </a:endParaRPr>
          </a:p>
        </p:txBody>
      </p:sp>
      <p:sp>
        <p:nvSpPr>
          <p:cNvPr id="3" name="Rectangle 3"/>
          <p:cNvSpPr txBox="1">
            <a:spLocks noChangeArrowheads="1"/>
          </p:cNvSpPr>
          <p:nvPr/>
        </p:nvSpPr>
        <p:spPr bwMode="auto">
          <a:xfrm>
            <a:off x="228600" y="1002506"/>
            <a:ext cx="8686800" cy="485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0850" indent="-450850" eaLnBrk="0" hangingPunct="0">
              <a:defRPr b="1">
                <a:solidFill>
                  <a:schemeClr val="tx1"/>
                </a:solidFill>
                <a:latin typeface="Verdana" panose="020B0604030504040204" pitchFamily="34" charset="0"/>
                <a:ea typeface="宋体" panose="02010600030101010101" pitchFamily="2" charset="-122"/>
              </a:defRPr>
            </a:lvl1pPr>
            <a:lvl2pPr marL="908050" indent="-43688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nSpc>
                <a:spcPct val="130000"/>
              </a:lnSpc>
              <a:spcBef>
                <a:spcPts val="600"/>
              </a:spcBef>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定义</a:t>
            </a:r>
            <a:endPar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20000"/>
              </a:lnSpc>
              <a:buClr>
                <a:schemeClr val="tx1"/>
              </a:buClr>
              <a:buFont typeface="Wingdings" panose="05000000000000000000" pitchFamily="2" charset="2"/>
              <a:buChar char="ü"/>
              <a:defRPr/>
            </a:pPr>
            <a:r>
              <a:rPr lang="zh-CN" altLang="en-US" sz="2400" dirty="0">
                <a:solidFill>
                  <a:srgbClr val="0000FF"/>
                </a:solidFill>
                <a:latin typeface="方正兰亭中黑_GBK" panose="02000000000000000000" pitchFamily="2" charset="-122"/>
                <a:ea typeface="方正兰亭中黑_GBK" panose="02000000000000000000" pitchFamily="2" charset="-122"/>
              </a:rPr>
              <a:t>密度可达</a:t>
            </a:r>
            <a:r>
              <a:rPr lang="zh-CN" altLang="en-US" sz="2400" b="0" dirty="0">
                <a:solidFill>
                  <a:srgbClr val="0070C0"/>
                </a:solidFill>
                <a:latin typeface="方正兰亭中黑_GBK" panose="02000000000000000000" pitchFamily="2" charset="-122"/>
                <a:ea typeface="方正兰亭中黑_GBK" panose="02000000000000000000" pitchFamily="2" charset="-122"/>
              </a:rPr>
              <a:t>是直接密度可达的传递闭包，是可传递的</a:t>
            </a:r>
            <a:r>
              <a:rPr lang="en-US" altLang="zh-CN" sz="2400" b="0" dirty="0">
                <a:solidFill>
                  <a:srgbClr val="0070C0"/>
                </a:solidFill>
                <a:latin typeface="方正兰亭中黑_GBK" panose="02000000000000000000" pitchFamily="2" charset="-122"/>
                <a:ea typeface="方正兰亭中黑_GBK" panose="02000000000000000000" pitchFamily="2" charset="-122"/>
              </a:rPr>
              <a:t>, </a:t>
            </a:r>
            <a:r>
              <a:rPr lang="zh-CN" altLang="en-US" sz="2400" b="0" dirty="0">
                <a:solidFill>
                  <a:srgbClr val="0070C0"/>
                </a:solidFill>
                <a:latin typeface="方正兰亭中黑_GBK" panose="02000000000000000000" pitchFamily="2" charset="-122"/>
                <a:ea typeface="方正兰亭中黑_GBK" panose="02000000000000000000" pitchFamily="2" charset="-122"/>
              </a:rPr>
              <a:t>但不满足对称性，只有核心对象之间的密度可达关系满足对称性。</a:t>
            </a:r>
            <a:endParaRPr lang="en-US" altLang="zh-CN" sz="2400" b="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20000"/>
              </a:lnSpc>
              <a:buClr>
                <a:schemeClr val="tx1"/>
              </a:buClr>
              <a:buFont typeface="Wingdings" panose="05000000000000000000" pitchFamily="2" charset="2"/>
              <a:buChar char="ü"/>
              <a:defRPr/>
            </a:pPr>
            <a:r>
              <a:rPr lang="zh-CN" altLang="en-US" sz="2400" dirty="0">
                <a:solidFill>
                  <a:srgbClr val="0000FF"/>
                </a:solidFill>
                <a:latin typeface="方正兰亭中黑_GBK" panose="02000000000000000000" pitchFamily="2" charset="-122"/>
                <a:ea typeface="方正兰亭中黑_GBK" panose="02000000000000000000" pitchFamily="2" charset="-122"/>
              </a:rPr>
              <a:t>一个基于密度的簇</a:t>
            </a:r>
            <a:r>
              <a:rPr lang="zh-CN" altLang="en-US" sz="2400" b="0" dirty="0">
                <a:solidFill>
                  <a:srgbClr val="0070C0"/>
                </a:solidFill>
                <a:latin typeface="方正兰亭中黑_GBK" panose="02000000000000000000" pitchFamily="2" charset="-122"/>
                <a:ea typeface="方正兰亭中黑_GBK" panose="02000000000000000000" pitchFamily="2" charset="-122"/>
              </a:rPr>
              <a:t>是基于密度可达性的最大的密度相连对象的集合，不包含在任何簇中的对象被认为是噪声点</a:t>
            </a:r>
            <a:endParaRPr lang="en-US" altLang="zh-CN" sz="2400" b="0" dirty="0">
              <a:solidFill>
                <a:srgbClr val="0070C0"/>
              </a:solidFill>
              <a:latin typeface="方正兰亭中黑_GBK" panose="02000000000000000000" pitchFamily="2" charset="-122"/>
              <a:ea typeface="方正兰亭中黑_GBK"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600" b="0" kern="0" dirty="0">
                <a:solidFill>
                  <a:srgbClr val="1557AE"/>
                </a:solidFill>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Calibri" panose="020F0502020204030204" pitchFamily="34" charset="0"/>
              <a:ea typeface="方正兰亭中黑_GBK" panose="02000000000000000000" pitchFamily="2" charset="-122"/>
              <a:cs typeface="Calibri" panose="020F0502020204030204" pitchFamily="34" charset="0"/>
            </a:endParaRPr>
          </a:p>
        </p:txBody>
      </p:sp>
      <p:sp>
        <p:nvSpPr>
          <p:cNvPr id="3" name="Rectangle 3"/>
          <p:cNvSpPr txBox="1">
            <a:spLocks noChangeArrowheads="1"/>
          </p:cNvSpPr>
          <p:nvPr/>
        </p:nvSpPr>
        <p:spPr bwMode="auto">
          <a:xfrm>
            <a:off x="228600" y="1002506"/>
            <a:ext cx="8686800" cy="485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0850" indent="-450850" eaLnBrk="0" hangingPunct="0">
              <a:defRPr b="1">
                <a:solidFill>
                  <a:schemeClr val="tx1"/>
                </a:solidFill>
                <a:latin typeface="Verdana" panose="020B0604030504040204" pitchFamily="34" charset="0"/>
                <a:ea typeface="宋体" panose="02010600030101010101" pitchFamily="2" charset="-122"/>
              </a:defRPr>
            </a:lvl1pPr>
            <a:lvl2pPr marL="908050" indent="-43688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nSpc>
                <a:spcPct val="130000"/>
              </a:lnSpc>
              <a:spcBef>
                <a:spcPts val="600"/>
              </a:spcBef>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例子</a:t>
            </a:r>
            <a:r>
              <a:rPr lang="en-US" altLang="zh-CN" sz="2800"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r>
              <a:rPr lang="en-US" altLang="zh-CN" sz="2800" dirty="0" err="1">
                <a:solidFill>
                  <a:srgbClr val="FF0000"/>
                </a:solidFill>
                <a:effectLst>
                  <a:outerShdw blurRad="38100" dist="38100" dir="2700000" algn="tl">
                    <a:srgbClr val="C0C0C0"/>
                  </a:outerShdw>
                </a:effectLst>
                <a:latin typeface="Calibri" panose="020F0502020204030204" pitchFamily="34" charset="0"/>
                <a:ea typeface="黑体" panose="02010609060101010101" pitchFamily="49" charset="-122"/>
                <a:cs typeface="Calibri" panose="020F0502020204030204" pitchFamily="34" charset="0"/>
              </a:rPr>
              <a:t>MinPts</a:t>
            </a:r>
            <a:r>
              <a:rPr lang="en-US" altLang="zh-CN" sz="2800" dirty="0">
                <a:solidFill>
                  <a:srgbClr val="FF0000"/>
                </a:solidFill>
                <a:effectLst>
                  <a:outerShdw blurRad="38100" dist="38100" dir="2700000" algn="tl">
                    <a:srgbClr val="C0C0C0"/>
                  </a:outerShdw>
                </a:effectLst>
                <a:latin typeface="Calibri" panose="020F0502020204030204" pitchFamily="34" charset="0"/>
                <a:ea typeface="黑体" panose="02010609060101010101" pitchFamily="49" charset="-122"/>
                <a:cs typeface="Calibri" panose="020F0502020204030204" pitchFamily="34" charset="0"/>
              </a:rPr>
              <a:t>=3</a:t>
            </a:r>
            <a:r>
              <a:rPr lang="en-US" altLang="zh-CN" sz="2800"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rPr>
              <a:t>)</a:t>
            </a:r>
            <a:endParaRPr lang="en-US" altLang="zh-CN" sz="2800" dirty="0">
              <a:solidFill>
                <a:srgbClr val="FF0000"/>
              </a:solidFill>
              <a:effectLst>
                <a:outerShdw blurRad="38100" dist="38100" dir="2700000" algn="tl">
                  <a:srgbClr val="C0C0C0"/>
                </a:outerShdw>
              </a:effectLst>
              <a:latin typeface="Times New Roman" panose="02020603050405020304" pitchFamily="18" charset="0"/>
              <a:ea typeface="黑体" panose="02010609060101010101" pitchFamily="49" charset="-122"/>
            </a:endParaRPr>
          </a:p>
          <a:p>
            <a:pPr lvl="1" eaLnBrk="1" hangingPunct="1">
              <a:lnSpc>
                <a:spcPct val="120000"/>
              </a:lnSpc>
              <a:spcBef>
                <a:spcPts val="600"/>
              </a:spcBef>
              <a:buClr>
                <a:schemeClr val="tx1"/>
              </a:buClr>
              <a:buFont typeface="Wingdings" panose="05000000000000000000" pitchFamily="2" charset="2"/>
              <a:buChar char="ü"/>
              <a:defRPr/>
            </a:pPr>
            <a:r>
              <a:rPr lang="en-US" altLang="zh-CN" sz="2400" dirty="0">
                <a:solidFill>
                  <a:srgbClr val="0000FF"/>
                </a:solidFill>
                <a:latin typeface="Calibri" panose="020F0502020204030204" pitchFamily="34" charset="0"/>
                <a:ea typeface="黑体" panose="02010609060101010101" pitchFamily="49" charset="-122"/>
              </a:rPr>
              <a:t>q</a:t>
            </a:r>
            <a:r>
              <a:rPr lang="zh-CN" altLang="en-US" sz="2400" b="0" dirty="0">
                <a:solidFill>
                  <a:srgbClr val="0070C0"/>
                </a:solidFill>
                <a:latin typeface="方正兰亭中黑_GBK" panose="02000000000000000000" pitchFamily="2" charset="-122"/>
                <a:ea typeface="方正兰亭中黑_GBK" panose="02000000000000000000" pitchFamily="2" charset="-122"/>
              </a:rPr>
              <a:t>是从</a:t>
            </a:r>
            <a:r>
              <a:rPr lang="en-US" altLang="zh-CN" sz="2400" dirty="0">
                <a:solidFill>
                  <a:srgbClr val="0000FF"/>
                </a:solidFill>
                <a:latin typeface="Calibri" panose="020F0502020204030204" pitchFamily="34" charset="0"/>
                <a:ea typeface="黑体" panose="02010609060101010101" pitchFamily="49" charset="-122"/>
              </a:rPr>
              <a:t>p</a:t>
            </a:r>
            <a:r>
              <a:rPr lang="zh-CN" altLang="en-US" sz="2400" b="0" dirty="0">
                <a:solidFill>
                  <a:srgbClr val="0070C0"/>
                </a:solidFill>
                <a:latin typeface="方正兰亭中黑_GBK" panose="02000000000000000000" pitchFamily="2" charset="-122"/>
                <a:ea typeface="方正兰亭中黑_GBK" panose="02000000000000000000" pitchFamily="2" charset="-122"/>
              </a:rPr>
              <a:t>密度可达； </a:t>
            </a:r>
            <a:r>
              <a:rPr lang="en-US" altLang="zh-CN" sz="2400" dirty="0">
                <a:solidFill>
                  <a:srgbClr val="0000FF"/>
                </a:solidFill>
                <a:latin typeface="Calibri" panose="020F0502020204030204" pitchFamily="34" charset="0"/>
                <a:ea typeface="黑体" panose="02010609060101010101" pitchFamily="49" charset="-122"/>
              </a:rPr>
              <a:t>p</a:t>
            </a:r>
            <a:r>
              <a:rPr lang="zh-CN" altLang="en-US" sz="2400" b="0" dirty="0">
                <a:solidFill>
                  <a:srgbClr val="0070C0"/>
                </a:solidFill>
                <a:latin typeface="方正兰亭中黑_GBK" panose="02000000000000000000" pitchFamily="2" charset="-122"/>
                <a:ea typeface="方正兰亭中黑_GBK" panose="02000000000000000000" pitchFamily="2" charset="-122"/>
              </a:rPr>
              <a:t>不是从</a:t>
            </a:r>
            <a:r>
              <a:rPr lang="en-US" altLang="zh-CN" sz="2400" dirty="0">
                <a:solidFill>
                  <a:srgbClr val="0000FF"/>
                </a:solidFill>
                <a:latin typeface="Calibri" panose="020F0502020204030204" pitchFamily="34" charset="0"/>
                <a:ea typeface="黑体" panose="02010609060101010101" pitchFamily="49" charset="-122"/>
              </a:rPr>
              <a:t>q</a:t>
            </a:r>
            <a:r>
              <a:rPr lang="zh-CN" altLang="en-US" sz="2400" b="0" dirty="0">
                <a:solidFill>
                  <a:srgbClr val="0070C0"/>
                </a:solidFill>
                <a:latin typeface="方正兰亭中黑_GBK" panose="02000000000000000000" pitchFamily="2" charset="-122"/>
                <a:ea typeface="方正兰亭中黑_GBK" panose="02000000000000000000" pitchFamily="2" charset="-122"/>
              </a:rPr>
              <a:t>密度可达（</a:t>
            </a:r>
            <a:r>
              <a:rPr lang="en-US" altLang="zh-CN" sz="2400"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q</a:t>
            </a:r>
            <a:r>
              <a:rPr lang="zh-CN" altLang="en-US" sz="2400" b="0" dirty="0">
                <a:solidFill>
                  <a:srgbClr val="0070C0"/>
                </a:solidFill>
                <a:latin typeface="方正兰亭中黑_GBK" panose="02000000000000000000" pitchFamily="2" charset="-122"/>
                <a:ea typeface="方正兰亭中黑_GBK" panose="02000000000000000000" pitchFamily="2" charset="-122"/>
              </a:rPr>
              <a:t>非核心）</a:t>
            </a:r>
            <a:endParaRPr lang="zh-CN" altLang="en-US" sz="2400" b="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20000"/>
              </a:lnSpc>
              <a:spcBef>
                <a:spcPts val="600"/>
              </a:spcBef>
              <a:buClr>
                <a:schemeClr val="tx1"/>
              </a:buClr>
              <a:buFont typeface="Wingdings" panose="05000000000000000000" pitchFamily="2" charset="2"/>
              <a:buChar char="ü"/>
              <a:defRPr/>
            </a:pPr>
            <a:r>
              <a:rPr lang="en-US" altLang="zh-CN" sz="2400" dirty="0">
                <a:solidFill>
                  <a:srgbClr val="0000FF"/>
                </a:solidFill>
                <a:latin typeface="Calibri" panose="020F0502020204030204" pitchFamily="34" charset="0"/>
                <a:ea typeface="黑体" panose="02010609060101010101" pitchFamily="49" charset="-122"/>
              </a:rPr>
              <a:t>s</a:t>
            </a:r>
            <a:r>
              <a:rPr lang="zh-CN" altLang="en-US" sz="2400" b="0" dirty="0">
                <a:solidFill>
                  <a:srgbClr val="0070C0"/>
                </a:solidFill>
                <a:latin typeface="方正兰亭中黑_GBK" panose="02000000000000000000" pitchFamily="2" charset="-122"/>
                <a:ea typeface="方正兰亭中黑_GBK" panose="02000000000000000000" pitchFamily="2" charset="-122"/>
              </a:rPr>
              <a:t>和</a:t>
            </a:r>
            <a:r>
              <a:rPr lang="en-US" altLang="zh-CN" sz="2400" dirty="0">
                <a:solidFill>
                  <a:srgbClr val="0000FF"/>
                </a:solidFill>
                <a:latin typeface="Calibri" panose="020F0502020204030204" pitchFamily="34" charset="0"/>
                <a:ea typeface="黑体" panose="02010609060101010101" pitchFamily="49" charset="-122"/>
              </a:rPr>
              <a:t>r</a:t>
            </a:r>
            <a:r>
              <a:rPr lang="zh-CN" altLang="en-US" sz="2400" b="0" dirty="0">
                <a:solidFill>
                  <a:srgbClr val="0070C0"/>
                </a:solidFill>
                <a:latin typeface="方正兰亭中黑_GBK" panose="02000000000000000000" pitchFamily="2" charset="-122"/>
                <a:ea typeface="方正兰亭中黑_GBK" panose="02000000000000000000" pitchFamily="2" charset="-122"/>
              </a:rPr>
              <a:t>从</a:t>
            </a:r>
            <a:r>
              <a:rPr lang="en-US" altLang="zh-CN" sz="2400" dirty="0">
                <a:solidFill>
                  <a:srgbClr val="0000FF"/>
                </a:solidFill>
                <a:latin typeface="Calibri" panose="020F0502020204030204" pitchFamily="34" charset="0"/>
                <a:ea typeface="黑体" panose="02010609060101010101" pitchFamily="49" charset="-122"/>
              </a:rPr>
              <a:t>o</a:t>
            </a:r>
            <a:r>
              <a:rPr lang="zh-CN" altLang="en-US" sz="2400" b="0" dirty="0">
                <a:solidFill>
                  <a:srgbClr val="0070C0"/>
                </a:solidFill>
                <a:latin typeface="方正兰亭中黑_GBK" panose="02000000000000000000" pitchFamily="2" charset="-122"/>
                <a:ea typeface="方正兰亭中黑_GBK" panose="02000000000000000000" pitchFamily="2" charset="-122"/>
              </a:rPr>
              <a:t>密度</a:t>
            </a:r>
            <a:r>
              <a:rPr lang="en-US" altLang="zh-CN" sz="2400" dirty="0">
                <a:solidFill>
                  <a:srgbClr val="FF0000"/>
                </a:solidFill>
                <a:latin typeface="Calibri" panose="020F0502020204030204" pitchFamily="34" charset="0"/>
                <a:ea typeface="黑体" panose="02010609060101010101" pitchFamily="49" charset="-122"/>
              </a:rPr>
              <a:t>?</a:t>
            </a:r>
            <a:r>
              <a:rPr lang="zh-CN" altLang="en-US" sz="2400" b="0" dirty="0">
                <a:solidFill>
                  <a:srgbClr val="0070C0"/>
                </a:solidFill>
                <a:latin typeface="方正兰亭中黑_GBK" panose="02000000000000000000" pitchFamily="2" charset="-122"/>
                <a:ea typeface="方正兰亭中黑_GBK" panose="02000000000000000000" pitchFamily="2" charset="-122"/>
              </a:rPr>
              <a:t>；</a:t>
            </a:r>
            <a:r>
              <a:rPr lang="en-US" altLang="zh-CN" sz="2400" dirty="0">
                <a:solidFill>
                  <a:srgbClr val="0000FF"/>
                </a:solidFill>
                <a:latin typeface="Calibri" panose="020F0502020204030204" pitchFamily="34" charset="0"/>
                <a:ea typeface="黑体" panose="02010609060101010101" pitchFamily="49" charset="-122"/>
              </a:rPr>
              <a:t>o</a:t>
            </a:r>
            <a:r>
              <a:rPr lang="zh-CN" altLang="en-US" sz="2400" b="0" dirty="0">
                <a:solidFill>
                  <a:srgbClr val="0070C0"/>
                </a:solidFill>
                <a:latin typeface="方正兰亭中黑_GBK" panose="02000000000000000000" pitchFamily="2" charset="-122"/>
                <a:ea typeface="方正兰亭中黑_GBK" panose="02000000000000000000" pitchFamily="2" charset="-122"/>
              </a:rPr>
              <a:t>从</a:t>
            </a:r>
            <a:r>
              <a:rPr lang="en-US" altLang="zh-CN" sz="2400" dirty="0">
                <a:solidFill>
                  <a:srgbClr val="0000FF"/>
                </a:solidFill>
                <a:latin typeface="Calibri" panose="020F0502020204030204" pitchFamily="34" charset="0"/>
                <a:ea typeface="黑体" panose="02010609060101010101" pitchFamily="49" charset="-122"/>
              </a:rPr>
              <a:t>r</a:t>
            </a:r>
            <a:r>
              <a:rPr lang="zh-CN" altLang="en-US" sz="2400" b="0" dirty="0">
                <a:solidFill>
                  <a:srgbClr val="0070C0"/>
                </a:solidFill>
                <a:latin typeface="方正兰亭中黑_GBK" panose="02000000000000000000" pitchFamily="2" charset="-122"/>
                <a:ea typeface="方正兰亭中黑_GBK" panose="02000000000000000000" pitchFamily="2" charset="-122"/>
              </a:rPr>
              <a:t>密度</a:t>
            </a:r>
            <a:r>
              <a:rPr lang="en-US" altLang="zh-CN" sz="2400" dirty="0">
                <a:solidFill>
                  <a:srgbClr val="FF0000"/>
                </a:solidFill>
                <a:latin typeface="Calibri" panose="020F0502020204030204" pitchFamily="34" charset="0"/>
                <a:ea typeface="黑体" panose="02010609060101010101" pitchFamily="49" charset="-122"/>
              </a:rPr>
              <a:t>?</a:t>
            </a:r>
            <a:r>
              <a:rPr lang="zh-CN" altLang="en-US" sz="2400" b="0" dirty="0">
                <a:solidFill>
                  <a:srgbClr val="0070C0"/>
                </a:solidFill>
                <a:latin typeface="方正兰亭中黑_GBK" panose="02000000000000000000" pitchFamily="2" charset="-122"/>
                <a:ea typeface="方正兰亭中黑_GBK" panose="02000000000000000000" pitchFamily="2" charset="-122"/>
              </a:rPr>
              <a:t>；</a:t>
            </a:r>
            <a:endParaRPr lang="zh-CN" altLang="en-US" sz="2400" b="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20000"/>
              </a:lnSpc>
              <a:spcBef>
                <a:spcPts val="600"/>
              </a:spcBef>
              <a:buClr>
                <a:schemeClr val="tx1"/>
              </a:buClr>
              <a:buFont typeface="Wingdings" panose="05000000000000000000" pitchFamily="2" charset="2"/>
              <a:buChar char="ü"/>
              <a:defRPr/>
            </a:pPr>
            <a:r>
              <a:rPr lang="en-US" altLang="zh-CN" sz="2400" dirty="0">
                <a:solidFill>
                  <a:srgbClr val="0000FF"/>
                </a:solidFill>
                <a:latin typeface="Calibri" panose="020F0502020204030204" pitchFamily="34" charset="0"/>
                <a:ea typeface="黑体" panose="02010609060101010101" pitchFamily="49" charset="-122"/>
              </a:rPr>
              <a:t>r</a:t>
            </a:r>
            <a:r>
              <a:rPr lang="en-US" altLang="zh-CN" sz="2400" dirty="0">
                <a:latin typeface="Calibri" panose="020F0502020204030204" pitchFamily="34" charset="0"/>
                <a:ea typeface="黑体" panose="02010609060101010101" pitchFamily="49" charset="-122"/>
              </a:rPr>
              <a:t>, </a:t>
            </a:r>
            <a:r>
              <a:rPr lang="en-US" altLang="zh-CN" sz="2400" dirty="0">
                <a:solidFill>
                  <a:srgbClr val="0000FF"/>
                </a:solidFill>
                <a:latin typeface="Calibri" panose="020F0502020204030204" pitchFamily="34" charset="0"/>
                <a:ea typeface="黑体" panose="02010609060101010101" pitchFamily="49" charset="-122"/>
              </a:rPr>
              <a:t>s</a:t>
            </a:r>
            <a:r>
              <a:rPr lang="en-US" altLang="zh-CN" sz="2400" dirty="0">
                <a:latin typeface="Calibri" panose="020F0502020204030204" pitchFamily="34" charset="0"/>
                <a:ea typeface="黑体" panose="02010609060101010101" pitchFamily="49" charset="-122"/>
              </a:rPr>
              <a:t>, </a:t>
            </a:r>
            <a:r>
              <a:rPr lang="en-US" altLang="zh-CN" sz="2400" dirty="0">
                <a:solidFill>
                  <a:srgbClr val="0000FF"/>
                </a:solidFill>
                <a:latin typeface="Calibri" panose="020F0502020204030204" pitchFamily="34" charset="0"/>
                <a:ea typeface="黑体" panose="02010609060101010101" pitchFamily="49" charset="-122"/>
              </a:rPr>
              <a:t>o</a:t>
            </a:r>
            <a:r>
              <a:rPr lang="zh-CN" altLang="en-US" sz="2400" b="0" dirty="0">
                <a:solidFill>
                  <a:srgbClr val="0070C0"/>
                </a:solidFill>
                <a:latin typeface="方正兰亭中黑_GBK" panose="02000000000000000000" pitchFamily="2" charset="-122"/>
                <a:ea typeface="方正兰亭中黑_GBK" panose="02000000000000000000" pitchFamily="2" charset="-122"/>
              </a:rPr>
              <a:t>密度相连</a:t>
            </a:r>
            <a:endParaRPr lang="en-US" altLang="zh-CN" sz="2400" b="0" dirty="0">
              <a:solidFill>
                <a:srgbClr val="0070C0"/>
              </a:solidFill>
              <a:latin typeface="方正兰亭中黑_GBK" panose="02000000000000000000" pitchFamily="2" charset="-122"/>
              <a:ea typeface="方正兰亭中黑_GBK" panose="02000000000000000000" pitchFamily="2" charset="-122"/>
            </a:endParaRPr>
          </a:p>
        </p:txBody>
      </p:sp>
      <p:pic>
        <p:nvPicPr>
          <p:cNvPr id="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1913" y="3259931"/>
            <a:ext cx="6583362" cy="299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 </a:t>
            </a:r>
            <a:r>
              <a:rPr kumimoji="0" lang="en-US" altLang="zh-CN" sz="3600" b="0"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en-US" altLang="zh-CN" sz="3600" b="0" i="0" u="none" strike="noStrike" kern="0" cap="none" spc="0" normalizeH="0" baseline="0" noProof="0" dirty="0">
                <a:ln>
                  <a:noFill/>
                </a:ln>
                <a:solidFill>
                  <a:srgbClr val="1557AE"/>
                </a:solidFill>
                <a:effectLst/>
                <a:uLnTx/>
                <a:uFillTx/>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0" name="Rectangle 3"/>
          <p:cNvSpPr txBox="1">
            <a:spLocks noChangeArrowheads="1"/>
          </p:cNvSpPr>
          <p:nvPr/>
        </p:nvSpPr>
        <p:spPr bwMode="auto">
          <a:xfrm>
            <a:off x="251520" y="908720"/>
            <a:ext cx="8304213" cy="2354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0850" indent="-450850" eaLnBrk="0" hangingPunct="0">
              <a:defRPr b="1">
                <a:solidFill>
                  <a:schemeClr val="tx1"/>
                </a:solidFill>
                <a:latin typeface="Verdana" panose="020B0604030504040204" pitchFamily="34" charset="0"/>
                <a:ea typeface="宋体" panose="02010600030101010101" pitchFamily="2" charset="-122"/>
              </a:defRPr>
            </a:lvl1pPr>
            <a:lvl2pPr marL="908050" indent="-43688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nSpc>
                <a:spcPct val="130000"/>
              </a:lnSpc>
              <a:spcBef>
                <a:spcPts val="600"/>
              </a:spcBef>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定义</a:t>
            </a:r>
            <a:endPar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30000"/>
              </a:lnSpc>
              <a:spcBef>
                <a:spcPts val="600"/>
              </a:spcBef>
              <a:spcAft>
                <a:spcPts val="600"/>
              </a:spcAft>
              <a:buClr>
                <a:schemeClr val="tx1"/>
              </a:buClr>
              <a:buFont typeface="Wingdings" panose="05000000000000000000" pitchFamily="2" charset="2"/>
              <a:buChar char="ü"/>
              <a:defRPr/>
            </a:pPr>
            <a:r>
              <a:rPr lang="zh-CN" altLang="en-US" sz="2400" dirty="0">
                <a:solidFill>
                  <a:srgbClr val="0000FF"/>
                </a:solidFill>
                <a:latin typeface="方正兰亭中黑_GBK" panose="02000000000000000000" pitchFamily="2" charset="-122"/>
                <a:ea typeface="方正兰亭中黑_GBK" panose="02000000000000000000" pitchFamily="2" charset="-122"/>
              </a:rPr>
              <a:t>边界点：</a:t>
            </a:r>
            <a:r>
              <a:rPr lang="zh-CN" altLang="en-US" sz="2400" b="0" dirty="0">
                <a:solidFill>
                  <a:srgbClr val="0070C0"/>
                </a:solidFill>
                <a:latin typeface="方正兰亭中黑_GBK" panose="02000000000000000000" pitchFamily="2" charset="-122"/>
                <a:ea typeface="方正兰亭中黑_GBK" panose="02000000000000000000" pitchFamily="2" charset="-122"/>
              </a:rPr>
              <a:t>对象</a:t>
            </a:r>
            <a:r>
              <a:rPr lang="el-GR" altLang="zh-CN" sz="2400" dirty="0">
                <a:solidFill>
                  <a:srgbClr val="0000FF"/>
                </a:solidFill>
                <a:latin typeface="Calibri" panose="020F0502020204030204" pitchFamily="34" charset="0"/>
                <a:ea typeface="黑体" panose="02010609060101010101" pitchFamily="49" charset="-122"/>
              </a:rPr>
              <a:t>ε-</a:t>
            </a:r>
            <a:r>
              <a:rPr lang="zh-CN" altLang="en-US" sz="2400" dirty="0">
                <a:solidFill>
                  <a:srgbClr val="0000FF"/>
                </a:solidFill>
                <a:latin typeface="Calibri" panose="020F0502020204030204" pitchFamily="34" charset="0"/>
                <a:ea typeface="黑体" panose="02010609060101010101" pitchFamily="49" charset="-122"/>
              </a:rPr>
              <a:t>邻域</a:t>
            </a:r>
            <a:r>
              <a:rPr lang="zh-CN" altLang="en-US" sz="2400" b="0" dirty="0">
                <a:solidFill>
                  <a:srgbClr val="0070C0"/>
                </a:solidFill>
                <a:latin typeface="方正兰亭中黑_GBK" panose="02000000000000000000" pitchFamily="2" charset="-122"/>
                <a:ea typeface="方正兰亭中黑_GBK" panose="02000000000000000000" pitchFamily="2" charset="-122"/>
              </a:rPr>
              <a:t>内的样本点数小于</a:t>
            </a:r>
            <a:r>
              <a:rPr lang="en-US" altLang="zh-CN" sz="2400" dirty="0" err="1">
                <a:solidFill>
                  <a:srgbClr val="0000FF"/>
                </a:solidFill>
                <a:latin typeface="Calibri" panose="020F0502020204030204" pitchFamily="34" charset="0"/>
                <a:ea typeface="黑体" panose="02010609060101010101" pitchFamily="49" charset="-122"/>
              </a:rPr>
              <a:t>MinPts</a:t>
            </a:r>
            <a:r>
              <a:rPr lang="en-US" altLang="zh-CN" sz="2400" dirty="0">
                <a:solidFill>
                  <a:srgbClr val="0000FF"/>
                </a:solidFill>
                <a:latin typeface="Calibri" panose="020F0502020204030204" pitchFamily="34" charset="0"/>
                <a:ea typeface="黑体" panose="02010609060101010101" pitchFamily="49" charset="-122"/>
              </a:rPr>
              <a:t> </a:t>
            </a:r>
            <a:r>
              <a:rPr lang="en-US" altLang="zh-CN" sz="2400" b="0" dirty="0">
                <a:solidFill>
                  <a:srgbClr val="0070C0"/>
                </a:solidFill>
                <a:latin typeface="方正兰亭中黑_GBK" panose="02000000000000000000" pitchFamily="2" charset="-122"/>
                <a:ea typeface="方正兰亭中黑_GBK" panose="02000000000000000000" pitchFamily="2" charset="-122"/>
              </a:rPr>
              <a:t>，</a:t>
            </a:r>
            <a:r>
              <a:rPr lang="zh-CN" altLang="en-US" sz="2400" b="0" dirty="0">
                <a:solidFill>
                  <a:srgbClr val="0070C0"/>
                </a:solidFill>
                <a:latin typeface="方正兰亭中黑_GBK" panose="02000000000000000000" pitchFamily="2" charset="-122"/>
                <a:ea typeface="方正兰亭中黑_GBK" panose="02000000000000000000" pitchFamily="2" charset="-122"/>
              </a:rPr>
              <a:t>但是其位于某个核心对像</a:t>
            </a:r>
            <a:r>
              <a:rPr lang="el-GR" altLang="zh-CN" sz="2400" dirty="0">
                <a:solidFill>
                  <a:srgbClr val="0000FF"/>
                </a:solidFill>
                <a:latin typeface="Calibri" panose="020F0502020204030204" pitchFamily="34" charset="0"/>
                <a:ea typeface="黑体" panose="02010609060101010101" pitchFamily="49" charset="-122"/>
              </a:rPr>
              <a:t>ε-</a:t>
            </a:r>
            <a:r>
              <a:rPr lang="zh-CN" altLang="en-US" sz="2400" dirty="0">
                <a:solidFill>
                  <a:srgbClr val="0000FF"/>
                </a:solidFill>
                <a:latin typeface="Calibri" panose="020F0502020204030204" pitchFamily="34" charset="0"/>
                <a:ea typeface="黑体" panose="02010609060101010101" pitchFamily="49" charset="-122"/>
              </a:rPr>
              <a:t>邻域</a:t>
            </a:r>
            <a:r>
              <a:rPr lang="zh-CN" altLang="en-US" sz="2400" b="0" dirty="0">
                <a:solidFill>
                  <a:srgbClr val="0070C0"/>
                </a:solidFill>
                <a:latin typeface="方正兰亭中黑_GBK" panose="02000000000000000000" pitchFamily="2" charset="-122"/>
                <a:ea typeface="方正兰亭中黑_GBK" panose="02000000000000000000" pitchFamily="2" charset="-122"/>
              </a:rPr>
              <a:t>内。</a:t>
            </a:r>
            <a:endParaRPr lang="en-US" altLang="zh-CN" sz="2400" b="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30000"/>
              </a:lnSpc>
              <a:spcBef>
                <a:spcPts val="600"/>
              </a:spcBef>
              <a:spcAft>
                <a:spcPts val="600"/>
              </a:spcAft>
              <a:buClr>
                <a:schemeClr val="tx1"/>
              </a:buClr>
              <a:buFont typeface="Wingdings" panose="05000000000000000000" pitchFamily="2" charset="2"/>
              <a:buChar char="ü"/>
              <a:defRPr/>
            </a:pPr>
            <a:r>
              <a:rPr lang="zh-CN" altLang="en-US" sz="2400" dirty="0">
                <a:solidFill>
                  <a:srgbClr val="0000FF"/>
                </a:solidFill>
                <a:latin typeface="方正兰亭中黑_GBK" panose="02000000000000000000" pitchFamily="2" charset="-122"/>
                <a:ea typeface="方正兰亭中黑_GBK" panose="02000000000000000000" pitchFamily="2" charset="-122"/>
              </a:rPr>
              <a:t>噪声点：</a:t>
            </a:r>
            <a:r>
              <a:rPr lang="zh-CN" altLang="en-US" sz="2400" b="0" dirty="0">
                <a:solidFill>
                  <a:srgbClr val="0070C0"/>
                </a:solidFill>
                <a:latin typeface="方正兰亭中黑_GBK" panose="02000000000000000000" pitchFamily="2" charset="-122"/>
                <a:ea typeface="方正兰亭中黑_GBK" panose="02000000000000000000" pitchFamily="2" charset="-122"/>
              </a:rPr>
              <a:t>既非核心点也非边界点的任何点</a:t>
            </a:r>
            <a:r>
              <a:rPr lang="zh-CN" altLang="en-US" sz="2400" b="0" dirty="0">
                <a:latin typeface="Calibri" panose="020F0502020204030204" pitchFamily="34" charset="0"/>
                <a:ea typeface="黑体" panose="02010609060101010101" pitchFamily="49" charset="-122"/>
              </a:rPr>
              <a:t>。</a:t>
            </a:r>
            <a:endParaRPr lang="en-US" altLang="zh-CN" sz="2400" b="0" dirty="0">
              <a:latin typeface="+mn-ea"/>
            </a:endParaRPr>
          </a:p>
        </p:txBody>
      </p:sp>
      <p:sp>
        <p:nvSpPr>
          <p:cNvPr id="31" name="Oval 3"/>
          <p:cNvSpPr>
            <a:spLocks noChangeArrowheads="1"/>
          </p:cNvSpPr>
          <p:nvPr/>
        </p:nvSpPr>
        <p:spPr bwMode="auto">
          <a:xfrm>
            <a:off x="2821683" y="4223420"/>
            <a:ext cx="196850" cy="187325"/>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2" name="Oval 4"/>
          <p:cNvSpPr>
            <a:spLocks noChangeArrowheads="1"/>
          </p:cNvSpPr>
          <p:nvPr/>
        </p:nvSpPr>
        <p:spPr bwMode="auto">
          <a:xfrm>
            <a:off x="2755008" y="4534570"/>
            <a:ext cx="198437" cy="187325"/>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3" name="Oval 5"/>
          <p:cNvSpPr>
            <a:spLocks noChangeArrowheads="1"/>
          </p:cNvSpPr>
          <p:nvPr/>
        </p:nvSpPr>
        <p:spPr bwMode="auto">
          <a:xfrm>
            <a:off x="3085208" y="4596483"/>
            <a:ext cx="196850" cy="187325"/>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4" name="Oval 6"/>
          <p:cNvSpPr>
            <a:spLocks noChangeArrowheads="1"/>
          </p:cNvSpPr>
          <p:nvPr/>
        </p:nvSpPr>
        <p:spPr bwMode="auto">
          <a:xfrm>
            <a:off x="3216970" y="4223420"/>
            <a:ext cx="196850" cy="187325"/>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5" name="Oval 7"/>
          <p:cNvSpPr>
            <a:spLocks noChangeArrowheads="1"/>
          </p:cNvSpPr>
          <p:nvPr/>
        </p:nvSpPr>
        <p:spPr bwMode="auto">
          <a:xfrm>
            <a:off x="3348733" y="4783808"/>
            <a:ext cx="196850" cy="187325"/>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6" name="Oval 8"/>
          <p:cNvSpPr>
            <a:spLocks noChangeArrowheads="1"/>
          </p:cNvSpPr>
          <p:nvPr/>
        </p:nvSpPr>
        <p:spPr bwMode="auto">
          <a:xfrm>
            <a:off x="2821683" y="4847308"/>
            <a:ext cx="196850" cy="185737"/>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7" name="Oval 9"/>
          <p:cNvSpPr>
            <a:spLocks noChangeArrowheads="1"/>
          </p:cNvSpPr>
          <p:nvPr/>
        </p:nvSpPr>
        <p:spPr bwMode="auto">
          <a:xfrm>
            <a:off x="3085208" y="5033045"/>
            <a:ext cx="196850" cy="187325"/>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8" name="Oval 10"/>
          <p:cNvSpPr>
            <a:spLocks noChangeArrowheads="1"/>
          </p:cNvSpPr>
          <p:nvPr/>
        </p:nvSpPr>
        <p:spPr bwMode="auto">
          <a:xfrm>
            <a:off x="2953445" y="5345783"/>
            <a:ext cx="196850" cy="187325"/>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39" name="Oval 11"/>
          <p:cNvSpPr>
            <a:spLocks noChangeArrowheads="1"/>
          </p:cNvSpPr>
          <p:nvPr/>
        </p:nvSpPr>
        <p:spPr bwMode="auto">
          <a:xfrm>
            <a:off x="3282058" y="5533108"/>
            <a:ext cx="198437" cy="185737"/>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0" name="Oval 12"/>
          <p:cNvSpPr>
            <a:spLocks noChangeArrowheads="1"/>
          </p:cNvSpPr>
          <p:nvPr/>
        </p:nvSpPr>
        <p:spPr bwMode="auto">
          <a:xfrm>
            <a:off x="3413820" y="5782345"/>
            <a:ext cx="198438" cy="185738"/>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1" name="Oval 13"/>
          <p:cNvSpPr>
            <a:spLocks noChangeArrowheads="1"/>
          </p:cNvSpPr>
          <p:nvPr/>
        </p:nvSpPr>
        <p:spPr bwMode="auto">
          <a:xfrm>
            <a:off x="3348733" y="5220370"/>
            <a:ext cx="196850" cy="187325"/>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2" name="Oval 14"/>
          <p:cNvSpPr>
            <a:spLocks noChangeArrowheads="1"/>
          </p:cNvSpPr>
          <p:nvPr/>
        </p:nvSpPr>
        <p:spPr bwMode="auto">
          <a:xfrm>
            <a:off x="4204395" y="3475708"/>
            <a:ext cx="198438" cy="185737"/>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3" name="Oval 15"/>
          <p:cNvSpPr>
            <a:spLocks noChangeArrowheads="1"/>
          </p:cNvSpPr>
          <p:nvPr/>
        </p:nvSpPr>
        <p:spPr bwMode="auto">
          <a:xfrm>
            <a:off x="4336158" y="4223420"/>
            <a:ext cx="198437" cy="187325"/>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4" name="Oval 16"/>
          <p:cNvSpPr>
            <a:spLocks noChangeArrowheads="1"/>
          </p:cNvSpPr>
          <p:nvPr/>
        </p:nvSpPr>
        <p:spPr bwMode="auto">
          <a:xfrm>
            <a:off x="4139308" y="4472658"/>
            <a:ext cx="196850" cy="187325"/>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5" name="Oval 17"/>
          <p:cNvSpPr>
            <a:spLocks noChangeArrowheads="1"/>
          </p:cNvSpPr>
          <p:nvPr/>
        </p:nvSpPr>
        <p:spPr bwMode="auto">
          <a:xfrm>
            <a:off x="4599683" y="4596483"/>
            <a:ext cx="198437" cy="187325"/>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6" name="Oval 18"/>
          <p:cNvSpPr>
            <a:spLocks noChangeArrowheads="1"/>
          </p:cNvSpPr>
          <p:nvPr/>
        </p:nvSpPr>
        <p:spPr bwMode="auto">
          <a:xfrm>
            <a:off x="4731445" y="4285333"/>
            <a:ext cx="198438" cy="187325"/>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7" name="Oval 19"/>
          <p:cNvSpPr>
            <a:spLocks noChangeArrowheads="1"/>
          </p:cNvSpPr>
          <p:nvPr/>
        </p:nvSpPr>
        <p:spPr bwMode="auto">
          <a:xfrm>
            <a:off x="4336158" y="4721895"/>
            <a:ext cx="198437" cy="187325"/>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8" name="Rectangle 20"/>
          <p:cNvSpPr>
            <a:spLocks noChangeArrowheads="1"/>
          </p:cNvSpPr>
          <p:nvPr/>
        </p:nvSpPr>
        <p:spPr bwMode="auto">
          <a:xfrm>
            <a:off x="2162870" y="3350295"/>
            <a:ext cx="3359150" cy="2743200"/>
          </a:xfrm>
          <a:prstGeom prst="rect">
            <a:avLst/>
          </a:prstGeom>
          <a:noFill/>
          <a:ln w="9525">
            <a:solidFill>
              <a:srgbClr val="29292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49" name="Oval 21"/>
          <p:cNvSpPr>
            <a:spLocks noChangeArrowheads="1"/>
          </p:cNvSpPr>
          <p:nvPr/>
        </p:nvSpPr>
        <p:spPr bwMode="auto">
          <a:xfrm>
            <a:off x="2426395" y="3974183"/>
            <a:ext cx="790575" cy="809625"/>
          </a:xfrm>
          <a:prstGeom prst="ellipse">
            <a:avLst/>
          </a:prstGeom>
          <a:noFill/>
          <a:ln w="9525">
            <a:solidFill>
              <a:srgbClr val="292929"/>
            </a:solidFill>
            <a:prstDash val="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50" name="Oval 22"/>
          <p:cNvSpPr>
            <a:spLocks noChangeArrowheads="1"/>
          </p:cNvSpPr>
          <p:nvPr/>
        </p:nvSpPr>
        <p:spPr bwMode="auto">
          <a:xfrm>
            <a:off x="2821683" y="4721895"/>
            <a:ext cx="790575" cy="811213"/>
          </a:xfrm>
          <a:prstGeom prst="ellipse">
            <a:avLst/>
          </a:prstGeom>
          <a:noFill/>
          <a:ln w="9525">
            <a:solidFill>
              <a:srgbClr val="292929"/>
            </a:solidFill>
            <a:prstDash val="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51" name="Oval 23"/>
          <p:cNvSpPr>
            <a:spLocks noChangeArrowheads="1"/>
          </p:cNvSpPr>
          <p:nvPr/>
        </p:nvSpPr>
        <p:spPr bwMode="auto">
          <a:xfrm>
            <a:off x="3940870" y="3350295"/>
            <a:ext cx="790575" cy="811213"/>
          </a:xfrm>
          <a:prstGeom prst="ellipse">
            <a:avLst/>
          </a:prstGeom>
          <a:noFill/>
          <a:ln w="9525">
            <a:solidFill>
              <a:srgbClr val="292929"/>
            </a:solidFill>
            <a:prstDash val="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
        <p:nvSpPr>
          <p:cNvPr id="52" name="AutoShape 24"/>
          <p:cNvSpPr/>
          <p:nvPr/>
        </p:nvSpPr>
        <p:spPr bwMode="auto">
          <a:xfrm>
            <a:off x="634108" y="5039395"/>
            <a:ext cx="1384300" cy="400050"/>
          </a:xfrm>
          <a:prstGeom prst="borderCallout1">
            <a:avLst>
              <a:gd name="adj1" fmla="val 18750"/>
              <a:gd name="adj2" fmla="val 108333"/>
              <a:gd name="adj3" fmla="val 30177"/>
              <a:gd name="adj4" fmla="val 180859"/>
            </a:avLst>
          </a:prstGeom>
          <a:solidFill>
            <a:srgbClr val="FFFFFF"/>
          </a:solidFill>
          <a:ln w="9525">
            <a:solidFill>
              <a:srgbClr val="29292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auto">
              <a:spcBef>
                <a:spcPts val="0"/>
              </a:spcBef>
              <a:spcAft>
                <a:spcPts val="0"/>
              </a:spcAft>
              <a:defRPr/>
            </a:pPr>
            <a:r>
              <a:rPr lang="zh-CN" altLang="en-US" sz="2000" b="0" kern="0" dirty="0">
                <a:solidFill>
                  <a:srgbClr val="0000FF"/>
                </a:solidFill>
                <a:latin typeface="黑体" panose="02010609060101010101" pitchFamily="49" charset="-122"/>
                <a:ea typeface="黑体" panose="02010609060101010101" pitchFamily="49" charset="-122"/>
              </a:rPr>
              <a:t>核心对象</a:t>
            </a:r>
            <a:endParaRPr lang="en-US" altLang="zh-CN" sz="2000" b="0" kern="0" dirty="0">
              <a:solidFill>
                <a:srgbClr val="0000FF"/>
              </a:solidFill>
              <a:latin typeface="黑体" panose="02010609060101010101" pitchFamily="49" charset="-122"/>
              <a:ea typeface="黑体" panose="02010609060101010101" pitchFamily="49" charset="-122"/>
            </a:endParaRPr>
          </a:p>
        </p:txBody>
      </p:sp>
      <p:sp>
        <p:nvSpPr>
          <p:cNvPr id="53" name="AutoShape 25"/>
          <p:cNvSpPr/>
          <p:nvPr/>
        </p:nvSpPr>
        <p:spPr bwMode="auto">
          <a:xfrm>
            <a:off x="1173858" y="4258345"/>
            <a:ext cx="1120775" cy="400050"/>
          </a:xfrm>
          <a:prstGeom prst="borderCallout1">
            <a:avLst>
              <a:gd name="adj1" fmla="val 14458"/>
              <a:gd name="adj2" fmla="val 105884"/>
              <a:gd name="adj3" fmla="val 14458"/>
              <a:gd name="adj4" fmla="val 148528"/>
            </a:avLst>
          </a:prstGeom>
          <a:solidFill>
            <a:srgbClr val="FFFFFF"/>
          </a:solidFill>
          <a:ln w="9525">
            <a:solidFill>
              <a:srgbClr val="29292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auto">
              <a:spcBef>
                <a:spcPts val="0"/>
              </a:spcBef>
              <a:spcAft>
                <a:spcPts val="0"/>
              </a:spcAft>
              <a:defRPr/>
            </a:pPr>
            <a:r>
              <a:rPr lang="zh-CN" altLang="en-US" sz="2000" b="0" kern="0" dirty="0">
                <a:solidFill>
                  <a:srgbClr val="0000FF"/>
                </a:solidFill>
                <a:latin typeface="黑体" panose="02010609060101010101" pitchFamily="49" charset="-122"/>
                <a:ea typeface="黑体" panose="02010609060101010101" pitchFamily="49" charset="-122"/>
              </a:rPr>
              <a:t>边界点</a:t>
            </a:r>
            <a:endParaRPr lang="en-US" altLang="zh-CN" sz="2000" b="0" kern="0" dirty="0">
              <a:solidFill>
                <a:srgbClr val="0000FF"/>
              </a:solidFill>
              <a:latin typeface="黑体" panose="02010609060101010101" pitchFamily="49" charset="-122"/>
              <a:ea typeface="黑体" panose="02010609060101010101" pitchFamily="49" charset="-122"/>
            </a:endParaRPr>
          </a:p>
        </p:txBody>
      </p:sp>
      <p:sp>
        <p:nvSpPr>
          <p:cNvPr id="54" name="AutoShape 26"/>
          <p:cNvSpPr/>
          <p:nvPr/>
        </p:nvSpPr>
        <p:spPr bwMode="auto">
          <a:xfrm>
            <a:off x="5325170" y="3475708"/>
            <a:ext cx="1131888" cy="400050"/>
          </a:xfrm>
          <a:prstGeom prst="borderCallout1">
            <a:avLst>
              <a:gd name="adj1" fmla="val 24491"/>
              <a:gd name="adj2" fmla="val -5810"/>
              <a:gd name="adj3" fmla="val 21431"/>
              <a:gd name="adj4" fmla="val -82810"/>
            </a:avLst>
          </a:prstGeom>
          <a:solidFill>
            <a:srgbClr val="FFFFFF"/>
          </a:solidFill>
          <a:ln w="9525">
            <a:solidFill>
              <a:srgbClr val="29292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auto">
              <a:spcBef>
                <a:spcPts val="0"/>
              </a:spcBef>
              <a:spcAft>
                <a:spcPts val="0"/>
              </a:spcAft>
              <a:defRPr/>
            </a:pPr>
            <a:r>
              <a:rPr lang="zh-CN" altLang="en-US" sz="2000" b="0" kern="0" dirty="0">
                <a:solidFill>
                  <a:srgbClr val="0000FF"/>
                </a:solidFill>
                <a:latin typeface="黑体" panose="02010609060101010101" pitchFamily="49" charset="-122"/>
                <a:ea typeface="黑体" panose="02010609060101010101" pitchFamily="49" charset="-122"/>
              </a:rPr>
              <a:t>噪声点</a:t>
            </a:r>
            <a:endParaRPr lang="en-US" altLang="zh-CN" sz="2000" b="0" kern="0" dirty="0">
              <a:solidFill>
                <a:srgbClr val="0000FF"/>
              </a:solidFill>
              <a:latin typeface="黑体" panose="02010609060101010101" pitchFamily="49" charset="-122"/>
              <a:ea typeface="黑体" panose="02010609060101010101" pitchFamily="49" charset="-122"/>
            </a:endParaRPr>
          </a:p>
        </p:txBody>
      </p:sp>
      <p:sp>
        <p:nvSpPr>
          <p:cNvPr id="55" name="Text Box 27"/>
          <p:cNvSpPr txBox="1">
            <a:spLocks noChangeArrowheads="1"/>
          </p:cNvSpPr>
          <p:nvPr/>
        </p:nvSpPr>
        <p:spPr bwMode="auto">
          <a:xfrm>
            <a:off x="5922070" y="4950495"/>
            <a:ext cx="1646238" cy="938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spcBef>
                <a:spcPct val="50000"/>
              </a:spcBef>
            </a:pPr>
            <a:r>
              <a:rPr lang="en-US" altLang="zh-CN" sz="2200">
                <a:sym typeface="Symbol" panose="05050102010706020507" pitchFamily="18" charset="2"/>
              </a:rPr>
              <a:t></a:t>
            </a:r>
            <a:r>
              <a:rPr lang="en-US" altLang="zh-CN" sz="2200">
                <a:latin typeface="Times New Roman" panose="02020603050405020304" pitchFamily="18" charset="0"/>
              </a:rPr>
              <a:t> = 1</a:t>
            </a:r>
            <a:endParaRPr lang="en-US" altLang="zh-CN" sz="2200">
              <a:latin typeface="Times New Roman" panose="02020603050405020304" pitchFamily="18" charset="0"/>
            </a:endParaRPr>
          </a:p>
          <a:p>
            <a:pPr>
              <a:spcBef>
                <a:spcPct val="50000"/>
              </a:spcBef>
            </a:pPr>
            <a:r>
              <a:rPr lang="en-US" altLang="zh-CN" sz="2200">
                <a:latin typeface="Times New Roman" panose="02020603050405020304" pitchFamily="18" charset="0"/>
              </a:rPr>
              <a:t>MinPts = 5</a:t>
            </a:r>
            <a:endParaRPr lang="en-US" altLang="zh-CN" sz="2200">
              <a:latin typeface="Times New Roman" panose="02020603050405020304" pitchFamily="18" charset="0"/>
            </a:endParaRPr>
          </a:p>
        </p:txBody>
      </p:sp>
      <p:sp>
        <p:nvSpPr>
          <p:cNvPr id="56" name="Oval 28"/>
          <p:cNvSpPr>
            <a:spLocks noChangeArrowheads="1"/>
          </p:cNvSpPr>
          <p:nvPr/>
        </p:nvSpPr>
        <p:spPr bwMode="auto">
          <a:xfrm>
            <a:off x="3545583" y="5469608"/>
            <a:ext cx="198437" cy="187325"/>
          </a:xfrm>
          <a:prstGeom prst="ellipse">
            <a:avLst/>
          </a:prstGeom>
          <a:solidFill>
            <a:srgbClr val="00CCFF"/>
          </a:solidFill>
          <a:ln w="9525">
            <a:solidFill>
              <a:srgbClr val="29292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en-US" b="0" kern="0">
              <a:solidFill>
                <a:sysClr val="windowText" lastClr="000000"/>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 </a:t>
            </a: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r>
              <a:rPr lang="en-US" altLang="zh-CN" sz="3600" b="0" kern="0" dirty="0">
                <a:solidFill>
                  <a:srgbClr val="1557AE"/>
                </a:solidFill>
                <a:latin typeface="Calibri" panose="020F0502020204030204" pitchFamily="34" charset="0"/>
                <a:ea typeface="方正兰亭中黑_GBK" panose="02000000000000000000" pitchFamily="2" charset="-122"/>
                <a:cs typeface="Calibri" panose="020F0502020204030204" pitchFamily="34" charset="0"/>
              </a:rPr>
              <a:t>DBSCAN</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  </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276225" y="1002506"/>
            <a:ext cx="8591550" cy="485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0850" indent="-45085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971550" indent="-5143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nSpc>
                <a:spcPct val="130000"/>
              </a:lnSpc>
              <a:spcBef>
                <a:spcPts val="600"/>
              </a:spcBef>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算法描述</a:t>
            </a:r>
            <a:r>
              <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a:t>
            </a:r>
            <a:endPar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30000"/>
              </a:lnSpc>
              <a:spcBef>
                <a:spcPts val="600"/>
              </a:spcBef>
              <a:spcAft>
                <a:spcPts val="600"/>
              </a:spcAft>
              <a:buClrTx/>
              <a:buFont typeface="Verdana" panose="020B0604030504040204" pitchFamily="34" charset="0"/>
              <a:buAutoNum type="arabicPeriod"/>
              <a:defRPr/>
            </a:pPr>
            <a:r>
              <a:rPr lang="zh-CN" altLang="en-US" b="0" dirty="0">
                <a:solidFill>
                  <a:srgbClr val="0070C0"/>
                </a:solidFill>
                <a:latin typeface="方正兰亭中黑_GBK" panose="02000000000000000000" pitchFamily="2" charset="-122"/>
                <a:ea typeface="方正兰亭中黑_GBK" panose="02000000000000000000" pitchFamily="2" charset="-122"/>
              </a:rPr>
              <a:t>选择任意点</a:t>
            </a:r>
            <a:r>
              <a:rPr lang="en-US" altLang="zh-CN" dirty="0">
                <a:solidFill>
                  <a:srgbClr val="0000FF"/>
                </a:solidFill>
                <a:effectLst>
                  <a:outerShdw blurRad="38100" dist="38100" dir="2700000" algn="tl">
                    <a:srgbClr val="C0C0C0"/>
                  </a:outerShdw>
                </a:effectLst>
                <a:latin typeface="Calibri" panose="020F0502020204030204" pitchFamily="34" charset="0"/>
                <a:cs typeface="Calibri" panose="020F0502020204030204" pitchFamily="34" charset="0"/>
              </a:rPr>
              <a:t>P</a:t>
            </a:r>
            <a:endParaRPr lang="en-US" altLang="zh-CN" dirty="0">
              <a:solidFill>
                <a:srgbClr val="0000FF"/>
              </a:solidFill>
              <a:effectLst>
                <a:outerShdw blurRad="38100" dist="38100" dir="2700000" algn="tl">
                  <a:srgbClr val="C0C0C0"/>
                </a:outerShdw>
              </a:effectLst>
              <a:latin typeface="Calibri" panose="020F0502020204030204" pitchFamily="34" charset="0"/>
              <a:cs typeface="Calibri" panose="020F0502020204030204" pitchFamily="34" charset="0"/>
            </a:endParaRPr>
          </a:p>
          <a:p>
            <a:pPr lvl="1" eaLnBrk="1" hangingPunct="1">
              <a:lnSpc>
                <a:spcPct val="130000"/>
              </a:lnSpc>
              <a:spcBef>
                <a:spcPts val="600"/>
              </a:spcBef>
              <a:spcAft>
                <a:spcPts val="600"/>
              </a:spcAft>
              <a:buClrTx/>
              <a:buFont typeface="Verdana" panose="020B0604030504040204" pitchFamily="34" charset="0"/>
              <a:buAutoNum type="arabicPeriod"/>
              <a:defRPr/>
            </a:pPr>
            <a:r>
              <a:rPr lang="zh-CN" altLang="en-US" b="0" dirty="0">
                <a:solidFill>
                  <a:srgbClr val="0070C0"/>
                </a:solidFill>
                <a:latin typeface="方正兰亭中黑_GBK" panose="02000000000000000000" pitchFamily="2" charset="-122"/>
                <a:ea typeface="方正兰亭中黑_GBK" panose="02000000000000000000" pitchFamily="2" charset="-122"/>
              </a:rPr>
              <a:t>如果</a:t>
            </a:r>
            <a:r>
              <a:rPr lang="en-US" altLang="zh-CN" dirty="0">
                <a:solidFill>
                  <a:srgbClr val="0000FF"/>
                </a:solidFill>
                <a:effectLst>
                  <a:outerShdw blurRad="38100" dist="38100" dir="2700000" algn="tl">
                    <a:srgbClr val="C0C0C0"/>
                  </a:outerShdw>
                </a:effectLst>
                <a:latin typeface="Calibri" panose="020F0502020204030204" pitchFamily="34" charset="0"/>
                <a:cs typeface="Calibri" panose="020F0502020204030204" pitchFamily="34" charset="0"/>
              </a:rPr>
              <a:t>P</a:t>
            </a:r>
            <a:r>
              <a:rPr lang="zh-CN" altLang="en-US" b="0" dirty="0">
                <a:solidFill>
                  <a:srgbClr val="0070C0"/>
                </a:solidFill>
                <a:latin typeface="方正兰亭中黑_GBK" panose="02000000000000000000" pitchFamily="2" charset="-122"/>
                <a:ea typeface="方正兰亭中黑_GBK" panose="02000000000000000000" pitchFamily="2" charset="-122"/>
              </a:rPr>
              <a:t>未被分类</a:t>
            </a:r>
            <a:r>
              <a:rPr lang="en-US" altLang="zh-CN" b="0" dirty="0">
                <a:solidFill>
                  <a:srgbClr val="0070C0"/>
                </a:solidFill>
                <a:latin typeface="方正兰亭中黑_GBK" panose="02000000000000000000" pitchFamily="2" charset="-122"/>
                <a:ea typeface="方正兰亭中黑_GBK" panose="02000000000000000000" pitchFamily="2" charset="-122"/>
              </a:rPr>
              <a:t>,</a:t>
            </a:r>
            <a:r>
              <a:rPr lang="zh-CN" altLang="en-US" b="0" dirty="0">
                <a:solidFill>
                  <a:srgbClr val="0070C0"/>
                </a:solidFill>
                <a:latin typeface="方正兰亭中黑_GBK" panose="02000000000000000000" pitchFamily="2" charset="-122"/>
                <a:ea typeface="方正兰亭中黑_GBK" panose="02000000000000000000" pitchFamily="2" charset="-122"/>
              </a:rPr>
              <a:t>那么检查核心点条件</a:t>
            </a:r>
            <a:endParaRPr lang="en-US" altLang="zh-CN" b="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30000"/>
              </a:lnSpc>
              <a:spcBef>
                <a:spcPts val="600"/>
              </a:spcBef>
              <a:spcAft>
                <a:spcPts val="600"/>
              </a:spcAft>
              <a:buClrTx/>
              <a:buFont typeface="Verdana" panose="020B0604030504040204" pitchFamily="34" charset="0"/>
              <a:buAutoNum type="arabicPeriod"/>
              <a:defRPr/>
            </a:pPr>
            <a:r>
              <a:rPr lang="zh-CN" altLang="en-US" b="0" dirty="0">
                <a:solidFill>
                  <a:srgbClr val="0070C0"/>
                </a:solidFill>
                <a:latin typeface="方正兰亭中黑_GBK" panose="02000000000000000000" pitchFamily="2" charset="-122"/>
                <a:ea typeface="方正兰亭中黑_GBK" panose="02000000000000000000" pitchFamily="2" charset="-122"/>
              </a:rPr>
              <a:t>如果为核心点</a:t>
            </a:r>
            <a:r>
              <a:rPr lang="en-US" altLang="zh-CN" b="0" dirty="0">
                <a:solidFill>
                  <a:srgbClr val="0070C0"/>
                </a:solidFill>
                <a:latin typeface="方正兰亭中黑_GBK" panose="02000000000000000000" pitchFamily="2" charset="-122"/>
                <a:ea typeface="方正兰亭中黑_GBK" panose="02000000000000000000" pitchFamily="2" charset="-122"/>
              </a:rPr>
              <a:t>,</a:t>
            </a:r>
            <a:r>
              <a:rPr lang="zh-CN" altLang="en-US" b="0" dirty="0">
                <a:solidFill>
                  <a:srgbClr val="0070C0"/>
                </a:solidFill>
                <a:latin typeface="方正兰亭中黑_GBK" panose="02000000000000000000" pitchFamily="2" charset="-122"/>
                <a:ea typeface="方正兰亭中黑_GBK" panose="02000000000000000000" pitchFamily="2" charset="-122"/>
              </a:rPr>
              <a:t>找到所有由</a:t>
            </a:r>
            <a:r>
              <a:rPr lang="en-US" altLang="zh-CN" dirty="0">
                <a:solidFill>
                  <a:srgbClr val="0000FF"/>
                </a:solidFill>
                <a:effectLst>
                  <a:outerShdw blurRad="38100" dist="38100" dir="2700000" algn="tl">
                    <a:srgbClr val="C0C0C0"/>
                  </a:outerShdw>
                </a:effectLst>
                <a:latin typeface="Calibri" panose="020F0502020204030204" pitchFamily="34" charset="0"/>
                <a:cs typeface="Calibri" panose="020F0502020204030204" pitchFamily="34" charset="0"/>
              </a:rPr>
              <a:t>P</a:t>
            </a:r>
            <a:r>
              <a:rPr lang="zh-CN" altLang="en-US" b="0" dirty="0">
                <a:solidFill>
                  <a:srgbClr val="0070C0"/>
                </a:solidFill>
                <a:latin typeface="方正兰亭中黑_GBK" panose="02000000000000000000" pitchFamily="2" charset="-122"/>
                <a:ea typeface="方正兰亭中黑_GBK" panose="02000000000000000000" pitchFamily="2" charset="-122"/>
              </a:rPr>
              <a:t>关于</a:t>
            </a:r>
            <a:r>
              <a:rPr lang="el-GR" altLang="zh-CN" dirty="0">
                <a:solidFill>
                  <a:srgbClr val="0000FF"/>
                </a:solidFill>
                <a:effectLst>
                  <a:outerShdw blurRad="38100" dist="38100" dir="2700000" algn="tl">
                    <a:srgbClr val="C0C0C0"/>
                  </a:outerShdw>
                </a:effectLst>
                <a:latin typeface="Calibri" panose="020F0502020204030204" pitchFamily="34" charset="0"/>
                <a:cs typeface="Calibri" panose="020F0502020204030204" pitchFamily="34" charset="0"/>
              </a:rPr>
              <a:t>ε</a:t>
            </a:r>
            <a:r>
              <a:rPr lang="en-US" altLang="zh-CN" dirty="0">
                <a:solidFill>
                  <a:srgbClr val="0000FF"/>
                </a:solidFill>
                <a:effectLst>
                  <a:outerShdw blurRad="38100" dist="38100" dir="2700000" algn="tl">
                    <a:srgbClr val="C0C0C0"/>
                  </a:outerShdw>
                </a:effectLst>
                <a:latin typeface="Calibri" panose="020F0502020204030204" pitchFamily="34" charset="0"/>
                <a:cs typeface="Calibri" panose="020F0502020204030204" pitchFamily="34" charset="0"/>
              </a:rPr>
              <a:t>,</a:t>
            </a:r>
            <a:r>
              <a:rPr lang="en-US" altLang="zh-CN" dirty="0" err="1">
                <a:solidFill>
                  <a:srgbClr val="0000FF"/>
                </a:solidFill>
                <a:effectLst>
                  <a:outerShdw blurRad="38100" dist="38100" dir="2700000" algn="tl">
                    <a:srgbClr val="C0C0C0"/>
                  </a:outerShdw>
                </a:effectLst>
                <a:latin typeface="Calibri" panose="020F0502020204030204" pitchFamily="34" charset="0"/>
                <a:cs typeface="Calibri" panose="020F0502020204030204" pitchFamily="34" charset="0"/>
              </a:rPr>
              <a:t>MinPts</a:t>
            </a:r>
            <a:r>
              <a:rPr lang="zh-CN" altLang="en-US" b="0" dirty="0">
                <a:solidFill>
                  <a:srgbClr val="0070C0"/>
                </a:solidFill>
                <a:latin typeface="方正兰亭中黑_GBK" panose="02000000000000000000" pitchFamily="2" charset="-122"/>
                <a:ea typeface="方正兰亭中黑_GBK" panose="02000000000000000000" pitchFamily="2" charset="-122"/>
              </a:rPr>
              <a:t>密度可达点</a:t>
            </a:r>
            <a:endParaRPr lang="en-US" altLang="zh-CN" b="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30000"/>
              </a:lnSpc>
              <a:spcBef>
                <a:spcPts val="600"/>
              </a:spcBef>
              <a:spcAft>
                <a:spcPts val="600"/>
              </a:spcAft>
              <a:buClrTx/>
              <a:buFont typeface="Verdana" panose="020B0604030504040204" pitchFamily="34" charset="0"/>
              <a:buAutoNum type="arabicPeriod"/>
              <a:defRPr/>
            </a:pPr>
            <a:r>
              <a:rPr lang="zh-CN" altLang="en-US" b="0" dirty="0">
                <a:solidFill>
                  <a:srgbClr val="0070C0"/>
                </a:solidFill>
                <a:latin typeface="方正兰亭中黑_GBK" panose="02000000000000000000" pitchFamily="2" charset="-122"/>
                <a:ea typeface="方正兰亭中黑_GBK" panose="02000000000000000000" pitchFamily="2" charset="-122"/>
              </a:rPr>
              <a:t>用这些点形成一个新簇</a:t>
            </a:r>
            <a:r>
              <a:rPr lang="en-US" altLang="zh-CN" b="0" dirty="0">
                <a:solidFill>
                  <a:srgbClr val="0070C0"/>
                </a:solidFill>
                <a:latin typeface="方正兰亭中黑_GBK" panose="02000000000000000000" pitchFamily="2" charset="-122"/>
                <a:ea typeface="方正兰亭中黑_GBK" panose="02000000000000000000" pitchFamily="2" charset="-122"/>
              </a:rPr>
              <a:t>,</a:t>
            </a:r>
            <a:r>
              <a:rPr lang="zh-CN" altLang="en-US" b="0" dirty="0">
                <a:solidFill>
                  <a:srgbClr val="0070C0"/>
                </a:solidFill>
                <a:latin typeface="方正兰亭中黑_GBK" panose="02000000000000000000" pitchFamily="2" charset="-122"/>
                <a:ea typeface="方正兰亭中黑_GBK" panose="02000000000000000000" pitchFamily="2" charset="-122"/>
              </a:rPr>
              <a:t>给每一个点分配一个</a:t>
            </a:r>
            <a:r>
              <a:rPr lang="zh-CN" altLang="en-US" dirty="0">
                <a:solidFill>
                  <a:srgbClr val="0000FF"/>
                </a:solidFill>
                <a:effectLst>
                  <a:outerShdw blurRad="38100" dist="38100" dir="2700000" algn="tl">
                    <a:srgbClr val="C0C0C0"/>
                  </a:outerShdw>
                </a:effectLst>
                <a:latin typeface="Calibri" panose="020F0502020204030204" pitchFamily="34" charset="0"/>
                <a:cs typeface="Calibri" panose="020F0502020204030204" pitchFamily="34" charset="0"/>
              </a:rPr>
              <a:t>簇</a:t>
            </a:r>
            <a:r>
              <a:rPr lang="en-US" altLang="zh-CN" dirty="0">
                <a:solidFill>
                  <a:srgbClr val="0000FF"/>
                </a:solidFill>
                <a:effectLst>
                  <a:outerShdw blurRad="38100" dist="38100" dir="2700000" algn="tl">
                    <a:srgbClr val="C0C0C0"/>
                  </a:outerShdw>
                </a:effectLst>
                <a:latin typeface="Calibri" panose="020F0502020204030204" pitchFamily="34" charset="0"/>
                <a:cs typeface="Calibri" panose="020F0502020204030204" pitchFamily="34" charset="0"/>
              </a:rPr>
              <a:t>ID</a:t>
            </a:r>
            <a:r>
              <a:rPr lang="en-US" altLang="zh-CN" b="0" dirty="0">
                <a:solidFill>
                  <a:srgbClr val="0070C0"/>
                </a:solidFill>
                <a:latin typeface="方正兰亭中黑_GBK" panose="02000000000000000000" pitchFamily="2" charset="-122"/>
                <a:ea typeface="方正兰亭中黑_GBK" panose="02000000000000000000" pitchFamily="2" charset="-122"/>
              </a:rPr>
              <a:t>(</a:t>
            </a:r>
            <a:r>
              <a:rPr lang="zh-CN" altLang="en-US" b="0" dirty="0">
                <a:solidFill>
                  <a:srgbClr val="0070C0"/>
                </a:solidFill>
                <a:latin typeface="方正兰亭中黑_GBK" panose="02000000000000000000" pitchFamily="2" charset="-122"/>
                <a:ea typeface="方正兰亭中黑_GBK" panose="02000000000000000000" pitchFamily="2" charset="-122"/>
              </a:rPr>
              <a:t>同一个簇中的所有点拥有相同的簇</a:t>
            </a:r>
            <a:r>
              <a:rPr lang="en-US" altLang="zh-CN" b="0" dirty="0">
                <a:solidFill>
                  <a:srgbClr val="0070C0"/>
                </a:solidFill>
                <a:latin typeface="方正兰亭中黑_GBK" panose="02000000000000000000" pitchFamily="2" charset="-122"/>
                <a:ea typeface="方正兰亭中黑_GBK" panose="02000000000000000000" pitchFamily="2" charset="-122"/>
              </a:rPr>
              <a:t>ID)</a:t>
            </a:r>
            <a:endParaRPr lang="en-US" altLang="zh-CN" b="0" dirty="0">
              <a:solidFill>
                <a:srgbClr val="0070C0"/>
              </a:solidFill>
              <a:latin typeface="方正兰亭中黑_GBK" panose="02000000000000000000" pitchFamily="2" charset="-122"/>
              <a:ea typeface="方正兰亭中黑_GBK"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 </a:t>
            </a:r>
            <a:r>
              <a:rPr kumimoji="0" lang="en-US" altLang="zh-CN" sz="3600" b="0"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en-US" altLang="zh-CN" sz="3600" b="0" i="0" u="none" strike="noStrike" kern="0" cap="none" spc="0" normalizeH="0" baseline="0" noProof="0" dirty="0">
                <a:ln>
                  <a:noFill/>
                </a:ln>
                <a:solidFill>
                  <a:srgbClr val="1557AE"/>
                </a:solidFill>
                <a:effectLst/>
                <a:uLnTx/>
                <a:uFillTx/>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179512" y="1002506"/>
            <a:ext cx="8591550" cy="485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0850" indent="-45085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971550" indent="-51435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nSpc>
                <a:spcPct val="130000"/>
              </a:lnSpc>
              <a:spcBef>
                <a:spcPts val="600"/>
              </a:spcBef>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算法描述</a:t>
            </a:r>
            <a:r>
              <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a:t>
            </a:r>
            <a:endPar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30000"/>
              </a:lnSpc>
              <a:spcBef>
                <a:spcPts val="600"/>
              </a:spcBef>
              <a:spcAft>
                <a:spcPts val="600"/>
              </a:spcAft>
              <a:buClrTx/>
              <a:buFont typeface="Verdana" panose="020B0604030504040204" pitchFamily="34" charset="0"/>
              <a:buAutoNum type="arabicPeriod" startAt="5"/>
              <a:defRPr/>
            </a:pPr>
            <a:r>
              <a:rPr lang="zh-CN" altLang="en-US" b="0" dirty="0">
                <a:solidFill>
                  <a:srgbClr val="0070C0"/>
                </a:solidFill>
                <a:latin typeface="方正兰亭中黑_GBK" panose="02000000000000000000" pitchFamily="2" charset="-122"/>
                <a:ea typeface="方正兰亭中黑_GBK" panose="02000000000000000000" pitchFamily="2" charset="-122"/>
              </a:rPr>
              <a:t>如果点</a:t>
            </a:r>
            <a:r>
              <a:rPr lang="en-US" altLang="zh-CN" dirty="0">
                <a:solidFill>
                  <a:srgbClr val="0000FF"/>
                </a:solidFill>
                <a:effectLst>
                  <a:outerShdw blurRad="38100" dist="38100" dir="2700000" algn="tl">
                    <a:srgbClr val="C0C0C0"/>
                  </a:outerShdw>
                </a:effectLst>
                <a:latin typeface="Calibri" panose="020F0502020204030204" pitchFamily="34" charset="0"/>
                <a:cs typeface="Calibri" panose="020F0502020204030204" pitchFamily="34" charset="0"/>
              </a:rPr>
              <a:t>P</a:t>
            </a:r>
            <a:r>
              <a:rPr lang="zh-CN" altLang="en-US" b="0" dirty="0">
                <a:solidFill>
                  <a:srgbClr val="0070C0"/>
                </a:solidFill>
                <a:latin typeface="方正兰亭中黑_GBK" panose="02000000000000000000" pitchFamily="2" charset="-122"/>
                <a:ea typeface="方正兰亭中黑_GBK" panose="02000000000000000000" pitchFamily="2" charset="-122"/>
              </a:rPr>
              <a:t>为非核心点</a:t>
            </a:r>
            <a:r>
              <a:rPr lang="en-US" altLang="zh-CN" b="0" dirty="0">
                <a:solidFill>
                  <a:srgbClr val="0070C0"/>
                </a:solidFill>
                <a:latin typeface="方正兰亭中黑_GBK" panose="02000000000000000000" pitchFamily="2" charset="-122"/>
                <a:ea typeface="方正兰亭中黑_GBK" panose="02000000000000000000" pitchFamily="2" charset="-122"/>
              </a:rPr>
              <a:t>(</a:t>
            </a:r>
            <a:r>
              <a:rPr lang="zh-CN" altLang="en-US" b="0" dirty="0">
                <a:solidFill>
                  <a:srgbClr val="0070C0"/>
                </a:solidFill>
                <a:latin typeface="方正兰亭中黑_GBK" panose="02000000000000000000" pitchFamily="2" charset="-122"/>
                <a:ea typeface="方正兰亭中黑_GBK" panose="02000000000000000000" pitchFamily="2" charset="-122"/>
              </a:rPr>
              <a:t>即没有从</a:t>
            </a:r>
            <a:r>
              <a:rPr lang="en-US" altLang="zh-CN" b="0" dirty="0">
                <a:solidFill>
                  <a:srgbClr val="0070C0"/>
                </a:solidFill>
                <a:latin typeface="Calibri" panose="020F0502020204030204" pitchFamily="34" charset="0"/>
                <a:ea typeface="方正兰亭中黑_GBK" panose="02000000000000000000" pitchFamily="2" charset="-122"/>
                <a:cs typeface="Calibri" panose="020F0502020204030204" pitchFamily="34" charset="0"/>
              </a:rPr>
              <a:t>P</a:t>
            </a:r>
            <a:r>
              <a:rPr lang="zh-CN" altLang="en-US" b="0" dirty="0">
                <a:solidFill>
                  <a:srgbClr val="0070C0"/>
                </a:solidFill>
                <a:latin typeface="方正兰亭中黑_GBK" panose="02000000000000000000" pitchFamily="2" charset="-122"/>
                <a:ea typeface="方正兰亭中黑_GBK" panose="02000000000000000000" pitchFamily="2" charset="-122"/>
              </a:rPr>
              <a:t>密度可达的点</a:t>
            </a:r>
            <a:r>
              <a:rPr lang="en-US" altLang="zh-CN" b="0" dirty="0">
                <a:solidFill>
                  <a:srgbClr val="0070C0"/>
                </a:solidFill>
                <a:latin typeface="方正兰亭中黑_GBK" panose="02000000000000000000" pitchFamily="2" charset="-122"/>
                <a:ea typeface="方正兰亭中黑_GBK" panose="02000000000000000000" pitchFamily="2" charset="-122"/>
              </a:rPr>
              <a:t>),</a:t>
            </a:r>
            <a:r>
              <a:rPr lang="zh-CN" altLang="en-US" b="0" dirty="0">
                <a:solidFill>
                  <a:srgbClr val="0070C0"/>
                </a:solidFill>
                <a:latin typeface="方正兰亭中黑_GBK" panose="02000000000000000000" pitchFamily="2" charset="-122"/>
                <a:ea typeface="方正兰亭中黑_GBK" panose="02000000000000000000" pitchFamily="2" charset="-122"/>
              </a:rPr>
              <a:t>则继续访问数据中的下一个点</a:t>
            </a:r>
            <a:endParaRPr lang="en-US" altLang="zh-CN" b="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30000"/>
              </a:lnSpc>
              <a:spcBef>
                <a:spcPts val="600"/>
              </a:spcBef>
              <a:spcAft>
                <a:spcPts val="600"/>
              </a:spcAft>
              <a:buClrTx/>
              <a:buFont typeface="Verdana" panose="020B0604030504040204" pitchFamily="34" charset="0"/>
              <a:buAutoNum type="arabicPeriod" startAt="5"/>
              <a:defRPr/>
            </a:pPr>
            <a:r>
              <a:rPr lang="zh-CN" altLang="en-US" b="0" dirty="0">
                <a:solidFill>
                  <a:srgbClr val="0070C0"/>
                </a:solidFill>
                <a:latin typeface="方正兰亭中黑_GBK" panose="02000000000000000000" pitchFamily="2" charset="-122"/>
                <a:ea typeface="方正兰亭中黑_GBK" panose="02000000000000000000" pitchFamily="2" charset="-122"/>
              </a:rPr>
              <a:t>继续这个过程，直到处理完所有点为止</a:t>
            </a:r>
            <a:endParaRPr lang="en-US" altLang="zh-CN" b="0" dirty="0">
              <a:solidFill>
                <a:srgbClr val="0070C0"/>
              </a:solidFill>
              <a:latin typeface="方正兰亭中黑_GBK" panose="02000000000000000000" pitchFamily="2" charset="-122"/>
              <a:ea typeface="方正兰亭中黑_GBK" panose="02000000000000000000" pitchFamily="2" charset="-122"/>
            </a:endParaRPr>
          </a:p>
        </p:txBody>
      </p:sp>
      <p:pic>
        <p:nvPicPr>
          <p:cNvPr id="4" name="图片 4" descr="q.jp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027737" y="3634581"/>
            <a:ext cx="2609850"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descr="d.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98725" y="3607594"/>
            <a:ext cx="2457450"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右箭头 6"/>
          <p:cNvSpPr/>
          <p:nvPr/>
        </p:nvSpPr>
        <p:spPr>
          <a:xfrm>
            <a:off x="4080000" y="4402931"/>
            <a:ext cx="792162" cy="457200"/>
          </a:xfrm>
          <a:prstGeom prst="rightArrow">
            <a:avLst>
              <a:gd name="adj1" fmla="val 30000"/>
              <a:gd name="adj2" fmla="val 73333"/>
            </a:avLst>
          </a:prstGeom>
          <a:solidFill>
            <a:schemeClr val="accent2">
              <a:lumMod val="40000"/>
              <a:lumOff val="6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 </a:t>
            </a:r>
            <a:r>
              <a:rPr kumimoji="0" lang="en-US" altLang="zh-CN" sz="3600" b="0"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en-US" altLang="zh-CN" sz="3600" b="0" i="0" u="none" strike="noStrike" kern="0" cap="none" spc="0" normalizeH="0" baseline="0" noProof="0" dirty="0">
                <a:ln>
                  <a:noFill/>
                </a:ln>
                <a:solidFill>
                  <a:srgbClr val="1557AE"/>
                </a:solidFill>
                <a:effectLst/>
                <a:uLnTx/>
                <a:uFillTx/>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276225" y="1002506"/>
            <a:ext cx="8591550" cy="485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0850" indent="-45085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nSpc>
                <a:spcPct val="130000"/>
              </a:lnSpc>
              <a:spcBef>
                <a:spcPts val="600"/>
              </a:spcBef>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例子</a:t>
            </a:r>
            <a:r>
              <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a:t>
            </a:r>
            <a:endPar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30000"/>
              </a:lnSpc>
              <a:spcBef>
                <a:spcPts val="600"/>
              </a:spcBef>
              <a:spcAft>
                <a:spcPts val="600"/>
              </a:spcAft>
              <a:buClrTx/>
              <a:buFontTx/>
              <a:buNone/>
              <a:defRPr/>
            </a:pPr>
            <a:r>
              <a:rPr lang="en-US" altLang="zh-CN" dirty="0">
                <a:latin typeface="Calibri" panose="020F0502020204030204" pitchFamily="34" charset="0"/>
                <a:cs typeface="Calibri" panose="020F0502020204030204" pitchFamily="34" charset="0"/>
              </a:rPr>
              <a:t>If </a:t>
            </a:r>
            <a:r>
              <a:rPr lang="en-US" altLang="zh-CN" dirty="0">
                <a:solidFill>
                  <a:srgbClr val="0000FF"/>
                </a:solidFill>
                <a:latin typeface="Calibri" panose="020F0502020204030204" pitchFamily="34" charset="0"/>
                <a:cs typeface="Calibri" panose="020F0502020204030204" pitchFamily="34" charset="0"/>
              </a:rPr>
              <a:t>Epsilon is 2 </a:t>
            </a:r>
            <a:r>
              <a:rPr lang="en-US" altLang="zh-CN" dirty="0">
                <a:latin typeface="Calibri" panose="020F0502020204030204" pitchFamily="34" charset="0"/>
                <a:cs typeface="Calibri" panose="020F0502020204030204" pitchFamily="34" charset="0"/>
              </a:rPr>
              <a:t>and </a:t>
            </a:r>
            <a:r>
              <a:rPr lang="en-US" altLang="zh-CN" dirty="0" err="1">
                <a:solidFill>
                  <a:srgbClr val="0000FF"/>
                </a:solidFill>
                <a:latin typeface="Calibri" panose="020F0502020204030204" pitchFamily="34" charset="0"/>
                <a:cs typeface="Calibri" panose="020F0502020204030204" pitchFamily="34" charset="0"/>
              </a:rPr>
              <a:t>minpoint</a:t>
            </a:r>
            <a:r>
              <a:rPr lang="en-US" altLang="zh-CN" dirty="0">
                <a:solidFill>
                  <a:srgbClr val="0000FF"/>
                </a:solidFill>
                <a:latin typeface="Calibri" panose="020F0502020204030204" pitchFamily="34" charset="0"/>
                <a:cs typeface="Calibri" panose="020F0502020204030204" pitchFamily="34" charset="0"/>
              </a:rPr>
              <a:t> is 2</a:t>
            </a:r>
            <a:r>
              <a:rPr lang="en-US" altLang="zh-CN" dirty="0">
                <a:latin typeface="Calibri" panose="020F0502020204030204" pitchFamily="34" charset="0"/>
                <a:cs typeface="Calibri" panose="020F0502020204030204" pitchFamily="34" charset="0"/>
              </a:rPr>
              <a:t>, what are the clusters that </a:t>
            </a:r>
            <a:r>
              <a:rPr lang="en-US" altLang="zh-CN" dirty="0" err="1">
                <a:latin typeface="Calibri" panose="020F0502020204030204" pitchFamily="34" charset="0"/>
                <a:cs typeface="Calibri" panose="020F0502020204030204" pitchFamily="34" charset="0"/>
              </a:rPr>
              <a:t>DBScan</a:t>
            </a:r>
            <a:r>
              <a:rPr lang="en-US" altLang="zh-CN" dirty="0">
                <a:latin typeface="Calibri" panose="020F0502020204030204" pitchFamily="34" charset="0"/>
                <a:cs typeface="Calibri" panose="020F0502020204030204" pitchFamily="34" charset="0"/>
              </a:rPr>
              <a:t> would discover with the following 8 </a:t>
            </a:r>
            <a:endParaRPr lang="en-US" altLang="zh-CN" dirty="0">
              <a:latin typeface="Calibri" panose="020F0502020204030204" pitchFamily="34" charset="0"/>
              <a:cs typeface="Calibri" panose="020F0502020204030204" pitchFamily="34" charset="0"/>
            </a:endParaRPr>
          </a:p>
          <a:p>
            <a:pPr lvl="1" eaLnBrk="1" hangingPunct="1">
              <a:lnSpc>
                <a:spcPct val="130000"/>
              </a:lnSpc>
              <a:spcBef>
                <a:spcPts val="600"/>
              </a:spcBef>
              <a:spcAft>
                <a:spcPts val="600"/>
              </a:spcAft>
              <a:buClrTx/>
              <a:buFontTx/>
              <a:buNone/>
              <a:defRPr/>
            </a:pPr>
            <a:r>
              <a:rPr lang="en-US" altLang="zh-CN" dirty="0">
                <a:latin typeface="Calibri" panose="020F0502020204030204" pitchFamily="34" charset="0"/>
                <a:cs typeface="Calibri" panose="020F0502020204030204" pitchFamily="34" charset="0"/>
              </a:rPr>
              <a:t>examples: </a:t>
            </a:r>
            <a:r>
              <a:rPr lang="en-US" altLang="zh-CN" dirty="0">
                <a:solidFill>
                  <a:srgbClr val="0000FF"/>
                </a:solidFill>
                <a:latin typeface="Calibri" panose="020F0502020204030204" pitchFamily="34" charset="0"/>
                <a:cs typeface="Calibri" panose="020F0502020204030204" pitchFamily="34" charset="0"/>
              </a:rPr>
              <a:t>A1=(2,10), A2=(2,5), A3=(8,4), A4=(5,8), A5=(7,5), A6=(6,4), A7=(1,2), A8=(4,9)</a:t>
            </a:r>
            <a:r>
              <a:rPr lang="en-US" altLang="zh-CN" dirty="0">
                <a:latin typeface="Calibri" panose="020F0502020204030204" pitchFamily="34" charset="0"/>
                <a:cs typeface="Calibri" panose="020F0502020204030204" pitchFamily="34" charset="0"/>
              </a:rPr>
              <a:t>. </a:t>
            </a:r>
            <a:endParaRPr lang="en-US" altLang="zh-CN" dirty="0">
              <a:latin typeface="Calibri" panose="020F0502020204030204" pitchFamily="34" charset="0"/>
              <a:cs typeface="Calibri" panose="020F0502020204030204" pitchFamily="34" charset="0"/>
            </a:endParaRPr>
          </a:p>
          <a:p>
            <a:pPr lvl="1" eaLnBrk="1" hangingPunct="1">
              <a:lnSpc>
                <a:spcPct val="130000"/>
              </a:lnSpc>
              <a:spcBef>
                <a:spcPts val="600"/>
              </a:spcBef>
              <a:spcAft>
                <a:spcPts val="600"/>
              </a:spcAft>
              <a:buClrTx/>
              <a:buFontTx/>
              <a:buNone/>
              <a:defRPr/>
            </a:pPr>
            <a:r>
              <a:rPr lang="en-US" altLang="zh-CN" dirty="0">
                <a:latin typeface="Calibri" panose="020F0502020204030204" pitchFamily="34" charset="0"/>
                <a:cs typeface="Calibri" panose="020F0502020204030204" pitchFamily="34" charset="0"/>
              </a:rPr>
              <a:t>discovered clusters. What if Epsilon is increased to </a:t>
            </a:r>
            <a:r>
              <a:rPr lang="en-US" altLang="zh-CN" dirty="0">
                <a:solidFill>
                  <a:srgbClr val="0000FF"/>
                </a:solidFill>
                <a:latin typeface="Calibri" panose="020F0502020204030204" pitchFamily="34" charset="0"/>
                <a:cs typeface="Calibri" panose="020F0502020204030204" pitchFamily="34" charset="0"/>
              </a:rPr>
              <a:t>square root10</a:t>
            </a:r>
            <a:r>
              <a:rPr lang="en-US" altLang="zh-CN" dirty="0">
                <a:latin typeface="Calibri" panose="020F0502020204030204" pitchFamily="34" charset="0"/>
                <a:cs typeface="Calibri" panose="020F0502020204030204" pitchFamily="34" charset="0"/>
              </a:rPr>
              <a:t>?</a:t>
            </a:r>
            <a:endParaRPr lang="en-US" altLang="zh-CN" dirty="0">
              <a:latin typeface="Calibri" panose="020F0502020204030204" pitchFamily="34" charset="0"/>
              <a:cs typeface="Calibri" panose="020F0502020204030204" pitchFamily="34" charset="0"/>
            </a:endParaRPr>
          </a:p>
          <a:p>
            <a:pPr lvl="1" eaLnBrk="1" hangingPunct="1">
              <a:lnSpc>
                <a:spcPct val="130000"/>
              </a:lnSpc>
              <a:spcBef>
                <a:spcPts val="600"/>
              </a:spcBef>
              <a:spcAft>
                <a:spcPts val="600"/>
              </a:spcAft>
              <a:buClrTx/>
              <a:buFont typeface="Verdana" panose="020B0604030504040204" pitchFamily="34" charset="0"/>
              <a:buAutoNum type="arabicPeriod"/>
              <a:defRPr/>
            </a:pPr>
            <a:endParaRPr lang="en-US" altLang="zh-CN" dirty="0">
              <a:solidFill>
                <a:srgbClr val="0000FF"/>
              </a:solidFill>
              <a:effectLst>
                <a:outerShdw blurRad="38100" dist="38100" dir="2700000" algn="tl">
                  <a:srgbClr val="C0C0C0"/>
                </a:outerShdw>
              </a:effectLst>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 </a:t>
            </a:r>
            <a:r>
              <a:rPr kumimoji="0" lang="en-US" altLang="zh-CN" sz="3600" b="0"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en-US" altLang="zh-CN" sz="3600" b="0" i="0" u="none" strike="noStrike" kern="0" cap="none" spc="0" normalizeH="0" baseline="0" noProof="0" dirty="0">
                <a:ln>
                  <a:noFill/>
                </a:ln>
                <a:solidFill>
                  <a:srgbClr val="1557AE"/>
                </a:solidFill>
                <a:effectLst/>
                <a:uLnTx/>
                <a:uFillTx/>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a:xfrm>
            <a:off x="467544" y="1052736"/>
            <a:ext cx="8001000" cy="4267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spcBef>
                <a:spcPts val="600"/>
              </a:spcBef>
              <a:spcAft>
                <a:spcPts val="600"/>
              </a:spcAft>
              <a:buFont typeface="Wingdings" panose="05000000000000000000" pitchFamily="2" charset="2"/>
              <a:buChar char="n"/>
              <a:defRPr/>
            </a:pPr>
            <a:r>
              <a:rPr lang="en-US" altLang="zh-CN" sz="2800" b="0" kern="0">
                <a:latin typeface="Calibri" panose="020F0502020204030204" pitchFamily="34" charset="0"/>
                <a:ea typeface="宋体" panose="02010600030101010101" pitchFamily="2" charset="-122"/>
                <a:cs typeface="Calibri" panose="020F0502020204030204" pitchFamily="34" charset="0"/>
              </a:rPr>
              <a:t>What is the Epsilon neighborhood of each point? </a:t>
            </a:r>
            <a:endParaRPr lang="en-US" altLang="zh-CN" sz="2800" b="0" kern="0">
              <a:latin typeface="Calibri" panose="020F0502020204030204" pitchFamily="34" charset="0"/>
              <a:ea typeface="宋体" panose="02010600030101010101" pitchFamily="2" charset="-122"/>
              <a:cs typeface="Calibri" panose="020F0502020204030204" pitchFamily="34" charset="0"/>
            </a:endParaRPr>
          </a:p>
          <a:p>
            <a:pPr>
              <a:spcBef>
                <a:spcPts val="600"/>
              </a:spcBef>
              <a:spcAft>
                <a:spcPts val="600"/>
              </a:spcAft>
              <a:buFont typeface="Wingdings" panose="05000000000000000000" pitchFamily="2" charset="2"/>
              <a:buChar char="n"/>
              <a:defRPr/>
            </a:pPr>
            <a:r>
              <a:rPr lang="en-US" altLang="zh-CN" sz="2800" b="0" kern="0">
                <a:latin typeface="Calibri" panose="020F0502020204030204" pitchFamily="34" charset="0"/>
                <a:ea typeface="宋体" panose="02010600030101010101" pitchFamily="2" charset="-122"/>
                <a:cs typeface="Calibri" panose="020F0502020204030204" pitchFamily="34" charset="0"/>
              </a:rPr>
              <a:t>N2(A1)={}; N2(A2)={}; N2(A3)={A5, A6}; N2(A4)={A8}; N2(A5)={A3, A6}; </a:t>
            </a:r>
            <a:endParaRPr lang="en-US" altLang="zh-CN" sz="2800" b="0" kern="0">
              <a:latin typeface="Calibri" panose="020F0502020204030204" pitchFamily="34" charset="0"/>
              <a:ea typeface="宋体" panose="02010600030101010101" pitchFamily="2" charset="-122"/>
              <a:cs typeface="Calibri" panose="020F0502020204030204" pitchFamily="34" charset="0"/>
            </a:endParaRPr>
          </a:p>
          <a:p>
            <a:pPr marL="0" indent="0">
              <a:spcBef>
                <a:spcPts val="600"/>
              </a:spcBef>
              <a:spcAft>
                <a:spcPts val="600"/>
              </a:spcAft>
              <a:buFont typeface="Wingdings" panose="05000000000000000000" pitchFamily="2" charset="2"/>
              <a:buNone/>
              <a:defRPr/>
            </a:pPr>
            <a:r>
              <a:rPr lang="en-US" altLang="zh-CN" sz="2800" b="0" kern="0">
                <a:latin typeface="Calibri" panose="020F0502020204030204" pitchFamily="34" charset="0"/>
                <a:ea typeface="宋体" panose="02010600030101010101" pitchFamily="2" charset="-122"/>
                <a:cs typeface="Calibri" panose="020F0502020204030204" pitchFamily="34" charset="0"/>
              </a:rPr>
              <a:t>     N2(A6)={A3, A5}; N2(A7)={}; N2(A8)={A4} </a:t>
            </a:r>
            <a:endParaRPr lang="en-US" altLang="zh-CN" sz="2800" b="0" kern="0" dirty="0">
              <a:latin typeface="Calibri" panose="020F0502020204030204" pitchFamily="34" charset="0"/>
              <a:ea typeface="宋体" panose="02010600030101010101" pitchFamily="2" charset="-122"/>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 </a:t>
            </a:r>
            <a:r>
              <a:rPr kumimoji="0" lang="en-US" altLang="zh-CN" sz="3600" b="0"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en-US" altLang="zh-CN" sz="3600" b="0" i="0" u="none" strike="noStrike" kern="0" cap="none" spc="0" normalizeH="0" baseline="0" noProof="0" dirty="0">
                <a:ln>
                  <a:noFill/>
                </a:ln>
                <a:solidFill>
                  <a:srgbClr val="1557AE"/>
                </a:solidFill>
                <a:effectLst/>
                <a:uLnTx/>
                <a:uFillTx/>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a:xfrm>
            <a:off x="395536" y="1052736"/>
            <a:ext cx="8001000" cy="4267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spcBef>
                <a:spcPts val="600"/>
              </a:spcBef>
              <a:spcAft>
                <a:spcPts val="600"/>
              </a:spcAft>
              <a:buFont typeface="Wingdings" panose="05000000000000000000" pitchFamily="2" charset="2"/>
              <a:buChar char="n"/>
            </a:pPr>
            <a:r>
              <a:rPr lang="en-US" altLang="zh-CN" sz="2800" b="0" kern="0">
                <a:latin typeface="Calibri" panose="020F0502020204030204" pitchFamily="34" charset="0"/>
                <a:ea typeface="宋体" panose="02010600030101010101" pitchFamily="2" charset="-122"/>
                <a:cs typeface="Calibri" panose="020F0502020204030204" pitchFamily="34" charset="0"/>
              </a:rPr>
              <a:t>So A1, A2, and A7 are outliers, while we have two clusters C1={A4, A8} and C2={A3, A5, A6} </a:t>
            </a:r>
            <a:endParaRPr lang="en-US" altLang="zh-CN" sz="2800" b="0" kern="0">
              <a:latin typeface="Calibri" panose="020F0502020204030204" pitchFamily="34" charset="0"/>
              <a:ea typeface="宋体" panose="02010600030101010101" pitchFamily="2" charset="-122"/>
              <a:cs typeface="Calibri" panose="020F0502020204030204" pitchFamily="34" charset="0"/>
            </a:endParaRPr>
          </a:p>
        </p:txBody>
      </p:sp>
      <p:pic>
        <p:nvPicPr>
          <p:cNvPr id="4" name="Picture 4" descr="Captur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98999" y="2060799"/>
            <a:ext cx="4060825" cy="405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 </a:t>
            </a:r>
            <a:r>
              <a:rPr kumimoji="0" lang="en-US" altLang="zh-CN" sz="3600" b="0"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en-US" altLang="zh-CN" sz="3600" b="0" i="0" u="none" strike="noStrike" kern="0" cap="none" spc="0" normalizeH="0" baseline="0" noProof="0" dirty="0">
                <a:ln>
                  <a:noFill/>
                </a:ln>
                <a:solidFill>
                  <a:srgbClr val="1557AE"/>
                </a:solidFill>
                <a:effectLst/>
                <a:uLnTx/>
                <a:uFillTx/>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a:xfrm>
            <a:off x="571500" y="1124744"/>
            <a:ext cx="8001000" cy="4267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a:spcBef>
                <a:spcPts val="600"/>
              </a:spcBef>
              <a:spcAft>
                <a:spcPts val="600"/>
              </a:spcAft>
              <a:buFont typeface="Wingdings" panose="05000000000000000000" pitchFamily="2" charset="2"/>
              <a:buChar char="n"/>
            </a:pPr>
            <a:r>
              <a:rPr lang="en-US" altLang="zh-CN" sz="2800" b="0" kern="0">
                <a:latin typeface="Calibri" panose="020F0502020204030204" pitchFamily="34" charset="0"/>
                <a:ea typeface="宋体" panose="02010600030101010101" pitchFamily="2" charset="-122"/>
                <a:cs typeface="Calibri" panose="020F0502020204030204" pitchFamily="34" charset="0"/>
              </a:rPr>
              <a:t>If Epsilon is  </a:t>
            </a:r>
            <a:r>
              <a:rPr lang="en-US" altLang="zh-CN" sz="2800" b="0" kern="0">
                <a:solidFill>
                  <a:srgbClr val="0000FF"/>
                </a:solidFill>
                <a:latin typeface="Calibri" panose="020F0502020204030204" pitchFamily="34" charset="0"/>
                <a:ea typeface="宋体" panose="02010600030101010101" pitchFamily="2" charset="-122"/>
                <a:cs typeface="Calibri" panose="020F0502020204030204" pitchFamily="34" charset="0"/>
              </a:rPr>
              <a:t>square root 10 </a:t>
            </a:r>
            <a:r>
              <a:rPr lang="en-US" altLang="zh-CN" sz="2800" b="0" kern="0">
                <a:latin typeface="Calibri" panose="020F0502020204030204" pitchFamily="34" charset="0"/>
                <a:ea typeface="宋体" panose="02010600030101010101" pitchFamily="2" charset="-122"/>
                <a:cs typeface="Calibri" panose="020F0502020204030204" pitchFamily="34" charset="0"/>
              </a:rPr>
              <a:t>then the neighborhood of some points will increase: </a:t>
            </a:r>
            <a:endParaRPr lang="en-US" altLang="zh-CN" sz="2800" b="0" kern="0">
              <a:latin typeface="Calibri" panose="020F0502020204030204" pitchFamily="34" charset="0"/>
              <a:ea typeface="宋体" panose="02010600030101010101" pitchFamily="2" charset="-122"/>
              <a:cs typeface="Calibri" panose="020F0502020204030204" pitchFamily="34" charset="0"/>
            </a:endParaRPr>
          </a:p>
        </p:txBody>
      </p:sp>
      <p:sp>
        <p:nvSpPr>
          <p:cNvPr id="4" name="矩形 1"/>
          <p:cNvSpPr>
            <a:spLocks noChangeArrowheads="1"/>
          </p:cNvSpPr>
          <p:nvPr/>
        </p:nvSpPr>
        <p:spPr bwMode="auto">
          <a:xfrm>
            <a:off x="715963" y="2204244"/>
            <a:ext cx="8208962"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b="1">
                <a:solidFill>
                  <a:schemeClr val="tx1"/>
                </a:solidFill>
                <a:latin typeface="Verdana" panose="020B0604030504040204" pitchFamily="34" charset="0"/>
                <a:ea typeface="宋体" panose="02010600030101010101" pitchFamily="2" charset="-122"/>
              </a:defRPr>
            </a:lvl1pPr>
            <a:lvl2pPr>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lvl="1" eaLnBrk="1" hangingPunct="1">
              <a:lnSpc>
                <a:spcPct val="130000"/>
              </a:lnSpc>
              <a:spcBef>
                <a:spcPts val="600"/>
              </a:spcBef>
              <a:spcAft>
                <a:spcPts val="600"/>
              </a:spcAft>
            </a:pPr>
            <a:r>
              <a:rPr lang="en-US" altLang="zh-CN" sz="2800">
                <a:solidFill>
                  <a:srgbClr val="000000"/>
                </a:solidFill>
                <a:latin typeface="Calibri" panose="020F0502020204030204" pitchFamily="34" charset="0"/>
                <a:cs typeface="Calibri" panose="020F0502020204030204" pitchFamily="34" charset="0"/>
              </a:rPr>
              <a:t>examples: </a:t>
            </a:r>
            <a:r>
              <a:rPr lang="en-US" altLang="zh-CN" sz="2800">
                <a:solidFill>
                  <a:srgbClr val="0000FF"/>
                </a:solidFill>
                <a:latin typeface="Calibri" panose="020F0502020204030204" pitchFamily="34" charset="0"/>
                <a:cs typeface="Calibri" panose="020F0502020204030204" pitchFamily="34" charset="0"/>
              </a:rPr>
              <a:t>A1=(2,10), A2=(2,5), A3=(8,4), A4=(5,8), A5=(7,5), A6=(6,4), A7=(1,2), A8=(4,9)</a:t>
            </a:r>
            <a:r>
              <a:rPr lang="en-US" altLang="zh-CN" sz="2800">
                <a:solidFill>
                  <a:srgbClr val="000000"/>
                </a:solidFill>
                <a:latin typeface="Calibri" panose="020F0502020204030204" pitchFamily="34" charset="0"/>
                <a:cs typeface="Calibri" panose="020F0502020204030204" pitchFamily="34" charset="0"/>
              </a:rPr>
              <a:t>. </a:t>
            </a:r>
            <a:endParaRPr lang="en-US" altLang="zh-CN" sz="2800">
              <a:solidFill>
                <a:srgbClr val="000000"/>
              </a:solidFill>
              <a:latin typeface="Calibri" panose="020F0502020204030204" pitchFamily="34" charset="0"/>
              <a:cs typeface="Calibri" panose="020F0502020204030204" pitchFamily="34" charset="0"/>
            </a:endParaRPr>
          </a:p>
        </p:txBody>
      </p:sp>
      <p:sp>
        <p:nvSpPr>
          <p:cNvPr id="5" name="文本框 4"/>
          <p:cNvSpPr txBox="1">
            <a:spLocks noChangeArrowheads="1"/>
          </p:cNvSpPr>
          <p:nvPr/>
        </p:nvSpPr>
        <p:spPr bwMode="auto">
          <a:xfrm>
            <a:off x="2484438" y="3645694"/>
            <a:ext cx="4175125"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a:r>
              <a:rPr lang="zh-CN" altLang="en-US" sz="6000">
                <a:solidFill>
                  <a:srgbClr val="FF0000"/>
                </a:solidFill>
              </a:rPr>
              <a:t>？</a:t>
            </a:r>
            <a:endParaRPr lang="zh-CN" altLang="en-US" sz="600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a:t>
            </a:r>
            <a:r>
              <a:rPr kumimoji="0" lang="en-US" altLang="zh-CN" sz="3600" b="0"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en-US" altLang="zh-CN" sz="3600" b="0" i="0" u="none" strike="noStrike" kern="0" cap="none" spc="0" normalizeH="0" baseline="0" noProof="0" dirty="0">
                <a:ln>
                  <a:noFill/>
                </a:ln>
                <a:solidFill>
                  <a:srgbClr val="1557AE"/>
                </a:solidFill>
                <a:effectLst/>
                <a:uLnTx/>
                <a:uFillTx/>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3" name="Picture 4" descr="Captur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16956" y="1340768"/>
            <a:ext cx="4510087" cy="471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a:t>
            </a:r>
            <a:r>
              <a:rPr kumimoji="0" lang="en-US" altLang="zh-CN" sz="3600" b="0"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en-US" altLang="zh-CN" sz="3600" b="0" i="0" u="none" strike="noStrike" kern="0" cap="none" spc="0" normalizeH="0" baseline="0" noProof="0" dirty="0">
                <a:ln>
                  <a:noFill/>
                </a:ln>
                <a:solidFill>
                  <a:srgbClr val="1557AE"/>
                </a:solidFill>
                <a:effectLst/>
                <a:uLnTx/>
                <a:uFillTx/>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276225" y="1002506"/>
            <a:ext cx="8591550" cy="4852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0850" indent="-45085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908050" indent="-43688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a:lnSpc>
                <a:spcPct val="130000"/>
              </a:lnSpc>
              <a:spcBef>
                <a:spcPts val="600"/>
              </a:spcBef>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优点</a:t>
            </a:r>
            <a:r>
              <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a:t>
            </a:r>
            <a:endPar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30000"/>
              </a:lnSpc>
              <a:spcBef>
                <a:spcPts val="600"/>
              </a:spcBef>
              <a:spcAft>
                <a:spcPts val="600"/>
              </a:spcAft>
              <a:buClr>
                <a:schemeClr val="tx1"/>
              </a:buClr>
              <a:buFont typeface="Wingdings" panose="05000000000000000000" pitchFamily="2" charset="2"/>
              <a:buChar char="ü"/>
              <a:defRPr/>
            </a:pPr>
            <a:r>
              <a:rPr lang="zh-CN" altLang="en-US" sz="2400" dirty="0">
                <a:solidFill>
                  <a:srgbClr val="0070C0"/>
                </a:solidFill>
                <a:latin typeface="方正兰亭中黑_GBK" panose="02000000000000000000" pitchFamily="2" charset="-122"/>
                <a:ea typeface="方正兰亭中黑_GBK" panose="02000000000000000000" pitchFamily="2" charset="-122"/>
              </a:rPr>
              <a:t>相对抗噪声，并且能够处理任意形状和大小的簇，可以自动确定形成的簇数目</a:t>
            </a:r>
            <a:endParaRPr lang="en-US" altLang="zh-CN" sz="2400" dirty="0">
              <a:solidFill>
                <a:srgbClr val="0070C0"/>
              </a:solidFill>
              <a:latin typeface="方正兰亭中黑_GBK" panose="02000000000000000000" pitchFamily="2" charset="-122"/>
              <a:ea typeface="方正兰亭中黑_GBK" panose="02000000000000000000" pitchFamily="2" charset="-122"/>
            </a:endParaRPr>
          </a:p>
          <a:p>
            <a:pPr>
              <a:lnSpc>
                <a:spcPct val="130000"/>
              </a:lnSpc>
              <a:spcBef>
                <a:spcPts val="600"/>
              </a:spcBef>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缺点</a:t>
            </a:r>
            <a:r>
              <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a:t>
            </a:r>
            <a:endPar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a:p>
            <a:pPr lvl="1" eaLnBrk="1" hangingPunct="1">
              <a:lnSpc>
                <a:spcPct val="130000"/>
              </a:lnSpc>
              <a:spcBef>
                <a:spcPts val="600"/>
              </a:spcBef>
              <a:spcAft>
                <a:spcPts val="600"/>
              </a:spcAft>
              <a:buClr>
                <a:schemeClr val="tx1"/>
              </a:buClr>
              <a:buFont typeface="Wingdings" panose="05000000000000000000" pitchFamily="2" charset="2"/>
              <a:buChar char="ü"/>
              <a:defRPr/>
            </a:pPr>
            <a:r>
              <a:rPr lang="zh-CN" altLang="en-US" sz="2400" dirty="0">
                <a:latin typeface="Calibri" panose="020F0502020204030204" pitchFamily="34" charset="0"/>
              </a:rPr>
              <a:t>	</a:t>
            </a:r>
            <a:r>
              <a:rPr lang="zh-CN" altLang="en-US" sz="2400" dirty="0">
                <a:solidFill>
                  <a:srgbClr val="0070C0"/>
                </a:solidFill>
                <a:latin typeface="方正兰亭中黑_GBK" panose="02000000000000000000" pitchFamily="2" charset="-122"/>
                <a:ea typeface="方正兰亭中黑_GBK" panose="02000000000000000000" pitchFamily="2" charset="-122"/>
              </a:rPr>
              <a:t>对于簇密度变化较大或高维数据时</a:t>
            </a:r>
            <a:r>
              <a:rPr lang="en-US" altLang="zh-CN" sz="2400" dirty="0">
                <a:solidFill>
                  <a:srgbClr val="0070C0"/>
                </a:solidFill>
                <a:latin typeface="方正兰亭中黑_GBK" panose="02000000000000000000" pitchFamily="2" charset="-122"/>
                <a:ea typeface="方正兰亭中黑_GBK" panose="02000000000000000000" pitchFamily="2" charset="-122"/>
              </a:rPr>
              <a:t>,</a:t>
            </a:r>
            <a:r>
              <a:rPr lang="zh-CN" altLang="en-US" sz="2400" dirty="0">
                <a:solidFill>
                  <a:srgbClr val="0070C0"/>
                </a:solidFill>
                <a:latin typeface="方正兰亭中黑_GBK" panose="02000000000000000000" pitchFamily="2" charset="-122"/>
                <a:ea typeface="方正兰亭中黑_GBK" panose="02000000000000000000" pitchFamily="2" charset="-122"/>
              </a:rPr>
              <a:t>密度定义会比较困难</a:t>
            </a:r>
            <a:endParaRPr lang="en-US" altLang="zh-CN" sz="240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30000"/>
              </a:lnSpc>
              <a:spcBef>
                <a:spcPts val="600"/>
              </a:spcBef>
              <a:spcAft>
                <a:spcPts val="600"/>
              </a:spcAft>
              <a:buClr>
                <a:schemeClr val="tx1"/>
              </a:buClr>
              <a:buFont typeface="Wingdings" panose="05000000000000000000" pitchFamily="2" charset="2"/>
              <a:buChar char="ü"/>
              <a:defRPr/>
            </a:pPr>
            <a:r>
              <a:rPr lang="en-US" altLang="zh-CN" sz="2400" dirty="0">
                <a:latin typeface="Calibri" panose="020F0502020204030204" pitchFamily="34" charset="0"/>
              </a:rPr>
              <a:t>	</a:t>
            </a:r>
            <a:r>
              <a:rPr lang="zh-CN" altLang="en-US" sz="2400" dirty="0">
                <a:solidFill>
                  <a:srgbClr val="0070C0"/>
                </a:solidFill>
                <a:latin typeface="方正兰亭中黑_GBK" panose="02000000000000000000" pitchFamily="2" charset="-122"/>
                <a:ea typeface="方正兰亭中黑_GBK" panose="02000000000000000000" pitchFamily="2" charset="-122"/>
              </a:rPr>
              <a:t>近邻计算需要计算所有点对的邻近度</a:t>
            </a:r>
            <a:r>
              <a:rPr lang="en-US" altLang="zh-CN" sz="2400" dirty="0">
                <a:solidFill>
                  <a:srgbClr val="0070C0"/>
                </a:solidFill>
                <a:latin typeface="方正兰亭中黑_GBK" panose="02000000000000000000" pitchFamily="2" charset="-122"/>
                <a:ea typeface="方正兰亭中黑_GBK" panose="02000000000000000000" pitchFamily="2" charset="-122"/>
              </a:rPr>
              <a:t>,</a:t>
            </a:r>
            <a:r>
              <a:rPr lang="zh-CN" altLang="en-US" sz="2400" dirty="0">
                <a:solidFill>
                  <a:srgbClr val="0070C0"/>
                </a:solidFill>
                <a:latin typeface="方正兰亭中黑_GBK" panose="02000000000000000000" pitchFamily="2" charset="-122"/>
                <a:ea typeface="方正兰亭中黑_GBK" panose="02000000000000000000" pitchFamily="2" charset="-122"/>
              </a:rPr>
              <a:t>因此开销较大（采用空间索引, 复杂度为</a:t>
            </a:r>
            <a:r>
              <a:rPr lang="en-US" altLang="zh-CN" sz="2400" dirty="0">
                <a:solidFill>
                  <a:srgbClr val="0000FF"/>
                </a:solidFill>
                <a:effectLst>
                  <a:outerShdw blurRad="38100" dist="38100" dir="2700000" algn="tl">
                    <a:srgbClr val="C0C0C0"/>
                  </a:outerShdw>
                </a:effectLst>
                <a:latin typeface="Calibri" panose="020F0502020204030204" pitchFamily="34" charset="0"/>
              </a:rPr>
              <a:t>O(</a:t>
            </a:r>
            <a:r>
              <a:rPr lang="en-US" altLang="zh-CN" sz="2400" dirty="0" err="1">
                <a:solidFill>
                  <a:srgbClr val="0000FF"/>
                </a:solidFill>
                <a:effectLst>
                  <a:outerShdw blurRad="38100" dist="38100" dir="2700000" algn="tl">
                    <a:srgbClr val="C0C0C0"/>
                  </a:outerShdw>
                </a:effectLst>
                <a:latin typeface="Calibri" panose="020F0502020204030204" pitchFamily="34" charset="0"/>
              </a:rPr>
              <a:t>nlog</a:t>
            </a:r>
            <a:r>
              <a:rPr lang="en-US" altLang="zh-CN" sz="2400" dirty="0">
                <a:solidFill>
                  <a:srgbClr val="0000FF"/>
                </a:solidFill>
                <a:effectLst>
                  <a:outerShdw blurRad="38100" dist="38100" dir="2700000" algn="tl">
                    <a:srgbClr val="C0C0C0"/>
                  </a:outerShdw>
                </a:effectLst>
                <a:latin typeface="Calibri" panose="020F0502020204030204" pitchFamily="34" charset="0"/>
              </a:rPr>
              <a:t> n)</a:t>
            </a:r>
            <a:r>
              <a:rPr lang="en-US" altLang="zh-CN" sz="2400" dirty="0">
                <a:solidFill>
                  <a:srgbClr val="0070C0"/>
                </a:solidFill>
                <a:latin typeface="方正兰亭中黑_GBK" panose="02000000000000000000" pitchFamily="2" charset="-122"/>
                <a:ea typeface="方正兰亭中黑_GBK" panose="02000000000000000000" pitchFamily="2" charset="-122"/>
              </a:rPr>
              <a:t>,</a:t>
            </a:r>
            <a:r>
              <a:rPr lang="en-US" altLang="zh-CN" sz="2400" dirty="0">
                <a:latin typeface="Calibri" panose="020F0502020204030204" pitchFamily="34" charset="0"/>
              </a:rPr>
              <a:t> </a:t>
            </a:r>
            <a:r>
              <a:rPr lang="zh-CN" altLang="en-US" sz="2400" dirty="0">
                <a:solidFill>
                  <a:srgbClr val="0070C0"/>
                </a:solidFill>
                <a:latin typeface="方正兰亭中黑_GBK" panose="02000000000000000000" pitchFamily="2" charset="-122"/>
                <a:ea typeface="方正兰亭中黑_GBK" panose="02000000000000000000" pitchFamily="2" charset="-122"/>
              </a:rPr>
              <a:t>否则为</a:t>
            </a:r>
            <a:r>
              <a:rPr lang="en-US" altLang="zh-CN" sz="2400" dirty="0">
                <a:solidFill>
                  <a:srgbClr val="0000FF"/>
                </a:solidFill>
                <a:effectLst>
                  <a:outerShdw blurRad="38100" dist="38100" dir="2700000" algn="tl">
                    <a:srgbClr val="C0C0C0"/>
                  </a:outerShdw>
                </a:effectLst>
                <a:latin typeface="Calibri" panose="020F0502020204030204" pitchFamily="34" charset="0"/>
              </a:rPr>
              <a:t>O(n</a:t>
            </a:r>
            <a:r>
              <a:rPr lang="en-US" altLang="zh-CN" sz="2400" baseline="30000" dirty="0">
                <a:solidFill>
                  <a:srgbClr val="0000FF"/>
                </a:solidFill>
                <a:effectLst>
                  <a:outerShdw blurRad="38100" dist="38100" dir="2700000" algn="tl">
                    <a:srgbClr val="C0C0C0"/>
                  </a:outerShdw>
                </a:effectLst>
                <a:latin typeface="Calibri" panose="020F0502020204030204" pitchFamily="34" charset="0"/>
              </a:rPr>
              <a:t>2</a:t>
            </a:r>
            <a:r>
              <a:rPr lang="en-US" altLang="zh-CN" sz="2400" dirty="0">
                <a:solidFill>
                  <a:srgbClr val="0000FF"/>
                </a:solidFill>
                <a:effectLst>
                  <a:outerShdw blurRad="38100" dist="38100" dir="2700000" algn="tl">
                    <a:srgbClr val="C0C0C0"/>
                  </a:outerShdw>
                </a:effectLst>
                <a:latin typeface="Calibri" panose="020F0502020204030204" pitchFamily="34" charset="0"/>
              </a:rPr>
              <a:t>)</a:t>
            </a:r>
            <a:r>
              <a:rPr lang="en-US" altLang="zh-CN" sz="2400" dirty="0">
                <a:latin typeface="Calibri" panose="020F0502020204030204" pitchFamily="34" charset="0"/>
              </a:rPr>
              <a:t> </a:t>
            </a:r>
            <a:r>
              <a:rPr lang="zh-CN" altLang="en-US" sz="2400" dirty="0">
                <a:solidFill>
                  <a:srgbClr val="0070C0"/>
                </a:solidFill>
                <a:latin typeface="方正兰亭中黑_GBK" panose="02000000000000000000" pitchFamily="2" charset="-122"/>
                <a:ea typeface="方正兰亭中黑_GBK" panose="02000000000000000000" pitchFamily="2" charset="-122"/>
              </a:rPr>
              <a:t>）</a:t>
            </a:r>
            <a:endParaRPr lang="en-US" altLang="zh-CN" sz="240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30000"/>
              </a:lnSpc>
              <a:spcBef>
                <a:spcPts val="600"/>
              </a:spcBef>
              <a:spcAft>
                <a:spcPts val="600"/>
              </a:spcAft>
              <a:buClr>
                <a:schemeClr val="tx1"/>
              </a:buClr>
              <a:buFont typeface="Wingdings" panose="05000000000000000000" pitchFamily="2" charset="2"/>
              <a:buChar char="ü"/>
              <a:defRPr/>
            </a:pPr>
            <a:r>
              <a:rPr lang="zh-CN" altLang="en-US" sz="2400" dirty="0">
                <a:solidFill>
                  <a:srgbClr val="0000FF"/>
                </a:solidFill>
                <a:latin typeface="Calibri" panose="020F0502020204030204" pitchFamily="34" charset="0"/>
              </a:rPr>
              <a:t>	</a:t>
            </a:r>
            <a:r>
              <a:rPr lang="en-US" altLang="zh-CN" sz="2400" dirty="0">
                <a:solidFill>
                  <a:srgbClr val="0000FF"/>
                </a:solidFill>
                <a:latin typeface="Calibri" panose="020F0502020204030204" pitchFamily="34" charset="0"/>
              </a:rPr>
              <a:t>DBSCAN</a:t>
            </a:r>
            <a:r>
              <a:rPr lang="zh-CN" altLang="en-US" sz="2400" dirty="0">
                <a:solidFill>
                  <a:srgbClr val="0000FF"/>
                </a:solidFill>
                <a:latin typeface="Calibri" panose="020F0502020204030204" pitchFamily="34" charset="0"/>
              </a:rPr>
              <a:t>算法对参数</a:t>
            </a:r>
            <a:r>
              <a:rPr lang="el-GR" altLang="zh-CN" sz="2400" dirty="0">
                <a:solidFill>
                  <a:srgbClr val="0000FF"/>
                </a:solidFill>
                <a:latin typeface="Calibri" panose="020F0502020204030204" pitchFamily="34" charset="0"/>
              </a:rPr>
              <a:t>ε</a:t>
            </a:r>
            <a:r>
              <a:rPr lang="zh-CN" altLang="en-US" sz="2400" dirty="0">
                <a:solidFill>
                  <a:srgbClr val="0000FF"/>
                </a:solidFill>
                <a:latin typeface="Calibri" panose="020F0502020204030204" pitchFamily="34" charset="0"/>
              </a:rPr>
              <a:t>及</a:t>
            </a:r>
            <a:r>
              <a:rPr lang="en-US" altLang="zh-CN" sz="2400" dirty="0" err="1">
                <a:solidFill>
                  <a:srgbClr val="0000FF"/>
                </a:solidFill>
                <a:latin typeface="Calibri" panose="020F0502020204030204" pitchFamily="34" charset="0"/>
              </a:rPr>
              <a:t>Minpts</a:t>
            </a:r>
            <a:r>
              <a:rPr lang="zh-CN" altLang="en-US" sz="2400" dirty="0">
                <a:solidFill>
                  <a:srgbClr val="0000FF"/>
                </a:solidFill>
                <a:latin typeface="Calibri" panose="020F0502020204030204" pitchFamily="34" charset="0"/>
              </a:rPr>
              <a:t>非常敏感</a:t>
            </a:r>
            <a:endParaRPr lang="zh-CN" altLang="en-US" sz="2400" dirty="0">
              <a:solidFill>
                <a:srgbClr val="0000FF"/>
              </a:solidFill>
              <a:latin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a:t>
            </a:r>
            <a:r>
              <a:rPr kumimoji="0" lang="en-US" altLang="zh-CN" sz="3600" b="0"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en-US" altLang="zh-CN" sz="3600" b="0" i="0" u="none" strike="noStrike" kern="0" cap="none" spc="0" normalizeH="0" baseline="0" noProof="0" dirty="0">
                <a:ln>
                  <a:noFill/>
                </a:ln>
                <a:solidFill>
                  <a:srgbClr val="1557AE"/>
                </a:solidFill>
                <a:effectLst/>
                <a:uLnTx/>
                <a:uFillTx/>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pic>
        <p:nvPicPr>
          <p:cNvPr id="3"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827584" y="1124744"/>
            <a:ext cx="53340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a:spLocks noChangeArrowheads="1"/>
          </p:cNvSpPr>
          <p:nvPr/>
        </p:nvSpPr>
        <p:spPr bwMode="auto">
          <a:xfrm>
            <a:off x="767259" y="5661819"/>
            <a:ext cx="805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r>
              <a:rPr lang="zh-CN" altLang="en-US" dirty="0">
                <a:latin typeface="Arial" panose="020B0604020202020204" pitchFamily="34" charset="0"/>
                <a:cs typeface="Arial" panose="020B0604020202020204" pitchFamily="34" charset="0"/>
              </a:rPr>
              <a:t>https://www.naftaliharris.com/blog/visualizing-dbscan-clustering/</a:t>
            </a:r>
            <a:endParaRPr lang="zh-CN" altLang="en-US" dirty="0">
              <a:latin typeface="Arial" panose="020B0604020202020204" pitchFamily="34" charset="0"/>
              <a:cs typeface="Arial" panose="020B0604020202020204" pitchFamily="34" charset="0"/>
            </a:endParaRPr>
          </a:p>
        </p:txBody>
      </p:sp>
      <p:sp>
        <p:nvSpPr>
          <p:cNvPr id="5" name="矩形 4"/>
          <p:cNvSpPr/>
          <p:nvPr/>
        </p:nvSpPr>
        <p:spPr>
          <a:xfrm>
            <a:off x="6371134" y="2609057"/>
            <a:ext cx="2665412" cy="708025"/>
          </a:xfrm>
          <a:prstGeom prst="rect">
            <a:avLst/>
          </a:prstGeom>
        </p:spPr>
        <p:txBody>
          <a:bodyPr>
            <a:spAutoFit/>
          </a:bodyPr>
          <a:lstStyle/>
          <a:p>
            <a:pPr>
              <a:defRPr/>
            </a:pPr>
            <a:r>
              <a:rPr lang="en-US" altLang="zh-CN" sz="2000" dirty="0">
                <a:solidFill>
                  <a:srgbClr val="0000FF"/>
                </a:solidFill>
                <a:latin typeface="Arial" panose="020B0604020202020204" pitchFamily="34" charset="0"/>
                <a:ea typeface="+mn-ea"/>
                <a:cs typeface="Arial" panose="020B0604020202020204" pitchFamily="34" charset="0"/>
              </a:rPr>
              <a:t>Epsilon </a:t>
            </a:r>
            <a:r>
              <a:rPr lang="zh-CN" altLang="en-US" sz="2000" dirty="0">
                <a:solidFill>
                  <a:srgbClr val="0000FF"/>
                </a:solidFill>
                <a:latin typeface="Arial" panose="020B0604020202020204" pitchFamily="34" charset="0"/>
                <a:ea typeface="+mn-ea"/>
                <a:cs typeface="Arial" panose="020B0604020202020204" pitchFamily="34" charset="0"/>
              </a:rPr>
              <a:t>与</a:t>
            </a:r>
            <a:r>
              <a:rPr lang="en-US" altLang="zh-CN" sz="2000" dirty="0" err="1">
                <a:solidFill>
                  <a:srgbClr val="0000FF"/>
                </a:solidFill>
                <a:latin typeface="Arial" panose="020B0604020202020204" pitchFamily="34" charset="0"/>
                <a:ea typeface="+mn-ea"/>
                <a:cs typeface="Arial" panose="020B0604020202020204" pitchFamily="34" charset="0"/>
              </a:rPr>
              <a:t>minpoint</a:t>
            </a:r>
            <a:r>
              <a:rPr lang="en-US" altLang="zh-CN" sz="2000" dirty="0">
                <a:solidFill>
                  <a:srgbClr val="0000FF"/>
                </a:solidFill>
                <a:latin typeface="Arial" panose="020B0604020202020204" pitchFamily="34" charset="0"/>
                <a:ea typeface="+mn-ea"/>
                <a:cs typeface="Arial" panose="020B0604020202020204" pitchFamily="34" charset="0"/>
              </a:rPr>
              <a:t> </a:t>
            </a:r>
            <a:r>
              <a:rPr lang="zh-CN" altLang="en-US" sz="2000" dirty="0">
                <a:solidFill>
                  <a:srgbClr val="0000FF"/>
                </a:solidFill>
                <a:latin typeface="Arial" panose="020B0604020202020204" pitchFamily="34" charset="0"/>
                <a:ea typeface="+mn-ea"/>
                <a:cs typeface="Arial" panose="020B0604020202020204" pitchFamily="34" charset="0"/>
              </a:rPr>
              <a:t>对结果的影响？</a:t>
            </a:r>
            <a:endParaRPr lang="zh-CN" altLang="en-US" sz="2000" dirty="0">
              <a:latin typeface="Arial" panose="020B0604020202020204" pitchFamily="34" charset="0"/>
              <a:ea typeface="+mn-ea"/>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a:t>
            </a:r>
            <a:r>
              <a:rPr kumimoji="0" lang="en-US" altLang="zh-CN" sz="3600" b="0"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en-US" altLang="zh-CN" sz="3600" b="0" i="0" u="none" strike="noStrike" kern="0" cap="none" spc="0" normalizeH="0" baseline="0" noProof="0" dirty="0">
                <a:ln>
                  <a:noFill/>
                </a:ln>
                <a:solidFill>
                  <a:srgbClr val="1557AE"/>
                </a:solidFill>
                <a:effectLst/>
                <a:uLnTx/>
                <a:uFillTx/>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190450" y="1050950"/>
            <a:ext cx="8686800" cy="5068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0850" indent="-450850" eaLnBrk="0" hangingPunct="0">
              <a:defRPr b="1">
                <a:solidFill>
                  <a:schemeClr val="tx1"/>
                </a:solidFill>
                <a:latin typeface="Verdana" panose="020B0604030504040204" pitchFamily="34" charset="0"/>
                <a:ea typeface="宋体" panose="02010600030101010101" pitchFamily="2" charset="-122"/>
              </a:defRPr>
            </a:lvl1pPr>
            <a:lvl2pPr marL="908050" indent="-43688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marL="928370" lvl="1" indent="-457200" eaLnBrk="1" hangingPunct="1">
              <a:lnSpc>
                <a:spcPct val="120000"/>
              </a:lnSpc>
              <a:buClr>
                <a:schemeClr val="accent2"/>
              </a:buClr>
              <a:buFont typeface="Wingdings" panose="05000000000000000000" pitchFamily="2" charset="2"/>
              <a:buChar char="n"/>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对参数具有敏感性</a:t>
            </a:r>
            <a:endParaRPr lang="en-US" altLang="zh-CN"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endParaRPr>
          </a:p>
        </p:txBody>
      </p:sp>
      <p:pic>
        <p:nvPicPr>
          <p:cNvPr id="4"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5925" y="1628800"/>
            <a:ext cx="6886575" cy="2589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363" y="4152925"/>
            <a:ext cx="7800975" cy="160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925" y="2982937"/>
            <a:ext cx="12700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1"/>
          <p:cNvSpPr>
            <a:spLocks noChangeArrowheads="1"/>
          </p:cNvSpPr>
          <p:nvPr/>
        </p:nvSpPr>
        <p:spPr bwMode="auto">
          <a:xfrm>
            <a:off x="4210000" y="6135712"/>
            <a:ext cx="4916488"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lnSpc>
                <a:spcPct val="110000"/>
              </a:lnSpc>
            </a:pPr>
            <a:r>
              <a:rPr lang="en-US" altLang="zh-CN" b="0">
                <a:latin typeface="Berlin Sans FB Demi" panose="020E0802020502020306" pitchFamily="34" charset="0"/>
              </a:rPr>
              <a:t>From Jiawei Han and Micheline Kamber’s PPT</a:t>
            </a:r>
            <a:endParaRPr lang="en-US" altLang="zh-CN" b="0">
              <a:latin typeface="Berlin Sans FB Demi" panose="020E0802020502020306"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6.5 </a:t>
            </a: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基于密度的方法</a:t>
            </a:r>
            <a:r>
              <a:rPr kumimoji="0" lang="en-US" altLang="zh-CN" sz="3600" b="0" i="0" u="none" strike="noStrike" kern="0" cap="none" spc="0" normalizeH="0" baseline="0" noProof="0" dirty="0">
                <a:ln>
                  <a:noFill/>
                </a:ln>
                <a:solidFill>
                  <a:srgbClr val="1557AE"/>
                </a:solidFill>
                <a:effectLst/>
                <a:uLnTx/>
                <a:uFillTx/>
                <a:latin typeface="Times New Roman" panose="02020603050405020304" pitchFamily="18" charset="0"/>
                <a:ea typeface="方正兰亭中黑_GBK" panose="02000000000000000000" pitchFamily="2" charset="-122"/>
                <a:cs typeface="Times New Roman" panose="02020603050405020304" pitchFamily="18" charset="0"/>
              </a:rPr>
              <a:t>- </a:t>
            </a:r>
            <a:r>
              <a:rPr kumimoji="0" lang="en-US" altLang="zh-CN" sz="3600" b="0" i="0" u="none" strike="noStrike" kern="0" cap="none" spc="0" normalizeH="0" baseline="0" noProof="0" dirty="0">
                <a:ln>
                  <a:noFill/>
                </a:ln>
                <a:solidFill>
                  <a:srgbClr val="1557AE"/>
                </a:solidFill>
                <a:effectLst/>
                <a:uLnTx/>
                <a:uFillTx/>
                <a:latin typeface="Calibri" panose="020F0502020204030204" pitchFamily="34" charset="0"/>
                <a:ea typeface="方正兰亭中黑_GBK" panose="02000000000000000000" pitchFamily="2" charset="-122"/>
                <a:cs typeface="Calibri" panose="020F0502020204030204" pitchFamily="34" charset="0"/>
              </a:rPr>
              <a:t>DBSCAN</a:t>
            </a:r>
            <a:endParaRPr lang="en-US" altLang="zh-CN" sz="28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Rectangle 3"/>
          <p:cNvSpPr txBox="1">
            <a:spLocks noChangeArrowheads="1"/>
          </p:cNvSpPr>
          <p:nvPr/>
        </p:nvSpPr>
        <p:spPr bwMode="auto">
          <a:xfrm>
            <a:off x="179784" y="1052736"/>
            <a:ext cx="4919663" cy="5068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0850" indent="-450850">
              <a:spcBef>
                <a:spcPct val="20000"/>
              </a:spcBef>
              <a:buClr>
                <a:schemeClr val="accent2"/>
              </a:buClr>
              <a:buFont typeface="Wingdings" panose="05000000000000000000" pitchFamily="2" charset="2"/>
              <a:buChar char="o"/>
              <a:defRPr sz="3000" b="1">
                <a:solidFill>
                  <a:schemeClr val="tx1"/>
                </a:solidFill>
                <a:latin typeface="Verdana" panose="020B0604030504040204" pitchFamily="34" charset="0"/>
                <a:ea typeface="黑体" panose="02010609060101010101" pitchFamily="49" charset="-122"/>
              </a:defRPr>
            </a:lvl1pPr>
            <a:lvl2pPr marL="927100" indent="-457200">
              <a:spcBef>
                <a:spcPct val="20000"/>
              </a:spcBef>
              <a:buClr>
                <a:schemeClr val="accent2"/>
              </a:buClr>
              <a:buFont typeface="Wingdings" panose="05000000000000000000" pitchFamily="2" charset="2"/>
              <a:buChar char="n"/>
              <a:defRPr sz="2600" b="1">
                <a:solidFill>
                  <a:schemeClr val="tx1"/>
                </a:solidFill>
                <a:latin typeface="Verdana" panose="020B0604030504040204" pitchFamily="34" charset="0"/>
                <a:ea typeface="黑体" panose="02010609060101010101" pitchFamily="49" charset="-122"/>
              </a:defRPr>
            </a:lvl2pPr>
            <a:lvl3pPr marL="1143000" indent="-228600">
              <a:spcBef>
                <a:spcPct val="20000"/>
              </a:spcBef>
              <a:buClr>
                <a:schemeClr val="accent2"/>
              </a:buClr>
              <a:buFont typeface="Wingdings" panose="05000000000000000000" pitchFamily="2" charset="2"/>
              <a:buChar char="o"/>
              <a:defRPr sz="2300" b="1">
                <a:solidFill>
                  <a:schemeClr val="tx1"/>
                </a:solidFill>
                <a:latin typeface="Verdana" panose="020B0604030504040204" pitchFamily="34" charset="0"/>
                <a:ea typeface="黑体" panose="02010609060101010101" pitchFamily="49" charset="-122"/>
              </a:defRPr>
            </a:lvl3pPr>
            <a:lvl4pPr marL="1600200" indent="-228600">
              <a:spcBef>
                <a:spcPct val="20000"/>
              </a:spcBef>
              <a:buClr>
                <a:schemeClr val="accent2"/>
              </a:buClr>
              <a:buFont typeface="Wingdings" panose="05000000000000000000" pitchFamily="2" charset="2"/>
              <a:buChar char="n"/>
              <a:defRPr sz="2000" b="1">
                <a:solidFill>
                  <a:schemeClr val="tx1"/>
                </a:solidFill>
                <a:latin typeface="Verdana" panose="020B0604030504040204" pitchFamily="34" charset="0"/>
                <a:ea typeface="黑体" panose="02010609060101010101" pitchFamily="49" charset="-122"/>
              </a:defRPr>
            </a:lvl4pPr>
            <a:lvl5pPr marL="2057400" indent="-228600">
              <a:spcBef>
                <a:spcPct val="25000"/>
              </a:spcBef>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b="1">
                <a:solidFill>
                  <a:schemeClr val="tx1"/>
                </a:solidFill>
                <a:latin typeface="Verdana" panose="020B0604030504040204" pitchFamily="34" charset="0"/>
                <a:ea typeface="黑体" panose="02010609060101010101" pitchFamily="49" charset="-122"/>
              </a:defRPr>
            </a:lvl9pPr>
          </a:lstStyle>
          <a:p>
            <a:pPr lvl="1" eaLnBrk="1" hangingPunct="1">
              <a:lnSpc>
                <a:spcPct val="120000"/>
              </a:lnSpc>
              <a:spcBef>
                <a:spcPct val="0"/>
              </a:spcBef>
              <a:defRPr/>
            </a:pP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如何确定</a:t>
            </a:r>
            <a:r>
              <a:rPr lang="en-US" altLang="zh-CN" sz="2800" dirty="0" err="1">
                <a:solidFill>
                  <a:srgbClr val="FF0000"/>
                </a:solidFill>
                <a:latin typeface="Calibri" panose="020F0502020204030204" pitchFamily="34" charset="0"/>
              </a:rPr>
              <a:t>Minpts</a:t>
            </a:r>
            <a:r>
              <a:rPr lang="zh-CN" altLang="en-US" sz="2800" b="0" dirty="0">
                <a:solidFill>
                  <a:srgbClr val="FF0000"/>
                </a:solidFill>
                <a:latin typeface="方正兰亭中黑_GBK" panose="02000000000000000000" pitchFamily="2" charset="-122"/>
                <a:ea typeface="方正兰亭中黑_GBK" panose="02000000000000000000" pitchFamily="2" charset="-122"/>
                <a:cs typeface="Calibri" panose="020F0502020204030204" pitchFamily="34" charset="0"/>
              </a:rPr>
              <a:t>和</a:t>
            </a:r>
            <a:r>
              <a:rPr lang="zh-CN" altLang="en-US" sz="2800" dirty="0">
                <a:solidFill>
                  <a:srgbClr val="C00000"/>
                </a:solidFill>
                <a:latin typeface="Calibri" panose="020F0502020204030204" pitchFamily="34" charset="0"/>
              </a:rPr>
              <a:t> </a:t>
            </a:r>
            <a:r>
              <a:rPr lang="el-GR" altLang="zh-CN" sz="2800" dirty="0">
                <a:solidFill>
                  <a:srgbClr val="FF0000"/>
                </a:solidFill>
                <a:latin typeface="Calibri" panose="020F0502020204030204" pitchFamily="34" charset="0"/>
              </a:rPr>
              <a:t>ε</a:t>
            </a:r>
            <a:endParaRPr lang="en-US" altLang="zh-CN" sz="2800" dirty="0">
              <a:solidFill>
                <a:srgbClr val="FF0000"/>
              </a:solidFill>
              <a:latin typeface="Calibri" panose="020F0502020204030204" pitchFamily="34" charset="0"/>
            </a:endParaRPr>
          </a:p>
          <a:p>
            <a:pPr lvl="1" eaLnBrk="1" hangingPunct="1">
              <a:lnSpc>
                <a:spcPct val="120000"/>
              </a:lnSpc>
              <a:spcBef>
                <a:spcPct val="0"/>
              </a:spcBef>
              <a:buClrTx/>
              <a:buFont typeface="Wingdings" panose="05000000000000000000" pitchFamily="2" charset="2"/>
              <a:buChar char="ü"/>
              <a:defRPr/>
            </a:pPr>
            <a:r>
              <a:rPr lang="zh-CN" altLang="en-US" sz="2200" dirty="0">
                <a:solidFill>
                  <a:srgbClr val="0070C0"/>
                </a:solidFill>
                <a:latin typeface="方正兰亭中黑_GBK" panose="02000000000000000000" pitchFamily="2" charset="-122"/>
                <a:ea typeface="方正兰亭中黑_GBK" panose="02000000000000000000" pitchFamily="2" charset="-122"/>
              </a:rPr>
              <a:t>点到它的第</a:t>
            </a:r>
            <a:r>
              <a:rPr lang="en-US" altLang="zh-CN" sz="2200" dirty="0">
                <a:solidFill>
                  <a:srgbClr val="0000FF"/>
                </a:solidFill>
                <a:latin typeface="Calibri" panose="020F0502020204030204" pitchFamily="34" charset="0"/>
              </a:rPr>
              <a:t>k</a:t>
            </a:r>
            <a:r>
              <a:rPr lang="zh-CN" altLang="en-US" sz="2200" dirty="0">
                <a:solidFill>
                  <a:srgbClr val="0070C0"/>
                </a:solidFill>
                <a:latin typeface="方正兰亭中黑_GBK" panose="02000000000000000000" pitchFamily="2" charset="-122"/>
                <a:ea typeface="方正兰亭中黑_GBK" panose="02000000000000000000" pitchFamily="2" charset="-122"/>
              </a:rPr>
              <a:t>个最近邻的距离，称为</a:t>
            </a:r>
            <a:r>
              <a:rPr lang="en-US" altLang="zh-CN" sz="2200" dirty="0">
                <a:solidFill>
                  <a:srgbClr val="0000FF"/>
                </a:solidFill>
                <a:latin typeface="Calibri" panose="020F0502020204030204" pitchFamily="34" charset="0"/>
              </a:rPr>
              <a:t>k-</a:t>
            </a:r>
            <a:r>
              <a:rPr lang="zh-CN" altLang="en-US" sz="2200" dirty="0">
                <a:solidFill>
                  <a:srgbClr val="0000FF"/>
                </a:solidFill>
                <a:latin typeface="Calibri" panose="020F0502020204030204" pitchFamily="34" charset="0"/>
              </a:rPr>
              <a:t>距离</a:t>
            </a:r>
            <a:endParaRPr lang="en-US" altLang="zh-CN" sz="2200" dirty="0">
              <a:solidFill>
                <a:srgbClr val="0000FF"/>
              </a:solidFill>
              <a:latin typeface="Calibri" panose="020F0502020204030204" pitchFamily="34" charset="0"/>
            </a:endParaRPr>
          </a:p>
          <a:p>
            <a:pPr lvl="1" eaLnBrk="1" hangingPunct="1">
              <a:lnSpc>
                <a:spcPct val="120000"/>
              </a:lnSpc>
              <a:spcBef>
                <a:spcPct val="0"/>
              </a:spcBef>
              <a:buClrTx/>
              <a:buFont typeface="Wingdings" panose="05000000000000000000" pitchFamily="2" charset="2"/>
              <a:buChar char="ü"/>
              <a:defRPr/>
            </a:pPr>
            <a:r>
              <a:rPr lang="zh-CN" altLang="en-US" sz="2200" dirty="0">
                <a:solidFill>
                  <a:srgbClr val="0070C0"/>
                </a:solidFill>
                <a:latin typeface="方正兰亭中黑_GBK" panose="02000000000000000000" pitchFamily="2" charset="-122"/>
                <a:ea typeface="方正兰亭中黑_GBK" panose="02000000000000000000" pitchFamily="2" charset="-122"/>
              </a:rPr>
              <a:t>对于簇内的点，其</a:t>
            </a:r>
            <a:r>
              <a:rPr lang="en-US" altLang="zh-CN" sz="2200" dirty="0">
                <a:solidFill>
                  <a:srgbClr val="0000FF"/>
                </a:solidFill>
                <a:latin typeface="Calibri" panose="020F0502020204030204" pitchFamily="34" charset="0"/>
              </a:rPr>
              <a:t>k-</a:t>
            </a:r>
            <a:r>
              <a:rPr lang="zh-CN" altLang="en-US" sz="2200" dirty="0">
                <a:solidFill>
                  <a:srgbClr val="0000FF"/>
                </a:solidFill>
                <a:latin typeface="Calibri" panose="020F0502020204030204" pitchFamily="34" charset="0"/>
              </a:rPr>
              <a:t>距离</a:t>
            </a:r>
            <a:r>
              <a:rPr lang="zh-CN" altLang="en-US" sz="2200" dirty="0">
                <a:solidFill>
                  <a:srgbClr val="0070C0"/>
                </a:solidFill>
                <a:latin typeface="方正兰亭中黑_GBK" panose="02000000000000000000" pitchFamily="2" charset="-122"/>
                <a:ea typeface="方正兰亭中黑_GBK" panose="02000000000000000000" pitchFamily="2" charset="-122"/>
              </a:rPr>
              <a:t>较小； 对于不在簇中的点，其</a:t>
            </a:r>
            <a:r>
              <a:rPr lang="en-US" altLang="zh-CN" sz="2200" dirty="0">
                <a:solidFill>
                  <a:srgbClr val="0000FF"/>
                </a:solidFill>
                <a:latin typeface="Calibri" panose="020F0502020204030204" pitchFamily="34" charset="0"/>
              </a:rPr>
              <a:t>k-</a:t>
            </a:r>
            <a:r>
              <a:rPr lang="zh-CN" altLang="en-US" sz="2200" dirty="0">
                <a:solidFill>
                  <a:srgbClr val="0000FF"/>
                </a:solidFill>
                <a:latin typeface="Calibri" panose="020F0502020204030204" pitchFamily="34" charset="0"/>
              </a:rPr>
              <a:t>距离</a:t>
            </a:r>
            <a:r>
              <a:rPr lang="zh-CN" altLang="en-US" sz="2200" dirty="0">
                <a:solidFill>
                  <a:srgbClr val="0070C0"/>
                </a:solidFill>
                <a:latin typeface="方正兰亭中黑_GBK" panose="02000000000000000000" pitchFamily="2" charset="-122"/>
                <a:ea typeface="方正兰亭中黑_GBK" panose="02000000000000000000" pitchFamily="2" charset="-122"/>
              </a:rPr>
              <a:t>相对较大</a:t>
            </a:r>
            <a:endParaRPr lang="en-US" altLang="zh-CN" sz="220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20000"/>
              </a:lnSpc>
              <a:spcBef>
                <a:spcPct val="0"/>
              </a:spcBef>
              <a:buClrTx/>
              <a:buFont typeface="Wingdings" panose="05000000000000000000" pitchFamily="2" charset="2"/>
              <a:buChar char="ü"/>
              <a:defRPr/>
            </a:pPr>
            <a:r>
              <a:rPr lang="zh-CN" altLang="en-US" sz="2200" dirty="0">
                <a:solidFill>
                  <a:srgbClr val="0070C0"/>
                </a:solidFill>
                <a:latin typeface="方正兰亭中黑_GBK" panose="02000000000000000000" pitchFamily="2" charset="-122"/>
                <a:ea typeface="方正兰亭中黑_GBK" panose="02000000000000000000" pitchFamily="2" charset="-122"/>
              </a:rPr>
              <a:t>对所有点的</a:t>
            </a:r>
            <a:r>
              <a:rPr lang="en-US" altLang="zh-CN" sz="2200" dirty="0">
                <a:solidFill>
                  <a:srgbClr val="0000FF"/>
                </a:solidFill>
                <a:latin typeface="Calibri" panose="020F0502020204030204" pitchFamily="34" charset="0"/>
              </a:rPr>
              <a:t>k-</a:t>
            </a:r>
            <a:r>
              <a:rPr lang="zh-CN" altLang="en-US" sz="2200" dirty="0">
                <a:solidFill>
                  <a:srgbClr val="0000FF"/>
                </a:solidFill>
                <a:latin typeface="Calibri" panose="020F0502020204030204" pitchFamily="34" charset="0"/>
              </a:rPr>
              <a:t>距离</a:t>
            </a:r>
            <a:r>
              <a:rPr lang="zh-CN" altLang="en-US" sz="2200" dirty="0">
                <a:solidFill>
                  <a:srgbClr val="0070C0"/>
                </a:solidFill>
                <a:latin typeface="方正兰亭中黑_GBK" panose="02000000000000000000" pitchFamily="2" charset="-122"/>
                <a:ea typeface="方正兰亭中黑_GBK" panose="02000000000000000000" pitchFamily="2" charset="-122"/>
              </a:rPr>
              <a:t>以递增排序，绘制排序后的值。</a:t>
            </a:r>
            <a:endParaRPr lang="zh-CN" altLang="en-US" sz="220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20000"/>
              </a:lnSpc>
              <a:spcBef>
                <a:spcPct val="0"/>
              </a:spcBef>
              <a:buClrTx/>
              <a:buFont typeface="Wingdings" panose="05000000000000000000" pitchFamily="2" charset="2"/>
              <a:buChar char="ü"/>
              <a:defRPr/>
            </a:pPr>
            <a:r>
              <a:rPr lang="en-US" altLang="zh-CN" sz="2200" dirty="0">
                <a:solidFill>
                  <a:srgbClr val="0000FF"/>
                </a:solidFill>
                <a:latin typeface="Calibri" panose="020F0502020204030204" pitchFamily="34" charset="0"/>
              </a:rPr>
              <a:t>k-</a:t>
            </a:r>
            <a:r>
              <a:rPr lang="zh-CN" altLang="en-US" sz="2200" dirty="0">
                <a:solidFill>
                  <a:srgbClr val="0000FF"/>
                </a:solidFill>
                <a:latin typeface="Calibri" panose="020F0502020204030204" pitchFamily="34" charset="0"/>
              </a:rPr>
              <a:t>距离</a:t>
            </a:r>
            <a:r>
              <a:rPr lang="zh-CN" altLang="en-US" sz="2200" dirty="0">
                <a:solidFill>
                  <a:srgbClr val="0070C0"/>
                </a:solidFill>
                <a:latin typeface="方正兰亭中黑_GBK" panose="02000000000000000000" pitchFamily="2" charset="-122"/>
                <a:ea typeface="方正兰亭中黑_GBK" panose="02000000000000000000" pitchFamily="2" charset="-122"/>
              </a:rPr>
              <a:t>急剧变化点对应于合适的</a:t>
            </a:r>
            <a:r>
              <a:rPr lang="en-US" altLang="zh-CN" sz="2200" dirty="0">
                <a:solidFill>
                  <a:srgbClr val="0070C0"/>
                </a:solidFill>
                <a:latin typeface="Calibri" panose="020F0502020204030204" pitchFamily="34" charset="0"/>
              </a:rPr>
              <a:t>ε</a:t>
            </a:r>
            <a:r>
              <a:rPr lang="zh-CN" altLang="en-US" sz="2200" dirty="0">
                <a:solidFill>
                  <a:srgbClr val="0070C0"/>
                </a:solidFill>
                <a:latin typeface="方正兰亭中黑_GBK" panose="02000000000000000000" pitchFamily="2" charset="-122"/>
                <a:ea typeface="方正兰亭中黑_GBK" panose="02000000000000000000" pitchFamily="2" charset="-122"/>
              </a:rPr>
              <a:t>值，取</a:t>
            </a:r>
            <a:r>
              <a:rPr lang="en-US" altLang="zh-CN" sz="2200" dirty="0">
                <a:solidFill>
                  <a:srgbClr val="0070C0"/>
                </a:solidFill>
                <a:latin typeface="Calibri" panose="020F0502020204030204" pitchFamily="34" charset="0"/>
              </a:rPr>
              <a:t>k</a:t>
            </a:r>
            <a:r>
              <a:rPr lang="zh-CN" altLang="en-US" sz="2200" dirty="0">
                <a:solidFill>
                  <a:srgbClr val="0070C0"/>
                </a:solidFill>
                <a:latin typeface="方正兰亭中黑_GBK" panose="02000000000000000000" pitchFamily="2" charset="-122"/>
                <a:ea typeface="方正兰亭中黑_GBK" panose="02000000000000000000" pitchFamily="2" charset="-122"/>
              </a:rPr>
              <a:t>做为</a:t>
            </a:r>
            <a:r>
              <a:rPr lang="en-US" altLang="zh-CN" sz="2200" dirty="0" err="1">
                <a:solidFill>
                  <a:srgbClr val="0070C0"/>
                </a:solidFill>
                <a:latin typeface="Calibri" panose="020F0502020204030204" pitchFamily="34" charset="0"/>
              </a:rPr>
              <a:t>Minpts</a:t>
            </a:r>
            <a:r>
              <a:rPr lang="en-US" altLang="zh-CN" sz="2200" dirty="0">
                <a:solidFill>
                  <a:srgbClr val="0000FF"/>
                </a:solidFill>
                <a:latin typeface="Calibri" panose="020F0502020204030204" pitchFamily="34" charset="0"/>
              </a:rPr>
              <a:t> </a:t>
            </a:r>
            <a:r>
              <a:rPr lang="zh-CN" altLang="en-US" sz="2200" dirty="0">
                <a:solidFill>
                  <a:srgbClr val="0070C0"/>
                </a:solidFill>
                <a:latin typeface="方正兰亭中黑_GBK" panose="02000000000000000000" pitchFamily="2" charset="-122"/>
                <a:ea typeface="方正兰亭中黑_GBK" panose="02000000000000000000" pitchFamily="2" charset="-122"/>
              </a:rPr>
              <a:t>的值。</a:t>
            </a:r>
            <a:endParaRPr lang="zh-CN" altLang="en-US" sz="220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20000"/>
              </a:lnSpc>
              <a:spcBef>
                <a:spcPct val="0"/>
              </a:spcBef>
              <a:buClrTx/>
              <a:buFont typeface="Wingdings" panose="05000000000000000000" pitchFamily="2" charset="2"/>
              <a:buChar char="ü"/>
              <a:defRPr/>
            </a:pPr>
            <a:r>
              <a:rPr lang="zh-CN" altLang="en-US" sz="2200" dirty="0">
                <a:solidFill>
                  <a:srgbClr val="0070C0"/>
                </a:solidFill>
                <a:latin typeface="方正兰亭中黑_GBK" panose="02000000000000000000" pitchFamily="2" charset="-122"/>
                <a:ea typeface="方正兰亭中黑_GBK" panose="02000000000000000000" pitchFamily="2" charset="-122"/>
              </a:rPr>
              <a:t>用此方法确定的</a:t>
            </a:r>
            <a:r>
              <a:rPr lang="en-US" altLang="zh-CN" sz="2200" dirty="0">
                <a:solidFill>
                  <a:srgbClr val="0070C0"/>
                </a:solidFill>
                <a:latin typeface="Calibri" panose="020F0502020204030204" pitchFamily="34" charset="0"/>
              </a:rPr>
              <a:t>ε</a:t>
            </a:r>
            <a:r>
              <a:rPr lang="zh-CN" altLang="en-US" sz="2200" dirty="0">
                <a:solidFill>
                  <a:srgbClr val="0070C0"/>
                </a:solidFill>
                <a:latin typeface="方正兰亭中黑_GBK" panose="02000000000000000000" pitchFamily="2" charset="-122"/>
                <a:ea typeface="方正兰亭中黑_GBK" panose="02000000000000000000" pitchFamily="2" charset="-122"/>
              </a:rPr>
              <a:t>值取决于</a:t>
            </a:r>
            <a:r>
              <a:rPr lang="en-US" altLang="zh-CN" sz="2200" dirty="0">
                <a:solidFill>
                  <a:srgbClr val="0070C0"/>
                </a:solidFill>
                <a:latin typeface="Calibri" panose="020F0502020204030204" pitchFamily="34" charset="0"/>
              </a:rPr>
              <a:t>k</a:t>
            </a:r>
            <a:r>
              <a:rPr lang="en-US" altLang="zh-CN" sz="2200" dirty="0">
                <a:solidFill>
                  <a:srgbClr val="0070C0"/>
                </a:solidFill>
                <a:latin typeface="方正兰亭中黑_GBK" panose="02000000000000000000" pitchFamily="2" charset="-122"/>
                <a:ea typeface="方正兰亭中黑_GBK" panose="02000000000000000000" pitchFamily="2" charset="-122"/>
              </a:rPr>
              <a:t>,</a:t>
            </a:r>
            <a:r>
              <a:rPr lang="zh-CN" altLang="en-US" sz="2200" dirty="0">
                <a:solidFill>
                  <a:srgbClr val="0070C0"/>
                </a:solidFill>
                <a:latin typeface="方正兰亭中黑_GBK" panose="02000000000000000000" pitchFamily="2" charset="-122"/>
                <a:ea typeface="方正兰亭中黑_GBK" panose="02000000000000000000" pitchFamily="2" charset="-122"/>
              </a:rPr>
              <a:t>但并不会随</a:t>
            </a:r>
            <a:r>
              <a:rPr lang="en-US" altLang="zh-CN" sz="2200" dirty="0">
                <a:solidFill>
                  <a:srgbClr val="0070C0"/>
                </a:solidFill>
                <a:latin typeface="Calibri" panose="020F0502020204030204" pitchFamily="34" charset="0"/>
              </a:rPr>
              <a:t>k</a:t>
            </a:r>
            <a:r>
              <a:rPr lang="zh-CN" altLang="en-US" sz="2200" dirty="0">
                <a:solidFill>
                  <a:srgbClr val="0070C0"/>
                </a:solidFill>
                <a:latin typeface="方正兰亭中黑_GBK" panose="02000000000000000000" pitchFamily="2" charset="-122"/>
                <a:ea typeface="方正兰亭中黑_GBK" panose="02000000000000000000" pitchFamily="2" charset="-122"/>
              </a:rPr>
              <a:t>改变而剧烈变化。</a:t>
            </a:r>
            <a:endParaRPr lang="zh-CN" altLang="en-US" sz="2200" dirty="0">
              <a:solidFill>
                <a:srgbClr val="0070C0"/>
              </a:solidFill>
              <a:latin typeface="方正兰亭中黑_GBK" panose="02000000000000000000" pitchFamily="2" charset="-122"/>
              <a:ea typeface="方正兰亭中黑_GBK" panose="02000000000000000000" pitchFamily="2" charset="-122"/>
            </a:endParaRPr>
          </a:p>
          <a:p>
            <a:pPr lvl="1" eaLnBrk="1" hangingPunct="1">
              <a:lnSpc>
                <a:spcPct val="120000"/>
              </a:lnSpc>
              <a:spcBef>
                <a:spcPct val="0"/>
              </a:spcBef>
              <a:buFontTx/>
              <a:buNone/>
              <a:defRPr/>
            </a:pPr>
            <a:endParaRPr lang="zh-CN" altLang="el-GR" sz="2800" dirty="0">
              <a:solidFill>
                <a:srgbClr val="C00000"/>
              </a:solidFill>
              <a:latin typeface="Calibri" panose="020F0502020204030204" pitchFamily="34" charset="0"/>
            </a:endParaRPr>
          </a:p>
          <a:p>
            <a:pPr lvl="1" eaLnBrk="1" hangingPunct="1">
              <a:lnSpc>
                <a:spcPct val="120000"/>
              </a:lnSpc>
              <a:spcBef>
                <a:spcPct val="0"/>
              </a:spcBef>
              <a:defRPr/>
            </a:pPr>
            <a:endParaRPr lang="en-US" altLang="zh-CN" sz="2800" dirty="0">
              <a:solidFill>
                <a:srgbClr val="C00000"/>
              </a:solidFill>
              <a:effectLst>
                <a:outerShdw blurRad="38100" dist="38100" dir="2700000" algn="tl">
                  <a:srgbClr val="C0C0C0"/>
                </a:outerShdw>
              </a:effectLst>
              <a:latin typeface="Times New Roman" panose="02020603050405020304" pitchFamily="18" charset="0"/>
            </a:endParaRPr>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99447" y="2321148"/>
            <a:ext cx="4035425" cy="302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648580" y="116632"/>
            <a:ext cx="10441160" cy="646331"/>
          </a:xfrm>
          <a:prstGeom prst="rect">
            <a:avLst/>
          </a:prstGeom>
        </p:spPr>
        <p:txBody>
          <a:bodyPr wrap="square">
            <a:spAutoFit/>
          </a:bodyPr>
          <a:lstStyle/>
          <a:p>
            <a:pPr algn="ctr"/>
            <a:r>
              <a:rPr lang="zh-CN" altLang="en-US"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rPr>
              <a:t>总结</a:t>
            </a:r>
            <a:endParaRPr lang="en-US" altLang="zh-CN" sz="3600" b="0" kern="0" dirty="0">
              <a:solidFill>
                <a:srgbClr val="1557AE"/>
              </a:solidFill>
              <a:latin typeface="Times New Roman" panose="02020603050405020304" pitchFamily="18" charset="0"/>
              <a:ea typeface="方正兰亭中黑_GBK" panose="02000000000000000000" pitchFamily="2" charset="-122"/>
              <a:cs typeface="Times New Roman" panose="02020603050405020304" pitchFamily="18" charset="0"/>
            </a:endParaRPr>
          </a:p>
        </p:txBody>
      </p:sp>
      <p:sp>
        <p:nvSpPr>
          <p:cNvPr id="3" name="矩形 2"/>
          <p:cNvSpPr>
            <a:spLocks noChangeArrowheads="1"/>
          </p:cNvSpPr>
          <p:nvPr/>
        </p:nvSpPr>
        <p:spPr bwMode="auto">
          <a:xfrm>
            <a:off x="574675" y="1124744"/>
            <a:ext cx="7994650" cy="495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b="1">
                <a:solidFill>
                  <a:schemeClr val="tx1"/>
                </a:solidFill>
                <a:latin typeface="Verdana" panose="020B0604030504040204" pitchFamily="34" charset="0"/>
                <a:ea typeface="宋体" panose="02010600030101010101" pitchFamily="2" charset="-122"/>
              </a:defRPr>
            </a:lvl1pPr>
            <a:lvl2pPr marL="742950" indent="-285750">
              <a:defRPr b="1">
                <a:solidFill>
                  <a:schemeClr val="tx1"/>
                </a:solidFill>
                <a:latin typeface="Verdana" panose="020B0604030504040204" pitchFamily="34" charset="0"/>
                <a:ea typeface="宋体" panose="02010600030101010101" pitchFamily="2" charset="-122"/>
              </a:defRPr>
            </a:lvl2pPr>
            <a:lvl3pPr marL="1143000" indent="-228600">
              <a:defRPr b="1">
                <a:solidFill>
                  <a:schemeClr val="tx1"/>
                </a:solidFill>
                <a:latin typeface="Verdana" panose="020B0604030504040204" pitchFamily="34" charset="0"/>
                <a:ea typeface="宋体" panose="02010600030101010101" pitchFamily="2" charset="-122"/>
              </a:defRPr>
            </a:lvl3pPr>
            <a:lvl4pPr marL="1600200" indent="-228600">
              <a:defRPr b="1">
                <a:solidFill>
                  <a:schemeClr val="tx1"/>
                </a:solidFill>
                <a:latin typeface="Verdana" panose="020B0604030504040204" pitchFamily="34" charset="0"/>
                <a:ea typeface="宋体" panose="02010600030101010101" pitchFamily="2" charset="-122"/>
              </a:defRPr>
            </a:lvl4pPr>
            <a:lvl5pPr marL="2057400" indent="-22860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ts val="600"/>
              </a:spcBef>
              <a:buFont typeface="Wingdings" panose="05000000000000000000" pitchFamily="2" charset="2"/>
              <a:buChar char="n"/>
            </a:pPr>
            <a:r>
              <a:rPr lang="en-US" altLang="zh-CN" sz="2200" dirty="0">
                <a:solidFill>
                  <a:srgbClr val="C00000"/>
                </a:solidFill>
                <a:latin typeface="Calibri" panose="020F0502020204030204" pitchFamily="34" charset="0"/>
                <a:cs typeface="Calibri" panose="020F0502020204030204" pitchFamily="34" charset="0"/>
              </a:rPr>
              <a:t>Cluster analysis </a:t>
            </a:r>
            <a:r>
              <a:rPr lang="en-US" altLang="zh-CN" sz="2200" dirty="0">
                <a:latin typeface="Calibri" panose="020F0502020204030204" pitchFamily="34" charset="0"/>
                <a:cs typeface="Calibri" panose="020F0502020204030204" pitchFamily="34" charset="0"/>
              </a:rPr>
              <a:t>groups objects based on their </a:t>
            </a:r>
            <a:r>
              <a:rPr lang="en-US" altLang="zh-CN" sz="2200" dirty="0">
                <a:solidFill>
                  <a:srgbClr val="C00000"/>
                </a:solidFill>
                <a:latin typeface="Calibri" panose="020F0502020204030204" pitchFamily="34" charset="0"/>
                <a:cs typeface="Calibri" panose="020F0502020204030204" pitchFamily="34" charset="0"/>
              </a:rPr>
              <a:t>similarity</a:t>
            </a:r>
            <a:r>
              <a:rPr lang="en-US" altLang="zh-CN" sz="2200" dirty="0">
                <a:latin typeface="Calibri" panose="020F0502020204030204" pitchFamily="34" charset="0"/>
                <a:cs typeface="Calibri" panose="020F0502020204030204" pitchFamily="34" charset="0"/>
              </a:rPr>
              <a:t>  and has wide applications</a:t>
            </a:r>
            <a:endParaRPr lang="en-US" altLang="zh-CN" sz="2200" dirty="0">
              <a:latin typeface="Calibri" panose="020F0502020204030204" pitchFamily="34" charset="0"/>
              <a:cs typeface="Calibri" panose="020F0502020204030204" pitchFamily="34" charset="0"/>
            </a:endParaRPr>
          </a:p>
          <a:p>
            <a:pPr eaLnBrk="1" hangingPunct="1">
              <a:spcBef>
                <a:spcPts val="600"/>
              </a:spcBef>
              <a:buFont typeface="Wingdings" panose="05000000000000000000" pitchFamily="2" charset="2"/>
              <a:buChar char="n"/>
            </a:pPr>
            <a:r>
              <a:rPr lang="en-US" altLang="zh-CN" sz="2200" dirty="0">
                <a:latin typeface="Calibri" panose="020F0502020204030204" pitchFamily="34" charset="0"/>
                <a:cs typeface="Calibri" panose="020F0502020204030204" pitchFamily="34" charset="0"/>
              </a:rPr>
              <a:t>Measure of similarity can be computed for </a:t>
            </a:r>
            <a:r>
              <a:rPr lang="en-US" altLang="zh-CN" sz="2200" dirty="0">
                <a:solidFill>
                  <a:srgbClr val="C00000"/>
                </a:solidFill>
                <a:latin typeface="Calibri" panose="020F0502020204030204" pitchFamily="34" charset="0"/>
                <a:cs typeface="Calibri" panose="020F0502020204030204" pitchFamily="34" charset="0"/>
              </a:rPr>
              <a:t>various types of data</a:t>
            </a:r>
            <a:endParaRPr lang="en-US" altLang="zh-CN" sz="2200" dirty="0">
              <a:solidFill>
                <a:srgbClr val="C00000"/>
              </a:solidFill>
              <a:latin typeface="Calibri" panose="020F0502020204030204" pitchFamily="34" charset="0"/>
              <a:cs typeface="Calibri" panose="020F0502020204030204" pitchFamily="34" charset="0"/>
            </a:endParaRPr>
          </a:p>
          <a:p>
            <a:pPr eaLnBrk="1" hangingPunct="1">
              <a:spcBef>
                <a:spcPts val="600"/>
              </a:spcBef>
              <a:buFont typeface="Wingdings" panose="05000000000000000000" pitchFamily="2" charset="2"/>
              <a:buChar char="n"/>
            </a:pPr>
            <a:r>
              <a:rPr lang="en-US" altLang="zh-CN" sz="2200" dirty="0">
                <a:latin typeface="Calibri" panose="020F0502020204030204" pitchFamily="34" charset="0"/>
                <a:cs typeface="Calibri" panose="020F0502020204030204" pitchFamily="34" charset="0"/>
              </a:rPr>
              <a:t>Clustering algorithms can be </a:t>
            </a:r>
            <a:r>
              <a:rPr lang="en-US" altLang="zh-CN" sz="2200" dirty="0">
                <a:solidFill>
                  <a:srgbClr val="C00000"/>
                </a:solidFill>
                <a:latin typeface="Calibri" panose="020F0502020204030204" pitchFamily="34" charset="0"/>
                <a:cs typeface="Calibri" panose="020F0502020204030204" pitchFamily="34" charset="0"/>
              </a:rPr>
              <a:t>categorized </a:t>
            </a:r>
            <a:r>
              <a:rPr lang="en-US" altLang="zh-CN" sz="2200" dirty="0">
                <a:latin typeface="Calibri" panose="020F0502020204030204" pitchFamily="34" charset="0"/>
                <a:cs typeface="Calibri" panose="020F0502020204030204" pitchFamily="34" charset="0"/>
              </a:rPr>
              <a:t>into partitioning methods, hierarchical methods, density-based methods, grid-based methods, and model-based methods</a:t>
            </a:r>
            <a:endParaRPr lang="en-US" altLang="zh-CN" sz="2200" dirty="0">
              <a:latin typeface="Calibri" panose="020F0502020204030204" pitchFamily="34" charset="0"/>
              <a:cs typeface="Calibri" panose="020F0502020204030204" pitchFamily="34" charset="0"/>
            </a:endParaRPr>
          </a:p>
          <a:p>
            <a:pPr eaLnBrk="1" hangingPunct="1">
              <a:spcBef>
                <a:spcPts val="600"/>
              </a:spcBef>
              <a:buFont typeface="Wingdings" panose="05000000000000000000" pitchFamily="2" charset="2"/>
              <a:buChar char="n"/>
            </a:pPr>
            <a:r>
              <a:rPr lang="en-US" altLang="zh-CN" sz="2200" dirty="0">
                <a:solidFill>
                  <a:srgbClr val="C00000"/>
                </a:solidFill>
                <a:latin typeface="Calibri" panose="020F0502020204030204" pitchFamily="34" charset="0"/>
                <a:cs typeface="Calibri" panose="020F0502020204030204" pitchFamily="34" charset="0"/>
              </a:rPr>
              <a:t>K-means and K-medoids </a:t>
            </a:r>
            <a:r>
              <a:rPr lang="en-US" altLang="zh-CN" sz="2200" dirty="0">
                <a:latin typeface="Calibri" panose="020F0502020204030204" pitchFamily="34" charset="0"/>
                <a:cs typeface="Calibri" panose="020F0502020204030204" pitchFamily="34" charset="0"/>
              </a:rPr>
              <a:t>algorithms are popular partitioning-based clustering algorithms</a:t>
            </a:r>
            <a:endParaRPr lang="en-US" altLang="zh-CN" sz="2200" dirty="0">
              <a:latin typeface="Calibri" panose="020F0502020204030204" pitchFamily="34" charset="0"/>
              <a:cs typeface="Calibri" panose="020F0502020204030204" pitchFamily="34" charset="0"/>
            </a:endParaRPr>
          </a:p>
          <a:p>
            <a:pPr eaLnBrk="1" hangingPunct="1">
              <a:spcBef>
                <a:spcPts val="600"/>
              </a:spcBef>
              <a:buFont typeface="Wingdings" panose="05000000000000000000" pitchFamily="2" charset="2"/>
              <a:buChar char="n"/>
            </a:pPr>
            <a:r>
              <a:rPr lang="en-US" altLang="zh-CN" sz="2200" dirty="0">
                <a:solidFill>
                  <a:srgbClr val="C00000"/>
                </a:solidFill>
                <a:latin typeface="Calibri" panose="020F0502020204030204" pitchFamily="34" charset="0"/>
                <a:cs typeface="Calibri" panose="020F0502020204030204" pitchFamily="34" charset="0"/>
              </a:rPr>
              <a:t>AGNES</a:t>
            </a:r>
            <a:r>
              <a:rPr lang="en-US" altLang="zh-CN" sz="2200" dirty="0">
                <a:solidFill>
                  <a:schemeClr val="hlink"/>
                </a:solidFill>
                <a:latin typeface="Calibri" panose="020F0502020204030204" pitchFamily="34" charset="0"/>
                <a:cs typeface="Calibri" panose="020F0502020204030204" pitchFamily="34" charset="0"/>
              </a:rPr>
              <a:t> </a:t>
            </a:r>
            <a:r>
              <a:rPr lang="en-US" altLang="zh-CN" sz="2200" dirty="0">
                <a:latin typeface="Calibri" panose="020F0502020204030204" pitchFamily="34" charset="0"/>
                <a:cs typeface="Calibri" panose="020F0502020204030204" pitchFamily="34" charset="0"/>
              </a:rPr>
              <a:t>and </a:t>
            </a:r>
            <a:r>
              <a:rPr lang="en-US" altLang="zh-CN" sz="2200" dirty="0">
                <a:solidFill>
                  <a:srgbClr val="C00000"/>
                </a:solidFill>
                <a:latin typeface="Calibri" panose="020F0502020204030204" pitchFamily="34" charset="0"/>
                <a:cs typeface="Calibri" panose="020F0502020204030204" pitchFamily="34" charset="0"/>
              </a:rPr>
              <a:t>DIANA</a:t>
            </a:r>
            <a:r>
              <a:rPr lang="en-US" altLang="zh-CN" sz="2200" dirty="0">
                <a:solidFill>
                  <a:schemeClr val="hlink"/>
                </a:solidFill>
                <a:latin typeface="Calibri" panose="020F0502020204030204" pitchFamily="34" charset="0"/>
                <a:cs typeface="Calibri" panose="020F0502020204030204" pitchFamily="34" charset="0"/>
              </a:rPr>
              <a:t> </a:t>
            </a:r>
            <a:r>
              <a:rPr lang="en-US" altLang="zh-CN" sz="2200" dirty="0">
                <a:latin typeface="Calibri" panose="020F0502020204030204" pitchFamily="34" charset="0"/>
                <a:cs typeface="Calibri" panose="020F0502020204030204" pitchFamily="34" charset="0"/>
              </a:rPr>
              <a:t>are interesting hierarchical clustering algorithms</a:t>
            </a:r>
            <a:endParaRPr lang="en-US" altLang="zh-CN" sz="2200" dirty="0">
              <a:latin typeface="Calibri" panose="020F0502020204030204" pitchFamily="34" charset="0"/>
              <a:cs typeface="Calibri" panose="020F0502020204030204" pitchFamily="34" charset="0"/>
            </a:endParaRPr>
          </a:p>
          <a:p>
            <a:pPr eaLnBrk="1" hangingPunct="1">
              <a:spcBef>
                <a:spcPts val="600"/>
              </a:spcBef>
              <a:buFont typeface="Wingdings" panose="05000000000000000000" pitchFamily="2" charset="2"/>
              <a:buChar char="n"/>
            </a:pPr>
            <a:r>
              <a:rPr lang="en-US" altLang="zh-CN" sz="2200" dirty="0">
                <a:solidFill>
                  <a:srgbClr val="C00000"/>
                </a:solidFill>
                <a:latin typeface="Calibri" panose="020F0502020204030204" pitchFamily="34" charset="0"/>
                <a:cs typeface="Calibri" panose="020F0502020204030204" pitchFamily="34" charset="0"/>
              </a:rPr>
              <a:t>DBSCAN, OPTICS </a:t>
            </a:r>
            <a:r>
              <a:rPr lang="en-US" altLang="zh-CN" sz="2200" dirty="0">
                <a:latin typeface="Calibri" panose="020F0502020204030204" pitchFamily="34" charset="0"/>
                <a:cs typeface="Calibri" panose="020F0502020204030204" pitchFamily="34" charset="0"/>
              </a:rPr>
              <a:t>are interesting density-based algorithms</a:t>
            </a:r>
            <a:endParaRPr lang="en-US" altLang="zh-CN" sz="2200" dirty="0">
              <a:latin typeface="Calibri" panose="020F0502020204030204" pitchFamily="34" charset="0"/>
              <a:cs typeface="Calibri" panose="020F0502020204030204" pitchFamily="34" charset="0"/>
            </a:endParaRPr>
          </a:p>
          <a:p>
            <a:pPr eaLnBrk="1" hangingPunct="1">
              <a:spcBef>
                <a:spcPts val="600"/>
              </a:spcBef>
              <a:buFont typeface="Wingdings" panose="05000000000000000000" pitchFamily="2" charset="2"/>
              <a:buChar char="n"/>
            </a:pPr>
            <a:r>
              <a:rPr lang="en-US" altLang="zh-CN" sz="2200" dirty="0">
                <a:latin typeface="Calibri" panose="020F0502020204030204" pitchFamily="34" charset="0"/>
                <a:cs typeface="Calibri" panose="020F0502020204030204" pitchFamily="34" charset="0"/>
              </a:rPr>
              <a:t>Quality of clustering results can be evaluated in various ways</a:t>
            </a:r>
            <a:r>
              <a:rPr lang="en-US" altLang="zh-CN" sz="2200" dirty="0">
                <a:solidFill>
                  <a:schemeClr val="hlink"/>
                </a:solidFill>
                <a:latin typeface="Calibri" panose="020F0502020204030204" pitchFamily="34" charset="0"/>
                <a:cs typeface="Calibri" panose="020F0502020204030204" pitchFamily="34" charset="0"/>
              </a:rPr>
              <a:t> </a:t>
            </a:r>
            <a:endParaRPr lang="en-US" altLang="zh-CN" sz="2200" dirty="0">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01"/>
    </mc:Choice>
    <mc:Fallback>
      <p:transition spd="slow" advTm="15501"/>
    </mc:Fallback>
  </mc:AlternateContent>
</p:sld>
</file>

<file path=ppt/theme/theme1.xml><?xml version="1.0" encoding="utf-8"?>
<a:theme xmlns:a="http://schemas.openxmlformats.org/drawingml/2006/main" name="默认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默认设计模板">
      <a:majorFont>
        <a:latin typeface="Tahoma"/>
        <a:ea typeface="黑体"/>
        <a:cs typeface=""/>
      </a:majorFont>
      <a:minorFont>
        <a:latin typeface="Tahom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1" i="0" u="none" strike="noStrike" cap="none" normalizeH="0" baseline="0" smtClean="0">
            <a:ln>
              <a:noFill/>
            </a:ln>
            <a:solidFill>
              <a:schemeClr val="bg1"/>
            </a:solidFill>
            <a:effectLst/>
            <a:latin typeface="黑体" panose="02010609060101010101" pitchFamily="49" charset="-122"/>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1" i="0" u="none" strike="noStrike" cap="none" normalizeH="0" baseline="0" smtClean="0">
            <a:ln>
              <a:noFill/>
            </a:ln>
            <a:solidFill>
              <a:schemeClr val="bg1"/>
            </a:solidFill>
            <a:effectLst/>
            <a:latin typeface="黑体" panose="02010609060101010101" pitchFamily="49" charset="-122"/>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14054</Words>
  <Application>WPS 演示</Application>
  <PresentationFormat>全屏显示(4:3)</PresentationFormat>
  <Paragraphs>1637</Paragraphs>
  <Slides>96</Slides>
  <Notes>95</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33</vt:i4>
      </vt:variant>
      <vt:variant>
        <vt:lpstr>幻灯片标题</vt:lpstr>
      </vt:variant>
      <vt:variant>
        <vt:i4>96</vt:i4>
      </vt:variant>
    </vt:vector>
  </HeadingPairs>
  <TitlesOfParts>
    <vt:vector size="151" baseType="lpstr">
      <vt:lpstr>Arial</vt:lpstr>
      <vt:lpstr>宋体</vt:lpstr>
      <vt:lpstr>Wingdings</vt:lpstr>
      <vt:lpstr>黑体</vt:lpstr>
      <vt:lpstr>Tahoma</vt:lpstr>
      <vt:lpstr>微软雅黑</vt:lpstr>
      <vt:lpstr>Calibri</vt:lpstr>
      <vt:lpstr>方正兰亭中黑_GBK</vt:lpstr>
      <vt:lpstr>Times New Roman</vt:lpstr>
      <vt:lpstr>Symbol</vt:lpstr>
      <vt:lpstr>Verdana</vt:lpstr>
      <vt:lpstr>Palatino Linotype</vt:lpstr>
      <vt:lpstr>Arial Unicode MS</vt:lpstr>
      <vt:lpstr>Gulim</vt:lpstr>
      <vt:lpstr>Malgun Gothic</vt:lpstr>
      <vt:lpstr>Small Fonts</vt:lpstr>
      <vt:lpstr>Monotype Sorts</vt:lpstr>
      <vt:lpstr>MS PGothic</vt:lpstr>
      <vt:lpstr>Berlin Sans FB Demi</vt:lpstr>
      <vt:lpstr>Segoe Print</vt:lpstr>
      <vt:lpstr>楷体</vt:lpstr>
      <vt:lpstr>默认设计模板</vt:lpstr>
      <vt:lpstr>Equation.Ribbit</vt:lpstr>
      <vt:lpstr>Word.Document.8</vt:lpstr>
      <vt:lpstr>Equation.Ribbit</vt:lpstr>
      <vt:lpstr>Equation.Ribbit</vt:lpstr>
      <vt:lpstr>Equation.Ribbit</vt:lpstr>
      <vt:lpstr>Equation.Ribbit</vt:lpstr>
      <vt:lpstr>Excel.Sheet.8</vt:lpstr>
      <vt:lpstr>Excel.Sheet.8</vt:lpstr>
      <vt:lpstr>Excel.Sheet.8</vt:lpstr>
      <vt:lpstr>Excel.Sheet.8</vt:lpstr>
      <vt:lpstr>Excel.Sheet.8</vt:lpstr>
      <vt:lpstr>Equation.Ribbit</vt:lpstr>
      <vt:lpstr>Excel.Sheet.8</vt:lpstr>
      <vt:lpstr>Word.Document.8</vt:lpstr>
      <vt:lpstr>Excel.Sheet.8</vt:lpstr>
      <vt:lpstr>Word.Document.8</vt:lpstr>
      <vt:lpstr>Excel.Sheet.8</vt:lpstr>
      <vt:lpstr>Word.Document.8</vt:lpstr>
      <vt:lpstr>Excel.Sheet.8</vt:lpstr>
      <vt:lpstr>Word.Document.8</vt:lpstr>
      <vt:lpstr>Excel.Sheet.8</vt:lpstr>
      <vt:lpstr>Excel.Sheet.8</vt:lpstr>
      <vt:lpstr>Equation.Ribbit</vt:lpstr>
      <vt:lpstr>Excel.Sheet.8</vt:lpstr>
      <vt:lpstr>Excel.Sheet.8</vt:lpstr>
      <vt:lpstr>Excel.Sheet.8</vt:lpstr>
      <vt:lpstr>Excel.Sheet.8</vt:lpstr>
      <vt:lpstr>Equation.Ribbit</vt:lpstr>
      <vt:lpstr>Equation.Ribbit</vt:lpstr>
      <vt:lpstr>Equation.Ribbit</vt:lpstr>
      <vt:lpstr>Equation.Ribbit</vt:lpstr>
      <vt:lpstr>Equation.Ribbit</vt:lpstr>
      <vt:lpstr>Equation.Ribbit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Kevin</dc:creator>
  <cp:lastModifiedBy>WPS_384326030</cp:lastModifiedBy>
  <cp:revision>4681</cp:revision>
  <dcterms:created xsi:type="dcterms:W3CDTF">2009-10-06T03:58:00Z</dcterms:created>
  <dcterms:modified xsi:type="dcterms:W3CDTF">2025-09-28T06:32:08Z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B4DDE6F2DDE743C595CEA32398EEDC30_12</vt:lpwstr>
  </property>
</Properties>
</file>