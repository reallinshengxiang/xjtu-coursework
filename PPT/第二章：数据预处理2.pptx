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2" r:id="rId3"/>
  </p:sldMasterIdLst>
  <p:notesMasterIdLst>
    <p:notesMasterId r:id="rId5"/>
  </p:notesMasterIdLst>
  <p:handoutMasterIdLst>
    <p:handoutMasterId r:id="rId92"/>
  </p:handoutMasterIdLst>
  <p:sldIdLst>
    <p:sldId id="517" r:id="rId4"/>
    <p:sldId id="2108" r:id="rId6"/>
    <p:sldId id="2109" r:id="rId7"/>
    <p:sldId id="594" r:id="rId8"/>
    <p:sldId id="595" r:id="rId9"/>
    <p:sldId id="596" r:id="rId10"/>
    <p:sldId id="597" r:id="rId11"/>
    <p:sldId id="598" r:id="rId12"/>
    <p:sldId id="599" r:id="rId13"/>
    <p:sldId id="600" r:id="rId14"/>
    <p:sldId id="601" r:id="rId15"/>
    <p:sldId id="604" r:id="rId16"/>
    <p:sldId id="605" r:id="rId17"/>
    <p:sldId id="2110" r:id="rId18"/>
    <p:sldId id="606" r:id="rId19"/>
    <p:sldId id="607" r:id="rId20"/>
    <p:sldId id="608" r:id="rId21"/>
    <p:sldId id="609" r:id="rId22"/>
    <p:sldId id="610" r:id="rId23"/>
    <p:sldId id="613" r:id="rId24"/>
    <p:sldId id="614" r:id="rId25"/>
    <p:sldId id="612" r:id="rId26"/>
    <p:sldId id="615" r:id="rId27"/>
    <p:sldId id="617" r:id="rId28"/>
    <p:sldId id="618" r:id="rId29"/>
    <p:sldId id="619" r:id="rId30"/>
    <p:sldId id="2112" r:id="rId31"/>
    <p:sldId id="2113" r:id="rId32"/>
    <p:sldId id="620" r:id="rId33"/>
    <p:sldId id="632" r:id="rId34"/>
    <p:sldId id="621" r:id="rId35"/>
    <p:sldId id="622" r:id="rId36"/>
    <p:sldId id="2180" r:id="rId37"/>
    <p:sldId id="2182" r:id="rId38"/>
    <p:sldId id="2185" r:id="rId39"/>
    <p:sldId id="2186" r:id="rId40"/>
    <p:sldId id="2183" r:id="rId41"/>
    <p:sldId id="2184" r:id="rId42"/>
    <p:sldId id="636" r:id="rId43"/>
    <p:sldId id="634" r:id="rId44"/>
    <p:sldId id="635" r:id="rId45"/>
    <p:sldId id="541" r:id="rId46"/>
    <p:sldId id="542" r:id="rId47"/>
    <p:sldId id="543" r:id="rId48"/>
    <p:sldId id="545" r:id="rId49"/>
    <p:sldId id="592" r:id="rId50"/>
    <p:sldId id="546" r:id="rId51"/>
    <p:sldId id="547" r:id="rId52"/>
    <p:sldId id="548" r:id="rId53"/>
    <p:sldId id="549" r:id="rId54"/>
    <p:sldId id="550" r:id="rId55"/>
    <p:sldId id="551" r:id="rId56"/>
    <p:sldId id="553" r:id="rId57"/>
    <p:sldId id="552" r:id="rId58"/>
    <p:sldId id="593" r:id="rId59"/>
    <p:sldId id="560" r:id="rId60"/>
    <p:sldId id="562" r:id="rId61"/>
    <p:sldId id="566" r:id="rId62"/>
    <p:sldId id="561" r:id="rId63"/>
    <p:sldId id="568" r:id="rId64"/>
    <p:sldId id="569" r:id="rId65"/>
    <p:sldId id="570" r:id="rId66"/>
    <p:sldId id="564" r:id="rId67"/>
    <p:sldId id="565" r:id="rId68"/>
    <p:sldId id="637" r:id="rId69"/>
    <p:sldId id="591" r:id="rId70"/>
    <p:sldId id="571" r:id="rId71"/>
    <p:sldId id="573" r:id="rId72"/>
    <p:sldId id="574" r:id="rId73"/>
    <p:sldId id="575" r:id="rId74"/>
    <p:sldId id="577" r:id="rId75"/>
    <p:sldId id="578" r:id="rId76"/>
    <p:sldId id="579" r:id="rId77"/>
    <p:sldId id="580" r:id="rId78"/>
    <p:sldId id="627" r:id="rId79"/>
    <p:sldId id="2189" r:id="rId80"/>
    <p:sldId id="2190" r:id="rId81"/>
    <p:sldId id="2191" r:id="rId82"/>
    <p:sldId id="2192" r:id="rId83"/>
    <p:sldId id="2193" r:id="rId84"/>
    <p:sldId id="2194" r:id="rId85"/>
    <p:sldId id="2195" r:id="rId86"/>
    <p:sldId id="2196" r:id="rId87"/>
    <p:sldId id="2199" r:id="rId88"/>
    <p:sldId id="2200" r:id="rId89"/>
    <p:sldId id="2197" r:id="rId90"/>
    <p:sldId id="631" r:id="rId91"/>
  </p:sldIdLst>
  <p:sldSz cx="9144000" cy="6858000" type="screen4x3"/>
  <p:notesSz cx="6858000" cy="9144000"/>
  <p:embeddedFontLst>
    <p:embeddedFont>
      <p:font typeface="黑体" pitchFamily="49" charset="-122"/>
      <p:regular r:id="rId97"/>
    </p:embeddedFont>
    <p:embeddedFont>
      <p:font typeface="方正兰亭中黑_GBK" panose="02000000000000000000" pitchFamily="2" charset="-122"/>
      <p:regular r:id="rId98"/>
    </p:embeddedFont>
    <p:embeddedFont>
      <p:font typeface="DejaVu Math TeX Gyre" panose="02000503000000000000" charset="0"/>
      <p:regular r:id="rId99"/>
    </p:embeddedFont>
  </p:embeddedFontLst>
  <p:defaultTextStyle>
    <a:defPPr>
      <a:defRPr lang="zh-CN"/>
    </a:defPPr>
    <a:lvl1pPr algn="ctr" rtl="0" fontAlgn="base">
      <a:spcBef>
        <a:spcPct val="0"/>
      </a:spcBef>
      <a:spcAft>
        <a:spcPct val="0"/>
      </a:spcAft>
      <a:defRPr b="1" kern="1200">
        <a:solidFill>
          <a:schemeClr val="tx1"/>
        </a:solidFill>
        <a:latin typeface="Verdana" panose="020B0804030504040204" pitchFamily="34" charset="0"/>
        <a:ea typeface="宋体" pitchFamily="2" charset="-122"/>
        <a:cs typeface="+mn-cs"/>
      </a:defRPr>
    </a:lvl1pPr>
    <a:lvl2pPr marL="457200" algn="ctr" rtl="0" fontAlgn="base">
      <a:spcBef>
        <a:spcPct val="0"/>
      </a:spcBef>
      <a:spcAft>
        <a:spcPct val="0"/>
      </a:spcAft>
      <a:defRPr b="1" kern="1200">
        <a:solidFill>
          <a:schemeClr val="tx1"/>
        </a:solidFill>
        <a:latin typeface="Verdana" panose="020B0804030504040204" pitchFamily="34" charset="0"/>
        <a:ea typeface="宋体" pitchFamily="2" charset="-122"/>
        <a:cs typeface="+mn-cs"/>
      </a:defRPr>
    </a:lvl2pPr>
    <a:lvl3pPr marL="914400" algn="ctr" rtl="0" fontAlgn="base">
      <a:spcBef>
        <a:spcPct val="0"/>
      </a:spcBef>
      <a:spcAft>
        <a:spcPct val="0"/>
      </a:spcAft>
      <a:defRPr b="1" kern="1200">
        <a:solidFill>
          <a:schemeClr val="tx1"/>
        </a:solidFill>
        <a:latin typeface="Verdana" panose="020B0804030504040204" pitchFamily="34" charset="0"/>
        <a:ea typeface="宋体" pitchFamily="2" charset="-122"/>
        <a:cs typeface="+mn-cs"/>
      </a:defRPr>
    </a:lvl3pPr>
    <a:lvl4pPr marL="1371600" algn="ctr" rtl="0" fontAlgn="base">
      <a:spcBef>
        <a:spcPct val="0"/>
      </a:spcBef>
      <a:spcAft>
        <a:spcPct val="0"/>
      </a:spcAft>
      <a:defRPr b="1" kern="1200">
        <a:solidFill>
          <a:schemeClr val="tx1"/>
        </a:solidFill>
        <a:latin typeface="Verdana" panose="020B0804030504040204" pitchFamily="34" charset="0"/>
        <a:ea typeface="宋体" pitchFamily="2" charset="-122"/>
        <a:cs typeface="+mn-cs"/>
      </a:defRPr>
    </a:lvl4pPr>
    <a:lvl5pPr marL="1828800" algn="ctr" rtl="0" fontAlgn="base">
      <a:spcBef>
        <a:spcPct val="0"/>
      </a:spcBef>
      <a:spcAft>
        <a:spcPct val="0"/>
      </a:spcAft>
      <a:defRPr b="1"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b="1"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b="1"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b="1"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b="1" kern="1200">
        <a:solidFill>
          <a:schemeClr val="tx1"/>
        </a:solidFill>
        <a:latin typeface="Verdana" panose="020B08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64" userDrawn="1">
          <p15:clr>
            <a:srgbClr val="A4A3A4"/>
          </p15:clr>
        </p15:guide>
        <p15:guide id="2" pos="283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黄 牧野" initials="黄"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57AE"/>
    <a:srgbClr val="DDDDDD"/>
    <a:srgbClr val="FFFFCC"/>
    <a:srgbClr val="0000FF"/>
    <a:srgbClr val="FFFFE7"/>
    <a:srgbClr val="FF9933"/>
    <a:srgbClr val="003399"/>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5" autoAdjust="0"/>
    <p:restoredTop sz="94898" autoAdjust="0"/>
  </p:normalViewPr>
  <p:slideViewPr>
    <p:cSldViewPr showGuides="1">
      <p:cViewPr varScale="1">
        <p:scale>
          <a:sx n="121" d="100"/>
          <a:sy n="121" d="100"/>
        </p:scale>
        <p:origin x="1848" y="176"/>
      </p:cViewPr>
      <p:guideLst>
        <p:guide orient="horz" pos="2164"/>
        <p:guide pos="283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08"/>
    </p:cViewPr>
  </p:sorterViewPr>
  <p:notesViewPr>
    <p:cSldViewPr>
      <p:cViewPr varScale="1">
        <p:scale>
          <a:sx n="57" d="100"/>
          <a:sy n="57" d="100"/>
        </p:scale>
        <p:origin x="-1836" y="-96"/>
      </p:cViewPr>
      <p:guideLst>
        <p:guide orient="horz" pos="2885"/>
        <p:guide pos="2126"/>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font" Target="fonts/font3.fntdata"/><Relationship Id="rId98" Type="http://schemas.openxmlformats.org/officeDocument/2006/relationships/font" Target="fonts/font2.fntdata"/><Relationship Id="rId97" Type="http://schemas.openxmlformats.org/officeDocument/2006/relationships/font" Target="fonts/font1.fntdata"/><Relationship Id="rId96" Type="http://schemas.openxmlformats.org/officeDocument/2006/relationships/commentAuthors" Target="commentAuthors.xml"/><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handoutMaster" Target="handoutMasters/handoutMaster1.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72.wmf"/><Relationship Id="rId4" Type="http://schemas.openxmlformats.org/officeDocument/2006/relationships/image" Target="../media/image71.wmf"/><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82.wmf"/><Relationship Id="rId4" Type="http://schemas.openxmlformats.org/officeDocument/2006/relationships/image" Target="../media/image81.wmf"/><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b="0">
                <a:latin typeface="Arial" panose="020B0604020202090204" pitchFamily="34" charset="0"/>
              </a:defRPr>
            </a:lvl1pPr>
          </a:lstStyle>
          <a:p>
            <a:pPr>
              <a:defRPr/>
            </a:pPr>
            <a:endParaRPr lang="en-US" altLang="zh-CN"/>
          </a:p>
        </p:txBody>
      </p:sp>
      <p:sp>
        <p:nvSpPr>
          <p:cNvPr id="6963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b="0">
                <a:latin typeface="Arial" panose="020B0604020202090204" pitchFamily="34" charset="0"/>
              </a:defRPr>
            </a:lvl1pPr>
          </a:lstStyle>
          <a:p>
            <a:pPr>
              <a:defRPr/>
            </a:pPr>
            <a:endParaRPr lang="en-US" altLang="zh-CN"/>
          </a:p>
        </p:txBody>
      </p:sp>
      <p:sp>
        <p:nvSpPr>
          <p:cNvPr id="6963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b="0">
                <a:latin typeface="Arial" panose="020B0604020202090204" pitchFamily="34" charset="0"/>
              </a:defRPr>
            </a:lvl1pPr>
          </a:lstStyle>
          <a:p>
            <a:pPr>
              <a:defRPr/>
            </a:pPr>
            <a:endParaRPr lang="en-US" altLang="zh-CN"/>
          </a:p>
        </p:txBody>
      </p:sp>
      <p:sp>
        <p:nvSpPr>
          <p:cNvPr id="6963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b="0">
                <a:latin typeface="Arial" panose="020B0604020202090204" pitchFamily="34" charset="0"/>
              </a:defRPr>
            </a:lvl1pPr>
          </a:lstStyle>
          <a:p>
            <a:pPr>
              <a:defRPr/>
            </a:pPr>
            <a:fld id="{8AEEF25E-AA2D-40BD-9D1F-6F08D95ECE42}"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b="0">
                <a:latin typeface="Arial" panose="020B0604020202090204" pitchFamily="34" charset="0"/>
              </a:defRPr>
            </a:lvl1pPr>
          </a:lstStyle>
          <a:p>
            <a:pPr>
              <a:defRPr/>
            </a:pPr>
            <a:endParaRPr lang="en-US" altLang="zh-CN"/>
          </a:p>
        </p:txBody>
      </p:sp>
      <p:sp>
        <p:nvSpPr>
          <p:cNvPr id="15155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b="0">
                <a:latin typeface="Arial" panose="020B0604020202090204" pitchFamily="34" charset="0"/>
              </a:defRPr>
            </a:lvl1pPr>
          </a:lstStyle>
          <a:p>
            <a:pPr>
              <a:defRPr/>
            </a:pPr>
            <a:endParaRPr lang="en-US" altLang="zh-CN"/>
          </a:p>
        </p:txBody>
      </p:sp>
      <p:sp>
        <p:nvSpPr>
          <p:cNvPr id="71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155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5155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b="0">
                <a:latin typeface="Arial" panose="020B0604020202090204" pitchFamily="34" charset="0"/>
              </a:defRPr>
            </a:lvl1pPr>
          </a:lstStyle>
          <a:p>
            <a:pPr>
              <a:defRPr/>
            </a:pPr>
            <a:endParaRPr lang="en-US" altLang="zh-CN"/>
          </a:p>
        </p:txBody>
      </p:sp>
      <p:sp>
        <p:nvSpPr>
          <p:cNvPr id="15155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b="0">
                <a:latin typeface="Arial" panose="020B0604020202090204" pitchFamily="34" charset="0"/>
              </a:defRPr>
            </a:lvl1pPr>
          </a:lstStyle>
          <a:p>
            <a:pPr>
              <a:defRPr/>
            </a:pPr>
            <a:fld id="{71A137A4-217E-45A5-BE61-3D510F7CF03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3243A12F-55D2-49E9-8A39-8A06CE9A7CAC}"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1A137A4-217E-45A5-BE61-3D510F7CF03F}"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6C727E7-F116-45C3-BC41-146BE1BF9D93}" type="slidenum">
              <a:rPr kumimoji="0" lang="en-US"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r>
              <a:rPr lang="zh-CN" altLang="zh-CN"/>
              <a:t>Mode≈</a:t>
            </a:r>
            <a:r>
              <a:rPr lang="en-US" altLang="zh-CN"/>
              <a:t>3</a:t>
            </a:r>
            <a:r>
              <a:rPr lang="zh-CN" altLang="zh-CN"/>
              <a:t>×Median−</a:t>
            </a:r>
            <a:r>
              <a:rPr lang="en-US" altLang="zh-CN"/>
              <a:t>2</a:t>
            </a:r>
            <a:r>
              <a:rPr lang="zh-CN" altLang="zh-CN"/>
              <a:t>×Mean</a:t>
            </a:r>
            <a:endParaRPr lang="zh-CN" altLang="zh-CN"/>
          </a:p>
          <a:p>
            <a:pPr eaLnBrk="1" hangingPunct="1"/>
            <a:endParaRPr lang="zh-CN" altLang="zh-CN"/>
          </a:p>
          <a:p>
            <a:pPr eaLnBrk="1" hangingPunct="1"/>
            <a:r>
              <a:rPr lang="zh-CN" altLang="zh-CN"/>
              <a:t>这个经验公式基于适度倾斜分布的特点，尤其是在分布呈单峰形态时有效。这里的含义是，众数大约等于中位数的三倍减去均值的两倍。</a:t>
            </a:r>
            <a:endParaRPr lang="zh-CN" altLang="zh-CN"/>
          </a:p>
          <a:p>
            <a:pPr eaLnBrk="1" hangingPunct="1"/>
            <a:endParaRPr lang="zh-CN" altLang="zh-CN"/>
          </a:p>
          <a:p>
            <a:pPr eaLnBrk="1" hangingPunct="1"/>
            <a:r>
              <a:rPr lang="zh-CN" altLang="zh-CN"/>
              <a:t>解释这个公式的理论依据可以通过以下方式：</a:t>
            </a:r>
            <a:endParaRPr lang="zh-CN" altLang="zh-CN"/>
          </a:p>
          <a:p>
            <a:pPr eaLnBrk="1" hangingPunct="1"/>
            <a:endParaRPr lang="zh-CN" altLang="zh-CN"/>
          </a:p>
          <a:p>
            <a:pPr eaLnBrk="1" hangingPunct="1"/>
            <a:r>
              <a:rPr lang="zh-CN" altLang="zh-CN"/>
              <a:t>**均值（Mean）通常受极端值影响，而中位数（Median）**则不会受到这些值的影响</a:t>
            </a:r>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r>
              <a:rPr lang="zh-CN" altLang="zh-CN"/>
              <a:t>无偏样本方差是指通过样本计算得到的方差，其分母是 这样做是为了使得样本方差在对总体方差进行估计时更加无偏，即更接近总体方差的真实值。</a:t>
            </a:r>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群体智能（Collective Intelligence）指的是群体或集体在协作互动中表现出的智能水平，超过了单个个体的智能表现。这种现象通常在群体中的合作、协作和信息交流过程中显现出来，导致整体的智能或解决问题的能力高于单个成员的能力。</a:t>
            </a:r>
            <a:endParaRPr lang="zh-CN" altLang="en-US"/>
          </a:p>
          <a:p>
            <a:endParaRPr lang="zh-CN" altLang="en-US"/>
          </a:p>
          <a:p>
            <a:r>
              <a:rPr lang="zh-CN" altLang="en-US"/>
              <a:t>在群体智能研究中，有时候会根据成员之间的交互和反馈情况，将群体智能分为不同的范式或模式，以帮助理解群体在协作和决策过程中的特性和效果。</a:t>
            </a:r>
            <a:endParaRPr lang="zh-CN" altLang="en-US"/>
          </a:p>
          <a:p>
            <a:endParaRPr lang="zh-CN" altLang="en-US"/>
          </a:p>
          <a:p>
            <a:r>
              <a:rPr lang="zh-CN" altLang="en-US"/>
              <a:t>范式1：无交互、无反馈</a:t>
            </a:r>
            <a:endParaRPr lang="zh-CN" altLang="en-US"/>
          </a:p>
          <a:p>
            <a:endParaRPr lang="zh-CN" altLang="en-US"/>
          </a:p>
          <a:p>
            <a:r>
              <a:rPr lang="zh-CN" altLang="en-US"/>
              <a:t>在这种范式下，群体成员之间几乎没有直接的交互或者信息反馈。</a:t>
            </a:r>
            <a:endParaRPr lang="zh-CN" altLang="en-US"/>
          </a:p>
          <a:p>
            <a:r>
              <a:rPr lang="zh-CN" altLang="en-US"/>
              <a:t>每个成员通常独立工作，不受到其他成员行为或意见的影响。</a:t>
            </a:r>
            <a:endParaRPr lang="zh-CN" altLang="en-US"/>
          </a:p>
          <a:p>
            <a:r>
              <a:rPr lang="zh-CN" altLang="en-US"/>
              <a:t>群体中的成员可以独立思考和决策，但缺乏互动和信息共享。</a:t>
            </a:r>
            <a:endParaRPr lang="zh-CN" altLang="en-US"/>
          </a:p>
          <a:p>
            <a:r>
              <a:rPr lang="zh-CN" altLang="en-US"/>
              <a:t>这种情况下的群体智能可能主要体现在每个成员独立贡献的智慧和解决方案。</a:t>
            </a:r>
            <a:endParaRPr lang="zh-CN" altLang="en-US"/>
          </a:p>
          <a:p>
            <a:r>
              <a:rPr lang="zh-CN" altLang="en-US"/>
              <a:t>范式2：有交互、无反馈</a:t>
            </a:r>
            <a:endParaRPr lang="zh-CN" altLang="en-US"/>
          </a:p>
          <a:p>
            <a:endParaRPr lang="zh-CN" altLang="en-US"/>
          </a:p>
          <a:p>
            <a:r>
              <a:rPr lang="zh-CN" altLang="en-US"/>
              <a:t>在这种范式中，群体成员之间存在信息交流和互动，但没有明确的反馈机制。</a:t>
            </a:r>
            <a:endParaRPr lang="zh-CN" altLang="en-US"/>
          </a:p>
          <a:p>
            <a:r>
              <a:rPr lang="zh-CN" altLang="en-US"/>
              <a:t>成员可以交换想法、观点和信息，但没有机制来评估或影响其他成员的决策或行动。</a:t>
            </a:r>
            <a:endParaRPr lang="zh-CN" altLang="en-US"/>
          </a:p>
          <a:p>
            <a:r>
              <a:rPr lang="zh-CN" altLang="en-US"/>
              <a:t>这种情况下的群体智能可能通过信息共享和知识传递来提高，但决策和行动仍然是各自独立的。</a:t>
            </a:r>
            <a:endParaRPr lang="zh-CN" altLang="en-US"/>
          </a:p>
          <a:p>
            <a:r>
              <a:rPr lang="zh-CN" altLang="en-US"/>
              <a:t>范式3：有交互、有反馈</a:t>
            </a:r>
            <a:endParaRPr lang="zh-CN" altLang="en-US"/>
          </a:p>
          <a:p>
            <a:endParaRPr lang="zh-CN" altLang="en-US"/>
          </a:p>
          <a:p>
            <a:r>
              <a:rPr lang="zh-CN" altLang="en-US"/>
              <a:t>这是最具有典型性和效率的范式，也是最能实现群体智能的情况。</a:t>
            </a:r>
            <a:endParaRPr lang="zh-CN" altLang="en-US"/>
          </a:p>
          <a:p>
            <a:r>
              <a:rPr lang="zh-CN" altLang="en-US"/>
              <a:t>在这种范式中，群体成员之间通过交流和互动共同工作，并且可以接收到其他成员的反馈。</a:t>
            </a:r>
            <a:endParaRPr lang="zh-CN" altLang="en-US"/>
          </a:p>
          <a:p>
            <a:r>
              <a:rPr lang="zh-CN" altLang="en-US"/>
              <a:t>反馈可以是来自其他成员的回应、评估、批评或建议，也可以是系统化的反馈机制（如投票、评分等）。</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1A137A4-217E-45A5-BE61-3D510F7CF03F}" type="slidenum">
              <a:rPr lang="en-US" altLang="zh-CN"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r>
              <a:rPr lang="zh-CN" altLang="zh-CN"/>
              <a:t>数据的可解释性指的是从数据中提取的信息或者分析结果可以被清晰、有效地解释和理解的程度。</a:t>
            </a:r>
            <a:endParaRPr lang="zh-CN" altLang="zh-CN"/>
          </a:p>
          <a:p>
            <a:pPr eaLnBrk="1" hangingPunct="1"/>
            <a:r>
              <a:rPr lang="zh-CN" altLang="zh-CN"/>
              <a:t>可增值性通过数据的整合和分析，可以生成新的见解和知识，这些知识可以用于优化业务流程、提高效率或者改进决策，从而增加数据的商业价值。</a:t>
            </a:r>
            <a:br>
              <a:rPr lang="zh-CN" altLang="zh-CN"/>
            </a:br>
            <a:br>
              <a:rPr lang="zh-CN" altLang="zh-CN"/>
            </a:br>
            <a:r>
              <a:rPr lang="en-US" altLang="zh-CN"/>
              <a:t>“</a:t>
            </a:r>
            <a:r>
              <a:rPr lang="zh-CN" altLang="en-US"/>
              <a:t>这个特定字段的值为什么是空的？</a:t>
            </a:r>
            <a:r>
              <a:rPr lang="en-US" altLang="zh-CN"/>
              <a:t>” -&gt; </a:t>
            </a:r>
            <a:r>
              <a:rPr lang="zh-CN" altLang="en-US"/>
              <a:t>可追溯至数据血缘，发现是上游某个系统在特定时间点停止了推送。</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865597A-57B4-431D-BD81-57ED45596C1B}"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865597A-57B4-431D-BD81-57ED45596C1B}"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865597A-57B4-431D-BD81-57ED45596C1B}"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865597A-57B4-431D-BD81-57ED45596C1B}"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865597A-57B4-431D-BD81-57ED45596C1B}"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865597A-57B4-431D-BD81-57ED45596C1B}"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如果在进行卡方检验时不能拒绝零假设，通常意味着观察到的数据与期望数据之间的差异不足以支持得出显著性结论</a:t>
            </a:r>
            <a:endParaRPr lang="zh-CN" altLang="en-US" dirty="0"/>
          </a:p>
        </p:txBody>
      </p:sp>
      <p:sp>
        <p:nvSpPr>
          <p:cNvPr id="4" name="灯片编号占位符 3"/>
          <p:cNvSpPr>
            <a:spLocks noGrp="1"/>
          </p:cNvSpPr>
          <p:nvPr>
            <p:ph type="sldNum" sz="quarter" idx="10"/>
          </p:nvPr>
        </p:nvSpPr>
        <p:spPr/>
        <p:txBody>
          <a:bodyPr/>
          <a:lstStyle/>
          <a:p>
            <a:pPr>
              <a:defRPr/>
            </a:pPr>
            <a:fld id="{D865597A-57B4-431D-BD81-57ED45596C1B}"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值集合会使得数据的均值为0，标准差为1。这样一来，不同变量之间就可以更公平地进行比较和分析，而不会受到变量尺度不同的影响。</a:t>
            </a:r>
            <a:endParaRPr lang="zh-CN" altLang="en-US"/>
          </a:p>
          <a:p>
            <a:r>
              <a:rPr lang="zh-CN" altLang="en-US"/>
              <a:t>特点和应用：</a:t>
            </a:r>
            <a:endParaRPr lang="zh-CN" altLang="en-US"/>
          </a:p>
          <a:p>
            <a:r>
              <a:rPr lang="zh-CN" altLang="en-US"/>
              <a:t>简化数据比较：通过Z-score标准化，可以消除由于原始数据尺度不同而引起的比较困难，使得不同变量之间的比较更加公平和可靠。</a:t>
            </a:r>
            <a:endParaRPr lang="zh-CN" altLang="en-US"/>
          </a:p>
          <a:p>
            <a:endParaRPr lang="zh-CN" altLang="en-US"/>
          </a:p>
          <a:p>
            <a:r>
              <a:rPr lang="zh-CN" altLang="en-US"/>
              <a:t>适用性广泛：Z-score规范化适用于各种类型的数据，特别是那些需要比较和聚合不同度量单位的数据。</a:t>
            </a:r>
            <a:endParaRPr lang="zh-CN" altLang="en-US"/>
          </a:p>
          <a:p>
            <a:endParaRPr lang="zh-CN" altLang="en-US"/>
          </a:p>
          <a:p>
            <a:r>
              <a:rPr lang="zh-CN" altLang="en-US"/>
              <a:t>数据分布不变性：Z-score规范化并不改变原始数据的分布形状，而只是将其重新缩放到标准正态分布的尺度。</a:t>
            </a:r>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多重共线性：如果在回归模型中包含了所有的虚拟变量（即每个分类变量的所有水平），会导致多重共线性问题。这是因为虚拟变量之间不是独立的，它们的取值之和总是为1，这样在回归分析中会存在一个变量的值可以通过其他变量的值推导出来，导致模型的系数估计不准确。</a:t>
            </a:r>
            <a:endParaRPr lang="zh-CN" altLang="en-US"/>
          </a:p>
          <a:p>
            <a:endParaRPr lang="zh-CN" altLang="en-US"/>
          </a:p>
          <a:p>
            <a:r>
              <a:rPr lang="zh-CN" altLang="en-US"/>
              <a:t>由于虚拟变量的设计方式，会存在线性依赖关系，这在回归模型中是不被允许的，会导致模型无法进行良好的参数估计。</a:t>
            </a:r>
            <a:endParaRPr lang="zh-CN" altLang="en-US"/>
          </a:p>
          <a:p>
            <a:endParaRPr lang="zh-CN" altLang="en-US"/>
          </a:p>
          <a:p>
            <a:endParaRPr lang="zh-CN" altLang="en-US"/>
          </a:p>
          <a:p>
            <a:endParaRPr lang="zh-CN" altLang="en-US"/>
          </a:p>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eaLnBrk="0" hangingPunct="0">
              <a:defRPr b="1">
                <a:solidFill>
                  <a:schemeClr val="tx1"/>
                </a:solidFill>
                <a:latin typeface="Verdana" panose="020B0804030504040204" pitchFamily="34" charset="0"/>
                <a:ea typeface="宋体" pitchFamily="2" charset="-122"/>
              </a:defRPr>
            </a:lvl1pPr>
            <a:lvl2pPr marL="742950" indent="-285750" eaLnBrk="0" hangingPunct="0">
              <a:defRPr b="1">
                <a:solidFill>
                  <a:schemeClr val="tx1"/>
                </a:solidFill>
                <a:latin typeface="Verdana" panose="020B0804030504040204" pitchFamily="34" charset="0"/>
                <a:ea typeface="宋体" pitchFamily="2" charset="-122"/>
              </a:defRPr>
            </a:lvl2pPr>
            <a:lvl3pPr marL="1143000" indent="-228600" eaLnBrk="0" hangingPunct="0">
              <a:defRPr b="1">
                <a:solidFill>
                  <a:schemeClr val="tx1"/>
                </a:solidFill>
                <a:latin typeface="Verdana" panose="020B0804030504040204" pitchFamily="34" charset="0"/>
                <a:ea typeface="宋体" pitchFamily="2" charset="-122"/>
              </a:defRPr>
            </a:lvl3pPr>
            <a:lvl4pPr marL="1600200" indent="-228600" eaLnBrk="0" hangingPunct="0">
              <a:defRPr b="1">
                <a:solidFill>
                  <a:schemeClr val="tx1"/>
                </a:solidFill>
                <a:latin typeface="Verdana" panose="020B0804030504040204" pitchFamily="34" charset="0"/>
                <a:ea typeface="宋体" pitchFamily="2" charset="-122"/>
              </a:defRPr>
            </a:lvl4pPr>
            <a:lvl5pPr marL="2057400" indent="-228600" eaLnBrk="0" hangingPunct="0">
              <a:defRPr b="1">
                <a:solidFill>
                  <a:schemeClr val="tx1"/>
                </a:solidFill>
                <a:latin typeface="Verdana" panose="020B0804030504040204"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Verdana" panose="020B0804030504040204" pitchFamily="34" charset="0"/>
                <a:ea typeface="宋体" pitchFamily="2" charset="-122"/>
              </a:defRPr>
            </a:lvl9pPr>
          </a:lstStyle>
          <a:p>
            <a:pPr eaLnBrk="1" hangingPunct="1"/>
            <a:fld id="{96C727E7-F116-45C3-BC41-146BE1BF9D93}" type="slidenum">
              <a:rPr lang="en-US" altLang="zh-CN" b="0" smtClean="0">
                <a:latin typeface="Arial" panose="020B0604020202090204" pitchFamily="34" charset="0"/>
              </a:rPr>
            </a:fld>
            <a:endParaRPr lang="en-US" altLang="zh-CN" b="0">
              <a:latin typeface="Arial" panose="020B0604020202090204" pitchFamily="34" charset="0"/>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1A137A4-217E-45A5-BE61-3D510F7CF03F}" type="slidenum">
              <a:rPr lang="en-US" altLang="zh-CN" smtClean="0"/>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r>
              <a:rPr lang="zh-CN" altLang="en-US" dirty="0"/>
              <a:t>人工进行概念分层是一项乏味耗时的工作。实际数据挖掘操作中，我们发现很多分层蕴涵在数据库的模式中，因而可以自动的产生概念分层。或者可以对数据的统计分析动态的加以提炼，产生概念分层。</a:t>
            </a:r>
            <a:endParaRPr lang="zh-CN" altLang="en-US" dirty="0"/>
          </a:p>
          <a:p>
            <a:pPr eaLnBrk="1" hangingPunct="1"/>
            <a:r>
              <a:rPr lang="zh-CN" altLang="en-US"/>
              <a:t>数值属性的概念分层可以根据数值分布分析自动的构造，我们主要考察</a:t>
            </a:r>
            <a:r>
              <a:rPr lang="en-US" altLang="zh-CN"/>
              <a:t>5</a:t>
            </a:r>
            <a:r>
              <a:rPr lang="zh-CN" altLang="en-US"/>
              <a:t>中方法：</a:t>
            </a:r>
            <a:endParaRPr lang="zh-CN" altLang="en-US"/>
          </a:p>
          <a:p>
            <a:pPr eaLnBrk="1" hangingPunct="1"/>
            <a:r>
              <a:rPr lang="zh-CN" altLang="en-US"/>
              <a:t>分箱、递归的：比如将</a:t>
            </a:r>
            <a:r>
              <a:rPr lang="en-US" altLang="zh-CN"/>
              <a:t>10,000</a:t>
            </a:r>
            <a:r>
              <a:rPr lang="zh-CN" altLang="en-US"/>
              <a:t>个值，每个箱子中放</a:t>
            </a:r>
            <a:r>
              <a:rPr lang="en-US" altLang="zh-CN"/>
              <a:t>10</a:t>
            </a:r>
            <a:r>
              <a:rPr lang="zh-CN" altLang="en-US"/>
              <a:t>个，则可以将其规约为</a:t>
            </a:r>
            <a:r>
              <a:rPr lang="en-US" altLang="zh-CN"/>
              <a:t>1000</a:t>
            </a:r>
            <a:r>
              <a:rPr lang="zh-CN" altLang="en-US"/>
              <a:t>个值；如果要求将这</a:t>
            </a:r>
            <a:r>
              <a:rPr lang="en-US" altLang="zh-CN"/>
              <a:t>10,000</a:t>
            </a:r>
            <a:r>
              <a:rPr lang="zh-CN" altLang="en-US"/>
              <a:t>个值规约为</a:t>
            </a:r>
            <a:r>
              <a:rPr lang="en-US" altLang="zh-CN"/>
              <a:t>10</a:t>
            </a:r>
            <a:r>
              <a:rPr lang="zh-CN" altLang="en-US"/>
              <a:t>个概念，则只要将上述分箱方法递归的使用</a:t>
            </a:r>
            <a:r>
              <a:rPr lang="en-US" altLang="zh-CN"/>
              <a:t>3</a:t>
            </a:r>
            <a:r>
              <a:rPr lang="zh-CN" altLang="en-US"/>
              <a:t>次就可以了。</a:t>
            </a:r>
            <a:endParaRPr lang="zh-CN" altLang="en-US"/>
          </a:p>
          <a:p>
            <a:pPr eaLnBrk="1" hangingPunct="1"/>
            <a:endParaRPr lang="en-US" altLang="zh-CN"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r>
              <a:rPr lang="zh-CN" altLang="en-US" dirty="0"/>
              <a:t>人工进行概念分层是一项乏味耗时的工作。实际数据挖掘操作中，我们发现很多分层蕴涵在数据库的模式中，因而可以自动的产生概念分层。或者可以对数据的统计分析动态的加以提炼，产生概念分层。</a:t>
            </a:r>
            <a:endParaRPr lang="zh-CN" altLang="en-US" dirty="0"/>
          </a:p>
          <a:p>
            <a:pPr eaLnBrk="1" hangingPunct="1"/>
            <a:r>
              <a:rPr lang="zh-CN" altLang="en-US"/>
              <a:t>数值属性的概念分层可以根据数值分布分析自动的构造，我们主要考察</a:t>
            </a:r>
            <a:r>
              <a:rPr lang="en-US" altLang="zh-CN"/>
              <a:t>5</a:t>
            </a:r>
            <a:r>
              <a:rPr lang="zh-CN" altLang="en-US"/>
              <a:t>中方法：</a:t>
            </a:r>
            <a:endParaRPr lang="zh-CN" altLang="en-US"/>
          </a:p>
          <a:p>
            <a:pPr eaLnBrk="1" hangingPunct="1"/>
            <a:r>
              <a:rPr lang="zh-CN" altLang="en-US"/>
              <a:t>分箱、递归的：比如将</a:t>
            </a:r>
            <a:r>
              <a:rPr lang="en-US" altLang="zh-CN"/>
              <a:t>10,000</a:t>
            </a:r>
            <a:r>
              <a:rPr lang="zh-CN" altLang="en-US"/>
              <a:t>个值，每个箱子中放</a:t>
            </a:r>
            <a:r>
              <a:rPr lang="en-US" altLang="zh-CN"/>
              <a:t>10</a:t>
            </a:r>
            <a:r>
              <a:rPr lang="zh-CN" altLang="en-US"/>
              <a:t>个，则可以将其规约为</a:t>
            </a:r>
            <a:r>
              <a:rPr lang="en-US" altLang="zh-CN"/>
              <a:t>1000</a:t>
            </a:r>
            <a:r>
              <a:rPr lang="zh-CN" altLang="en-US"/>
              <a:t>个值；如果要求将这</a:t>
            </a:r>
            <a:r>
              <a:rPr lang="en-US" altLang="zh-CN"/>
              <a:t>10,000</a:t>
            </a:r>
            <a:r>
              <a:rPr lang="zh-CN" altLang="en-US"/>
              <a:t>个值规约为</a:t>
            </a:r>
            <a:r>
              <a:rPr lang="en-US" altLang="zh-CN"/>
              <a:t>10</a:t>
            </a:r>
            <a:r>
              <a:rPr lang="zh-CN" altLang="en-US"/>
              <a:t>个概念，则只要将上述分箱方法递归的使用</a:t>
            </a:r>
            <a:r>
              <a:rPr lang="en-US" altLang="zh-CN"/>
              <a:t>3</a:t>
            </a:r>
            <a:r>
              <a:rPr lang="zh-CN" altLang="en-US"/>
              <a:t>次就可以了。</a:t>
            </a:r>
            <a:endParaRPr lang="zh-CN" altLang="en-US"/>
          </a:p>
          <a:p>
            <a:pPr eaLnBrk="1" hangingPunct="1"/>
            <a:endParaRPr lang="en-US" alt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r>
              <a:rPr lang="zh-CN" altLang="en-US" dirty="0"/>
              <a:t>人工进行概念分层是一项乏味耗时的工作。实际数据挖掘操作中，我们发现很多分层蕴涵在数据库的模式中，因而可以自动的产生概念分层。或者可以对数据的统计分析动态的加以提炼，产生概念分层。</a:t>
            </a:r>
            <a:endParaRPr lang="zh-CN" altLang="en-US" dirty="0"/>
          </a:p>
          <a:p>
            <a:pPr eaLnBrk="1" hangingPunct="1"/>
            <a:r>
              <a:rPr lang="zh-CN" altLang="en-US"/>
              <a:t>数值属性的概念分层可以根据数值分布分析自动的构造，我们主要考察</a:t>
            </a:r>
            <a:r>
              <a:rPr lang="en-US" altLang="zh-CN"/>
              <a:t>5</a:t>
            </a:r>
            <a:r>
              <a:rPr lang="zh-CN" altLang="en-US"/>
              <a:t>中方法：</a:t>
            </a:r>
            <a:endParaRPr lang="zh-CN" altLang="en-US"/>
          </a:p>
          <a:p>
            <a:pPr eaLnBrk="1" hangingPunct="1"/>
            <a:r>
              <a:rPr lang="zh-CN" altLang="en-US"/>
              <a:t>分箱、递归的：比如将</a:t>
            </a:r>
            <a:r>
              <a:rPr lang="en-US" altLang="zh-CN"/>
              <a:t>10,000</a:t>
            </a:r>
            <a:r>
              <a:rPr lang="zh-CN" altLang="en-US"/>
              <a:t>个值，每个箱子中放</a:t>
            </a:r>
            <a:r>
              <a:rPr lang="en-US" altLang="zh-CN"/>
              <a:t>10</a:t>
            </a:r>
            <a:r>
              <a:rPr lang="zh-CN" altLang="en-US"/>
              <a:t>个，则可以将其规约为</a:t>
            </a:r>
            <a:r>
              <a:rPr lang="en-US" altLang="zh-CN"/>
              <a:t>1000</a:t>
            </a:r>
            <a:r>
              <a:rPr lang="zh-CN" altLang="en-US"/>
              <a:t>个值；如果要求将这</a:t>
            </a:r>
            <a:r>
              <a:rPr lang="en-US" altLang="zh-CN"/>
              <a:t>10,000</a:t>
            </a:r>
            <a:r>
              <a:rPr lang="zh-CN" altLang="en-US"/>
              <a:t>个值规约为</a:t>
            </a:r>
            <a:r>
              <a:rPr lang="en-US" altLang="zh-CN"/>
              <a:t>10</a:t>
            </a:r>
            <a:r>
              <a:rPr lang="zh-CN" altLang="en-US"/>
              <a:t>个概念，则只要将上述分箱方法递归的使用</a:t>
            </a:r>
            <a:r>
              <a:rPr lang="en-US" altLang="zh-CN"/>
              <a:t>3</a:t>
            </a:r>
            <a:r>
              <a:rPr lang="zh-CN" altLang="en-US"/>
              <a:t>次就可以了。</a:t>
            </a:r>
            <a:endParaRPr lang="zh-CN" altLang="en-US"/>
          </a:p>
          <a:p>
            <a:pPr eaLnBrk="1" hangingPunct="1"/>
            <a:endParaRPr lang="en-US" altLang="zh-CN"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zh-CN"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zh-CN"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zh-CN"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zh-CN"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zh-CN"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zh-CN"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zh-CN"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zh-CN"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zh-CN"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86CBF22E-995D-455E-83E3-10BFE24BFA5B}" type="slidenum">
              <a:rPr lang="en-US" altLang="zh-CN" smtClean="0"/>
            </a:fld>
            <a:endParaRPr lang="en-US" altLang="zh-CN"/>
          </a:p>
        </p:txBody>
      </p:sp>
      <p:sp>
        <p:nvSpPr>
          <p:cNvPr id="348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r>
              <a:rPr lang="zh-CN" altLang="en-US"/>
              <a:t>人工进行概念分层是一项乏味耗时的工作。实际数据挖掘操作中，我们发现很多分层蕴涵在数据库的模式中，因而可以自动的产生概念分层。或者可以对数据的统计分析动态的加以提炼，产生概念分层。</a:t>
            </a:r>
            <a:endParaRPr lang="zh-CN" altLang="en-US"/>
          </a:p>
          <a:p>
            <a:pPr eaLnBrk="1" hangingPunct="1"/>
            <a:r>
              <a:rPr lang="zh-CN" altLang="en-US"/>
              <a:t>数值属性的概念分层可以根据数值分布分析自动的构造，我们主要考察</a:t>
            </a:r>
            <a:r>
              <a:rPr lang="en-US" altLang="zh-CN"/>
              <a:t>5</a:t>
            </a:r>
            <a:r>
              <a:rPr lang="zh-CN" altLang="en-US"/>
              <a:t>中方法：</a:t>
            </a:r>
            <a:endParaRPr lang="zh-CN" altLang="en-US"/>
          </a:p>
          <a:p>
            <a:pPr eaLnBrk="1" hangingPunct="1"/>
            <a:r>
              <a:rPr lang="zh-CN" altLang="en-US"/>
              <a:t>分箱、递归的：比如将</a:t>
            </a:r>
            <a:r>
              <a:rPr lang="en-US" altLang="zh-CN"/>
              <a:t>10,000</a:t>
            </a:r>
            <a:r>
              <a:rPr lang="zh-CN" altLang="en-US"/>
              <a:t>个值，每个箱子中放</a:t>
            </a:r>
            <a:r>
              <a:rPr lang="en-US" altLang="zh-CN"/>
              <a:t>10</a:t>
            </a:r>
            <a:r>
              <a:rPr lang="zh-CN" altLang="en-US"/>
              <a:t>个，则可以将其规约为</a:t>
            </a:r>
            <a:r>
              <a:rPr lang="en-US" altLang="zh-CN"/>
              <a:t>1000</a:t>
            </a:r>
            <a:r>
              <a:rPr lang="zh-CN" altLang="en-US"/>
              <a:t>个值；如果要求将这</a:t>
            </a:r>
            <a:r>
              <a:rPr lang="en-US" altLang="zh-CN"/>
              <a:t>10,000</a:t>
            </a:r>
            <a:r>
              <a:rPr lang="zh-CN" altLang="en-US"/>
              <a:t>个值规约为</a:t>
            </a:r>
            <a:r>
              <a:rPr lang="en-US" altLang="zh-CN"/>
              <a:t>10</a:t>
            </a:r>
            <a:r>
              <a:rPr lang="zh-CN" altLang="en-US"/>
              <a:t>个概念，则只要将上述分箱方法递归的使用</a:t>
            </a:r>
            <a:r>
              <a:rPr lang="en-US" altLang="zh-CN"/>
              <a:t>3</a:t>
            </a:r>
            <a:r>
              <a:rPr lang="zh-CN" altLang="en-US"/>
              <a:t>次就可以了。</a:t>
            </a:r>
            <a:endParaRPr lang="zh-CN" altLang="en-US"/>
          </a:p>
          <a:p>
            <a:pPr eaLnBrk="1" hangingPunct="1"/>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68611"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atin typeface="微软雅黑" charset="0"/>
                <a:ea typeface="微软雅黑" charset="0"/>
              </a:defRPr>
            </a:lvl1pPr>
          </a:lstStyle>
          <a:p>
            <a:pPr lvl="0"/>
            <a:r>
              <a:rPr lang="zh-CN" altLang="en-US" noProof="0" dirty="0"/>
              <a:t>单击此处编辑母版副标题样式</a:t>
            </a:r>
            <a:endParaRPr lang="zh-CN" altLang="en-US" noProof="0" dirty="0"/>
          </a:p>
        </p:txBody>
      </p:sp>
      <p:sp>
        <p:nvSpPr>
          <p:cNvPr id="5" name="Rectangle 4"/>
          <p:cNvSpPr>
            <a:spLocks noGrp="1" noChangeArrowheads="1"/>
          </p:cNvSpPr>
          <p:nvPr>
            <p:ph type="dt" sz="half" idx="10"/>
          </p:nvPr>
        </p:nvSpPr>
        <p:spPr>
          <a:xfrm>
            <a:off x="685800" y="6248400"/>
            <a:ext cx="1905000" cy="457200"/>
          </a:xfrm>
        </p:spPr>
        <p:txBody>
          <a:bodyPr/>
          <a:lstStyle>
            <a:lvl1pPr>
              <a:defRPr>
                <a:latin typeface="微软雅黑" charset="0"/>
                <a:ea typeface="微软雅黑" charset="0"/>
              </a:defRPr>
            </a:lvl1pPr>
          </a:lstStyle>
          <a:p>
            <a:pPr>
              <a:defRPr/>
            </a:pPr>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atin typeface="微软雅黑" charset="0"/>
                <a:ea typeface="微软雅黑" charset="0"/>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p:spPr>
        <p:txBody>
          <a:bodyPr/>
          <a:lstStyle>
            <a:lvl1pPr>
              <a:defRPr>
                <a:latin typeface="微软雅黑" charset="0"/>
                <a:ea typeface="微软雅黑" charset="0"/>
              </a:defRPr>
            </a:lvl1pPr>
          </a:lstStyle>
          <a:p>
            <a:pPr>
              <a:defRPr/>
            </a:pPr>
            <a:fld id="{BC7203B1-3F7F-4198-8F8E-D5A29527AD8E}" type="slidenum">
              <a:rPr lang="en-US" altLang="zh-CN"/>
            </a:fld>
            <a:endParaRPr lang="en-US" altLang="zh-CN"/>
          </a:p>
        </p:txBody>
      </p:sp>
    </p:spTree>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pPr>
              <a:defRPr/>
            </a:pPr>
            <a:fld id="{7A85D285-5F97-48C6-A444-1E515F9F7F02}" type="slidenum">
              <a:rPr lang="en-US" altLang="zh-CN"/>
            </a:fld>
            <a:endParaRPr lang="en-US" altLang="zh-CN"/>
          </a:p>
        </p:txBody>
      </p:sp>
    </p:spTree>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pPr>
              <a:defRPr/>
            </a:pPr>
            <a:fld id="{1DB0DBB0-13F4-4A17-A465-C82F68144514}" type="slidenum">
              <a:rPr lang="en-US" altLang="zh-CN"/>
            </a:fld>
            <a:endParaRPr lang="en-US" altLang="zh-CN"/>
          </a:p>
        </p:txBody>
      </p:sp>
    </p:spTree>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pPr>
              <a:defRPr/>
            </a:pPr>
            <a:fld id="{74D8824C-A37C-4D61-9DC0-F880189DA03A}" type="slidenum">
              <a:rPr lang="en-US" altLang="zh-CN"/>
            </a:fld>
            <a:endParaRPr lang="en-US" altLang="zh-CN"/>
          </a:p>
        </p:txBody>
      </p:sp>
    </p:spTree>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716016" y="191683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6"/>
          <p:cNvSpPr>
            <a:spLocks noGrp="1" noChangeArrowheads="1"/>
          </p:cNvSpPr>
          <p:nvPr>
            <p:ph type="dt" sz="half" idx="10"/>
          </p:nvPr>
        </p:nvSpPr>
        <p:spPr/>
        <p:txBody>
          <a:bodyPr/>
          <a:lstStyle>
            <a:lvl1pPr>
              <a:defRPr/>
            </a:lvl1pPr>
          </a:lstStyle>
          <a:p>
            <a:pPr>
              <a:defRPr/>
            </a:pPr>
            <a:endParaRPr lang="en-US" altLang="zh-CN"/>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p:txBody>
          <a:bodyPr/>
          <a:lstStyle>
            <a:lvl1pPr>
              <a:defRPr/>
            </a:lvl1pPr>
          </a:lstStyle>
          <a:p>
            <a:pPr>
              <a:defRPr/>
            </a:pPr>
            <a:fld id="{BFAEA99B-CEB6-4ACF-ADA7-D03AEE0DADC3}" type="slidenum">
              <a:rPr lang="en-US" altLang="zh-CN"/>
            </a:fld>
            <a:endParaRPr lang="en-US" altLang="zh-CN"/>
          </a:p>
        </p:txBody>
      </p:sp>
    </p:spTree>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ltLang="zh-CN"/>
          </a:p>
        </p:txBody>
      </p:sp>
      <p:sp>
        <p:nvSpPr>
          <p:cNvPr id="3" name="Rectangle 7"/>
          <p:cNvSpPr>
            <a:spLocks noGrp="1" noChangeArrowheads="1"/>
          </p:cNvSpPr>
          <p:nvPr>
            <p:ph type="ftr" sz="quarter" idx="11"/>
          </p:nvPr>
        </p:nvSpPr>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p:txBody>
          <a:bodyPr/>
          <a:lstStyle>
            <a:lvl1pPr>
              <a:defRPr/>
            </a:lvl1pPr>
          </a:lstStyle>
          <a:p>
            <a:pPr>
              <a:defRPr/>
            </a:pPr>
            <a:fld id="{6DEC7B17-9C55-4B1A-86FB-7B026902BA5C}" type="slidenum">
              <a:rPr lang="en-US" altLang="zh-CN"/>
            </a:fld>
            <a:endParaRPr lang="en-US" altLang="zh-CN"/>
          </a:p>
        </p:txBody>
      </p:sp>
    </p:spTree>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pPr>
              <a:defRPr/>
            </a:pPr>
            <a:fld id="{4152FCDF-9235-491F-BB65-DDB1754E50E0}" type="slidenum">
              <a:rPr lang="en-US" altLang="zh-CN"/>
            </a:fld>
            <a:endParaRPr lang="en-US" altLang="zh-CN"/>
          </a:p>
        </p:txBody>
      </p:sp>
    </p:spTree>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pPr>
              <a:defRPr/>
            </a:pPr>
            <a:fld id="{E2F2EE75-410F-4EBD-B2BF-1E405E776733}" type="slidenum">
              <a:rPr lang="en-US" altLang="zh-CN"/>
            </a:fld>
            <a:endParaRPr lang="en-US" altLang="zh-CN"/>
          </a:p>
        </p:txBody>
      </p:sp>
    </p:spTree>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pPr>
              <a:defRPr/>
            </a:pPr>
            <a:fld id="{45441A26-5A97-43F0-9D59-459006A4AE70}" type="slidenum">
              <a:rPr lang="en-US" altLang="zh-CN"/>
            </a:fld>
            <a:endParaRPr lang="en-US" altLang="zh-CN"/>
          </a:p>
        </p:txBody>
      </p:sp>
    </p:spTree>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pPr>
              <a:defRPr/>
            </a:pPr>
            <a:fld id="{25952431-ED00-4400-A407-9DDDBD474D52}" type="slidenum">
              <a:rPr lang="en-US" altLang="zh-CN"/>
            </a:fld>
            <a:endParaRPr lang="en-US" altLang="zh-CN"/>
          </a:p>
        </p:txBody>
      </p:sp>
    </p:spTree>
  </p:cSld>
  <p:clrMapOvr>
    <a:masterClrMapping/>
  </p:clrMapOvr>
  <p:transition>
    <p:blinds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8921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566738" y="1752600"/>
            <a:ext cx="3924300" cy="4267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3438" y="1752600"/>
            <a:ext cx="3924300" cy="4267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pPr>
              <a:defRPr/>
            </a:pPr>
            <a:fld id="{ED14DA55-9A45-42F4-8F13-A4D810CD5C1C}" type="slidenum">
              <a:rPr lang="en-US" altLang="zh-CN"/>
            </a:fld>
            <a:endParaRPr lang="en-US" altLang="zh-CN"/>
          </a:p>
        </p:txBody>
      </p:sp>
    </p:spTree>
  </p:cSld>
  <p:clrMapOvr>
    <a:masterClrMapping/>
  </p:clrMapOvr>
  <p:transition>
    <p:blinds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892175"/>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566738" y="1752600"/>
            <a:ext cx="8001000" cy="4267200"/>
          </a:xfrm>
        </p:spPr>
        <p:txBody>
          <a:bodyPr/>
          <a:lstStyle/>
          <a:p>
            <a:pPr lvl="0"/>
            <a:endParaRPr lang="zh-CN" altLang="en-US" noProof="0"/>
          </a:p>
        </p:txBody>
      </p:sp>
    </p:spTree>
  </p:cSld>
  <p:clrMapOvr>
    <a:masterClrMapping/>
  </p:clrMapOvr>
  <p:transition>
    <p:blinds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流程图: 过程 1"/>
          <p:cNvSpPr/>
          <p:nvPr userDrawn="1"/>
        </p:nvSpPr>
        <p:spPr>
          <a:xfrm rot="5400000">
            <a:off x="4486275" y="2200275"/>
            <a:ext cx="171450" cy="9144000"/>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流程图: 过程 8"/>
          <p:cNvSpPr/>
          <p:nvPr userDrawn="1"/>
        </p:nvSpPr>
        <p:spPr>
          <a:xfrm rot="5400000" flipH="1">
            <a:off x="8183563" y="5849938"/>
            <a:ext cx="328612" cy="1592262"/>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1" fmla="*/ 0 w 10000"/>
              <a:gd name="connsiteY0-2" fmla="*/ 0 h 10000"/>
              <a:gd name="connsiteX1-3" fmla="*/ 10000 w 10000"/>
              <a:gd name="connsiteY1-4" fmla="*/ 0 h 10000"/>
              <a:gd name="connsiteX2-5" fmla="*/ 9474 w 10000"/>
              <a:gd name="connsiteY2-6" fmla="*/ 9062 h 10000"/>
              <a:gd name="connsiteX3-7" fmla="*/ 0 w 10000"/>
              <a:gd name="connsiteY3-8" fmla="*/ 10000 h 10000"/>
              <a:gd name="connsiteX4-9" fmla="*/ 0 w 10000"/>
              <a:gd name="connsiteY4-10" fmla="*/ 0 h 10000"/>
              <a:gd name="connsiteX0-11" fmla="*/ 0 w 10075"/>
              <a:gd name="connsiteY0-12" fmla="*/ 0 h 10000"/>
              <a:gd name="connsiteX1-13" fmla="*/ 10000 w 10075"/>
              <a:gd name="connsiteY1-14" fmla="*/ 0 h 10000"/>
              <a:gd name="connsiteX2-15" fmla="*/ 10028 w 10075"/>
              <a:gd name="connsiteY2-16" fmla="*/ 8891 h 10000"/>
              <a:gd name="connsiteX3-17" fmla="*/ 0 w 10075"/>
              <a:gd name="connsiteY3-18" fmla="*/ 10000 h 10000"/>
              <a:gd name="connsiteX4-19" fmla="*/ 0 w 10075"/>
              <a:gd name="connsiteY4-20" fmla="*/ 0 h 10000"/>
              <a:gd name="connsiteX0-21" fmla="*/ 0 w 10335"/>
              <a:gd name="connsiteY0-22" fmla="*/ 0 h 10000"/>
              <a:gd name="connsiteX1-23" fmla="*/ 10000 w 10335"/>
              <a:gd name="connsiteY1-24" fmla="*/ 0 h 10000"/>
              <a:gd name="connsiteX2-25" fmla="*/ 10305 w 10335"/>
              <a:gd name="connsiteY2-26" fmla="*/ 8891 h 10000"/>
              <a:gd name="connsiteX3-27" fmla="*/ 0 w 10335"/>
              <a:gd name="connsiteY3-28" fmla="*/ 10000 h 10000"/>
              <a:gd name="connsiteX4-29" fmla="*/ 0 w 10335"/>
              <a:gd name="connsiteY4-30" fmla="*/ 0 h 10000"/>
              <a:gd name="connsiteX0-31" fmla="*/ 0 w 10000"/>
              <a:gd name="connsiteY0-32" fmla="*/ 0 h 10000"/>
              <a:gd name="connsiteX1-33" fmla="*/ 10000 w 10000"/>
              <a:gd name="connsiteY1-34" fmla="*/ 0 h 10000"/>
              <a:gd name="connsiteX2-35" fmla="*/ 9751 w 10000"/>
              <a:gd name="connsiteY2-36" fmla="*/ 9062 h 10000"/>
              <a:gd name="connsiteX3-37" fmla="*/ 0 w 10000"/>
              <a:gd name="connsiteY3-38" fmla="*/ 10000 h 10000"/>
              <a:gd name="connsiteX4-39" fmla="*/ 0 w 10000"/>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 name="图片 3"/>
          <p:cNvPicPr>
            <a:picLocks noChangeAspect="1"/>
          </p:cNvPicPr>
          <p:nvPr userDrawn="1"/>
        </p:nvPicPr>
        <p:blipFill>
          <a:blip r:embed="rId2" cstate="hqprint">
            <a:biLevel thresh="50000"/>
            <a:grayscl/>
          </a:blip>
          <a:srcRect/>
          <a:stretch>
            <a:fillRect/>
          </a:stretch>
        </p:blipFill>
        <p:spPr bwMode="auto">
          <a:xfrm>
            <a:off x="7829550" y="6523038"/>
            <a:ext cx="1154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userDrawn="1"/>
        </p:nvCxnSpPr>
        <p:spPr bwMode="auto">
          <a:xfrm>
            <a:off x="276225" y="828675"/>
            <a:ext cx="8591550" cy="0"/>
          </a:xfrm>
          <a:prstGeom prst="line">
            <a:avLst/>
          </a:prstGeom>
          <a:solidFill>
            <a:schemeClr val="accent1"/>
          </a:solidFill>
          <a:ln w="19050" cap="flat" cmpd="sng" algn="ctr">
            <a:solidFill>
              <a:srgbClr val="1557A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Picture 4" descr="E:\WORK\工作\PPT\PPT新校徽\L15副本.jpg"/>
          <p:cNvPicPr>
            <a:picLocks noChangeAspect="1" noChangeArrowheads="1"/>
          </p:cNvPicPr>
          <p:nvPr userDrawn="1"/>
        </p:nvPicPr>
        <p:blipFill>
          <a:blip r:embed="rId2"/>
          <a:srcRect/>
          <a:stretch>
            <a:fillRect/>
          </a:stretch>
        </p:blipFill>
        <p:spPr bwMode="auto">
          <a:xfrm>
            <a:off x="0" y="14288"/>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28321" y="188640"/>
            <a:ext cx="8001000" cy="636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dirty="0"/>
              <a:t>单击此处编辑母版标题样式</a:t>
            </a:r>
            <a:endParaRPr lang="zh-CN" altLang="en-US" dirty="0"/>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AutoShape 4"/>
          <p:cNvSpPr>
            <a:spLocks noChangeArrowheads="1"/>
          </p:cNvSpPr>
          <p:nvPr userDrawn="1"/>
        </p:nvSpPr>
        <p:spPr bwMode="auto">
          <a:xfrm>
            <a:off x="485459" y="878682"/>
            <a:ext cx="8090923" cy="109537"/>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noFill/>
          <a:ln w="19050">
            <a:solidFill>
              <a:srgbClr val="1557AE"/>
            </a:solidFill>
            <a:round/>
          </a:ln>
        </p:spPr>
        <p:txBody>
          <a:bodyPr/>
          <a:lstStyle/>
          <a:p>
            <a:endParaRPr lang="zh-CN" altLang="en-US">
              <a:solidFill>
                <a:srgbClr val="1557AE"/>
              </a:solidFill>
              <a:latin typeface="微软雅黑" charset="0"/>
              <a:ea typeface="微软雅黑" charset="0"/>
            </a:endParaRPr>
          </a:p>
        </p:txBody>
      </p:sp>
      <p:sp>
        <p:nvSpPr>
          <p:cNvPr id="67590" name="Rectangle 6"/>
          <p:cNvSpPr>
            <a:spLocks noGrp="1" noChangeArrowheads="1"/>
          </p:cNvSpPr>
          <p:nvPr>
            <p:ph type="dt" sz="half" idx="2"/>
          </p:nvPr>
        </p:nvSpPr>
        <p:spPr bwMode="auto">
          <a:xfrm>
            <a:off x="609600" y="6245225"/>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b="0">
                <a:latin typeface="微软雅黑" charset="0"/>
                <a:ea typeface="微软雅黑" charset="0"/>
              </a:defRPr>
            </a:lvl1pPr>
          </a:lstStyle>
          <a:p>
            <a:pPr>
              <a:defRPr/>
            </a:pPr>
            <a:endParaRPr lang="en-US" altLang="zh-CN"/>
          </a:p>
        </p:txBody>
      </p:sp>
      <p:sp>
        <p:nvSpPr>
          <p:cNvPr id="67591" name="Rectangle 7"/>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b="0">
                <a:latin typeface="微软雅黑" charset="0"/>
                <a:ea typeface="微软雅黑" charset="0"/>
              </a:defRPr>
            </a:lvl1pPr>
          </a:lstStyle>
          <a:p>
            <a:pPr>
              <a:defRPr/>
            </a:pPr>
            <a:endParaRPr lang="en-US" altLang="zh-CN"/>
          </a:p>
        </p:txBody>
      </p:sp>
      <p:sp>
        <p:nvSpPr>
          <p:cNvPr id="67592" name="Rectangle 8"/>
          <p:cNvSpPr>
            <a:spLocks noGrp="1" noChangeArrowheads="1"/>
          </p:cNvSpPr>
          <p:nvPr>
            <p:ph type="sldNum" sz="quarter" idx="4"/>
          </p:nvPr>
        </p:nvSpPr>
        <p:spPr bwMode="auto">
          <a:xfrm>
            <a:off x="6553200" y="6245225"/>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b="0">
                <a:latin typeface="微软雅黑" charset="0"/>
                <a:ea typeface="微软雅黑" charset="0"/>
              </a:defRPr>
            </a:lvl1pPr>
          </a:lstStyle>
          <a:p>
            <a:pPr>
              <a:defRPr/>
            </a:pPr>
            <a:fld id="{F4A92919-DD44-4308-94FA-ECEC6A32D5A6}" type="slidenum">
              <a:rPr lang="en-US" altLang="zh-CN" smtClean="0"/>
            </a:fld>
            <a:endParaRPr lang="en-US" altLang="zh-CN"/>
          </a:p>
        </p:txBody>
      </p:sp>
      <p:sp>
        <p:nvSpPr>
          <p:cNvPr id="9" name="流程图: 过程 8"/>
          <p:cNvSpPr/>
          <p:nvPr userDrawn="1"/>
        </p:nvSpPr>
        <p:spPr>
          <a:xfrm rot="5400000">
            <a:off x="4486275" y="2200275"/>
            <a:ext cx="171450" cy="9144000"/>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charset="0"/>
              <a:ea typeface="微软雅黑" charset="0"/>
            </a:endParaRPr>
          </a:p>
        </p:txBody>
      </p:sp>
      <p:sp>
        <p:nvSpPr>
          <p:cNvPr id="10" name="流程图: 过程 8"/>
          <p:cNvSpPr/>
          <p:nvPr userDrawn="1"/>
        </p:nvSpPr>
        <p:spPr>
          <a:xfrm rot="5400000" flipH="1">
            <a:off x="8183563" y="5849938"/>
            <a:ext cx="328612" cy="1592262"/>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1" fmla="*/ 0 w 10000"/>
              <a:gd name="connsiteY0-2" fmla="*/ 0 h 10000"/>
              <a:gd name="connsiteX1-3" fmla="*/ 10000 w 10000"/>
              <a:gd name="connsiteY1-4" fmla="*/ 0 h 10000"/>
              <a:gd name="connsiteX2-5" fmla="*/ 9474 w 10000"/>
              <a:gd name="connsiteY2-6" fmla="*/ 9062 h 10000"/>
              <a:gd name="connsiteX3-7" fmla="*/ 0 w 10000"/>
              <a:gd name="connsiteY3-8" fmla="*/ 10000 h 10000"/>
              <a:gd name="connsiteX4-9" fmla="*/ 0 w 10000"/>
              <a:gd name="connsiteY4-10" fmla="*/ 0 h 10000"/>
              <a:gd name="connsiteX0-11" fmla="*/ 0 w 10075"/>
              <a:gd name="connsiteY0-12" fmla="*/ 0 h 10000"/>
              <a:gd name="connsiteX1-13" fmla="*/ 10000 w 10075"/>
              <a:gd name="connsiteY1-14" fmla="*/ 0 h 10000"/>
              <a:gd name="connsiteX2-15" fmla="*/ 10028 w 10075"/>
              <a:gd name="connsiteY2-16" fmla="*/ 8891 h 10000"/>
              <a:gd name="connsiteX3-17" fmla="*/ 0 w 10075"/>
              <a:gd name="connsiteY3-18" fmla="*/ 10000 h 10000"/>
              <a:gd name="connsiteX4-19" fmla="*/ 0 w 10075"/>
              <a:gd name="connsiteY4-20" fmla="*/ 0 h 10000"/>
              <a:gd name="connsiteX0-21" fmla="*/ 0 w 10335"/>
              <a:gd name="connsiteY0-22" fmla="*/ 0 h 10000"/>
              <a:gd name="connsiteX1-23" fmla="*/ 10000 w 10335"/>
              <a:gd name="connsiteY1-24" fmla="*/ 0 h 10000"/>
              <a:gd name="connsiteX2-25" fmla="*/ 10305 w 10335"/>
              <a:gd name="connsiteY2-26" fmla="*/ 8891 h 10000"/>
              <a:gd name="connsiteX3-27" fmla="*/ 0 w 10335"/>
              <a:gd name="connsiteY3-28" fmla="*/ 10000 h 10000"/>
              <a:gd name="connsiteX4-29" fmla="*/ 0 w 10335"/>
              <a:gd name="connsiteY4-30" fmla="*/ 0 h 10000"/>
              <a:gd name="connsiteX0-31" fmla="*/ 0 w 10000"/>
              <a:gd name="connsiteY0-32" fmla="*/ 0 h 10000"/>
              <a:gd name="connsiteX1-33" fmla="*/ 10000 w 10000"/>
              <a:gd name="connsiteY1-34" fmla="*/ 0 h 10000"/>
              <a:gd name="connsiteX2-35" fmla="*/ 9751 w 10000"/>
              <a:gd name="connsiteY2-36" fmla="*/ 9062 h 10000"/>
              <a:gd name="connsiteX3-37" fmla="*/ 0 w 10000"/>
              <a:gd name="connsiteY3-38" fmla="*/ 10000 h 10000"/>
              <a:gd name="connsiteX4-39" fmla="*/ 0 w 10000"/>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charset="0"/>
              <a:ea typeface="微软雅黑" charset="0"/>
            </a:endParaRPr>
          </a:p>
        </p:txBody>
      </p:sp>
      <p:pic>
        <p:nvPicPr>
          <p:cNvPr id="11" name="图片 10"/>
          <p:cNvPicPr>
            <a:picLocks noChangeAspect="1"/>
          </p:cNvPicPr>
          <p:nvPr userDrawn="1"/>
        </p:nvPicPr>
        <p:blipFill>
          <a:blip r:embed="rId14" cstate="hqprint">
            <a:biLevel thresh="50000"/>
            <a:grayscl/>
          </a:blip>
          <a:srcRect/>
          <a:stretch>
            <a:fillRect/>
          </a:stretch>
        </p:blipFill>
        <p:spPr bwMode="auto">
          <a:xfrm>
            <a:off x="7829550" y="6523038"/>
            <a:ext cx="1154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blinds dir="vert"/>
  </p:transition>
  <p:hf sldNum="0" hdr="0" ftr="0" dt="0"/>
  <p:txStyles>
    <p:titleStyle>
      <a:lvl1pPr algn="ctr" rtl="0" eaLnBrk="0" fontAlgn="base" hangingPunct="0">
        <a:spcBef>
          <a:spcPct val="0"/>
        </a:spcBef>
        <a:spcAft>
          <a:spcPct val="0"/>
        </a:spcAft>
        <a:defRPr sz="3800">
          <a:solidFill>
            <a:srgbClr val="1557AE"/>
          </a:solidFill>
          <a:latin typeface="微软雅黑" charset="0"/>
          <a:ea typeface="微软雅黑" charset="0"/>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p:titleStyle>
    <p:bodyStyle>
      <a:lvl1pPr marL="469900" indent="-469900" algn="l" rtl="0" eaLnBrk="0" fontAlgn="base" hangingPunct="0">
        <a:spcBef>
          <a:spcPct val="20000"/>
        </a:spcBef>
        <a:spcAft>
          <a:spcPct val="0"/>
        </a:spcAft>
        <a:buClr>
          <a:srgbClr val="0000FF"/>
        </a:buClr>
        <a:buFont typeface="Wingdings" panose="05000000000000000000" pitchFamily="2" charset="2"/>
        <a:buChar char="o"/>
        <a:defRPr sz="3000" b="1">
          <a:solidFill>
            <a:schemeClr val="tx1"/>
          </a:solidFill>
          <a:latin typeface="微软雅黑" charset="0"/>
          <a:ea typeface="微软雅黑" charset="0"/>
          <a:cs typeface="+mn-cs"/>
        </a:defRPr>
      </a:lvl1pPr>
      <a:lvl2pPr marL="908050" indent="-436880" algn="l" rtl="0" eaLnBrk="0" fontAlgn="base" hangingPunct="0">
        <a:spcBef>
          <a:spcPct val="20000"/>
        </a:spcBef>
        <a:spcAft>
          <a:spcPct val="0"/>
        </a:spcAft>
        <a:buClr>
          <a:srgbClr val="1557AE"/>
        </a:buClr>
        <a:buFont typeface="Wingdings" panose="05000000000000000000" pitchFamily="2" charset="2"/>
        <a:buChar char="n"/>
        <a:defRPr sz="2600" b="1">
          <a:solidFill>
            <a:schemeClr val="tx1"/>
          </a:solidFill>
          <a:latin typeface="微软雅黑" charset="0"/>
          <a:ea typeface="微软雅黑" charset="0"/>
        </a:defRPr>
      </a:lvl2pPr>
      <a:lvl3pPr marL="1304925" indent="-395605" algn="l" rtl="0" eaLnBrk="0" fontAlgn="base" hangingPunct="0">
        <a:spcBef>
          <a:spcPct val="20000"/>
        </a:spcBef>
        <a:spcAft>
          <a:spcPct val="0"/>
        </a:spcAft>
        <a:buClr>
          <a:srgbClr val="1557AE"/>
        </a:buClr>
        <a:buFont typeface="Wingdings" panose="05000000000000000000" pitchFamily="2" charset="2"/>
        <a:buChar char="o"/>
        <a:defRPr sz="2300" b="1">
          <a:solidFill>
            <a:schemeClr val="tx1"/>
          </a:solidFill>
          <a:latin typeface="微软雅黑" charset="0"/>
          <a:ea typeface="微软雅黑" charset="0"/>
        </a:defRPr>
      </a:lvl3pPr>
      <a:lvl4pPr marL="1694180" indent="-387350" algn="l" rtl="0" eaLnBrk="0" fontAlgn="base" hangingPunct="0">
        <a:spcBef>
          <a:spcPct val="20000"/>
        </a:spcBef>
        <a:spcAft>
          <a:spcPct val="0"/>
        </a:spcAft>
        <a:buClr>
          <a:srgbClr val="1557AE"/>
        </a:buClr>
        <a:buFont typeface="Wingdings" panose="05000000000000000000" pitchFamily="2" charset="2"/>
        <a:buChar char="n"/>
        <a:defRPr sz="2000" b="1">
          <a:solidFill>
            <a:schemeClr val="tx1"/>
          </a:solidFill>
          <a:latin typeface="微软雅黑" charset="0"/>
          <a:ea typeface="微软雅黑" charset="0"/>
        </a:defRPr>
      </a:lvl4pPr>
      <a:lvl5pPr marL="2094230" indent="-398780" algn="l" rtl="0" eaLnBrk="0" fontAlgn="base" hangingPunct="0">
        <a:spcBef>
          <a:spcPct val="25000"/>
        </a:spcBef>
        <a:spcAft>
          <a:spcPct val="0"/>
        </a:spcAft>
        <a:buClr>
          <a:srgbClr val="1557AE"/>
        </a:buClr>
        <a:buFont typeface="Wingdings" panose="05000000000000000000" pitchFamily="2" charset="2"/>
        <a:buChar char="§"/>
        <a:defRPr sz="2000" b="1">
          <a:solidFill>
            <a:schemeClr val="tx1"/>
          </a:solidFill>
          <a:latin typeface="微软雅黑" charset="0"/>
          <a:ea typeface="微软雅黑" charset="0"/>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2pPr>
      <a:lvl3pPr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3pPr>
      <a:lvl4pPr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4pPr>
      <a:lvl5pPr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5pPr>
      <a:lvl6pPr marL="457200"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6pPr>
      <a:lvl7pPr marL="914400"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7pPr>
      <a:lvl8pPr marL="1371600"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8pPr>
      <a:lvl9pPr marL="1828800" algn="ctr" rtl="0" eaLnBrk="0" fontAlgn="base" hangingPunct="0">
        <a:spcBef>
          <a:spcPct val="0"/>
        </a:spcBef>
        <a:spcAft>
          <a:spcPct val="0"/>
        </a:spcAft>
        <a:defRPr sz="4400">
          <a:solidFill>
            <a:schemeClr val="tx2"/>
          </a:solidFill>
          <a:latin typeface="Tahoma" panose="020B0604030504040204" pitchFamily="34" charset="0"/>
          <a:ea typeface="黑体"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5.xml"/><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image" Target="../media/image6.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0.w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24.wmf"/><Relationship Id="rId3" Type="http://schemas.openxmlformats.org/officeDocument/2006/relationships/oleObject" Target="../embeddings/oleObject7.bin"/><Relationship Id="rId2" Type="http://schemas.openxmlformats.org/officeDocument/2006/relationships/image" Target="../media/image23.wmf"/><Relationship Id="rId1"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2.xml"/><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2.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0.png"/><Relationship Id="rId7" Type="http://schemas.openxmlformats.org/officeDocument/2006/relationships/tags" Target="../tags/tag4.xml"/><Relationship Id="rId6" Type="http://schemas.openxmlformats.org/officeDocument/2006/relationships/image" Target="../media/image39.png"/><Relationship Id="rId5" Type="http://schemas.openxmlformats.org/officeDocument/2006/relationships/tags" Target="../tags/tag3.xml"/><Relationship Id="rId4" Type="http://schemas.openxmlformats.org/officeDocument/2006/relationships/image" Target="../media/image38.emf"/><Relationship Id="rId3" Type="http://schemas.openxmlformats.org/officeDocument/2006/relationships/tags" Target="../tags/tag2.xml"/><Relationship Id="rId2" Type="http://schemas.openxmlformats.org/officeDocument/2006/relationships/image" Target="../media/image37.emf"/><Relationship Id="rId10" Type="http://schemas.openxmlformats.org/officeDocument/2006/relationships/notesSlide" Target="../notesSlides/notesSlide33.xml"/><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2.xml"/><Relationship Id="rId3" Type="http://schemas.openxmlformats.org/officeDocument/2006/relationships/tags" Target="../tags/tag6.xml"/><Relationship Id="rId2" Type="http://schemas.openxmlformats.org/officeDocument/2006/relationships/image" Target="../media/image41.emf"/><Relationship Id="rId1" Type="http://schemas.openxmlformats.org/officeDocument/2006/relationships/tags" Target="../tags/tag5.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slideLayout" Target="../slideLayouts/slideLayout2.xml"/><Relationship Id="rId5" Type="http://schemas.openxmlformats.org/officeDocument/2006/relationships/image" Target="../media/image43.emf"/><Relationship Id="rId4" Type="http://schemas.openxmlformats.org/officeDocument/2006/relationships/tags" Target="../tags/tag9.xml"/><Relationship Id="rId3" Type="http://schemas.openxmlformats.org/officeDocument/2006/relationships/image" Target="../media/image42.png"/><Relationship Id="rId2" Type="http://schemas.openxmlformats.org/officeDocument/2006/relationships/tags" Target="../tags/tag8.xml"/><Relationship Id="rId1" Type="http://schemas.openxmlformats.org/officeDocument/2006/relationships/tags" Target="../tags/tag7.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tags" Target="../tags/tag10.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2.xml"/><Relationship Id="rId3" Type="http://schemas.openxmlformats.org/officeDocument/2006/relationships/tags" Target="../tags/tag12.xml"/><Relationship Id="rId2" Type="http://schemas.openxmlformats.org/officeDocument/2006/relationships/image" Target="../media/image45.png"/><Relationship Id="rId1" Type="http://schemas.openxmlformats.org/officeDocument/2006/relationships/tags" Target="../tags/tag11.xml"/></Relationships>
</file>

<file path=ppt/slides/_rels/slide38.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image" Target="../media/image48.jpeg"/><Relationship Id="rId7" Type="http://schemas.openxmlformats.org/officeDocument/2006/relationships/tags" Target="../tags/tag15.xml"/><Relationship Id="rId6" Type="http://schemas.openxmlformats.org/officeDocument/2006/relationships/hyperlink" Target="http://player.vimeo.com/video/9726202" TargetMode="External"/><Relationship Id="rId5" Type="http://schemas.openxmlformats.org/officeDocument/2006/relationships/image" Target="../media/image47.png"/><Relationship Id="rId4" Type="http://schemas.openxmlformats.org/officeDocument/2006/relationships/tags" Target="../tags/tag14.xml"/><Relationship Id="rId3" Type="http://schemas.openxmlformats.org/officeDocument/2006/relationships/hyperlink" Target="https://gephi.org/wp-content/themes/gephi/images/screenshots/layout1.png" TargetMode="External"/><Relationship Id="rId2" Type="http://schemas.openxmlformats.org/officeDocument/2006/relationships/image" Target="../media/image46.png"/><Relationship Id="rId11" Type="http://schemas.openxmlformats.org/officeDocument/2006/relationships/notesSlide" Target="../notesSlides/notesSlide38.xml"/><Relationship Id="rId10" Type="http://schemas.openxmlformats.org/officeDocument/2006/relationships/slideLayout" Target="../slideLayouts/slideLayout2.xml"/><Relationship Id="rId1" Type="http://schemas.openxmlformats.org/officeDocument/2006/relationships/tags" Target="../tags/tag13.xml"/></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jpe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61.png"/><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7" Type="http://schemas.openxmlformats.org/officeDocument/2006/relationships/notesSlide" Target="../notesSlides/notesSlide53.xml"/><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63.wmf"/><Relationship Id="rId3" Type="http://schemas.openxmlformats.org/officeDocument/2006/relationships/oleObject" Target="../embeddings/oleObject9.bin"/><Relationship Id="rId2" Type="http://schemas.openxmlformats.org/officeDocument/2006/relationships/image" Target="../media/image62.wmf"/><Relationship Id="rId1" Type="http://schemas.openxmlformats.org/officeDocument/2006/relationships/oleObject" Target="../embeddings/oleObject8.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64.wmf"/><Relationship Id="rId1" Type="http://schemas.openxmlformats.org/officeDocument/2006/relationships/oleObject" Target="../embeddings/oleObject10.bin"/></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2.xml"/><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71.wmf"/><Relationship Id="rId7" Type="http://schemas.openxmlformats.org/officeDocument/2006/relationships/oleObject" Target="../embeddings/oleObject14.bin"/><Relationship Id="rId6" Type="http://schemas.openxmlformats.org/officeDocument/2006/relationships/image" Target="../media/image70.wmf"/><Relationship Id="rId5" Type="http://schemas.openxmlformats.org/officeDocument/2006/relationships/oleObject" Target="../embeddings/oleObject13.bin"/><Relationship Id="rId4" Type="http://schemas.openxmlformats.org/officeDocument/2006/relationships/image" Target="../media/image69.wmf"/><Relationship Id="rId3" Type="http://schemas.openxmlformats.org/officeDocument/2006/relationships/oleObject" Target="../embeddings/oleObject12.bin"/><Relationship Id="rId2" Type="http://schemas.openxmlformats.org/officeDocument/2006/relationships/image" Target="../media/image68.wmf"/><Relationship Id="rId13" Type="http://schemas.openxmlformats.org/officeDocument/2006/relationships/notesSlide" Target="../notesSlides/notesSlide59.xml"/><Relationship Id="rId12" Type="http://schemas.openxmlformats.org/officeDocument/2006/relationships/vmlDrawing" Target="../drawings/vmlDrawing8.vml"/><Relationship Id="rId11" Type="http://schemas.openxmlformats.org/officeDocument/2006/relationships/slideLayout" Target="../slideLayouts/slideLayout2.xml"/><Relationship Id="rId10" Type="http://schemas.openxmlformats.org/officeDocument/2006/relationships/image" Target="../media/image72.wmf"/><Relationship Id="rId1" Type="http://schemas.openxmlformats.org/officeDocument/2006/relationships/oleObject" Target="../embeddings/oleObject11.bin"/></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tags" Target="../tags/tag1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71.wmf"/><Relationship Id="rId1" Type="http://schemas.openxmlformats.org/officeDocument/2006/relationships/oleObject" Target="../embeddings/oleObject16.bin"/></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71.wmf"/><Relationship Id="rId1" Type="http://schemas.openxmlformats.org/officeDocument/2006/relationships/oleObject" Target="../embeddings/oleObject17.bin"/></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71.wmf"/><Relationship Id="rId1" Type="http://schemas.openxmlformats.org/officeDocument/2006/relationships/oleObject" Target="../embeddings/oleObject18.bin"/></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71.wmf"/><Relationship Id="rId1" Type="http://schemas.openxmlformats.org/officeDocument/2006/relationships/oleObject" Target="../embeddings/oleObject19.bin"/></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71.wmf"/><Relationship Id="rId1" Type="http://schemas.openxmlformats.org/officeDocument/2006/relationships/oleObject" Target="../embeddings/oleObject20.bin"/></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71.wmf"/><Relationship Id="rId1" Type="http://schemas.openxmlformats.org/officeDocument/2006/relationships/oleObject" Target="../embeddings/oleObject21.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8" Type="http://schemas.openxmlformats.org/officeDocument/2006/relationships/notesSlide" Target="../notesSlides/notesSlide64.xml"/><Relationship Id="rId17" Type="http://schemas.openxmlformats.org/officeDocument/2006/relationships/slideLayout" Target="../slideLayouts/slideLayout2.xml"/><Relationship Id="rId16" Type="http://schemas.openxmlformats.org/officeDocument/2006/relationships/image" Target="../media/image74.png"/><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2.xml"/><Relationship Id="rId2" Type="http://schemas.openxmlformats.org/officeDocument/2006/relationships/image" Target="../media/image75.png"/><Relationship Id="rId1" Type="http://schemas.openxmlformats.org/officeDocument/2006/relationships/tags" Target="../tags/tag33.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2.xml"/><Relationship Id="rId2" Type="http://schemas.openxmlformats.org/officeDocument/2006/relationships/image" Target="../media/image76.emf"/><Relationship Id="rId1" Type="http://schemas.openxmlformats.org/officeDocument/2006/relationships/tags" Target="../tags/tag34.xml"/></Relationships>
</file>

<file path=ppt/slides/_rels/slide79.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image" Target="../media/image79.wmf"/><Relationship Id="rId7" Type="http://schemas.openxmlformats.org/officeDocument/2006/relationships/oleObject" Target="../embeddings/oleObject23.bin"/><Relationship Id="rId6" Type="http://schemas.openxmlformats.org/officeDocument/2006/relationships/tags" Target="../tags/tag37.xml"/><Relationship Id="rId5" Type="http://schemas.openxmlformats.org/officeDocument/2006/relationships/image" Target="../media/image78.wmf"/><Relationship Id="rId4" Type="http://schemas.openxmlformats.org/officeDocument/2006/relationships/oleObject" Target="../embeddings/oleObject22.bin"/><Relationship Id="rId3" Type="http://schemas.openxmlformats.org/officeDocument/2006/relationships/tags" Target="../tags/tag36.xml"/><Relationship Id="rId28" Type="http://schemas.openxmlformats.org/officeDocument/2006/relationships/notesSlide" Target="../notesSlides/notesSlide67.xml"/><Relationship Id="rId27" Type="http://schemas.openxmlformats.org/officeDocument/2006/relationships/vmlDrawing" Target="../drawings/vmlDrawing15.vml"/><Relationship Id="rId26" Type="http://schemas.openxmlformats.org/officeDocument/2006/relationships/slideLayout" Target="../slideLayouts/slideLayout2.xml"/><Relationship Id="rId25" Type="http://schemas.openxmlformats.org/officeDocument/2006/relationships/tags" Target="../tags/tag46.xml"/><Relationship Id="rId24" Type="http://schemas.openxmlformats.org/officeDocument/2006/relationships/tags" Target="../tags/tag45.xml"/><Relationship Id="rId23" Type="http://schemas.openxmlformats.org/officeDocument/2006/relationships/image" Target="../media/image84.png"/><Relationship Id="rId22" Type="http://schemas.openxmlformats.org/officeDocument/2006/relationships/tags" Target="../tags/tag44.xml"/><Relationship Id="rId21" Type="http://schemas.openxmlformats.org/officeDocument/2006/relationships/tags" Target="../tags/tag43.xml"/><Relationship Id="rId20" Type="http://schemas.openxmlformats.org/officeDocument/2006/relationships/image" Target="../media/image83.png"/><Relationship Id="rId2" Type="http://schemas.openxmlformats.org/officeDocument/2006/relationships/image" Target="../media/image77.png"/><Relationship Id="rId19" Type="http://schemas.openxmlformats.org/officeDocument/2006/relationships/tags" Target="../tags/tag42.xml"/><Relationship Id="rId18" Type="http://schemas.openxmlformats.org/officeDocument/2006/relationships/tags" Target="../tags/tag41.xml"/><Relationship Id="rId17" Type="http://schemas.openxmlformats.org/officeDocument/2006/relationships/image" Target="../media/image82.wmf"/><Relationship Id="rId16" Type="http://schemas.openxmlformats.org/officeDocument/2006/relationships/oleObject" Target="../embeddings/oleObject26.bin"/><Relationship Id="rId15" Type="http://schemas.openxmlformats.org/officeDocument/2006/relationships/tags" Target="../tags/tag40.xml"/><Relationship Id="rId14" Type="http://schemas.openxmlformats.org/officeDocument/2006/relationships/image" Target="../media/image81.wmf"/><Relationship Id="rId13" Type="http://schemas.openxmlformats.org/officeDocument/2006/relationships/oleObject" Target="../embeddings/oleObject25.bin"/><Relationship Id="rId12" Type="http://schemas.openxmlformats.org/officeDocument/2006/relationships/tags" Target="../tags/tag39.xml"/><Relationship Id="rId11" Type="http://schemas.openxmlformats.org/officeDocument/2006/relationships/image" Target="../media/image80.wmf"/><Relationship Id="rId10" Type="http://schemas.openxmlformats.org/officeDocument/2006/relationships/oleObject" Target="../embeddings/oleObject24.bin"/><Relationship Id="rId1" Type="http://schemas.openxmlformats.org/officeDocument/2006/relationships/tags" Target="../tags/tag35.xml"/></Relationships>
</file>

<file path=ppt/slides/_rels/slide80.xml.rels><?xml version="1.0" encoding="UTF-8" standalone="yes"?>
<Relationships xmlns="http://schemas.openxmlformats.org/package/2006/relationships"><Relationship Id="rId9" Type="http://schemas.openxmlformats.org/officeDocument/2006/relationships/image" Target="../media/image87.jpeg"/><Relationship Id="rId8" Type="http://schemas.openxmlformats.org/officeDocument/2006/relationships/tags" Target="../tags/tag50.xml"/><Relationship Id="rId7" Type="http://schemas.openxmlformats.org/officeDocument/2006/relationships/image" Target="../media/image86.wmf"/><Relationship Id="rId6" Type="http://schemas.openxmlformats.org/officeDocument/2006/relationships/oleObject" Target="../embeddings/oleObject28.bin"/><Relationship Id="rId5" Type="http://schemas.openxmlformats.org/officeDocument/2006/relationships/tags" Target="../tags/tag49.xml"/><Relationship Id="rId4" Type="http://schemas.openxmlformats.org/officeDocument/2006/relationships/image" Target="../media/image85.wmf"/><Relationship Id="rId3" Type="http://schemas.openxmlformats.org/officeDocument/2006/relationships/oleObject" Target="../embeddings/oleObject27.bin"/><Relationship Id="rId2" Type="http://schemas.openxmlformats.org/officeDocument/2006/relationships/tags" Target="../tags/tag48.xml"/><Relationship Id="rId15" Type="http://schemas.openxmlformats.org/officeDocument/2006/relationships/notesSlide" Target="../notesSlides/notesSlide68.xml"/><Relationship Id="rId14" Type="http://schemas.openxmlformats.org/officeDocument/2006/relationships/vmlDrawing" Target="../drawings/vmlDrawing16.vml"/><Relationship Id="rId13" Type="http://schemas.openxmlformats.org/officeDocument/2006/relationships/slideLayout" Target="../slideLayouts/slideLayout2.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tags" Target="../tags/tag47.xml"/></Relationships>
</file>

<file path=ppt/slides/_rels/slide81.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tags" Target="../tags/tag57.xml"/><Relationship Id="rId7" Type="http://schemas.openxmlformats.org/officeDocument/2006/relationships/image" Target="../media/image89.wmf"/><Relationship Id="rId6" Type="http://schemas.openxmlformats.org/officeDocument/2006/relationships/oleObject" Target="../embeddings/oleObject30.bin"/><Relationship Id="rId5" Type="http://schemas.openxmlformats.org/officeDocument/2006/relationships/tags" Target="../tags/tag56.xml"/><Relationship Id="rId4" Type="http://schemas.openxmlformats.org/officeDocument/2006/relationships/image" Target="../media/image88.wmf"/><Relationship Id="rId3" Type="http://schemas.openxmlformats.org/officeDocument/2006/relationships/oleObject" Target="../embeddings/oleObject29.bin"/><Relationship Id="rId2" Type="http://schemas.openxmlformats.org/officeDocument/2006/relationships/tags" Target="../tags/tag55.xml"/><Relationship Id="rId13" Type="http://schemas.openxmlformats.org/officeDocument/2006/relationships/notesSlide" Target="../notesSlides/notesSlide69.xml"/><Relationship Id="rId12" Type="http://schemas.openxmlformats.org/officeDocument/2006/relationships/vmlDrawing" Target="../drawings/vmlDrawing17.vml"/><Relationship Id="rId11" Type="http://schemas.openxmlformats.org/officeDocument/2006/relationships/slideLayout" Target="../slideLayouts/slideLayout2.xml"/><Relationship Id="rId10" Type="http://schemas.openxmlformats.org/officeDocument/2006/relationships/image" Target="../media/image90.wmf"/><Relationship Id="rId1" Type="http://schemas.openxmlformats.org/officeDocument/2006/relationships/tags" Target="../tags/tag54.xml"/></Relationships>
</file>

<file path=ppt/slides/_rels/slide82.xml.rels><?xml version="1.0" encoding="UTF-8" standalone="yes"?>
<Relationships xmlns="http://schemas.openxmlformats.org/package/2006/relationships"><Relationship Id="rId7" Type="http://schemas.openxmlformats.org/officeDocument/2006/relationships/notesSlide" Target="../notesSlides/notesSlide70.xml"/><Relationship Id="rId6" Type="http://schemas.openxmlformats.org/officeDocument/2006/relationships/slideLayout" Target="../slideLayouts/slideLayout2.xml"/><Relationship Id="rId5" Type="http://schemas.openxmlformats.org/officeDocument/2006/relationships/tags" Target="../tags/tag60.xml"/><Relationship Id="rId4" Type="http://schemas.openxmlformats.org/officeDocument/2006/relationships/image" Target="../media/image92.png"/><Relationship Id="rId3" Type="http://schemas.openxmlformats.org/officeDocument/2006/relationships/tags" Target="../tags/tag59.xml"/><Relationship Id="rId2" Type="http://schemas.openxmlformats.org/officeDocument/2006/relationships/image" Target="../media/image91.png"/><Relationship Id="rId1" Type="http://schemas.openxmlformats.org/officeDocument/2006/relationships/tags" Target="../tags/tag58.xml"/></Relationships>
</file>

<file path=ppt/slides/_rels/slide83.xml.rels><?xml version="1.0" encoding="UTF-8" standalone="yes"?>
<Relationships xmlns="http://schemas.openxmlformats.org/package/2006/relationships"><Relationship Id="rId9" Type="http://schemas.openxmlformats.org/officeDocument/2006/relationships/notesSlide" Target="../notesSlides/notesSlide71.xml"/><Relationship Id="rId8" Type="http://schemas.openxmlformats.org/officeDocument/2006/relationships/slideLayout" Target="../slideLayouts/slideLayout2.xml"/><Relationship Id="rId7" Type="http://schemas.openxmlformats.org/officeDocument/2006/relationships/image" Target="../media/image95.png"/><Relationship Id="rId6" Type="http://schemas.openxmlformats.org/officeDocument/2006/relationships/tags" Target="../tags/tag64.xml"/><Relationship Id="rId5" Type="http://schemas.openxmlformats.org/officeDocument/2006/relationships/image" Target="../media/image94.png"/><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image" Target="../media/image93.png"/><Relationship Id="rId1" Type="http://schemas.openxmlformats.org/officeDocument/2006/relationships/tags" Target="../tags/tag61.xml"/></Relationships>
</file>

<file path=ppt/slides/_rels/slide84.xml.rels><?xml version="1.0" encoding="UTF-8" standalone="yes"?>
<Relationships xmlns="http://schemas.openxmlformats.org/package/2006/relationships"><Relationship Id="rId7" Type="http://schemas.openxmlformats.org/officeDocument/2006/relationships/notesSlide" Target="../notesSlides/notesSlide72.xml"/><Relationship Id="rId6" Type="http://schemas.openxmlformats.org/officeDocument/2006/relationships/slideLayout" Target="../slideLayouts/slideLayout2.xml"/><Relationship Id="rId5" Type="http://schemas.openxmlformats.org/officeDocument/2006/relationships/image" Target="../media/image96.jpeg"/><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image" Target="../media/image93.png"/><Relationship Id="rId1" Type="http://schemas.openxmlformats.org/officeDocument/2006/relationships/tags" Target="../tags/tag65.xml"/></Relationships>
</file>

<file path=ppt/slides/_rels/slide85.xml.rels><?xml version="1.0" encoding="UTF-8" standalone="yes"?>
<Relationships xmlns="http://schemas.openxmlformats.org/package/2006/relationships"><Relationship Id="rId7" Type="http://schemas.openxmlformats.org/officeDocument/2006/relationships/notesSlide" Target="../notesSlides/notesSlide73.xml"/><Relationship Id="rId6"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image" Target="../media/image93.png"/><Relationship Id="rId1" Type="http://schemas.openxmlformats.org/officeDocument/2006/relationships/tags" Target="../tags/tag68.xml"/></Relationships>
</file>

<file path=ppt/slides/_rels/slide86.xml.rels><?xml version="1.0" encoding="UTF-8" standalone="yes"?>
<Relationships xmlns="http://schemas.openxmlformats.org/package/2006/relationships"><Relationship Id="rId6" Type="http://schemas.openxmlformats.org/officeDocument/2006/relationships/notesSlide" Target="../notesSlides/notesSlide74.xml"/><Relationship Id="rId5" Type="http://schemas.openxmlformats.org/officeDocument/2006/relationships/slideLayout" Target="../slideLayouts/slideLayout2.xml"/><Relationship Id="rId4" Type="http://schemas.openxmlformats.org/officeDocument/2006/relationships/image" Target="../media/image99.GIF"/><Relationship Id="rId3" Type="http://schemas.openxmlformats.org/officeDocument/2006/relationships/tags" Target="../tags/tag72.xml"/><Relationship Id="rId2" Type="http://schemas.openxmlformats.org/officeDocument/2006/relationships/image" Target="../media/image98.jpeg"/><Relationship Id="rId1" Type="http://schemas.openxmlformats.org/officeDocument/2006/relationships/tags" Target="../tags/tag7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
          <p:cNvSpPr>
            <a:spLocks noGrp="1" noChangeArrowheads="1"/>
          </p:cNvSpPr>
          <p:nvPr>
            <p:ph type="ctrTitle" idx="4294967295"/>
          </p:nvPr>
        </p:nvSpPr>
        <p:spPr>
          <a:xfrm>
            <a:off x="0" y="1700808"/>
            <a:ext cx="9144000" cy="2088232"/>
          </a:xfrm>
          <a:prstGeom prst="rect">
            <a:avLst/>
          </a:prstGeom>
          <a:solidFill>
            <a:srgbClr val="1557AE"/>
          </a:solidFill>
        </p:spPr>
        <p:txBody>
          <a:bodyPr/>
          <a:lstStyle/>
          <a:p>
            <a:pPr algn="ctr" eaLnBrk="1" hangingPunct="1">
              <a:defRPr/>
            </a:pPr>
            <a:r>
              <a:rPr lang="zh-CN" altLang="en-US" sz="6000" dirty="0">
                <a:solidFill>
                  <a:schemeClr val="bg1"/>
                </a:solidFill>
                <a:latin typeface="微软雅黑" charset="0"/>
                <a:ea typeface="微软雅黑" charset="0"/>
                <a:cs typeface="微软雅黑" charset="0"/>
              </a:rPr>
              <a:t>数据挖掘    </a:t>
            </a:r>
            <a:br>
              <a:rPr lang="en-US" altLang="zh-CN" sz="6000" dirty="0">
                <a:latin typeface="微软雅黑" charset="0"/>
                <a:ea typeface="微软雅黑" charset="0"/>
                <a:cs typeface="微软雅黑" charset="0"/>
              </a:rPr>
            </a:br>
            <a:r>
              <a:rPr lang="zh-CN" altLang="en-US" sz="6000" dirty="0">
                <a:solidFill>
                  <a:schemeClr val="bg1"/>
                </a:solidFill>
                <a:latin typeface="微软雅黑" charset="0"/>
                <a:ea typeface="微软雅黑" charset="0"/>
                <a:cs typeface="微软雅黑" charset="0"/>
              </a:rPr>
              <a:t>第二章：数据预处理</a:t>
            </a:r>
            <a:endParaRPr lang="zh-CN" altLang="en-US" sz="6000" dirty="0">
              <a:solidFill>
                <a:schemeClr val="bg1"/>
              </a:solidFill>
              <a:latin typeface="微软雅黑" charset="0"/>
              <a:ea typeface="微软雅黑" charset="0"/>
              <a:cs typeface="微软雅黑" charset="0"/>
            </a:endParaRPr>
          </a:p>
        </p:txBody>
      </p:sp>
      <p:pic>
        <p:nvPicPr>
          <p:cNvPr id="10" name="图片 9"/>
          <p:cNvPicPr>
            <a:picLocks noChangeAspect="1"/>
          </p:cNvPicPr>
          <p:nvPr/>
        </p:nvPicPr>
        <p:blipFill>
          <a:blip r:embed="rId1" cstate="print">
            <a:duotone>
              <a:srgbClr val="4472C4">
                <a:shade val="45000"/>
                <a:satMod val="135000"/>
              </a:srgbClr>
              <a:prstClr val="white"/>
            </a:duotone>
          </a:blip>
          <a:stretch>
            <a:fillRect/>
          </a:stretch>
        </p:blipFill>
        <p:spPr>
          <a:xfrm>
            <a:off x="179512" y="-24773"/>
            <a:ext cx="3724832" cy="1308467"/>
          </a:xfrm>
          <a:prstGeom prst="rect">
            <a:avLst/>
          </a:prstGeom>
        </p:spPr>
      </p:pic>
      <p:sp>
        <p:nvSpPr>
          <p:cNvPr id="4" name="Rectangle 9"/>
          <p:cNvSpPr>
            <a:spLocks noChangeArrowheads="1"/>
          </p:cNvSpPr>
          <p:nvPr/>
        </p:nvSpPr>
        <p:spPr bwMode="auto">
          <a:xfrm>
            <a:off x="0" y="4077072"/>
            <a:ext cx="9144000" cy="2204720"/>
          </a:xfrm>
          <a:prstGeom prst="rect">
            <a:avLst/>
          </a:prstGeom>
          <a:noFill/>
          <a:ln>
            <a:noFill/>
          </a:ln>
          <a:effectLst>
            <a:prstShdw prst="shdw17" dist="17961" dir="2700000">
              <a:srgbClr val="375D8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algn="ctr" eaLnBrk="1" hangingPunct="1">
              <a:lnSpc>
                <a:spcPct val="120000"/>
              </a:lnSpc>
            </a:pPr>
            <a:r>
              <a:rPr lang="zh-CN" altLang="en-US" sz="2800" kern="0" dirty="0">
                <a:solidFill>
                  <a:srgbClr val="1557AE"/>
                </a:solidFill>
                <a:latin typeface="微软雅黑" charset="0"/>
                <a:ea typeface="微软雅黑" charset="0"/>
                <a:cs typeface="微软雅黑" charset="0"/>
              </a:rPr>
              <a:t>范</a:t>
            </a:r>
            <a:r>
              <a:rPr lang="en-US" altLang="zh-CN" sz="2800" kern="0" dirty="0">
                <a:solidFill>
                  <a:srgbClr val="1557AE"/>
                </a:solidFill>
                <a:latin typeface="微软雅黑" charset="0"/>
                <a:ea typeface="微软雅黑" charset="0"/>
                <a:cs typeface="微软雅黑" charset="0"/>
              </a:rPr>
              <a:t>  </a:t>
            </a:r>
            <a:r>
              <a:rPr lang="zh-CN" altLang="en-US" sz="2800" kern="0" dirty="0">
                <a:solidFill>
                  <a:srgbClr val="1557AE"/>
                </a:solidFill>
                <a:latin typeface="微软雅黑" charset="0"/>
                <a:ea typeface="微软雅黑" charset="0"/>
                <a:cs typeface="微软雅黑" charset="0"/>
              </a:rPr>
              <a:t>铭</a:t>
            </a:r>
            <a:endParaRPr lang="zh-CN" altLang="en-US" sz="2800" b="0" kern="0" dirty="0">
              <a:solidFill>
                <a:srgbClr val="1557AE"/>
              </a:solidFill>
              <a:latin typeface="微软雅黑" charset="0"/>
              <a:ea typeface="微软雅黑" charset="0"/>
              <a:cs typeface="微软雅黑" charset="0"/>
            </a:endParaRPr>
          </a:p>
          <a:p>
            <a:pPr algn="ctr" eaLnBrk="1" hangingPunct="1">
              <a:lnSpc>
                <a:spcPct val="120000"/>
              </a:lnSpc>
              <a:spcBef>
                <a:spcPts val="600"/>
              </a:spcBef>
            </a:pPr>
            <a:endParaRPr lang="en-US" altLang="zh-CN" b="0" kern="0" dirty="0">
              <a:solidFill>
                <a:srgbClr val="1557AE"/>
              </a:solidFill>
              <a:latin typeface="微软雅黑" charset="0"/>
              <a:ea typeface="微软雅黑" charset="0"/>
              <a:cs typeface="微软雅黑" charset="0"/>
            </a:endParaRPr>
          </a:p>
          <a:p>
            <a:pPr algn="ctr" eaLnBrk="1" hangingPunct="1">
              <a:lnSpc>
                <a:spcPct val="120000"/>
              </a:lnSpc>
              <a:spcBef>
                <a:spcPts val="600"/>
              </a:spcBef>
            </a:pPr>
            <a:r>
              <a:rPr lang="zh-CN" altLang="en-US" sz="2800" b="0" kern="0" dirty="0">
                <a:solidFill>
                  <a:srgbClr val="1557AE"/>
                </a:solidFill>
                <a:latin typeface="微软雅黑" charset="0"/>
                <a:ea typeface="微软雅黑" charset="0"/>
                <a:cs typeface="微软雅黑" charset="0"/>
              </a:rPr>
              <a:t>智能网络与网络安全教育部重点实验室</a:t>
            </a:r>
            <a:endParaRPr lang="en-US" altLang="zh-CN" sz="2800" b="0" kern="0" dirty="0">
              <a:solidFill>
                <a:srgbClr val="1557AE"/>
              </a:solidFill>
              <a:latin typeface="微软雅黑" charset="0"/>
              <a:ea typeface="微软雅黑" charset="0"/>
              <a:cs typeface="微软雅黑" charset="0"/>
            </a:endParaRPr>
          </a:p>
          <a:p>
            <a:pPr algn="ctr" eaLnBrk="1" hangingPunct="1">
              <a:lnSpc>
                <a:spcPct val="120000"/>
              </a:lnSpc>
              <a:spcBef>
                <a:spcPts val="600"/>
              </a:spcBef>
            </a:pPr>
            <a:r>
              <a:rPr lang="zh-CN" altLang="en-US" sz="2800" b="0" kern="0" dirty="0">
                <a:solidFill>
                  <a:srgbClr val="1557AE"/>
                </a:solidFill>
                <a:latin typeface="微软雅黑" charset="0"/>
                <a:ea typeface="微软雅黑" charset="0"/>
                <a:cs typeface="微软雅黑" charset="0"/>
              </a:rPr>
              <a:t>西安交通大学网络空间安全学院</a:t>
            </a:r>
            <a:endParaRPr lang="zh-CN" altLang="en-US" sz="2800" b="0" dirty="0">
              <a:solidFill>
                <a:srgbClr val="1557AE"/>
              </a:solidFill>
              <a:latin typeface="微软雅黑" charset="0"/>
              <a:ea typeface="微软雅黑" charset="0"/>
              <a:cs typeface="微软雅黑" charset="0"/>
              <a:sym typeface="Arial" panose="020B0604020202090204"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组合 6"/>
          <p:cNvGrpSpPr/>
          <p:nvPr/>
        </p:nvGrpSpPr>
        <p:grpSpPr bwMode="auto">
          <a:xfrm>
            <a:off x="611560" y="1772816"/>
            <a:ext cx="2230437" cy="2232025"/>
            <a:chOff x="1330026" y="1365494"/>
            <a:chExt cx="3395626" cy="3395626"/>
          </a:xfrm>
        </p:grpSpPr>
        <p:grpSp>
          <p:nvGrpSpPr>
            <p:cNvPr id="6190" name="组合 2"/>
            <p:cNvGrpSpPr/>
            <p:nvPr/>
          </p:nvGrpSpPr>
          <p:grpSpPr bwMode="auto">
            <a:xfrm>
              <a:off x="1330026" y="1365494"/>
              <a:ext cx="3395626" cy="3395626"/>
              <a:chOff x="1033499" y="2087806"/>
              <a:chExt cx="2448000" cy="2448000"/>
            </a:xfrm>
          </p:grpSpPr>
          <p:sp>
            <p:nvSpPr>
              <p:cNvPr id="4" name="椭圆 3"/>
              <p:cNvSpPr/>
              <p:nvPr/>
            </p:nvSpPr>
            <p:spPr>
              <a:xfrm>
                <a:off x="1033499" y="2087806"/>
                <a:ext cx="2448000" cy="2448000"/>
              </a:xfrm>
              <a:prstGeom prst="ellipse">
                <a:avLst/>
              </a:prstGeom>
              <a:solidFill>
                <a:srgbClr val="F6F6F6"/>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5" name="椭圆 4"/>
              <p:cNvSpPr>
                <a:spLocks noChangeAspect="1"/>
              </p:cNvSpPr>
              <p:nvPr/>
            </p:nvSpPr>
            <p:spPr>
              <a:xfrm>
                <a:off x="1249550" y="2303704"/>
                <a:ext cx="2015897" cy="2016205"/>
              </a:xfrm>
              <a:prstGeom prst="ellipse">
                <a:avLst/>
              </a:prstGeom>
              <a:solidFill>
                <a:srgbClr val="F6F6F6"/>
              </a:solidFill>
              <a:ln>
                <a:noFill/>
              </a:ln>
              <a:effectLst>
                <a:outerShdw blurRad="114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pic>
          <p:nvPicPr>
            <p:cNvPr id="6191" name="图片 5"/>
            <p:cNvPicPr>
              <a:picLocks noChangeAspect="1"/>
            </p:cNvPicPr>
            <p:nvPr/>
          </p:nvPicPr>
          <p:blipFill>
            <a:blip r:embed="rId1"/>
            <a:srcRect/>
            <a:stretch>
              <a:fillRect/>
            </a:stretch>
          </p:blipFill>
          <p:spPr bwMode="auto">
            <a:xfrm>
              <a:off x="1866739" y="1892008"/>
              <a:ext cx="2322199" cy="232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直角三角形 7"/>
          <p:cNvSpPr/>
          <p:nvPr/>
        </p:nvSpPr>
        <p:spPr>
          <a:xfrm rot="5400000">
            <a:off x="0" y="0"/>
            <a:ext cx="1080000" cy="1080000"/>
          </a:xfrm>
          <a:prstGeom prst="rtTriangle">
            <a:avLst/>
          </a:prstGeom>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9" name="直角三角形 8"/>
          <p:cNvSpPr/>
          <p:nvPr/>
        </p:nvSpPr>
        <p:spPr>
          <a:xfrm rot="16200000">
            <a:off x="8064000" y="5793483"/>
            <a:ext cx="1080000" cy="1080000"/>
          </a:xfrm>
          <a:prstGeom prst="rtTriangle">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nvGrpSpPr>
          <p:cNvPr id="6" name="组合 5"/>
          <p:cNvGrpSpPr/>
          <p:nvPr/>
        </p:nvGrpSpPr>
        <p:grpSpPr>
          <a:xfrm>
            <a:off x="3288844" y="1556792"/>
            <a:ext cx="4745708" cy="665163"/>
            <a:chOff x="3507234" y="1752600"/>
            <a:chExt cx="4745708" cy="665163"/>
          </a:xfrm>
        </p:grpSpPr>
        <p:grpSp>
          <p:nvGrpSpPr>
            <p:cNvPr id="6153" name="Group 5"/>
            <p:cNvGrpSpPr/>
            <p:nvPr/>
          </p:nvGrpSpPr>
          <p:grpSpPr bwMode="auto">
            <a:xfrm>
              <a:off x="3507234" y="1752600"/>
              <a:ext cx="762000" cy="665163"/>
              <a:chOff x="0" y="0"/>
              <a:chExt cx="1549" cy="1351"/>
            </a:xfrm>
          </p:grpSpPr>
          <p:sp>
            <p:nvSpPr>
              <p:cNvPr id="6185" name="AutoShape 6"/>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prstClr val="white"/>
                  </a:solidFill>
                  <a:effectLst/>
                  <a:uLnTx/>
                  <a:uFillTx/>
                  <a:latin typeface="微软雅黑" charset="0"/>
                  <a:ea typeface="微软雅黑" charset="0"/>
                  <a:cs typeface="+mn-cs"/>
                </a:endParaRPr>
              </a:p>
            </p:txBody>
          </p:sp>
          <p:sp>
            <p:nvSpPr>
              <p:cNvPr id="6186" name="AutoShape 7"/>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prstClr val="white"/>
                  </a:solidFill>
                  <a:effectLst/>
                  <a:uLnTx/>
                  <a:uFillTx/>
                  <a:latin typeface="微软雅黑" charset="0"/>
                  <a:ea typeface="微软雅黑" charset="0"/>
                  <a:cs typeface="+mn-cs"/>
                </a:endParaRPr>
              </a:p>
            </p:txBody>
          </p:sp>
          <p:grpSp>
            <p:nvGrpSpPr>
              <p:cNvPr id="6187" name="AutoShape 8"/>
              <p:cNvGrpSpPr/>
              <p:nvPr/>
            </p:nvGrpSpPr>
            <p:grpSpPr bwMode="auto">
              <a:xfrm>
                <a:off x="68" y="54"/>
                <a:ext cx="1400" cy="1213"/>
                <a:chOff x="0" y="0"/>
                <a:chExt cx="688848" cy="597408"/>
              </a:xfrm>
            </p:grpSpPr>
            <p:pic>
              <p:nvPicPr>
                <p:cNvPr id="6188" name="AutoShape 8"/>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89" name="Text Box 7"/>
                <p:cNvSpPr txBox="1">
                  <a:spLocks noChangeArrowheads="1"/>
                </p:cNvSpPr>
                <p:nvPr/>
              </p:nvSpPr>
              <p:spPr bwMode="auto">
                <a:xfrm>
                  <a:off x="121410" y="109216"/>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grpSp>
        <p:sp>
          <p:nvSpPr>
            <p:cNvPr id="6155" name="Line 13"/>
            <p:cNvSpPr>
              <a:spLocks noChangeShapeType="1"/>
            </p:cNvSpPr>
            <p:nvPr/>
          </p:nvSpPr>
          <p:spPr bwMode="auto">
            <a:xfrm flipV="1">
              <a:off x="4116834" y="2340974"/>
              <a:ext cx="4127574" cy="1805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方正兰亭中黑_GBK" panose="02000000000000000000" pitchFamily="2" charset="-122"/>
                <a:ea typeface="方正兰亭中黑_GBK" panose="02000000000000000000" pitchFamily="2" charset="-122"/>
                <a:cs typeface="+mn-cs"/>
              </a:endParaRPr>
            </a:p>
          </p:txBody>
        </p:sp>
        <p:sp>
          <p:nvSpPr>
            <p:cNvPr id="6156" name="Text Box 15"/>
            <p:cNvSpPr txBox="1">
              <a:spLocks noChangeArrowheads="1"/>
            </p:cNvSpPr>
            <p:nvPr/>
          </p:nvSpPr>
          <p:spPr bwMode="auto">
            <a:xfrm>
              <a:off x="3694559" y="1825625"/>
              <a:ext cx="373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400" b="1" i="0" u="none" strike="noStrike" kern="1200" cap="none" spc="0" normalizeH="0" baseline="0" noProof="0" dirty="0">
                  <a:ln>
                    <a:noFill/>
                  </a:ln>
                  <a:solidFill>
                    <a:prstClr val="white"/>
                  </a:solidFill>
                  <a:effectLst/>
                  <a:uLnTx/>
                  <a:uFillTx/>
                  <a:latin typeface="微软雅黑" charset="0"/>
                  <a:ea typeface="微软雅黑" charset="0"/>
                  <a:cs typeface="+mn-cs"/>
                </a:rPr>
                <a:t>1</a:t>
              </a:r>
              <a:endParaRPr kumimoji="0" lang="en-US" altLang="zh-CN" sz="24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6158" name="Text Box 17"/>
            <p:cNvSpPr txBox="1">
              <a:spLocks noChangeArrowheads="1"/>
            </p:cNvSpPr>
            <p:nvPr/>
          </p:nvSpPr>
          <p:spPr bwMode="auto">
            <a:xfrm>
              <a:off x="4390617" y="1772816"/>
              <a:ext cx="386232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rPr>
                <a:t>为什么要</a:t>
              </a:r>
              <a:r>
                <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rPr>
                <a:t>预处理数据</a:t>
              </a:r>
              <a:endPar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grpSp>
        <p:nvGrpSpPr>
          <p:cNvPr id="2" name="组合 1"/>
          <p:cNvGrpSpPr/>
          <p:nvPr/>
        </p:nvGrpSpPr>
        <p:grpSpPr>
          <a:xfrm>
            <a:off x="3297378" y="2446103"/>
            <a:ext cx="5019038" cy="665163"/>
            <a:chOff x="3507234" y="2813050"/>
            <a:chExt cx="5019038" cy="665163"/>
          </a:xfrm>
        </p:grpSpPr>
        <p:grpSp>
          <p:nvGrpSpPr>
            <p:cNvPr id="6154" name="Group 9"/>
            <p:cNvGrpSpPr/>
            <p:nvPr/>
          </p:nvGrpSpPr>
          <p:grpSpPr bwMode="auto">
            <a:xfrm>
              <a:off x="3507234" y="2813050"/>
              <a:ext cx="762000" cy="665163"/>
              <a:chOff x="0" y="0"/>
              <a:chExt cx="1549" cy="1351"/>
            </a:xfrm>
          </p:grpSpPr>
          <p:sp>
            <p:nvSpPr>
              <p:cNvPr id="6180" name="AutoShape 1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prstClr val="white"/>
                  </a:solidFill>
                  <a:effectLst/>
                  <a:uLnTx/>
                  <a:uFillTx/>
                  <a:latin typeface="微软雅黑" charset="0"/>
                  <a:ea typeface="微软雅黑" charset="0"/>
                  <a:cs typeface="+mn-cs"/>
                </a:endParaRPr>
              </a:p>
            </p:txBody>
          </p:sp>
          <p:sp>
            <p:nvSpPr>
              <p:cNvPr id="6181" name="AutoShape 1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prstClr val="white"/>
                  </a:solidFill>
                  <a:effectLst/>
                  <a:uLnTx/>
                  <a:uFillTx/>
                  <a:latin typeface="微软雅黑" charset="0"/>
                  <a:ea typeface="微软雅黑" charset="0"/>
                  <a:cs typeface="+mn-cs"/>
                </a:endParaRPr>
              </a:p>
            </p:txBody>
          </p:sp>
          <p:grpSp>
            <p:nvGrpSpPr>
              <p:cNvPr id="6182" name="AutoShape 12"/>
              <p:cNvGrpSpPr/>
              <p:nvPr/>
            </p:nvGrpSpPr>
            <p:grpSpPr bwMode="auto">
              <a:xfrm>
                <a:off x="68" y="54"/>
                <a:ext cx="1400" cy="1213"/>
                <a:chOff x="0" y="0"/>
                <a:chExt cx="688848" cy="597408"/>
              </a:xfrm>
            </p:grpSpPr>
            <p:pic>
              <p:nvPicPr>
                <p:cNvPr id="6183" name="AutoShape 1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84" name="Text Box 13"/>
                <p:cNvSpPr txBox="1">
                  <a:spLocks noChangeArrowheads="1"/>
                </p:cNvSpPr>
                <p:nvPr/>
              </p:nvSpPr>
              <p:spPr bwMode="auto">
                <a:xfrm>
                  <a:off x="121410" y="108962"/>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grpSp>
        <p:sp>
          <p:nvSpPr>
            <p:cNvPr id="6157" name="Line 16"/>
            <p:cNvSpPr>
              <a:spLocks noChangeShapeType="1"/>
            </p:cNvSpPr>
            <p:nvPr/>
          </p:nvSpPr>
          <p:spPr bwMode="auto">
            <a:xfrm flipV="1">
              <a:off x="4116834" y="3411429"/>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方正兰亭中黑_GBK" panose="02000000000000000000" pitchFamily="2" charset="-122"/>
                <a:ea typeface="方正兰亭中黑_GBK" panose="02000000000000000000" pitchFamily="2" charset="-122"/>
                <a:cs typeface="+mn-cs"/>
              </a:endParaRPr>
            </a:p>
          </p:txBody>
        </p:sp>
        <p:sp>
          <p:nvSpPr>
            <p:cNvPr id="6159" name="Text Box 18"/>
            <p:cNvSpPr txBox="1">
              <a:spLocks noChangeArrowheads="1"/>
            </p:cNvSpPr>
            <p:nvPr/>
          </p:nvSpPr>
          <p:spPr bwMode="auto">
            <a:xfrm>
              <a:off x="3688569" y="2911475"/>
              <a:ext cx="3850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400" b="1" i="0" u="none" strike="noStrike" kern="1200" cap="none" spc="0" normalizeH="0" baseline="0" noProof="0" dirty="0">
                  <a:ln>
                    <a:noFill/>
                  </a:ln>
                  <a:solidFill>
                    <a:prstClr val="white"/>
                  </a:solidFill>
                  <a:effectLst/>
                  <a:uLnTx/>
                  <a:uFillTx/>
                  <a:latin typeface="微软雅黑" charset="0"/>
                  <a:ea typeface="微软雅黑" charset="0"/>
                  <a:cs typeface="+mn-cs"/>
                </a:rPr>
                <a:t>2</a:t>
              </a:r>
              <a:endParaRPr kumimoji="0" lang="en-US" altLang="zh-CN" sz="24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6162" name="Text Box 24"/>
            <p:cNvSpPr txBox="1">
              <a:spLocks noChangeArrowheads="1"/>
            </p:cNvSpPr>
            <p:nvPr/>
          </p:nvSpPr>
          <p:spPr bwMode="auto">
            <a:xfrm>
              <a:off x="4423107" y="2846107"/>
              <a:ext cx="410316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rPr>
                <a:t>数据清理</a:t>
              </a:r>
              <a:endPar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grpSp>
        <p:nvGrpSpPr>
          <p:cNvPr id="6160" name="Group 19"/>
          <p:cNvGrpSpPr/>
          <p:nvPr/>
        </p:nvGrpSpPr>
        <p:grpSpPr bwMode="auto">
          <a:xfrm>
            <a:off x="3297378" y="3302075"/>
            <a:ext cx="762000" cy="665163"/>
            <a:chOff x="0" y="0"/>
            <a:chExt cx="1549" cy="1351"/>
          </a:xfrm>
        </p:grpSpPr>
        <p:sp>
          <p:nvSpPr>
            <p:cNvPr id="6175"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prstClr val="white"/>
                </a:solidFill>
                <a:effectLst/>
                <a:uLnTx/>
                <a:uFillTx/>
                <a:latin typeface="微软雅黑" charset="0"/>
                <a:ea typeface="微软雅黑" charset="0"/>
                <a:cs typeface="+mn-cs"/>
              </a:endParaRPr>
            </a:p>
          </p:txBody>
        </p:sp>
        <p:sp>
          <p:nvSpPr>
            <p:cNvPr id="6176"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prstClr val="white"/>
                </a:solidFill>
                <a:effectLst/>
                <a:uLnTx/>
                <a:uFillTx/>
                <a:latin typeface="微软雅黑" charset="0"/>
                <a:ea typeface="微软雅黑" charset="0"/>
                <a:cs typeface="+mn-cs"/>
              </a:endParaRPr>
            </a:p>
          </p:txBody>
        </p:sp>
        <p:grpSp>
          <p:nvGrpSpPr>
            <p:cNvPr id="6177" name="AutoShape 22"/>
            <p:cNvGrpSpPr/>
            <p:nvPr/>
          </p:nvGrpSpPr>
          <p:grpSpPr bwMode="auto">
            <a:xfrm>
              <a:off x="68" y="53"/>
              <a:ext cx="1400" cy="1213"/>
              <a:chOff x="0" y="0"/>
              <a:chExt cx="688848" cy="597408"/>
            </a:xfrm>
          </p:grpSpPr>
          <p:pic>
            <p:nvPicPr>
              <p:cNvPr id="6178"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79"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grpSp>
      <p:sp>
        <p:nvSpPr>
          <p:cNvPr id="6163" name="Text Box 25"/>
          <p:cNvSpPr txBox="1">
            <a:spLocks noChangeArrowheads="1"/>
          </p:cNvSpPr>
          <p:nvPr/>
        </p:nvSpPr>
        <p:spPr bwMode="auto">
          <a:xfrm>
            <a:off x="3477912" y="3401296"/>
            <a:ext cx="386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400" b="1" i="0" u="none" strike="noStrike" kern="1200" cap="none" spc="0" normalizeH="0" baseline="0" noProof="0" dirty="0">
                <a:ln>
                  <a:noFill/>
                </a:ln>
                <a:solidFill>
                  <a:prstClr val="white"/>
                </a:solidFill>
                <a:effectLst/>
                <a:uLnTx/>
                <a:uFillTx/>
                <a:latin typeface="微软雅黑" charset="0"/>
                <a:ea typeface="微软雅黑" charset="0"/>
                <a:cs typeface="+mn-cs"/>
              </a:rPr>
              <a:t>3</a:t>
            </a:r>
            <a:endParaRPr kumimoji="0" lang="en-US" altLang="zh-CN" sz="24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6164" name="Text Box 24"/>
          <p:cNvSpPr txBox="1">
            <a:spLocks noChangeArrowheads="1"/>
          </p:cNvSpPr>
          <p:nvPr/>
        </p:nvSpPr>
        <p:spPr bwMode="auto">
          <a:xfrm>
            <a:off x="4200066" y="3372289"/>
            <a:ext cx="37646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rPr>
              <a:t>数据集成和变换</a:t>
            </a:r>
            <a:endPar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nvGrpSpPr>
          <p:cNvPr id="38" name="Group 19"/>
          <p:cNvGrpSpPr/>
          <p:nvPr/>
        </p:nvGrpSpPr>
        <p:grpSpPr bwMode="auto">
          <a:xfrm>
            <a:off x="3302589" y="4211184"/>
            <a:ext cx="762000" cy="665163"/>
            <a:chOff x="0" y="0"/>
            <a:chExt cx="1549" cy="1351"/>
          </a:xfrm>
        </p:grpSpPr>
        <p:sp>
          <p:nvSpPr>
            <p:cNvPr id="39" name="AutoShape 20"/>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prstClr val="white"/>
                </a:solidFill>
                <a:effectLst/>
                <a:uLnTx/>
                <a:uFillTx/>
                <a:latin typeface="微软雅黑" charset="0"/>
                <a:ea typeface="微软雅黑" charset="0"/>
                <a:cs typeface="+mn-cs"/>
              </a:endParaRPr>
            </a:p>
          </p:txBody>
        </p:sp>
        <p:sp>
          <p:nvSpPr>
            <p:cNvPr id="40" name="AutoShape 21"/>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prstClr val="white"/>
                </a:solidFill>
                <a:effectLst/>
                <a:uLnTx/>
                <a:uFillTx/>
                <a:latin typeface="微软雅黑" charset="0"/>
                <a:ea typeface="微软雅黑" charset="0"/>
                <a:cs typeface="+mn-cs"/>
              </a:endParaRPr>
            </a:p>
          </p:txBody>
        </p:sp>
        <p:grpSp>
          <p:nvGrpSpPr>
            <p:cNvPr id="41" name="AutoShape 22"/>
            <p:cNvGrpSpPr/>
            <p:nvPr/>
          </p:nvGrpSpPr>
          <p:grpSpPr bwMode="auto">
            <a:xfrm>
              <a:off x="68" y="53"/>
              <a:ext cx="1400" cy="1213"/>
              <a:chOff x="0" y="0"/>
              <a:chExt cx="688848" cy="597408"/>
            </a:xfrm>
          </p:grpSpPr>
          <p:pic>
            <p:nvPicPr>
              <p:cNvPr id="42" name="AutoShape 22"/>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Text Box 24"/>
              <p:cNvSpPr txBox="1">
                <a:spLocks noChangeArrowheads="1"/>
              </p:cNvSpPr>
              <p:nvPr/>
            </p:nvSpPr>
            <p:spPr bwMode="auto">
              <a:xfrm>
                <a:off x="121410" y="109470"/>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grpSp>
      <p:sp>
        <p:nvSpPr>
          <p:cNvPr id="45" name="Text Box 25"/>
          <p:cNvSpPr txBox="1">
            <a:spLocks noChangeArrowheads="1"/>
          </p:cNvSpPr>
          <p:nvPr/>
        </p:nvSpPr>
        <p:spPr bwMode="auto">
          <a:xfrm>
            <a:off x="3483123" y="4309609"/>
            <a:ext cx="386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400" b="1" i="0" u="none" strike="noStrike" kern="1200" cap="none" spc="0" normalizeH="0" baseline="0" noProof="0" dirty="0">
                <a:ln>
                  <a:noFill/>
                </a:ln>
                <a:solidFill>
                  <a:prstClr val="white"/>
                </a:solidFill>
                <a:effectLst/>
                <a:uLnTx/>
                <a:uFillTx/>
                <a:latin typeface="微软雅黑" charset="0"/>
                <a:ea typeface="微软雅黑" charset="0"/>
                <a:cs typeface="+mn-cs"/>
              </a:rPr>
              <a:t>4</a:t>
            </a:r>
            <a:endParaRPr kumimoji="0" lang="en-US" altLang="zh-CN" sz="24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46" name="Text Box 24"/>
          <p:cNvSpPr txBox="1">
            <a:spLocks noChangeArrowheads="1"/>
          </p:cNvSpPr>
          <p:nvPr/>
        </p:nvSpPr>
        <p:spPr bwMode="auto">
          <a:xfrm>
            <a:off x="4214887" y="4241307"/>
            <a:ext cx="37646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rPr>
              <a:t>数据归约</a:t>
            </a:r>
            <a:endPar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sp>
        <p:nvSpPr>
          <p:cNvPr id="48" name="Line 16"/>
          <p:cNvSpPr>
            <a:spLocks noChangeShapeType="1"/>
          </p:cNvSpPr>
          <p:nvPr/>
        </p:nvSpPr>
        <p:spPr bwMode="auto">
          <a:xfrm flipV="1">
            <a:off x="3972818" y="3908048"/>
            <a:ext cx="4103165" cy="29460"/>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方正兰亭中黑_GBK" panose="02000000000000000000" pitchFamily="2" charset="-122"/>
              <a:ea typeface="方正兰亭中黑_GBK" panose="02000000000000000000" pitchFamily="2" charset="-122"/>
              <a:cs typeface="+mn-cs"/>
            </a:endParaRPr>
          </a:p>
        </p:txBody>
      </p:sp>
      <p:sp>
        <p:nvSpPr>
          <p:cNvPr id="49" name="Line 16"/>
          <p:cNvSpPr>
            <a:spLocks noChangeShapeType="1"/>
          </p:cNvSpPr>
          <p:nvPr/>
        </p:nvSpPr>
        <p:spPr bwMode="auto">
          <a:xfrm flipV="1">
            <a:off x="3909509" y="4845547"/>
            <a:ext cx="4127574" cy="1122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方正兰亭中黑_GBK" panose="02000000000000000000" pitchFamily="2" charset="-122"/>
              <a:ea typeface="方正兰亭中黑_GBK" panose="02000000000000000000" pitchFamily="2" charset="-122"/>
              <a:cs typeface="+mn-cs"/>
            </a:endParaRPr>
          </a:p>
        </p:txBody>
      </p:sp>
      <p:grpSp>
        <p:nvGrpSpPr>
          <p:cNvPr id="47" name="组合 46"/>
          <p:cNvGrpSpPr/>
          <p:nvPr/>
        </p:nvGrpSpPr>
        <p:grpSpPr>
          <a:xfrm>
            <a:off x="3284276" y="675605"/>
            <a:ext cx="4745708" cy="665163"/>
            <a:chOff x="3507234" y="1752600"/>
            <a:chExt cx="4745708" cy="665163"/>
          </a:xfrm>
        </p:grpSpPr>
        <p:grpSp>
          <p:nvGrpSpPr>
            <p:cNvPr id="50" name="Group 5"/>
            <p:cNvGrpSpPr/>
            <p:nvPr/>
          </p:nvGrpSpPr>
          <p:grpSpPr bwMode="auto">
            <a:xfrm>
              <a:off x="3507234" y="1752600"/>
              <a:ext cx="762000" cy="665163"/>
              <a:chOff x="0" y="0"/>
              <a:chExt cx="1549" cy="1351"/>
            </a:xfrm>
          </p:grpSpPr>
          <p:sp>
            <p:nvSpPr>
              <p:cNvPr id="54" name="AutoShape 6"/>
              <p:cNvSpPr>
                <a:spLocks noChangeArrowheads="1"/>
              </p:cNvSpPr>
              <p:nvPr/>
            </p:nvSpPr>
            <p:spPr bwMode="auto">
              <a:xfrm>
                <a:off x="13" y="23"/>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prstClr val="white"/>
                  </a:solidFill>
                  <a:effectLst/>
                  <a:uLnTx/>
                  <a:uFillTx/>
                  <a:latin typeface="微软雅黑" charset="0"/>
                  <a:ea typeface="微软雅黑" charset="0"/>
                  <a:cs typeface="+mn-cs"/>
                </a:endParaRPr>
              </a:p>
            </p:txBody>
          </p:sp>
          <p:sp>
            <p:nvSpPr>
              <p:cNvPr id="55" name="AutoShape 7"/>
              <p:cNvSpPr>
                <a:spLocks noChangeArrowheads="1"/>
              </p:cNvSpPr>
              <p:nvPr/>
            </p:nvSpPr>
            <p:spPr bwMode="auto">
              <a:xfrm>
                <a:off x="0" y="0"/>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18900000" scaled="1"/>
              </a:gradFill>
              <a:ln w="9525">
                <a:solidFill>
                  <a:srgbClr val="C0C0C0"/>
                </a:solidFill>
                <a:miter lim="800000"/>
              </a:ln>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a:ln>
                    <a:noFill/>
                  </a:ln>
                  <a:solidFill>
                    <a:prstClr val="white"/>
                  </a:solidFill>
                  <a:effectLst/>
                  <a:uLnTx/>
                  <a:uFillTx/>
                  <a:latin typeface="微软雅黑" charset="0"/>
                  <a:ea typeface="微软雅黑" charset="0"/>
                  <a:cs typeface="+mn-cs"/>
                </a:endParaRPr>
              </a:p>
            </p:txBody>
          </p:sp>
          <p:grpSp>
            <p:nvGrpSpPr>
              <p:cNvPr id="56" name="AutoShape 8"/>
              <p:cNvGrpSpPr/>
              <p:nvPr/>
            </p:nvGrpSpPr>
            <p:grpSpPr bwMode="auto">
              <a:xfrm>
                <a:off x="68" y="54"/>
                <a:ext cx="1400" cy="1213"/>
                <a:chOff x="0" y="0"/>
                <a:chExt cx="688848" cy="597408"/>
              </a:xfrm>
            </p:grpSpPr>
            <p:pic>
              <p:nvPicPr>
                <p:cNvPr id="57" name="AutoShape 8"/>
                <p:cNvPicPr>
                  <a:picLocks noChangeArrowheads="1"/>
                </p:cNvPicPr>
                <p:nvPr/>
              </p:nvPicPr>
              <p:blipFill>
                <a:blip r:embed="rId2"/>
                <a:srcRect/>
                <a:stretch>
                  <a:fillRect/>
                </a:stretch>
              </p:blipFill>
              <p:spPr bwMode="auto">
                <a:xfrm>
                  <a:off x="0" y="0"/>
                  <a:ext cx="688848" cy="59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 Box 7"/>
                <p:cNvSpPr txBox="1">
                  <a:spLocks noChangeArrowheads="1"/>
                </p:cNvSpPr>
                <p:nvPr/>
              </p:nvSpPr>
              <p:spPr bwMode="auto">
                <a:xfrm>
                  <a:off x="121410" y="109216"/>
                  <a:ext cx="442286" cy="3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grpSp>
        </p:grpSp>
        <p:sp>
          <p:nvSpPr>
            <p:cNvPr id="51" name="Line 13"/>
            <p:cNvSpPr>
              <a:spLocks noChangeShapeType="1"/>
            </p:cNvSpPr>
            <p:nvPr/>
          </p:nvSpPr>
          <p:spPr bwMode="auto">
            <a:xfrm flipV="1">
              <a:off x="4116834" y="2340974"/>
              <a:ext cx="4127574" cy="18051"/>
            </a:xfrm>
            <a:prstGeom prst="line">
              <a:avLst/>
            </a:prstGeom>
            <a:noFill/>
            <a:ln w="25400">
              <a:solidFill>
                <a:srgbClr val="969696"/>
              </a:solidFill>
              <a:prstDash val="sysDot"/>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方正兰亭中黑_GBK" panose="02000000000000000000" pitchFamily="2" charset="-122"/>
                <a:ea typeface="方正兰亭中黑_GBK" panose="02000000000000000000" pitchFamily="2" charset="-122"/>
                <a:cs typeface="+mn-cs"/>
              </a:endParaRPr>
            </a:p>
          </p:txBody>
        </p:sp>
        <p:sp>
          <p:nvSpPr>
            <p:cNvPr id="52" name="Text Box 15"/>
            <p:cNvSpPr txBox="1">
              <a:spLocks noChangeArrowheads="1"/>
            </p:cNvSpPr>
            <p:nvPr/>
          </p:nvSpPr>
          <p:spPr bwMode="auto">
            <a:xfrm>
              <a:off x="3686165" y="1825625"/>
              <a:ext cx="389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en-US" altLang="zh-CN" sz="2400" b="1" i="0" u="none" strike="noStrike" kern="1200" cap="none" spc="0" normalizeH="0" baseline="0" noProof="0" dirty="0">
                  <a:ln>
                    <a:noFill/>
                  </a:ln>
                  <a:solidFill>
                    <a:prstClr val="white"/>
                  </a:solidFill>
                  <a:effectLst/>
                  <a:uLnTx/>
                  <a:uFillTx/>
                  <a:latin typeface="微软雅黑" charset="0"/>
                  <a:ea typeface="微软雅黑" charset="0"/>
                  <a:cs typeface="+mn-cs"/>
                </a:rPr>
                <a:t>0</a:t>
              </a:r>
              <a:endParaRPr kumimoji="0" lang="en-US" altLang="zh-CN" sz="24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sp>
          <p:nvSpPr>
            <p:cNvPr id="53" name="Text Box 17"/>
            <p:cNvSpPr txBox="1">
              <a:spLocks noChangeArrowheads="1"/>
            </p:cNvSpPr>
            <p:nvPr/>
          </p:nvSpPr>
          <p:spPr bwMode="auto">
            <a:xfrm>
              <a:off x="4390617" y="1772816"/>
              <a:ext cx="386232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itchFamily="49" charset="-122"/>
                  <a:ea typeface="宋体" pitchFamily="2" charset="-122"/>
                </a:defRPr>
              </a:lvl1pPr>
              <a:lvl2pPr marL="742950" indent="-285750">
                <a:defRPr b="1">
                  <a:solidFill>
                    <a:schemeClr val="bg1"/>
                  </a:solidFill>
                  <a:latin typeface="黑体" pitchFamily="49" charset="-122"/>
                  <a:ea typeface="宋体" pitchFamily="2" charset="-122"/>
                </a:defRPr>
              </a:lvl2pPr>
              <a:lvl3pPr marL="1143000" indent="-228600">
                <a:defRPr b="1">
                  <a:solidFill>
                    <a:schemeClr val="bg1"/>
                  </a:solidFill>
                  <a:latin typeface="黑体" pitchFamily="49" charset="-122"/>
                  <a:ea typeface="宋体" pitchFamily="2" charset="-122"/>
                </a:defRPr>
              </a:lvl3pPr>
              <a:lvl4pPr marL="1600200" indent="-228600">
                <a:defRPr b="1">
                  <a:solidFill>
                    <a:schemeClr val="bg1"/>
                  </a:solidFill>
                  <a:latin typeface="黑体" pitchFamily="49" charset="-122"/>
                  <a:ea typeface="宋体" pitchFamily="2" charset="-122"/>
                </a:defRPr>
              </a:lvl4pPr>
              <a:lvl5pPr marL="2057400" indent="-228600">
                <a:defRPr b="1">
                  <a:solidFill>
                    <a:schemeClr val="bg1"/>
                  </a:solidFill>
                  <a:latin typeface="黑体" pitchFamily="49" charset="-122"/>
                  <a:ea typeface="宋体" pitchFamily="2" charset="-122"/>
                </a:defRPr>
              </a:lvl5pPr>
              <a:lvl6pPr marL="2514600" indent="-228600" eaLnBrk="0" fontAlgn="base" hangingPunct="0">
                <a:spcBef>
                  <a:spcPct val="0"/>
                </a:spcBef>
                <a:spcAft>
                  <a:spcPct val="0"/>
                </a:spcAft>
                <a:defRPr b="1">
                  <a:solidFill>
                    <a:schemeClr val="bg1"/>
                  </a:solidFill>
                  <a:latin typeface="黑体" pitchFamily="49" charset="-122"/>
                  <a:ea typeface="宋体" pitchFamily="2" charset="-122"/>
                </a:defRPr>
              </a:lvl6pPr>
              <a:lvl7pPr marL="2971800" indent="-228600" eaLnBrk="0" fontAlgn="base" hangingPunct="0">
                <a:spcBef>
                  <a:spcPct val="0"/>
                </a:spcBef>
                <a:spcAft>
                  <a:spcPct val="0"/>
                </a:spcAft>
                <a:defRPr b="1">
                  <a:solidFill>
                    <a:schemeClr val="bg1"/>
                  </a:solidFill>
                  <a:latin typeface="黑体" pitchFamily="49" charset="-122"/>
                  <a:ea typeface="宋体" pitchFamily="2" charset="-122"/>
                </a:defRPr>
              </a:lvl7pPr>
              <a:lvl8pPr marL="3429000" indent="-228600" eaLnBrk="0" fontAlgn="base" hangingPunct="0">
                <a:spcBef>
                  <a:spcPct val="0"/>
                </a:spcBef>
                <a:spcAft>
                  <a:spcPct val="0"/>
                </a:spcAft>
                <a:defRPr b="1">
                  <a:solidFill>
                    <a:schemeClr val="bg1"/>
                  </a:solidFill>
                  <a:latin typeface="黑体" pitchFamily="49" charset="-122"/>
                  <a:ea typeface="宋体" pitchFamily="2" charset="-122"/>
                </a:defRPr>
              </a:lvl8pPr>
              <a:lvl9pPr marL="3886200" indent="-228600" eaLnBrk="0" fontAlgn="base" hangingPunct="0">
                <a:spcBef>
                  <a:spcPct val="0"/>
                </a:spcBef>
                <a:spcAft>
                  <a:spcPct val="0"/>
                </a:spcAft>
                <a:defRPr b="1">
                  <a:solidFill>
                    <a:schemeClr val="bg1"/>
                  </a:solidFill>
                  <a:latin typeface="黑体" pitchFamily="49" charset="-122"/>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rPr>
                <a:t>认识数据</a:t>
              </a:r>
              <a:endParaRPr kumimoji="0" lang="zh-CN" altLang="en-US" sz="3000" b="1" i="0" u="none" strike="noStrike" kern="1200" cap="none" spc="0" normalizeH="0" baseline="0" noProof="0" dirty="0">
                <a:ln>
                  <a:noFill/>
                </a:ln>
                <a:solidFill>
                  <a:srgbClr val="31589C"/>
                </a:solidFill>
                <a:effectLst/>
                <a:uLnTx/>
                <a:uFillTx/>
                <a:latin typeface="微软雅黑" charset="0"/>
                <a:ea typeface="微软雅黑" charset="0"/>
                <a:cs typeface="+mn-cs"/>
              </a:endParaRPr>
            </a:p>
          </p:txBody>
        </p:sp>
      </p:grpSp>
      <p:sp>
        <p:nvSpPr>
          <p:cNvPr id="59" name="圆角矩形 1"/>
          <p:cNvSpPr/>
          <p:nvPr/>
        </p:nvSpPr>
        <p:spPr bwMode="auto">
          <a:xfrm>
            <a:off x="755153" y="5121391"/>
            <a:ext cx="7561263" cy="1511300"/>
          </a:xfrm>
          <a:prstGeom prst="roundRect">
            <a:avLst/>
          </a:prstGeom>
          <a:solidFill>
            <a:srgbClr val="FFFFE7"/>
          </a:solidFill>
          <a:ln w="25400" cap="flat" cmpd="sng" algn="ctr">
            <a:noFill/>
            <a:prstDash val="solid"/>
            <a:round/>
            <a:headEnd type="none" w="med" len="med"/>
            <a:tailEnd type="triangle" w="lg" len="lg"/>
          </a:ln>
          <a:effectLst/>
        </p:spPr>
        <p:txBody>
          <a:bodyPr tIns="72000" bIns="108000"/>
          <a:lstStyle/>
          <a:p>
            <a:pPr algn="l" eaLnBrk="0" hangingPunct="0">
              <a:lnSpc>
                <a:spcPct val="130000"/>
              </a:lnSpc>
              <a:spcBef>
                <a:spcPct val="20000"/>
              </a:spcBef>
              <a:buClr>
                <a:srgbClr val="CC0000"/>
              </a:buClr>
              <a:defRPr/>
            </a:pPr>
            <a:r>
              <a:rPr lang="zh-CN" altLang="en-US" sz="2800" b="0" dirty="0">
                <a:solidFill>
                  <a:srgbClr val="FF0000"/>
                </a:solidFill>
                <a:latin typeface="微软雅黑" charset="0"/>
                <a:ea typeface="微软雅黑" charset="0"/>
              </a:rPr>
              <a:t>基本要求</a:t>
            </a:r>
            <a:r>
              <a:rPr lang="zh-CN" altLang="en-US" sz="2800" b="0" dirty="0">
                <a:latin typeface="微软雅黑" charset="0"/>
                <a:ea typeface="微软雅黑" charset="0"/>
              </a:rPr>
              <a:t>：</a:t>
            </a:r>
            <a:r>
              <a:rPr lang="zh-CN" altLang="zh-CN" sz="2800" b="0" dirty="0">
                <a:solidFill>
                  <a:srgbClr val="1557AE"/>
                </a:solidFill>
                <a:latin typeface="微软雅黑" charset="0"/>
                <a:ea typeface="微软雅黑" charset="0"/>
              </a:rPr>
              <a:t>了解</a:t>
            </a:r>
            <a:r>
              <a:rPr lang="zh-CN" altLang="zh-CN" sz="2800" b="0" dirty="0">
                <a:solidFill>
                  <a:srgbClr val="FF0000"/>
                </a:solidFill>
                <a:latin typeface="微软雅黑" charset="0"/>
                <a:ea typeface="微软雅黑" charset="0"/>
              </a:rPr>
              <a:t>数据质量问题</a:t>
            </a:r>
            <a:r>
              <a:rPr lang="zh-CN" altLang="zh-CN" sz="2800" b="0" dirty="0">
                <a:solidFill>
                  <a:srgbClr val="1557AE"/>
                </a:solidFill>
                <a:latin typeface="微软雅黑" charset="0"/>
                <a:ea typeface="微软雅黑" charset="0"/>
              </a:rPr>
              <a:t>及其对挖掘的影响，掌握</a:t>
            </a:r>
            <a:r>
              <a:rPr lang="zh-CN" altLang="zh-CN" sz="2800" b="0" dirty="0">
                <a:solidFill>
                  <a:srgbClr val="FF0000"/>
                </a:solidFill>
                <a:latin typeface="微软雅黑" charset="0"/>
                <a:ea typeface="微软雅黑" charset="0"/>
              </a:rPr>
              <a:t>数据清理</a:t>
            </a:r>
            <a:r>
              <a:rPr lang="zh-CN" altLang="zh-CN" sz="2800" b="0" dirty="0">
                <a:solidFill>
                  <a:srgbClr val="1557AE"/>
                </a:solidFill>
                <a:latin typeface="微软雅黑" charset="0"/>
                <a:ea typeface="微软雅黑" charset="0"/>
              </a:rPr>
              <a:t>、</a:t>
            </a:r>
            <a:r>
              <a:rPr lang="zh-CN" altLang="zh-CN" sz="2800" b="0" dirty="0">
                <a:solidFill>
                  <a:srgbClr val="FF0000"/>
                </a:solidFill>
                <a:latin typeface="微软雅黑" charset="0"/>
                <a:ea typeface="微软雅黑" charset="0"/>
              </a:rPr>
              <a:t>集成</a:t>
            </a:r>
            <a:r>
              <a:rPr lang="zh-CN" altLang="zh-CN" sz="2800" b="0" dirty="0">
                <a:solidFill>
                  <a:srgbClr val="1557AE"/>
                </a:solidFill>
                <a:latin typeface="微软雅黑" charset="0"/>
                <a:ea typeface="微软雅黑" charset="0"/>
              </a:rPr>
              <a:t>和</a:t>
            </a:r>
            <a:r>
              <a:rPr lang="zh-CN" altLang="zh-CN" sz="2800" b="0" dirty="0">
                <a:solidFill>
                  <a:srgbClr val="FF0000"/>
                </a:solidFill>
                <a:latin typeface="微软雅黑" charset="0"/>
                <a:ea typeface="微软雅黑" charset="0"/>
              </a:rPr>
              <a:t>变换</a:t>
            </a:r>
            <a:r>
              <a:rPr lang="zh-CN" altLang="zh-CN" sz="2800" b="0" dirty="0">
                <a:solidFill>
                  <a:srgbClr val="1557AE"/>
                </a:solidFill>
                <a:latin typeface="微软雅黑" charset="0"/>
                <a:ea typeface="微软雅黑" charset="0"/>
              </a:rPr>
              <a:t>、</a:t>
            </a:r>
            <a:r>
              <a:rPr lang="zh-CN" altLang="zh-CN" sz="2800" b="0" dirty="0">
                <a:solidFill>
                  <a:srgbClr val="FF0000"/>
                </a:solidFill>
                <a:latin typeface="微软雅黑" charset="0"/>
                <a:ea typeface="微软雅黑" charset="0"/>
              </a:rPr>
              <a:t>归约</a:t>
            </a:r>
            <a:r>
              <a:rPr lang="zh-CN" altLang="zh-CN" sz="2800" b="0" dirty="0">
                <a:solidFill>
                  <a:srgbClr val="1557AE"/>
                </a:solidFill>
                <a:latin typeface="微软雅黑" charset="0"/>
                <a:ea typeface="微软雅黑" charset="0"/>
              </a:rPr>
              <a:t>等方法</a:t>
            </a:r>
            <a:endParaRPr lang="zh-CN" altLang="zh-CN" sz="2800" b="0" dirty="0">
              <a:solidFill>
                <a:srgbClr val="1557AE"/>
              </a:solidFill>
              <a:latin typeface="微软雅黑" charset="0"/>
              <a:ea typeface="微软雅黑"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2250"/>
    </mc:Choice>
    <mc:Fallback>
      <p:transition spd="slow" advTm="2250"/>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8" name="Rectangle 6"/>
          <p:cNvSpPr>
            <a:spLocks noGrp="1" noChangeArrowheads="1"/>
          </p:cNvSpPr>
          <p:nvPr>
            <p:ph type="title"/>
          </p:nvPr>
        </p:nvSpPr>
        <p:spPr/>
        <p:txBody>
          <a:bodyPr/>
          <a:lstStyle/>
          <a:p>
            <a:pPr eaLnBrk="1" hangingPunct="1">
              <a:defRPr/>
            </a:pPr>
            <a:r>
              <a:rPr lang="zh-CN" altLang="en-US" sz="3600" dirty="0"/>
              <a:t>本章内容</a:t>
            </a:r>
            <a:endParaRPr lang="zh-CN" altLang="en-US" sz="3600" dirty="0"/>
          </a:p>
        </p:txBody>
      </p:sp>
      <p:sp>
        <p:nvSpPr>
          <p:cNvPr id="6147" name="Rectangle 7"/>
          <p:cNvSpPr>
            <a:spLocks noGrp="1" noChangeArrowheads="1"/>
          </p:cNvSpPr>
          <p:nvPr>
            <p:ph type="body" idx="1"/>
          </p:nvPr>
        </p:nvSpPr>
        <p:spPr>
          <a:xfrm>
            <a:off x="755650" y="1628775"/>
            <a:ext cx="7780338" cy="3024188"/>
          </a:xfrm>
        </p:spPr>
        <p:txBody>
          <a:bodyPr/>
          <a:lstStyle/>
          <a:p>
            <a:pPr marL="0" indent="0" eaLnBrk="1" hangingPunct="1">
              <a:lnSpc>
                <a:spcPct val="120000"/>
              </a:lnSpc>
              <a:spcBef>
                <a:spcPts val="600"/>
              </a:spcBef>
              <a:buNone/>
            </a:pPr>
            <a:r>
              <a:rPr lang="en-US" altLang="zh-CN" sz="2800" b="0" dirty="0">
                <a:solidFill>
                  <a:srgbClr val="FF0000"/>
                </a:solidFill>
                <a:cs typeface="Times New Roman" panose="02020503050405090304" pitchFamily="18" charset="0"/>
              </a:rPr>
              <a:t>2.0  </a:t>
            </a:r>
            <a:r>
              <a:rPr lang="zh-CN" altLang="en-US" sz="2800" b="0" dirty="0">
                <a:solidFill>
                  <a:srgbClr val="FF0000"/>
                </a:solidFill>
                <a:cs typeface="Times New Roman" panose="02020503050405090304" pitchFamily="18" charset="0"/>
              </a:rPr>
              <a:t>认识数据</a:t>
            </a:r>
            <a:endParaRPr lang="en-US" altLang="zh-CN" sz="2800" b="0" dirty="0">
              <a:solidFill>
                <a:srgbClr val="FF0000"/>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Times New Roman" panose="02020503050405090304" pitchFamily="18" charset="0"/>
              </a:rPr>
              <a:t>2.1  </a:t>
            </a:r>
            <a:r>
              <a:rPr lang="zh-CN" altLang="zh-CN" sz="2800" b="0" dirty="0">
                <a:solidFill>
                  <a:srgbClr val="1557AE"/>
                </a:solidFill>
                <a:cs typeface="Times New Roman" panose="02020503050405090304" pitchFamily="18" charset="0"/>
              </a:rPr>
              <a:t>为什么要预处理数据</a:t>
            </a:r>
            <a:endParaRPr lang="zh-CN" altLang="zh-CN" sz="2800" b="0" dirty="0">
              <a:solidFill>
                <a:srgbClr val="1557AE"/>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Times New Roman" panose="02020503050405090304" pitchFamily="18" charset="0"/>
              </a:rPr>
              <a:t>2.2  </a:t>
            </a:r>
            <a:r>
              <a:rPr lang="zh-CN" altLang="zh-CN" sz="2800" b="0" dirty="0">
                <a:solidFill>
                  <a:srgbClr val="1557AE"/>
                </a:solidFill>
                <a:cs typeface="Times New Roman" panose="02020503050405090304" pitchFamily="18" charset="0"/>
              </a:rPr>
              <a:t>数据清理</a:t>
            </a:r>
            <a:endParaRPr lang="zh-CN" altLang="zh-CN" sz="2800" b="0" dirty="0">
              <a:solidFill>
                <a:srgbClr val="1557AE"/>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Times New Roman" panose="02020503050405090304" pitchFamily="18" charset="0"/>
              </a:rPr>
              <a:t>2.3  </a:t>
            </a:r>
            <a:r>
              <a:rPr lang="zh-CN" altLang="zh-CN" sz="2800" b="0" dirty="0">
                <a:solidFill>
                  <a:srgbClr val="1557AE"/>
                </a:solidFill>
                <a:cs typeface="Times New Roman" panose="02020503050405090304" pitchFamily="18" charset="0"/>
              </a:rPr>
              <a:t>数据集成和变换</a:t>
            </a:r>
            <a:endParaRPr lang="zh-CN" altLang="zh-CN" sz="2800" b="0" dirty="0">
              <a:solidFill>
                <a:srgbClr val="1557AE"/>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Times New Roman" panose="02020503050405090304" pitchFamily="18" charset="0"/>
              </a:rPr>
              <a:t>2.4  </a:t>
            </a:r>
            <a:r>
              <a:rPr lang="zh-CN" altLang="zh-CN" sz="2800" b="0" dirty="0">
                <a:solidFill>
                  <a:srgbClr val="1557AE"/>
                </a:solidFill>
                <a:cs typeface="Times New Roman" panose="02020503050405090304" pitchFamily="18" charset="0"/>
              </a:rPr>
              <a:t>数据归约</a:t>
            </a:r>
            <a:endParaRPr lang="zh-CN" altLang="zh-CN" sz="2800" b="0" dirty="0">
              <a:solidFill>
                <a:srgbClr val="1557AE"/>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endParaRPr lang="zh-CN" altLang="en-US" sz="2800" b="0" dirty="0"/>
          </a:p>
          <a:p>
            <a:pPr marL="0" indent="0" eaLnBrk="1" hangingPunct="1">
              <a:lnSpc>
                <a:spcPct val="150000"/>
              </a:lnSpc>
              <a:buFont typeface="Wingdings" panose="05000000000000000000" pitchFamily="2" charset="2"/>
              <a:buNone/>
            </a:pPr>
            <a:endParaRPr lang="zh-CN" altLang="en-US" b="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6"/>
          <p:cNvSpPr txBox="1">
            <a:spLocks noChangeArrowheads="1"/>
          </p:cNvSpPr>
          <p:nvPr/>
        </p:nvSpPr>
        <p:spPr bwMode="auto">
          <a:xfrm>
            <a:off x="571500" y="116632"/>
            <a:ext cx="8001000" cy="696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a:t>
            </a:r>
            <a:endParaRPr lang="zh-CN" altLang="en-US" sz="3600" b="0" dirty="0">
              <a:solidFill>
                <a:srgbClr val="1557AE"/>
              </a:solidFill>
              <a:latin typeface="微软雅黑" charset="0"/>
              <a:ea typeface="微软雅黑" charset="0"/>
              <a:cs typeface="微软雅黑" charset="0"/>
            </a:endParaRPr>
          </a:p>
        </p:txBody>
      </p:sp>
      <p:sp>
        <p:nvSpPr>
          <p:cNvPr id="8" name="Rectangle 7"/>
          <p:cNvSpPr txBox="1">
            <a:spLocks noChangeArrowheads="1"/>
          </p:cNvSpPr>
          <p:nvPr/>
        </p:nvSpPr>
        <p:spPr bwMode="auto">
          <a:xfrm>
            <a:off x="251520" y="1700808"/>
            <a:ext cx="8424614"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
                <a:srgbClr val="FF0000"/>
              </a:buClr>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洞察数据有助于数据预处理与挖掘</a:t>
            </a:r>
            <a:endParaRPr lang="en-US" altLang="zh-CN" sz="2800" b="0" dirty="0">
              <a:solidFill>
                <a:srgbClr val="FF0000"/>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dirty="0">
                <a:solidFill>
                  <a:srgbClr val="1557AE"/>
                </a:solidFill>
                <a:latin typeface="微软雅黑" charset="0"/>
                <a:ea typeface="微软雅黑" charset="0"/>
                <a:cs typeface="Calibri" panose="020F0502020204030204" pitchFamily="34" charset="0"/>
              </a:rPr>
              <a:t>数据由什么类型的属性或字段组成</a:t>
            </a:r>
            <a:endParaRPr lang="en-US" altLang="zh-CN" sz="240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dirty="0">
                <a:solidFill>
                  <a:srgbClr val="1557AE"/>
                </a:solidFill>
                <a:latin typeface="微软雅黑" charset="0"/>
                <a:ea typeface="微软雅黑" charset="0"/>
                <a:cs typeface="Calibri" panose="020F0502020204030204" pitchFamily="34" charset="0"/>
              </a:rPr>
              <a:t>属性具有何种类型的属性值</a:t>
            </a:r>
            <a:endParaRPr lang="en-US" altLang="zh-CN" sz="240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dirty="0">
                <a:solidFill>
                  <a:srgbClr val="1557AE"/>
                </a:solidFill>
                <a:latin typeface="微软雅黑" charset="0"/>
                <a:ea typeface="微软雅黑" charset="0"/>
                <a:cs typeface="Calibri" panose="020F0502020204030204" pitchFamily="34" charset="0"/>
              </a:rPr>
              <a:t>属性是离散的还是连续的</a:t>
            </a:r>
            <a:endParaRPr lang="en-US" altLang="zh-CN" sz="240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dirty="0">
                <a:solidFill>
                  <a:srgbClr val="1557AE"/>
                </a:solidFill>
                <a:latin typeface="微软雅黑" charset="0"/>
                <a:ea typeface="微软雅黑" charset="0"/>
                <a:cs typeface="Calibri" panose="020F0502020204030204" pitchFamily="34" charset="0"/>
              </a:rPr>
              <a:t>数据分布特性</a:t>
            </a:r>
            <a:endParaRPr lang="en-US" altLang="zh-CN" sz="240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dirty="0">
                <a:solidFill>
                  <a:srgbClr val="1557AE"/>
                </a:solidFill>
                <a:latin typeface="微软雅黑" charset="0"/>
                <a:ea typeface="微软雅黑" charset="0"/>
                <a:cs typeface="Calibri" panose="020F0502020204030204" pitchFamily="34" charset="0"/>
              </a:rPr>
              <a:t>数据可视化</a:t>
            </a:r>
            <a:endParaRPr lang="zh-CN" altLang="en-US" sz="2500" b="0" dirty="0">
              <a:solidFill>
                <a:srgbClr val="1557AE"/>
              </a:solidFill>
              <a:latin typeface="微软雅黑" charset="0"/>
              <a:ea typeface="微软雅黑" charset="0"/>
              <a:cs typeface="Calibri" panose="020F0502020204030204" pitchFamily="3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6"/>
          <p:cNvSpPr txBox="1">
            <a:spLocks noChangeArrowheads="1"/>
          </p:cNvSpPr>
          <p:nvPr/>
        </p:nvSpPr>
        <p:spPr bwMode="auto">
          <a:xfrm>
            <a:off x="389198"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数据对象与属性类型</a:t>
            </a:r>
            <a:endParaRPr lang="zh-CN" altLang="en-US" sz="3600" b="0" dirty="0">
              <a:solidFill>
                <a:srgbClr val="1557AE"/>
              </a:solidFill>
              <a:latin typeface="微软雅黑" charset="0"/>
              <a:ea typeface="微软雅黑" charset="0"/>
              <a:cs typeface="微软雅黑" charset="0"/>
            </a:endParaRPr>
          </a:p>
        </p:txBody>
      </p:sp>
      <p:sp>
        <p:nvSpPr>
          <p:cNvPr id="8" name="Rectangle 7"/>
          <p:cNvSpPr txBox="1">
            <a:spLocks noChangeArrowheads="1"/>
          </p:cNvSpPr>
          <p:nvPr/>
        </p:nvSpPr>
        <p:spPr bwMode="auto">
          <a:xfrm>
            <a:off x="251520" y="1556792"/>
            <a:ext cx="8424614"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buClr>
                <a:srgbClr val="FF0000"/>
              </a:buClr>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数据对象：</a:t>
            </a:r>
            <a:r>
              <a:rPr lang="zh-CN" altLang="en-US" sz="2800" b="0" dirty="0">
                <a:solidFill>
                  <a:srgbClr val="1557AE"/>
                </a:solidFill>
                <a:latin typeface="微软雅黑" charset="0"/>
                <a:ea typeface="微软雅黑" charset="0"/>
                <a:cs typeface="Calibri" panose="020F0502020204030204" pitchFamily="34" charset="0"/>
              </a:rPr>
              <a:t>数据集由数据对象组成，一个数据对象代表一个实体</a:t>
            </a:r>
            <a:endParaRPr lang="en-US" altLang="zh-CN" sz="2800" b="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Calibri" panose="020F0502020204030204" pitchFamily="34" charset="0"/>
              </a:rPr>
              <a:t>顾客、商品、患者</a:t>
            </a:r>
            <a:endParaRPr lang="en-US" altLang="zh-CN" sz="2400" b="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Calibri" panose="020F0502020204030204" pitchFamily="34" charset="0"/>
              </a:rPr>
              <a:t>又称</a:t>
            </a:r>
            <a:r>
              <a:rPr lang="zh-CN" altLang="en-US" sz="2400" b="0" dirty="0">
                <a:solidFill>
                  <a:srgbClr val="FF0000"/>
                </a:solidFill>
                <a:latin typeface="微软雅黑" charset="0"/>
                <a:ea typeface="微软雅黑" charset="0"/>
                <a:cs typeface="Calibri" panose="020F0502020204030204" pitchFamily="34" charset="0"/>
              </a:rPr>
              <a:t>样本、实例、数据点、元组</a:t>
            </a:r>
            <a:r>
              <a:rPr lang="zh-CN" altLang="en-US" sz="2400" b="0" dirty="0">
                <a:solidFill>
                  <a:srgbClr val="1557AE"/>
                </a:solidFill>
                <a:latin typeface="微软雅黑" charset="0"/>
                <a:ea typeface="微软雅黑" charset="0"/>
                <a:cs typeface="Calibri" panose="020F0502020204030204" pitchFamily="34" charset="0"/>
              </a:rPr>
              <a:t>等</a:t>
            </a:r>
            <a:endParaRPr lang="en-US" altLang="zh-CN" sz="2400" b="0" dirty="0">
              <a:solidFill>
                <a:srgbClr val="1557AE"/>
              </a:solidFill>
              <a:latin typeface="微软雅黑" charset="0"/>
              <a:ea typeface="微软雅黑" charset="0"/>
              <a:cs typeface="Calibri" panose="020F0502020204030204" pitchFamily="34" charset="0"/>
            </a:endParaRPr>
          </a:p>
          <a:p>
            <a:pPr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属性：</a:t>
            </a:r>
            <a:r>
              <a:rPr lang="zh-CN" altLang="en-US" sz="2800" b="0" dirty="0">
                <a:solidFill>
                  <a:srgbClr val="1557AE"/>
                </a:solidFill>
                <a:latin typeface="微软雅黑" charset="0"/>
                <a:ea typeface="微软雅黑" charset="0"/>
                <a:cs typeface="Calibri" panose="020F0502020204030204" pitchFamily="34" charset="0"/>
              </a:rPr>
              <a:t>表示数据对象的一个特征</a:t>
            </a:r>
            <a:endParaRPr lang="en-US" altLang="zh-CN" sz="2800" b="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Calibri" panose="020F0502020204030204" pitchFamily="34" charset="0"/>
              </a:rPr>
              <a:t>维、特征、变量</a:t>
            </a:r>
            <a:endParaRPr lang="en-US" altLang="zh-CN" sz="2400" b="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Calibri" panose="020F0502020204030204" pitchFamily="34" charset="0"/>
              </a:rPr>
              <a:t>一个给定对象的一组属性称作</a:t>
            </a:r>
            <a:r>
              <a:rPr lang="zh-CN" altLang="en-US" sz="2400" b="0" dirty="0">
                <a:solidFill>
                  <a:srgbClr val="FF0000"/>
                </a:solidFill>
                <a:latin typeface="微软雅黑" charset="0"/>
                <a:ea typeface="微软雅黑" charset="0"/>
                <a:cs typeface="Calibri" panose="020F0502020204030204" pitchFamily="34" charset="0"/>
              </a:rPr>
              <a:t>属性向量（特征向量）</a:t>
            </a:r>
            <a:endParaRPr lang="en-US" altLang="zh-CN" sz="2400" b="0" dirty="0">
              <a:solidFill>
                <a:srgbClr val="FF0000"/>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
                <a:srgbClr val="1557AE"/>
              </a:buClr>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Calibri" panose="020F0502020204030204" pitchFamily="34" charset="0"/>
              </a:rPr>
              <a:t>属性的类型</a:t>
            </a:r>
            <a:r>
              <a:rPr lang="zh-CN" altLang="en-US" sz="2400" b="0" dirty="0">
                <a:solidFill>
                  <a:srgbClr val="1557AE"/>
                </a:solidFill>
                <a:latin typeface="微软雅黑" charset="0"/>
                <a:ea typeface="微软雅黑" charset="0"/>
                <a:cs typeface="Calibri" panose="020F0502020204030204" pitchFamily="34" charset="0"/>
              </a:rPr>
              <a:t>由该属性可能具有的值的集合决定</a:t>
            </a:r>
            <a:endParaRPr lang="en-US" altLang="zh-CN" sz="2400" b="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endParaRPr lang="en-US" altLang="zh-CN" sz="2400" b="0" dirty="0">
              <a:latin typeface="微软雅黑" charset="0"/>
              <a:ea typeface="微软雅黑" charset="0"/>
              <a:cs typeface="Calibri" panose="020F050202020403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6"/>
          <p:cNvSpPr txBox="1">
            <a:spLocks noChangeArrowheads="1"/>
          </p:cNvSpPr>
          <p:nvPr/>
        </p:nvSpPr>
        <p:spPr bwMode="auto">
          <a:xfrm>
            <a:off x="389198"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数据对象与属性类型</a:t>
            </a:r>
            <a:endParaRPr lang="zh-CN" altLang="en-US" sz="3600" b="0" dirty="0">
              <a:solidFill>
                <a:srgbClr val="1557AE"/>
              </a:solidFill>
              <a:latin typeface="微软雅黑" charset="0"/>
              <a:ea typeface="微软雅黑" charset="0"/>
              <a:cs typeface="微软雅黑" charset="0"/>
            </a:endParaRPr>
          </a:p>
        </p:txBody>
      </p:sp>
      <p:sp>
        <p:nvSpPr>
          <p:cNvPr id="8" name="Rectangle 7"/>
          <p:cNvSpPr txBox="1">
            <a:spLocks noChangeArrowheads="1"/>
          </p:cNvSpPr>
          <p:nvPr/>
        </p:nvSpPr>
        <p:spPr bwMode="auto">
          <a:xfrm>
            <a:off x="395536" y="1124744"/>
            <a:ext cx="82089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枚举类型（</a:t>
            </a:r>
            <a:r>
              <a:rPr lang="en-US" altLang="zh-CN" sz="2800" b="0" dirty="0">
                <a:solidFill>
                  <a:srgbClr val="FF0000"/>
                </a:solidFill>
                <a:latin typeface="微软雅黑" charset="0"/>
                <a:ea typeface="微软雅黑" charset="0"/>
                <a:cs typeface="微软雅黑" charset="0"/>
              </a:rPr>
              <a:t>nominal attribute</a:t>
            </a:r>
            <a:r>
              <a:rPr lang="zh-CN" altLang="en-US" sz="2800" b="0" dirty="0">
                <a:solidFill>
                  <a:srgbClr val="FF0000"/>
                </a:solidFill>
                <a:latin typeface="微软雅黑" charset="0"/>
                <a:ea typeface="微软雅黑" charset="0"/>
                <a:cs typeface="微软雅黑" charset="0"/>
              </a:rPr>
              <a:t>）：分类类型</a:t>
            </a:r>
            <a:endParaRPr lang="en-US" altLang="zh-CN" sz="2800" b="0" dirty="0">
              <a:solidFill>
                <a:srgbClr val="FF0000"/>
              </a:solidFill>
              <a:latin typeface="微软雅黑" charset="0"/>
              <a:ea typeface="微软雅黑" charset="0"/>
              <a:cs typeface="微软雅黑"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属性值域是一个由符号、事物构成的有限集合</a:t>
            </a:r>
            <a:endParaRPr lang="en-US" altLang="zh-CN" sz="2400" b="0" dirty="0">
              <a:solidFill>
                <a:srgbClr val="1557AE"/>
              </a:solidFill>
              <a:latin typeface="微软雅黑" charset="0"/>
              <a:ea typeface="微软雅黑" charset="0"/>
              <a:cs typeface="微软雅黑"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头发颜色、婚姻状态、职业</a:t>
            </a:r>
            <a:endParaRPr lang="en-US" altLang="zh-CN" sz="2400" b="0" dirty="0">
              <a:solidFill>
                <a:srgbClr val="1557AE"/>
              </a:solidFill>
              <a:latin typeface="微软雅黑" charset="0"/>
              <a:ea typeface="微软雅黑" charset="0"/>
              <a:cs typeface="微软雅黑"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不具备有意义的序、不是定量的</a:t>
            </a:r>
            <a:endParaRPr lang="en-US" altLang="zh-CN" sz="2400" b="0" dirty="0">
              <a:solidFill>
                <a:srgbClr val="1557AE"/>
              </a:solidFill>
              <a:latin typeface="微软雅黑" charset="0"/>
              <a:ea typeface="微软雅黑" charset="0"/>
              <a:cs typeface="微软雅黑"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可用</a:t>
            </a:r>
            <a:r>
              <a:rPr lang="zh-CN" altLang="en-US" sz="2400" b="0" dirty="0">
                <a:solidFill>
                  <a:srgbClr val="FF0000"/>
                </a:solidFill>
                <a:latin typeface="微软雅黑" charset="0"/>
                <a:ea typeface="微软雅黑" charset="0"/>
                <a:cs typeface="微软雅黑" charset="0"/>
              </a:rPr>
              <a:t>众数</a:t>
            </a:r>
            <a:r>
              <a:rPr lang="en-US" altLang="zh-CN" sz="2400" b="0" dirty="0">
                <a:solidFill>
                  <a:srgbClr val="FF0000"/>
                </a:solidFill>
                <a:latin typeface="微软雅黑" charset="0"/>
                <a:ea typeface="微软雅黑" charset="0"/>
                <a:cs typeface="微软雅黑" charset="0"/>
              </a:rPr>
              <a:t>(mode)</a:t>
            </a:r>
            <a:r>
              <a:rPr lang="zh-CN" altLang="en-US" sz="2400" b="0" dirty="0">
                <a:solidFill>
                  <a:srgbClr val="1557AE"/>
                </a:solidFill>
                <a:latin typeface="微软雅黑" charset="0"/>
                <a:ea typeface="微软雅黑" charset="0"/>
                <a:cs typeface="微软雅黑" charset="0"/>
              </a:rPr>
              <a:t>度量中心趋势</a:t>
            </a:r>
            <a:endParaRPr lang="en-US" altLang="zh-CN" sz="2400" b="0" dirty="0">
              <a:solidFill>
                <a:srgbClr val="1557AE"/>
              </a:solidFill>
              <a:latin typeface="微软雅黑" charset="0"/>
              <a:ea typeface="微软雅黑" charset="0"/>
              <a:cs typeface="微软雅黑" charset="0"/>
            </a:endParaRPr>
          </a:p>
          <a:p>
            <a:pPr eaLnBrk="1" hangingPunct="1">
              <a:lnSpc>
                <a:spcPct val="120000"/>
              </a:lnSpc>
              <a:spcBef>
                <a:spcPts val="1200"/>
              </a:spcBef>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二元属性（</a:t>
            </a:r>
            <a:r>
              <a:rPr lang="en-US" altLang="zh-CN" sz="2800" b="0" dirty="0">
                <a:solidFill>
                  <a:srgbClr val="FF0000"/>
                </a:solidFill>
                <a:latin typeface="微软雅黑" charset="0"/>
                <a:ea typeface="微软雅黑" charset="0"/>
                <a:cs typeface="微软雅黑" charset="0"/>
              </a:rPr>
              <a:t>binary attribute</a:t>
            </a:r>
            <a:r>
              <a:rPr lang="zh-CN" altLang="en-US" sz="2800" b="0" dirty="0">
                <a:solidFill>
                  <a:srgbClr val="FF0000"/>
                </a:solidFill>
                <a:latin typeface="微软雅黑" charset="0"/>
                <a:ea typeface="微软雅黑" charset="0"/>
                <a:cs typeface="微软雅黑" charset="0"/>
              </a:rPr>
              <a:t>）：布尔属性</a:t>
            </a:r>
            <a:endParaRPr lang="en-US" altLang="zh-CN" sz="2800" b="0" dirty="0">
              <a:solidFill>
                <a:srgbClr val="FF0000"/>
              </a:solidFill>
              <a:latin typeface="微软雅黑" charset="0"/>
              <a:ea typeface="微软雅黑" charset="0"/>
              <a:cs typeface="微软雅黑"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只有两个类别与状态：</a:t>
            </a:r>
            <a:r>
              <a:rPr lang="en-US" altLang="zh-CN" sz="2400" b="0" dirty="0">
                <a:solidFill>
                  <a:srgbClr val="1557AE"/>
                </a:solidFill>
                <a:latin typeface="微软雅黑" charset="0"/>
                <a:ea typeface="微软雅黑" charset="0"/>
                <a:cs typeface="微软雅黑" charset="0"/>
              </a:rPr>
              <a:t>0</a:t>
            </a:r>
            <a:r>
              <a:rPr lang="zh-CN" altLang="en-US" sz="2400" b="0" dirty="0">
                <a:solidFill>
                  <a:srgbClr val="1557AE"/>
                </a:solidFill>
                <a:latin typeface="微软雅黑" charset="0"/>
                <a:ea typeface="微软雅黑" charset="0"/>
                <a:cs typeface="微软雅黑" charset="0"/>
              </a:rPr>
              <a:t>与</a:t>
            </a:r>
            <a:r>
              <a:rPr lang="en-US" altLang="zh-CN" sz="2400" b="0" dirty="0">
                <a:solidFill>
                  <a:srgbClr val="1557AE"/>
                </a:solidFill>
                <a:latin typeface="微软雅黑" charset="0"/>
                <a:ea typeface="微软雅黑" charset="0"/>
                <a:cs typeface="微软雅黑" charset="0"/>
              </a:rPr>
              <a:t>1</a:t>
            </a:r>
            <a:r>
              <a:rPr lang="zh-CN" altLang="en-US" sz="2400" b="0" dirty="0">
                <a:solidFill>
                  <a:srgbClr val="1557AE"/>
                </a:solidFill>
                <a:latin typeface="微软雅黑" charset="0"/>
                <a:ea typeface="微软雅黑" charset="0"/>
                <a:cs typeface="微软雅黑" charset="0"/>
              </a:rPr>
              <a:t>， </a:t>
            </a:r>
            <a:r>
              <a:rPr lang="en-US" altLang="zh-CN" sz="2400" b="0" dirty="0">
                <a:solidFill>
                  <a:srgbClr val="1557AE"/>
                </a:solidFill>
                <a:latin typeface="微软雅黑" charset="0"/>
                <a:ea typeface="微软雅黑" charset="0"/>
                <a:cs typeface="微软雅黑" charset="0"/>
              </a:rPr>
              <a:t>true</a:t>
            </a:r>
            <a:r>
              <a:rPr lang="zh-CN" altLang="en-US" sz="2400" b="0" dirty="0">
                <a:solidFill>
                  <a:srgbClr val="1557AE"/>
                </a:solidFill>
                <a:latin typeface="微软雅黑" charset="0"/>
                <a:ea typeface="微软雅黑" charset="0"/>
                <a:cs typeface="微软雅黑" charset="0"/>
              </a:rPr>
              <a:t>与</a:t>
            </a:r>
            <a:r>
              <a:rPr lang="en-US" altLang="zh-CN" sz="2400" b="0" dirty="0">
                <a:solidFill>
                  <a:srgbClr val="1557AE"/>
                </a:solidFill>
                <a:latin typeface="微软雅黑" charset="0"/>
                <a:ea typeface="微软雅黑" charset="0"/>
                <a:cs typeface="微软雅黑" charset="0"/>
              </a:rPr>
              <a:t>false</a:t>
            </a:r>
            <a:endParaRPr lang="en-US" altLang="zh-CN" sz="2400" b="0" dirty="0">
              <a:solidFill>
                <a:srgbClr val="1557AE"/>
              </a:solidFill>
              <a:latin typeface="微软雅黑" charset="0"/>
              <a:ea typeface="微软雅黑" charset="0"/>
              <a:cs typeface="微软雅黑"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对称的：</a:t>
            </a:r>
            <a:r>
              <a:rPr lang="zh-CN" altLang="en-US" sz="2400" b="0" dirty="0">
                <a:solidFill>
                  <a:srgbClr val="1557AE"/>
                </a:solidFill>
                <a:latin typeface="微软雅黑" charset="0"/>
                <a:ea typeface="微软雅黑" charset="0"/>
                <a:cs typeface="微软雅黑" charset="0"/>
              </a:rPr>
              <a:t>两个状态分布或重要性相同。性别</a:t>
            </a:r>
            <a:endParaRPr lang="en-US" altLang="zh-CN" sz="2400" b="0" dirty="0">
              <a:solidFill>
                <a:srgbClr val="1557AE"/>
              </a:solidFill>
              <a:latin typeface="微软雅黑" charset="0"/>
              <a:ea typeface="微软雅黑" charset="0"/>
              <a:cs typeface="微软雅黑"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非对称的：</a:t>
            </a:r>
            <a:r>
              <a:rPr lang="zh-CN" altLang="en-US" sz="2400" b="0" dirty="0">
                <a:solidFill>
                  <a:srgbClr val="1557AE"/>
                </a:solidFill>
                <a:latin typeface="微软雅黑" charset="0"/>
                <a:ea typeface="微软雅黑" charset="0"/>
                <a:cs typeface="微软雅黑" charset="0"/>
              </a:rPr>
              <a:t>两个状态分布或重要性不是相同的。</a:t>
            </a:r>
            <a:r>
              <a:rPr lang="en-US" altLang="zh-CN" sz="2400" b="0" dirty="0">
                <a:solidFill>
                  <a:srgbClr val="1557AE"/>
                </a:solidFill>
                <a:latin typeface="微软雅黑" charset="0"/>
                <a:ea typeface="微软雅黑" charset="0"/>
                <a:cs typeface="微软雅黑" charset="0"/>
              </a:rPr>
              <a:t>HIV</a:t>
            </a:r>
            <a:r>
              <a:rPr lang="zh-CN" altLang="en-US" sz="2400" b="0" dirty="0">
                <a:solidFill>
                  <a:srgbClr val="1557AE"/>
                </a:solidFill>
                <a:latin typeface="微软雅黑" charset="0"/>
                <a:ea typeface="微软雅黑" charset="0"/>
                <a:cs typeface="微软雅黑" charset="0"/>
              </a:rPr>
              <a:t>检验。</a:t>
            </a:r>
            <a:endParaRPr lang="en-US" altLang="zh-CN" sz="2400" b="0" dirty="0">
              <a:solidFill>
                <a:srgbClr val="1557AE"/>
              </a:solidFill>
              <a:latin typeface="微软雅黑" charset="0"/>
              <a:ea typeface="微软雅黑" charset="0"/>
              <a:cs typeface="微软雅黑" charset="0"/>
            </a:endParaRPr>
          </a:p>
          <a:p>
            <a:pPr marL="898525" lvl="1" indent="-441325" eaLnBrk="1" hangingPunct="1">
              <a:lnSpc>
                <a:spcPct val="120000"/>
              </a:lnSpc>
              <a:spcBef>
                <a:spcPts val="600"/>
              </a:spcBef>
              <a:buClrTx/>
              <a:buSzPct val="100000"/>
              <a:buFont typeface="Wingdings" panose="05000000000000000000" pitchFamily="2" charset="2"/>
              <a:buChar char="Ø"/>
              <a:defRPr/>
            </a:pPr>
            <a:endParaRPr lang="en-US" altLang="zh-CN" sz="2400" b="0" dirty="0">
              <a:latin typeface="微软雅黑" charset="0"/>
              <a:ea typeface="微软雅黑" charset="0"/>
              <a:cs typeface="微软雅黑"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6"/>
          <p:cNvSpPr txBox="1">
            <a:spLocks noChangeArrowheads="1"/>
          </p:cNvSpPr>
          <p:nvPr/>
        </p:nvSpPr>
        <p:spPr bwMode="auto">
          <a:xfrm>
            <a:off x="389198"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数据对象与属性类型</a:t>
            </a:r>
            <a:endParaRPr lang="zh-CN" altLang="en-US" sz="3600" b="0" dirty="0">
              <a:solidFill>
                <a:srgbClr val="1557AE"/>
              </a:solidFill>
              <a:latin typeface="微软雅黑" charset="0"/>
              <a:ea typeface="微软雅黑" charset="0"/>
              <a:cs typeface="微软雅黑" charset="0"/>
            </a:endParaRPr>
          </a:p>
        </p:txBody>
      </p:sp>
      <p:sp>
        <p:nvSpPr>
          <p:cNvPr id="8" name="Rectangle 7"/>
          <p:cNvSpPr txBox="1">
            <a:spLocks noChangeArrowheads="1"/>
          </p:cNvSpPr>
          <p:nvPr/>
        </p:nvSpPr>
        <p:spPr bwMode="auto">
          <a:xfrm>
            <a:off x="395536" y="1556792"/>
            <a:ext cx="82089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序数类型（</a:t>
            </a:r>
            <a:r>
              <a:rPr lang="en-US" altLang="zh-CN" sz="2800" b="0" dirty="0">
                <a:solidFill>
                  <a:srgbClr val="FF0000"/>
                </a:solidFill>
                <a:latin typeface="微软雅黑" charset="0"/>
                <a:ea typeface="微软雅黑" charset="0"/>
                <a:cs typeface="微软雅黑" charset="0"/>
              </a:rPr>
              <a:t>ordinal attribute</a:t>
            </a:r>
            <a:r>
              <a:rPr lang="zh-CN" altLang="en-US" sz="2800" b="0" dirty="0">
                <a:solidFill>
                  <a:srgbClr val="FF0000"/>
                </a:solidFill>
                <a:latin typeface="微软雅黑" charset="0"/>
                <a:ea typeface="微软雅黑" charset="0"/>
                <a:cs typeface="微软雅黑" charset="0"/>
              </a:rPr>
              <a:t>）</a:t>
            </a:r>
            <a:endParaRPr lang="en-US" altLang="zh-CN" sz="2800" b="0" dirty="0">
              <a:solidFill>
                <a:srgbClr val="FF0000"/>
              </a:solidFill>
              <a:latin typeface="微软雅黑" charset="0"/>
              <a:ea typeface="微软雅黑" charset="0"/>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属性值之间存在有意义的序，相继值之间差是定性的</a:t>
            </a:r>
            <a:endParaRPr lang="en-US" altLang="zh-CN" sz="2400" b="0" dirty="0">
              <a:solidFill>
                <a:srgbClr val="1557AE"/>
              </a:solidFill>
              <a:latin typeface="微软雅黑" charset="0"/>
              <a:ea typeface="微软雅黑" charset="0"/>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大中小、职位、军衔</a:t>
            </a:r>
            <a:endParaRPr lang="en-US" altLang="zh-CN" sz="2400" b="0" dirty="0">
              <a:solidFill>
                <a:srgbClr val="1557AE"/>
              </a:solidFill>
              <a:latin typeface="微软雅黑" charset="0"/>
              <a:ea typeface="微软雅黑" charset="0"/>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可通过把数值量的值域划分为有限个有序列性得到序数类型</a:t>
            </a:r>
            <a:endParaRPr lang="en-US" altLang="zh-CN" sz="2400" b="0" dirty="0">
              <a:solidFill>
                <a:srgbClr val="1557AE"/>
              </a:solidFill>
              <a:latin typeface="微软雅黑" charset="0"/>
              <a:ea typeface="微软雅黑" charset="0"/>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可用</a:t>
            </a:r>
            <a:r>
              <a:rPr lang="zh-CN" altLang="en-US" sz="2400" b="0" dirty="0">
                <a:solidFill>
                  <a:srgbClr val="FF0000"/>
                </a:solidFill>
                <a:latin typeface="微软雅黑" charset="0"/>
                <a:ea typeface="微软雅黑" charset="0"/>
                <a:cs typeface="微软雅黑" charset="0"/>
              </a:rPr>
              <a:t>众数</a:t>
            </a:r>
            <a:r>
              <a:rPr lang="zh-CN" altLang="en-US" sz="2400" b="0" dirty="0">
                <a:solidFill>
                  <a:srgbClr val="1557AE"/>
                </a:solidFill>
                <a:latin typeface="微软雅黑" charset="0"/>
                <a:ea typeface="微软雅黑" charset="0"/>
                <a:cs typeface="微软雅黑" charset="0"/>
              </a:rPr>
              <a:t>与</a:t>
            </a:r>
            <a:r>
              <a:rPr lang="zh-CN" altLang="en-US" sz="2400" b="0" dirty="0">
                <a:solidFill>
                  <a:srgbClr val="FF0000"/>
                </a:solidFill>
                <a:latin typeface="微软雅黑" charset="0"/>
                <a:ea typeface="微软雅黑" charset="0"/>
                <a:cs typeface="微软雅黑" charset="0"/>
              </a:rPr>
              <a:t>中位数</a:t>
            </a:r>
            <a:r>
              <a:rPr lang="zh-CN" altLang="en-US" sz="2400" b="0" dirty="0">
                <a:solidFill>
                  <a:srgbClr val="1557AE"/>
                </a:solidFill>
                <a:latin typeface="微软雅黑" charset="0"/>
                <a:ea typeface="微软雅黑" charset="0"/>
                <a:cs typeface="微软雅黑" charset="0"/>
              </a:rPr>
              <a:t>表示中心趋势</a:t>
            </a:r>
            <a:endParaRPr lang="en-US" altLang="zh-CN" sz="24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6"/>
          <p:cNvSpPr txBox="1">
            <a:spLocks noChangeArrowheads="1"/>
          </p:cNvSpPr>
          <p:nvPr/>
        </p:nvSpPr>
        <p:spPr bwMode="auto">
          <a:xfrm>
            <a:off x="389198"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数据对象与属性类型</a:t>
            </a:r>
            <a:endParaRPr lang="zh-CN" altLang="en-US" sz="3600" b="0" dirty="0">
              <a:solidFill>
                <a:srgbClr val="1557AE"/>
              </a:solidFill>
              <a:latin typeface="微软雅黑" charset="0"/>
              <a:ea typeface="微软雅黑" charset="0"/>
              <a:cs typeface="微软雅黑" charset="0"/>
            </a:endParaRPr>
          </a:p>
        </p:txBody>
      </p:sp>
      <p:sp>
        <p:nvSpPr>
          <p:cNvPr id="8" name="Rectangle 7"/>
          <p:cNvSpPr txBox="1">
            <a:spLocks noChangeArrowheads="1"/>
          </p:cNvSpPr>
          <p:nvPr/>
        </p:nvSpPr>
        <p:spPr bwMode="auto">
          <a:xfrm>
            <a:off x="395536" y="1556792"/>
            <a:ext cx="82089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数值属性（</a:t>
            </a:r>
            <a:r>
              <a:rPr lang="en-US" altLang="zh-CN" sz="2800" b="0" dirty="0">
                <a:solidFill>
                  <a:srgbClr val="FF0000"/>
                </a:solidFill>
                <a:latin typeface="微软雅黑" charset="0"/>
                <a:ea typeface="微软雅黑" charset="0"/>
                <a:cs typeface="微软雅黑" charset="0"/>
              </a:rPr>
              <a:t>numeric attribute</a:t>
            </a:r>
            <a:r>
              <a:rPr lang="zh-CN" altLang="en-US" sz="2800" b="0" dirty="0">
                <a:solidFill>
                  <a:srgbClr val="FF0000"/>
                </a:solidFill>
                <a:latin typeface="微软雅黑" charset="0"/>
                <a:ea typeface="微软雅黑" charset="0"/>
                <a:cs typeface="微软雅黑" charset="0"/>
              </a:rPr>
              <a:t>）</a:t>
            </a:r>
            <a:endParaRPr lang="en-US" altLang="zh-CN" sz="2800" b="0" dirty="0">
              <a:solidFill>
                <a:srgbClr val="FF0000"/>
              </a:solidFill>
              <a:latin typeface="微软雅黑" charset="0"/>
              <a:ea typeface="微软雅黑" charset="0"/>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可用整数或实数度量</a:t>
            </a:r>
            <a:endParaRPr lang="en-US" altLang="zh-CN" sz="2400" b="0" dirty="0">
              <a:solidFill>
                <a:srgbClr val="1557AE"/>
              </a:solidFill>
              <a:latin typeface="微软雅黑" charset="0"/>
              <a:ea typeface="微软雅黑" charset="0"/>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区间标度（</a:t>
            </a:r>
            <a:r>
              <a:rPr lang="en-US" altLang="zh-CN" sz="2400" b="0" dirty="0">
                <a:solidFill>
                  <a:srgbClr val="FF0000"/>
                </a:solidFill>
                <a:latin typeface="微软雅黑" charset="0"/>
                <a:ea typeface="微软雅黑" charset="0"/>
                <a:cs typeface="微软雅黑" charset="0"/>
              </a:rPr>
              <a:t>interval-scaled</a:t>
            </a:r>
            <a:r>
              <a:rPr lang="zh-CN" altLang="en-US" sz="2400" b="0" dirty="0">
                <a:solidFill>
                  <a:srgbClr val="FF0000"/>
                </a:solidFill>
                <a:latin typeface="微软雅黑" charset="0"/>
                <a:ea typeface="微软雅黑" charset="0"/>
                <a:cs typeface="微软雅黑" charset="0"/>
              </a:rPr>
              <a:t>）属性：</a:t>
            </a:r>
            <a:r>
              <a:rPr lang="zh-CN" altLang="en-US" sz="2400" b="0" dirty="0">
                <a:solidFill>
                  <a:srgbClr val="1557AE"/>
                </a:solidFill>
                <a:latin typeface="微软雅黑" charset="0"/>
                <a:ea typeface="微软雅黑" charset="0"/>
                <a:cs typeface="微软雅黑" charset="0"/>
              </a:rPr>
              <a:t>用相同的单位尺度度量。</a:t>
            </a:r>
            <a:endParaRPr lang="en-US" altLang="zh-CN" sz="2400" b="0" dirty="0">
              <a:solidFill>
                <a:srgbClr val="1557AE"/>
              </a:solidFill>
              <a:latin typeface="微软雅黑" charset="0"/>
              <a:ea typeface="微软雅黑" charset="0"/>
              <a:cs typeface="微软雅黑" charset="0"/>
            </a:endParaRPr>
          </a:p>
          <a:p>
            <a:pPr marL="1295400" lvl="2" indent="-441325" eaLnBrk="1" hangingPunct="1">
              <a:lnSpc>
                <a:spcPct val="125000"/>
              </a:lnSpc>
              <a:spcBef>
                <a:spcPts val="600"/>
              </a:spcBef>
              <a:buClrTx/>
              <a:buSzPct val="100000"/>
              <a:buFont typeface="Wingdings" panose="05000000000000000000" pitchFamily="2" charset="2"/>
              <a:buChar char="Ø"/>
              <a:defRPr/>
            </a:pPr>
            <a:r>
              <a:rPr lang="zh-CN" altLang="en-US" sz="2100" b="0" dirty="0">
                <a:solidFill>
                  <a:srgbClr val="1557AE"/>
                </a:solidFill>
                <a:latin typeface="微软雅黑" charset="0"/>
                <a:ea typeface="微软雅黑" charset="0"/>
                <a:cs typeface="微软雅黑" charset="0"/>
              </a:rPr>
              <a:t>可用</a:t>
            </a:r>
            <a:r>
              <a:rPr lang="zh-CN" altLang="en-US" sz="2100" b="0" dirty="0">
                <a:solidFill>
                  <a:srgbClr val="FF0000"/>
                </a:solidFill>
                <a:latin typeface="微软雅黑" charset="0"/>
                <a:ea typeface="微软雅黑" charset="0"/>
                <a:cs typeface="微软雅黑" charset="0"/>
              </a:rPr>
              <a:t>众数、中位数、均值</a:t>
            </a:r>
            <a:r>
              <a:rPr lang="zh-CN" altLang="en-US" sz="2100" b="0" dirty="0">
                <a:solidFill>
                  <a:srgbClr val="1557AE"/>
                </a:solidFill>
                <a:latin typeface="微软雅黑" charset="0"/>
                <a:ea typeface="微软雅黑" charset="0"/>
                <a:cs typeface="微软雅黑" charset="0"/>
              </a:rPr>
              <a:t>表示</a:t>
            </a:r>
            <a:endParaRPr lang="en-US" altLang="zh-CN" sz="2100" b="0" dirty="0">
              <a:solidFill>
                <a:srgbClr val="1557AE"/>
              </a:solidFill>
              <a:latin typeface="微软雅黑" charset="0"/>
              <a:ea typeface="微软雅黑" charset="0"/>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比例标度（</a:t>
            </a:r>
            <a:r>
              <a:rPr lang="en-US" altLang="zh-CN" sz="2400" b="0" dirty="0">
                <a:solidFill>
                  <a:srgbClr val="FF0000"/>
                </a:solidFill>
                <a:latin typeface="微软雅黑" charset="0"/>
                <a:ea typeface="微软雅黑" charset="0"/>
                <a:cs typeface="微软雅黑" charset="0"/>
              </a:rPr>
              <a:t>ratio-scaled</a:t>
            </a:r>
            <a:r>
              <a:rPr lang="zh-CN" altLang="en-US" sz="2400" b="0" dirty="0">
                <a:solidFill>
                  <a:srgbClr val="FF0000"/>
                </a:solidFill>
                <a:latin typeface="微软雅黑" charset="0"/>
                <a:ea typeface="微软雅黑" charset="0"/>
                <a:cs typeface="微软雅黑" charset="0"/>
              </a:rPr>
              <a:t>）属性</a:t>
            </a:r>
            <a:r>
              <a:rPr lang="zh-CN" altLang="en-US" sz="2400" b="0" dirty="0">
                <a:solidFill>
                  <a:srgbClr val="1557AE"/>
                </a:solidFill>
                <a:latin typeface="微软雅黑" charset="0"/>
                <a:ea typeface="微软雅黑" charset="0"/>
                <a:cs typeface="微软雅黑" charset="0"/>
              </a:rPr>
              <a:t>：可用倍数表示。</a:t>
            </a:r>
            <a:endParaRPr lang="en-US" altLang="zh-CN" sz="2400" b="0" dirty="0">
              <a:solidFill>
                <a:srgbClr val="1557AE"/>
              </a:solidFill>
              <a:latin typeface="微软雅黑" charset="0"/>
              <a:ea typeface="微软雅黑" charset="0"/>
              <a:cs typeface="微软雅黑" charset="0"/>
            </a:endParaRPr>
          </a:p>
          <a:p>
            <a:pPr marL="1295400" lvl="2" indent="-441325" eaLnBrk="1" hangingPunct="1">
              <a:lnSpc>
                <a:spcPct val="125000"/>
              </a:lnSpc>
              <a:spcBef>
                <a:spcPts val="600"/>
              </a:spcBef>
              <a:buClrTx/>
              <a:buSzPct val="100000"/>
              <a:buFont typeface="Wingdings" panose="05000000000000000000" pitchFamily="2" charset="2"/>
              <a:buChar char="Ø"/>
              <a:defRPr/>
            </a:pPr>
            <a:r>
              <a:rPr lang="zh-CN" altLang="en-US" sz="2100" b="0" dirty="0">
                <a:solidFill>
                  <a:srgbClr val="1557AE"/>
                </a:solidFill>
                <a:latin typeface="微软雅黑" charset="0"/>
                <a:ea typeface="微软雅黑" charset="0"/>
                <a:cs typeface="微软雅黑" charset="0"/>
              </a:rPr>
              <a:t>可用</a:t>
            </a:r>
            <a:r>
              <a:rPr lang="zh-CN" altLang="en-US" sz="2100" b="0" dirty="0">
                <a:solidFill>
                  <a:srgbClr val="FF0000"/>
                </a:solidFill>
                <a:latin typeface="微软雅黑" charset="0"/>
                <a:ea typeface="微软雅黑" charset="0"/>
                <a:cs typeface="微软雅黑" charset="0"/>
              </a:rPr>
              <a:t>众数、中位数、均值</a:t>
            </a:r>
            <a:r>
              <a:rPr lang="zh-CN" altLang="en-US" sz="2100" b="0" dirty="0">
                <a:solidFill>
                  <a:srgbClr val="1557AE"/>
                </a:solidFill>
                <a:latin typeface="微软雅黑" charset="0"/>
                <a:ea typeface="微软雅黑" charset="0"/>
                <a:cs typeface="微软雅黑" charset="0"/>
              </a:rPr>
              <a:t>表示</a:t>
            </a:r>
            <a:endParaRPr lang="en-US" altLang="zh-CN" sz="21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6"/>
          <p:cNvSpPr txBox="1">
            <a:spLocks noChangeArrowheads="1"/>
          </p:cNvSpPr>
          <p:nvPr/>
        </p:nvSpPr>
        <p:spPr bwMode="auto">
          <a:xfrm>
            <a:off x="389198"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数据对象与属性类型</a:t>
            </a:r>
            <a:endParaRPr lang="zh-CN" altLang="en-US" sz="3600" b="0" dirty="0">
              <a:solidFill>
                <a:srgbClr val="1557AE"/>
              </a:solidFill>
              <a:latin typeface="微软雅黑" charset="0"/>
              <a:ea typeface="微软雅黑" charset="0"/>
              <a:cs typeface="微软雅黑" charset="0"/>
            </a:endParaRPr>
          </a:p>
        </p:txBody>
      </p:sp>
      <p:sp>
        <p:nvSpPr>
          <p:cNvPr id="8" name="Rectangle 7"/>
          <p:cNvSpPr txBox="1">
            <a:spLocks noChangeArrowheads="1"/>
          </p:cNvSpPr>
          <p:nvPr/>
        </p:nvSpPr>
        <p:spPr bwMode="auto">
          <a:xfrm>
            <a:off x="389198" y="2204864"/>
            <a:ext cx="82089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离散属性：</a:t>
            </a:r>
            <a:r>
              <a:rPr lang="zh-CN" altLang="en-US" sz="2800" b="0" dirty="0">
                <a:solidFill>
                  <a:srgbClr val="1557AE"/>
                </a:solidFill>
                <a:latin typeface="微软雅黑" charset="0"/>
                <a:ea typeface="微软雅黑" charset="0"/>
                <a:cs typeface="Calibri" panose="020F0502020204030204" pitchFamily="34" charset="0"/>
              </a:rPr>
              <a:t>具有有限个或无限可数个值</a:t>
            </a:r>
            <a:endParaRPr lang="en-US" altLang="zh-CN" sz="2800" b="0" dirty="0">
              <a:solidFill>
                <a:srgbClr val="1557AE"/>
              </a:solidFill>
              <a:latin typeface="微软雅黑" charset="0"/>
              <a:ea typeface="微软雅黑" charset="0"/>
              <a:cs typeface="Calibri" panose="020F0502020204030204" pitchFamily="34" charset="0"/>
            </a:endParaRPr>
          </a:p>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连续属性：</a:t>
            </a:r>
            <a:r>
              <a:rPr lang="zh-CN" altLang="en-US" sz="2800" b="0" dirty="0">
                <a:solidFill>
                  <a:srgbClr val="1557AE"/>
                </a:solidFill>
                <a:latin typeface="微软雅黑" charset="0"/>
                <a:ea typeface="微软雅黑" charset="0"/>
                <a:cs typeface="Calibri" panose="020F0502020204030204" pitchFamily="34" charset="0"/>
              </a:rPr>
              <a:t>如果属性不是离散的，则它是连续的，用实数表示</a:t>
            </a:r>
            <a:endParaRPr lang="en-US" altLang="zh-CN" sz="2800" b="0" dirty="0">
              <a:solidFill>
                <a:srgbClr val="1557AE"/>
              </a:solidFill>
              <a:latin typeface="微软雅黑" charset="0"/>
              <a:ea typeface="微软雅黑" charset="0"/>
              <a:cs typeface="Calibri" panose="020F0502020204030204" pitchFamily="3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
        <p:nvSpPr>
          <p:cNvPr id="8" name="Rectangle 7"/>
          <p:cNvSpPr txBox="1">
            <a:spLocks noChangeArrowheads="1"/>
          </p:cNvSpPr>
          <p:nvPr/>
        </p:nvSpPr>
        <p:spPr bwMode="auto">
          <a:xfrm>
            <a:off x="395536" y="1556792"/>
            <a:ext cx="82089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动机：为了更好的理解数据</a:t>
            </a:r>
            <a:endParaRPr lang="en-US" altLang="zh-CN" sz="2800" b="0" dirty="0">
              <a:solidFill>
                <a:srgbClr val="FF0000"/>
              </a:solidFill>
              <a:latin typeface="微软雅黑" charset="0"/>
              <a:ea typeface="微软雅黑" charset="0"/>
              <a:cs typeface="Calibri" panose="020F0502020204030204" pitchFamily="34"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Calibri" panose="020F0502020204030204" pitchFamily="34" charset="0"/>
              </a:rPr>
              <a:t>获得数据的总体印象</a:t>
            </a:r>
            <a:endParaRPr lang="en-US" altLang="zh-CN" sz="2400" b="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Calibri" panose="020F0502020204030204" pitchFamily="34" charset="0"/>
              </a:rPr>
              <a:t>识别数据的典型特征</a:t>
            </a:r>
            <a:endParaRPr lang="zh-CN" altLang="en-US" sz="2400" b="0" dirty="0">
              <a:solidFill>
                <a:srgbClr val="1557AE"/>
              </a:solidFill>
              <a:latin typeface="微软雅黑" charset="0"/>
              <a:ea typeface="微软雅黑" charset="0"/>
              <a:cs typeface="Calibri" panose="020F0502020204030204" pitchFamily="34"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Calibri" panose="020F0502020204030204" pitchFamily="34" charset="0"/>
              </a:rPr>
              <a:t>凸显噪声或离群点</a:t>
            </a:r>
            <a:endParaRPr lang="zh-CN" altLang="en-US" sz="2400" b="0" dirty="0">
              <a:solidFill>
                <a:srgbClr val="1557AE"/>
              </a:solidFill>
              <a:latin typeface="微软雅黑" charset="0"/>
              <a:ea typeface="微软雅黑" charset="0"/>
              <a:cs typeface="Calibri" panose="020F0502020204030204" pitchFamily="34" charset="0"/>
            </a:endParaRPr>
          </a:p>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度量数据的中心趋势</a:t>
            </a:r>
            <a:endParaRPr lang="en-US" altLang="zh-CN" sz="2800" b="0" dirty="0">
              <a:solidFill>
                <a:srgbClr val="FF0000"/>
              </a:solidFill>
              <a:latin typeface="微软雅黑" charset="0"/>
              <a:ea typeface="微软雅黑" charset="0"/>
              <a:cs typeface="Calibri" panose="020F0502020204030204" pitchFamily="34"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Calibri" panose="020F0502020204030204" pitchFamily="34" charset="0"/>
              </a:rPr>
              <a:t>均值、中位数、众数（模）</a:t>
            </a:r>
            <a:endParaRPr lang="en-US" altLang="zh-CN" sz="2400" b="0" dirty="0">
              <a:solidFill>
                <a:srgbClr val="1557AE"/>
              </a:solidFill>
              <a:latin typeface="微软雅黑" charset="0"/>
              <a:ea typeface="微软雅黑" charset="0"/>
              <a:cs typeface="Calibri" panose="020F0502020204030204" pitchFamily="34" charset="0"/>
            </a:endParaRPr>
          </a:p>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度量数据的离散程度</a:t>
            </a:r>
            <a:endParaRPr lang="en-US" altLang="zh-CN" sz="2800" b="0" dirty="0">
              <a:solidFill>
                <a:srgbClr val="FF0000"/>
              </a:solidFill>
              <a:latin typeface="微软雅黑" charset="0"/>
              <a:ea typeface="微软雅黑" charset="0"/>
              <a:cs typeface="Calibri" panose="020F0502020204030204" pitchFamily="34"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Calibri" panose="020F0502020204030204" pitchFamily="34" charset="0"/>
              </a:rPr>
              <a:t>四分位数、四分位数极差、方差等</a:t>
            </a:r>
            <a:endParaRPr lang="zh-CN" altLang="en-US" sz="2400" b="0" dirty="0">
              <a:solidFill>
                <a:srgbClr val="1557AE"/>
              </a:solidFill>
              <a:latin typeface="微软雅黑" charset="0"/>
              <a:ea typeface="微软雅黑" charset="0"/>
              <a:cs typeface="Calibri" panose="020F0502020204030204"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7"/>
          <p:cNvSpPr txBox="1">
            <a:spLocks noChangeArrowheads="1"/>
          </p:cNvSpPr>
          <p:nvPr/>
        </p:nvSpPr>
        <p:spPr bwMode="auto">
          <a:xfrm>
            <a:off x="395536" y="1556792"/>
            <a:ext cx="82089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算术平均值</a:t>
            </a:r>
            <a:endParaRPr lang="zh-CN" altLang="en-US" sz="2800" b="0" dirty="0">
              <a:solidFill>
                <a:srgbClr val="FF0000"/>
              </a:solidFill>
              <a:latin typeface="微软雅黑" charset="0"/>
              <a:ea typeface="微软雅黑" charset="0"/>
              <a:cs typeface="微软雅黑" charset="0"/>
            </a:endParaRPr>
          </a:p>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加权算术平均</a:t>
            </a:r>
            <a:endParaRPr lang="en-US" altLang="zh-CN" sz="2800" b="0" dirty="0">
              <a:solidFill>
                <a:srgbClr val="FF0000"/>
              </a:solidFill>
              <a:latin typeface="微软雅黑" charset="0"/>
              <a:ea typeface="微软雅黑" charset="0"/>
              <a:cs typeface="微软雅黑" charset="0"/>
            </a:endParaRPr>
          </a:p>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截断均值（</a:t>
            </a:r>
            <a:r>
              <a:rPr lang="en-US" altLang="zh-CN" sz="2800" b="0" dirty="0">
                <a:solidFill>
                  <a:srgbClr val="FF0000"/>
                </a:solidFill>
                <a:latin typeface="微软雅黑" charset="0"/>
                <a:ea typeface="微软雅黑" charset="0"/>
                <a:cs typeface="微软雅黑" charset="0"/>
              </a:rPr>
              <a:t>trimmed mean</a:t>
            </a:r>
            <a:r>
              <a:rPr lang="zh-CN" altLang="en-US" sz="2800" b="0" dirty="0">
                <a:solidFill>
                  <a:srgbClr val="FF0000"/>
                </a:solidFill>
                <a:latin typeface="微软雅黑" charset="0"/>
                <a:ea typeface="微软雅黑" charset="0"/>
                <a:cs typeface="微软雅黑" charset="0"/>
              </a:rPr>
              <a:t>）：</a:t>
            </a:r>
            <a:r>
              <a:rPr lang="zh-CN" altLang="en-US" sz="2800" b="0" dirty="0">
                <a:solidFill>
                  <a:srgbClr val="1557AE"/>
                </a:solidFill>
                <a:latin typeface="微软雅黑" charset="0"/>
                <a:ea typeface="微软雅黑" charset="0"/>
                <a:cs typeface="微软雅黑" charset="0"/>
              </a:rPr>
              <a:t>去掉高、低极端值得到的均值</a:t>
            </a:r>
            <a:endParaRPr lang="en-US" altLang="zh-CN" sz="2800" b="0" dirty="0">
              <a:solidFill>
                <a:srgbClr val="1557AE"/>
              </a:solidFill>
              <a:latin typeface="微软雅黑" charset="0"/>
              <a:ea typeface="微软雅黑" charset="0"/>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en-US" altLang="zh-CN" sz="2400" b="0" dirty="0">
                <a:solidFill>
                  <a:srgbClr val="1557AE"/>
                </a:solidFill>
                <a:latin typeface="微软雅黑" charset="0"/>
                <a:ea typeface="微软雅黑" charset="0"/>
                <a:cs typeface="微软雅黑" charset="0"/>
              </a:rPr>
              <a:t>e.g. </a:t>
            </a:r>
            <a:r>
              <a:rPr lang="zh-CN" altLang="en-US" sz="2400" b="0" dirty="0">
                <a:solidFill>
                  <a:srgbClr val="1557AE"/>
                </a:solidFill>
                <a:latin typeface="微软雅黑" charset="0"/>
                <a:ea typeface="微软雅黑" charset="0"/>
                <a:cs typeface="微软雅黑" charset="0"/>
              </a:rPr>
              <a:t>计算平均工资时，可以截掉上下各</a:t>
            </a:r>
            <a:r>
              <a:rPr lang="en-US" altLang="zh-CN" sz="2400" b="0" dirty="0">
                <a:solidFill>
                  <a:srgbClr val="1557AE"/>
                </a:solidFill>
                <a:latin typeface="微软雅黑" charset="0"/>
                <a:ea typeface="微软雅黑" charset="0"/>
                <a:cs typeface="微软雅黑" charset="0"/>
              </a:rPr>
              <a:t>2</a:t>
            </a:r>
            <a:r>
              <a:rPr lang="zh-CN" altLang="en-US" sz="2400" b="0" dirty="0">
                <a:solidFill>
                  <a:srgbClr val="1557AE"/>
                </a:solidFill>
                <a:latin typeface="微软雅黑" charset="0"/>
                <a:ea typeface="微软雅黑" charset="0"/>
                <a:cs typeface="微软雅黑" charset="0"/>
              </a:rPr>
              <a:t>％的值后计算均值，以抵消少数极端值的影响</a:t>
            </a:r>
            <a:endParaRPr lang="en-US" altLang="zh-CN" sz="2400" b="0" dirty="0">
              <a:solidFill>
                <a:srgbClr val="1557AE"/>
              </a:solidFill>
              <a:latin typeface="微软雅黑" charset="0"/>
              <a:ea typeface="微软雅黑" charset="0"/>
              <a:cs typeface="微软雅黑" charset="0"/>
            </a:endParaRPr>
          </a:p>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中位数：</a:t>
            </a:r>
            <a:r>
              <a:rPr lang="zh-CN" altLang="en-US" sz="2800" b="0" dirty="0">
                <a:solidFill>
                  <a:srgbClr val="1557AE"/>
                </a:solidFill>
                <a:latin typeface="微软雅黑" charset="0"/>
                <a:ea typeface="微软雅黑" charset="0"/>
                <a:cs typeface="微软雅黑" charset="0"/>
              </a:rPr>
              <a:t>有序集的中间值或者中间两个值平均</a:t>
            </a:r>
            <a:endParaRPr lang="en-US" altLang="zh-CN" sz="2800" b="0" dirty="0">
              <a:solidFill>
                <a:srgbClr val="1557AE"/>
              </a:solidFill>
              <a:latin typeface="微软雅黑" charset="0"/>
              <a:ea typeface="微软雅黑" charset="0"/>
              <a:cs typeface="微软雅黑" charset="0"/>
            </a:endParaRPr>
          </a:p>
          <a:p>
            <a:pPr marL="457200" lvl="1" indent="0" eaLnBrk="1" hangingPunct="1">
              <a:lnSpc>
                <a:spcPct val="125000"/>
              </a:lnSpc>
              <a:spcBef>
                <a:spcPts val="600"/>
              </a:spcBef>
              <a:buClrTx/>
              <a:buSzPct val="100000"/>
              <a:buNone/>
              <a:defRPr/>
            </a:pPr>
            <a:endParaRPr lang="en-US" altLang="zh-CN" sz="2400" b="0" dirty="0">
              <a:latin typeface="微软雅黑" charset="0"/>
              <a:ea typeface="微软雅黑" charset="0"/>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ü"/>
              <a:defRPr/>
            </a:pPr>
            <a:endParaRPr lang="en-US" altLang="zh-CN" sz="2400" b="0" dirty="0">
              <a:latin typeface="微软雅黑" charset="0"/>
              <a:ea typeface="微软雅黑" charset="0"/>
              <a:cs typeface="微软雅黑" charset="0"/>
            </a:endParaRPr>
          </a:p>
        </p:txBody>
      </p:sp>
      <p:graphicFrame>
        <p:nvGraphicFramePr>
          <p:cNvPr id="2" name="对象 1"/>
          <p:cNvGraphicFramePr>
            <a:graphicFrameLocks noChangeAspect="1"/>
          </p:cNvGraphicFramePr>
          <p:nvPr/>
        </p:nvGraphicFramePr>
        <p:xfrm>
          <a:off x="4018098" y="1772816"/>
          <a:ext cx="1527175" cy="738188"/>
        </p:xfrm>
        <a:graphic>
          <a:graphicData uri="http://schemas.openxmlformats.org/presentationml/2006/ole">
            <mc:AlternateContent xmlns:mc="http://schemas.openxmlformats.org/markup-compatibility/2006">
              <mc:Choice xmlns:v="urn:schemas-microsoft-com:vml" Requires="v">
                <p:oleObj spid="_x0000_s13409" name="Equation" r:id="rId1" imgW="711200" imgH="431800" progId="Equation.3">
                  <p:embed/>
                </p:oleObj>
              </mc:Choice>
              <mc:Fallback>
                <p:oleObj name="Equation" r:id="rId1" imgW="711200" imgH="431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8098" y="1772816"/>
                        <a:ext cx="1527175" cy="738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对象 2"/>
          <p:cNvGraphicFramePr>
            <a:graphicFrameLocks noChangeAspect="1"/>
          </p:cNvGraphicFramePr>
          <p:nvPr/>
        </p:nvGraphicFramePr>
        <p:xfrm>
          <a:off x="5868144" y="1556792"/>
          <a:ext cx="1801911" cy="1189037"/>
        </p:xfrm>
        <a:graphic>
          <a:graphicData uri="http://schemas.openxmlformats.org/presentationml/2006/ole">
            <mc:AlternateContent xmlns:mc="http://schemas.openxmlformats.org/markup-compatibility/2006">
              <mc:Choice xmlns:v="urn:schemas-microsoft-com:vml" Requires="v">
                <p:oleObj spid="_x0000_s4" name="Equation" r:id="rId3" imgW="749300" imgH="838200" progId="Equation.3">
                  <p:embed/>
                </p:oleObj>
              </mc:Choice>
              <mc:Fallback>
                <p:oleObj name="Equation" r:id="rId3" imgW="749300" imgH="838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8144" y="1556792"/>
                        <a:ext cx="1801911" cy="1189037"/>
                      </a:xfrm>
                      <a:prstGeom prst="rect">
                        <a:avLst/>
                      </a:prstGeom>
                      <a:noFill/>
                      <a:ln>
                        <a:noFill/>
                      </a:ln>
                      <a:effectLst/>
                    </p:spPr>
                  </p:pic>
                </p:oleObj>
              </mc:Fallback>
            </mc:AlternateContent>
          </a:graphicData>
        </a:graphic>
      </p:graphicFrame>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内容占位符 2"/>
          <p:cNvSpPr>
            <a:spLocks noGrp="1"/>
          </p:cNvSpPr>
          <p:nvPr>
            <p:ph idx="1"/>
          </p:nvPr>
        </p:nvSpPr>
        <p:spPr>
          <a:xfrm>
            <a:off x="457200" y="1481138"/>
            <a:ext cx="8229600" cy="4525962"/>
          </a:xfrm>
        </p:spPr>
        <p:txBody>
          <a:bodyPr/>
          <a:lstStyle/>
          <a:p>
            <a:pPr marL="342900" indent="-342900" eaLnBrk="1" hangingPunct="1">
              <a:lnSpc>
                <a:spcPct val="120000"/>
              </a:lnSpc>
              <a:buClrTx/>
              <a:buSzPct val="100000"/>
              <a:buFont typeface="Wingdings" panose="05000000000000000000" pitchFamily="2" charset="2"/>
              <a:buChar char="n"/>
              <a:defRPr/>
            </a:pPr>
            <a:r>
              <a:rPr lang="zh-CN" altLang="en-US" sz="2800" b="0" kern="1200" dirty="0">
                <a:solidFill>
                  <a:srgbClr val="FF0000"/>
                </a:solidFill>
                <a:cs typeface="微软雅黑" charset="0"/>
              </a:rPr>
              <a:t>众数（</a:t>
            </a:r>
            <a:r>
              <a:rPr lang="en-US" altLang="zh-CN" sz="2800" b="0" kern="1200" dirty="0">
                <a:solidFill>
                  <a:srgbClr val="FF0000"/>
                </a:solidFill>
                <a:cs typeface="微软雅黑" charset="0"/>
              </a:rPr>
              <a:t>Mode</a:t>
            </a:r>
            <a:r>
              <a:rPr lang="zh-CN" altLang="en-US" sz="2800" b="0" kern="1200" dirty="0">
                <a:solidFill>
                  <a:srgbClr val="FF0000"/>
                </a:solidFill>
                <a:cs typeface="微软雅黑" charset="0"/>
              </a:rPr>
              <a:t>，模）：</a:t>
            </a:r>
            <a:r>
              <a:rPr lang="zh-CN" altLang="en-US" sz="2800" b="0" kern="1200" dirty="0">
                <a:solidFill>
                  <a:srgbClr val="1557AE"/>
                </a:solidFill>
                <a:cs typeface="微软雅黑" charset="0"/>
              </a:rPr>
              <a:t>集合中出现频率最高的值</a:t>
            </a:r>
            <a:endParaRPr lang="en-US" altLang="zh-CN" sz="2800" b="0" kern="1200" dirty="0">
              <a:solidFill>
                <a:srgbClr val="1557AE"/>
              </a:solidFill>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kern="1200" dirty="0">
                <a:solidFill>
                  <a:srgbClr val="1557AE"/>
                </a:solidFill>
                <a:cs typeface="微软雅黑" charset="0"/>
              </a:rPr>
              <a:t>单峰的（</a:t>
            </a:r>
            <a:r>
              <a:rPr lang="en-US" altLang="zh-CN" sz="2400" b="0" kern="1200" dirty="0" err="1">
                <a:solidFill>
                  <a:srgbClr val="1557AE"/>
                </a:solidFill>
                <a:cs typeface="微软雅黑" charset="0"/>
              </a:rPr>
              <a:t>unimodal</a:t>
            </a:r>
            <a:r>
              <a:rPr lang="zh-CN" altLang="en-US" sz="2400" b="0" kern="1200" dirty="0">
                <a:solidFill>
                  <a:srgbClr val="1557AE"/>
                </a:solidFill>
                <a:cs typeface="微软雅黑" charset="0"/>
              </a:rPr>
              <a:t>，也叫单模态）、双峰的（</a:t>
            </a:r>
            <a:r>
              <a:rPr lang="en-US" altLang="zh-CN" sz="2400" b="0" kern="1200" dirty="0">
                <a:solidFill>
                  <a:srgbClr val="1557AE"/>
                </a:solidFill>
                <a:cs typeface="微软雅黑" charset="0"/>
              </a:rPr>
              <a:t>bimodal</a:t>
            </a:r>
            <a:r>
              <a:rPr lang="zh-CN" altLang="en-US" sz="2400" b="0" kern="1200" dirty="0">
                <a:solidFill>
                  <a:srgbClr val="1557AE"/>
                </a:solidFill>
                <a:cs typeface="微软雅黑" charset="0"/>
              </a:rPr>
              <a:t>）、三峰的（</a:t>
            </a:r>
            <a:r>
              <a:rPr lang="en-US" altLang="zh-CN" sz="2400" b="0" kern="1200" dirty="0" err="1">
                <a:solidFill>
                  <a:srgbClr val="1557AE"/>
                </a:solidFill>
                <a:cs typeface="微软雅黑" charset="0"/>
              </a:rPr>
              <a:t>trimodal</a:t>
            </a:r>
            <a:r>
              <a:rPr lang="zh-CN" altLang="en-US" sz="2400" b="0" kern="1200" dirty="0">
                <a:solidFill>
                  <a:srgbClr val="1557AE"/>
                </a:solidFill>
                <a:cs typeface="微软雅黑" charset="0"/>
              </a:rPr>
              <a:t>）；多峰的（</a:t>
            </a:r>
            <a:r>
              <a:rPr lang="en-US" altLang="zh-CN" sz="2400" b="0" kern="1200" dirty="0">
                <a:solidFill>
                  <a:srgbClr val="1557AE"/>
                </a:solidFill>
                <a:cs typeface="微软雅黑" charset="0"/>
              </a:rPr>
              <a:t>multimodal</a:t>
            </a:r>
            <a:r>
              <a:rPr lang="zh-CN" altLang="en-US" sz="2400" b="0" kern="1200" dirty="0">
                <a:solidFill>
                  <a:srgbClr val="1557AE"/>
                </a:solidFill>
                <a:cs typeface="微软雅黑" charset="0"/>
              </a:rPr>
              <a:t>）</a:t>
            </a:r>
            <a:endParaRPr lang="zh-CN" altLang="en-US" sz="2400" b="0" kern="1200" dirty="0">
              <a:solidFill>
                <a:srgbClr val="1557AE"/>
              </a:solidFill>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ü"/>
              <a:defRPr/>
            </a:pPr>
            <a:endParaRPr lang="en-US" altLang="zh-CN" sz="2400" b="0" kern="1200" dirty="0">
              <a:solidFill>
                <a:srgbClr val="0000FF"/>
              </a:solidFill>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ü"/>
              <a:defRPr/>
            </a:pPr>
            <a:endParaRPr lang="en-US" altLang="zh-CN" sz="2400" b="0" kern="1200" dirty="0">
              <a:solidFill>
                <a:srgbClr val="0000FF"/>
              </a:solidFill>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ü"/>
              <a:defRPr/>
            </a:pPr>
            <a:endParaRPr lang="en-US" altLang="zh-CN" sz="2400" b="0" kern="1200" dirty="0">
              <a:solidFill>
                <a:srgbClr val="0000FF"/>
              </a:solidFill>
              <a:cs typeface="微软雅黑" charset="0"/>
            </a:endParaRPr>
          </a:p>
          <a:p>
            <a:pPr marL="898525" lvl="1" indent="-441325" eaLnBrk="1" hangingPunct="1">
              <a:lnSpc>
                <a:spcPct val="125000"/>
              </a:lnSpc>
              <a:spcBef>
                <a:spcPts val="600"/>
              </a:spcBef>
              <a:buClrTx/>
              <a:buSzPct val="100000"/>
              <a:buFont typeface="Wingdings" panose="05000000000000000000" pitchFamily="2" charset="2"/>
              <a:buChar char="Ø"/>
              <a:defRPr/>
            </a:pPr>
            <a:r>
              <a:rPr lang="zh-CN" altLang="en-US" sz="2400" b="0" kern="1200" dirty="0">
                <a:solidFill>
                  <a:srgbClr val="FF0000"/>
                </a:solidFill>
                <a:cs typeface="微软雅黑" charset="0"/>
              </a:rPr>
              <a:t>对于适度倾斜（非对称的）的单峰频率曲线</a:t>
            </a:r>
            <a:r>
              <a:rPr lang="zh-CN" altLang="en-US" sz="2400" b="0" kern="1200" dirty="0">
                <a:solidFill>
                  <a:srgbClr val="1557AE"/>
                </a:solidFill>
                <a:cs typeface="微软雅黑" charset="0"/>
              </a:rPr>
              <a:t>，可以使用以下经验公式计算众数</a:t>
            </a:r>
            <a:endParaRPr lang="en-US" altLang="zh-CN" sz="2400" b="0" kern="1200" dirty="0">
              <a:solidFill>
                <a:srgbClr val="1557AE"/>
              </a:solidFill>
              <a:cs typeface="微软雅黑" charset="0"/>
            </a:endParaRPr>
          </a:p>
          <a:p>
            <a:pPr eaLnBrk="1" hangingPunct="1"/>
            <a:endParaRPr lang="zh-CN" altLang="en-US" b="0" dirty="0">
              <a:cs typeface="微软雅黑" charset="0"/>
            </a:endParaRPr>
          </a:p>
        </p:txBody>
      </p:sp>
      <p:graphicFrame>
        <p:nvGraphicFramePr>
          <p:cNvPr id="13" name="Object 5"/>
          <p:cNvGraphicFramePr>
            <a:graphicFrameLocks noChangeAspect="1"/>
          </p:cNvGraphicFramePr>
          <p:nvPr/>
        </p:nvGraphicFramePr>
        <p:xfrm>
          <a:off x="1416050" y="6088063"/>
          <a:ext cx="6024563" cy="500062"/>
        </p:xfrm>
        <a:graphic>
          <a:graphicData uri="http://schemas.openxmlformats.org/presentationml/2006/ole">
            <mc:AlternateContent xmlns:mc="http://schemas.openxmlformats.org/markup-compatibility/2006">
              <mc:Choice xmlns:v="urn:schemas-microsoft-com:vml" Requires="v">
                <p:oleObj spid="_x0000_s13409" name="Equation" r:id="rId1" imgW="2197100" imgH="203200" progId="Equation.3">
                  <p:embed/>
                </p:oleObj>
              </mc:Choice>
              <mc:Fallback>
                <p:oleObj name="Equation" r:id="rId1" imgW="2197100" imgH="203200" progId="Equation.3">
                  <p:embed/>
                  <p:pic>
                    <p:nvPicPr>
                      <p:cNvPr id="0" name="图片 195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050" y="6088063"/>
                        <a:ext cx="6024563" cy="500062"/>
                      </a:xfrm>
                      <a:prstGeom prst="rect">
                        <a:avLst/>
                      </a:prstGeom>
                      <a:noFill/>
                      <a:ln>
                        <a:noFill/>
                      </a:ln>
                      <a:effectLst/>
                    </p:spPr>
                  </p:pic>
                </p:oleObj>
              </mc:Fallback>
            </mc:AlternateContent>
          </a:graphicData>
        </a:graphic>
      </p:graphicFrame>
      <p:pic>
        <p:nvPicPr>
          <p:cNvPr id="6" name="Picture 4" descr="fig3-2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573016"/>
            <a:ext cx="2987824" cy="1460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6" descr="fig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59208" y="3470621"/>
            <a:ext cx="3239204" cy="15626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04048" y="980728"/>
            <a:ext cx="3168352" cy="2564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3733530"/>
            <a:ext cx="3168352" cy="2687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0734" y="3653210"/>
            <a:ext cx="3312462" cy="2564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内容占位符 2"/>
          <p:cNvSpPr>
            <a:spLocks noGrp="1"/>
          </p:cNvSpPr>
          <p:nvPr>
            <p:ph idx="1"/>
          </p:nvPr>
        </p:nvSpPr>
        <p:spPr>
          <a:xfrm>
            <a:off x="625564" y="2348880"/>
            <a:ext cx="4182802" cy="1328738"/>
          </a:xfrm>
        </p:spPr>
        <p:txBody>
          <a:bodyPr/>
          <a:lstStyle/>
          <a:p>
            <a:pPr marL="0" indent="0" eaLnBrk="1" hangingPunct="1">
              <a:buNone/>
            </a:pPr>
            <a:r>
              <a:rPr lang="zh-CN" altLang="en-US" sz="2800" b="0" dirty="0">
                <a:solidFill>
                  <a:srgbClr val="1557AE"/>
                </a:solidFill>
              </a:rPr>
              <a:t>对称与正倾斜、负倾斜数据的中位数、均值和众数</a:t>
            </a:r>
            <a:endParaRPr lang="zh-CN" altLang="en-US" sz="2800" b="0" dirty="0">
              <a:solidFill>
                <a:srgbClr val="1557AE"/>
              </a:solidFill>
            </a:endParaRPr>
          </a:p>
        </p:txBody>
      </p:sp>
      <p:sp>
        <p:nvSpPr>
          <p:cNvPr id="9"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3"/>
          <p:cNvSpPr>
            <a:spLocks noGrp="1" noChangeArrowheads="1"/>
          </p:cNvSpPr>
          <p:nvPr>
            <p:ph idx="1"/>
          </p:nvPr>
        </p:nvSpPr>
        <p:spPr>
          <a:xfrm>
            <a:off x="284952" y="1268760"/>
            <a:ext cx="6768752" cy="4525962"/>
          </a:xfrm>
        </p:spPr>
        <p:txBody>
          <a:bodyPr/>
          <a:lstStyle/>
          <a:p>
            <a:pPr marL="342900" indent="-342900" eaLnBrk="1" hangingPunct="1">
              <a:lnSpc>
                <a:spcPct val="120000"/>
              </a:lnSpc>
              <a:buClrTx/>
              <a:buSzPct val="100000"/>
              <a:buFont typeface="Wingdings" panose="05000000000000000000" pitchFamily="2" charset="2"/>
              <a:buChar char="n"/>
              <a:defRPr/>
            </a:pPr>
            <a:r>
              <a:rPr lang="zh-CN" altLang="en-US" sz="2400" b="0" kern="1200" dirty="0">
                <a:solidFill>
                  <a:srgbClr val="FF0000"/>
                </a:solidFill>
                <a:cs typeface="微软雅黑" charset="0"/>
              </a:rPr>
              <a:t>评估数值数据散布或发散的度量：</a:t>
            </a:r>
            <a:r>
              <a:rPr lang="zh-CN" altLang="en-US" sz="2400" b="0" kern="1200" dirty="0">
                <a:solidFill>
                  <a:srgbClr val="1557AE"/>
                </a:solidFill>
                <a:cs typeface="微软雅黑" charset="0"/>
              </a:rPr>
              <a:t>极差、五数概括（基于四分位数）、中间四分位数极差和标准差</a:t>
            </a:r>
            <a:endParaRPr lang="zh-CN" altLang="en-US" sz="2400" b="0" kern="1200" dirty="0">
              <a:solidFill>
                <a:srgbClr val="1557AE"/>
              </a:solidFill>
              <a:cs typeface="微软雅黑" charset="0"/>
            </a:endParaRPr>
          </a:p>
          <a:p>
            <a:pPr lvl="1" eaLnBrk="1" hangingPunct="1">
              <a:lnSpc>
                <a:spcPct val="120000"/>
              </a:lnSpc>
              <a:spcBef>
                <a:spcPts val="600"/>
              </a:spcBef>
              <a:buClrTx/>
              <a:buFont typeface="Wingdings" panose="05000000000000000000" pitchFamily="2" charset="2"/>
              <a:buChar char="Ø"/>
            </a:pPr>
            <a:r>
              <a:rPr lang="zh-CN" altLang="en-US" sz="2000" b="0" dirty="0">
                <a:solidFill>
                  <a:srgbClr val="FF0000"/>
                </a:solidFill>
                <a:cs typeface="微软雅黑" charset="0"/>
              </a:rPr>
              <a:t>极差（</a:t>
            </a:r>
            <a:r>
              <a:rPr lang="en-US" altLang="zh-CN" sz="2000" b="0" dirty="0">
                <a:solidFill>
                  <a:srgbClr val="FF0000"/>
                </a:solidFill>
                <a:cs typeface="微软雅黑" charset="0"/>
              </a:rPr>
              <a:t>range</a:t>
            </a:r>
            <a:r>
              <a:rPr lang="zh-CN" altLang="en-US" sz="2000" b="0" dirty="0">
                <a:solidFill>
                  <a:srgbClr val="FF0000"/>
                </a:solidFill>
                <a:cs typeface="微软雅黑" charset="0"/>
              </a:rPr>
              <a:t>）：</a:t>
            </a:r>
            <a:r>
              <a:rPr lang="zh-CN" altLang="en-US" sz="2000" b="0" dirty="0">
                <a:solidFill>
                  <a:srgbClr val="1557AE"/>
                </a:solidFill>
                <a:cs typeface="微软雅黑" charset="0"/>
              </a:rPr>
              <a:t>数据集的最大值和最小值之差</a:t>
            </a:r>
            <a:endParaRPr lang="en-US" altLang="zh-CN" sz="2000" b="0" dirty="0">
              <a:solidFill>
                <a:srgbClr val="1557AE"/>
              </a:solidFill>
              <a:cs typeface="微软雅黑" charset="0"/>
            </a:endParaRPr>
          </a:p>
          <a:p>
            <a:pPr lvl="1" eaLnBrk="1" hangingPunct="1">
              <a:lnSpc>
                <a:spcPct val="120000"/>
              </a:lnSpc>
              <a:spcBef>
                <a:spcPts val="600"/>
              </a:spcBef>
              <a:buClrTx/>
              <a:buFont typeface="Wingdings" panose="05000000000000000000" pitchFamily="2" charset="2"/>
              <a:buChar char="Ø"/>
            </a:pPr>
            <a:r>
              <a:rPr lang="zh-CN" altLang="en-US" sz="2000" b="0" dirty="0">
                <a:solidFill>
                  <a:srgbClr val="FF0000"/>
                </a:solidFill>
                <a:cs typeface="微软雅黑" charset="0"/>
              </a:rPr>
              <a:t>百分位数</a:t>
            </a:r>
            <a:r>
              <a:rPr lang="en-US" altLang="zh-CN" sz="2000" b="0" dirty="0">
                <a:solidFill>
                  <a:srgbClr val="FF0000"/>
                </a:solidFill>
                <a:cs typeface="微软雅黑" charset="0"/>
              </a:rPr>
              <a:t>(percentile)</a:t>
            </a:r>
            <a:r>
              <a:rPr lang="zh-CN" altLang="en-US" sz="2000" b="0" dirty="0">
                <a:solidFill>
                  <a:srgbClr val="FF0000"/>
                </a:solidFill>
                <a:cs typeface="微软雅黑" charset="0"/>
              </a:rPr>
              <a:t>：</a:t>
            </a:r>
            <a:r>
              <a:rPr lang="zh-CN" altLang="en-US" sz="2000" b="0" dirty="0">
                <a:solidFill>
                  <a:srgbClr val="1557AE"/>
                </a:solidFill>
                <a:cs typeface="微软雅黑" charset="0"/>
              </a:rPr>
              <a:t>第</a:t>
            </a:r>
            <a:r>
              <a:rPr lang="en-US" altLang="zh-CN" sz="2000" b="0" i="1" dirty="0">
                <a:solidFill>
                  <a:srgbClr val="1557AE"/>
                </a:solidFill>
                <a:cs typeface="微软雅黑" charset="0"/>
              </a:rPr>
              <a:t>k</a:t>
            </a:r>
            <a:r>
              <a:rPr lang="zh-CN" altLang="en-US" sz="2000" b="0" dirty="0">
                <a:solidFill>
                  <a:srgbClr val="1557AE"/>
                </a:solidFill>
                <a:cs typeface="微软雅黑" charset="0"/>
              </a:rPr>
              <a:t>个百分位数是具有如下性质的值</a:t>
            </a:r>
            <a:r>
              <a:rPr lang="en-US" altLang="zh-CN" sz="2000" b="0" i="1" dirty="0">
                <a:solidFill>
                  <a:srgbClr val="1557AE"/>
                </a:solidFill>
                <a:cs typeface="微软雅黑" charset="0"/>
              </a:rPr>
              <a:t>x</a:t>
            </a:r>
            <a:r>
              <a:rPr lang="zh-CN" altLang="en-US" sz="2000" b="0" dirty="0">
                <a:solidFill>
                  <a:srgbClr val="1557AE"/>
                </a:solidFill>
                <a:cs typeface="微软雅黑" charset="0"/>
              </a:rPr>
              <a:t>：</a:t>
            </a:r>
            <a:r>
              <a:rPr lang="en-US" altLang="zh-CN" sz="2000" b="0" i="1" dirty="0">
                <a:solidFill>
                  <a:srgbClr val="1557AE"/>
                </a:solidFill>
                <a:cs typeface="微软雅黑" charset="0"/>
              </a:rPr>
              <a:t>k%</a:t>
            </a:r>
            <a:r>
              <a:rPr lang="zh-CN" altLang="en-US" sz="2000" b="0" dirty="0">
                <a:solidFill>
                  <a:srgbClr val="1557AE"/>
                </a:solidFill>
                <a:cs typeface="微软雅黑" charset="0"/>
              </a:rPr>
              <a:t>的数据项位于或低于</a:t>
            </a:r>
            <a:r>
              <a:rPr lang="en-US" altLang="zh-CN" sz="2000" b="0" i="1" dirty="0">
                <a:solidFill>
                  <a:srgbClr val="1557AE"/>
                </a:solidFill>
                <a:cs typeface="微软雅黑" charset="0"/>
              </a:rPr>
              <a:t>x</a:t>
            </a:r>
            <a:endParaRPr lang="en-US" altLang="zh-CN" sz="2000" b="0" i="1" dirty="0">
              <a:solidFill>
                <a:srgbClr val="1557AE"/>
              </a:solidFill>
              <a:cs typeface="微软雅黑" charset="0"/>
            </a:endParaRPr>
          </a:p>
          <a:p>
            <a:pPr lvl="2" eaLnBrk="1" hangingPunct="1">
              <a:lnSpc>
                <a:spcPct val="120000"/>
              </a:lnSpc>
              <a:spcBef>
                <a:spcPts val="600"/>
              </a:spcBef>
              <a:buClrTx/>
              <a:buFont typeface="Wingdings" panose="05000000000000000000" pitchFamily="2" charset="2"/>
              <a:buChar char="Ø"/>
            </a:pPr>
            <a:r>
              <a:rPr lang="zh-CN" altLang="en-US" sz="2000" b="0" dirty="0">
                <a:solidFill>
                  <a:srgbClr val="1557AE"/>
                </a:solidFill>
                <a:cs typeface="微软雅黑" charset="0"/>
              </a:rPr>
              <a:t>中位数就是第</a:t>
            </a:r>
            <a:r>
              <a:rPr lang="en-US" altLang="zh-CN" sz="2000" b="0" dirty="0">
                <a:solidFill>
                  <a:srgbClr val="1557AE"/>
                </a:solidFill>
                <a:cs typeface="微软雅黑" charset="0"/>
              </a:rPr>
              <a:t>50</a:t>
            </a:r>
            <a:r>
              <a:rPr lang="zh-CN" altLang="en-US" sz="2000" b="0" dirty="0">
                <a:solidFill>
                  <a:srgbClr val="1557AE"/>
                </a:solidFill>
                <a:cs typeface="微软雅黑" charset="0"/>
              </a:rPr>
              <a:t>个百分位数</a:t>
            </a:r>
            <a:endParaRPr lang="en-US" altLang="zh-CN" sz="2000" b="0" dirty="0">
              <a:solidFill>
                <a:srgbClr val="1557AE"/>
              </a:solidFill>
              <a:cs typeface="微软雅黑" charset="0"/>
            </a:endParaRPr>
          </a:p>
          <a:p>
            <a:pPr lvl="1" eaLnBrk="1" hangingPunct="1">
              <a:lnSpc>
                <a:spcPct val="120000"/>
              </a:lnSpc>
              <a:spcBef>
                <a:spcPts val="600"/>
              </a:spcBef>
              <a:buClrTx/>
              <a:buFont typeface="Wingdings" panose="05000000000000000000" pitchFamily="2" charset="2"/>
              <a:buChar char="Ø"/>
            </a:pPr>
            <a:r>
              <a:rPr lang="zh-CN" altLang="en-US" sz="2000" b="0" dirty="0">
                <a:solidFill>
                  <a:srgbClr val="FF0000"/>
                </a:solidFill>
                <a:cs typeface="微软雅黑" charset="0"/>
              </a:rPr>
              <a:t>四分位数：</a:t>
            </a:r>
            <a:r>
              <a:rPr lang="en-US" altLang="zh-CN" sz="2000" b="0" i="1" dirty="0">
                <a:solidFill>
                  <a:srgbClr val="1557AE"/>
                </a:solidFill>
                <a:cs typeface="微软雅黑" charset="0"/>
              </a:rPr>
              <a:t>Q</a:t>
            </a:r>
            <a:r>
              <a:rPr lang="en-US" altLang="zh-CN" sz="2000" b="0" i="1" baseline="-25000" dirty="0">
                <a:solidFill>
                  <a:srgbClr val="1557AE"/>
                </a:solidFill>
                <a:cs typeface="微软雅黑" charset="0"/>
              </a:rPr>
              <a:t>1</a:t>
            </a:r>
            <a:r>
              <a:rPr lang="en-US" altLang="zh-CN" sz="2000" b="0" i="1" dirty="0">
                <a:solidFill>
                  <a:srgbClr val="1557AE"/>
                </a:solidFill>
                <a:cs typeface="微软雅黑" charset="0"/>
              </a:rPr>
              <a:t> (25</a:t>
            </a:r>
            <a:r>
              <a:rPr lang="en-US" altLang="zh-CN" sz="2000" b="0" i="1" baseline="30000" dirty="0">
                <a:solidFill>
                  <a:srgbClr val="1557AE"/>
                </a:solidFill>
                <a:cs typeface="微软雅黑" charset="0"/>
              </a:rPr>
              <a:t>th</a:t>
            </a:r>
            <a:r>
              <a:rPr lang="en-US" altLang="zh-CN" sz="2000" b="0" i="1" dirty="0">
                <a:solidFill>
                  <a:srgbClr val="1557AE"/>
                </a:solidFill>
                <a:cs typeface="微软雅黑" charset="0"/>
              </a:rPr>
              <a:t> percentile), Q</a:t>
            </a:r>
            <a:r>
              <a:rPr lang="en-US" altLang="zh-CN" sz="2000" b="0" i="1" baseline="-25000" dirty="0">
                <a:solidFill>
                  <a:srgbClr val="1557AE"/>
                </a:solidFill>
                <a:cs typeface="微软雅黑" charset="0"/>
              </a:rPr>
              <a:t>3</a:t>
            </a:r>
            <a:r>
              <a:rPr lang="en-US" altLang="zh-CN" sz="2000" b="0" i="1" dirty="0">
                <a:solidFill>
                  <a:srgbClr val="1557AE"/>
                </a:solidFill>
                <a:cs typeface="微软雅黑" charset="0"/>
              </a:rPr>
              <a:t> (75</a:t>
            </a:r>
            <a:r>
              <a:rPr lang="en-US" altLang="zh-CN" sz="2000" b="0" i="1" baseline="30000" dirty="0">
                <a:solidFill>
                  <a:srgbClr val="1557AE"/>
                </a:solidFill>
                <a:cs typeface="微软雅黑" charset="0"/>
              </a:rPr>
              <a:t>th</a:t>
            </a:r>
            <a:r>
              <a:rPr lang="en-US" altLang="zh-CN" sz="2000" b="0" i="1" dirty="0">
                <a:solidFill>
                  <a:srgbClr val="1557AE"/>
                </a:solidFill>
                <a:cs typeface="微软雅黑" charset="0"/>
              </a:rPr>
              <a:t> percentile)</a:t>
            </a:r>
            <a:endParaRPr lang="en-US" altLang="zh-CN" sz="2000" b="0" i="1" dirty="0">
              <a:solidFill>
                <a:srgbClr val="1557AE"/>
              </a:solidFill>
              <a:cs typeface="微软雅黑" charset="0"/>
            </a:endParaRPr>
          </a:p>
          <a:p>
            <a:pPr lvl="1" eaLnBrk="1" hangingPunct="1">
              <a:lnSpc>
                <a:spcPct val="120000"/>
              </a:lnSpc>
              <a:spcBef>
                <a:spcPts val="600"/>
              </a:spcBef>
              <a:buClrTx/>
              <a:buFont typeface="Wingdings" panose="05000000000000000000" pitchFamily="2" charset="2"/>
              <a:buChar char="Ø"/>
            </a:pPr>
            <a:r>
              <a:rPr lang="zh-CN" altLang="en-US" sz="2000" b="0" dirty="0">
                <a:solidFill>
                  <a:srgbClr val="FF0000"/>
                </a:solidFill>
                <a:cs typeface="微软雅黑" charset="0"/>
              </a:rPr>
              <a:t>中间四分位数极差</a:t>
            </a:r>
            <a:r>
              <a:rPr lang="en-US" altLang="zh-CN" sz="2000" b="0" i="1" dirty="0">
                <a:solidFill>
                  <a:srgbClr val="FF0000"/>
                </a:solidFill>
                <a:cs typeface="微软雅黑" charset="0"/>
              </a:rPr>
              <a:t>(IQR)</a:t>
            </a:r>
            <a:r>
              <a:rPr lang="zh-CN" altLang="en-US" sz="2000" b="0" dirty="0">
                <a:solidFill>
                  <a:srgbClr val="FF0000"/>
                </a:solidFill>
                <a:cs typeface="微软雅黑" charset="0"/>
              </a:rPr>
              <a:t>： </a:t>
            </a:r>
            <a:r>
              <a:rPr lang="en-US" altLang="zh-CN" sz="2000" b="0" i="1" dirty="0">
                <a:solidFill>
                  <a:srgbClr val="1557AE"/>
                </a:solidFill>
                <a:cs typeface="微软雅黑" charset="0"/>
              </a:rPr>
              <a:t>IQR = Q</a:t>
            </a:r>
            <a:r>
              <a:rPr lang="en-US" altLang="zh-CN" sz="2000" b="0" i="1" baseline="-25000" dirty="0">
                <a:solidFill>
                  <a:srgbClr val="1557AE"/>
                </a:solidFill>
                <a:cs typeface="微软雅黑" charset="0"/>
              </a:rPr>
              <a:t>3 </a:t>
            </a:r>
            <a:r>
              <a:rPr lang="en-US" altLang="zh-CN" sz="2000" b="0" i="1" dirty="0">
                <a:solidFill>
                  <a:srgbClr val="1557AE"/>
                </a:solidFill>
                <a:cs typeface="微软雅黑" charset="0"/>
              </a:rPr>
              <a:t>–</a:t>
            </a:r>
            <a:r>
              <a:rPr lang="en-US" altLang="zh-CN" sz="2000" b="0" i="1" baseline="-25000" dirty="0">
                <a:solidFill>
                  <a:srgbClr val="1557AE"/>
                </a:solidFill>
                <a:cs typeface="微软雅黑" charset="0"/>
              </a:rPr>
              <a:t> </a:t>
            </a:r>
            <a:r>
              <a:rPr lang="en-US" altLang="zh-CN" sz="2000" b="0" i="1" dirty="0">
                <a:solidFill>
                  <a:srgbClr val="1557AE"/>
                </a:solidFill>
                <a:cs typeface="微软雅黑" charset="0"/>
              </a:rPr>
              <a:t>Q</a:t>
            </a:r>
            <a:r>
              <a:rPr lang="en-US" altLang="zh-CN" sz="2000" b="0" i="1" baseline="-25000" dirty="0">
                <a:solidFill>
                  <a:srgbClr val="1557AE"/>
                </a:solidFill>
                <a:cs typeface="微软雅黑" charset="0"/>
              </a:rPr>
              <a:t>1</a:t>
            </a:r>
            <a:r>
              <a:rPr lang="en-US" altLang="zh-CN" sz="2000" b="0" baseline="-25000" dirty="0">
                <a:solidFill>
                  <a:srgbClr val="1557AE"/>
                </a:solidFill>
                <a:cs typeface="微软雅黑" charset="0"/>
              </a:rPr>
              <a:t> </a:t>
            </a:r>
            <a:endParaRPr lang="en-US" altLang="zh-CN" sz="2000" b="0" dirty="0">
              <a:solidFill>
                <a:srgbClr val="1557AE"/>
              </a:solidFill>
              <a:cs typeface="微软雅黑" charset="0"/>
            </a:endParaRPr>
          </a:p>
          <a:p>
            <a:pPr lvl="1" eaLnBrk="1" hangingPunct="1">
              <a:lnSpc>
                <a:spcPct val="120000"/>
              </a:lnSpc>
              <a:spcBef>
                <a:spcPts val="600"/>
              </a:spcBef>
              <a:buClrTx/>
              <a:buFont typeface="Wingdings" panose="05000000000000000000" pitchFamily="2" charset="2"/>
              <a:buChar char="Ø"/>
            </a:pPr>
            <a:r>
              <a:rPr lang="zh-CN" altLang="en-US" sz="2000" b="0" dirty="0">
                <a:solidFill>
                  <a:srgbClr val="FF0000"/>
                </a:solidFill>
                <a:cs typeface="微软雅黑" charset="0"/>
              </a:rPr>
              <a:t>孤立点：</a:t>
            </a:r>
            <a:r>
              <a:rPr lang="zh-CN" altLang="en-US" sz="2000" b="0" dirty="0">
                <a:solidFill>
                  <a:srgbClr val="1557AE"/>
                </a:solidFill>
                <a:cs typeface="微软雅黑" charset="0"/>
              </a:rPr>
              <a:t>通常挑出落在至少高于第三个四分位数或低于第一个四分位数 </a:t>
            </a:r>
            <a:r>
              <a:rPr lang="en-US" altLang="zh-CN" sz="2000" b="0" i="1" dirty="0">
                <a:solidFill>
                  <a:srgbClr val="1557AE"/>
                </a:solidFill>
                <a:cs typeface="微软雅黑" charset="0"/>
              </a:rPr>
              <a:t>1.5×IQR</a:t>
            </a:r>
            <a:r>
              <a:rPr lang="zh-CN" altLang="en-US" sz="2000" b="0" dirty="0">
                <a:solidFill>
                  <a:srgbClr val="1557AE"/>
                </a:solidFill>
                <a:cs typeface="微软雅黑" charset="0"/>
              </a:rPr>
              <a:t>处的值</a:t>
            </a:r>
            <a:endParaRPr lang="zh-CN" altLang="en-US" sz="2000" b="0" dirty="0">
              <a:solidFill>
                <a:srgbClr val="1557AE"/>
              </a:solidFill>
              <a:cs typeface="微软雅黑" charset="0"/>
            </a:endParaRPr>
          </a:p>
        </p:txBody>
      </p:sp>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pic>
        <p:nvPicPr>
          <p:cNvPr id="2048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48993" y="2132856"/>
            <a:ext cx="218757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3"/>
          <p:cNvSpPr>
            <a:spLocks noGrp="1" noChangeArrowheads="1"/>
          </p:cNvSpPr>
          <p:nvPr>
            <p:ph idx="1"/>
          </p:nvPr>
        </p:nvSpPr>
        <p:spPr>
          <a:xfrm>
            <a:off x="284952" y="1268760"/>
            <a:ext cx="6768752" cy="4525962"/>
          </a:xfrm>
        </p:spPr>
        <p:txBody>
          <a:bodyPr/>
          <a:lstStyle/>
          <a:p>
            <a:pPr marL="342900" indent="-342900" eaLnBrk="1" hangingPunct="1">
              <a:lnSpc>
                <a:spcPct val="120000"/>
              </a:lnSpc>
              <a:buClrTx/>
              <a:buSzPct val="100000"/>
              <a:buFont typeface="Wingdings" panose="05000000000000000000" pitchFamily="2" charset="2"/>
              <a:buChar char="n"/>
              <a:defRPr/>
            </a:pPr>
            <a:r>
              <a:rPr lang="zh-CN" altLang="en-US" sz="2400" b="0" kern="1200" dirty="0">
                <a:solidFill>
                  <a:srgbClr val="FF0000"/>
                </a:solidFill>
                <a:cs typeface="Calibri" panose="020F0502020204030204" pitchFamily="34" charset="0"/>
              </a:rPr>
              <a:t>评估数值数据散布或发散的度量：</a:t>
            </a:r>
            <a:r>
              <a:rPr lang="zh-CN" altLang="en-US" sz="2400" b="0" kern="1200" dirty="0">
                <a:solidFill>
                  <a:srgbClr val="1557AE"/>
                </a:solidFill>
                <a:cs typeface="Calibri" panose="020F0502020204030204" pitchFamily="34" charset="0"/>
              </a:rPr>
              <a:t>极差、五数概括（基于四分位数）、中间四分位数极差和标准差</a:t>
            </a:r>
            <a:endParaRPr lang="zh-CN" altLang="en-US" sz="2400" b="0" kern="1200" dirty="0">
              <a:solidFill>
                <a:srgbClr val="1557AE"/>
              </a:solidFill>
              <a:cs typeface="Calibri" panose="020F0502020204030204" pitchFamily="34" charset="0"/>
            </a:endParaRPr>
          </a:p>
        </p:txBody>
      </p:sp>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pic>
        <p:nvPicPr>
          <p:cNvPr id="2048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48993" y="2132856"/>
            <a:ext cx="218757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64"/>
          <p:cNvPicPr>
            <a:picLocks noChangeAspect="1" noChangeArrowheads="1"/>
          </p:cNvPicPr>
          <p:nvPr/>
        </p:nvPicPr>
        <p:blipFill rotWithShape="1">
          <a:blip r:embed="rId2">
            <a:extLst>
              <a:ext uri="{28A0092B-C50C-407E-A947-70E740481C1C}">
                <a14:useLocalDpi xmlns:a14="http://schemas.microsoft.com/office/drawing/2010/main" val="0"/>
              </a:ext>
            </a:extLst>
          </a:blip>
          <a:srcRect t="2" r="2205" b="49697"/>
          <a:stretch>
            <a:fillRect/>
          </a:stretch>
        </p:blipFill>
        <p:spPr bwMode="auto">
          <a:xfrm>
            <a:off x="393267" y="2769379"/>
            <a:ext cx="6452431" cy="3501320"/>
          </a:xfrm>
          <a:prstGeom prst="rect">
            <a:avLst/>
          </a:prstGeom>
          <a:noFill/>
          <a:ln>
            <a:noFill/>
          </a:ln>
          <a:effectLst/>
          <a:extLst>
            <a:ext uri="{909E8E84-426E-40DD-AFC4-6F175D3DCCD1}">
              <a14:hiddenFill xmlns:a14="http://schemas.microsoft.com/office/drawing/2010/main">
                <a:solidFill>
                  <a:srgbClr val="FFF05B"/>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pic>
        <p:nvPicPr>
          <p:cNvPr id="7" name="Picture 2"/>
          <p:cNvPicPr>
            <a:picLocks noChangeAspect="1" noChangeArrowheads="1"/>
          </p:cNvPicPr>
          <p:nvPr/>
        </p:nvPicPr>
        <p:blipFill>
          <a:blip r:embed="rId1">
            <a:lum bright="-12000" contrast="30000"/>
            <a:extLst>
              <a:ext uri="{28A0092B-C50C-407E-A947-70E740481C1C}">
                <a14:useLocalDpi xmlns:a14="http://schemas.microsoft.com/office/drawing/2010/main" val="0"/>
              </a:ext>
            </a:extLst>
          </a:blip>
          <a:srcRect/>
          <a:stretch>
            <a:fillRect/>
          </a:stretch>
        </p:blipFill>
        <p:spPr bwMode="auto">
          <a:xfrm>
            <a:off x="246856" y="1152823"/>
            <a:ext cx="8650287" cy="529748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pic>
        <p:nvPicPr>
          <p:cNvPr id="6" name="Picture 2"/>
          <p:cNvPicPr>
            <a:picLocks noChangeAspect="1" noChangeArrowheads="1"/>
          </p:cNvPicPr>
          <p:nvPr/>
        </p:nvPicPr>
        <p:blipFill>
          <a:blip r:embed="rId1">
            <a:lum bright="-12000" contrast="18000"/>
            <a:extLst>
              <a:ext uri="{28A0092B-C50C-407E-A947-70E740481C1C}">
                <a14:useLocalDpi xmlns:a14="http://schemas.microsoft.com/office/drawing/2010/main" val="0"/>
              </a:ext>
            </a:extLst>
          </a:blip>
          <a:srcRect/>
          <a:stretch>
            <a:fillRect/>
          </a:stretch>
        </p:blipFill>
        <p:spPr bwMode="auto">
          <a:xfrm>
            <a:off x="749238" y="1700808"/>
            <a:ext cx="7645524" cy="417857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7" name="Rectangle 3"/>
          <p:cNvSpPr txBox="1">
            <a:spLocks noChangeArrowheads="1"/>
          </p:cNvSpPr>
          <p:nvPr/>
        </p:nvSpPr>
        <p:spPr bwMode="auto">
          <a:xfrm>
            <a:off x="457200" y="1124744"/>
            <a:ext cx="80772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a:buClr>
                <a:srgbClr val="FF0000"/>
              </a:buClr>
              <a:buFont typeface="Wingdings" panose="05000000000000000000" pitchFamily="2" charset="2"/>
              <a:buChar char="n"/>
            </a:pPr>
            <a:r>
              <a:rPr lang="zh-CN" altLang="en-US" sz="2800" b="0" dirty="0">
                <a:solidFill>
                  <a:srgbClr val="FF0000"/>
                </a:solidFill>
                <a:latin typeface="微软雅黑" charset="0"/>
                <a:ea typeface="微软雅黑" charset="0"/>
                <a:cs typeface="微软雅黑" charset="0"/>
              </a:rPr>
              <a:t>例子</a:t>
            </a:r>
            <a:endParaRPr lang="en-US" altLang="zh-CN" sz="2800" b="0" dirty="0">
              <a:solidFill>
                <a:srgbClr val="FF0000"/>
              </a:solidFill>
              <a:latin typeface="微软雅黑" charset="0"/>
              <a:ea typeface="微软雅黑" charset="0"/>
              <a:cs typeface="微软雅黑" charset="0"/>
            </a:endParaRPr>
          </a:p>
          <a:p>
            <a:pPr marL="895350" lvl="1" indent="-457200">
              <a:buClrTx/>
              <a:buFont typeface="Wingdings" panose="05000000000000000000" pitchFamily="2" charset="2"/>
              <a:buChar char="Ø"/>
            </a:pPr>
            <a:r>
              <a:rPr lang="en-US" altLang="zh-CN" sz="2200" b="0" dirty="0">
                <a:solidFill>
                  <a:srgbClr val="FF0000"/>
                </a:solidFill>
                <a:latin typeface="微软雅黑" charset="0"/>
                <a:ea typeface="微软雅黑" charset="0"/>
                <a:cs typeface="微软雅黑" charset="0"/>
              </a:rPr>
              <a:t>60</a:t>
            </a:r>
            <a:r>
              <a:rPr lang="en-US" altLang="zh-CN" sz="2200" b="0" baseline="30000" dirty="0">
                <a:solidFill>
                  <a:srgbClr val="FF0000"/>
                </a:solidFill>
                <a:latin typeface="微软雅黑" charset="0"/>
                <a:ea typeface="微软雅黑" charset="0"/>
                <a:cs typeface="微软雅黑" charset="0"/>
              </a:rPr>
              <a:t>th</a:t>
            </a:r>
            <a:r>
              <a:rPr lang="en-US" altLang="zh-CN" sz="2200" b="0" dirty="0">
                <a:solidFill>
                  <a:srgbClr val="FF0000"/>
                </a:solidFill>
                <a:latin typeface="微软雅黑" charset="0"/>
                <a:ea typeface="微软雅黑" charset="0"/>
                <a:cs typeface="微软雅黑" charset="0"/>
              </a:rPr>
              <a:t> Percentile</a:t>
            </a:r>
            <a:endParaRPr lang="en-US" altLang="zh-CN" sz="2200" b="0" dirty="0">
              <a:solidFill>
                <a:srgbClr val="FF0000"/>
              </a:solidFill>
              <a:latin typeface="微软雅黑" charset="0"/>
              <a:ea typeface="微软雅黑" charset="0"/>
              <a:cs typeface="微软雅黑" charset="0"/>
            </a:endParaRPr>
          </a:p>
          <a:p>
            <a:pPr marL="457200" indent="-457200">
              <a:buFont typeface="Wingdings" panose="05000000000000000000" pitchFamily="2" charset="2"/>
              <a:buNone/>
            </a:pPr>
            <a:r>
              <a:rPr lang="en-US" altLang="zh-CN" sz="2200" b="0" dirty="0">
                <a:latin typeface="微软雅黑" charset="0"/>
                <a:ea typeface="微软雅黑" charset="0"/>
                <a:cs typeface="微软雅黑" charset="0"/>
              </a:rPr>
              <a:t>              </a:t>
            </a:r>
            <a:r>
              <a:rPr lang="en-US" altLang="zh-CN" sz="2200" b="0" dirty="0">
                <a:solidFill>
                  <a:srgbClr val="1557AE"/>
                </a:solidFill>
                <a:latin typeface="微软雅黑" charset="0"/>
                <a:ea typeface="微软雅黑" charset="0"/>
                <a:cs typeface="微软雅黑" charset="0"/>
              </a:rPr>
              <a:t>I = (60/100)*51 =30.6 </a:t>
            </a:r>
            <a:endParaRPr lang="en-US" altLang="zh-CN" sz="2200" b="0" dirty="0">
              <a:solidFill>
                <a:srgbClr val="1557AE"/>
              </a:solidFill>
              <a:latin typeface="微软雅黑" charset="0"/>
              <a:ea typeface="微软雅黑" charset="0"/>
              <a:cs typeface="微软雅黑" charset="0"/>
            </a:endParaRPr>
          </a:p>
          <a:p>
            <a:pPr marL="457200" indent="-457200">
              <a:buFont typeface="Wingdings" panose="05000000000000000000" pitchFamily="2" charset="2"/>
              <a:buNone/>
            </a:pPr>
            <a:r>
              <a:rPr lang="en-US" altLang="zh-CN" sz="2200" b="0" dirty="0">
                <a:solidFill>
                  <a:srgbClr val="1557AE"/>
                </a:solidFill>
                <a:latin typeface="微软雅黑" charset="0"/>
                <a:ea typeface="微软雅黑" charset="0"/>
                <a:cs typeface="微软雅黑" charset="0"/>
              </a:rPr>
              <a:t>		30.6 </a:t>
            </a:r>
            <a:r>
              <a:rPr lang="zh-CN" altLang="en-US" sz="2200" b="0" dirty="0">
                <a:solidFill>
                  <a:srgbClr val="1557AE"/>
                </a:solidFill>
                <a:latin typeface="微软雅黑" charset="0"/>
                <a:ea typeface="微软雅黑" charset="0"/>
                <a:cs typeface="微软雅黑" charset="0"/>
              </a:rPr>
              <a:t>不是整数，选择整数</a:t>
            </a:r>
            <a:r>
              <a:rPr lang="en-US" altLang="zh-CN" sz="2200" b="0" dirty="0">
                <a:solidFill>
                  <a:srgbClr val="1557AE"/>
                </a:solidFill>
                <a:latin typeface="微软雅黑" charset="0"/>
                <a:ea typeface="微软雅黑" charset="0"/>
                <a:cs typeface="微软雅黑" charset="0"/>
              </a:rPr>
              <a:t>31</a:t>
            </a:r>
            <a:r>
              <a:rPr lang="zh-CN" altLang="en-US" sz="2200" b="0" dirty="0">
                <a:solidFill>
                  <a:srgbClr val="1557AE"/>
                </a:solidFill>
                <a:latin typeface="微软雅黑" charset="0"/>
                <a:ea typeface="微软雅黑" charset="0"/>
                <a:cs typeface="微软雅黑" charset="0"/>
              </a:rPr>
              <a:t>，故数值为</a:t>
            </a:r>
            <a:r>
              <a:rPr lang="en-US" altLang="zh-CN" sz="2200" b="0" dirty="0">
                <a:solidFill>
                  <a:srgbClr val="1557AE"/>
                </a:solidFill>
                <a:latin typeface="微软雅黑" charset="0"/>
                <a:ea typeface="微软雅黑" charset="0"/>
                <a:cs typeface="微软雅黑" charset="0"/>
              </a:rPr>
              <a:t> 66.1</a:t>
            </a:r>
            <a:endParaRPr lang="en-US" altLang="zh-CN" sz="2200" b="0" dirty="0">
              <a:solidFill>
                <a:srgbClr val="1557AE"/>
              </a:solidFill>
              <a:latin typeface="微软雅黑" charset="0"/>
              <a:ea typeface="微软雅黑" charset="0"/>
              <a:cs typeface="微软雅黑" charset="0"/>
            </a:endParaRPr>
          </a:p>
          <a:p>
            <a:pPr marL="895350" lvl="1" indent="-457200">
              <a:buClrTx/>
              <a:buFont typeface="Wingdings" panose="05000000000000000000" pitchFamily="2" charset="2"/>
              <a:buChar char="Ø"/>
            </a:pPr>
            <a:r>
              <a:rPr lang="en-US" altLang="zh-CN" sz="2200" b="0" dirty="0">
                <a:solidFill>
                  <a:srgbClr val="FF0000"/>
                </a:solidFill>
                <a:latin typeface="微软雅黑" charset="0"/>
                <a:ea typeface="微软雅黑" charset="0"/>
                <a:cs typeface="微软雅黑" charset="0"/>
              </a:rPr>
              <a:t>33</a:t>
            </a:r>
            <a:r>
              <a:rPr lang="en-US" altLang="zh-CN" sz="2200" b="0" baseline="30000" dirty="0">
                <a:solidFill>
                  <a:srgbClr val="FF0000"/>
                </a:solidFill>
                <a:latin typeface="微软雅黑" charset="0"/>
                <a:ea typeface="微软雅黑" charset="0"/>
                <a:cs typeface="微软雅黑" charset="0"/>
              </a:rPr>
              <a:t>th</a:t>
            </a:r>
            <a:r>
              <a:rPr lang="en-US" altLang="zh-CN" sz="2200" b="0" dirty="0">
                <a:solidFill>
                  <a:srgbClr val="FF0000"/>
                </a:solidFill>
                <a:latin typeface="微软雅黑" charset="0"/>
                <a:ea typeface="微软雅黑" charset="0"/>
                <a:cs typeface="微软雅黑" charset="0"/>
              </a:rPr>
              <a:t> Percentile</a:t>
            </a:r>
            <a:endParaRPr lang="en-US" altLang="zh-CN" sz="2200" b="0" dirty="0">
              <a:solidFill>
                <a:srgbClr val="FF0000"/>
              </a:solidFill>
              <a:latin typeface="微软雅黑" charset="0"/>
              <a:ea typeface="微软雅黑" charset="0"/>
              <a:cs typeface="微软雅黑" charset="0"/>
            </a:endParaRPr>
          </a:p>
          <a:p>
            <a:pPr marL="457200" indent="-457200">
              <a:buFont typeface="Wingdings" panose="05000000000000000000" pitchFamily="2" charset="2"/>
              <a:buNone/>
            </a:pPr>
            <a:r>
              <a:rPr lang="en-US" altLang="zh-CN" sz="2200" b="0" dirty="0">
                <a:latin typeface="微软雅黑" charset="0"/>
                <a:ea typeface="微软雅黑" charset="0"/>
                <a:cs typeface="微软雅黑" charset="0"/>
              </a:rPr>
              <a:t>              </a:t>
            </a:r>
            <a:r>
              <a:rPr lang="en-US" altLang="zh-CN" sz="2200" b="0" dirty="0">
                <a:solidFill>
                  <a:srgbClr val="1557AE"/>
                </a:solidFill>
                <a:latin typeface="微软雅黑" charset="0"/>
                <a:ea typeface="微软雅黑" charset="0"/>
                <a:cs typeface="微软雅黑" charset="0"/>
              </a:rPr>
              <a:t>I =(33/100)*51=16.83 </a:t>
            </a:r>
            <a:endParaRPr lang="en-US" altLang="zh-CN" sz="2200" b="0" dirty="0">
              <a:solidFill>
                <a:srgbClr val="1557AE"/>
              </a:solidFill>
              <a:latin typeface="微软雅黑" charset="0"/>
              <a:ea typeface="微软雅黑" charset="0"/>
              <a:cs typeface="微软雅黑" charset="0"/>
            </a:endParaRPr>
          </a:p>
          <a:p>
            <a:pPr marL="457200" lvl="2" indent="-457200">
              <a:buNone/>
            </a:pPr>
            <a:r>
              <a:rPr lang="en-US" altLang="zh-CN" sz="2200" b="0" dirty="0">
                <a:solidFill>
                  <a:srgbClr val="1557AE"/>
                </a:solidFill>
                <a:latin typeface="微软雅黑" charset="0"/>
                <a:ea typeface="微软雅黑" charset="0"/>
                <a:cs typeface="微软雅黑" charset="0"/>
              </a:rPr>
              <a:t>              16.83 </a:t>
            </a:r>
            <a:r>
              <a:rPr lang="zh-CN" altLang="en-US" sz="2200" b="0" dirty="0">
                <a:solidFill>
                  <a:srgbClr val="1557AE"/>
                </a:solidFill>
                <a:latin typeface="微软雅黑" charset="0"/>
                <a:ea typeface="微软雅黑" charset="0"/>
                <a:cs typeface="微软雅黑" charset="0"/>
              </a:rPr>
              <a:t>不是整数，选择整数</a:t>
            </a:r>
            <a:r>
              <a:rPr lang="en-US" altLang="zh-CN" sz="2200" b="0" dirty="0">
                <a:solidFill>
                  <a:srgbClr val="1557AE"/>
                </a:solidFill>
                <a:latin typeface="微软雅黑" charset="0"/>
                <a:ea typeface="微软雅黑" charset="0"/>
                <a:cs typeface="微软雅黑" charset="0"/>
              </a:rPr>
              <a:t>17</a:t>
            </a:r>
            <a:r>
              <a:rPr lang="zh-CN" altLang="en-US" sz="2200" b="0" dirty="0">
                <a:solidFill>
                  <a:srgbClr val="1557AE"/>
                </a:solidFill>
                <a:latin typeface="微软雅黑" charset="0"/>
                <a:ea typeface="微软雅黑" charset="0"/>
                <a:cs typeface="微软雅黑" charset="0"/>
              </a:rPr>
              <a:t>，故数值为</a:t>
            </a:r>
            <a:r>
              <a:rPr lang="en-US" altLang="zh-CN" sz="2200" b="0" dirty="0">
                <a:solidFill>
                  <a:srgbClr val="1557AE"/>
                </a:solidFill>
                <a:latin typeface="微软雅黑" charset="0"/>
                <a:ea typeface="微软雅黑" charset="0"/>
                <a:cs typeface="微软雅黑" charset="0"/>
              </a:rPr>
              <a:t> 63.6     </a:t>
            </a:r>
            <a:endParaRPr lang="en-US" altLang="zh-CN" sz="2200" b="0" dirty="0">
              <a:solidFill>
                <a:srgbClr val="1557AE"/>
              </a:solidFill>
              <a:latin typeface="微软雅黑" charset="0"/>
              <a:ea typeface="微软雅黑" charset="0"/>
              <a:cs typeface="微软雅黑" charset="0"/>
            </a:endParaRPr>
          </a:p>
        </p:txBody>
      </p:sp>
      <p:sp>
        <p:nvSpPr>
          <p:cNvPr id="8" name="Text Box 4"/>
          <p:cNvSpPr txBox="1">
            <a:spLocks noChangeArrowheads="1"/>
          </p:cNvSpPr>
          <p:nvPr/>
        </p:nvSpPr>
        <p:spPr bwMode="auto">
          <a:xfrm>
            <a:off x="368072" y="4292972"/>
            <a:ext cx="7086600" cy="2394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895350" lvl="1" indent="-457200" algn="l" eaLnBrk="0" hangingPunct="0">
              <a:spcBef>
                <a:spcPct val="20000"/>
              </a:spcBef>
              <a:buFont typeface="Wingdings" panose="05000000000000000000" pitchFamily="2" charset="2"/>
              <a:buChar char="Ø"/>
            </a:pPr>
            <a:r>
              <a:rPr lang="en-US" altLang="zh-CN" sz="2200" b="0" dirty="0">
                <a:solidFill>
                  <a:srgbClr val="FF0000"/>
                </a:solidFill>
                <a:latin typeface="微软雅黑" charset="0"/>
                <a:ea typeface="微软雅黑" charset="0"/>
                <a:cs typeface="微软雅黑" charset="0"/>
              </a:rPr>
              <a:t>Q1:13</a:t>
            </a:r>
            <a:r>
              <a:rPr lang="en-US" altLang="zh-CN" sz="2200" b="0" baseline="30000" dirty="0">
                <a:solidFill>
                  <a:srgbClr val="FF0000"/>
                </a:solidFill>
                <a:latin typeface="微软雅黑" charset="0"/>
                <a:ea typeface="微软雅黑" charset="0"/>
                <a:cs typeface="微软雅黑" charset="0"/>
              </a:rPr>
              <a:t>th</a:t>
            </a:r>
            <a:r>
              <a:rPr lang="en-US" altLang="zh-CN" sz="2200" b="0" dirty="0">
                <a:solidFill>
                  <a:srgbClr val="FF0000"/>
                </a:solidFill>
                <a:latin typeface="微软雅黑" charset="0"/>
                <a:ea typeface="微软雅黑" charset="0"/>
                <a:cs typeface="微软雅黑" charset="0"/>
              </a:rPr>
              <a:t>—62.9 ;</a:t>
            </a:r>
            <a:endParaRPr lang="en-US" altLang="zh-CN" sz="2200" b="0" dirty="0">
              <a:solidFill>
                <a:srgbClr val="FF0000"/>
              </a:solidFill>
              <a:latin typeface="微软雅黑" charset="0"/>
              <a:ea typeface="微软雅黑" charset="0"/>
              <a:cs typeface="微软雅黑" charset="0"/>
            </a:endParaRPr>
          </a:p>
          <a:p>
            <a:pPr marL="895350" lvl="1" indent="-457200" algn="l" eaLnBrk="0" hangingPunct="0">
              <a:spcBef>
                <a:spcPct val="20000"/>
              </a:spcBef>
              <a:buFont typeface="Wingdings" panose="05000000000000000000" pitchFamily="2" charset="2"/>
              <a:buChar char="Ø"/>
            </a:pPr>
            <a:r>
              <a:rPr lang="en-US" altLang="zh-CN" sz="2200" b="0" dirty="0">
                <a:solidFill>
                  <a:srgbClr val="FF0000"/>
                </a:solidFill>
                <a:latin typeface="微软雅黑" charset="0"/>
                <a:ea typeface="微软雅黑" charset="0"/>
                <a:cs typeface="微软雅黑" charset="0"/>
              </a:rPr>
              <a:t>Q3: 38</a:t>
            </a:r>
            <a:r>
              <a:rPr lang="en-US" altLang="zh-CN" sz="2200" b="0" baseline="30000" dirty="0">
                <a:solidFill>
                  <a:srgbClr val="FF0000"/>
                </a:solidFill>
                <a:latin typeface="微软雅黑" charset="0"/>
                <a:ea typeface="微软雅黑" charset="0"/>
                <a:cs typeface="微软雅黑" charset="0"/>
              </a:rPr>
              <a:t>th</a:t>
            </a:r>
            <a:r>
              <a:rPr lang="en-US" altLang="zh-CN" sz="2200" b="0" dirty="0">
                <a:solidFill>
                  <a:srgbClr val="FF0000"/>
                </a:solidFill>
                <a:latin typeface="微软雅黑" charset="0"/>
                <a:ea typeface="微软雅黑" charset="0"/>
                <a:cs typeface="微软雅黑" charset="0"/>
              </a:rPr>
              <a:t>—67.2</a:t>
            </a:r>
            <a:endParaRPr lang="en-US" altLang="zh-CN" sz="2200" b="0" dirty="0">
              <a:solidFill>
                <a:srgbClr val="FF0000"/>
              </a:solidFill>
              <a:latin typeface="微软雅黑" charset="0"/>
              <a:ea typeface="微软雅黑" charset="0"/>
              <a:cs typeface="微软雅黑" charset="0"/>
            </a:endParaRPr>
          </a:p>
          <a:p>
            <a:pPr marL="895350" lvl="1" indent="-457200" algn="l" eaLnBrk="0" hangingPunct="0">
              <a:spcBef>
                <a:spcPct val="20000"/>
              </a:spcBef>
              <a:buFont typeface="Wingdings" panose="05000000000000000000" pitchFamily="2" charset="2"/>
              <a:buChar char="Ø"/>
            </a:pPr>
            <a:r>
              <a:rPr lang="en-US" altLang="zh-CN" sz="2200" b="0" dirty="0">
                <a:solidFill>
                  <a:srgbClr val="FF0000"/>
                </a:solidFill>
                <a:latin typeface="微软雅黑" charset="0"/>
                <a:ea typeface="微软雅黑" charset="0"/>
                <a:cs typeface="微软雅黑" charset="0"/>
              </a:rPr>
              <a:t>Q3-Q1=4.3</a:t>
            </a:r>
            <a:endParaRPr lang="en-US" altLang="zh-CN" sz="2200" b="0" dirty="0">
              <a:solidFill>
                <a:srgbClr val="FF0000"/>
              </a:solidFill>
              <a:latin typeface="微软雅黑" charset="0"/>
              <a:ea typeface="微软雅黑" charset="0"/>
              <a:cs typeface="微软雅黑" charset="0"/>
            </a:endParaRPr>
          </a:p>
          <a:p>
            <a:pPr marL="895350" lvl="1" indent="-457200" algn="l" eaLnBrk="0" hangingPunct="0">
              <a:spcBef>
                <a:spcPct val="20000"/>
              </a:spcBef>
              <a:buFont typeface="Wingdings" panose="05000000000000000000" pitchFamily="2" charset="2"/>
              <a:buChar char="Ø"/>
            </a:pPr>
            <a:r>
              <a:rPr lang="en-US" altLang="zh-CN" sz="2200" b="0" dirty="0">
                <a:solidFill>
                  <a:srgbClr val="FF0000"/>
                </a:solidFill>
                <a:latin typeface="微软雅黑" charset="0"/>
                <a:ea typeface="微软雅黑" charset="0"/>
                <a:cs typeface="微软雅黑" charset="0"/>
              </a:rPr>
              <a:t> (62.9-1.5*4.3, 67.2+1.5*4.3)=(56.45,73.65)</a:t>
            </a:r>
            <a:endParaRPr lang="en-US" altLang="zh-CN" sz="2200" b="0" dirty="0">
              <a:solidFill>
                <a:srgbClr val="FF0000"/>
              </a:solidFill>
              <a:latin typeface="微软雅黑" charset="0"/>
              <a:ea typeface="微软雅黑" charset="0"/>
              <a:cs typeface="微软雅黑" charset="0"/>
            </a:endParaRPr>
          </a:p>
          <a:p>
            <a:pPr marL="895350" lvl="1" indent="-457200" algn="l" eaLnBrk="0" hangingPunct="0">
              <a:spcBef>
                <a:spcPct val="20000"/>
              </a:spcBef>
              <a:buFont typeface="Wingdings" panose="05000000000000000000" pitchFamily="2" charset="2"/>
              <a:buChar char="Ø"/>
            </a:pPr>
            <a:r>
              <a:rPr lang="en-US" altLang="zh-CN" sz="2200" b="0" dirty="0">
                <a:solidFill>
                  <a:srgbClr val="FF0000"/>
                </a:solidFill>
                <a:latin typeface="微软雅黑" charset="0"/>
                <a:ea typeface="微软雅黑" charset="0"/>
                <a:cs typeface="微软雅黑" charset="0"/>
              </a:rPr>
              <a:t>The OUTLIER is 52.7</a:t>
            </a:r>
            <a:endParaRPr lang="en-US" altLang="zh-CN" sz="2200" b="0" dirty="0">
              <a:solidFill>
                <a:srgbClr val="FF0000"/>
              </a:solidFill>
              <a:latin typeface="微软雅黑" charset="0"/>
              <a:ea typeface="微软雅黑" charset="0"/>
              <a:cs typeface="微软雅黑" charset="0"/>
            </a:endParaRPr>
          </a:p>
        </p:txBody>
      </p:sp>
      <p:sp>
        <p:nvSpPr>
          <p:cNvPr id="9" name="Text Box 4"/>
          <p:cNvSpPr txBox="1">
            <a:spLocks noChangeArrowheads="1"/>
          </p:cNvSpPr>
          <p:nvPr/>
        </p:nvSpPr>
        <p:spPr bwMode="auto">
          <a:xfrm>
            <a:off x="4932040" y="4004935"/>
            <a:ext cx="3917112" cy="1400383"/>
          </a:xfrm>
          <a:prstGeom prst="rect">
            <a:avLst/>
          </a:prstGeom>
          <a:solidFill>
            <a:srgbClr val="FFFFCC"/>
          </a:solidFill>
          <a:ln>
            <a:solidFill>
              <a:srgbClr val="FFC000"/>
            </a:solidFill>
          </a:ln>
          <a:effectLst/>
        </p:spPr>
        <p:txBody>
          <a:bodyPr wrap="square">
            <a:spAutoFit/>
          </a:bodyPr>
          <a:lstStyle/>
          <a:p>
            <a:pPr algn="l">
              <a:spcBef>
                <a:spcPts val="600"/>
              </a:spcBef>
            </a:pPr>
            <a:r>
              <a:rPr lang="en-US" altLang="zh-CN" sz="2000" b="0" dirty="0">
                <a:solidFill>
                  <a:srgbClr val="1557AE"/>
                </a:solidFill>
                <a:latin typeface="微软雅黑" charset="0"/>
                <a:ea typeface="微软雅黑" charset="0"/>
                <a:cs typeface="Calibri" panose="020F0502020204030204" pitchFamily="34" charset="0"/>
              </a:rPr>
              <a:t>Lower Fence = </a:t>
            </a:r>
            <a:r>
              <a:rPr lang="en-US" altLang="zh-CN" sz="2000" b="0" i="1" dirty="0">
                <a:solidFill>
                  <a:srgbClr val="1557AE"/>
                </a:solidFill>
                <a:latin typeface="微软雅黑" charset="0"/>
                <a:ea typeface="微软雅黑" charset="0"/>
                <a:cs typeface="Calibri" panose="020F0502020204030204" pitchFamily="34" charset="0"/>
              </a:rPr>
              <a:t>Q</a:t>
            </a:r>
            <a:r>
              <a:rPr lang="en-US" altLang="zh-CN" sz="2000" b="0" baseline="-25000" dirty="0">
                <a:solidFill>
                  <a:srgbClr val="1557AE"/>
                </a:solidFill>
                <a:latin typeface="微软雅黑" charset="0"/>
                <a:ea typeface="微软雅黑" charset="0"/>
                <a:cs typeface="Calibri" panose="020F0502020204030204" pitchFamily="34" charset="0"/>
              </a:rPr>
              <a:t>1 </a:t>
            </a:r>
            <a:r>
              <a:rPr lang="en-US" altLang="zh-CN" sz="2000" b="0" dirty="0">
                <a:solidFill>
                  <a:srgbClr val="1557AE"/>
                </a:solidFill>
                <a:latin typeface="微软雅黑" charset="0"/>
                <a:ea typeface="微软雅黑" charset="0"/>
                <a:cs typeface="Calibri" panose="020F0502020204030204" pitchFamily="34" charset="0"/>
              </a:rPr>
              <a:t>- 1.5(IQR)</a:t>
            </a:r>
            <a:endParaRPr lang="en-US" altLang="zh-CN" sz="2000" b="0" dirty="0">
              <a:solidFill>
                <a:srgbClr val="1557AE"/>
              </a:solidFill>
              <a:latin typeface="微软雅黑" charset="0"/>
              <a:ea typeface="微软雅黑" charset="0"/>
              <a:cs typeface="Calibri" panose="020F0502020204030204" pitchFamily="34" charset="0"/>
            </a:endParaRPr>
          </a:p>
          <a:p>
            <a:pPr algn="l">
              <a:spcBef>
                <a:spcPts val="600"/>
              </a:spcBef>
            </a:pPr>
            <a:r>
              <a:rPr lang="en-US" altLang="zh-CN" sz="2000" b="0" dirty="0">
                <a:solidFill>
                  <a:srgbClr val="1557AE"/>
                </a:solidFill>
                <a:latin typeface="微软雅黑" charset="0"/>
                <a:ea typeface="微软雅黑" charset="0"/>
                <a:cs typeface="Calibri" panose="020F0502020204030204" pitchFamily="34" charset="0"/>
              </a:rPr>
              <a:t>Upper Fence =  </a:t>
            </a:r>
            <a:r>
              <a:rPr lang="en-US" altLang="zh-CN" sz="2000" b="0" i="1" dirty="0">
                <a:solidFill>
                  <a:srgbClr val="1557AE"/>
                </a:solidFill>
                <a:latin typeface="微软雅黑" charset="0"/>
                <a:ea typeface="微软雅黑" charset="0"/>
                <a:cs typeface="Calibri" panose="020F0502020204030204" pitchFamily="34" charset="0"/>
              </a:rPr>
              <a:t>Q</a:t>
            </a:r>
            <a:r>
              <a:rPr lang="en-US" altLang="zh-CN" sz="2000" b="0" baseline="-25000" dirty="0">
                <a:solidFill>
                  <a:srgbClr val="1557AE"/>
                </a:solidFill>
                <a:latin typeface="微软雅黑" charset="0"/>
                <a:ea typeface="微软雅黑" charset="0"/>
                <a:cs typeface="Calibri" panose="020F0502020204030204" pitchFamily="34" charset="0"/>
              </a:rPr>
              <a:t>3</a:t>
            </a:r>
            <a:r>
              <a:rPr lang="en-US" altLang="zh-CN" sz="2000" b="0" dirty="0">
                <a:solidFill>
                  <a:srgbClr val="1557AE"/>
                </a:solidFill>
                <a:latin typeface="微软雅黑" charset="0"/>
                <a:ea typeface="微软雅黑" charset="0"/>
                <a:cs typeface="Calibri" panose="020F0502020204030204" pitchFamily="34" charset="0"/>
              </a:rPr>
              <a:t> + 1.5(IQR)</a:t>
            </a:r>
            <a:endParaRPr lang="en-US" altLang="zh-CN" sz="2000" b="0" dirty="0">
              <a:solidFill>
                <a:srgbClr val="1557AE"/>
              </a:solidFill>
              <a:latin typeface="微软雅黑" charset="0"/>
              <a:ea typeface="微软雅黑" charset="0"/>
              <a:cs typeface="Calibri" panose="020F0502020204030204" pitchFamily="34" charset="0"/>
            </a:endParaRPr>
          </a:p>
        </p:txBody>
      </p:sp>
      <p:sp>
        <p:nvSpPr>
          <p:cNvPr id="10"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7" name="Rectangle 3"/>
          <p:cNvSpPr txBox="1">
            <a:spLocks noChangeArrowheads="1"/>
          </p:cNvSpPr>
          <p:nvPr/>
        </p:nvSpPr>
        <p:spPr bwMode="auto">
          <a:xfrm>
            <a:off x="457200" y="1412776"/>
            <a:ext cx="80772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FF0000"/>
              </a:buClr>
              <a:buFont typeface="Wingdings" panose="05000000000000000000" pitchFamily="2" charset="2"/>
              <a:buChar char="n"/>
            </a:pPr>
            <a:r>
              <a:rPr lang="zh-CN" altLang="en-US" sz="2600" b="0" dirty="0">
                <a:solidFill>
                  <a:srgbClr val="FF0000"/>
                </a:solidFill>
                <a:latin typeface="微软雅黑" charset="0"/>
                <a:ea typeface="微软雅黑" charset="0"/>
                <a:cs typeface="微软雅黑" charset="0"/>
              </a:rPr>
              <a:t>五数概括</a:t>
            </a:r>
            <a:r>
              <a:rPr lang="en-US" altLang="zh-CN" sz="2600" b="0" dirty="0">
                <a:solidFill>
                  <a:srgbClr val="FF0000"/>
                </a:solidFill>
                <a:latin typeface="微软雅黑" charset="0"/>
                <a:ea typeface="微软雅黑" charset="0"/>
                <a:cs typeface="微软雅黑" charset="0"/>
              </a:rPr>
              <a:t>: </a:t>
            </a:r>
            <a:r>
              <a:rPr lang="en-US" altLang="zh-CN" sz="2600" b="0" dirty="0">
                <a:solidFill>
                  <a:srgbClr val="1557AE"/>
                </a:solidFill>
                <a:latin typeface="微软雅黑" charset="0"/>
                <a:ea typeface="微软雅黑" charset="0"/>
                <a:cs typeface="微软雅黑" charset="0"/>
              </a:rPr>
              <a:t>min, Q</a:t>
            </a:r>
            <a:r>
              <a:rPr lang="en-US" altLang="zh-CN" sz="2600" b="0" baseline="-25000" dirty="0">
                <a:solidFill>
                  <a:srgbClr val="1557AE"/>
                </a:solidFill>
                <a:latin typeface="微软雅黑" charset="0"/>
                <a:ea typeface="微软雅黑" charset="0"/>
                <a:cs typeface="微软雅黑" charset="0"/>
              </a:rPr>
              <a:t>1</a:t>
            </a:r>
            <a:r>
              <a:rPr lang="en-US" altLang="zh-CN" sz="2600" b="0" dirty="0">
                <a:solidFill>
                  <a:srgbClr val="1557AE"/>
                </a:solidFill>
                <a:latin typeface="微软雅黑" charset="0"/>
                <a:ea typeface="微软雅黑" charset="0"/>
                <a:cs typeface="微软雅黑" charset="0"/>
              </a:rPr>
              <a:t>, Median,</a:t>
            </a:r>
            <a:r>
              <a:rPr lang="en-US" altLang="zh-CN" sz="2600" b="0" baseline="-25000" dirty="0">
                <a:solidFill>
                  <a:srgbClr val="1557AE"/>
                </a:solidFill>
                <a:latin typeface="微软雅黑" charset="0"/>
                <a:ea typeface="微软雅黑" charset="0"/>
                <a:cs typeface="微软雅黑" charset="0"/>
              </a:rPr>
              <a:t> </a:t>
            </a:r>
            <a:r>
              <a:rPr lang="en-US" altLang="zh-CN" sz="2600" b="0" dirty="0">
                <a:solidFill>
                  <a:srgbClr val="1557AE"/>
                </a:solidFill>
                <a:latin typeface="微软雅黑" charset="0"/>
                <a:ea typeface="微软雅黑" charset="0"/>
                <a:cs typeface="微软雅黑" charset="0"/>
              </a:rPr>
              <a:t>Q</a:t>
            </a:r>
            <a:r>
              <a:rPr lang="en-US" altLang="zh-CN" sz="2600" b="0" baseline="-25000" dirty="0">
                <a:solidFill>
                  <a:srgbClr val="1557AE"/>
                </a:solidFill>
                <a:latin typeface="微软雅黑" charset="0"/>
                <a:ea typeface="微软雅黑" charset="0"/>
                <a:cs typeface="微软雅黑" charset="0"/>
              </a:rPr>
              <a:t>3</a:t>
            </a:r>
            <a:r>
              <a:rPr lang="en-US" altLang="zh-CN" sz="2600" b="0" dirty="0">
                <a:solidFill>
                  <a:srgbClr val="1557AE"/>
                </a:solidFill>
                <a:latin typeface="微软雅黑" charset="0"/>
                <a:ea typeface="微软雅黑" charset="0"/>
                <a:cs typeface="微软雅黑" charset="0"/>
              </a:rPr>
              <a:t>, max</a:t>
            </a:r>
            <a:endParaRPr lang="en-US" altLang="zh-CN" sz="2600" b="0" dirty="0">
              <a:solidFill>
                <a:srgbClr val="1557AE"/>
              </a:solidFill>
              <a:latin typeface="微软雅黑" charset="0"/>
              <a:ea typeface="微软雅黑" charset="0"/>
              <a:cs typeface="微软雅黑" charset="0"/>
            </a:endParaRPr>
          </a:p>
          <a:p>
            <a:pPr eaLnBrk="1" hangingPunct="1">
              <a:lnSpc>
                <a:spcPct val="120000"/>
              </a:lnSpc>
              <a:spcBef>
                <a:spcPts val="600"/>
              </a:spcBef>
              <a:buClr>
                <a:srgbClr val="FF0000"/>
              </a:buClr>
              <a:buFont typeface="Wingdings" panose="05000000000000000000" pitchFamily="2" charset="2"/>
              <a:buChar char="n"/>
            </a:pPr>
            <a:r>
              <a:rPr lang="zh-CN" altLang="en-US" sz="2800" b="0" dirty="0">
                <a:solidFill>
                  <a:srgbClr val="FF0000"/>
                </a:solidFill>
                <a:latin typeface="微软雅黑" charset="0"/>
                <a:ea typeface="微软雅黑" charset="0"/>
                <a:cs typeface="微软雅黑" charset="0"/>
              </a:rPr>
              <a:t>盒图：</a:t>
            </a:r>
            <a:r>
              <a:rPr lang="zh-CN" altLang="en-US" sz="2800" b="0" dirty="0">
                <a:solidFill>
                  <a:srgbClr val="1557AE"/>
                </a:solidFill>
                <a:latin typeface="微软雅黑" charset="0"/>
                <a:ea typeface="微软雅黑" charset="0"/>
                <a:cs typeface="微软雅黑" charset="0"/>
              </a:rPr>
              <a:t>数据分布的一种直观表示</a:t>
            </a:r>
            <a:endParaRPr lang="en-US" altLang="zh-CN" sz="2600" b="0" dirty="0">
              <a:solidFill>
                <a:srgbClr val="1557AE"/>
              </a:solidFill>
              <a:latin typeface="微软雅黑" charset="0"/>
              <a:ea typeface="微软雅黑" charset="0"/>
              <a:cs typeface="微软雅黑" charset="0"/>
            </a:endParaRPr>
          </a:p>
          <a:p>
            <a:pPr eaLnBrk="1" hangingPunct="1">
              <a:lnSpc>
                <a:spcPct val="120000"/>
              </a:lnSpc>
              <a:spcBef>
                <a:spcPts val="600"/>
              </a:spcBef>
              <a:buClr>
                <a:srgbClr val="FF0000"/>
              </a:buClr>
              <a:buFont typeface="Wingdings" panose="05000000000000000000" pitchFamily="2" charset="2"/>
              <a:buChar char="n"/>
            </a:pPr>
            <a:r>
              <a:rPr lang="zh-CN" altLang="en-US" sz="2600" b="0" dirty="0">
                <a:solidFill>
                  <a:srgbClr val="FF0000"/>
                </a:solidFill>
                <a:latin typeface="微软雅黑" charset="0"/>
                <a:ea typeface="微软雅黑" charset="0"/>
                <a:cs typeface="微软雅黑" charset="0"/>
              </a:rPr>
              <a:t>方差和标准差</a:t>
            </a:r>
            <a:endParaRPr lang="zh-CN" altLang="en-US" sz="2600" b="0" dirty="0">
              <a:solidFill>
                <a:srgbClr val="FF0000"/>
              </a:solidFill>
              <a:latin typeface="微软雅黑" charset="0"/>
              <a:ea typeface="微软雅黑" charset="0"/>
              <a:cs typeface="微软雅黑" charset="0"/>
            </a:endParaRPr>
          </a:p>
          <a:p>
            <a:pPr lvl="1" eaLnBrk="1" hangingPunct="1">
              <a:lnSpc>
                <a:spcPct val="120000"/>
              </a:lnSpc>
              <a:spcBef>
                <a:spcPts val="600"/>
              </a:spcBef>
              <a:buClrTx/>
              <a:buFont typeface="Wingdings" panose="05000000000000000000" pitchFamily="2" charset="2"/>
              <a:buChar char="Ø"/>
            </a:pPr>
            <a:r>
              <a:rPr lang="zh-CN" altLang="en-US" sz="2400" b="0" dirty="0">
                <a:solidFill>
                  <a:srgbClr val="FF0000"/>
                </a:solidFill>
                <a:latin typeface="微软雅黑" charset="0"/>
                <a:ea typeface="微软雅黑" charset="0"/>
                <a:cs typeface="微软雅黑" charset="0"/>
              </a:rPr>
              <a:t>方差</a:t>
            </a:r>
            <a:r>
              <a:rPr lang="en-US" altLang="zh-CN" sz="2400" b="0" dirty="0">
                <a:solidFill>
                  <a:srgbClr val="FF0000"/>
                </a:solidFill>
                <a:latin typeface="微软雅黑" charset="0"/>
                <a:ea typeface="微软雅黑" charset="0"/>
                <a:cs typeface="微软雅黑" charset="0"/>
              </a:rPr>
              <a:t>s</a:t>
            </a:r>
            <a:r>
              <a:rPr lang="en-US" altLang="zh-CN" sz="2400" b="0" baseline="30000" dirty="0">
                <a:solidFill>
                  <a:srgbClr val="FF0000"/>
                </a:solidFill>
                <a:latin typeface="微软雅黑" charset="0"/>
                <a:ea typeface="微软雅黑" charset="0"/>
                <a:cs typeface="微软雅黑" charset="0"/>
              </a:rPr>
              <a:t>2</a:t>
            </a:r>
            <a:r>
              <a:rPr lang="zh-CN" altLang="en-US" sz="2400" b="0" dirty="0">
                <a:solidFill>
                  <a:srgbClr val="FF0000"/>
                </a:solidFill>
                <a:latin typeface="微软雅黑" charset="0"/>
                <a:ea typeface="微软雅黑" charset="0"/>
                <a:cs typeface="微软雅黑" charset="0"/>
              </a:rPr>
              <a:t>：</a:t>
            </a:r>
            <a:r>
              <a:rPr lang="en-US" altLang="zh-CN" sz="2400" b="0" dirty="0">
                <a:solidFill>
                  <a:srgbClr val="1557AE"/>
                </a:solidFill>
                <a:latin typeface="微软雅黑" charset="0"/>
                <a:ea typeface="微软雅黑" charset="0"/>
                <a:cs typeface="微软雅黑" charset="0"/>
              </a:rPr>
              <a:t>n</a:t>
            </a:r>
            <a:r>
              <a:rPr lang="zh-CN" altLang="en-US" sz="2400" b="0" dirty="0">
                <a:solidFill>
                  <a:srgbClr val="1557AE"/>
                </a:solidFill>
                <a:latin typeface="微软雅黑" charset="0"/>
                <a:ea typeface="微软雅黑" charset="0"/>
                <a:cs typeface="微软雅黑" charset="0"/>
              </a:rPr>
              <a:t>个观测之</a:t>
            </a:r>
            <a:r>
              <a:rPr lang="en-US" altLang="zh-CN" sz="2400" b="0" dirty="0">
                <a:solidFill>
                  <a:srgbClr val="1557AE"/>
                </a:solidFill>
                <a:latin typeface="微软雅黑" charset="0"/>
                <a:ea typeface="微软雅黑" charset="0"/>
                <a:cs typeface="微软雅黑" charset="0"/>
              </a:rPr>
              <a:t>x</a:t>
            </a:r>
            <a:r>
              <a:rPr lang="en-US" altLang="zh-CN" sz="2400" b="0" baseline="-25000" dirty="0">
                <a:solidFill>
                  <a:srgbClr val="1557AE"/>
                </a:solidFill>
                <a:latin typeface="微软雅黑" charset="0"/>
                <a:ea typeface="微软雅黑" charset="0"/>
                <a:cs typeface="微软雅黑" charset="0"/>
              </a:rPr>
              <a:t>1</a:t>
            </a:r>
            <a:r>
              <a:rPr lang="en-US" altLang="zh-CN" sz="2400" b="0" dirty="0">
                <a:solidFill>
                  <a:srgbClr val="1557AE"/>
                </a:solidFill>
                <a:latin typeface="微软雅黑" charset="0"/>
                <a:ea typeface="微软雅黑" charset="0"/>
                <a:cs typeface="微软雅黑" charset="0"/>
              </a:rPr>
              <a:t>,x</a:t>
            </a:r>
            <a:r>
              <a:rPr lang="en-US" altLang="zh-CN" sz="2400" b="0" baseline="-25000" dirty="0">
                <a:solidFill>
                  <a:srgbClr val="1557AE"/>
                </a:solidFill>
                <a:latin typeface="微软雅黑" charset="0"/>
                <a:ea typeface="微软雅黑" charset="0"/>
                <a:cs typeface="微软雅黑" charset="0"/>
              </a:rPr>
              <a:t>2</a:t>
            </a:r>
            <a:r>
              <a:rPr lang="en-US" altLang="zh-CN" sz="2400" b="0" dirty="0">
                <a:solidFill>
                  <a:srgbClr val="1557AE"/>
                </a:solidFill>
                <a:latin typeface="微软雅黑" charset="0"/>
                <a:ea typeface="微软雅黑" charset="0"/>
                <a:cs typeface="微软雅黑" charset="0"/>
              </a:rPr>
              <a:t>...</a:t>
            </a:r>
            <a:r>
              <a:rPr lang="en-US" altLang="zh-CN" sz="2400" b="0" dirty="0" err="1">
                <a:solidFill>
                  <a:srgbClr val="1557AE"/>
                </a:solidFill>
                <a:latin typeface="微软雅黑" charset="0"/>
                <a:ea typeface="微软雅黑" charset="0"/>
                <a:cs typeface="微软雅黑" charset="0"/>
              </a:rPr>
              <a:t>x</a:t>
            </a:r>
            <a:r>
              <a:rPr lang="en-US" altLang="zh-CN" sz="2400" b="0" baseline="-25000" dirty="0" err="1">
                <a:solidFill>
                  <a:srgbClr val="1557AE"/>
                </a:solidFill>
                <a:latin typeface="微软雅黑" charset="0"/>
                <a:ea typeface="微软雅黑" charset="0"/>
                <a:cs typeface="微软雅黑" charset="0"/>
              </a:rPr>
              <a:t>n</a:t>
            </a:r>
            <a:r>
              <a:rPr lang="zh-CN" altLang="en-US" sz="2400" b="0" dirty="0">
                <a:solidFill>
                  <a:srgbClr val="1557AE"/>
                </a:solidFill>
                <a:latin typeface="微软雅黑" charset="0"/>
                <a:ea typeface="微软雅黑" charset="0"/>
                <a:cs typeface="微软雅黑" charset="0"/>
              </a:rPr>
              <a:t>的方差是</a:t>
            </a:r>
            <a:endParaRPr lang="zh-CN" altLang="en-US" sz="2400" b="0" dirty="0">
              <a:solidFill>
                <a:srgbClr val="1557AE"/>
              </a:solidFill>
              <a:latin typeface="微软雅黑" charset="0"/>
              <a:ea typeface="微软雅黑" charset="0"/>
              <a:cs typeface="微软雅黑" charset="0"/>
            </a:endParaRPr>
          </a:p>
          <a:p>
            <a:pPr lvl="1" eaLnBrk="1" hangingPunct="1">
              <a:lnSpc>
                <a:spcPct val="120000"/>
              </a:lnSpc>
              <a:spcBef>
                <a:spcPts val="600"/>
              </a:spcBef>
              <a:buClrTx/>
              <a:buFont typeface="Wingdings" panose="05000000000000000000" pitchFamily="2" charset="2"/>
              <a:buChar char="ü"/>
            </a:pPr>
            <a:endParaRPr lang="en-US" altLang="zh-CN" sz="2400" b="0" dirty="0">
              <a:solidFill>
                <a:srgbClr val="0000FF"/>
              </a:solidFill>
              <a:latin typeface="微软雅黑" charset="0"/>
              <a:ea typeface="微软雅黑" charset="0"/>
              <a:cs typeface="微软雅黑" charset="0"/>
            </a:endParaRPr>
          </a:p>
          <a:p>
            <a:pPr lvl="1" eaLnBrk="1" hangingPunct="1">
              <a:lnSpc>
                <a:spcPct val="120000"/>
              </a:lnSpc>
              <a:spcBef>
                <a:spcPts val="600"/>
              </a:spcBef>
              <a:buClrTx/>
              <a:buFont typeface="Wingdings" panose="05000000000000000000" pitchFamily="2" charset="2"/>
              <a:buChar char="ü"/>
            </a:pPr>
            <a:endParaRPr lang="en-US" altLang="zh-CN" sz="2400" b="0" dirty="0">
              <a:solidFill>
                <a:srgbClr val="0000FF"/>
              </a:solidFill>
              <a:latin typeface="微软雅黑" charset="0"/>
              <a:ea typeface="微软雅黑" charset="0"/>
              <a:cs typeface="微软雅黑" charset="0"/>
            </a:endParaRPr>
          </a:p>
          <a:p>
            <a:pPr lvl="1" eaLnBrk="1" hangingPunct="1">
              <a:lnSpc>
                <a:spcPct val="120000"/>
              </a:lnSpc>
              <a:spcBef>
                <a:spcPts val="600"/>
              </a:spcBef>
              <a:buClrTx/>
              <a:buFont typeface="Wingdings" panose="05000000000000000000" pitchFamily="2" charset="2"/>
              <a:buChar char="Ø"/>
            </a:pPr>
            <a:r>
              <a:rPr lang="zh-CN" altLang="en-US" sz="2400" b="0" dirty="0">
                <a:solidFill>
                  <a:srgbClr val="FF0000"/>
                </a:solidFill>
                <a:latin typeface="微软雅黑" charset="0"/>
                <a:ea typeface="微软雅黑" charset="0"/>
                <a:cs typeface="微软雅黑" charset="0"/>
              </a:rPr>
              <a:t>标准差</a:t>
            </a:r>
            <a:r>
              <a:rPr lang="en-US" altLang="zh-CN" sz="2400" b="0" dirty="0">
                <a:solidFill>
                  <a:srgbClr val="FF0000"/>
                </a:solidFill>
                <a:latin typeface="微软雅黑" charset="0"/>
                <a:ea typeface="微软雅黑" charset="0"/>
                <a:cs typeface="微软雅黑" charset="0"/>
              </a:rPr>
              <a:t>s</a:t>
            </a:r>
            <a:r>
              <a:rPr lang="zh-CN" altLang="en-US" sz="2400" b="0" dirty="0">
                <a:solidFill>
                  <a:srgbClr val="FF0000"/>
                </a:solidFill>
                <a:latin typeface="微软雅黑" charset="0"/>
                <a:ea typeface="微软雅黑" charset="0"/>
                <a:cs typeface="微软雅黑" charset="0"/>
              </a:rPr>
              <a:t>是方差</a:t>
            </a:r>
            <a:r>
              <a:rPr lang="en-US" altLang="zh-CN" sz="2400" b="0" dirty="0">
                <a:solidFill>
                  <a:srgbClr val="FF0000"/>
                </a:solidFill>
                <a:latin typeface="微软雅黑" charset="0"/>
                <a:ea typeface="微软雅黑" charset="0"/>
                <a:cs typeface="微软雅黑" charset="0"/>
              </a:rPr>
              <a:t>s</a:t>
            </a:r>
            <a:r>
              <a:rPr lang="en-US" altLang="zh-CN" sz="2400" b="0" baseline="30000" dirty="0">
                <a:solidFill>
                  <a:srgbClr val="FF0000"/>
                </a:solidFill>
                <a:latin typeface="微软雅黑" charset="0"/>
                <a:ea typeface="微软雅黑" charset="0"/>
                <a:cs typeface="微软雅黑" charset="0"/>
              </a:rPr>
              <a:t>2</a:t>
            </a:r>
            <a:r>
              <a:rPr lang="zh-CN" altLang="en-US" sz="2400" b="0" dirty="0">
                <a:solidFill>
                  <a:srgbClr val="FF0000"/>
                </a:solidFill>
                <a:latin typeface="微软雅黑" charset="0"/>
                <a:ea typeface="微软雅黑" charset="0"/>
                <a:cs typeface="微软雅黑" charset="0"/>
              </a:rPr>
              <a:t>的平方根</a:t>
            </a:r>
            <a:endParaRPr lang="zh-CN" altLang="en-US" sz="2400" b="0" dirty="0">
              <a:solidFill>
                <a:srgbClr val="FF0000"/>
              </a:solidFill>
              <a:latin typeface="微软雅黑" charset="0"/>
              <a:ea typeface="微软雅黑" charset="0"/>
              <a:cs typeface="微软雅黑" charset="0"/>
            </a:endParaRPr>
          </a:p>
          <a:p>
            <a:pPr lvl="2" eaLnBrk="1" hangingPunct="1">
              <a:lnSpc>
                <a:spcPct val="120000"/>
              </a:lnSpc>
              <a:spcBef>
                <a:spcPts val="600"/>
              </a:spcBef>
              <a:buFont typeface="Wingdings" panose="05000000000000000000" pitchFamily="2" charset="2"/>
              <a:buChar char=""/>
            </a:pPr>
            <a:r>
              <a:rPr lang="zh-CN" altLang="en-US" sz="2000" b="0" dirty="0">
                <a:solidFill>
                  <a:srgbClr val="1557AE"/>
                </a:solidFill>
                <a:latin typeface="微软雅黑" charset="0"/>
                <a:ea typeface="微软雅黑" charset="0"/>
                <a:cs typeface="微软雅黑" charset="0"/>
              </a:rPr>
              <a:t>标准差</a:t>
            </a:r>
            <a:r>
              <a:rPr lang="en-US" altLang="zh-CN" sz="2000" b="0" dirty="0">
                <a:solidFill>
                  <a:srgbClr val="1557AE"/>
                </a:solidFill>
                <a:latin typeface="微软雅黑" charset="0"/>
                <a:ea typeface="微软雅黑" charset="0"/>
                <a:cs typeface="微软雅黑" charset="0"/>
              </a:rPr>
              <a:t>s</a:t>
            </a:r>
            <a:r>
              <a:rPr lang="zh-CN" altLang="en-US" sz="2000" b="0" dirty="0">
                <a:solidFill>
                  <a:srgbClr val="1557AE"/>
                </a:solidFill>
                <a:latin typeface="微软雅黑" charset="0"/>
                <a:ea typeface="微软雅黑" charset="0"/>
                <a:cs typeface="微软雅黑" charset="0"/>
              </a:rPr>
              <a:t>是关于平均值的离散的度量，因此仅当选平均值做中心度量时使用</a:t>
            </a:r>
            <a:endParaRPr lang="zh-CN" altLang="en-US" sz="2000" b="0" dirty="0">
              <a:solidFill>
                <a:srgbClr val="1557AE"/>
              </a:solidFill>
              <a:latin typeface="微软雅黑" charset="0"/>
              <a:ea typeface="微软雅黑" charset="0"/>
              <a:cs typeface="微软雅黑" charset="0"/>
            </a:endParaRPr>
          </a:p>
          <a:p>
            <a:pPr lvl="2" eaLnBrk="1" hangingPunct="1">
              <a:lnSpc>
                <a:spcPct val="120000"/>
              </a:lnSpc>
              <a:spcBef>
                <a:spcPts val="600"/>
              </a:spcBef>
              <a:buFont typeface="Wingdings" panose="05000000000000000000" pitchFamily="2" charset="2"/>
              <a:buChar char=""/>
            </a:pPr>
            <a:r>
              <a:rPr lang="zh-CN" altLang="en-US" sz="2000" b="0" dirty="0">
                <a:solidFill>
                  <a:srgbClr val="1557AE"/>
                </a:solidFill>
                <a:latin typeface="微软雅黑" charset="0"/>
                <a:ea typeface="微软雅黑" charset="0"/>
                <a:cs typeface="微软雅黑" charset="0"/>
              </a:rPr>
              <a:t>所有观测值相同则 </a:t>
            </a:r>
            <a:r>
              <a:rPr lang="en-US" altLang="zh-CN" sz="2000" b="0" dirty="0">
                <a:solidFill>
                  <a:srgbClr val="1557AE"/>
                </a:solidFill>
                <a:latin typeface="微软雅黑" charset="0"/>
                <a:ea typeface="微软雅黑" charset="0"/>
                <a:cs typeface="微软雅黑" charset="0"/>
              </a:rPr>
              <a:t>s</a:t>
            </a:r>
            <a:r>
              <a:rPr lang="zh-CN" altLang="en-US" sz="2000" b="0" dirty="0">
                <a:solidFill>
                  <a:srgbClr val="1557AE"/>
                </a:solidFill>
                <a:latin typeface="微软雅黑" charset="0"/>
                <a:ea typeface="微软雅黑" charset="0"/>
                <a:cs typeface="微软雅黑" charset="0"/>
              </a:rPr>
              <a:t>＝</a:t>
            </a:r>
            <a:r>
              <a:rPr lang="en-US" altLang="zh-CN" sz="2000" b="0" dirty="0">
                <a:solidFill>
                  <a:srgbClr val="1557AE"/>
                </a:solidFill>
                <a:latin typeface="微软雅黑" charset="0"/>
                <a:ea typeface="微软雅黑" charset="0"/>
                <a:cs typeface="微软雅黑" charset="0"/>
              </a:rPr>
              <a:t>0</a:t>
            </a:r>
            <a:r>
              <a:rPr lang="zh-CN" altLang="en-US" sz="2000" b="0" dirty="0">
                <a:solidFill>
                  <a:srgbClr val="1557AE"/>
                </a:solidFill>
                <a:latin typeface="微软雅黑" charset="0"/>
                <a:ea typeface="微软雅黑" charset="0"/>
                <a:cs typeface="微软雅黑" charset="0"/>
              </a:rPr>
              <a:t>，否则 </a:t>
            </a:r>
            <a:r>
              <a:rPr lang="en-US" altLang="zh-CN" sz="2000" b="0" dirty="0">
                <a:solidFill>
                  <a:srgbClr val="1557AE"/>
                </a:solidFill>
                <a:latin typeface="微软雅黑" charset="0"/>
                <a:ea typeface="微软雅黑" charset="0"/>
                <a:cs typeface="微软雅黑" charset="0"/>
              </a:rPr>
              <a:t>s&gt;0</a:t>
            </a:r>
            <a:endParaRPr lang="zh-CN" altLang="en-US" sz="2000" b="0" dirty="0">
              <a:solidFill>
                <a:srgbClr val="1557AE"/>
              </a:solidFill>
              <a:latin typeface="微软雅黑" charset="0"/>
              <a:ea typeface="微软雅黑" charset="0"/>
              <a:cs typeface="微软雅黑" charset="0"/>
            </a:endParaRPr>
          </a:p>
        </p:txBody>
      </p:sp>
      <p:graphicFrame>
        <p:nvGraphicFramePr>
          <p:cNvPr id="2" name="对象 1"/>
          <p:cNvGraphicFramePr>
            <a:graphicFrameLocks noChangeAspect="1"/>
          </p:cNvGraphicFramePr>
          <p:nvPr/>
        </p:nvGraphicFramePr>
        <p:xfrm>
          <a:off x="558800" y="3665538"/>
          <a:ext cx="7035800" cy="892175"/>
        </p:xfrm>
        <a:graphic>
          <a:graphicData uri="http://schemas.openxmlformats.org/presentationml/2006/ole">
            <mc:AlternateContent xmlns:mc="http://schemas.openxmlformats.org/markup-compatibility/2006">
              <mc:Choice xmlns:v="urn:schemas-microsoft-com:vml" Requires="v">
                <p:oleObj spid="_x0000_s13409" name="公式" r:id="rId1" imgW="84124800" imgH="10668000" progId="Equation.3">
                  <p:embed/>
                </p:oleObj>
              </mc:Choice>
              <mc:Fallback>
                <p:oleObj name="公式" r:id="rId1" imgW="84124800" imgH="10668000" progId="Equation.3">
                  <p:embed/>
                  <p:pic>
                    <p:nvPicPr>
                      <p:cNvPr id="0" name="Object 2"/>
                      <p:cNvPicPr>
                        <a:picLocks noChangeAspect="1" noChangeArrowheads="1"/>
                      </p:cNvPicPr>
                      <p:nvPr/>
                    </p:nvPicPr>
                    <p:blipFill>
                      <a:blip r:embed="rId2"/>
                      <a:srcRect/>
                      <a:stretch>
                        <a:fillRect/>
                      </a:stretch>
                    </p:blipFill>
                    <p:spPr bwMode="auto">
                      <a:xfrm>
                        <a:off x="558800" y="3665538"/>
                        <a:ext cx="703580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7" name="Rectangle 3"/>
          <p:cNvSpPr txBox="1">
            <a:spLocks noChangeArrowheads="1"/>
          </p:cNvSpPr>
          <p:nvPr/>
        </p:nvSpPr>
        <p:spPr bwMode="auto">
          <a:xfrm>
            <a:off x="461392" y="1628800"/>
            <a:ext cx="80772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FF0000"/>
              </a:buClr>
              <a:buFont typeface="Wingdings" panose="05000000000000000000" pitchFamily="2" charset="2"/>
              <a:buChar char="n"/>
            </a:pPr>
            <a:r>
              <a:rPr lang="zh-CN" altLang="en-US" sz="2600" b="0" dirty="0">
                <a:solidFill>
                  <a:srgbClr val="FF0000"/>
                </a:solidFill>
                <a:latin typeface="微软雅黑" charset="0"/>
                <a:ea typeface="微软雅黑" charset="0"/>
                <a:cs typeface="微软雅黑" charset="0"/>
              </a:rPr>
              <a:t>例子：</a:t>
            </a:r>
            <a:r>
              <a:rPr lang="en-US" altLang="zh-CN" sz="2600" b="0" dirty="0">
                <a:solidFill>
                  <a:srgbClr val="1557AE"/>
                </a:solidFill>
                <a:latin typeface="微软雅黑" charset="0"/>
                <a:ea typeface="微软雅黑" charset="0"/>
                <a:cs typeface="微软雅黑" charset="0"/>
              </a:rPr>
              <a:t>5</a:t>
            </a:r>
            <a:r>
              <a:rPr lang="zh-CN" altLang="en-US" sz="2600" b="0" dirty="0">
                <a:solidFill>
                  <a:srgbClr val="1557AE"/>
                </a:solidFill>
                <a:latin typeface="微软雅黑" charset="0"/>
                <a:ea typeface="微软雅黑" charset="0"/>
                <a:cs typeface="微软雅黑" charset="0"/>
              </a:rPr>
              <a:t>个数据</a:t>
            </a:r>
            <a:r>
              <a:rPr lang="en-US" altLang="zh-CN" sz="2600" b="0" dirty="0">
                <a:solidFill>
                  <a:srgbClr val="1557AE"/>
                </a:solidFill>
                <a:latin typeface="微软雅黑" charset="0"/>
                <a:ea typeface="微软雅黑" charset="0"/>
                <a:cs typeface="微软雅黑" charset="0"/>
              </a:rPr>
              <a:t>  30.8, 31.7, 30.1, 31.6, 32.1</a:t>
            </a:r>
            <a:endParaRPr lang="en-US" altLang="zh-CN" sz="2600" b="0" dirty="0">
              <a:solidFill>
                <a:srgbClr val="1557AE"/>
              </a:solidFill>
              <a:latin typeface="微软雅黑" charset="0"/>
              <a:ea typeface="微软雅黑" charset="0"/>
              <a:cs typeface="微软雅黑" charset="0"/>
            </a:endParaRPr>
          </a:p>
          <a:p>
            <a:pPr lvl="1" eaLnBrk="1" hangingPunct="1">
              <a:lnSpc>
                <a:spcPct val="120000"/>
              </a:lnSpc>
              <a:spcBef>
                <a:spcPts val="600"/>
              </a:spcBef>
              <a:buClrTx/>
              <a:buFont typeface="Wingdings" panose="05000000000000000000" pitchFamily="2" charset="2"/>
              <a:buChar char="Ø"/>
            </a:pPr>
            <a:r>
              <a:rPr lang="zh-CN" altLang="en-US" sz="2400" b="0" dirty="0">
                <a:solidFill>
                  <a:srgbClr val="FF0000"/>
                </a:solidFill>
                <a:latin typeface="微软雅黑" charset="0"/>
                <a:ea typeface="微软雅黑" charset="0"/>
                <a:cs typeface="微软雅黑" charset="0"/>
              </a:rPr>
              <a:t>平均值：</a:t>
            </a:r>
            <a:r>
              <a:rPr lang="en-US" altLang="zh-CN" sz="2400" b="0" dirty="0">
                <a:solidFill>
                  <a:srgbClr val="FF0000"/>
                </a:solidFill>
                <a:latin typeface="微软雅黑" charset="0"/>
                <a:ea typeface="微软雅黑" charset="0"/>
                <a:cs typeface="微软雅黑" charset="0"/>
              </a:rPr>
              <a:t>31.26</a:t>
            </a:r>
            <a:endParaRPr lang="en-US" altLang="zh-CN" sz="2400" b="0" dirty="0">
              <a:solidFill>
                <a:srgbClr val="FF0000"/>
              </a:solidFill>
              <a:latin typeface="微软雅黑" charset="0"/>
              <a:ea typeface="微软雅黑" charset="0"/>
              <a:cs typeface="微软雅黑" charset="0"/>
            </a:endParaRPr>
          </a:p>
        </p:txBody>
      </p:sp>
      <p:graphicFrame>
        <p:nvGraphicFramePr>
          <p:cNvPr id="4" name="对象 3"/>
          <p:cNvGraphicFramePr>
            <a:graphicFrameLocks noChangeAspect="1"/>
          </p:cNvGraphicFramePr>
          <p:nvPr/>
        </p:nvGraphicFramePr>
        <p:xfrm>
          <a:off x="605407" y="2780928"/>
          <a:ext cx="7933185" cy="2611438"/>
        </p:xfrm>
        <a:graphic>
          <a:graphicData uri="http://schemas.openxmlformats.org/presentationml/2006/ole">
            <mc:AlternateContent xmlns:mc="http://schemas.openxmlformats.org/markup-compatibility/2006">
              <mc:Choice xmlns:v="urn:schemas-microsoft-com:vml" Requires="v">
                <p:oleObj spid="_x0000_s13409" name="公式" r:id="rId1" imgW="151485600" imgH="42062400" progId="Equation.3">
                  <p:embed/>
                </p:oleObj>
              </mc:Choice>
              <mc:Fallback>
                <p:oleObj name="公式" r:id="rId1" imgW="151485600" imgH="42062400" progId="Equation.3">
                  <p:embed/>
                  <p:pic>
                    <p:nvPicPr>
                      <p:cNvPr id="0" name="Object 12"/>
                      <p:cNvPicPr>
                        <a:picLocks noChangeAspect="1" noChangeArrowheads="1"/>
                      </p:cNvPicPr>
                      <p:nvPr/>
                    </p:nvPicPr>
                    <p:blipFill>
                      <a:blip r:embed="rId2"/>
                      <a:srcRect/>
                      <a:stretch>
                        <a:fillRect/>
                      </a:stretch>
                    </p:blipFill>
                    <p:spPr bwMode="auto">
                      <a:xfrm>
                        <a:off x="605407" y="2780928"/>
                        <a:ext cx="7933185" cy="2611438"/>
                      </a:xfrm>
                      <a:prstGeom prst="rect">
                        <a:avLst/>
                      </a:prstGeom>
                      <a:noFill/>
                      <a:ln>
                        <a:noFill/>
                      </a:ln>
                      <a:effectLst/>
                    </p:spPr>
                  </p:pic>
                </p:oleObj>
              </mc:Fallback>
            </mc:AlternateContent>
          </a:graphicData>
        </a:graphic>
      </p:graphicFrame>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pic>
        <p:nvPicPr>
          <p:cNvPr id="6"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l="-1" r="48406" b="1650"/>
          <a:stretch>
            <a:fillRect/>
          </a:stretch>
        </p:blipFill>
        <p:spPr bwMode="auto">
          <a:xfrm>
            <a:off x="4788024" y="1340768"/>
            <a:ext cx="3996000" cy="5040000"/>
          </a:xfrm>
          <a:prstGeom prst="rect">
            <a:avLst/>
          </a:prstGeom>
          <a:noFill/>
          <a:ln>
            <a:noFill/>
          </a:ln>
          <a:effectLst>
            <a:outerShdw dist="35921" dir="2700000" algn="ctr" rotWithShape="0">
              <a:schemeClr val="bg1"/>
            </a:outerShdw>
          </a:effectLst>
          <a:extLst>
            <a:ext uri="{909E8E84-426E-40DD-AFC4-6F175D3DCCD1}">
              <a14:hiddenFill xmlns:a14="http://schemas.microsoft.com/office/drawing/2010/main">
                <a:solidFill>
                  <a:srgbClr val="FFF05B"/>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Lst>
        </p:spPr>
      </p:pic>
      <p:sp>
        <p:nvSpPr>
          <p:cNvPr id="8" name="Rectangle 16"/>
          <p:cNvSpPr txBox="1">
            <a:spLocks noChangeArrowheads="1"/>
          </p:cNvSpPr>
          <p:nvPr/>
        </p:nvSpPr>
        <p:spPr bwMode="auto">
          <a:xfrm>
            <a:off x="317190" y="1700808"/>
            <a:ext cx="4362314" cy="496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a:lnSpc>
                <a:spcPct val="120000"/>
              </a:lnSpc>
              <a:spcBef>
                <a:spcPts val="1200"/>
              </a:spcBef>
              <a:buClr>
                <a:srgbClr val="1557AE"/>
              </a:buClr>
              <a:buFont typeface="Wingdings" panose="05000000000000000000" pitchFamily="2" charset="2"/>
              <a:buChar char="ü"/>
            </a:pPr>
            <a:r>
              <a:rPr lang="en-US" altLang="zh-CN" sz="2000" b="0" dirty="0">
                <a:solidFill>
                  <a:srgbClr val="1557AE"/>
                </a:solidFill>
                <a:latin typeface="微软雅黑" charset="0"/>
                <a:ea typeface="微软雅黑" charset="0"/>
                <a:cs typeface="微软雅黑" charset="0"/>
              </a:rPr>
              <a:t>68.26% </a:t>
            </a:r>
            <a:r>
              <a:rPr lang="zh-CN" altLang="en-US" sz="2000" b="0" dirty="0">
                <a:solidFill>
                  <a:srgbClr val="1557AE"/>
                </a:solidFill>
                <a:latin typeface="微软雅黑" charset="0"/>
                <a:ea typeface="微软雅黑" charset="0"/>
                <a:cs typeface="微软雅黑" charset="0"/>
              </a:rPr>
              <a:t>的数据分布在</a:t>
            </a:r>
            <a:r>
              <a:rPr lang="en-US" altLang="zh-CN" sz="2000" b="0" dirty="0">
                <a:solidFill>
                  <a:srgbClr val="1557AE"/>
                </a:solidFill>
                <a:latin typeface="微软雅黑" charset="0"/>
                <a:ea typeface="微软雅黑" charset="0"/>
                <a:cs typeface="微软雅黑" charset="0"/>
              </a:rPr>
              <a:t> [µ</a:t>
            </a:r>
            <a:r>
              <a:rPr lang="en-US" sz="2000" b="0" noProof="1">
                <a:solidFill>
                  <a:srgbClr val="1557AE"/>
                </a:solidFill>
                <a:latin typeface="微软雅黑" charset="0"/>
                <a:ea typeface="微软雅黑" charset="0"/>
                <a:cs typeface="微软雅黑" charset="0"/>
              </a:rPr>
              <a:t>±s</a:t>
            </a:r>
            <a:r>
              <a:rPr lang="en-US" altLang="zh-CN" sz="2000" b="0" dirty="0">
                <a:solidFill>
                  <a:srgbClr val="1557AE"/>
                </a:solidFill>
                <a:latin typeface="微软雅黑" charset="0"/>
                <a:ea typeface="微软雅黑" charset="0"/>
                <a:cs typeface="微软雅黑" charset="0"/>
              </a:rPr>
              <a:t>] = [31.6±0.8] = [30.8, 32.4]</a:t>
            </a:r>
            <a:endParaRPr lang="en-US" altLang="zh-CN" sz="2000" b="0" dirty="0">
              <a:solidFill>
                <a:srgbClr val="1557AE"/>
              </a:solidFill>
              <a:latin typeface="微软雅黑" charset="0"/>
              <a:ea typeface="微软雅黑" charset="0"/>
              <a:cs typeface="微软雅黑" charset="0"/>
            </a:endParaRPr>
          </a:p>
          <a:p>
            <a:pPr>
              <a:lnSpc>
                <a:spcPct val="120000"/>
              </a:lnSpc>
              <a:spcBef>
                <a:spcPts val="1200"/>
              </a:spcBef>
              <a:buClr>
                <a:srgbClr val="1557AE"/>
              </a:buClr>
              <a:buFont typeface="Wingdings" panose="05000000000000000000" pitchFamily="2" charset="2"/>
              <a:buChar char="ü"/>
            </a:pPr>
            <a:r>
              <a:rPr lang="en-US" altLang="zh-CN" sz="2000" b="0" dirty="0">
                <a:solidFill>
                  <a:srgbClr val="1557AE"/>
                </a:solidFill>
                <a:latin typeface="微软雅黑" charset="0"/>
                <a:ea typeface="微软雅黑" charset="0"/>
                <a:cs typeface="微软雅黑" charset="0"/>
              </a:rPr>
              <a:t>95.44%</a:t>
            </a:r>
            <a:r>
              <a:rPr lang="zh-CN" altLang="en-US" sz="2000" b="0" dirty="0">
                <a:solidFill>
                  <a:srgbClr val="1557AE"/>
                </a:solidFill>
                <a:latin typeface="微软雅黑" charset="0"/>
                <a:ea typeface="微软雅黑" charset="0"/>
                <a:cs typeface="微软雅黑" charset="0"/>
              </a:rPr>
              <a:t>的数据分布在</a:t>
            </a:r>
            <a:r>
              <a:rPr lang="en-US" altLang="zh-CN" sz="2000" b="0" dirty="0">
                <a:solidFill>
                  <a:srgbClr val="1557AE"/>
                </a:solidFill>
                <a:latin typeface="微软雅黑" charset="0"/>
                <a:ea typeface="微软雅黑" charset="0"/>
                <a:cs typeface="微软雅黑" charset="0"/>
              </a:rPr>
              <a:t> [µ</a:t>
            </a:r>
            <a:r>
              <a:rPr lang="en-US" sz="2000" b="0" noProof="1">
                <a:solidFill>
                  <a:srgbClr val="1557AE"/>
                </a:solidFill>
                <a:latin typeface="微软雅黑" charset="0"/>
                <a:ea typeface="微软雅黑" charset="0"/>
                <a:cs typeface="微软雅黑" charset="0"/>
              </a:rPr>
              <a:t>±</a:t>
            </a:r>
            <a:r>
              <a:rPr lang="en-US" altLang="zh-CN" sz="2000" b="0" dirty="0">
                <a:solidFill>
                  <a:srgbClr val="1557AE"/>
                </a:solidFill>
                <a:latin typeface="微软雅黑" charset="0"/>
                <a:ea typeface="微软雅黑" charset="0"/>
                <a:cs typeface="微软雅黑" charset="0"/>
              </a:rPr>
              <a:t>2</a:t>
            </a:r>
            <a:r>
              <a:rPr lang="en-US" sz="2000" b="0" noProof="1">
                <a:solidFill>
                  <a:srgbClr val="1557AE"/>
                </a:solidFill>
                <a:latin typeface="微软雅黑" charset="0"/>
                <a:ea typeface="微软雅黑" charset="0"/>
                <a:cs typeface="微软雅黑" charset="0"/>
              </a:rPr>
              <a:t>s</a:t>
            </a:r>
            <a:r>
              <a:rPr lang="en-US" altLang="zh-CN" sz="2000" b="0" dirty="0">
                <a:solidFill>
                  <a:srgbClr val="1557AE"/>
                </a:solidFill>
                <a:latin typeface="微软雅黑" charset="0"/>
                <a:ea typeface="微软雅黑" charset="0"/>
                <a:cs typeface="微软雅黑" charset="0"/>
              </a:rPr>
              <a:t>] = [31.6±1.6] = [30.0, 33.2]</a:t>
            </a:r>
            <a:endParaRPr lang="en-US" altLang="zh-CN" sz="2000" b="0" dirty="0">
              <a:solidFill>
                <a:srgbClr val="1557AE"/>
              </a:solidFill>
              <a:latin typeface="微软雅黑" charset="0"/>
              <a:ea typeface="微软雅黑" charset="0"/>
              <a:cs typeface="微软雅黑" charset="0"/>
            </a:endParaRPr>
          </a:p>
          <a:p>
            <a:pPr>
              <a:lnSpc>
                <a:spcPct val="120000"/>
              </a:lnSpc>
              <a:spcBef>
                <a:spcPts val="1200"/>
              </a:spcBef>
              <a:buClr>
                <a:srgbClr val="1557AE"/>
              </a:buClr>
              <a:buFont typeface="Wingdings" panose="05000000000000000000" pitchFamily="2" charset="2"/>
              <a:buChar char="ü"/>
            </a:pPr>
            <a:r>
              <a:rPr lang="en-US" altLang="zh-CN" sz="2000" b="0" dirty="0">
                <a:solidFill>
                  <a:srgbClr val="1557AE"/>
                </a:solidFill>
                <a:latin typeface="微软雅黑" charset="0"/>
                <a:ea typeface="微软雅黑" charset="0"/>
                <a:cs typeface="微软雅黑" charset="0"/>
              </a:rPr>
              <a:t>99.73%</a:t>
            </a:r>
            <a:r>
              <a:rPr lang="zh-CN" altLang="en-US" sz="2000" b="0" dirty="0">
                <a:solidFill>
                  <a:srgbClr val="1557AE"/>
                </a:solidFill>
                <a:latin typeface="微软雅黑" charset="0"/>
                <a:ea typeface="微软雅黑" charset="0"/>
                <a:cs typeface="微软雅黑" charset="0"/>
              </a:rPr>
              <a:t>的数据分布在</a:t>
            </a:r>
            <a:br>
              <a:rPr lang="en-US" altLang="zh-CN" sz="2000" b="0" dirty="0">
                <a:solidFill>
                  <a:srgbClr val="1557AE"/>
                </a:solidFill>
                <a:latin typeface="微软雅黑" charset="0"/>
                <a:ea typeface="微软雅黑" charset="0"/>
                <a:cs typeface="微软雅黑" charset="0"/>
              </a:rPr>
            </a:br>
            <a:r>
              <a:rPr lang="en-US" altLang="zh-CN" sz="2000" b="0" dirty="0">
                <a:solidFill>
                  <a:srgbClr val="1557AE"/>
                </a:solidFill>
                <a:latin typeface="微软雅黑" charset="0"/>
                <a:ea typeface="微软雅黑" charset="0"/>
                <a:cs typeface="微软雅黑" charset="0"/>
              </a:rPr>
              <a:t>[µ</a:t>
            </a:r>
            <a:r>
              <a:rPr lang="en-US" sz="2000" b="0" noProof="1">
                <a:solidFill>
                  <a:srgbClr val="1557AE"/>
                </a:solidFill>
                <a:latin typeface="微软雅黑" charset="0"/>
                <a:ea typeface="微软雅黑" charset="0"/>
                <a:cs typeface="微软雅黑" charset="0"/>
              </a:rPr>
              <a:t>±</a:t>
            </a:r>
            <a:r>
              <a:rPr lang="en-US" altLang="zh-CN" sz="2000" b="0" dirty="0">
                <a:solidFill>
                  <a:srgbClr val="1557AE"/>
                </a:solidFill>
                <a:latin typeface="微软雅黑" charset="0"/>
                <a:ea typeface="微软雅黑" charset="0"/>
                <a:cs typeface="微软雅黑" charset="0"/>
              </a:rPr>
              <a:t>3</a:t>
            </a:r>
            <a:r>
              <a:rPr lang="en-US" sz="2000" b="0" noProof="1">
                <a:solidFill>
                  <a:srgbClr val="1557AE"/>
                </a:solidFill>
                <a:latin typeface="微软雅黑" charset="0"/>
                <a:ea typeface="微软雅黑" charset="0"/>
                <a:cs typeface="微软雅黑" charset="0"/>
              </a:rPr>
              <a:t>s</a:t>
            </a:r>
            <a:r>
              <a:rPr lang="en-US" altLang="zh-CN" sz="2000" b="0" dirty="0">
                <a:solidFill>
                  <a:srgbClr val="1557AE"/>
                </a:solidFill>
                <a:latin typeface="微软雅黑" charset="0"/>
                <a:ea typeface="微软雅黑" charset="0"/>
                <a:cs typeface="微软雅黑" charset="0"/>
              </a:rPr>
              <a:t>] = [31.6±2.4] = [29.2, 34.0]</a:t>
            </a:r>
            <a:endParaRPr lang="en-US" altLang="zh-CN" sz="2000" b="0" dirty="0">
              <a:solidFill>
                <a:srgbClr val="1557AE"/>
              </a:solidFill>
              <a:latin typeface="微软雅黑" charset="0"/>
              <a:ea typeface="微软雅黑" charset="0"/>
              <a:cs typeface="微软雅黑" charset="0"/>
            </a:endParaRPr>
          </a:p>
          <a:p>
            <a:pPr>
              <a:lnSpc>
                <a:spcPct val="120000"/>
              </a:lnSpc>
              <a:spcBef>
                <a:spcPts val="1200"/>
              </a:spcBef>
              <a:buClr>
                <a:srgbClr val="FF0000"/>
              </a:buClr>
              <a:buFont typeface="Wingdings" panose="05000000000000000000" pitchFamily="2" charset="2"/>
              <a:buChar char="ü"/>
            </a:pPr>
            <a:r>
              <a:rPr lang="zh-CN" altLang="en-US" sz="2000" b="0" dirty="0">
                <a:solidFill>
                  <a:srgbClr val="FF0000"/>
                </a:solidFill>
                <a:latin typeface="微软雅黑" charset="0"/>
                <a:ea typeface="微软雅黑" charset="0"/>
                <a:cs typeface="微软雅黑" charset="0"/>
              </a:rPr>
              <a:t>至少</a:t>
            </a:r>
            <a:r>
              <a:rPr lang="en-US" altLang="zh-CN" sz="2000" b="0" dirty="0">
                <a:solidFill>
                  <a:srgbClr val="FF0000"/>
                </a:solidFill>
                <a:latin typeface="微软雅黑" charset="0"/>
                <a:ea typeface="微软雅黑" charset="0"/>
                <a:cs typeface="微软雅黑" charset="0"/>
              </a:rPr>
              <a:t> (1 - 1/</a:t>
            </a:r>
            <a:r>
              <a:rPr lang="en-US" altLang="zh-CN" sz="2000" b="0" i="1" dirty="0">
                <a:solidFill>
                  <a:srgbClr val="FF0000"/>
                </a:solidFill>
                <a:latin typeface="微软雅黑" charset="0"/>
                <a:ea typeface="微软雅黑" charset="0"/>
                <a:cs typeface="微软雅黑" charset="0"/>
              </a:rPr>
              <a:t>k</a:t>
            </a:r>
            <a:r>
              <a:rPr lang="en-US" altLang="zh-CN" sz="2000" b="0" baseline="30000" dirty="0">
                <a:solidFill>
                  <a:srgbClr val="FF0000"/>
                </a:solidFill>
                <a:latin typeface="微软雅黑" charset="0"/>
                <a:ea typeface="微软雅黑" charset="0"/>
                <a:cs typeface="微软雅黑" charset="0"/>
              </a:rPr>
              <a:t>2</a:t>
            </a:r>
            <a:r>
              <a:rPr lang="en-US" altLang="zh-CN" sz="2000" b="0" dirty="0">
                <a:solidFill>
                  <a:srgbClr val="FF0000"/>
                </a:solidFill>
                <a:latin typeface="微软雅黑" charset="0"/>
                <a:ea typeface="微软雅黑" charset="0"/>
                <a:cs typeface="微软雅黑" charset="0"/>
              </a:rPr>
              <a:t> )</a:t>
            </a:r>
            <a:r>
              <a:rPr lang="zh-CN" altLang="en-US" sz="2000" b="0" dirty="0">
                <a:solidFill>
                  <a:srgbClr val="FF0000"/>
                </a:solidFill>
                <a:latin typeface="微软雅黑" charset="0"/>
                <a:ea typeface="微软雅黑" charset="0"/>
                <a:cs typeface="微软雅黑" charset="0"/>
              </a:rPr>
              <a:t>的数据分布在</a:t>
            </a:r>
            <a:br>
              <a:rPr lang="en-US" altLang="zh-CN" sz="2000" b="0" dirty="0">
                <a:solidFill>
                  <a:srgbClr val="FF0000"/>
                </a:solidFill>
                <a:latin typeface="微软雅黑" charset="0"/>
                <a:ea typeface="微软雅黑" charset="0"/>
                <a:cs typeface="微软雅黑" charset="0"/>
              </a:rPr>
            </a:br>
            <a:r>
              <a:rPr lang="en-US" altLang="zh-CN" sz="2000" b="0" dirty="0">
                <a:solidFill>
                  <a:srgbClr val="FF0000"/>
                </a:solidFill>
                <a:latin typeface="微软雅黑" charset="0"/>
                <a:ea typeface="微软雅黑" charset="0"/>
                <a:cs typeface="微软雅黑" charset="0"/>
              </a:rPr>
              <a:t>[µ-</a:t>
            </a:r>
            <a:r>
              <a:rPr lang="en-US" altLang="zh-CN" sz="2000" b="0" i="1" dirty="0" err="1">
                <a:solidFill>
                  <a:srgbClr val="FF0000"/>
                </a:solidFill>
                <a:latin typeface="微软雅黑" charset="0"/>
                <a:ea typeface="微软雅黑" charset="0"/>
                <a:cs typeface="微软雅黑" charset="0"/>
              </a:rPr>
              <a:t>ks</a:t>
            </a:r>
            <a:r>
              <a:rPr lang="en-US" altLang="zh-CN" sz="2000" b="0" dirty="0">
                <a:solidFill>
                  <a:srgbClr val="FF0000"/>
                </a:solidFill>
                <a:latin typeface="微软雅黑" charset="0"/>
                <a:ea typeface="微软雅黑" charset="0"/>
                <a:cs typeface="微软雅黑" charset="0"/>
              </a:rPr>
              <a:t>, µ+</a:t>
            </a:r>
            <a:r>
              <a:rPr lang="en-US" altLang="zh-CN" sz="2000" b="0" i="1" dirty="0" err="1">
                <a:solidFill>
                  <a:srgbClr val="FF0000"/>
                </a:solidFill>
                <a:latin typeface="微软雅黑" charset="0"/>
                <a:ea typeface="微软雅黑" charset="0"/>
                <a:cs typeface="微软雅黑" charset="0"/>
              </a:rPr>
              <a:t>k</a:t>
            </a:r>
            <a:r>
              <a:rPr lang="en-US" altLang="zh-CN" sz="2000" b="0" dirty="0" err="1">
                <a:solidFill>
                  <a:srgbClr val="FF0000"/>
                </a:solidFill>
                <a:latin typeface="微软雅黑" charset="0"/>
                <a:ea typeface="微软雅黑" charset="0"/>
                <a:cs typeface="微软雅黑" charset="0"/>
              </a:rPr>
              <a:t>s</a:t>
            </a:r>
            <a:r>
              <a:rPr lang="en-US" altLang="zh-CN" sz="2000" b="0" dirty="0">
                <a:solidFill>
                  <a:srgbClr val="FF0000"/>
                </a:solidFill>
                <a:latin typeface="微软雅黑" charset="0"/>
                <a:ea typeface="微软雅黑" charset="0"/>
                <a:cs typeface="微软雅黑" charset="0"/>
              </a:rPr>
              <a:t>]</a:t>
            </a:r>
            <a:endParaRPr lang="en-US" altLang="zh-CN" sz="2000" b="0" dirty="0">
              <a:solidFill>
                <a:srgbClr val="FF0000"/>
              </a:solidFill>
              <a:latin typeface="微软雅黑" charset="0"/>
              <a:ea typeface="微软雅黑" charset="0"/>
              <a:cs typeface="微软雅黑" charset="0"/>
            </a:endParaRPr>
          </a:p>
          <a:p>
            <a:pPr>
              <a:lnSpc>
                <a:spcPct val="120000"/>
              </a:lnSpc>
              <a:spcBef>
                <a:spcPts val="1200"/>
              </a:spcBef>
              <a:buFont typeface="Wingdings" panose="05000000000000000000" pitchFamily="2" charset="2"/>
              <a:buChar char="ü"/>
            </a:pPr>
            <a:endParaRPr lang="en-US" altLang="zh-CN" sz="2400" b="0" dirty="0">
              <a:latin typeface="微软雅黑" charset="0"/>
              <a:ea typeface="微软雅黑" charset="0"/>
              <a:cs typeface="微软雅黑" charset="0"/>
            </a:endParaRPr>
          </a:p>
        </p:txBody>
      </p:sp>
      <p:sp>
        <p:nvSpPr>
          <p:cNvPr id="7"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7" name="Rectangle 3"/>
          <p:cNvSpPr>
            <a:spLocks noGrp="1" noChangeArrowheads="1"/>
          </p:cNvSpPr>
          <p:nvPr>
            <p:ph idx="1"/>
          </p:nvPr>
        </p:nvSpPr>
        <p:spPr>
          <a:xfrm>
            <a:off x="317190" y="1268760"/>
            <a:ext cx="4557713" cy="4629150"/>
          </a:xfrm>
        </p:spPr>
        <p:txBody>
          <a:bodyPr/>
          <a:lstStyle/>
          <a:p>
            <a:pPr eaLnBrk="1" hangingPunct="1">
              <a:lnSpc>
                <a:spcPct val="120000"/>
              </a:lnSpc>
              <a:spcBef>
                <a:spcPts val="600"/>
              </a:spcBef>
              <a:buFont typeface="Wingdings" panose="05000000000000000000" pitchFamily="2" charset="2"/>
              <a:buChar char="n"/>
            </a:pPr>
            <a:r>
              <a:rPr lang="zh-CN" altLang="en-US" sz="2400" b="0" kern="1200" dirty="0">
                <a:solidFill>
                  <a:srgbClr val="FF0000"/>
                </a:solidFill>
                <a:cs typeface="微软雅黑" charset="0"/>
              </a:rPr>
              <a:t>盒图：</a:t>
            </a:r>
            <a:r>
              <a:rPr lang="zh-CN" altLang="en-US" sz="2400" b="0" kern="1200" dirty="0">
                <a:solidFill>
                  <a:srgbClr val="1557AE"/>
                </a:solidFill>
                <a:cs typeface="微软雅黑" charset="0"/>
              </a:rPr>
              <a:t>数据分布的一种直观表示：</a:t>
            </a:r>
            <a:endParaRPr lang="zh-CN" altLang="en-US" sz="2400" b="0" kern="1200" dirty="0">
              <a:solidFill>
                <a:srgbClr val="1557AE"/>
              </a:solidFill>
              <a:cs typeface="微软雅黑" charset="0"/>
            </a:endParaRPr>
          </a:p>
          <a:p>
            <a:pPr marL="895350" lvl="1" indent="-457200">
              <a:lnSpc>
                <a:spcPct val="120000"/>
              </a:lnSpc>
              <a:buClrTx/>
              <a:buFont typeface="Wingdings" panose="05000000000000000000" pitchFamily="2" charset="2"/>
              <a:buChar char="Ø"/>
            </a:pPr>
            <a:r>
              <a:rPr lang="zh-CN" altLang="en-US" sz="2200" b="0" kern="1200" dirty="0">
                <a:solidFill>
                  <a:srgbClr val="FF0000"/>
                </a:solidFill>
                <a:cs typeface="微软雅黑" charset="0"/>
              </a:rPr>
              <a:t>端点在四分位数上，使得盒图的长度是</a:t>
            </a:r>
            <a:r>
              <a:rPr lang="en-US" altLang="zh-CN" sz="2200" b="0" kern="1200" dirty="0">
                <a:solidFill>
                  <a:srgbClr val="FF0000"/>
                </a:solidFill>
                <a:cs typeface="微软雅黑" charset="0"/>
              </a:rPr>
              <a:t>IQR</a:t>
            </a:r>
            <a:endParaRPr lang="en-US" altLang="zh-CN" sz="2200" b="0" kern="1200" dirty="0">
              <a:solidFill>
                <a:srgbClr val="FF0000"/>
              </a:solidFill>
              <a:cs typeface="微软雅黑" charset="0"/>
            </a:endParaRPr>
          </a:p>
          <a:p>
            <a:pPr marL="895350" lvl="1" indent="-457200">
              <a:lnSpc>
                <a:spcPct val="120000"/>
              </a:lnSpc>
              <a:buClrTx/>
              <a:buFont typeface="Wingdings" panose="05000000000000000000" pitchFamily="2" charset="2"/>
              <a:buChar char="Ø"/>
            </a:pPr>
            <a:r>
              <a:rPr lang="zh-CN" altLang="en-US" sz="2200" b="0" kern="1200" dirty="0">
                <a:solidFill>
                  <a:srgbClr val="FF0000"/>
                </a:solidFill>
                <a:cs typeface="微软雅黑" charset="0"/>
              </a:rPr>
              <a:t>中位数</a:t>
            </a:r>
            <a:r>
              <a:rPr lang="en-US" altLang="zh-CN" sz="2200" b="0" kern="1200" dirty="0">
                <a:solidFill>
                  <a:srgbClr val="FF0000"/>
                </a:solidFill>
                <a:cs typeface="微软雅黑" charset="0"/>
              </a:rPr>
              <a:t>M</a:t>
            </a:r>
            <a:r>
              <a:rPr lang="zh-CN" altLang="en-US" sz="2200" b="0" kern="1200" dirty="0">
                <a:solidFill>
                  <a:srgbClr val="FF0000"/>
                </a:solidFill>
                <a:cs typeface="微软雅黑" charset="0"/>
              </a:rPr>
              <a:t>用盒内的线标记</a:t>
            </a:r>
            <a:endParaRPr lang="zh-CN" altLang="en-US" sz="2200" b="0" kern="1200" dirty="0">
              <a:solidFill>
                <a:srgbClr val="FF0000"/>
              </a:solidFill>
              <a:cs typeface="微软雅黑" charset="0"/>
            </a:endParaRPr>
          </a:p>
          <a:p>
            <a:pPr marL="895350" lvl="1" indent="-457200">
              <a:lnSpc>
                <a:spcPct val="120000"/>
              </a:lnSpc>
              <a:buClrTx/>
              <a:buFont typeface="Wingdings" panose="05000000000000000000" pitchFamily="2" charset="2"/>
              <a:buChar char="Ø"/>
            </a:pPr>
            <a:r>
              <a:rPr lang="zh-CN" altLang="en-US" sz="2200" b="0" kern="1200" dirty="0">
                <a:solidFill>
                  <a:srgbClr val="FF0000"/>
                </a:solidFill>
                <a:cs typeface="微软雅黑" charset="0"/>
              </a:rPr>
              <a:t>胡须延伸到最大最小观测值</a:t>
            </a:r>
            <a:endParaRPr lang="zh-CN" altLang="en-US" sz="2200" b="0" kern="1200" dirty="0">
              <a:solidFill>
                <a:srgbClr val="FF0000"/>
              </a:solidFill>
              <a:cs typeface="微软雅黑" charset="0"/>
            </a:endParaRPr>
          </a:p>
          <a:p>
            <a:pPr eaLnBrk="1" hangingPunct="1">
              <a:lnSpc>
                <a:spcPct val="120000"/>
              </a:lnSpc>
              <a:spcBef>
                <a:spcPts val="600"/>
              </a:spcBef>
              <a:buFont typeface="Wingdings" panose="05000000000000000000" pitchFamily="2" charset="2"/>
              <a:buChar char="n"/>
            </a:pPr>
            <a:r>
              <a:rPr lang="zh-CN" altLang="en-US" sz="2400" b="0" kern="1200" dirty="0">
                <a:solidFill>
                  <a:srgbClr val="1557AE"/>
                </a:solidFill>
                <a:cs typeface="微软雅黑" charset="0"/>
              </a:rPr>
              <a:t>该盒图为在给定时间段在</a:t>
            </a:r>
            <a:r>
              <a:rPr lang="en-US" altLang="zh-CN" sz="2400" b="0" kern="1200" dirty="0" err="1">
                <a:solidFill>
                  <a:srgbClr val="1557AE"/>
                </a:solidFill>
                <a:cs typeface="微软雅黑" charset="0"/>
              </a:rPr>
              <a:t>AllElectronics</a:t>
            </a:r>
            <a:r>
              <a:rPr lang="zh-CN" altLang="en-US" sz="2400" b="0" kern="1200" dirty="0">
                <a:solidFill>
                  <a:srgbClr val="1557AE"/>
                </a:solidFill>
                <a:cs typeface="微软雅黑" charset="0"/>
              </a:rPr>
              <a:t>的</a:t>
            </a:r>
            <a:r>
              <a:rPr lang="en-US" altLang="zh-CN" sz="2400" b="0" kern="1200" dirty="0">
                <a:solidFill>
                  <a:srgbClr val="1557AE"/>
                </a:solidFill>
                <a:cs typeface="微软雅黑" charset="0"/>
              </a:rPr>
              <a:t>4</a:t>
            </a:r>
            <a:r>
              <a:rPr lang="zh-CN" altLang="en-US" sz="2400" b="0" kern="1200" dirty="0">
                <a:solidFill>
                  <a:srgbClr val="1557AE"/>
                </a:solidFill>
                <a:cs typeface="微软雅黑" charset="0"/>
              </a:rPr>
              <a:t>个分店销售的商品单价的盒图</a:t>
            </a:r>
            <a:endParaRPr lang="zh-CN" altLang="en-US" sz="2400" b="0" kern="1200" dirty="0">
              <a:solidFill>
                <a:srgbClr val="1557AE"/>
              </a:solidFill>
              <a:cs typeface="微软雅黑" charset="0"/>
            </a:endParaRPr>
          </a:p>
          <a:p>
            <a:pPr marL="895350" lvl="1" indent="-457200">
              <a:lnSpc>
                <a:spcPct val="120000"/>
              </a:lnSpc>
              <a:buClrTx/>
              <a:buFont typeface="Wingdings" panose="05000000000000000000" pitchFamily="2" charset="2"/>
              <a:buChar char="Ø"/>
            </a:pPr>
            <a:r>
              <a:rPr lang="zh-CN" altLang="en-US" sz="2200" b="0" kern="1200" dirty="0">
                <a:solidFill>
                  <a:srgbClr val="FF0000"/>
                </a:solidFill>
                <a:cs typeface="微软雅黑" charset="0"/>
              </a:rPr>
              <a:t>分店</a:t>
            </a:r>
            <a:r>
              <a:rPr lang="en-US" altLang="zh-CN" sz="2200" b="0" kern="1200" dirty="0">
                <a:solidFill>
                  <a:srgbClr val="FF0000"/>
                </a:solidFill>
                <a:cs typeface="微软雅黑" charset="0"/>
              </a:rPr>
              <a:t>1</a:t>
            </a:r>
            <a:r>
              <a:rPr lang="zh-CN" altLang="en-US" sz="2200" b="0" kern="1200" dirty="0">
                <a:solidFill>
                  <a:srgbClr val="FF0000"/>
                </a:solidFill>
                <a:cs typeface="微软雅黑" charset="0"/>
              </a:rPr>
              <a:t>：</a:t>
            </a:r>
            <a:r>
              <a:rPr lang="zh-CN" altLang="en-US" sz="1800" b="0" dirty="0">
                <a:solidFill>
                  <a:srgbClr val="1557AE"/>
                </a:solidFill>
                <a:cs typeface="微软雅黑" charset="0"/>
              </a:rPr>
              <a:t>中位数</a:t>
            </a:r>
            <a:r>
              <a:rPr lang="en-US" altLang="zh-CN" sz="1800" b="0" dirty="0">
                <a:solidFill>
                  <a:srgbClr val="1557AE"/>
                </a:solidFill>
                <a:cs typeface="微软雅黑" charset="0"/>
              </a:rPr>
              <a:t>$80</a:t>
            </a:r>
            <a:r>
              <a:rPr lang="zh-CN" altLang="en-US" sz="1800" b="0" dirty="0">
                <a:solidFill>
                  <a:srgbClr val="1557AE"/>
                </a:solidFill>
                <a:cs typeface="微软雅黑" charset="0"/>
              </a:rPr>
              <a:t>，</a:t>
            </a:r>
            <a:r>
              <a:rPr lang="en-US" altLang="zh-CN" sz="1800" b="0" dirty="0">
                <a:solidFill>
                  <a:srgbClr val="1557AE"/>
                </a:solidFill>
                <a:cs typeface="微软雅黑" charset="0"/>
              </a:rPr>
              <a:t>Q1: $60</a:t>
            </a:r>
            <a:r>
              <a:rPr lang="zh-CN" altLang="en-US" sz="1800" b="0" dirty="0">
                <a:solidFill>
                  <a:srgbClr val="1557AE"/>
                </a:solidFill>
                <a:cs typeface="微软雅黑" charset="0"/>
              </a:rPr>
              <a:t>，</a:t>
            </a:r>
            <a:r>
              <a:rPr lang="en-US" altLang="zh-CN" sz="1800" b="0" dirty="0">
                <a:solidFill>
                  <a:srgbClr val="1557AE"/>
                </a:solidFill>
                <a:cs typeface="微软雅黑" charset="0"/>
              </a:rPr>
              <a:t>Q3: $100</a:t>
            </a:r>
            <a:endParaRPr lang="en-US" altLang="zh-CN" sz="1800" b="0" dirty="0">
              <a:solidFill>
                <a:srgbClr val="1557AE"/>
              </a:solidFill>
              <a:cs typeface="微软雅黑" charset="0"/>
            </a:endParaRPr>
          </a:p>
        </p:txBody>
      </p:sp>
      <p:pic>
        <p:nvPicPr>
          <p:cNvPr id="8" name="Picture 5" descr="ha05f05 cop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71127" y="1484784"/>
            <a:ext cx="3886523" cy="4536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7" name="Rectangle 3"/>
          <p:cNvSpPr>
            <a:spLocks noGrp="1" noChangeArrowheads="1"/>
          </p:cNvSpPr>
          <p:nvPr>
            <p:ph idx="1"/>
          </p:nvPr>
        </p:nvSpPr>
        <p:spPr>
          <a:xfrm>
            <a:off x="342178" y="1066764"/>
            <a:ext cx="8540750" cy="3226332"/>
          </a:xfrm>
        </p:spPr>
        <p:txBody>
          <a:bodyPr>
            <a:spAutoFit/>
          </a:bodyPr>
          <a:lstStyle/>
          <a:p>
            <a:pPr eaLnBrk="1" hangingPunct="1">
              <a:lnSpc>
                <a:spcPct val="130000"/>
              </a:lnSpc>
              <a:spcBef>
                <a:spcPts val="1200"/>
              </a:spcBef>
              <a:buClr>
                <a:srgbClr val="1557AE"/>
              </a:buClr>
              <a:buFont typeface="Wingdings" panose="05000000000000000000" pitchFamily="2" charset="2"/>
              <a:buChar char="n"/>
            </a:pPr>
            <a:r>
              <a:rPr lang="zh-CN" altLang="en-US" sz="2800" b="0" kern="1200" dirty="0">
                <a:solidFill>
                  <a:srgbClr val="FF0000"/>
                </a:solidFill>
                <a:cs typeface="微软雅黑" charset="0"/>
              </a:rPr>
              <a:t>常用的显示数据汇总和分布的方法</a:t>
            </a:r>
            <a:endParaRPr lang="zh-CN" altLang="en-US" sz="2800" b="0" kern="1200" dirty="0">
              <a:solidFill>
                <a:srgbClr val="FF0000"/>
              </a:solidFill>
              <a:cs typeface="微软雅黑" charset="0"/>
            </a:endParaRPr>
          </a:p>
          <a:p>
            <a:pPr lvl="1" eaLnBrk="1" hangingPunct="1">
              <a:lnSpc>
                <a:spcPct val="130000"/>
              </a:lnSpc>
              <a:buClrTx/>
              <a:buFont typeface="Wingdings" panose="05000000000000000000" pitchFamily="2" charset="2"/>
              <a:buChar char="Ø"/>
            </a:pPr>
            <a:r>
              <a:rPr lang="zh-CN" altLang="en-US" sz="2200" b="0" kern="1200" dirty="0">
                <a:solidFill>
                  <a:srgbClr val="1557AE"/>
                </a:solidFill>
                <a:cs typeface="微软雅黑" charset="0"/>
              </a:rPr>
              <a:t>直方图、分位数图、</a:t>
            </a:r>
            <a:r>
              <a:rPr lang="en-US" altLang="zh-CN" sz="2200" b="0" kern="1200" dirty="0">
                <a:solidFill>
                  <a:srgbClr val="1557AE"/>
                </a:solidFill>
                <a:cs typeface="微软雅黑" charset="0"/>
              </a:rPr>
              <a:t>q-q</a:t>
            </a:r>
            <a:r>
              <a:rPr lang="zh-CN" altLang="en-US" sz="2200" b="0" kern="1200" dirty="0">
                <a:solidFill>
                  <a:srgbClr val="1557AE"/>
                </a:solidFill>
                <a:cs typeface="微软雅黑" charset="0"/>
              </a:rPr>
              <a:t>图、散点图和局部回归曲线</a:t>
            </a:r>
            <a:endParaRPr lang="zh-CN" altLang="en-US" sz="2200" b="0" kern="1200" dirty="0">
              <a:solidFill>
                <a:srgbClr val="1557AE"/>
              </a:solidFill>
              <a:cs typeface="微软雅黑" charset="0"/>
            </a:endParaRPr>
          </a:p>
          <a:p>
            <a:pPr eaLnBrk="1" hangingPunct="1">
              <a:lnSpc>
                <a:spcPct val="130000"/>
              </a:lnSpc>
              <a:spcBef>
                <a:spcPts val="1200"/>
              </a:spcBef>
              <a:buClr>
                <a:srgbClr val="1557AE"/>
              </a:buClr>
              <a:buFont typeface="Wingdings" panose="05000000000000000000" pitchFamily="2" charset="2"/>
              <a:buChar char="n"/>
            </a:pPr>
            <a:r>
              <a:rPr lang="zh-CN" altLang="en-US" sz="2800" b="0" kern="1200" dirty="0">
                <a:solidFill>
                  <a:srgbClr val="FF0000"/>
                </a:solidFill>
                <a:cs typeface="微软雅黑" charset="0"/>
              </a:rPr>
              <a:t>直方图：一种单变量图形表示方法</a:t>
            </a:r>
            <a:endParaRPr lang="zh-CN" altLang="en-US" sz="2800" b="0" kern="1200" dirty="0">
              <a:solidFill>
                <a:srgbClr val="FF0000"/>
              </a:solidFill>
              <a:cs typeface="微软雅黑" charset="0"/>
            </a:endParaRPr>
          </a:p>
          <a:p>
            <a:pPr lvl="1" eaLnBrk="1" hangingPunct="1">
              <a:lnSpc>
                <a:spcPct val="130000"/>
              </a:lnSpc>
              <a:buClrTx/>
              <a:buFont typeface="Wingdings" panose="05000000000000000000" pitchFamily="2" charset="2"/>
              <a:buChar char="Ø"/>
            </a:pPr>
            <a:r>
              <a:rPr lang="zh-CN" altLang="en-US" sz="2200" b="0" kern="1200" dirty="0">
                <a:solidFill>
                  <a:srgbClr val="1557AE"/>
                </a:solidFill>
                <a:cs typeface="微软雅黑" charset="0"/>
              </a:rPr>
              <a:t>将数据分布划分成不相交的子集或桶，通常每个桶宽度一致并用一个矩形表示，其高度表示桶中数据在给定数据中出现的计数或频率</a:t>
            </a:r>
            <a:endParaRPr lang="en-US" altLang="zh-CN" sz="2200" b="0" kern="1200" dirty="0">
              <a:solidFill>
                <a:srgbClr val="1557AE"/>
              </a:solidFill>
              <a:cs typeface="微软雅黑" charset="0"/>
            </a:endParaRPr>
          </a:p>
        </p:txBody>
      </p:sp>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pic>
        <p:nvPicPr>
          <p:cNvPr id="4" name="图片 3"/>
          <p:cNvPicPr>
            <a:picLocks noChangeAspect="1"/>
          </p:cNvPicPr>
          <p:nvPr/>
        </p:nvPicPr>
        <p:blipFill rotWithShape="1">
          <a:blip r:embed="rId1"/>
          <a:srcRect r="43301" b="33816"/>
          <a:stretch>
            <a:fillRect/>
          </a:stretch>
        </p:blipFill>
        <p:spPr>
          <a:xfrm>
            <a:off x="1331640" y="4221088"/>
            <a:ext cx="5760640" cy="2357294"/>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7" name="Rectangle 3"/>
          <p:cNvSpPr>
            <a:spLocks noGrp="1" noChangeArrowheads="1"/>
          </p:cNvSpPr>
          <p:nvPr>
            <p:ph idx="1"/>
          </p:nvPr>
        </p:nvSpPr>
        <p:spPr>
          <a:xfrm>
            <a:off x="424198" y="1124744"/>
            <a:ext cx="8468282" cy="1942711"/>
          </a:xfrm>
        </p:spPr>
        <p:txBody>
          <a:bodyPr wrap="square">
            <a:spAutoFit/>
          </a:bodyPr>
          <a:lstStyle/>
          <a:p>
            <a:pPr eaLnBrk="1" hangingPunct="1">
              <a:lnSpc>
                <a:spcPct val="150000"/>
              </a:lnSpc>
              <a:spcBef>
                <a:spcPts val="1200"/>
              </a:spcBef>
              <a:buClr>
                <a:srgbClr val="1557AE"/>
              </a:buClr>
              <a:buFont typeface="Wingdings" panose="05000000000000000000" pitchFamily="2" charset="2"/>
              <a:buChar char="n"/>
            </a:pPr>
            <a:r>
              <a:rPr lang="zh-CN" altLang="en-US" sz="2800" b="0" kern="1200" dirty="0">
                <a:solidFill>
                  <a:srgbClr val="FF0000"/>
                </a:solidFill>
                <a:cs typeface="微软雅黑" charset="0"/>
              </a:rPr>
              <a:t>直方图能够比盒图展现更？的信息</a:t>
            </a:r>
            <a:endParaRPr lang="zh-CN" altLang="en-US" sz="2800" b="0" kern="1200" dirty="0">
              <a:solidFill>
                <a:srgbClr val="FF0000"/>
              </a:solidFill>
              <a:cs typeface="微软雅黑" charset="0"/>
            </a:endParaRPr>
          </a:p>
          <a:p>
            <a:pPr lvl="1" eaLnBrk="1" hangingPunct="1">
              <a:lnSpc>
                <a:spcPct val="150000"/>
              </a:lnSpc>
              <a:spcBef>
                <a:spcPts val="600"/>
              </a:spcBef>
              <a:buClrTx/>
              <a:buSzPct val="100000"/>
              <a:buFont typeface="Wingdings" panose="05000000000000000000" pitchFamily="2" charset="2"/>
              <a:buChar char="Ø"/>
            </a:pPr>
            <a:r>
              <a:rPr lang="zh-CN" altLang="en-US" sz="2400" b="0" kern="1200" dirty="0">
                <a:solidFill>
                  <a:srgbClr val="1557AE"/>
                </a:solidFill>
                <a:cs typeface="微软雅黑" charset="0"/>
              </a:rPr>
              <a:t>两个直方图具有相同的</a:t>
            </a:r>
            <a:r>
              <a:rPr lang="en-US" altLang="zh-CN" sz="2400" b="0" kern="1200" dirty="0">
                <a:solidFill>
                  <a:srgbClr val="FF0000"/>
                </a:solidFill>
                <a:cs typeface="微软雅黑" charset="0"/>
              </a:rPr>
              <a:t>min, Q1, median, Q3, max</a:t>
            </a:r>
            <a:endParaRPr lang="en-US" altLang="zh-CN" sz="2400" b="0" kern="1200" dirty="0">
              <a:solidFill>
                <a:srgbClr val="FF0000"/>
              </a:solidFill>
              <a:cs typeface="微软雅黑" charset="0"/>
            </a:endParaRPr>
          </a:p>
          <a:p>
            <a:pPr lvl="1" eaLnBrk="1" hangingPunct="1">
              <a:lnSpc>
                <a:spcPct val="150000"/>
              </a:lnSpc>
              <a:spcBef>
                <a:spcPts val="600"/>
              </a:spcBef>
              <a:buClrTx/>
              <a:buSzPct val="100000"/>
              <a:buFont typeface="Wingdings" panose="05000000000000000000" pitchFamily="2" charset="2"/>
              <a:buChar char="Ø"/>
            </a:pPr>
            <a:r>
              <a:rPr lang="zh-CN" altLang="en-US" sz="2400" b="0" kern="1200" dirty="0">
                <a:solidFill>
                  <a:srgbClr val="1557AE"/>
                </a:solidFill>
                <a:cs typeface="微软雅黑" charset="0"/>
              </a:rPr>
              <a:t>但是它们具有不同数据分布</a:t>
            </a:r>
            <a:endParaRPr lang="en-US" altLang="zh-CN" sz="2400" b="0" kern="1200" dirty="0">
              <a:solidFill>
                <a:srgbClr val="1557AE"/>
              </a:solidFill>
              <a:cs typeface="微软雅黑" charset="0"/>
            </a:endParaRPr>
          </a:p>
        </p:txBody>
      </p:sp>
      <p:graphicFrame>
        <p:nvGraphicFramePr>
          <p:cNvPr id="4" name="对象 3"/>
          <p:cNvGraphicFramePr>
            <a:graphicFrameLocks noChangeAspect="1"/>
          </p:cNvGraphicFramePr>
          <p:nvPr/>
        </p:nvGraphicFramePr>
        <p:xfrm>
          <a:off x="657014" y="3573016"/>
          <a:ext cx="3962400" cy="2417763"/>
        </p:xfrm>
        <a:graphic>
          <a:graphicData uri="http://schemas.openxmlformats.org/presentationml/2006/ole">
            <mc:AlternateContent xmlns:mc="http://schemas.openxmlformats.org/markup-compatibility/2006">
              <mc:Choice xmlns:v="urn:schemas-microsoft-com:vml" Requires="v">
                <p:oleObj spid="_x0000_s13409" name="SmartDraw" r:id="rId1" imgW="3063240" imgH="1691640" progId="SmartDraw.2">
                  <p:embed/>
                </p:oleObj>
              </mc:Choice>
              <mc:Fallback>
                <p:oleObj name="SmartDraw" r:id="rId1" imgW="3063240" imgH="1691640" progId="SmartDraw.2">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014" y="3573016"/>
                        <a:ext cx="3962400" cy="241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nvGraphicFramePr>
        <p:xfrm>
          <a:off x="4860032" y="3573016"/>
          <a:ext cx="3886200" cy="2433637"/>
        </p:xfrm>
        <a:graphic>
          <a:graphicData uri="http://schemas.openxmlformats.org/presentationml/2006/ole">
            <mc:AlternateContent xmlns:mc="http://schemas.openxmlformats.org/markup-compatibility/2006">
              <mc:Choice xmlns:v="urn:schemas-microsoft-com:vml" Requires="v">
                <p:oleObj spid="_x0000_s2" name="SmartDraw" r:id="rId3" imgW="3063240" imgH="1691640" progId="SmartDraw.2">
                  <p:embed/>
                </p:oleObj>
              </mc:Choice>
              <mc:Fallback>
                <p:oleObj name="SmartDraw" r:id="rId3" imgW="3063240" imgH="1691640" progId="SmartDraw.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3573016"/>
                        <a:ext cx="3886200" cy="243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7" name="Rectangle 3"/>
          <p:cNvSpPr>
            <a:spLocks noGrp="1" noChangeArrowheads="1"/>
          </p:cNvSpPr>
          <p:nvPr>
            <p:ph idx="1"/>
          </p:nvPr>
        </p:nvSpPr>
        <p:spPr>
          <a:xfrm>
            <a:off x="245404" y="1052736"/>
            <a:ext cx="8719084" cy="2607509"/>
          </a:xfrm>
        </p:spPr>
        <p:txBody>
          <a:bodyPr wrap="square">
            <a:spAutoFit/>
          </a:bodyPr>
          <a:lstStyle/>
          <a:p>
            <a:pPr eaLnBrk="1" hangingPunct="1">
              <a:lnSpc>
                <a:spcPct val="130000"/>
              </a:lnSpc>
              <a:spcBef>
                <a:spcPts val="600"/>
              </a:spcBef>
              <a:buFont typeface="Wingdings" panose="05000000000000000000" pitchFamily="2" charset="2"/>
              <a:buChar char="n"/>
            </a:pPr>
            <a:r>
              <a:rPr lang="zh-CN" altLang="en-US" sz="2400" b="0" kern="1200" dirty="0">
                <a:solidFill>
                  <a:srgbClr val="FF0000"/>
                </a:solidFill>
                <a:cs typeface="微软雅黑" charset="0"/>
              </a:rPr>
              <a:t>分位数图：</a:t>
            </a:r>
            <a:r>
              <a:rPr lang="zh-CN" altLang="en-US" sz="2400" b="0" kern="1200" dirty="0">
                <a:solidFill>
                  <a:srgbClr val="1557AE"/>
                </a:solidFill>
                <a:cs typeface="微软雅黑" charset="0"/>
              </a:rPr>
              <a:t>一种利用分位数信息观察单变量数据分布的简单有效方法</a:t>
            </a:r>
            <a:endParaRPr lang="en-US" altLang="zh-CN" sz="2400" b="0" kern="1200" dirty="0">
              <a:solidFill>
                <a:srgbClr val="1557AE"/>
              </a:solidFill>
              <a:cs typeface="微软雅黑" charset="0"/>
            </a:endParaRPr>
          </a:p>
          <a:p>
            <a:pPr eaLnBrk="1" hangingPunct="1">
              <a:lnSpc>
                <a:spcPct val="130000"/>
              </a:lnSpc>
              <a:spcBef>
                <a:spcPts val="600"/>
              </a:spcBef>
              <a:buFont typeface="Wingdings" panose="05000000000000000000" pitchFamily="2" charset="2"/>
              <a:buChar char="n"/>
            </a:pPr>
            <a:r>
              <a:rPr lang="zh-CN" altLang="en-US" sz="2400" b="0" kern="1200" dirty="0">
                <a:solidFill>
                  <a:srgbClr val="1557AE"/>
                </a:solidFill>
                <a:cs typeface="微软雅黑" charset="0"/>
              </a:rPr>
              <a:t>显示所有数据，允许用户评估总的情况和不寻常情况的出现</a:t>
            </a:r>
            <a:endParaRPr lang="zh-CN" altLang="en-US" sz="2400" b="0" kern="1200" dirty="0">
              <a:solidFill>
                <a:srgbClr val="1557AE"/>
              </a:solidFill>
              <a:cs typeface="微软雅黑" charset="0"/>
            </a:endParaRPr>
          </a:p>
          <a:p>
            <a:pPr lvl="1" eaLnBrk="1" hangingPunct="1">
              <a:lnSpc>
                <a:spcPct val="130000"/>
              </a:lnSpc>
              <a:spcBef>
                <a:spcPts val="600"/>
              </a:spcBef>
              <a:buClrTx/>
              <a:buFont typeface="Wingdings" panose="05000000000000000000" pitchFamily="2" charset="2"/>
              <a:buChar char="Ø"/>
            </a:pPr>
            <a:r>
              <a:rPr lang="zh-CN" altLang="en-US" sz="2400" b="0" dirty="0">
                <a:solidFill>
                  <a:srgbClr val="1557AE"/>
                </a:solidFill>
                <a:cs typeface="微软雅黑" charset="0"/>
              </a:rPr>
              <a:t>设</a:t>
            </a:r>
            <a:r>
              <a:rPr lang="en-US" altLang="zh-CN" sz="2400" b="0" i="1" dirty="0">
                <a:solidFill>
                  <a:srgbClr val="FF0000"/>
                </a:solidFill>
                <a:cs typeface="微软雅黑" charset="0"/>
              </a:rPr>
              <a:t>x</a:t>
            </a:r>
            <a:r>
              <a:rPr lang="en-US" altLang="zh-CN" sz="2400" b="0" i="1" baseline="-25000" dirty="0">
                <a:solidFill>
                  <a:srgbClr val="FF0000"/>
                </a:solidFill>
                <a:cs typeface="微软雅黑" charset="0"/>
              </a:rPr>
              <a:t>i</a:t>
            </a:r>
            <a:r>
              <a:rPr lang="zh-CN" altLang="en-US" sz="2400" b="0" dirty="0">
                <a:solidFill>
                  <a:srgbClr val="1557AE"/>
                </a:solidFill>
                <a:cs typeface="微软雅黑" charset="0"/>
              </a:rPr>
              <a:t>是递增排序的数据，则每个</a:t>
            </a:r>
            <a:r>
              <a:rPr lang="en-US" altLang="zh-CN" sz="2400" b="0" i="1" dirty="0">
                <a:solidFill>
                  <a:srgbClr val="FF0000"/>
                </a:solidFill>
                <a:cs typeface="微软雅黑" charset="0"/>
              </a:rPr>
              <a:t>x</a:t>
            </a:r>
            <a:r>
              <a:rPr lang="en-US" altLang="zh-CN" sz="2400" b="0" i="1" baseline="-25000" dirty="0">
                <a:solidFill>
                  <a:srgbClr val="FF0000"/>
                </a:solidFill>
                <a:cs typeface="微软雅黑" charset="0"/>
              </a:rPr>
              <a:t>i</a:t>
            </a:r>
            <a:r>
              <a:rPr lang="zh-CN" altLang="en-US" sz="2400" b="0" dirty="0">
                <a:solidFill>
                  <a:srgbClr val="1557AE"/>
                </a:solidFill>
                <a:cs typeface="微软雅黑" charset="0"/>
              </a:rPr>
              <a:t>都有相对应的</a:t>
            </a:r>
            <a:r>
              <a:rPr lang="en-US" altLang="zh-CN" sz="2400" b="0" i="1" dirty="0">
                <a:solidFill>
                  <a:srgbClr val="FF0000"/>
                </a:solidFill>
                <a:cs typeface="微软雅黑" charset="0"/>
              </a:rPr>
              <a:t>f</a:t>
            </a:r>
            <a:r>
              <a:rPr lang="en-US" altLang="zh-CN" sz="2400" b="0" i="1" baseline="-25000" dirty="0">
                <a:solidFill>
                  <a:srgbClr val="FF0000"/>
                </a:solidFill>
                <a:cs typeface="微软雅黑" charset="0"/>
              </a:rPr>
              <a:t>i</a:t>
            </a:r>
            <a:r>
              <a:rPr lang="zh-CN" altLang="en-US" sz="2400" b="0" dirty="0">
                <a:cs typeface="微软雅黑" charset="0"/>
              </a:rPr>
              <a:t>，</a:t>
            </a:r>
            <a:r>
              <a:rPr lang="zh-CN" altLang="en-US" sz="2400" b="0" dirty="0">
                <a:solidFill>
                  <a:srgbClr val="1557AE"/>
                </a:solidFill>
                <a:cs typeface="微软雅黑" charset="0"/>
              </a:rPr>
              <a:t>指出大约有</a:t>
            </a:r>
            <a:r>
              <a:rPr lang="en-US" altLang="zh-CN" sz="2400" b="0" i="1" dirty="0">
                <a:solidFill>
                  <a:srgbClr val="FF0000"/>
                </a:solidFill>
                <a:cs typeface="微软雅黑" charset="0"/>
              </a:rPr>
              <a:t>100 f</a:t>
            </a:r>
            <a:r>
              <a:rPr lang="en-US" altLang="zh-CN" sz="2400" b="0" i="1" baseline="-25000" dirty="0">
                <a:solidFill>
                  <a:srgbClr val="FF0000"/>
                </a:solidFill>
                <a:cs typeface="微软雅黑" charset="0"/>
              </a:rPr>
              <a:t>i</a:t>
            </a:r>
            <a:r>
              <a:rPr lang="en-US" altLang="zh-CN" sz="2400" b="0" i="1" dirty="0">
                <a:solidFill>
                  <a:srgbClr val="FF0000"/>
                </a:solidFill>
                <a:cs typeface="微软雅黑" charset="0"/>
              </a:rPr>
              <a:t> </a:t>
            </a:r>
            <a:r>
              <a:rPr lang="zh-CN" altLang="en-US" sz="2400" b="0" i="1" dirty="0">
                <a:solidFill>
                  <a:srgbClr val="FF0000"/>
                </a:solidFill>
                <a:cs typeface="微软雅黑" charset="0"/>
              </a:rPr>
              <a:t>％</a:t>
            </a:r>
            <a:r>
              <a:rPr lang="zh-CN" altLang="en-US" sz="2400" b="0" dirty="0">
                <a:solidFill>
                  <a:srgbClr val="1557AE"/>
                </a:solidFill>
                <a:cs typeface="微软雅黑" charset="0"/>
              </a:rPr>
              <a:t>的数据小于等于</a:t>
            </a:r>
            <a:r>
              <a:rPr lang="en-US" altLang="zh-CN" sz="2400" b="0" i="1" dirty="0">
                <a:solidFill>
                  <a:srgbClr val="FF0000"/>
                </a:solidFill>
                <a:cs typeface="微软雅黑" charset="0"/>
              </a:rPr>
              <a:t>x</a:t>
            </a:r>
            <a:r>
              <a:rPr lang="en-US" altLang="zh-CN" sz="2400" b="0" i="1" baseline="-25000" dirty="0">
                <a:solidFill>
                  <a:srgbClr val="FF0000"/>
                </a:solidFill>
                <a:cs typeface="微软雅黑" charset="0"/>
              </a:rPr>
              <a:t>i</a:t>
            </a:r>
            <a:endParaRPr lang="en-US" altLang="zh-CN" sz="2400" b="0" i="1" baseline="-25000" dirty="0">
              <a:solidFill>
                <a:srgbClr val="FF0000"/>
              </a:solidFill>
              <a:cs typeface="微软雅黑" charset="0"/>
            </a:endParaRPr>
          </a:p>
        </p:txBody>
      </p:sp>
      <p:pic>
        <p:nvPicPr>
          <p:cNvPr id="2663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9712" y="3913338"/>
            <a:ext cx="4896544"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7" name="Rectangle 3"/>
          <p:cNvSpPr>
            <a:spLocks noGrp="1" noChangeArrowheads="1"/>
          </p:cNvSpPr>
          <p:nvPr>
            <p:ph idx="1"/>
          </p:nvPr>
        </p:nvSpPr>
        <p:spPr>
          <a:xfrm>
            <a:off x="88220" y="1412776"/>
            <a:ext cx="8876268" cy="2649956"/>
          </a:xfrm>
        </p:spPr>
        <p:txBody>
          <a:bodyPr wrap="square">
            <a:spAutoFit/>
          </a:bodyPr>
          <a:lstStyle/>
          <a:p>
            <a:pPr eaLnBrk="1" hangingPunct="1">
              <a:lnSpc>
                <a:spcPct val="110000"/>
              </a:lnSpc>
              <a:spcBef>
                <a:spcPts val="600"/>
              </a:spcBef>
              <a:buClr>
                <a:srgbClr val="1557AE"/>
              </a:buClr>
              <a:buFont typeface="Wingdings" panose="05000000000000000000" pitchFamily="2" charset="2"/>
              <a:buChar char="n"/>
            </a:pPr>
            <a:r>
              <a:rPr lang="zh-CN" altLang="en-US" sz="2800" b="0" kern="1200" dirty="0">
                <a:solidFill>
                  <a:srgbClr val="FF0000"/>
                </a:solidFill>
                <a:cs typeface="Calibri" panose="020F0502020204030204" pitchFamily="34" charset="0"/>
              </a:rPr>
              <a:t>散点图：</a:t>
            </a:r>
            <a:r>
              <a:rPr lang="zh-CN" altLang="en-US" sz="2800" b="0" kern="1200" dirty="0">
                <a:solidFill>
                  <a:srgbClr val="1557AE"/>
                </a:solidFill>
                <a:cs typeface="Calibri" panose="020F0502020204030204" pitchFamily="34" charset="0"/>
              </a:rPr>
              <a:t>确定两个量化的变量之间看上去是否有联系、模式或者趋势的最有效的图形方法之一</a:t>
            </a:r>
            <a:endParaRPr lang="zh-CN" altLang="en-US" sz="2800" b="0" kern="1200" dirty="0">
              <a:solidFill>
                <a:srgbClr val="1557AE"/>
              </a:solidFill>
              <a:cs typeface="Calibri" panose="020F0502020204030204" pitchFamily="34" charset="0"/>
            </a:endParaRPr>
          </a:p>
          <a:p>
            <a:pPr eaLnBrk="1" hangingPunct="1">
              <a:lnSpc>
                <a:spcPct val="110000"/>
              </a:lnSpc>
              <a:spcBef>
                <a:spcPts val="600"/>
              </a:spcBef>
              <a:buClr>
                <a:srgbClr val="1557AE"/>
              </a:buClr>
              <a:buFont typeface="Wingdings" panose="05000000000000000000" pitchFamily="2" charset="2"/>
              <a:buChar char="n"/>
            </a:pPr>
            <a:r>
              <a:rPr lang="zh-CN" altLang="en-US" sz="2800" b="0" kern="1200" dirty="0">
                <a:solidFill>
                  <a:srgbClr val="1557AE"/>
                </a:solidFill>
                <a:cs typeface="Calibri" panose="020F0502020204030204" pitchFamily="34" charset="0"/>
              </a:rPr>
              <a:t>散点图中的每个值都被视作代数坐标对，作为一个点画在平面上</a:t>
            </a:r>
            <a:endParaRPr lang="zh-CN" altLang="en-US" sz="2800" b="0" kern="1200" dirty="0">
              <a:solidFill>
                <a:srgbClr val="1557AE"/>
              </a:solidFill>
              <a:cs typeface="Calibri" panose="020F0502020204030204" pitchFamily="34" charset="0"/>
            </a:endParaRPr>
          </a:p>
          <a:p>
            <a:pPr eaLnBrk="1" hangingPunct="1">
              <a:lnSpc>
                <a:spcPct val="110000"/>
              </a:lnSpc>
              <a:spcBef>
                <a:spcPts val="600"/>
              </a:spcBef>
              <a:buClr>
                <a:srgbClr val="1557AE"/>
              </a:buClr>
              <a:buFont typeface="Wingdings" panose="05000000000000000000" pitchFamily="2" charset="2"/>
              <a:buChar char="n"/>
            </a:pPr>
            <a:r>
              <a:rPr lang="zh-CN" altLang="en-US" sz="2800" b="0" kern="1200" dirty="0">
                <a:solidFill>
                  <a:srgbClr val="1557AE"/>
                </a:solidFill>
                <a:cs typeface="Calibri" panose="020F0502020204030204" pitchFamily="34" charset="0"/>
              </a:rPr>
              <a:t>易于观察双变量数据在平面上的分布</a:t>
            </a:r>
            <a:endParaRPr lang="zh-CN" altLang="en-US" sz="2800" b="0" kern="1200" dirty="0">
              <a:solidFill>
                <a:srgbClr val="1557AE"/>
              </a:solidFill>
              <a:cs typeface="Calibri" panose="020F0502020204030204" pitchFamily="34" charset="0"/>
            </a:endParaRPr>
          </a:p>
        </p:txBody>
      </p:sp>
      <p:pic>
        <p:nvPicPr>
          <p:cNvPr id="276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19672" y="4116545"/>
            <a:ext cx="5713511" cy="255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pic>
        <p:nvPicPr>
          <p:cNvPr id="8" name="图片 7"/>
          <p:cNvPicPr/>
          <p:nvPr/>
        </p:nvPicPr>
        <p:blipFill>
          <a:blip r:embed="rId1"/>
          <a:stretch>
            <a:fillRect/>
          </a:stretch>
        </p:blipFill>
        <p:spPr>
          <a:xfrm>
            <a:off x="1115616" y="1628800"/>
            <a:ext cx="7128792" cy="4186029"/>
          </a:xfrm>
          <a:prstGeom prst="rect">
            <a:avLst/>
          </a:prstGeom>
        </p:spPr>
      </p:pic>
      <p:sp>
        <p:nvSpPr>
          <p:cNvPr id="4" name="矩形 3"/>
          <p:cNvSpPr/>
          <p:nvPr/>
        </p:nvSpPr>
        <p:spPr>
          <a:xfrm>
            <a:off x="539552" y="5949280"/>
            <a:ext cx="8424936" cy="400110"/>
          </a:xfrm>
          <a:prstGeom prst="rect">
            <a:avLst/>
          </a:prstGeom>
        </p:spPr>
        <p:txBody>
          <a:bodyPr wrap="square">
            <a:spAutoFit/>
          </a:bodyPr>
          <a:lstStyle/>
          <a:p>
            <a:pPr algn="l"/>
            <a:r>
              <a:rPr lang="en-US" altLang="zh-CN" sz="2000" b="0" dirty="0">
                <a:solidFill>
                  <a:srgbClr val="1557AE"/>
                </a:solidFill>
                <a:latin typeface="微软雅黑" charset="0"/>
                <a:ea typeface="微软雅黑" charset="0"/>
                <a:cs typeface="微软雅黑" charset="0"/>
              </a:rPr>
              <a:t>Palmer</a:t>
            </a:r>
            <a:r>
              <a:rPr lang="zh-CN" altLang="zh-CN" sz="2000" b="0" dirty="0">
                <a:solidFill>
                  <a:srgbClr val="1557AE"/>
                </a:solidFill>
                <a:latin typeface="微软雅黑" charset="0"/>
                <a:ea typeface="微软雅黑" charset="0"/>
                <a:cs typeface="微软雅黑" charset="0"/>
              </a:rPr>
              <a:t>企鹅数据集包含</a:t>
            </a:r>
            <a:r>
              <a:rPr lang="en-US" altLang="zh-CN" sz="2000" b="0" dirty="0">
                <a:solidFill>
                  <a:srgbClr val="1557AE"/>
                </a:solidFill>
                <a:latin typeface="微软雅黑" charset="0"/>
                <a:ea typeface="微软雅黑" charset="0"/>
                <a:cs typeface="微软雅黑" charset="0"/>
              </a:rPr>
              <a:t>3</a:t>
            </a:r>
            <a:r>
              <a:rPr lang="zh-CN" altLang="zh-CN" sz="2000" b="0" dirty="0">
                <a:solidFill>
                  <a:srgbClr val="1557AE"/>
                </a:solidFill>
                <a:latin typeface="微软雅黑" charset="0"/>
                <a:ea typeface="微软雅黑" charset="0"/>
                <a:cs typeface="微软雅黑" charset="0"/>
              </a:rPr>
              <a:t>种（阿德利、白眉、帽带）共</a:t>
            </a:r>
            <a:r>
              <a:rPr lang="en-US" altLang="zh-CN" sz="2000" b="0" dirty="0">
                <a:solidFill>
                  <a:srgbClr val="1557AE"/>
                </a:solidFill>
                <a:latin typeface="微软雅黑" charset="0"/>
                <a:ea typeface="微软雅黑" charset="0"/>
                <a:cs typeface="微软雅黑" charset="0"/>
              </a:rPr>
              <a:t>344</a:t>
            </a:r>
            <a:r>
              <a:rPr lang="zh-CN" altLang="zh-CN" sz="2000" b="0" dirty="0">
                <a:solidFill>
                  <a:srgbClr val="1557AE"/>
                </a:solidFill>
                <a:latin typeface="微软雅黑" charset="0"/>
                <a:ea typeface="微软雅黑" charset="0"/>
                <a:cs typeface="微软雅黑" charset="0"/>
              </a:rPr>
              <a:t>只企鹅的数据</a:t>
            </a:r>
            <a:endParaRPr lang="zh-CN" altLang="en-US" sz="2000" b="0" dirty="0">
              <a:solidFill>
                <a:srgbClr val="1557AE"/>
              </a:solidFill>
              <a:latin typeface="微软雅黑" charset="0"/>
              <a:ea typeface="微软雅黑" charset="0"/>
              <a:cs typeface="微软雅黑" charset="0"/>
            </a:endParaRPr>
          </a:p>
        </p:txBody>
      </p:sp>
      <p:sp>
        <p:nvSpPr>
          <p:cNvPr id="5" name="矩形 4"/>
          <p:cNvSpPr/>
          <p:nvPr/>
        </p:nvSpPr>
        <p:spPr>
          <a:xfrm>
            <a:off x="3710225" y="1160230"/>
            <a:ext cx="1723549" cy="461665"/>
          </a:xfrm>
          <a:prstGeom prst="rect">
            <a:avLst/>
          </a:prstGeom>
        </p:spPr>
        <p:txBody>
          <a:bodyPr wrap="none">
            <a:spAutoFit/>
          </a:bodyPr>
          <a:lstStyle/>
          <a:p>
            <a:r>
              <a:rPr lang="zh-CN" altLang="zh-CN" sz="2400" b="0" dirty="0">
                <a:solidFill>
                  <a:srgbClr val="1557AE"/>
                </a:solidFill>
                <a:latin typeface="微软雅黑" charset="0"/>
                <a:ea typeface="微软雅黑" charset="0"/>
                <a:cs typeface="+mj-cs"/>
              </a:rPr>
              <a:t>散点图矩阵</a:t>
            </a:r>
            <a:endParaRPr lang="zh-CN" altLang="zh-CN" sz="2400" b="0" dirty="0">
              <a:solidFill>
                <a:srgbClr val="1557AE"/>
              </a:solidFill>
              <a:latin typeface="微软雅黑" charset="0"/>
              <a:ea typeface="微软雅黑" charset="0"/>
              <a:cs typeface="+mj-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
        <p:nvSpPr>
          <p:cNvPr id="5" name="矩形 4"/>
          <p:cNvSpPr/>
          <p:nvPr/>
        </p:nvSpPr>
        <p:spPr>
          <a:xfrm>
            <a:off x="1986675" y="932819"/>
            <a:ext cx="1723549" cy="461665"/>
          </a:xfrm>
          <a:prstGeom prst="rect">
            <a:avLst/>
          </a:prstGeom>
        </p:spPr>
        <p:txBody>
          <a:bodyPr wrap="none">
            <a:spAutoFit/>
          </a:bodyPr>
          <a:lstStyle/>
          <a:p>
            <a:r>
              <a:rPr lang="zh-CN" altLang="en-US" sz="2400" b="0" dirty="0">
                <a:solidFill>
                  <a:srgbClr val="1557AE"/>
                </a:solidFill>
                <a:latin typeface="微软雅黑" charset="0"/>
                <a:ea typeface="微软雅黑" charset="0"/>
                <a:cs typeface="+mj-cs"/>
              </a:rPr>
              <a:t>条件</a:t>
            </a:r>
            <a:r>
              <a:rPr lang="zh-CN" altLang="zh-CN" sz="2400" b="0" dirty="0">
                <a:solidFill>
                  <a:srgbClr val="1557AE"/>
                </a:solidFill>
                <a:latin typeface="微软雅黑" charset="0"/>
                <a:ea typeface="微软雅黑" charset="0"/>
                <a:cs typeface="+mj-cs"/>
              </a:rPr>
              <a:t>散点图</a:t>
            </a:r>
            <a:endParaRPr lang="zh-CN" altLang="en-US" sz="2400" b="0" dirty="0">
              <a:solidFill>
                <a:srgbClr val="1557AE"/>
              </a:solidFill>
              <a:latin typeface="微软雅黑" charset="0"/>
              <a:ea typeface="微软雅黑" charset="0"/>
              <a:cs typeface="+mj-cs"/>
            </a:endParaRPr>
          </a:p>
        </p:txBody>
      </p:sp>
      <p:pic>
        <p:nvPicPr>
          <p:cNvPr id="7" name="图片 6"/>
          <p:cNvPicPr/>
          <p:nvPr/>
        </p:nvPicPr>
        <p:blipFill rotWithShape="1">
          <a:blip r:embed="rId1"/>
          <a:srcRect t="1786" b="1786"/>
          <a:stretch>
            <a:fillRect/>
          </a:stretch>
        </p:blipFill>
        <p:spPr bwMode="auto">
          <a:xfrm>
            <a:off x="3590528" y="1151413"/>
            <a:ext cx="4536504" cy="2273096"/>
          </a:xfrm>
          <a:prstGeom prst="rect">
            <a:avLst/>
          </a:prstGeom>
          <a:ln>
            <a:noFill/>
          </a:ln>
        </p:spPr>
      </p:pic>
      <p:pic>
        <p:nvPicPr>
          <p:cNvPr id="9" name="图片 8"/>
          <p:cNvPicPr/>
          <p:nvPr/>
        </p:nvPicPr>
        <p:blipFill>
          <a:blip r:embed="rId2"/>
          <a:stretch>
            <a:fillRect/>
          </a:stretch>
        </p:blipFill>
        <p:spPr>
          <a:xfrm>
            <a:off x="3131840" y="3501008"/>
            <a:ext cx="5694970" cy="2962652"/>
          </a:xfrm>
          <a:prstGeom prst="rect">
            <a:avLst/>
          </a:prstGeom>
        </p:spPr>
      </p:pic>
      <p:sp>
        <p:nvSpPr>
          <p:cNvPr id="2" name="矩形 1"/>
          <p:cNvSpPr/>
          <p:nvPr/>
        </p:nvSpPr>
        <p:spPr>
          <a:xfrm>
            <a:off x="1043608" y="2132856"/>
            <a:ext cx="1723549" cy="707886"/>
          </a:xfrm>
          <a:prstGeom prst="rect">
            <a:avLst/>
          </a:prstGeom>
        </p:spPr>
        <p:txBody>
          <a:bodyPr wrap="none">
            <a:spAutoFit/>
          </a:bodyPr>
          <a:lstStyle/>
          <a:p>
            <a:r>
              <a:rPr lang="zh-CN" altLang="zh-CN" sz="2000" b="0" dirty="0">
                <a:solidFill>
                  <a:srgbClr val="1557AE"/>
                </a:solidFill>
                <a:latin typeface="微软雅黑" charset="0"/>
                <a:ea typeface="微软雅黑" charset="0"/>
                <a:cs typeface="+mj-cs"/>
              </a:rPr>
              <a:t>一个条件变量</a:t>
            </a:r>
            <a:endParaRPr lang="en-US" altLang="zh-CN" sz="2000" b="0" dirty="0">
              <a:solidFill>
                <a:srgbClr val="1557AE"/>
              </a:solidFill>
              <a:latin typeface="微软雅黑" charset="0"/>
              <a:ea typeface="微软雅黑" charset="0"/>
              <a:cs typeface="+mj-cs"/>
            </a:endParaRPr>
          </a:p>
          <a:p>
            <a:r>
              <a:rPr lang="zh-CN" altLang="zh-CN" sz="2000" b="0" dirty="0">
                <a:solidFill>
                  <a:srgbClr val="1557AE"/>
                </a:solidFill>
                <a:latin typeface="微软雅黑" charset="0"/>
                <a:ea typeface="微软雅黑" charset="0"/>
                <a:cs typeface="+mj-cs"/>
              </a:rPr>
              <a:t>（性别）</a:t>
            </a:r>
            <a:endParaRPr lang="zh-CN" altLang="en-US" sz="2000" b="0" dirty="0">
              <a:solidFill>
                <a:srgbClr val="1557AE"/>
              </a:solidFill>
              <a:latin typeface="微软雅黑" charset="0"/>
              <a:ea typeface="微软雅黑" charset="0"/>
              <a:cs typeface="+mj-cs"/>
            </a:endParaRPr>
          </a:p>
        </p:txBody>
      </p:sp>
      <p:sp>
        <p:nvSpPr>
          <p:cNvPr id="10" name="矩形 9"/>
          <p:cNvSpPr/>
          <p:nvPr/>
        </p:nvSpPr>
        <p:spPr>
          <a:xfrm>
            <a:off x="915368" y="4797152"/>
            <a:ext cx="1980030" cy="707886"/>
          </a:xfrm>
          <a:prstGeom prst="rect">
            <a:avLst/>
          </a:prstGeom>
        </p:spPr>
        <p:txBody>
          <a:bodyPr wrap="none">
            <a:spAutoFit/>
          </a:bodyPr>
          <a:lstStyle/>
          <a:p>
            <a:r>
              <a:rPr lang="zh-CN" altLang="en-US" sz="2000" b="0" dirty="0">
                <a:solidFill>
                  <a:srgbClr val="1557AE"/>
                </a:solidFill>
                <a:latin typeface="微软雅黑" charset="0"/>
                <a:ea typeface="微软雅黑" charset="0"/>
                <a:cs typeface="+mj-cs"/>
              </a:rPr>
              <a:t>两</a:t>
            </a:r>
            <a:r>
              <a:rPr lang="zh-CN" altLang="zh-CN" sz="2000" b="0" dirty="0">
                <a:solidFill>
                  <a:srgbClr val="1557AE"/>
                </a:solidFill>
                <a:latin typeface="微软雅黑" charset="0"/>
                <a:ea typeface="微软雅黑" charset="0"/>
                <a:cs typeface="+mj-cs"/>
              </a:rPr>
              <a:t>个条件变量</a:t>
            </a:r>
            <a:endParaRPr lang="en-US" altLang="zh-CN" sz="2000" b="0" dirty="0">
              <a:solidFill>
                <a:srgbClr val="1557AE"/>
              </a:solidFill>
              <a:latin typeface="微软雅黑" charset="0"/>
              <a:ea typeface="微软雅黑" charset="0"/>
              <a:cs typeface="+mj-cs"/>
            </a:endParaRPr>
          </a:p>
          <a:p>
            <a:r>
              <a:rPr lang="zh-CN" altLang="zh-CN" sz="2000" b="0" dirty="0">
                <a:solidFill>
                  <a:srgbClr val="1557AE"/>
                </a:solidFill>
                <a:latin typeface="微软雅黑" charset="0"/>
                <a:ea typeface="微软雅黑" charset="0"/>
                <a:cs typeface="+mj-cs"/>
              </a:rPr>
              <a:t>（</a:t>
            </a:r>
            <a:r>
              <a:rPr lang="zh-CN" altLang="en-US" sz="2000" b="0" dirty="0">
                <a:solidFill>
                  <a:srgbClr val="1557AE"/>
                </a:solidFill>
                <a:latin typeface="微软雅黑" charset="0"/>
                <a:ea typeface="微软雅黑" charset="0"/>
                <a:cs typeface="+mj-cs"/>
              </a:rPr>
              <a:t>性别与岛屿</a:t>
            </a:r>
            <a:r>
              <a:rPr lang="zh-CN" altLang="zh-CN" sz="2000" b="0" dirty="0">
                <a:solidFill>
                  <a:srgbClr val="1557AE"/>
                </a:solidFill>
                <a:latin typeface="微软雅黑" charset="0"/>
                <a:ea typeface="微软雅黑" charset="0"/>
                <a:cs typeface="+mj-cs"/>
              </a:rPr>
              <a:t>）</a:t>
            </a:r>
            <a:endParaRPr lang="zh-CN" altLang="en-US" sz="2000" b="0" dirty="0">
              <a:solidFill>
                <a:srgbClr val="1557AE"/>
              </a:solidFill>
              <a:latin typeface="微软雅黑" charset="0"/>
              <a:ea typeface="微软雅黑" charset="0"/>
              <a:cs typeface="+mj-cs"/>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7" name="Rectangle 3"/>
          <p:cNvSpPr>
            <a:spLocks noGrp="1" noChangeArrowheads="1"/>
          </p:cNvSpPr>
          <p:nvPr>
            <p:ph idx="1"/>
          </p:nvPr>
        </p:nvSpPr>
        <p:spPr>
          <a:xfrm>
            <a:off x="133866" y="1124744"/>
            <a:ext cx="8876268" cy="2530565"/>
          </a:xfrm>
        </p:spPr>
        <p:txBody>
          <a:bodyPr wrap="square">
            <a:spAutoFit/>
          </a:bodyPr>
          <a:lstStyle/>
          <a:p>
            <a:pPr eaLnBrk="1" hangingPunct="1">
              <a:lnSpc>
                <a:spcPct val="130000"/>
              </a:lnSpc>
              <a:spcBef>
                <a:spcPts val="600"/>
              </a:spcBef>
              <a:buClr>
                <a:srgbClr val="1557AE"/>
              </a:buClr>
              <a:buFont typeface="Wingdings" panose="05000000000000000000" pitchFamily="2" charset="2"/>
              <a:buChar char="n"/>
            </a:pPr>
            <a:r>
              <a:rPr lang="en-US" altLang="zh-CN" sz="2400" b="0" kern="1200" dirty="0">
                <a:solidFill>
                  <a:srgbClr val="FF0000"/>
                </a:solidFill>
                <a:cs typeface="微软雅黑" charset="0"/>
              </a:rPr>
              <a:t>loess</a:t>
            </a:r>
            <a:r>
              <a:rPr lang="zh-CN" altLang="en-US" sz="2400" b="0" kern="1200" dirty="0">
                <a:solidFill>
                  <a:srgbClr val="FF0000"/>
                </a:solidFill>
                <a:cs typeface="微软雅黑" charset="0"/>
              </a:rPr>
              <a:t>曲线</a:t>
            </a:r>
            <a:r>
              <a:rPr lang="zh-CN" altLang="en-US" sz="2400" b="0" kern="1200" dirty="0">
                <a:solidFill>
                  <a:srgbClr val="1557AE"/>
                </a:solidFill>
                <a:cs typeface="微软雅黑" charset="0"/>
              </a:rPr>
              <a:t>为散点图添加一条平滑的曲线，以便更好的观察两个变量间的依赖模式</a:t>
            </a:r>
            <a:endParaRPr lang="zh-CN" altLang="en-US" sz="2400" b="0" kern="1200" dirty="0">
              <a:solidFill>
                <a:srgbClr val="1557AE"/>
              </a:solidFill>
              <a:cs typeface="微软雅黑" charset="0"/>
            </a:endParaRPr>
          </a:p>
          <a:p>
            <a:pPr eaLnBrk="1" hangingPunct="1">
              <a:lnSpc>
                <a:spcPct val="130000"/>
              </a:lnSpc>
              <a:spcBef>
                <a:spcPts val="600"/>
              </a:spcBef>
              <a:buClr>
                <a:srgbClr val="1557AE"/>
              </a:buClr>
              <a:buFont typeface="Wingdings" panose="05000000000000000000" pitchFamily="2" charset="2"/>
              <a:buChar char="n"/>
            </a:pPr>
            <a:r>
              <a:rPr lang="en-US" altLang="zh-CN" sz="2400" b="0" kern="1200" dirty="0">
                <a:solidFill>
                  <a:srgbClr val="1557AE"/>
                </a:solidFill>
                <a:cs typeface="微软雅黑" charset="0"/>
              </a:rPr>
              <a:t>Loess (local regression)</a:t>
            </a:r>
            <a:r>
              <a:rPr lang="zh-CN" altLang="en-US" sz="2400" b="0" kern="1200" dirty="0">
                <a:solidFill>
                  <a:srgbClr val="1557AE"/>
                </a:solidFill>
                <a:cs typeface="微软雅黑" charset="0"/>
              </a:rPr>
              <a:t>意指“局部回归”，为了拟合</a:t>
            </a:r>
            <a:r>
              <a:rPr lang="en-US" altLang="zh-CN" sz="2400" b="0" kern="1200" dirty="0">
                <a:solidFill>
                  <a:srgbClr val="1557AE"/>
                </a:solidFill>
                <a:cs typeface="微软雅黑" charset="0"/>
              </a:rPr>
              <a:t>loess</a:t>
            </a:r>
            <a:r>
              <a:rPr lang="zh-CN" altLang="en-US" sz="2400" b="0" kern="1200" dirty="0">
                <a:solidFill>
                  <a:srgbClr val="1557AE"/>
                </a:solidFill>
                <a:cs typeface="微软雅黑" charset="0"/>
              </a:rPr>
              <a:t>曲线，需要两个参数：平滑参数</a:t>
            </a:r>
            <a:r>
              <a:rPr lang="en-US" altLang="zh-CN" sz="2400" b="0" kern="1200" dirty="0">
                <a:solidFill>
                  <a:srgbClr val="1557AE"/>
                </a:solidFill>
                <a:cs typeface="微软雅黑" charset="0"/>
              </a:rPr>
              <a:t>α </a:t>
            </a:r>
            <a:r>
              <a:rPr lang="zh-CN" altLang="en-US" sz="2400" b="0" kern="1200" dirty="0">
                <a:solidFill>
                  <a:srgbClr val="1557AE"/>
                </a:solidFill>
                <a:cs typeface="微软雅黑" charset="0"/>
              </a:rPr>
              <a:t>，被回归拟合的多项式的阶</a:t>
            </a:r>
            <a:r>
              <a:rPr lang="en-US" altLang="zh-CN" sz="2400" b="0" kern="1200" dirty="0">
                <a:solidFill>
                  <a:srgbClr val="1557AE"/>
                </a:solidFill>
                <a:cs typeface="微软雅黑" charset="0"/>
              </a:rPr>
              <a:t>λ </a:t>
            </a:r>
            <a:endParaRPr lang="en-US" altLang="zh-CN" sz="2400" b="0" kern="1200" dirty="0">
              <a:solidFill>
                <a:srgbClr val="1557AE"/>
              </a:solidFill>
              <a:cs typeface="微软雅黑" charset="0"/>
            </a:endParaRPr>
          </a:p>
        </p:txBody>
      </p:sp>
      <p:pic>
        <p:nvPicPr>
          <p:cNvPr id="276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43236" y="3933056"/>
            <a:ext cx="5713511" cy="26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弧形 5"/>
          <p:cNvSpPr/>
          <p:nvPr/>
        </p:nvSpPr>
        <p:spPr bwMode="auto">
          <a:xfrm rot="20356294">
            <a:off x="4145175" y="4530956"/>
            <a:ext cx="2376264" cy="2358369"/>
          </a:xfrm>
          <a:prstGeom prst="arc">
            <a:avLst>
              <a:gd name="adj1" fmla="val 12120737"/>
              <a:gd name="adj2" fmla="val 76019"/>
            </a:avLst>
          </a:prstGeom>
          <a:noFill/>
          <a:ln w="25400" cap="flat" cmpd="sng" algn="ctr">
            <a:solidFill>
              <a:schemeClr val="accent2">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latin typeface="微软雅黑" charset="0"/>
              <a:ea typeface="微软雅黑" charset="0"/>
            </a:endParaRPr>
          </a:p>
        </p:txBody>
      </p:sp>
      <p:sp>
        <p:nvSpPr>
          <p:cNvPr id="8"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pic>
        <p:nvPicPr>
          <p:cNvPr id="26626" name="Picture 2" descr="Pearson correlation coefficien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664" y="3717032"/>
            <a:ext cx="5485515" cy="1224136"/>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75576" y="1412776"/>
            <a:ext cx="8717607" cy="1963871"/>
          </a:xfrm>
          <a:prstGeom prst="rect">
            <a:avLst/>
          </a:prstGeom>
        </p:spPr>
        <p:txBody>
          <a:bodyPr wrap="square">
            <a:spAutoFit/>
          </a:bodyPr>
          <a:lstStyle/>
          <a:p>
            <a:pPr marL="469900" indent="-469900" algn="l">
              <a:lnSpc>
                <a:spcPct val="150000"/>
              </a:lnSpc>
              <a:spcBef>
                <a:spcPts val="600"/>
              </a:spcBef>
              <a:buClr>
                <a:srgbClr val="FF0000"/>
              </a:buClr>
              <a:buFont typeface="Wingdings" panose="05000000000000000000" pitchFamily="2" charset="2"/>
              <a:buChar char="n"/>
            </a:pPr>
            <a:r>
              <a:rPr lang="zh-CN" altLang="en-US" sz="2800" b="0" dirty="0">
                <a:solidFill>
                  <a:srgbClr val="FF0000"/>
                </a:solidFill>
                <a:latin typeface="微软雅黑" charset="0"/>
                <a:ea typeface="微软雅黑" charset="0"/>
                <a:cs typeface="微软雅黑" charset="0"/>
              </a:rPr>
              <a:t>皮尔逊相关系数（</a:t>
            </a:r>
            <a:r>
              <a:rPr lang="en-US" altLang="zh-CN" sz="2800" b="0" dirty="0">
                <a:solidFill>
                  <a:srgbClr val="FF0000"/>
                </a:solidFill>
                <a:latin typeface="微软雅黑" charset="0"/>
                <a:ea typeface="微软雅黑" charset="0"/>
                <a:cs typeface="微软雅黑" charset="0"/>
              </a:rPr>
              <a:t>Pearson correlation coefficient</a:t>
            </a:r>
            <a:r>
              <a:rPr lang="zh-CN" altLang="en-US" sz="2800" b="0" dirty="0">
                <a:solidFill>
                  <a:srgbClr val="FF0000"/>
                </a:solidFill>
                <a:latin typeface="微软雅黑" charset="0"/>
                <a:ea typeface="微软雅黑" charset="0"/>
                <a:cs typeface="微软雅黑" charset="0"/>
              </a:rPr>
              <a:t>）</a:t>
            </a:r>
            <a:r>
              <a:rPr lang="zh-CN" altLang="en-US" sz="2800" b="0" dirty="0">
                <a:solidFill>
                  <a:srgbClr val="1557AE"/>
                </a:solidFill>
                <a:latin typeface="微软雅黑" charset="0"/>
                <a:ea typeface="微软雅黑" charset="0"/>
                <a:cs typeface="微软雅黑" charset="0"/>
              </a:rPr>
              <a:t>度量两个变量</a:t>
            </a:r>
            <a:r>
              <a:rPr lang="en-US" altLang="zh-CN" sz="2800" b="0" i="1" dirty="0">
                <a:solidFill>
                  <a:srgbClr val="1557AE"/>
                </a:solidFill>
                <a:latin typeface="微软雅黑" charset="0"/>
                <a:ea typeface="微软雅黑" charset="0"/>
                <a:cs typeface="微软雅黑" charset="0"/>
              </a:rPr>
              <a:t>X</a:t>
            </a:r>
            <a:r>
              <a:rPr lang="zh-CN" altLang="en-US" sz="2800" b="0" dirty="0">
                <a:solidFill>
                  <a:srgbClr val="1557AE"/>
                </a:solidFill>
                <a:latin typeface="微软雅黑" charset="0"/>
                <a:ea typeface="微软雅黑" charset="0"/>
                <a:cs typeface="微软雅黑" charset="0"/>
              </a:rPr>
              <a:t>和</a:t>
            </a:r>
            <a:r>
              <a:rPr lang="en-US" altLang="zh-CN" sz="2800" b="0" i="1" dirty="0">
                <a:solidFill>
                  <a:srgbClr val="1557AE"/>
                </a:solidFill>
                <a:latin typeface="微软雅黑" charset="0"/>
                <a:ea typeface="微软雅黑" charset="0"/>
                <a:cs typeface="微软雅黑" charset="0"/>
              </a:rPr>
              <a:t>Y</a:t>
            </a:r>
            <a:r>
              <a:rPr lang="zh-CN" altLang="en-US" sz="2800" b="0" dirty="0">
                <a:solidFill>
                  <a:srgbClr val="1557AE"/>
                </a:solidFill>
                <a:latin typeface="微软雅黑" charset="0"/>
                <a:ea typeface="微软雅黑" charset="0"/>
                <a:cs typeface="微软雅黑" charset="0"/>
              </a:rPr>
              <a:t>之间的线性相关程度，介于</a:t>
            </a:r>
            <a:r>
              <a:rPr lang="en-US" altLang="zh-CN" sz="2800" b="0" dirty="0">
                <a:solidFill>
                  <a:srgbClr val="1557AE"/>
                </a:solidFill>
                <a:latin typeface="微软雅黑" charset="0"/>
                <a:ea typeface="微软雅黑" charset="0"/>
                <a:cs typeface="微软雅黑" charset="0"/>
              </a:rPr>
              <a:t>-1</a:t>
            </a:r>
            <a:r>
              <a:rPr lang="zh-CN" altLang="en-US" sz="2800" b="0" dirty="0">
                <a:solidFill>
                  <a:srgbClr val="1557AE"/>
                </a:solidFill>
                <a:latin typeface="微软雅黑" charset="0"/>
                <a:ea typeface="微软雅黑" charset="0"/>
                <a:cs typeface="微软雅黑" charset="0"/>
              </a:rPr>
              <a:t>与</a:t>
            </a:r>
            <a:r>
              <a:rPr lang="en-US" altLang="zh-CN" sz="2800" b="0" dirty="0">
                <a:solidFill>
                  <a:srgbClr val="1557AE"/>
                </a:solidFill>
                <a:latin typeface="微软雅黑" charset="0"/>
                <a:ea typeface="微软雅黑" charset="0"/>
                <a:cs typeface="微软雅黑" charset="0"/>
              </a:rPr>
              <a:t>1</a:t>
            </a:r>
            <a:r>
              <a:rPr lang="zh-CN" altLang="en-US" sz="2800" b="0" dirty="0">
                <a:solidFill>
                  <a:srgbClr val="1557AE"/>
                </a:solidFill>
                <a:latin typeface="微软雅黑" charset="0"/>
                <a:ea typeface="微软雅黑" charset="0"/>
                <a:cs typeface="微软雅黑" charset="0"/>
              </a:rPr>
              <a:t>之间。</a:t>
            </a:r>
            <a:endParaRPr lang="zh-CN" altLang="en-US" sz="2800" b="0" dirty="0">
              <a:solidFill>
                <a:srgbClr val="1557AE"/>
              </a:solidFill>
              <a:latin typeface="微软雅黑" charset="0"/>
              <a:ea typeface="微软雅黑" charset="0"/>
              <a:cs typeface="微软雅黑" charset="0"/>
            </a:endParaRPr>
          </a:p>
        </p:txBody>
      </p:sp>
      <p:sp>
        <p:nvSpPr>
          <p:cNvPr id="6"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b="0">
              <a:latin typeface="微软雅黑" charset="0"/>
              <a:ea typeface="微软雅黑" charset="0"/>
            </a:endParaRPr>
          </a:p>
        </p:txBody>
      </p:sp>
      <p:sp>
        <p:nvSpPr>
          <p:cNvPr id="9" name="Rectangle 3"/>
          <p:cNvSpPr txBox="1">
            <a:spLocks noChangeArrowheads="1"/>
          </p:cNvSpPr>
          <p:nvPr/>
        </p:nvSpPr>
        <p:spPr bwMode="auto">
          <a:xfrm>
            <a:off x="4660058" y="4941168"/>
            <a:ext cx="3534730" cy="1258341"/>
          </a:xfrm>
          <a:prstGeom prst="rect">
            <a:avLst/>
          </a:prstGeom>
          <a:solidFill>
            <a:srgbClr val="FFFFCC"/>
          </a:solidFill>
          <a:ln w="9525">
            <a:solidFill>
              <a:schemeClr val="accent2">
                <a:lumMod val="60000"/>
                <a:lumOff val="40000"/>
              </a:schemeClr>
            </a:solidFill>
            <a:miter lim="800000"/>
          </a:ln>
          <a:effectLst/>
        </p:spPr>
        <p:txBody>
          <a:bodyPr vert="horz" wrap="square" lIns="92075" tIns="46038" rIns="92075" bIns="46038" numCol="1" anchor="ctr" anchorCtr="1"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eaLnBrk="1" hangingPunct="1">
              <a:lnSpc>
                <a:spcPct val="120000"/>
              </a:lnSpc>
              <a:buClrTx/>
              <a:buNone/>
            </a:pPr>
            <a:r>
              <a:rPr lang="zh-CN" altLang="en-US" sz="2400" b="0" dirty="0">
                <a:latin typeface="微软雅黑" charset="0"/>
                <a:ea typeface="微软雅黑" charset="0"/>
                <a:cs typeface="Calibri" panose="020F0502020204030204" pitchFamily="34" charset="0"/>
              </a:rPr>
              <a:t>左半部分是正相关</a:t>
            </a:r>
            <a:endParaRPr lang="en-US" altLang="zh-CN" sz="2400" b="0" dirty="0">
              <a:latin typeface="微软雅黑" charset="0"/>
              <a:ea typeface="微软雅黑" charset="0"/>
              <a:cs typeface="Calibri" panose="020F0502020204030204" pitchFamily="34" charset="0"/>
            </a:endParaRPr>
          </a:p>
          <a:p>
            <a:pPr marL="0" indent="0" eaLnBrk="1" hangingPunct="1">
              <a:lnSpc>
                <a:spcPct val="120000"/>
              </a:lnSpc>
              <a:buClrTx/>
              <a:buNone/>
            </a:pPr>
            <a:r>
              <a:rPr lang="zh-CN" altLang="en-US" sz="2400" b="0" dirty="0">
                <a:latin typeface="微软雅黑" charset="0"/>
                <a:ea typeface="微软雅黑" charset="0"/>
                <a:cs typeface="Calibri" panose="020F0502020204030204" pitchFamily="34" charset="0"/>
              </a:rPr>
              <a:t>右半部分是负相关</a:t>
            </a:r>
            <a:endParaRPr lang="en-US" altLang="zh-CN" sz="2400" b="0" dirty="0">
              <a:solidFill>
                <a:schemeClr val="hlink"/>
              </a:solidFill>
              <a:latin typeface="微软雅黑" charset="0"/>
              <a:ea typeface="微软雅黑" charset="0"/>
              <a:cs typeface="Calibri" panose="020F0502020204030204" pitchFamily="34" charset="0"/>
            </a:endParaRPr>
          </a:p>
        </p:txBody>
      </p:sp>
      <p:pic>
        <p:nvPicPr>
          <p:cNvPr id="10" name="Picture 4" descr="ha02correl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4128" y="1772052"/>
            <a:ext cx="3166120" cy="2604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descr="ha02correl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717357"/>
            <a:ext cx="3499048" cy="265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6" descr="fig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4114799"/>
            <a:ext cx="3505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微软雅黑" charset="0"/>
              <a:ea typeface="微软雅黑" charset="0"/>
            </a:endParaRPr>
          </a:p>
        </p:txBody>
      </p:sp>
      <p:pic>
        <p:nvPicPr>
          <p:cNvPr id="8" name="Picture 3" descr="fig18-1"/>
          <p:cNvPicPr>
            <a:picLocks noGrp="1" noChangeAspect="1" noChangeArrowheads="1"/>
          </p:cNvPicPr>
          <p:nvPr>
            <p:ph sz="quarter" idx="4294967295"/>
          </p:nvPr>
        </p:nvPicPr>
        <p:blipFill>
          <a:blip r:embed="rId1" cstate="print">
            <a:extLst>
              <a:ext uri="{28A0092B-C50C-407E-A947-70E740481C1C}">
                <a14:useLocalDpi xmlns:a14="http://schemas.microsoft.com/office/drawing/2010/main" val="0"/>
              </a:ext>
            </a:extLst>
          </a:blip>
          <a:srcRect/>
          <a:stretch>
            <a:fillRect/>
          </a:stretch>
        </p:blipFill>
        <p:spPr>
          <a:xfrm>
            <a:off x="4781686" y="1556792"/>
            <a:ext cx="2908276" cy="2549777"/>
          </a:xfrm>
          <a:prstGeom prst="rect">
            <a:avLst/>
          </a:prstGeom>
          <a:noFill/>
        </p:spPr>
      </p:pic>
      <p:pic>
        <p:nvPicPr>
          <p:cNvPr id="13" name="Picture 4" descr="fig18-2"/>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a:xfrm>
            <a:off x="4781686" y="4221088"/>
            <a:ext cx="2927282" cy="2448272"/>
          </a:xfrm>
          <a:noFill/>
        </p:spPr>
      </p:pic>
      <p:pic>
        <p:nvPicPr>
          <p:cNvPr id="14" name="Picture 5" descr="fig18-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1043608" y="2204864"/>
            <a:ext cx="3600400" cy="3043195"/>
          </a:xfrm>
          <a:prstGeom prst="rect">
            <a:avLst/>
          </a:prstGeom>
          <a:noFill/>
        </p:spPr>
      </p:pic>
      <p:sp>
        <p:nvSpPr>
          <p:cNvPr id="15" name="Rectangle 3"/>
          <p:cNvSpPr txBox="1">
            <a:spLocks noChangeArrowheads="1"/>
          </p:cNvSpPr>
          <p:nvPr/>
        </p:nvSpPr>
        <p:spPr bwMode="auto">
          <a:xfrm>
            <a:off x="1619672" y="5517232"/>
            <a:ext cx="2676972" cy="851030"/>
          </a:xfrm>
          <a:prstGeom prst="rect">
            <a:avLst/>
          </a:prstGeom>
          <a:solidFill>
            <a:srgbClr val="FFFFCC"/>
          </a:solidFill>
          <a:ln w="9525">
            <a:solidFill>
              <a:schemeClr val="accent2">
                <a:lumMod val="60000"/>
                <a:lumOff val="40000"/>
              </a:schemeClr>
            </a:solidFill>
            <a:miter lim="800000"/>
          </a:ln>
          <a:effectLst/>
        </p:spPr>
        <p:txBody>
          <a:bodyPr vert="horz" wrap="square" lIns="92075" tIns="46038" rIns="92075" bIns="46038" numCol="1" anchor="ctr" anchorCtr="1"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eaLnBrk="1" hangingPunct="1">
              <a:lnSpc>
                <a:spcPct val="120000"/>
              </a:lnSpc>
              <a:buClrTx/>
              <a:buNone/>
            </a:pPr>
            <a:r>
              <a:rPr lang="zh-CN" altLang="en-US" sz="2400" dirty="0">
                <a:latin typeface="微软雅黑" charset="0"/>
                <a:ea typeface="微软雅黑" charset="0"/>
                <a:cs typeface="Calibri" panose="020F0502020204030204" pitchFamily="34" charset="0"/>
              </a:rPr>
              <a:t>不相关数据</a:t>
            </a:r>
            <a:endParaRPr lang="zh-CN" altLang="en-US" sz="2400" dirty="0">
              <a:latin typeface="微软雅黑" charset="0"/>
              <a:ea typeface="微软雅黑" charset="0"/>
              <a:cs typeface="Calibri" panose="020F0502020204030204" pitchFamily="34" charset="0"/>
            </a:endParaRPr>
          </a:p>
        </p:txBody>
      </p:sp>
      <p:sp>
        <p:nvSpPr>
          <p:cNvPr id="9"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微软雅黑" charset="0"/>
              <a:ea typeface="微软雅黑" charset="0"/>
            </a:endParaRPr>
          </a:p>
        </p:txBody>
      </p:sp>
      <p:sp>
        <p:nvSpPr>
          <p:cNvPr id="9"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pic>
        <p:nvPicPr>
          <p:cNvPr id="40962" name="Picture 2"/>
          <p:cNvPicPr>
            <a:picLocks noChangeAspect="1" noChangeArrowheads="1"/>
          </p:cNvPicPr>
          <p:nvPr>
            <p:custDataLst>
              <p:tags r:id="rId1"/>
            </p:custDataLst>
          </p:nvPr>
        </p:nvPicPr>
        <p:blipFill>
          <a:blip r:embed="rId2"/>
          <a:srcRect l="18571" t="15238" r="14286" b="20000"/>
          <a:stretch>
            <a:fillRect/>
          </a:stretch>
        </p:blipFill>
        <p:spPr bwMode="auto">
          <a:xfrm>
            <a:off x="990600" y="914400"/>
            <a:ext cx="3581400" cy="2590800"/>
          </a:xfrm>
          <a:prstGeom prst="rect">
            <a:avLst/>
          </a:prstGeom>
          <a:noFill/>
          <a:ln w="9525">
            <a:noFill/>
            <a:miter lim="800000"/>
            <a:headEnd/>
            <a:tailEnd/>
          </a:ln>
          <a:effectLst/>
        </p:spPr>
      </p:pic>
      <p:pic>
        <p:nvPicPr>
          <p:cNvPr id="40963" name="Picture 3"/>
          <p:cNvPicPr>
            <a:picLocks noChangeAspect="1" noChangeArrowheads="1"/>
          </p:cNvPicPr>
          <p:nvPr>
            <p:custDataLst>
              <p:tags r:id="rId3"/>
            </p:custDataLst>
          </p:nvPr>
        </p:nvPicPr>
        <p:blipFill>
          <a:blip r:embed="rId4"/>
          <a:srcRect/>
          <a:stretch>
            <a:fillRect/>
          </a:stretch>
        </p:blipFill>
        <p:spPr bwMode="auto">
          <a:xfrm>
            <a:off x="4953000" y="914400"/>
            <a:ext cx="3454400" cy="2590800"/>
          </a:xfrm>
          <a:prstGeom prst="rect">
            <a:avLst/>
          </a:prstGeom>
          <a:noFill/>
          <a:ln w="9525">
            <a:noFill/>
            <a:miter lim="800000"/>
            <a:headEnd/>
            <a:tailEnd/>
          </a:ln>
          <a:effectLst/>
        </p:spPr>
      </p:pic>
      <p:pic>
        <p:nvPicPr>
          <p:cNvPr id="76802" name="Picture 2" descr="http://www.mathworks.com/help/examples/matlab/SpecifyNumOfHistogramBinsExample_01.png"/>
          <p:cNvPicPr>
            <a:picLocks noChangeAspect="1" noChangeArrowheads="1"/>
          </p:cNvPicPr>
          <p:nvPr>
            <p:custDataLst>
              <p:tags r:id="rId5"/>
            </p:custDataLst>
          </p:nvPr>
        </p:nvPicPr>
        <p:blipFill>
          <a:blip r:embed="rId6">
            <a:extLst>
              <a:ext uri="{28A0092B-C50C-407E-A947-70E740481C1C}">
                <a14:useLocalDpi xmlns:a14="http://schemas.microsoft.com/office/drawing/2010/main" val="0"/>
              </a:ext>
            </a:extLst>
          </a:blip>
          <a:srcRect/>
          <a:stretch>
            <a:fillRect/>
          </a:stretch>
        </p:blipFill>
        <p:spPr bwMode="auto">
          <a:xfrm>
            <a:off x="4800600" y="3531068"/>
            <a:ext cx="3810000" cy="2857501"/>
          </a:xfrm>
          <a:prstGeom prst="rect">
            <a:avLst/>
          </a:prstGeom>
          <a:noFill/>
          <a:extLst>
            <a:ext uri="{909E8E84-426E-40DD-AFC4-6F175D3DCCD1}">
              <a14:hiddenFill xmlns:a14="http://schemas.microsoft.com/office/drawing/2010/main">
                <a:solidFill>
                  <a:srgbClr val="FFFFFF"/>
                </a:solidFill>
              </a14:hiddenFill>
            </a:ext>
          </a:extLst>
        </p:spPr>
      </p:pic>
      <p:pic>
        <p:nvPicPr>
          <p:cNvPr id="76805" name="Picture 5"/>
          <p:cNvPicPr>
            <a:picLocks noChangeAspect="1" noChangeArrowheads="1"/>
          </p:cNvPicPr>
          <p:nvPr>
            <p:custDataLst>
              <p:tags r:id="rId7"/>
            </p:custDataLst>
          </p:nvPr>
        </p:nvPicPr>
        <p:blipFill>
          <a:blip r:embed="rId8">
            <a:extLst>
              <a:ext uri="{28A0092B-C50C-407E-A947-70E740481C1C}">
                <a14:useLocalDpi xmlns:a14="http://schemas.microsoft.com/office/drawing/2010/main" val="0"/>
              </a:ext>
            </a:extLst>
          </a:blip>
          <a:srcRect/>
          <a:stretch>
            <a:fillRect/>
          </a:stretch>
        </p:blipFill>
        <p:spPr bwMode="auto">
          <a:xfrm>
            <a:off x="914400" y="3541496"/>
            <a:ext cx="38100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79705" y="981075"/>
            <a:ext cx="1522095" cy="460375"/>
          </a:xfrm>
          <a:prstGeom prst="rect">
            <a:avLst/>
          </a:prstGeom>
          <a:noFill/>
        </p:spPr>
        <p:txBody>
          <a:bodyPr wrap="square" rtlCol="0" anchor="t">
            <a:spAutoFit/>
          </a:bodyPr>
          <a:p>
            <a:r>
              <a:rPr lang="en-AU" altLang="zh-CN" sz="2400" dirty="0" smtClean="0">
                <a:latin typeface="微软雅黑" charset="0"/>
                <a:ea typeface="微软雅黑" charset="0"/>
                <a:sym typeface="+mn-ea"/>
              </a:rPr>
              <a:t>1D</a:t>
            </a:r>
            <a:endParaRPr lang="en-AU" altLang="zh-CN" sz="2400" dirty="0" smtClean="0">
              <a:latin typeface="微软雅黑" charset="0"/>
              <a:ea typeface="微软雅黑" charset="0"/>
              <a:sym typeface="+mn-ea"/>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微软雅黑" charset="0"/>
              <a:ea typeface="微软雅黑" charset="0"/>
            </a:endParaRPr>
          </a:p>
        </p:txBody>
      </p:sp>
      <p:sp>
        <p:nvSpPr>
          <p:cNvPr id="9"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pic>
        <p:nvPicPr>
          <p:cNvPr id="70660" name="Picture 4"/>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795338" y="1014413"/>
            <a:ext cx="7553325"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custDataLst>
              <p:tags r:id="rId3"/>
            </p:custDataLst>
          </p:nvPr>
        </p:nvSpPr>
        <p:spPr>
          <a:xfrm>
            <a:off x="179705" y="981075"/>
            <a:ext cx="1522095" cy="460375"/>
          </a:xfrm>
          <a:prstGeom prst="rect">
            <a:avLst/>
          </a:prstGeom>
          <a:noFill/>
        </p:spPr>
        <p:txBody>
          <a:bodyPr wrap="square" rtlCol="0" anchor="t">
            <a:spAutoFit/>
          </a:bodyPr>
          <a:p>
            <a:r>
              <a:rPr lang="en-US" altLang="en-AU" sz="2400" dirty="0" smtClean="0">
                <a:latin typeface="微软雅黑" charset="0"/>
                <a:ea typeface="微软雅黑" charset="0"/>
                <a:sym typeface="+mn-ea"/>
              </a:rPr>
              <a:t>2</a:t>
            </a:r>
            <a:r>
              <a:rPr lang="en-AU" altLang="zh-CN" sz="2400" dirty="0" smtClean="0">
                <a:latin typeface="微软雅黑" charset="0"/>
                <a:ea typeface="微软雅黑" charset="0"/>
                <a:sym typeface="+mn-ea"/>
              </a:rPr>
              <a:t>D</a:t>
            </a:r>
            <a:endParaRPr lang="en-AU" altLang="zh-CN" sz="2400" dirty="0" smtClean="0">
              <a:latin typeface="微软雅黑" charset="0"/>
              <a:ea typeface="微软雅黑" charset="0"/>
              <a:sym typeface="+mn-ea"/>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微软雅黑" charset="0"/>
              <a:ea typeface="微软雅黑" charset="0"/>
            </a:endParaRPr>
          </a:p>
        </p:txBody>
      </p:sp>
      <p:sp>
        <p:nvSpPr>
          <p:cNvPr id="9"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sp>
        <p:nvSpPr>
          <p:cNvPr id="4" name="文本框 3"/>
          <p:cNvSpPr txBox="1"/>
          <p:nvPr>
            <p:custDataLst>
              <p:tags r:id="rId1"/>
            </p:custDataLst>
          </p:nvPr>
        </p:nvSpPr>
        <p:spPr>
          <a:xfrm>
            <a:off x="179705" y="981075"/>
            <a:ext cx="1522095" cy="460375"/>
          </a:xfrm>
          <a:prstGeom prst="rect">
            <a:avLst/>
          </a:prstGeom>
          <a:noFill/>
        </p:spPr>
        <p:txBody>
          <a:bodyPr wrap="square" rtlCol="0" anchor="t">
            <a:spAutoFit/>
          </a:bodyPr>
          <a:p>
            <a:r>
              <a:rPr lang="en-US" altLang="en-AU" sz="2400" dirty="0" smtClean="0">
                <a:latin typeface="微软雅黑" charset="0"/>
                <a:ea typeface="微软雅黑" charset="0"/>
                <a:sym typeface="+mn-ea"/>
              </a:rPr>
              <a:t>3</a:t>
            </a:r>
            <a:r>
              <a:rPr lang="en-AU" altLang="zh-CN" sz="2400" dirty="0" smtClean="0">
                <a:latin typeface="微软雅黑" charset="0"/>
                <a:ea typeface="微软雅黑" charset="0"/>
                <a:sym typeface="+mn-ea"/>
              </a:rPr>
              <a:t>D</a:t>
            </a:r>
            <a:endParaRPr lang="en-AU" altLang="zh-CN" sz="2400" dirty="0" smtClean="0">
              <a:latin typeface="微软雅黑" charset="0"/>
              <a:ea typeface="微软雅黑" charset="0"/>
              <a:sym typeface="+mn-ea"/>
            </a:endParaRPr>
          </a:p>
        </p:txBody>
      </p:sp>
      <p:pic>
        <p:nvPicPr>
          <p:cNvPr id="5" name="Picture 6"/>
          <p:cNvPicPr>
            <a:picLocks noChangeAspect="1" noChangeArrowheads="1"/>
          </p:cNvPicPr>
          <p:nvPr>
            <p:custDataLst>
              <p:tags r:id="rId2"/>
            </p:custDataLst>
          </p:nvPr>
        </p:nvPicPr>
        <p:blipFill>
          <a:blip r:embed="rId3"/>
          <a:srcRect/>
          <a:stretch>
            <a:fillRect/>
          </a:stretch>
        </p:blipFill>
        <p:spPr bwMode="auto">
          <a:xfrm>
            <a:off x="4800600" y="1828800"/>
            <a:ext cx="3962400" cy="3352800"/>
          </a:xfrm>
          <a:prstGeom prst="rect">
            <a:avLst/>
          </a:prstGeom>
          <a:noFill/>
          <a:ln w="9525">
            <a:noFill/>
            <a:miter lim="800000"/>
            <a:headEnd/>
            <a:tailEnd/>
          </a:ln>
          <a:effectLst/>
        </p:spPr>
      </p:pic>
      <p:pic>
        <p:nvPicPr>
          <p:cNvPr id="43010" name="Picture 2"/>
          <p:cNvPicPr>
            <a:picLocks noChangeAspect="1" noChangeArrowheads="1"/>
          </p:cNvPicPr>
          <p:nvPr>
            <p:custDataLst>
              <p:tags r:id="rId4"/>
            </p:custDataLst>
          </p:nvPr>
        </p:nvPicPr>
        <p:blipFill>
          <a:blip r:embed="rId5"/>
          <a:srcRect/>
          <a:stretch>
            <a:fillRect/>
          </a:stretch>
        </p:blipFill>
        <p:spPr bwMode="auto">
          <a:xfrm>
            <a:off x="76200" y="1828800"/>
            <a:ext cx="5080000" cy="3810000"/>
          </a:xfrm>
          <a:prstGeom prst="rect">
            <a:avLst/>
          </a:prstGeom>
          <a:noFill/>
          <a:ln w="9525">
            <a:noFill/>
            <a:miter lim="800000"/>
            <a:headEnd/>
            <a:tailEnd/>
          </a:ln>
          <a:effec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微软雅黑" charset="0"/>
              <a:ea typeface="微软雅黑" charset="0"/>
            </a:endParaRPr>
          </a:p>
        </p:txBody>
      </p:sp>
      <p:sp>
        <p:nvSpPr>
          <p:cNvPr id="9"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pic>
        <p:nvPicPr>
          <p:cNvPr id="75780" name="Picture 4" descr="http://i.stack.imgur.com/bLzAX.png"/>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33400" y="1447800"/>
            <a:ext cx="8229600" cy="45341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fade">
                                      <p:cBhvr>
                                        <p:cTn id="7" dur="500"/>
                                        <p:tgtEl>
                                          <p:spTgt spid="75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微软雅黑" charset="0"/>
              <a:ea typeface="微软雅黑" charset="0"/>
            </a:endParaRPr>
          </a:p>
        </p:txBody>
      </p:sp>
      <p:sp>
        <p:nvSpPr>
          <p:cNvPr id="9"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pic>
        <p:nvPicPr>
          <p:cNvPr id="39938" name="Picture 2" descr="http://cluster.cis.drexel.edu/~cchen/citespace/gallery/index_files/nano.png"/>
          <p:cNvPicPr>
            <a:picLocks noChangeAspect="1" noChangeArrowheads="1"/>
          </p:cNvPicPr>
          <p:nvPr>
            <p:custDataLst>
              <p:tags r:id="rId1"/>
            </p:custDataLst>
          </p:nvPr>
        </p:nvPicPr>
        <p:blipFill>
          <a:blip r:embed="rId2" cstate="screen"/>
          <a:srcRect/>
          <a:stretch>
            <a:fillRect/>
          </a:stretch>
        </p:blipFill>
        <p:spPr bwMode="auto">
          <a:xfrm>
            <a:off x="1237615" y="1451610"/>
            <a:ext cx="7525385" cy="5177790"/>
          </a:xfrm>
          <a:prstGeom prst="rect">
            <a:avLst/>
          </a:prstGeom>
          <a:noFill/>
        </p:spPr>
      </p:pic>
      <p:sp>
        <p:nvSpPr>
          <p:cNvPr id="2" name="标题 1"/>
          <p:cNvSpPr>
            <a:spLocks noGrp="1"/>
          </p:cNvSpPr>
          <p:nvPr>
            <p:ph type="title"/>
            <p:custDataLst>
              <p:tags r:id="rId3"/>
            </p:custDataLst>
          </p:nvPr>
        </p:nvSpPr>
        <p:spPr>
          <a:xfrm>
            <a:off x="107315" y="810260"/>
            <a:ext cx="3228975" cy="636270"/>
          </a:xfrm>
        </p:spPr>
        <p:txBody>
          <a:bodyPr/>
          <a:p>
            <a:r>
              <a:rPr lang="en-AU" altLang="zh-CN" sz="2800" dirty="0" smtClean="0"/>
              <a:t>CiteSpace</a:t>
            </a:r>
            <a:endParaRPr lang="en-AU" altLang="zh-CN" sz="2800" dirty="0" smtClean="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AutoShape 2" descr="https://onlinecourses.science.psu.edu/stat100/sites/onlinecourses.science.psu.edu.stat100/files/lesson03/quartiles.gif"/>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微软雅黑" charset="0"/>
              <a:ea typeface="微软雅黑" charset="0"/>
            </a:endParaRPr>
          </a:p>
        </p:txBody>
      </p:sp>
      <p:sp>
        <p:nvSpPr>
          <p:cNvPr id="9" name="Rectangle 6"/>
          <p:cNvSpPr txBox="1">
            <a:spLocks noChangeArrowheads="1"/>
          </p:cNvSpPr>
          <p:nvPr/>
        </p:nvSpPr>
        <p:spPr bwMode="auto">
          <a:xfrm>
            <a:off x="317190" y="-99392"/>
            <a:ext cx="8365604"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2.0  </a:t>
            </a:r>
            <a:r>
              <a:rPr lang="zh-CN" altLang="en-US" sz="3600" b="0" dirty="0">
                <a:solidFill>
                  <a:srgbClr val="1557AE"/>
                </a:solidFill>
                <a:latin typeface="微软雅黑" charset="0"/>
                <a:ea typeface="微软雅黑" charset="0"/>
                <a:cs typeface="微软雅黑" charset="0"/>
              </a:rPr>
              <a:t>认识数据 </a:t>
            </a:r>
            <a:r>
              <a:rPr lang="en-US" altLang="zh-CN" sz="3600" b="0" dirty="0">
                <a:solidFill>
                  <a:srgbClr val="1557AE"/>
                </a:solidFill>
                <a:latin typeface="微软雅黑" charset="0"/>
                <a:ea typeface="微软雅黑" charset="0"/>
                <a:cs typeface="微软雅黑" charset="0"/>
              </a:rPr>
              <a:t>– </a:t>
            </a:r>
            <a:r>
              <a:rPr lang="zh-CN" altLang="en-US" sz="3600" b="0" dirty="0">
                <a:solidFill>
                  <a:srgbClr val="1557AE"/>
                </a:solidFill>
                <a:latin typeface="微软雅黑" charset="0"/>
                <a:ea typeface="微软雅黑" charset="0"/>
                <a:cs typeface="微软雅黑" charset="0"/>
              </a:rPr>
              <a:t>数据基本统计描述</a:t>
            </a:r>
            <a:endParaRPr lang="zh-CN" altLang="en-US" sz="3600" b="0" dirty="0">
              <a:solidFill>
                <a:srgbClr val="1557AE"/>
              </a:solidFill>
              <a:latin typeface="微软雅黑" charset="0"/>
              <a:ea typeface="微软雅黑" charset="0"/>
              <a:cs typeface="微软雅黑" charset="0"/>
            </a:endParaRPr>
          </a:p>
        </p:txBody>
      </p:sp>
      <p:pic>
        <p:nvPicPr>
          <p:cNvPr id="74758" name="Picture 6" descr=" "/>
          <p:cNvPicPr>
            <a:picLocks noChangeAspect="1" noChangeArrowheads="1"/>
          </p:cNvPicPr>
          <p:nvPr>
            <p:custDataLst>
              <p:tags r:id="rId1"/>
            </p:custDataLst>
          </p:nvPr>
        </p:nvPicPr>
        <p:blipFill>
          <a:blip r:embed="rId2" cstate="email"/>
          <a:srcRect/>
          <a:stretch>
            <a:fillRect/>
          </a:stretch>
        </p:blipFill>
        <p:spPr bwMode="auto">
          <a:xfrm>
            <a:off x="5868035" y="4437507"/>
            <a:ext cx="2895600" cy="1969008"/>
          </a:xfrm>
          <a:prstGeom prst="rect">
            <a:avLst/>
          </a:prstGeom>
          <a:noFill/>
        </p:spPr>
      </p:pic>
      <p:pic>
        <p:nvPicPr>
          <p:cNvPr id="74760" name="Picture 8" descr="https://gephi.org/wp-content/themes/gephi/images/screenshots/layout1-mini.png">
            <a:hlinkClick r:id="rId3" tooltip="Force-based Layout"/>
          </p:cNvPr>
          <p:cNvPicPr>
            <a:picLocks noChangeAspect="1" noChangeArrowheads="1"/>
          </p:cNvPicPr>
          <p:nvPr>
            <p:custDataLst>
              <p:tags r:id="rId4"/>
            </p:custDataLst>
          </p:nvPr>
        </p:nvPicPr>
        <p:blipFill>
          <a:blip r:embed="rId5" cstate="email"/>
          <a:srcRect/>
          <a:stretch>
            <a:fillRect/>
          </a:stretch>
        </p:blipFill>
        <p:spPr bwMode="auto">
          <a:xfrm>
            <a:off x="5435523" y="1196975"/>
            <a:ext cx="3098242" cy="2819400"/>
          </a:xfrm>
          <a:prstGeom prst="rect">
            <a:avLst/>
          </a:prstGeom>
          <a:noFill/>
        </p:spPr>
      </p:pic>
      <p:pic>
        <p:nvPicPr>
          <p:cNvPr id="48130" name="Picture 2" descr="screenshot">
            <a:hlinkClick r:id="rId6" tooltip="Introducing Gephi 0.7"/>
          </p:cNvPr>
          <p:cNvPicPr>
            <a:picLocks noChangeAspect="1" noChangeArrowheads="1"/>
          </p:cNvPicPr>
          <p:nvPr>
            <p:custDataLst>
              <p:tags r:id="rId7"/>
            </p:custDataLst>
          </p:nvPr>
        </p:nvPicPr>
        <p:blipFill>
          <a:blip r:embed="rId8"/>
          <a:srcRect/>
          <a:stretch>
            <a:fillRect/>
          </a:stretch>
        </p:blipFill>
        <p:spPr bwMode="auto">
          <a:xfrm>
            <a:off x="467359" y="2205019"/>
            <a:ext cx="5486401" cy="3445846"/>
          </a:xfrm>
          <a:prstGeom prst="rect">
            <a:avLst/>
          </a:prstGeom>
          <a:noFill/>
        </p:spPr>
      </p:pic>
      <p:sp>
        <p:nvSpPr>
          <p:cNvPr id="2" name="标题 1"/>
          <p:cNvSpPr>
            <a:spLocks noGrp="1"/>
          </p:cNvSpPr>
          <p:nvPr>
            <p:ph type="title"/>
            <p:custDataLst>
              <p:tags r:id="rId9"/>
            </p:custDataLst>
          </p:nvPr>
        </p:nvSpPr>
        <p:spPr>
          <a:xfrm>
            <a:off x="107315" y="810260"/>
            <a:ext cx="3228975" cy="636270"/>
          </a:xfrm>
        </p:spPr>
        <p:txBody>
          <a:bodyPr/>
          <a:p>
            <a:r>
              <a:rPr lang="en-US" altLang="en-AU" sz="2800" dirty="0" smtClean="0"/>
              <a:t>Gephi</a:t>
            </a:r>
            <a:endParaRPr lang="en-US" altLang="en-AU" sz="2800" dirty="0" smtClean="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kern="1200" dirty="0"/>
              <a:t>统计量与群智</a:t>
            </a:r>
            <a:endParaRPr lang="zh-CN" altLang="en-US" sz="3600" kern="1200" dirty="0"/>
          </a:p>
        </p:txBody>
      </p:sp>
      <p:sp>
        <p:nvSpPr>
          <p:cNvPr id="4" name="矩形 3"/>
          <p:cNvSpPr/>
          <p:nvPr/>
        </p:nvSpPr>
        <p:spPr>
          <a:xfrm>
            <a:off x="478168" y="1672514"/>
            <a:ext cx="8394192" cy="461665"/>
          </a:xfrm>
          <a:prstGeom prst="rect">
            <a:avLst/>
          </a:prstGeom>
        </p:spPr>
        <p:txBody>
          <a:bodyPr wrap="square">
            <a:spAutoFit/>
          </a:bodyPr>
          <a:lstStyle/>
          <a:p>
            <a:r>
              <a:rPr lang="zh-CN" altLang="zh-CN" sz="2400" b="0" kern="0" dirty="0">
                <a:solidFill>
                  <a:srgbClr val="FF0000"/>
                </a:solidFill>
                <a:latin typeface="微软雅黑" charset="0"/>
                <a:ea typeface="微软雅黑" charset="0"/>
              </a:rPr>
              <a:t>群体智能</a:t>
            </a:r>
            <a:r>
              <a:rPr lang="zh-CN" altLang="en-US" sz="2400" b="0" kern="0" dirty="0">
                <a:solidFill>
                  <a:srgbClr val="FF0000"/>
                </a:solidFill>
                <a:latin typeface="微软雅黑" charset="0"/>
                <a:ea typeface="微软雅黑" charset="0"/>
              </a:rPr>
              <a:t>：</a:t>
            </a:r>
            <a:r>
              <a:rPr lang="zh-CN" altLang="zh-CN" sz="2400" b="0" kern="0" dirty="0">
                <a:solidFill>
                  <a:srgbClr val="1557AE"/>
                </a:solidFill>
                <a:latin typeface="微软雅黑" charset="0"/>
                <a:ea typeface="微软雅黑" charset="0"/>
              </a:rPr>
              <a:t>群体在宏观层面涌现出的超过个体的智能水平。</a:t>
            </a:r>
            <a:endParaRPr lang="zh-CN" altLang="en-US" sz="2400" b="0" kern="0" dirty="0">
              <a:solidFill>
                <a:srgbClr val="1557AE"/>
              </a:solidFill>
              <a:latin typeface="微软雅黑" charset="0"/>
              <a:ea typeface="微软雅黑" charset="0"/>
            </a:endParaRPr>
          </a:p>
        </p:txBody>
      </p:sp>
      <p:graphicFrame>
        <p:nvGraphicFramePr>
          <p:cNvPr id="5" name="表格 4"/>
          <p:cNvGraphicFramePr>
            <a:graphicFrameLocks noGrp="1"/>
          </p:cNvGraphicFramePr>
          <p:nvPr/>
        </p:nvGraphicFramePr>
        <p:xfrm>
          <a:off x="234906" y="2348880"/>
          <a:ext cx="8680537" cy="3933822"/>
        </p:xfrm>
        <a:graphic>
          <a:graphicData uri="http://schemas.openxmlformats.org/drawingml/2006/table">
            <a:tbl>
              <a:tblPr firstRow="1" bandRow="1"/>
              <a:tblGrid>
                <a:gridCol w="2893512"/>
                <a:gridCol w="2802347"/>
                <a:gridCol w="2984678"/>
              </a:tblGrid>
              <a:tr h="1903112">
                <a:tc>
                  <a:txBody>
                    <a:bodyPr/>
                    <a:lstStyle/>
                    <a:p>
                      <a:pPr algn="just">
                        <a:lnSpc>
                          <a:spcPct val="120000"/>
                        </a:lnSpc>
                        <a:spcAft>
                          <a:spcPts val="0"/>
                        </a:spcAft>
                      </a:pPr>
                      <a:endParaRPr lang="zh-CN" altLang="zh-CN" sz="2200" kern="0" dirty="0">
                        <a:solidFill>
                          <a:srgbClr val="1557AE"/>
                        </a:solidFill>
                        <a:latin typeface="微软雅黑" charset="0"/>
                        <a:ea typeface="微软雅黑" charset="0"/>
                      </a:endParaRPr>
                    </a:p>
                  </a:txBody>
                  <a:tcPr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lnSpc>
                          <a:spcPct val="120000"/>
                        </a:lnSpc>
                        <a:spcAft>
                          <a:spcPts val="0"/>
                        </a:spcAft>
                      </a:pPr>
                      <a:endParaRPr lang="zh-CN" altLang="zh-CN" sz="2200" kern="0" dirty="0">
                        <a:solidFill>
                          <a:srgbClr val="1557AE"/>
                        </a:solidFill>
                        <a:latin typeface="微软雅黑" charset="0"/>
                        <a:ea typeface="微软雅黑" charset="0"/>
                      </a:endParaRPr>
                    </a:p>
                  </a:txBody>
                  <a:tcPr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lnSpc>
                          <a:spcPct val="120000"/>
                        </a:lnSpc>
                        <a:spcAft>
                          <a:spcPts val="0"/>
                        </a:spcAft>
                      </a:pPr>
                      <a:endParaRPr lang="zh-CN" altLang="zh-CN" sz="2200" kern="0" dirty="0">
                        <a:solidFill>
                          <a:srgbClr val="1557AE"/>
                        </a:solidFill>
                        <a:latin typeface="微软雅黑" charset="0"/>
                        <a:ea typeface="微软雅黑" charset="0"/>
                      </a:endParaRPr>
                    </a:p>
                  </a:txBody>
                  <a:tcPr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030710">
                <a:tc>
                  <a:txBody>
                    <a:bodyPr/>
                    <a:lstStyle/>
                    <a:p>
                      <a:pPr marL="0" marR="0" lvl="0" indent="0" algn="l" defTabSz="914400" rtl="0" eaLnBrk="1" fontAlgn="auto" latinLnBrk="0" hangingPunct="1">
                        <a:lnSpc>
                          <a:spcPct val="120000"/>
                        </a:lnSpc>
                        <a:spcBef>
                          <a:spcPts val="0"/>
                        </a:spcBef>
                        <a:spcAft>
                          <a:spcPts val="0"/>
                        </a:spcAft>
                        <a:buClrTx/>
                        <a:buSzTx/>
                        <a:buFontTx/>
                        <a:buNone/>
                        <a:defRPr/>
                      </a:pPr>
                      <a:endParaRPr lang="zh-CN" altLang="en-US" sz="2200" dirty="0">
                        <a:latin typeface="微软雅黑" charset="0"/>
                        <a:ea typeface="微软雅黑" charset="0"/>
                      </a:endParaRPr>
                    </a:p>
                  </a:txBody>
                  <a:tcPr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20000"/>
                        </a:lnSpc>
                        <a:spcBef>
                          <a:spcPts val="0"/>
                        </a:spcBef>
                        <a:spcAft>
                          <a:spcPts val="0"/>
                        </a:spcAft>
                        <a:buClrTx/>
                        <a:buSzTx/>
                        <a:buFontTx/>
                        <a:buNone/>
                        <a:defRPr/>
                      </a:pPr>
                      <a:endParaRPr lang="zh-CN" altLang="en-US" sz="2200" dirty="0">
                        <a:latin typeface="微软雅黑" charset="0"/>
                        <a:ea typeface="微软雅黑" charset="0"/>
                      </a:endParaRPr>
                    </a:p>
                  </a:txBody>
                  <a:tcPr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20000"/>
                        </a:lnSpc>
                        <a:spcBef>
                          <a:spcPts val="0"/>
                        </a:spcBef>
                        <a:spcAft>
                          <a:spcPts val="0"/>
                        </a:spcAft>
                        <a:buClrTx/>
                        <a:buSzTx/>
                        <a:buFontTx/>
                        <a:buNone/>
                        <a:defRPr/>
                      </a:pPr>
                      <a:endParaRPr lang="zh-CN" altLang="en-US" sz="2200" dirty="0">
                        <a:latin typeface="微软雅黑" charset="0"/>
                        <a:ea typeface="微软雅黑" charset="0"/>
                      </a:endParaRPr>
                    </a:p>
                  </a:txBody>
                  <a:tcPr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pic>
        <p:nvPicPr>
          <p:cNvPr id="6" name="图片 5"/>
          <p:cNvPicPr/>
          <p:nvPr/>
        </p:nvPicPr>
        <p:blipFill rotWithShape="1">
          <a:blip r:embed="rId1" cstate="print"/>
          <a:srcRect b="-1"/>
          <a:stretch>
            <a:fillRect/>
          </a:stretch>
        </p:blipFill>
        <p:spPr bwMode="auto">
          <a:xfrm>
            <a:off x="3283435" y="2410907"/>
            <a:ext cx="2419216" cy="1499459"/>
          </a:xfrm>
          <a:prstGeom prst="rect">
            <a:avLst/>
          </a:prstGeom>
          <a:noFill/>
          <a:ln>
            <a:noFill/>
          </a:ln>
        </p:spPr>
      </p:pic>
      <p:pic>
        <p:nvPicPr>
          <p:cNvPr id="7" name="图片 6"/>
          <p:cNvPicPr/>
          <p:nvPr/>
        </p:nvPicPr>
        <p:blipFill rotWithShape="1">
          <a:blip r:embed="rId2" cstate="print"/>
          <a:srcRect/>
          <a:stretch>
            <a:fillRect/>
          </a:stretch>
        </p:blipFill>
        <p:spPr bwMode="auto">
          <a:xfrm>
            <a:off x="6206334" y="2411575"/>
            <a:ext cx="2472652" cy="1498791"/>
          </a:xfrm>
          <a:prstGeom prst="rect">
            <a:avLst/>
          </a:prstGeom>
          <a:noFill/>
          <a:ln>
            <a:noFill/>
          </a:ln>
        </p:spPr>
      </p:pic>
      <p:sp>
        <p:nvSpPr>
          <p:cNvPr id="8" name="矩形 7"/>
          <p:cNvSpPr/>
          <p:nvPr/>
        </p:nvSpPr>
        <p:spPr>
          <a:xfrm>
            <a:off x="386869" y="3850696"/>
            <a:ext cx="2693096" cy="369332"/>
          </a:xfrm>
          <a:prstGeom prst="rect">
            <a:avLst/>
          </a:prstGeom>
          <a:noFill/>
        </p:spPr>
        <p:txBody>
          <a:bodyPr wrap="square">
            <a:spAutoFit/>
          </a:bodyPr>
          <a:lstStyle/>
          <a:p>
            <a:r>
              <a:rPr lang="zh-CN" altLang="en-US" b="0" kern="0" dirty="0">
                <a:solidFill>
                  <a:srgbClr val="FF0000"/>
                </a:solidFill>
                <a:latin typeface="微软雅黑" charset="0"/>
                <a:ea typeface="微软雅黑" charset="0"/>
                <a:cs typeface="微软雅黑" charset="0"/>
              </a:rPr>
              <a:t>范式</a:t>
            </a:r>
            <a:r>
              <a:rPr lang="en-US" altLang="zh-CN" b="0" kern="0" dirty="0">
                <a:solidFill>
                  <a:srgbClr val="FF0000"/>
                </a:solidFill>
                <a:latin typeface="微软雅黑" charset="0"/>
                <a:ea typeface="微软雅黑" charset="0"/>
                <a:cs typeface="微软雅黑" charset="0"/>
              </a:rPr>
              <a:t>1</a:t>
            </a:r>
            <a:r>
              <a:rPr lang="zh-CN" altLang="en-US" b="0" kern="0" dirty="0">
                <a:solidFill>
                  <a:srgbClr val="FF0000"/>
                </a:solidFill>
                <a:latin typeface="微软雅黑" charset="0"/>
                <a:ea typeface="微软雅黑" charset="0"/>
                <a:cs typeface="微软雅黑" charset="0"/>
              </a:rPr>
              <a:t>：无交互、无反馈</a:t>
            </a:r>
            <a:endParaRPr lang="zh-CN" altLang="en-US" b="0" dirty="0">
              <a:solidFill>
                <a:srgbClr val="FF0000"/>
              </a:solidFill>
              <a:latin typeface="微软雅黑" charset="0"/>
              <a:ea typeface="微软雅黑" charset="0"/>
              <a:cs typeface="微软雅黑" charset="0"/>
            </a:endParaRPr>
          </a:p>
        </p:txBody>
      </p:sp>
      <p:pic>
        <p:nvPicPr>
          <p:cNvPr id="9" name="图片 8"/>
          <p:cNvPicPr/>
          <p:nvPr/>
        </p:nvPicPr>
        <p:blipFill rotWithShape="1">
          <a:blip r:embed="rId3" cstate="print"/>
          <a:srcRect/>
          <a:stretch>
            <a:fillRect/>
          </a:stretch>
        </p:blipFill>
        <p:spPr bwMode="auto">
          <a:xfrm>
            <a:off x="579984" y="2410907"/>
            <a:ext cx="2306867" cy="1423825"/>
          </a:xfrm>
          <a:prstGeom prst="rect">
            <a:avLst/>
          </a:prstGeom>
          <a:ln>
            <a:noFill/>
          </a:ln>
        </p:spPr>
      </p:pic>
      <p:sp>
        <p:nvSpPr>
          <p:cNvPr id="10" name="矩形 9"/>
          <p:cNvSpPr/>
          <p:nvPr/>
        </p:nvSpPr>
        <p:spPr>
          <a:xfrm>
            <a:off x="3177120" y="3850696"/>
            <a:ext cx="2693096" cy="369332"/>
          </a:xfrm>
          <a:prstGeom prst="rect">
            <a:avLst/>
          </a:prstGeom>
          <a:noFill/>
        </p:spPr>
        <p:txBody>
          <a:bodyPr wrap="square">
            <a:spAutoFit/>
          </a:bodyPr>
          <a:lstStyle/>
          <a:p>
            <a:r>
              <a:rPr lang="zh-CN" altLang="en-US" b="0" kern="0" dirty="0">
                <a:solidFill>
                  <a:srgbClr val="FF0000"/>
                </a:solidFill>
                <a:latin typeface="微软雅黑" charset="0"/>
                <a:ea typeface="微软雅黑" charset="0"/>
                <a:cs typeface="微软雅黑" charset="0"/>
              </a:rPr>
              <a:t>范式</a:t>
            </a:r>
            <a:r>
              <a:rPr lang="en-US" altLang="zh-CN" b="0" kern="0" dirty="0">
                <a:solidFill>
                  <a:srgbClr val="FF0000"/>
                </a:solidFill>
                <a:latin typeface="微软雅黑" charset="0"/>
                <a:ea typeface="微软雅黑" charset="0"/>
                <a:cs typeface="微软雅黑" charset="0"/>
              </a:rPr>
              <a:t>2</a:t>
            </a:r>
            <a:r>
              <a:rPr lang="zh-CN" altLang="en-US" b="0" kern="0" dirty="0">
                <a:solidFill>
                  <a:srgbClr val="FF0000"/>
                </a:solidFill>
                <a:latin typeface="微软雅黑" charset="0"/>
                <a:ea typeface="微软雅黑" charset="0"/>
                <a:cs typeface="微软雅黑" charset="0"/>
              </a:rPr>
              <a:t>：有交互、无反馈</a:t>
            </a:r>
            <a:endParaRPr lang="zh-CN" altLang="en-US" b="0" dirty="0">
              <a:solidFill>
                <a:srgbClr val="FF0000"/>
              </a:solidFill>
              <a:latin typeface="微软雅黑" charset="0"/>
              <a:ea typeface="微软雅黑" charset="0"/>
              <a:cs typeface="微软雅黑" charset="0"/>
            </a:endParaRPr>
          </a:p>
        </p:txBody>
      </p:sp>
      <p:sp>
        <p:nvSpPr>
          <p:cNvPr id="11" name="矩形 10"/>
          <p:cNvSpPr/>
          <p:nvPr/>
        </p:nvSpPr>
        <p:spPr>
          <a:xfrm>
            <a:off x="6050258" y="3850696"/>
            <a:ext cx="2693096" cy="369332"/>
          </a:xfrm>
          <a:prstGeom prst="rect">
            <a:avLst/>
          </a:prstGeom>
          <a:noFill/>
        </p:spPr>
        <p:txBody>
          <a:bodyPr wrap="square">
            <a:spAutoFit/>
          </a:bodyPr>
          <a:lstStyle/>
          <a:p>
            <a:r>
              <a:rPr lang="zh-CN" altLang="en-US" b="0" kern="0" dirty="0">
                <a:solidFill>
                  <a:srgbClr val="FF0000"/>
                </a:solidFill>
                <a:latin typeface="微软雅黑" charset="0"/>
                <a:ea typeface="微软雅黑" charset="0"/>
                <a:cs typeface="微软雅黑" charset="0"/>
              </a:rPr>
              <a:t>范式</a:t>
            </a:r>
            <a:r>
              <a:rPr lang="en-US" altLang="zh-CN" b="0" kern="0" dirty="0">
                <a:solidFill>
                  <a:srgbClr val="FF0000"/>
                </a:solidFill>
                <a:latin typeface="微软雅黑" charset="0"/>
                <a:ea typeface="微软雅黑" charset="0"/>
                <a:cs typeface="微软雅黑" charset="0"/>
              </a:rPr>
              <a:t>3</a:t>
            </a:r>
            <a:r>
              <a:rPr lang="zh-CN" altLang="en-US" b="0" kern="0" dirty="0">
                <a:solidFill>
                  <a:srgbClr val="FF0000"/>
                </a:solidFill>
                <a:latin typeface="微软雅黑" charset="0"/>
                <a:ea typeface="微软雅黑" charset="0"/>
                <a:cs typeface="微软雅黑" charset="0"/>
              </a:rPr>
              <a:t>：有交互、有反馈</a:t>
            </a:r>
            <a:endParaRPr lang="zh-CN" altLang="en-US" b="0" dirty="0">
              <a:solidFill>
                <a:srgbClr val="FF0000"/>
              </a:solidFill>
              <a:latin typeface="微软雅黑" charset="0"/>
              <a:ea typeface="微软雅黑" charset="0"/>
              <a:cs typeface="微软雅黑" charset="0"/>
            </a:endParaRPr>
          </a:p>
        </p:txBody>
      </p:sp>
      <p:pic>
        <p:nvPicPr>
          <p:cNvPr id="12" name="图片 11"/>
          <p:cNvPicPr>
            <a:picLocks noChangeAspect="1"/>
          </p:cNvPicPr>
          <p:nvPr/>
        </p:nvPicPr>
        <p:blipFill rotWithShape="1">
          <a:blip r:embed="rId4"/>
          <a:srcRect t="27067" r="44963" b="24704"/>
          <a:stretch>
            <a:fillRect/>
          </a:stretch>
        </p:blipFill>
        <p:spPr>
          <a:xfrm>
            <a:off x="309044" y="4579162"/>
            <a:ext cx="2593998" cy="1418278"/>
          </a:xfrm>
          <a:prstGeom prst="rect">
            <a:avLst/>
          </a:prstGeom>
        </p:spPr>
      </p:pic>
      <p:pic>
        <p:nvPicPr>
          <p:cNvPr id="13" name="图片 12" descr="http://www.uh.edu/engines/Tic-tac-toe_many_times_over.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77120" y="4402805"/>
            <a:ext cx="1798020" cy="1697119"/>
          </a:xfrm>
          <a:prstGeom prst="rect">
            <a:avLst/>
          </a:prstGeom>
          <a:noFill/>
          <a:ln>
            <a:noFill/>
          </a:ln>
        </p:spPr>
      </p:pic>
      <p:sp>
        <p:nvSpPr>
          <p:cNvPr id="14" name="矩形 13"/>
          <p:cNvSpPr/>
          <p:nvPr/>
        </p:nvSpPr>
        <p:spPr>
          <a:xfrm>
            <a:off x="4783573" y="4754950"/>
            <a:ext cx="931290" cy="1200329"/>
          </a:xfrm>
          <a:prstGeom prst="rect">
            <a:avLst/>
          </a:prstGeom>
        </p:spPr>
        <p:txBody>
          <a:bodyPr wrap="square">
            <a:spAutoFit/>
          </a:bodyPr>
          <a:lstStyle/>
          <a:p>
            <a:pPr algn="ctr"/>
            <a:r>
              <a:rPr lang="en-US" altLang="zh-CN" b="0" dirty="0">
                <a:solidFill>
                  <a:srgbClr val="1557AE"/>
                </a:solidFill>
                <a:latin typeface="微软雅黑" charset="0"/>
                <a:ea typeface="微软雅黑" charset="0"/>
                <a:cs typeface="微软雅黑" charset="0"/>
              </a:rPr>
              <a:t>DHT</a:t>
            </a:r>
            <a:r>
              <a:rPr lang="zh-CN" altLang="en-US" b="0" dirty="0">
                <a:solidFill>
                  <a:srgbClr val="1557AE"/>
                </a:solidFill>
                <a:latin typeface="微软雅黑" charset="0"/>
                <a:ea typeface="微软雅黑" charset="0"/>
                <a:cs typeface="微软雅黑" charset="0"/>
              </a:rPr>
              <a:t>定理的合作证明</a:t>
            </a:r>
            <a:endParaRPr lang="zh-CN" altLang="en-US" b="0" dirty="0">
              <a:solidFill>
                <a:srgbClr val="1557AE"/>
              </a:solidFill>
              <a:latin typeface="微软雅黑" charset="0"/>
              <a:ea typeface="微软雅黑" charset="0"/>
              <a:cs typeface="微软雅黑" charset="0"/>
            </a:endParaRPr>
          </a:p>
        </p:txBody>
      </p:sp>
      <p:pic>
        <p:nvPicPr>
          <p:cNvPr id="15" name="图片 14"/>
          <p:cNvPicPr>
            <a:picLocks noChangeAspect="1"/>
          </p:cNvPicPr>
          <p:nvPr/>
        </p:nvPicPr>
        <p:blipFill rotWithShape="1">
          <a:blip r:embed="rId6"/>
          <a:srcRect l="47558" t="49399"/>
          <a:stretch>
            <a:fillRect/>
          </a:stretch>
        </p:blipFill>
        <p:spPr>
          <a:xfrm>
            <a:off x="6190661" y="4509596"/>
            <a:ext cx="2633368" cy="1557410"/>
          </a:xfrm>
          <a:prstGeom prst="rect">
            <a:avLst/>
          </a:prstGeom>
        </p:spPr>
      </p:pic>
    </p:spTree>
  </p:cSld>
  <p:clrMapOvr>
    <a:masterClrMapping/>
  </p:clrMapOvr>
  <p:transition>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descr="%FontSize=12&#10;%TeXFontSize=12&#10;\documentclass{article}&#10;\pagestyle{empty}&#10;\begin{document}&#10;\[&#10;CE=AIE-GD&#10;\]&#10;\end{document}"/>
          <p:cNvPicPr/>
          <p:nvPr/>
        </p:nvPicPr>
        <p:blipFill>
          <a:blip r:embed="rId1" cstate="print">
            <a:lum/>
            <a:extLst>
              <a:ext uri="{28A0092B-C50C-407E-A947-70E740481C1C}">
                <a14:useLocalDpi xmlns:a14="http://schemas.microsoft.com/office/drawing/2010/main" val="0"/>
              </a:ext>
            </a:extLst>
          </a:blip>
          <a:stretch>
            <a:fillRect/>
          </a:stretch>
        </p:blipFill>
        <p:spPr>
          <a:xfrm>
            <a:off x="3347864" y="5173595"/>
            <a:ext cx="2149733" cy="252917"/>
          </a:xfrm>
          <a:prstGeom prst="rect">
            <a:avLst/>
          </a:prstGeom>
        </p:spPr>
      </p:pic>
      <p:sp>
        <p:nvSpPr>
          <p:cNvPr id="44" name="矩形 43"/>
          <p:cNvSpPr/>
          <p:nvPr/>
        </p:nvSpPr>
        <p:spPr>
          <a:xfrm>
            <a:off x="437888" y="1216225"/>
            <a:ext cx="8517520" cy="4887595"/>
          </a:xfrm>
          <a:prstGeom prst="rect">
            <a:avLst/>
          </a:prstGeom>
        </p:spPr>
        <p:txBody>
          <a:bodyPr wrap="square">
            <a:spAutoFit/>
          </a:bodyPr>
          <a:lstStyle/>
          <a:p>
            <a:pPr marL="342900" indent="-342900" algn="l">
              <a:lnSpc>
                <a:spcPct val="130000"/>
              </a:lnSpc>
              <a:buFont typeface="Wingdings" panose="05000000000000000000" pitchFamily="2" charset="2"/>
              <a:buChar char="n"/>
            </a:pPr>
            <a:r>
              <a:rPr lang="zh-CN" altLang="en-US" sz="2400" b="0" kern="0" dirty="0">
                <a:solidFill>
                  <a:srgbClr val="1557AE"/>
                </a:solidFill>
                <a:latin typeface="微软雅黑" charset="0"/>
                <a:ea typeface="微软雅黑" charset="0"/>
                <a:cs typeface="微软雅黑" charset="0"/>
              </a:rPr>
              <a:t>设个个体的估值为                           ，真实值为   ，</a:t>
            </a:r>
            <a:r>
              <a:rPr lang="zh-CN" altLang="en-US" sz="2400" b="0" kern="0" dirty="0">
                <a:solidFill>
                  <a:srgbClr val="FF0000"/>
                </a:solidFill>
                <a:latin typeface="微软雅黑" charset="0"/>
                <a:ea typeface="微软雅黑" charset="0"/>
                <a:cs typeface="微软雅黑" charset="0"/>
              </a:rPr>
              <a:t>群体误差（</a:t>
            </a:r>
            <a:r>
              <a:rPr lang="en-US" altLang="zh-CN" sz="2400" b="0" kern="0" dirty="0">
                <a:solidFill>
                  <a:srgbClr val="FF0000"/>
                </a:solidFill>
                <a:latin typeface="微软雅黑" charset="0"/>
                <a:ea typeface="微软雅黑" charset="0"/>
                <a:cs typeface="微软雅黑" charset="0"/>
              </a:rPr>
              <a:t>Collective Error</a:t>
            </a:r>
            <a:r>
              <a:rPr lang="zh-CN" altLang="en-US" sz="2400" b="0" kern="0" dirty="0">
                <a:solidFill>
                  <a:srgbClr val="FF0000"/>
                </a:solidFill>
                <a:latin typeface="微软雅黑" charset="0"/>
                <a:ea typeface="微软雅黑" charset="0"/>
                <a:cs typeface="微软雅黑" charset="0"/>
              </a:rPr>
              <a:t>，</a:t>
            </a:r>
            <a:r>
              <a:rPr lang="en-US" altLang="zh-CN" sz="2400" b="0" kern="0" dirty="0">
                <a:solidFill>
                  <a:srgbClr val="FF0000"/>
                </a:solidFill>
                <a:latin typeface="微软雅黑" charset="0"/>
                <a:ea typeface="微软雅黑" charset="0"/>
                <a:cs typeface="微软雅黑" charset="0"/>
              </a:rPr>
              <a:t>CE</a:t>
            </a:r>
            <a:r>
              <a:rPr lang="zh-CN" altLang="en-US" sz="2400" b="0" kern="0" dirty="0">
                <a:solidFill>
                  <a:srgbClr val="FF0000"/>
                </a:solidFill>
                <a:latin typeface="微软雅黑" charset="0"/>
                <a:ea typeface="微软雅黑" charset="0"/>
                <a:cs typeface="微软雅黑" charset="0"/>
              </a:rPr>
              <a:t>）</a:t>
            </a:r>
            <a:r>
              <a:rPr lang="zh-CN" altLang="en-US" sz="2400" b="0" kern="0" dirty="0">
                <a:solidFill>
                  <a:srgbClr val="1557AE"/>
                </a:solidFill>
                <a:latin typeface="微软雅黑" charset="0"/>
                <a:ea typeface="微软雅黑" charset="0"/>
                <a:cs typeface="微软雅黑" charset="0"/>
              </a:rPr>
              <a:t>则是该估值的均值与真实值的平方离差（</a:t>
            </a:r>
            <a:r>
              <a:rPr lang="en-US" altLang="zh-CN" sz="2400" b="0" kern="0" dirty="0">
                <a:solidFill>
                  <a:srgbClr val="1557AE"/>
                </a:solidFill>
                <a:latin typeface="微软雅黑" charset="0"/>
                <a:ea typeface="微软雅黑" charset="0"/>
                <a:cs typeface="微软雅黑" charset="0"/>
              </a:rPr>
              <a:t>Squared Deviation</a:t>
            </a:r>
            <a:r>
              <a:rPr lang="zh-CN" altLang="en-US" sz="2400" b="0" kern="0" dirty="0">
                <a:solidFill>
                  <a:srgbClr val="1557AE"/>
                </a:solidFill>
                <a:latin typeface="微软雅黑" charset="0"/>
                <a:ea typeface="微软雅黑" charset="0"/>
                <a:cs typeface="微软雅黑" charset="0"/>
              </a:rPr>
              <a:t>），即               ，                          ；</a:t>
            </a:r>
            <a:endParaRPr lang="en-US" altLang="zh-CN" sz="2400" b="0" kern="0" dirty="0">
              <a:solidFill>
                <a:srgbClr val="1557AE"/>
              </a:solidFill>
              <a:latin typeface="微软雅黑" charset="0"/>
              <a:ea typeface="微软雅黑" charset="0"/>
              <a:cs typeface="微软雅黑" charset="0"/>
            </a:endParaRPr>
          </a:p>
          <a:p>
            <a:pPr marL="342900" indent="-342900" algn="l">
              <a:lnSpc>
                <a:spcPct val="130000"/>
              </a:lnSpc>
              <a:buFont typeface="Wingdings" panose="05000000000000000000" pitchFamily="2" charset="2"/>
              <a:buChar char="n"/>
            </a:pPr>
            <a:r>
              <a:rPr lang="zh-CN" altLang="en-US" sz="2400" b="0" kern="0" dirty="0">
                <a:solidFill>
                  <a:srgbClr val="FF0000"/>
                </a:solidFill>
                <a:latin typeface="微软雅黑" charset="0"/>
                <a:ea typeface="微软雅黑" charset="0"/>
                <a:cs typeface="微软雅黑" charset="0"/>
              </a:rPr>
              <a:t>群体多样性（</a:t>
            </a:r>
            <a:r>
              <a:rPr lang="en-US" altLang="zh-CN" sz="2400" b="0" kern="0" dirty="0">
                <a:solidFill>
                  <a:srgbClr val="FF0000"/>
                </a:solidFill>
                <a:latin typeface="微软雅黑" charset="0"/>
                <a:ea typeface="微软雅黑" charset="0"/>
                <a:cs typeface="微软雅黑" charset="0"/>
              </a:rPr>
              <a:t>Group Diversity</a:t>
            </a:r>
            <a:r>
              <a:rPr lang="zh-CN" altLang="en-US" sz="2400" b="0" kern="0" dirty="0">
                <a:solidFill>
                  <a:srgbClr val="FF0000"/>
                </a:solidFill>
                <a:latin typeface="微软雅黑" charset="0"/>
                <a:ea typeface="微软雅黑" charset="0"/>
                <a:cs typeface="微软雅黑" charset="0"/>
              </a:rPr>
              <a:t>，</a:t>
            </a:r>
            <a:r>
              <a:rPr lang="en-US" altLang="zh-CN" sz="2400" b="0" kern="0" dirty="0">
                <a:solidFill>
                  <a:srgbClr val="FF0000"/>
                </a:solidFill>
                <a:latin typeface="微软雅黑" charset="0"/>
                <a:ea typeface="微软雅黑" charset="0"/>
                <a:cs typeface="微软雅黑" charset="0"/>
              </a:rPr>
              <a:t>GD</a:t>
            </a:r>
            <a:r>
              <a:rPr lang="zh-CN" altLang="en-US" sz="2400" b="0" kern="0" dirty="0">
                <a:solidFill>
                  <a:srgbClr val="FF0000"/>
                </a:solidFill>
                <a:latin typeface="微软雅黑" charset="0"/>
                <a:ea typeface="微软雅黑" charset="0"/>
                <a:cs typeface="微软雅黑" charset="0"/>
              </a:rPr>
              <a:t>）</a:t>
            </a:r>
            <a:r>
              <a:rPr lang="zh-CN" altLang="en-US" sz="2400" b="0" kern="0" dirty="0">
                <a:solidFill>
                  <a:srgbClr val="1557AE"/>
                </a:solidFill>
                <a:latin typeface="微软雅黑" charset="0"/>
                <a:ea typeface="微软雅黑" charset="0"/>
                <a:cs typeface="微软雅黑" charset="0"/>
              </a:rPr>
              <a:t>是估值的方差，即                          ；</a:t>
            </a:r>
            <a:endParaRPr lang="en-US" altLang="zh-CN" sz="2400" b="0" kern="0" dirty="0">
              <a:solidFill>
                <a:srgbClr val="1557AE"/>
              </a:solidFill>
              <a:latin typeface="微软雅黑" charset="0"/>
              <a:ea typeface="微软雅黑" charset="0"/>
              <a:cs typeface="微软雅黑" charset="0"/>
            </a:endParaRPr>
          </a:p>
          <a:p>
            <a:pPr marL="342900" indent="-342900" algn="l">
              <a:lnSpc>
                <a:spcPct val="130000"/>
              </a:lnSpc>
              <a:buFont typeface="Wingdings" panose="05000000000000000000" pitchFamily="2" charset="2"/>
              <a:buChar char="n"/>
            </a:pPr>
            <a:r>
              <a:rPr lang="zh-CN" altLang="en-US" sz="2400" b="0" kern="0" dirty="0">
                <a:solidFill>
                  <a:srgbClr val="FF0000"/>
                </a:solidFill>
                <a:latin typeface="微软雅黑" charset="0"/>
                <a:ea typeface="微软雅黑" charset="0"/>
                <a:cs typeface="微软雅黑" charset="0"/>
              </a:rPr>
              <a:t>平均个体误差</a:t>
            </a:r>
            <a:r>
              <a:rPr lang="zh-CN" altLang="en-US" sz="2400" b="0" kern="0" dirty="0">
                <a:solidFill>
                  <a:srgbClr val="1557AE"/>
                </a:solidFill>
                <a:latin typeface="微软雅黑" charset="0"/>
                <a:ea typeface="微软雅黑" charset="0"/>
                <a:cs typeface="微软雅黑" charset="0"/>
              </a:rPr>
              <a:t>（</a:t>
            </a:r>
            <a:r>
              <a:rPr lang="en-US" altLang="zh-CN" sz="2400" b="0" kern="0" dirty="0">
                <a:solidFill>
                  <a:srgbClr val="1557AE"/>
                </a:solidFill>
                <a:latin typeface="微软雅黑" charset="0"/>
                <a:ea typeface="微软雅黑" charset="0"/>
                <a:cs typeface="微软雅黑" charset="0"/>
              </a:rPr>
              <a:t>Average Individual Error</a:t>
            </a:r>
            <a:r>
              <a:rPr lang="zh-CN" altLang="en-US" sz="2400" b="0" kern="0" dirty="0">
                <a:solidFill>
                  <a:srgbClr val="1557AE"/>
                </a:solidFill>
                <a:latin typeface="微软雅黑" charset="0"/>
                <a:ea typeface="微软雅黑" charset="0"/>
                <a:cs typeface="微软雅黑" charset="0"/>
              </a:rPr>
              <a:t>，</a:t>
            </a:r>
            <a:r>
              <a:rPr lang="en-US" altLang="zh-CN" sz="2400" b="0" kern="0" dirty="0">
                <a:solidFill>
                  <a:srgbClr val="1557AE"/>
                </a:solidFill>
                <a:latin typeface="微软雅黑" charset="0"/>
                <a:ea typeface="微软雅黑" charset="0"/>
                <a:cs typeface="微软雅黑" charset="0"/>
              </a:rPr>
              <a:t>AIE</a:t>
            </a:r>
            <a:r>
              <a:rPr lang="zh-CN" altLang="en-US" sz="2400" b="0" kern="0" dirty="0">
                <a:solidFill>
                  <a:srgbClr val="1557AE"/>
                </a:solidFill>
                <a:latin typeface="微软雅黑" charset="0"/>
                <a:ea typeface="微软雅黑" charset="0"/>
                <a:cs typeface="微软雅黑" charset="0"/>
              </a:rPr>
              <a:t>）是指个体估值与真实值平方离差的均值，                       。</a:t>
            </a:r>
            <a:endParaRPr lang="en-US" altLang="zh-CN" sz="2400" b="0" kern="0" dirty="0">
              <a:solidFill>
                <a:srgbClr val="1557AE"/>
              </a:solidFill>
              <a:latin typeface="微软雅黑" charset="0"/>
              <a:ea typeface="微软雅黑" charset="0"/>
              <a:cs typeface="微软雅黑" charset="0"/>
            </a:endParaRPr>
          </a:p>
          <a:p>
            <a:pPr marL="342900" indent="-342900" algn="l">
              <a:lnSpc>
                <a:spcPct val="130000"/>
              </a:lnSpc>
              <a:buFont typeface="Wingdings" panose="05000000000000000000" pitchFamily="2" charset="2"/>
              <a:buChar char="n"/>
            </a:pPr>
            <a:endParaRPr lang="en-US" altLang="zh-CN" sz="2400" b="0" kern="0" dirty="0">
              <a:solidFill>
                <a:srgbClr val="1557AE"/>
              </a:solidFill>
              <a:latin typeface="微软雅黑" charset="0"/>
              <a:ea typeface="微软雅黑" charset="0"/>
              <a:cs typeface="微软雅黑" charset="0"/>
            </a:endParaRPr>
          </a:p>
          <a:p>
            <a:pPr marL="342900" indent="-342900" algn="l">
              <a:lnSpc>
                <a:spcPct val="130000"/>
              </a:lnSpc>
              <a:buFont typeface="Wingdings" panose="05000000000000000000" pitchFamily="2" charset="2"/>
              <a:buChar char="n"/>
            </a:pPr>
            <a:endParaRPr lang="zh-CN" altLang="en-US" sz="2400" b="0" kern="0" dirty="0">
              <a:solidFill>
                <a:srgbClr val="1557AE"/>
              </a:solidFill>
              <a:latin typeface="微软雅黑" charset="0"/>
              <a:ea typeface="微软雅黑" charset="0"/>
              <a:cs typeface="微软雅黑" charset="0"/>
            </a:endParaRPr>
          </a:p>
        </p:txBody>
      </p:sp>
      <p:pic>
        <p:nvPicPr>
          <p:cNvPr id="81" name="图片 80" descr="%FontSize=12&#10;%TeXFontSize=12&#10;\documentclass{article}&#10;\pagestyle{empty}&#10;\begin{document}&#10;\[&#10;x_1, x_2,..,x_i,..,x_n&#10;\]&#10;\end{document}"/>
          <p:cNvPicPr/>
          <p:nvPr/>
        </p:nvPicPr>
        <p:blipFill>
          <a:blip r:embed="rId2" cstate="print">
            <a:lum/>
            <a:extLst>
              <a:ext uri="{28A0092B-C50C-407E-A947-70E740481C1C}">
                <a14:useLocalDpi xmlns:a14="http://schemas.microsoft.com/office/drawing/2010/main" val="0"/>
              </a:ext>
            </a:extLst>
          </a:blip>
          <a:stretch>
            <a:fillRect/>
          </a:stretch>
        </p:blipFill>
        <p:spPr>
          <a:xfrm>
            <a:off x="3565963" y="1406039"/>
            <a:ext cx="2232248" cy="196001"/>
          </a:xfrm>
          <a:prstGeom prst="rect">
            <a:avLst/>
          </a:prstGeom>
        </p:spPr>
      </p:pic>
      <p:pic>
        <p:nvPicPr>
          <p:cNvPr id="82" name="图片 81" descr="%FontSize=12&#10;%TeXFontSize=12&#10;\documentclass{article}&#10;\pagestyle{empty}&#10;\begin{document}&#10;\[&#10;x_T&#10;\]&#10;\end{document}"/>
          <p:cNvPicPr/>
          <p:nvPr/>
        </p:nvPicPr>
        <p:blipFill>
          <a:blip r:embed="rId3" cstate="print">
            <a:lum/>
            <a:extLst>
              <a:ext uri="{28A0092B-C50C-407E-A947-70E740481C1C}">
                <a14:useLocalDpi xmlns:a14="http://schemas.microsoft.com/office/drawing/2010/main" val="0"/>
              </a:ext>
            </a:extLst>
          </a:blip>
          <a:stretch>
            <a:fillRect/>
          </a:stretch>
        </p:blipFill>
        <p:spPr>
          <a:xfrm>
            <a:off x="7523883" y="1413024"/>
            <a:ext cx="252028" cy="225697"/>
          </a:xfrm>
          <a:prstGeom prst="rect">
            <a:avLst/>
          </a:prstGeom>
        </p:spPr>
      </p:pic>
      <p:pic>
        <p:nvPicPr>
          <p:cNvPr id="83" name="图片 82" descr="%FontSize=12&#10;%TeXFontSize=12&#10;\documentclass{article}&#10;\pagestyle{empty}&#10;\begin{document}&#10;\[&#10;(x_T-\bar{x})^2&#10;\]&#10;\end{document}"/>
          <p:cNvPicPr/>
          <p:nvPr/>
        </p:nvPicPr>
        <p:blipFill>
          <a:blip r:embed="rId4" cstate="print">
            <a:lum/>
            <a:extLst>
              <a:ext uri="{28A0092B-C50C-407E-A947-70E740481C1C}">
                <a14:useLocalDpi xmlns:a14="http://schemas.microsoft.com/office/drawing/2010/main" val="0"/>
              </a:ext>
            </a:extLst>
          </a:blip>
          <a:stretch>
            <a:fillRect/>
          </a:stretch>
        </p:blipFill>
        <p:spPr>
          <a:xfrm>
            <a:off x="1259632" y="2748122"/>
            <a:ext cx="997605" cy="350087"/>
          </a:xfrm>
          <a:prstGeom prst="rect">
            <a:avLst/>
          </a:prstGeom>
        </p:spPr>
      </p:pic>
      <p:pic>
        <p:nvPicPr>
          <p:cNvPr id="84" name="图片 83" descr="%FontSize=12&#10;%TeXFontSize=12&#10;\documentclass{article}&#10;\pagestyle{empty}&#10;\begin{document}&#10;$&#10;\bar{x}=\frac{1}{n}\sum_{i=1}^{n}x_i &#10;$&#10;\end{document}"/>
          <p:cNvPicPr/>
          <p:nvPr/>
        </p:nvPicPr>
        <p:blipFill>
          <a:blip r:embed="rId5" cstate="print">
            <a:lum/>
            <a:extLst>
              <a:ext uri="{28A0092B-C50C-407E-A947-70E740481C1C}">
                <a14:useLocalDpi xmlns:a14="http://schemas.microsoft.com/office/drawing/2010/main" val="0"/>
              </a:ext>
            </a:extLst>
          </a:blip>
          <a:stretch>
            <a:fillRect/>
          </a:stretch>
        </p:blipFill>
        <p:spPr>
          <a:xfrm>
            <a:off x="2988344" y="2780928"/>
            <a:ext cx="1728192" cy="392961"/>
          </a:xfrm>
          <a:prstGeom prst="rect">
            <a:avLst/>
          </a:prstGeom>
        </p:spPr>
      </p:pic>
      <p:pic>
        <p:nvPicPr>
          <p:cNvPr id="85" name="图片 84" descr="%FontSize=12&#10;%TeXFontSize=12&#10;\documentclass{article}&#10;\pagestyle{empty}&#10;\begin{document}&#10;$&#10;\frac{1}{n}\sum_{i=1}^{n}(x_i-\bar{x})^2 &#10;$&#10;\end{document}"/>
          <p:cNvPicPr/>
          <p:nvPr/>
        </p:nvPicPr>
        <p:blipFill>
          <a:blip r:embed="rId6" cstate="print">
            <a:lum/>
            <a:extLst>
              <a:ext uri="{28A0092B-C50C-407E-A947-70E740481C1C}">
                <a14:useLocalDpi xmlns:a14="http://schemas.microsoft.com/office/drawing/2010/main" val="0"/>
              </a:ext>
            </a:extLst>
          </a:blip>
          <a:stretch>
            <a:fillRect/>
          </a:stretch>
        </p:blipFill>
        <p:spPr>
          <a:xfrm>
            <a:off x="1436338" y="3651685"/>
            <a:ext cx="1641798" cy="381417"/>
          </a:xfrm>
          <a:prstGeom prst="rect">
            <a:avLst/>
          </a:prstGeom>
        </p:spPr>
      </p:pic>
      <p:pic>
        <p:nvPicPr>
          <p:cNvPr id="86" name="图片 85" descr="%FontSize=12&#10;%TeXFontSize=12&#10;\documentclass{article}&#10;\pagestyle{empty}&#10;\begin{document}&#10;$&#10;\frac{1}{n}\sum_{i=1}^{n}(x_i-{x_T})^2 &#10;$&#10;\end{document}"/>
          <p:cNvPicPr/>
          <p:nvPr/>
        </p:nvPicPr>
        <p:blipFill>
          <a:blip r:embed="rId7" cstate="print">
            <a:lum/>
            <a:extLst>
              <a:ext uri="{28A0092B-C50C-407E-A947-70E740481C1C}">
                <a14:useLocalDpi xmlns:a14="http://schemas.microsoft.com/office/drawing/2010/main" val="0"/>
              </a:ext>
            </a:extLst>
          </a:blip>
          <a:stretch>
            <a:fillRect/>
          </a:stretch>
        </p:blipFill>
        <p:spPr>
          <a:xfrm>
            <a:off x="5786628" y="4625023"/>
            <a:ext cx="1785096" cy="353571"/>
          </a:xfrm>
          <a:prstGeom prst="rect">
            <a:avLst/>
          </a:prstGeom>
        </p:spPr>
      </p:pic>
      <p:sp>
        <p:nvSpPr>
          <p:cNvPr id="45" name="矩形 44"/>
          <p:cNvSpPr/>
          <p:nvPr/>
        </p:nvSpPr>
        <p:spPr>
          <a:xfrm>
            <a:off x="873336" y="5098072"/>
            <a:ext cx="2474528" cy="461665"/>
          </a:xfrm>
          <a:prstGeom prst="rect">
            <a:avLst/>
          </a:prstGeom>
        </p:spPr>
        <p:txBody>
          <a:bodyPr wrap="square">
            <a:spAutoFit/>
          </a:bodyPr>
          <a:lstStyle/>
          <a:p>
            <a:r>
              <a:rPr lang="zh-CN" altLang="zh-CN" sz="2400" b="0" kern="0" dirty="0">
                <a:solidFill>
                  <a:srgbClr val="FF0000"/>
                </a:solidFill>
                <a:latin typeface="微软雅黑" charset="0"/>
                <a:ea typeface="微软雅黑" charset="0"/>
                <a:cs typeface="Calibri" panose="020F0502020204030204" pitchFamily="34" charset="0"/>
              </a:rPr>
              <a:t>多样性预测定理</a:t>
            </a:r>
            <a:r>
              <a:rPr lang="zh-CN" altLang="en-US" sz="2400" b="0" kern="0" dirty="0">
                <a:solidFill>
                  <a:srgbClr val="FF0000"/>
                </a:solidFill>
                <a:latin typeface="微软雅黑" charset="0"/>
                <a:ea typeface="微软雅黑" charset="0"/>
                <a:cs typeface="Calibri" panose="020F0502020204030204" pitchFamily="34" charset="0"/>
              </a:rPr>
              <a:t>：</a:t>
            </a:r>
            <a:endParaRPr lang="zh-CN" altLang="en-US" sz="2400" b="0" kern="0" dirty="0">
              <a:solidFill>
                <a:srgbClr val="FF0000"/>
              </a:solidFill>
              <a:latin typeface="微软雅黑" charset="0"/>
              <a:ea typeface="微软雅黑" charset="0"/>
              <a:cs typeface="Calibri" panose="020F0502020204030204" pitchFamily="34" charset="0"/>
            </a:endParaRPr>
          </a:p>
        </p:txBody>
      </p:sp>
      <p:sp>
        <p:nvSpPr>
          <p:cNvPr id="46" name="矩形 45"/>
          <p:cNvSpPr/>
          <p:nvPr/>
        </p:nvSpPr>
        <p:spPr>
          <a:xfrm>
            <a:off x="448176" y="5608838"/>
            <a:ext cx="8496944" cy="461665"/>
          </a:xfrm>
          <a:prstGeom prst="rect">
            <a:avLst/>
          </a:prstGeom>
        </p:spPr>
        <p:txBody>
          <a:bodyPr wrap="square">
            <a:spAutoFit/>
          </a:bodyPr>
          <a:lstStyle/>
          <a:p>
            <a:pPr marL="342900" indent="-342900">
              <a:buFont typeface="Wingdings" panose="05000000000000000000" pitchFamily="2" charset="2"/>
              <a:buChar char="n"/>
            </a:pPr>
            <a:r>
              <a:rPr lang="zh-CN" altLang="zh-CN" sz="2400" b="0" kern="0" dirty="0">
                <a:solidFill>
                  <a:srgbClr val="1557AE"/>
                </a:solidFill>
                <a:latin typeface="微软雅黑" charset="0"/>
                <a:ea typeface="微软雅黑" charset="0"/>
                <a:cs typeface="Calibri" panose="020F0502020204030204" pitchFamily="34" charset="0"/>
              </a:rPr>
              <a:t>当多样性较大时，有助于降低群体误差，促进群智的产生</a:t>
            </a:r>
            <a:endParaRPr lang="zh-CN" altLang="zh-CN" sz="2400" b="0" kern="0" dirty="0">
              <a:solidFill>
                <a:srgbClr val="1557AE"/>
              </a:solidFill>
              <a:latin typeface="微软雅黑" charset="0"/>
              <a:ea typeface="微软雅黑" charset="0"/>
              <a:cs typeface="Calibri" panose="020F0502020204030204" pitchFamily="34" charset="0"/>
            </a:endParaRPr>
          </a:p>
        </p:txBody>
      </p:sp>
      <p:sp>
        <p:nvSpPr>
          <p:cNvPr id="15" name="标题 1"/>
          <p:cNvSpPr>
            <a:spLocks noGrp="1"/>
          </p:cNvSpPr>
          <p:nvPr>
            <p:ph type="title"/>
          </p:nvPr>
        </p:nvSpPr>
        <p:spPr>
          <a:xfrm>
            <a:off x="528321" y="188640"/>
            <a:ext cx="8001000" cy="636067"/>
          </a:xfrm>
        </p:spPr>
        <p:txBody>
          <a:bodyPr/>
          <a:lstStyle/>
          <a:p>
            <a:r>
              <a:rPr lang="zh-CN" altLang="en-US" sz="3600" kern="1200" dirty="0"/>
              <a:t>统计量与群智</a:t>
            </a:r>
            <a:endParaRPr lang="zh-CN" altLang="en-US" sz="3600" kern="1200" dirty="0"/>
          </a:p>
        </p:txBody>
      </p:sp>
    </p:spTree>
  </p:cSld>
  <p:clrMapOvr>
    <a:masterClrMapping/>
  </p:clrMapOvr>
  <p:transition>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326703" y="3573016"/>
            <a:ext cx="7845697" cy="2306955"/>
          </a:xfrm>
          <a:prstGeom prst="rect">
            <a:avLst/>
          </a:prstGeom>
        </p:spPr>
        <p:txBody>
          <a:bodyPr wrap="square">
            <a:spAutoFit/>
          </a:bodyPr>
          <a:lstStyle/>
          <a:p>
            <a:pPr marL="342900" indent="-342900" algn="l">
              <a:lnSpc>
                <a:spcPct val="150000"/>
              </a:lnSpc>
              <a:buFont typeface="Wingdings" panose="05000000000000000000" pitchFamily="2" charset="2"/>
              <a:buChar char="n"/>
            </a:pPr>
            <a:r>
              <a:rPr lang="zh-CN" altLang="en-US" sz="2400" b="0" kern="0" dirty="0">
                <a:solidFill>
                  <a:srgbClr val="FF0000"/>
                </a:solidFill>
                <a:latin typeface="微软雅黑" charset="0"/>
                <a:ea typeface="微软雅黑" charset="0"/>
                <a:cs typeface="微软雅黑" charset="0"/>
              </a:rPr>
              <a:t>孔多塞陪审团定理（</a:t>
            </a:r>
            <a:r>
              <a:rPr lang="en-US" altLang="zh-CN" sz="2400" b="0" kern="0" dirty="0">
                <a:solidFill>
                  <a:srgbClr val="FF0000"/>
                </a:solidFill>
                <a:latin typeface="微软雅黑" charset="0"/>
                <a:ea typeface="微软雅黑" charset="0"/>
                <a:cs typeface="微软雅黑" charset="0"/>
              </a:rPr>
              <a:t>Condorcet's Jury Theorem</a:t>
            </a:r>
            <a:r>
              <a:rPr lang="zh-CN" altLang="en-US" sz="2400" b="0" kern="0" dirty="0">
                <a:solidFill>
                  <a:srgbClr val="FF0000"/>
                </a:solidFill>
                <a:latin typeface="微软雅黑" charset="0"/>
                <a:ea typeface="微软雅黑" charset="0"/>
                <a:cs typeface="微软雅黑" charset="0"/>
              </a:rPr>
              <a:t>）</a:t>
            </a:r>
            <a:r>
              <a:rPr lang="zh-CN" altLang="en-US" sz="2400" b="0" kern="0" dirty="0">
                <a:solidFill>
                  <a:srgbClr val="1557AE"/>
                </a:solidFill>
                <a:latin typeface="微软雅黑" charset="0"/>
                <a:ea typeface="微软雅黑" charset="0"/>
                <a:cs typeface="微软雅黑" charset="0"/>
              </a:rPr>
              <a:t>：如果群体中的个体独立进行决策，并且正确决策的概率大于</a:t>
            </a:r>
            <a:r>
              <a:rPr lang="en-US" altLang="zh-CN" sz="2400" b="0" kern="0" dirty="0">
                <a:solidFill>
                  <a:srgbClr val="1557AE"/>
                </a:solidFill>
                <a:latin typeface="微软雅黑" charset="0"/>
                <a:ea typeface="微软雅黑" charset="0"/>
                <a:cs typeface="微软雅黑" charset="0"/>
              </a:rPr>
              <a:t>0.5</a:t>
            </a:r>
            <a:r>
              <a:rPr lang="zh-CN" altLang="en-US" sz="2400" b="0" kern="0" dirty="0">
                <a:solidFill>
                  <a:srgbClr val="1557AE"/>
                </a:solidFill>
                <a:latin typeface="微软雅黑" charset="0"/>
                <a:ea typeface="微软雅黑" charset="0"/>
                <a:cs typeface="微软雅黑" charset="0"/>
              </a:rPr>
              <a:t>，那么群体按多数票策略正确决策的概率随着群体规模的增大而增大。</a:t>
            </a:r>
            <a:endParaRPr lang="zh-CN" altLang="en-US" sz="2400" b="0" kern="0" dirty="0">
              <a:solidFill>
                <a:srgbClr val="1557AE"/>
              </a:solidFill>
              <a:latin typeface="微软雅黑" charset="0"/>
              <a:ea typeface="微软雅黑" charset="0"/>
              <a:cs typeface="微软雅黑" charset="0"/>
            </a:endParaRPr>
          </a:p>
        </p:txBody>
      </p:sp>
      <p:sp>
        <p:nvSpPr>
          <p:cNvPr id="3" name="矩形 2"/>
          <p:cNvSpPr/>
          <p:nvPr/>
        </p:nvSpPr>
        <p:spPr>
          <a:xfrm>
            <a:off x="326703" y="1628800"/>
            <a:ext cx="8080326" cy="1696490"/>
          </a:xfrm>
          <a:prstGeom prst="rect">
            <a:avLst/>
          </a:prstGeom>
        </p:spPr>
        <p:txBody>
          <a:bodyPr wrap="square">
            <a:spAutoFit/>
          </a:bodyPr>
          <a:lstStyle/>
          <a:p>
            <a:pPr marL="342900" indent="-342900" algn="l">
              <a:lnSpc>
                <a:spcPct val="150000"/>
              </a:lnSpc>
              <a:buFont typeface="Wingdings" panose="05000000000000000000" pitchFamily="2" charset="2"/>
              <a:buChar char="n"/>
            </a:pPr>
            <a:r>
              <a:rPr lang="zh-CN" altLang="en-US" sz="2400" b="0" kern="0" dirty="0">
                <a:solidFill>
                  <a:srgbClr val="FF0000"/>
                </a:solidFill>
                <a:latin typeface="微软雅黑" charset="0"/>
                <a:ea typeface="微软雅黑" charset="0"/>
                <a:cs typeface="微软雅黑" charset="0"/>
              </a:rPr>
              <a:t>中位数</a:t>
            </a:r>
            <a:r>
              <a:rPr lang="zh-CN" altLang="en-US" sz="2400" b="0" kern="0" dirty="0">
                <a:solidFill>
                  <a:srgbClr val="1557AE"/>
                </a:solidFill>
                <a:latin typeface="微软雅黑" charset="0"/>
                <a:ea typeface="微软雅黑" charset="0"/>
                <a:cs typeface="微软雅黑" charset="0"/>
              </a:rPr>
              <a:t>在群智中起作用的一个重要原因：无论真实值是多少，群体估测值的中位数比至少</a:t>
            </a:r>
            <a:r>
              <a:rPr lang="en-US" altLang="zh-CN" sz="2400" b="0" kern="0" dirty="0">
                <a:solidFill>
                  <a:srgbClr val="1557AE"/>
                </a:solidFill>
                <a:latin typeface="微软雅黑" charset="0"/>
                <a:ea typeface="微软雅黑" charset="0"/>
                <a:cs typeface="微软雅黑" charset="0"/>
              </a:rPr>
              <a:t>50%</a:t>
            </a:r>
            <a:r>
              <a:rPr lang="zh-CN" altLang="en-US" sz="2400" b="0" kern="0" dirty="0">
                <a:solidFill>
                  <a:srgbClr val="1557AE"/>
                </a:solidFill>
                <a:latin typeface="微软雅黑" charset="0"/>
                <a:ea typeface="微软雅黑" charset="0"/>
                <a:cs typeface="微软雅黑" charset="0"/>
              </a:rPr>
              <a:t>的个体的估测值更接近真实值。</a:t>
            </a:r>
            <a:endParaRPr lang="zh-CN" altLang="en-US" sz="2400" b="0" kern="0" dirty="0">
              <a:solidFill>
                <a:srgbClr val="1557AE"/>
              </a:solidFill>
              <a:latin typeface="微软雅黑" charset="0"/>
              <a:ea typeface="微软雅黑" charset="0"/>
              <a:cs typeface="微软雅黑" charset="0"/>
            </a:endParaRPr>
          </a:p>
        </p:txBody>
      </p:sp>
      <p:sp>
        <p:nvSpPr>
          <p:cNvPr id="7" name="标题 1"/>
          <p:cNvSpPr>
            <a:spLocks noGrp="1"/>
          </p:cNvSpPr>
          <p:nvPr>
            <p:ph type="title"/>
          </p:nvPr>
        </p:nvSpPr>
        <p:spPr>
          <a:xfrm>
            <a:off x="528321" y="188640"/>
            <a:ext cx="8001000" cy="636067"/>
          </a:xfrm>
        </p:spPr>
        <p:txBody>
          <a:bodyPr/>
          <a:lstStyle/>
          <a:p>
            <a:r>
              <a:rPr lang="zh-CN" altLang="en-US" sz="3600" kern="1200" dirty="0"/>
              <a:t>统计量与群智</a:t>
            </a:r>
            <a:endParaRPr lang="zh-CN" altLang="en-US" sz="3600" kern="1200" dirty="0"/>
          </a:p>
        </p:txBody>
      </p:sp>
    </p:spTree>
  </p:cSld>
  <p:clrMapOvr>
    <a:masterClrMapping/>
  </p:clrMapOvr>
  <p:transition>
    <p:blinds dir="vert"/>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8" name="Rectangle 6"/>
          <p:cNvSpPr>
            <a:spLocks noGrp="1" noChangeArrowheads="1"/>
          </p:cNvSpPr>
          <p:nvPr>
            <p:ph type="title"/>
          </p:nvPr>
        </p:nvSpPr>
        <p:spPr/>
        <p:txBody>
          <a:bodyPr/>
          <a:lstStyle/>
          <a:p>
            <a:pPr eaLnBrk="1" hangingPunct="1">
              <a:defRPr/>
            </a:pPr>
            <a:r>
              <a:rPr lang="zh-CN" altLang="en-US" sz="3600" dirty="0"/>
              <a:t>本章内容</a:t>
            </a:r>
            <a:endParaRPr lang="zh-CN" altLang="en-US" sz="3600" dirty="0"/>
          </a:p>
        </p:txBody>
      </p:sp>
      <p:sp>
        <p:nvSpPr>
          <p:cNvPr id="6147" name="Rectangle 7"/>
          <p:cNvSpPr>
            <a:spLocks noGrp="1" noChangeArrowheads="1"/>
          </p:cNvSpPr>
          <p:nvPr>
            <p:ph type="body" idx="1"/>
          </p:nvPr>
        </p:nvSpPr>
        <p:spPr>
          <a:xfrm>
            <a:off x="755650" y="1628775"/>
            <a:ext cx="7780338" cy="3024188"/>
          </a:xfrm>
        </p:spPr>
        <p:txBody>
          <a:bodyPr/>
          <a:lstStyle/>
          <a:p>
            <a:pPr marL="0" indent="0" eaLnBrk="1" hangingPunct="1">
              <a:lnSpc>
                <a:spcPct val="120000"/>
              </a:lnSpc>
              <a:spcBef>
                <a:spcPts val="600"/>
              </a:spcBef>
              <a:buNone/>
            </a:pPr>
            <a:r>
              <a:rPr lang="en-US" altLang="zh-CN" sz="2800" b="0" dirty="0">
                <a:solidFill>
                  <a:srgbClr val="1557AE"/>
                </a:solidFill>
                <a:cs typeface="微软雅黑" charset="0"/>
              </a:rPr>
              <a:t>2.0  </a:t>
            </a:r>
            <a:r>
              <a:rPr lang="zh-CN" altLang="en-US" sz="2800" b="0" dirty="0">
                <a:solidFill>
                  <a:srgbClr val="1557AE"/>
                </a:solidFill>
                <a:cs typeface="微软雅黑" charset="0"/>
              </a:rPr>
              <a:t>认识数据</a:t>
            </a:r>
            <a:endParaRPr lang="en-US" altLang="zh-CN" sz="2800" b="0" dirty="0">
              <a:solidFill>
                <a:srgbClr val="1557AE"/>
              </a:solidFill>
              <a:cs typeface="微软雅黑"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FF0000"/>
                </a:solidFill>
                <a:cs typeface="微软雅黑" charset="0"/>
              </a:rPr>
              <a:t>2.1  </a:t>
            </a:r>
            <a:r>
              <a:rPr lang="zh-CN" altLang="zh-CN" sz="2800" b="0" dirty="0">
                <a:solidFill>
                  <a:srgbClr val="FF0000"/>
                </a:solidFill>
                <a:cs typeface="微软雅黑" charset="0"/>
              </a:rPr>
              <a:t>为什么要预处理数据</a:t>
            </a:r>
            <a:endParaRPr lang="zh-CN" altLang="zh-CN" sz="2800" b="0" dirty="0">
              <a:solidFill>
                <a:srgbClr val="FF0000"/>
              </a:solidFill>
              <a:cs typeface="微软雅黑"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微软雅黑" charset="0"/>
              </a:rPr>
              <a:t>2.2  </a:t>
            </a:r>
            <a:r>
              <a:rPr lang="zh-CN" altLang="zh-CN" sz="2800" b="0" dirty="0">
                <a:solidFill>
                  <a:srgbClr val="1557AE"/>
                </a:solidFill>
                <a:cs typeface="微软雅黑" charset="0"/>
              </a:rPr>
              <a:t>数据清理</a:t>
            </a:r>
            <a:endParaRPr lang="zh-CN" altLang="zh-CN" sz="2800" b="0" dirty="0">
              <a:solidFill>
                <a:srgbClr val="1557AE"/>
              </a:solidFill>
              <a:cs typeface="微软雅黑"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微软雅黑" charset="0"/>
              </a:rPr>
              <a:t>2.3  </a:t>
            </a:r>
            <a:r>
              <a:rPr lang="zh-CN" altLang="zh-CN" sz="2800" b="0" dirty="0">
                <a:solidFill>
                  <a:srgbClr val="1557AE"/>
                </a:solidFill>
                <a:cs typeface="微软雅黑" charset="0"/>
              </a:rPr>
              <a:t>数据集成和变换</a:t>
            </a:r>
            <a:endParaRPr lang="zh-CN" altLang="zh-CN" sz="2800" b="0" dirty="0">
              <a:solidFill>
                <a:srgbClr val="1557AE"/>
              </a:solidFill>
              <a:cs typeface="微软雅黑"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微软雅黑" charset="0"/>
              </a:rPr>
              <a:t>2.4  </a:t>
            </a:r>
            <a:r>
              <a:rPr lang="zh-CN" altLang="zh-CN" sz="2800" b="0" dirty="0">
                <a:solidFill>
                  <a:srgbClr val="1557AE"/>
                </a:solidFill>
                <a:cs typeface="微软雅黑" charset="0"/>
              </a:rPr>
              <a:t>数据归约</a:t>
            </a:r>
            <a:endParaRPr lang="zh-CN" altLang="zh-CN" sz="2800" b="0" dirty="0">
              <a:solidFill>
                <a:srgbClr val="1557AE"/>
              </a:solidFill>
              <a:cs typeface="微软雅黑" charset="0"/>
            </a:endParaRPr>
          </a:p>
          <a:p>
            <a:pPr marL="0" indent="0" eaLnBrk="1" hangingPunct="1">
              <a:lnSpc>
                <a:spcPct val="120000"/>
              </a:lnSpc>
              <a:spcBef>
                <a:spcPts val="600"/>
              </a:spcBef>
              <a:buFont typeface="Wingdings" panose="05000000000000000000" pitchFamily="2" charset="2"/>
              <a:buNone/>
            </a:pPr>
            <a:endParaRPr lang="zh-CN" altLang="en-US" sz="2800" b="0" dirty="0">
              <a:cs typeface="微软雅黑" charset="0"/>
            </a:endParaRPr>
          </a:p>
          <a:p>
            <a:pPr marL="0" indent="0" eaLnBrk="1" hangingPunct="1">
              <a:lnSpc>
                <a:spcPct val="150000"/>
              </a:lnSpc>
              <a:buFont typeface="Wingdings" panose="05000000000000000000" pitchFamily="2" charset="2"/>
              <a:buNone/>
            </a:pPr>
            <a:endParaRPr lang="zh-CN" altLang="en-US" b="0" dirty="0">
              <a:cs typeface="微软雅黑"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7"/>
          <p:cNvSpPr txBox="1">
            <a:spLocks noChangeArrowheads="1"/>
          </p:cNvSpPr>
          <p:nvPr/>
        </p:nvSpPr>
        <p:spPr bwMode="auto">
          <a:xfrm>
            <a:off x="251520" y="1484784"/>
            <a:ext cx="8424614"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现实世界的数据是“脏的”</a:t>
            </a:r>
            <a:endParaRPr lang="en-US" altLang="zh-CN" sz="2400" b="0" dirty="0">
              <a:solidFill>
                <a:srgbClr val="FF0000"/>
              </a:solidFill>
              <a:latin typeface="方正兰亭中黑_GBK" panose="02000000000000000000" pitchFamily="2" charset="-122"/>
              <a:ea typeface="方正兰亭中黑_GBK" panose="02000000000000000000" pitchFamily="2" charset="-122"/>
            </a:endParaRPr>
          </a:p>
          <a:p>
            <a:pPr marL="898525" lvl="1" indent="-441325" eaLnBrk="1" hangingPunct="1">
              <a:lnSpc>
                <a:spcPct val="120000"/>
              </a:lnSpc>
              <a:buClr>
                <a:srgbClr val="1557AE"/>
              </a:buClr>
              <a:buSzPct val="100000"/>
              <a:buFont typeface="Wingdings" panose="05000000000000000000" pitchFamily="2" charset="2"/>
              <a:buChar char="Ø"/>
              <a:defRPr/>
            </a:pPr>
            <a:r>
              <a:rPr lang="zh-CN" altLang="en-US"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不完整</a:t>
            </a:r>
            <a:r>
              <a:rPr lang="en-US" altLang="zh-CN"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(incomplete)</a:t>
            </a:r>
            <a:endParaRPr lang="zh-CN" altLang="en-US"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1295400" lvl="2" indent="-441325" eaLnBrk="1" hangingPunct="1">
              <a:lnSpc>
                <a:spcPct val="110000"/>
              </a:lnSpc>
              <a:spcBef>
                <a:spcPts val="300"/>
              </a:spcBef>
              <a:buClr>
                <a:srgbClr val="1557AE"/>
              </a:buClr>
              <a:buSzPct val="100000"/>
              <a:buFont typeface="Wingdings" panose="05000000000000000000" pitchFamily="2" charset="2"/>
              <a:buChar char="Ø"/>
              <a:defRPr/>
            </a:pPr>
            <a:r>
              <a:rPr lang="zh-CN" altLang="en-US" sz="20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缺少数据值；缺乏某些重要属性；仅包含汇总数据</a:t>
            </a:r>
            <a:endParaRPr lang="zh-CN" altLang="en-US" sz="20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98525" lvl="1" indent="-441325" eaLnBrk="1" hangingPunct="1">
              <a:lnSpc>
                <a:spcPct val="120000"/>
              </a:lnSpc>
              <a:buClr>
                <a:srgbClr val="1557AE"/>
              </a:buClr>
              <a:buSzPct val="100000"/>
              <a:buFont typeface="Wingdings" panose="05000000000000000000" pitchFamily="2" charset="2"/>
              <a:buChar char="Ø"/>
              <a:defRPr/>
            </a:pPr>
            <a:r>
              <a:rPr lang="zh-CN" altLang="en-US"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有噪声</a:t>
            </a:r>
            <a:r>
              <a:rPr lang="en-US" altLang="zh-CN"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(noisy)</a:t>
            </a:r>
            <a:endParaRPr lang="zh-CN" altLang="en-US"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1295400" lvl="2" indent="-441325" eaLnBrk="1" hangingPunct="1">
              <a:lnSpc>
                <a:spcPct val="120000"/>
              </a:lnSpc>
              <a:buClr>
                <a:srgbClr val="1557AE"/>
              </a:buClr>
              <a:buSzPct val="100000"/>
              <a:buFont typeface="Wingdings" panose="05000000000000000000" pitchFamily="2" charset="2"/>
              <a:buChar char="Ø"/>
              <a:defRPr/>
            </a:pPr>
            <a:r>
              <a:rPr lang="zh-CN" altLang="en-US" sz="20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包含错误或者孤立点</a:t>
            </a:r>
            <a:r>
              <a:rPr lang="en-US" altLang="zh-CN" sz="20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(outliers)</a:t>
            </a:r>
            <a:endParaRPr lang="zh-CN" altLang="en-US" sz="20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98525" lvl="1" indent="-441325" eaLnBrk="1" hangingPunct="1">
              <a:lnSpc>
                <a:spcPct val="120000"/>
              </a:lnSpc>
              <a:buClr>
                <a:srgbClr val="1557AE"/>
              </a:buClr>
              <a:buSzPct val="100000"/>
              <a:buFont typeface="Wingdings" panose="05000000000000000000" pitchFamily="2" charset="2"/>
              <a:buChar char="Ø"/>
              <a:defRPr/>
            </a:pPr>
            <a:r>
              <a:rPr lang="zh-CN" altLang="en-US"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数据不一致</a:t>
            </a:r>
            <a:r>
              <a:rPr lang="en-US" altLang="zh-CN"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(inconsistent)</a:t>
            </a:r>
            <a:endParaRPr lang="zh-CN" altLang="en-US"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1295400" lvl="2" indent="-441325" eaLnBrk="1" hangingPunct="1">
              <a:lnSpc>
                <a:spcPct val="110000"/>
              </a:lnSpc>
              <a:spcBef>
                <a:spcPts val="300"/>
              </a:spcBef>
              <a:buClr>
                <a:srgbClr val="1557AE"/>
              </a:buClr>
              <a:buSzPct val="100000"/>
              <a:buFont typeface="Wingdings" panose="05000000000000000000" pitchFamily="2" charset="2"/>
              <a:buChar char="Ø"/>
              <a:defRPr/>
            </a:pPr>
            <a:r>
              <a:rPr lang="en-US" altLang="zh-CN" sz="20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e.g., </a:t>
            </a:r>
            <a:r>
              <a:rPr lang="zh-CN" altLang="en-US" sz="20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在编码或者命名上存在差异</a:t>
            </a:r>
            <a:endParaRPr lang="zh-CN" altLang="en-US" sz="20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1295400" lvl="2" indent="-441325" eaLnBrk="1" hangingPunct="1">
              <a:lnSpc>
                <a:spcPct val="110000"/>
              </a:lnSpc>
              <a:spcBef>
                <a:spcPts val="300"/>
              </a:spcBef>
              <a:buClr>
                <a:srgbClr val="1557AE"/>
              </a:buClr>
              <a:buSzPct val="100000"/>
              <a:buFont typeface="Wingdings" panose="05000000000000000000" pitchFamily="2" charset="2"/>
              <a:buChar char="Ø"/>
              <a:defRPr/>
            </a:pPr>
            <a:r>
              <a:rPr lang="en-US" altLang="zh-CN" sz="20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e.g., Age=“42” Birthday=“03/07/1997”</a:t>
            </a:r>
            <a:endParaRPr lang="en-US" altLang="zh-CN" sz="20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1295400" lvl="2" indent="-441325" eaLnBrk="1" hangingPunct="1">
              <a:lnSpc>
                <a:spcPct val="120000"/>
              </a:lnSpc>
              <a:buClr>
                <a:srgbClr val="0000FF"/>
              </a:buClr>
              <a:buSzPct val="100000"/>
              <a:buFont typeface="Arial" panose="020B0604020202090204" pitchFamily="34" charset="0"/>
              <a:buChar char="•"/>
              <a:defRPr/>
            </a:pPr>
            <a:endParaRPr lang="en-US" altLang="zh-CN" sz="2000" b="0" dirty="0">
              <a:latin typeface="方正兰亭中黑_GBK" panose="02000000000000000000" pitchFamily="2" charset="-122"/>
              <a:ea typeface="方正兰亭中黑_GBK" panose="02000000000000000000" pitchFamily="2" charset="-122"/>
              <a:cs typeface="Calibri" panose="020F0502020204030204" pitchFamily="34" charset="0"/>
            </a:endParaRPr>
          </a:p>
          <a:p>
            <a:pPr marL="1295400" lvl="2" indent="-441325" eaLnBrk="1" hangingPunct="1">
              <a:lnSpc>
                <a:spcPct val="120000"/>
              </a:lnSpc>
              <a:buClr>
                <a:srgbClr val="0000FF"/>
              </a:buClr>
              <a:buSzPct val="100000"/>
              <a:buFont typeface="Arial" panose="020B0604020202090204" pitchFamily="34" charset="0"/>
              <a:buChar char="•"/>
              <a:defRPr/>
            </a:pPr>
            <a:endParaRPr lang="en-US" altLang="zh-CN" sz="2200" b="0" dirty="0">
              <a:latin typeface="方正兰亭中黑_GBK" panose="02000000000000000000" pitchFamily="2" charset="-122"/>
              <a:ea typeface="方正兰亭中黑_GBK" panose="02000000000000000000" pitchFamily="2" charset="-122"/>
              <a:cs typeface="Calibri" panose="020F0502020204030204" pitchFamily="34" charset="0"/>
            </a:endParaRPr>
          </a:p>
          <a:p>
            <a:pPr marL="1295400" lvl="2" indent="-441325" eaLnBrk="1" hangingPunct="1">
              <a:lnSpc>
                <a:spcPct val="120000"/>
              </a:lnSpc>
              <a:buClr>
                <a:srgbClr val="0000FF"/>
              </a:buClr>
              <a:buSzPct val="100000"/>
              <a:buFont typeface="Arial" panose="020B0604020202090204" pitchFamily="34" charset="0"/>
              <a:buChar char="•"/>
              <a:defRPr/>
            </a:pPr>
            <a:endParaRPr lang="zh-CN" altLang="en-US" sz="2500" b="0" dirty="0">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9" name="圆角矩形 8"/>
          <p:cNvSpPr/>
          <p:nvPr/>
        </p:nvSpPr>
        <p:spPr bwMode="auto">
          <a:xfrm>
            <a:off x="444264" y="5373216"/>
            <a:ext cx="8039125" cy="1263512"/>
          </a:xfrm>
          <a:prstGeom prst="roundRect">
            <a:avLst/>
          </a:prstGeom>
          <a:noFill/>
          <a:ln w="25400" cap="flat" cmpd="sng" algn="ctr">
            <a:noFill/>
            <a:prstDash val="solid"/>
            <a:round/>
            <a:headEnd type="none" w="med" len="med"/>
            <a:tailEnd type="triangle" w="lg" len="lg"/>
          </a:ln>
          <a:effectLst>
            <a:outerShdw blurRad="50800" dist="38100" dir="2700000" algn="tl" rotWithShape="0">
              <a:prstClr val="black">
                <a:alpha val="40000"/>
              </a:prstClr>
            </a:outerShdw>
          </a:effectLst>
        </p:spPr>
        <p:txBody>
          <a:bodyPr wrap="square" tIns="72000" bIns="108000">
            <a:spAutoFit/>
          </a:bodyPr>
          <a:lstStyle/>
          <a:p>
            <a:pPr algn="l" eaLnBrk="0" hangingPunct="0">
              <a:lnSpc>
                <a:spcPct val="130000"/>
              </a:lnSpc>
              <a:spcBef>
                <a:spcPct val="20000"/>
              </a:spcBef>
              <a:buClr>
                <a:srgbClr val="CC0000"/>
              </a:buClr>
              <a:defRPr/>
            </a:pPr>
            <a:r>
              <a:rPr lang="en-US" altLang="zh-CN"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GIGO (Garbage in, garbage out)</a:t>
            </a:r>
            <a:r>
              <a:rPr lang="zh-CN" altLang="en-US" sz="2400" b="0" dirty="0">
                <a:solidFill>
                  <a:srgbClr val="FF0000"/>
                </a:solidFill>
                <a:latin typeface="方正兰亭中黑_GBK" panose="02000000000000000000" pitchFamily="2" charset="-122"/>
                <a:ea typeface="方正兰亭中黑_GBK" panose="02000000000000000000" pitchFamily="2" charset="-122"/>
              </a:rPr>
              <a:t>原理</a:t>
            </a:r>
            <a:r>
              <a:rPr lang="zh-CN" altLang="en-US" sz="2400" b="0" dirty="0">
                <a:solidFill>
                  <a:srgbClr val="1557AE"/>
                </a:solidFill>
                <a:latin typeface="方正兰亭中黑_GBK" panose="02000000000000000000" pitchFamily="2" charset="-122"/>
                <a:ea typeface="方正兰亭中黑_GBK" panose="02000000000000000000" pitchFamily="2" charset="-122"/>
              </a:rPr>
              <a:t>：</a:t>
            </a:r>
            <a:r>
              <a:rPr lang="en-US" altLang="zh-CN"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No quality data, no quality mining results!</a:t>
            </a:r>
            <a:endParaRPr lang="en-US" altLang="zh-CN"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8" name="标题 1"/>
          <p:cNvSpPr>
            <a:spLocks noGrp="1"/>
          </p:cNvSpPr>
          <p:nvPr>
            <p:ph type="title"/>
          </p:nvPr>
        </p:nvSpPr>
        <p:spPr>
          <a:xfrm>
            <a:off x="528321" y="188640"/>
            <a:ext cx="8001000" cy="636067"/>
          </a:xfrm>
        </p:spPr>
        <p:txBody>
          <a:bodyPr/>
          <a:lstStyle/>
          <a:p>
            <a:r>
              <a:rPr lang="zh-CN" altLang="en-US" sz="3600" kern="1200" dirty="0"/>
              <a:t>统计量与群智</a:t>
            </a:r>
            <a:endParaRPr lang="zh-CN" altLang="en-US" sz="3600" kern="1200"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7"/>
          <p:cNvSpPr txBox="1">
            <a:spLocks noChangeArrowheads="1"/>
          </p:cNvSpPr>
          <p:nvPr/>
        </p:nvSpPr>
        <p:spPr bwMode="auto">
          <a:xfrm>
            <a:off x="1967940" y="2132856"/>
            <a:ext cx="7200800"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广为认可的数据质量多维度量</a:t>
            </a:r>
            <a:endParaRPr lang="en-US" altLang="zh-CN" sz="2400" b="0" dirty="0">
              <a:solidFill>
                <a:srgbClr val="FF0000"/>
              </a:solidFill>
              <a:latin typeface="方正兰亭中黑_GBK" panose="02000000000000000000" pitchFamily="2" charset="-122"/>
              <a:ea typeface="方正兰亭中黑_GBK" panose="02000000000000000000" pitchFamily="2" charset="-122"/>
            </a:endParaRPr>
          </a:p>
          <a:p>
            <a:pPr marL="898525" lvl="1" indent="-441325" eaLnBrk="1" hangingPunct="1">
              <a:lnSpc>
                <a:spcPct val="120000"/>
              </a:lnSpc>
              <a:spcBef>
                <a:spcPts val="1200"/>
              </a:spcBef>
              <a:spcAft>
                <a:spcPts val="600"/>
              </a:spcAft>
              <a:buClr>
                <a:srgbClr val="1557AE"/>
              </a:buClr>
              <a:buSzPct val="100000"/>
              <a:buFont typeface="Wingdings" panose="05000000000000000000" pitchFamily="2" charset="2"/>
              <a:buChar char="Ø"/>
              <a:defRPr/>
            </a:pPr>
            <a:r>
              <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精确度</a:t>
            </a:r>
            <a:endPar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98525" lvl="1" indent="-441325" eaLnBrk="1" hangingPunct="1">
              <a:lnSpc>
                <a:spcPct val="120000"/>
              </a:lnSpc>
              <a:spcBef>
                <a:spcPts val="600"/>
              </a:spcBef>
              <a:spcAft>
                <a:spcPts val="600"/>
              </a:spcAft>
              <a:buClr>
                <a:srgbClr val="1557AE"/>
              </a:buClr>
              <a:buSzPct val="100000"/>
              <a:buFont typeface="Wingdings" panose="05000000000000000000" pitchFamily="2" charset="2"/>
              <a:buChar char="Ø"/>
              <a:defRPr/>
            </a:pPr>
            <a:r>
              <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完整度</a:t>
            </a:r>
            <a:endPar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98525" lvl="1" indent="-441325" eaLnBrk="1" hangingPunct="1">
              <a:lnSpc>
                <a:spcPct val="120000"/>
              </a:lnSpc>
              <a:spcBef>
                <a:spcPts val="600"/>
              </a:spcBef>
              <a:spcAft>
                <a:spcPts val="600"/>
              </a:spcAft>
              <a:buClr>
                <a:srgbClr val="1557AE"/>
              </a:buClr>
              <a:buSzPct val="100000"/>
              <a:buFont typeface="Wingdings" panose="05000000000000000000" pitchFamily="2" charset="2"/>
              <a:buChar char="Ø"/>
              <a:defRPr/>
            </a:pPr>
            <a:r>
              <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一致性</a:t>
            </a:r>
            <a:endPar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98525" lvl="1" indent="-441325" eaLnBrk="1" hangingPunct="1">
              <a:lnSpc>
                <a:spcPct val="120000"/>
              </a:lnSpc>
              <a:spcBef>
                <a:spcPts val="600"/>
              </a:spcBef>
              <a:spcAft>
                <a:spcPts val="600"/>
              </a:spcAft>
              <a:buClr>
                <a:srgbClr val="1557AE"/>
              </a:buClr>
              <a:buSzPct val="100000"/>
              <a:buFont typeface="Wingdings" panose="05000000000000000000" pitchFamily="2" charset="2"/>
              <a:buChar char="Ø"/>
              <a:defRPr/>
            </a:pPr>
            <a:r>
              <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时效性</a:t>
            </a:r>
            <a:endParaRPr lang="en-US" altLang="zh-CN" sz="20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1295400" lvl="2" indent="-441325" eaLnBrk="1" hangingPunct="1">
              <a:lnSpc>
                <a:spcPct val="120000"/>
              </a:lnSpc>
              <a:buClr>
                <a:srgbClr val="0000FF"/>
              </a:buClr>
              <a:buSzPct val="100000"/>
              <a:buFont typeface="Arial" panose="020B0604020202090204" pitchFamily="34" charset="0"/>
              <a:buChar char="•"/>
              <a:defRPr/>
            </a:pPr>
            <a:endParaRPr lang="en-US" altLang="zh-CN" sz="2200" b="0" dirty="0">
              <a:latin typeface="方正兰亭中黑_GBK" panose="02000000000000000000" pitchFamily="2" charset="-122"/>
              <a:ea typeface="方正兰亭中黑_GBK" panose="02000000000000000000" pitchFamily="2" charset="-122"/>
              <a:cs typeface="Calibri" panose="020F0502020204030204" pitchFamily="34" charset="0"/>
            </a:endParaRPr>
          </a:p>
          <a:p>
            <a:pPr marL="1295400" lvl="2" indent="-441325" eaLnBrk="1" hangingPunct="1">
              <a:lnSpc>
                <a:spcPct val="120000"/>
              </a:lnSpc>
              <a:buClr>
                <a:srgbClr val="0000FF"/>
              </a:buClr>
              <a:buSzPct val="100000"/>
              <a:buFont typeface="Arial" panose="020B0604020202090204" pitchFamily="34" charset="0"/>
              <a:buChar char="•"/>
              <a:defRPr/>
            </a:pPr>
            <a:endParaRPr lang="zh-CN" altLang="en-US" sz="2500" b="0" dirty="0">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202758" name="Rectangle 6"/>
          <p:cNvSpPr>
            <a:spLocks noGrp="1" noChangeArrowheads="1"/>
          </p:cNvSpPr>
          <p:nvPr>
            <p:ph type="title"/>
          </p:nvPr>
        </p:nvSpPr>
        <p:spPr/>
        <p:txBody>
          <a:bodyPr/>
          <a:lstStyle/>
          <a:p>
            <a:pPr eaLnBrk="1" hangingPunct="1">
              <a:defRPr/>
            </a:pPr>
            <a:r>
              <a:rPr lang="en-US" altLang="zh-CN" sz="3600" dirty="0"/>
              <a:t>2.1  </a:t>
            </a:r>
            <a:r>
              <a:rPr lang="zh-CN" altLang="en-US" sz="3600" dirty="0"/>
              <a:t>为什么要预处理数据</a:t>
            </a:r>
            <a:endParaRPr lang="zh-CN" altLang="en-US" sz="3600" dirty="0"/>
          </a:p>
        </p:txBody>
      </p:sp>
      <p:sp>
        <p:nvSpPr>
          <p:cNvPr id="5" name="Rectangle 7"/>
          <p:cNvSpPr txBox="1">
            <a:spLocks noChangeArrowheads="1"/>
          </p:cNvSpPr>
          <p:nvPr/>
        </p:nvSpPr>
        <p:spPr bwMode="auto">
          <a:xfrm>
            <a:off x="4175770" y="2708920"/>
            <a:ext cx="4968230"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898525" lvl="1" indent="-441325" eaLnBrk="1" hangingPunct="1">
              <a:lnSpc>
                <a:spcPct val="120000"/>
              </a:lnSpc>
              <a:spcBef>
                <a:spcPts val="600"/>
              </a:spcBef>
              <a:spcAft>
                <a:spcPts val="600"/>
              </a:spcAft>
              <a:buClr>
                <a:srgbClr val="1557AE"/>
              </a:buClr>
              <a:buSzPct val="100000"/>
              <a:buFont typeface="Wingdings" panose="05000000000000000000" pitchFamily="2" charset="2"/>
              <a:buChar char="Ø"/>
              <a:defRPr/>
            </a:pPr>
            <a:r>
              <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可信度</a:t>
            </a:r>
            <a:endParaRPr lang="en-US" altLang="zh-CN"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98525" lvl="1" indent="-441325" eaLnBrk="1" hangingPunct="1">
              <a:lnSpc>
                <a:spcPct val="120000"/>
              </a:lnSpc>
              <a:spcBef>
                <a:spcPts val="600"/>
              </a:spcBef>
              <a:spcAft>
                <a:spcPts val="600"/>
              </a:spcAft>
              <a:buClr>
                <a:srgbClr val="1557AE"/>
              </a:buClr>
              <a:buSzPct val="100000"/>
              <a:buFont typeface="Wingdings" panose="05000000000000000000" pitchFamily="2" charset="2"/>
              <a:buChar char="Ø"/>
              <a:defRPr/>
            </a:pPr>
            <a:r>
              <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可增值性</a:t>
            </a:r>
            <a:endPar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98525" lvl="1" indent="-441325" eaLnBrk="1" hangingPunct="1">
              <a:lnSpc>
                <a:spcPct val="120000"/>
              </a:lnSpc>
              <a:spcBef>
                <a:spcPts val="600"/>
              </a:spcBef>
              <a:spcAft>
                <a:spcPts val="600"/>
              </a:spcAft>
              <a:buClr>
                <a:srgbClr val="1557AE"/>
              </a:buClr>
              <a:buSzPct val="100000"/>
              <a:buFont typeface="Wingdings" panose="05000000000000000000" pitchFamily="2" charset="2"/>
              <a:buChar char="Ø"/>
              <a:defRPr/>
            </a:pPr>
            <a:r>
              <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可解释性</a:t>
            </a:r>
            <a:endParaRPr lang="en-US" altLang="zh-CN"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98525" lvl="1" indent="-441325" eaLnBrk="1" hangingPunct="1">
              <a:lnSpc>
                <a:spcPct val="120000"/>
              </a:lnSpc>
              <a:spcBef>
                <a:spcPts val="600"/>
              </a:spcBef>
              <a:spcAft>
                <a:spcPts val="600"/>
              </a:spcAft>
              <a:buClr>
                <a:srgbClr val="1557AE"/>
              </a:buClr>
              <a:buSzPct val="100000"/>
              <a:buFont typeface="Wingdings" panose="05000000000000000000" pitchFamily="2" charset="2"/>
              <a:buChar char="Ø"/>
              <a:defRPr/>
            </a:pPr>
            <a:r>
              <a:rPr lang="zh-CN" altLang="en-US"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可问性</a:t>
            </a:r>
            <a:endParaRPr lang="en-US" altLang="zh-CN" sz="22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1295400" lvl="2" indent="-441325" eaLnBrk="1" hangingPunct="1">
              <a:lnSpc>
                <a:spcPct val="120000"/>
              </a:lnSpc>
              <a:buClr>
                <a:srgbClr val="0000FF"/>
              </a:buClr>
              <a:buSzPct val="100000"/>
              <a:buFont typeface="Arial" panose="020B0604020202090204" pitchFamily="34" charset="0"/>
              <a:buChar char="•"/>
              <a:defRPr/>
            </a:pPr>
            <a:endParaRPr lang="zh-CN" altLang="en-US" sz="2500" b="0" dirty="0">
              <a:latin typeface="方正兰亭中黑_GBK" panose="02000000000000000000" pitchFamily="2" charset="-122"/>
              <a:ea typeface="方正兰亭中黑_GBK" panose="02000000000000000000" pitchFamily="2" charset="-122"/>
              <a:cs typeface="Calibri" panose="020F0502020204030204" pitchFamily="34"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395536" y="1196752"/>
            <a:ext cx="8064896" cy="4525962"/>
          </a:xfrm>
        </p:spPr>
        <p:txBody>
          <a:bodyPr/>
          <a:lstStyle/>
          <a:p>
            <a:pPr marL="342900" indent="-342900" eaLnBrk="1" hangingPunct="1">
              <a:lnSpc>
                <a:spcPct val="120000"/>
              </a:lnSpc>
              <a:buClrTx/>
              <a:buSzPct val="100000"/>
              <a:buFont typeface="Wingdings" panose="05000000000000000000" pitchFamily="2" charset="2"/>
              <a:buChar char="n"/>
              <a:defRPr/>
            </a:pPr>
            <a:r>
              <a:rPr lang="zh-CN" altLang="en-US" sz="2800" b="0" kern="1200" dirty="0">
                <a:solidFill>
                  <a:srgbClr val="FF0000"/>
                </a:solidFill>
                <a:cs typeface="Calibri" panose="020F0502020204030204" pitchFamily="34" charset="0"/>
              </a:rPr>
              <a:t>数据处理的主要任务</a:t>
            </a:r>
            <a:endParaRPr lang="en-US" altLang="zh-CN" sz="2800" b="0" kern="1200" dirty="0">
              <a:solidFill>
                <a:srgbClr val="FF0000"/>
              </a:solidFill>
              <a:cs typeface="Calibri" panose="020F0502020204030204" pitchFamily="34" charset="0"/>
            </a:endParaRPr>
          </a:p>
          <a:p>
            <a:pPr marL="898525" lvl="1" indent="-441325" eaLnBrk="1" hangingPunct="1">
              <a:lnSpc>
                <a:spcPct val="120000"/>
              </a:lnSpc>
              <a:spcBef>
                <a:spcPts val="300"/>
              </a:spcBef>
              <a:buSzPct val="100000"/>
              <a:buFont typeface="Wingdings" panose="05000000000000000000" pitchFamily="2" charset="2"/>
              <a:buChar char="Ø"/>
              <a:defRPr/>
            </a:pPr>
            <a:r>
              <a:rPr lang="zh-CN" altLang="en-US" sz="2400" b="0" kern="1200" dirty="0">
                <a:solidFill>
                  <a:srgbClr val="FF0000"/>
                </a:solidFill>
                <a:cs typeface="Calibri" panose="020F0502020204030204" pitchFamily="34" charset="0"/>
              </a:rPr>
              <a:t>数据清理</a:t>
            </a:r>
            <a:endParaRPr lang="zh-CN" altLang="en-US" sz="2400" b="0" kern="1200" dirty="0">
              <a:solidFill>
                <a:srgbClr val="FF0000"/>
              </a:solidFill>
              <a:cs typeface="Calibri" panose="020F0502020204030204" pitchFamily="34" charset="0"/>
            </a:endParaRPr>
          </a:p>
          <a:p>
            <a:pPr marL="1295400" lvl="2" indent="-441325" eaLnBrk="1" hangingPunct="1">
              <a:lnSpc>
                <a:spcPct val="110000"/>
              </a:lnSpc>
              <a:spcBef>
                <a:spcPts val="0"/>
              </a:spcBef>
              <a:buClr>
                <a:srgbClr val="0000FF"/>
              </a:buClr>
              <a:buSzPct val="100000"/>
              <a:buFont typeface="Arial" panose="020B0604020202090204" pitchFamily="34" charset="0"/>
              <a:buChar char="•"/>
              <a:defRPr/>
            </a:pPr>
            <a:r>
              <a:rPr lang="zh-CN" altLang="en-US" sz="2000" b="0" kern="1200" dirty="0">
                <a:solidFill>
                  <a:srgbClr val="1557AE"/>
                </a:solidFill>
                <a:cs typeface="Calibri" panose="020F0502020204030204" pitchFamily="34" charset="0"/>
              </a:rPr>
              <a:t>填写空缺的值，平滑噪声数据，识别、删除孤立点，解决不一致性</a:t>
            </a:r>
            <a:endParaRPr lang="zh-CN" altLang="en-US" sz="2000" b="0" kern="1200" dirty="0">
              <a:solidFill>
                <a:srgbClr val="1557AE"/>
              </a:solidFill>
              <a:cs typeface="Calibri" panose="020F0502020204030204" pitchFamily="34" charset="0"/>
            </a:endParaRPr>
          </a:p>
          <a:p>
            <a:pPr marL="898525" lvl="1" indent="-441325" eaLnBrk="1" hangingPunct="1">
              <a:lnSpc>
                <a:spcPct val="120000"/>
              </a:lnSpc>
              <a:spcBef>
                <a:spcPts val="300"/>
              </a:spcBef>
              <a:buSzPct val="100000"/>
              <a:buFont typeface="Wingdings" panose="05000000000000000000" pitchFamily="2" charset="2"/>
              <a:buChar char="Ø"/>
              <a:defRPr/>
            </a:pPr>
            <a:r>
              <a:rPr lang="zh-CN" altLang="en-US" sz="2400" b="0" kern="1200" dirty="0">
                <a:solidFill>
                  <a:srgbClr val="FF0000"/>
                </a:solidFill>
                <a:cs typeface="Calibri" panose="020F0502020204030204" pitchFamily="34" charset="0"/>
              </a:rPr>
              <a:t>数据集成</a:t>
            </a:r>
            <a:endParaRPr lang="zh-CN" altLang="en-US" sz="2400" b="0" kern="1200" dirty="0">
              <a:solidFill>
                <a:srgbClr val="FF0000"/>
              </a:solidFill>
              <a:cs typeface="Calibri" panose="020F0502020204030204" pitchFamily="34" charset="0"/>
            </a:endParaRPr>
          </a:p>
          <a:p>
            <a:pPr marL="1295400" lvl="2" indent="-441325" eaLnBrk="1" hangingPunct="1">
              <a:lnSpc>
                <a:spcPct val="110000"/>
              </a:lnSpc>
              <a:spcBef>
                <a:spcPts val="0"/>
              </a:spcBef>
              <a:buClr>
                <a:srgbClr val="0000FF"/>
              </a:buClr>
              <a:buSzPct val="100000"/>
              <a:buFont typeface="Arial" panose="020B0604020202090204" pitchFamily="34" charset="0"/>
              <a:buChar char="•"/>
              <a:defRPr/>
            </a:pPr>
            <a:r>
              <a:rPr lang="zh-CN" altLang="en-US" sz="2000" b="0" kern="1200" dirty="0">
                <a:solidFill>
                  <a:srgbClr val="1557AE"/>
                </a:solidFill>
                <a:cs typeface="Calibri" panose="020F0502020204030204" pitchFamily="34" charset="0"/>
              </a:rPr>
              <a:t>集成多个数据库、数据立方体或文件</a:t>
            </a:r>
            <a:endParaRPr lang="zh-CN" altLang="en-US" sz="2000" b="0" kern="1200" dirty="0">
              <a:solidFill>
                <a:srgbClr val="1557AE"/>
              </a:solidFill>
              <a:cs typeface="Calibri" panose="020F0502020204030204" pitchFamily="34" charset="0"/>
            </a:endParaRPr>
          </a:p>
          <a:p>
            <a:pPr marL="898525" lvl="1" indent="-441325" eaLnBrk="1" hangingPunct="1">
              <a:lnSpc>
                <a:spcPct val="120000"/>
              </a:lnSpc>
              <a:spcBef>
                <a:spcPts val="300"/>
              </a:spcBef>
              <a:buSzPct val="100000"/>
              <a:buFont typeface="Wingdings" panose="05000000000000000000" pitchFamily="2" charset="2"/>
              <a:buChar char="Ø"/>
              <a:defRPr/>
            </a:pPr>
            <a:r>
              <a:rPr lang="zh-CN" altLang="en-US" sz="2400" b="0" kern="1200" dirty="0">
                <a:solidFill>
                  <a:srgbClr val="FF0000"/>
                </a:solidFill>
                <a:cs typeface="Calibri" panose="020F0502020204030204" pitchFamily="34" charset="0"/>
              </a:rPr>
              <a:t>数据变换</a:t>
            </a:r>
            <a:endParaRPr lang="zh-CN" altLang="en-US" sz="2400" b="0" kern="1200" dirty="0">
              <a:solidFill>
                <a:srgbClr val="FF0000"/>
              </a:solidFill>
              <a:cs typeface="Calibri" panose="020F0502020204030204" pitchFamily="34" charset="0"/>
            </a:endParaRPr>
          </a:p>
          <a:p>
            <a:pPr marL="1295400" lvl="2" indent="-441325" eaLnBrk="1" hangingPunct="1">
              <a:lnSpc>
                <a:spcPct val="110000"/>
              </a:lnSpc>
              <a:spcBef>
                <a:spcPts val="0"/>
              </a:spcBef>
              <a:buClr>
                <a:srgbClr val="0000FF"/>
              </a:buClr>
              <a:buSzPct val="100000"/>
              <a:buFont typeface="Arial" panose="020B0604020202090204" pitchFamily="34" charset="0"/>
              <a:buChar char="•"/>
              <a:defRPr/>
            </a:pPr>
            <a:r>
              <a:rPr lang="zh-CN" altLang="en-US" sz="2000" b="0" kern="1200" dirty="0">
                <a:solidFill>
                  <a:srgbClr val="1557AE"/>
                </a:solidFill>
                <a:cs typeface="Calibri" panose="020F0502020204030204" pitchFamily="34" charset="0"/>
              </a:rPr>
              <a:t>规范化和聚集</a:t>
            </a:r>
            <a:endParaRPr lang="zh-CN" altLang="en-US" sz="2000" b="0" kern="1200" dirty="0">
              <a:solidFill>
                <a:srgbClr val="1557AE"/>
              </a:solidFill>
              <a:cs typeface="Calibri" panose="020F0502020204030204" pitchFamily="34" charset="0"/>
            </a:endParaRPr>
          </a:p>
          <a:p>
            <a:pPr marL="898525" lvl="1" indent="-441325" eaLnBrk="1" hangingPunct="1">
              <a:lnSpc>
                <a:spcPct val="120000"/>
              </a:lnSpc>
              <a:spcBef>
                <a:spcPts val="300"/>
              </a:spcBef>
              <a:buSzPct val="100000"/>
              <a:buFont typeface="Wingdings" panose="05000000000000000000" pitchFamily="2" charset="2"/>
              <a:buChar char="Ø"/>
              <a:defRPr/>
            </a:pPr>
            <a:r>
              <a:rPr lang="zh-CN" altLang="en-US" sz="2400" b="0" kern="1200" dirty="0">
                <a:solidFill>
                  <a:srgbClr val="FF0000"/>
                </a:solidFill>
                <a:cs typeface="Calibri" panose="020F0502020204030204" pitchFamily="34" charset="0"/>
              </a:rPr>
              <a:t>数据归约</a:t>
            </a:r>
            <a:endParaRPr lang="zh-CN" altLang="en-US" sz="2400" b="0" kern="1200" dirty="0">
              <a:solidFill>
                <a:srgbClr val="FF0000"/>
              </a:solidFill>
              <a:cs typeface="Calibri" panose="020F0502020204030204" pitchFamily="34" charset="0"/>
            </a:endParaRPr>
          </a:p>
          <a:p>
            <a:pPr marL="1295400" lvl="2" indent="-441325" eaLnBrk="1" hangingPunct="1">
              <a:lnSpc>
                <a:spcPct val="110000"/>
              </a:lnSpc>
              <a:spcBef>
                <a:spcPts val="0"/>
              </a:spcBef>
              <a:buClr>
                <a:srgbClr val="0000FF"/>
              </a:buClr>
              <a:buSzPct val="100000"/>
              <a:buFont typeface="Arial" panose="020B0604020202090204" pitchFamily="34" charset="0"/>
              <a:buChar char="•"/>
              <a:defRPr/>
            </a:pPr>
            <a:r>
              <a:rPr lang="zh-CN" altLang="en-US" sz="2000" b="0" kern="1200" dirty="0">
                <a:solidFill>
                  <a:srgbClr val="1557AE"/>
                </a:solidFill>
                <a:cs typeface="Calibri" panose="020F0502020204030204" pitchFamily="34" charset="0"/>
              </a:rPr>
              <a:t>得到数据集的压缩表示，但可得到相同或相近的结果</a:t>
            </a:r>
            <a:endParaRPr lang="zh-CN" altLang="en-US" sz="2000" b="0" kern="1200" dirty="0">
              <a:solidFill>
                <a:srgbClr val="1557AE"/>
              </a:solidFill>
              <a:cs typeface="Calibri" panose="020F0502020204030204" pitchFamily="34" charset="0"/>
            </a:endParaRPr>
          </a:p>
          <a:p>
            <a:pPr marL="898525" lvl="1" indent="-441325" eaLnBrk="1" hangingPunct="1">
              <a:lnSpc>
                <a:spcPct val="120000"/>
              </a:lnSpc>
              <a:spcBef>
                <a:spcPts val="300"/>
              </a:spcBef>
              <a:buSzPct val="100000"/>
              <a:buFont typeface="Wingdings" panose="05000000000000000000" pitchFamily="2" charset="2"/>
              <a:buChar char="Ø"/>
              <a:defRPr/>
            </a:pPr>
            <a:r>
              <a:rPr lang="zh-CN" altLang="en-US" sz="2400" b="0" kern="1200" dirty="0">
                <a:solidFill>
                  <a:srgbClr val="FF0000"/>
                </a:solidFill>
                <a:cs typeface="Calibri" panose="020F0502020204030204" pitchFamily="34" charset="0"/>
              </a:rPr>
              <a:t>数据离散化</a:t>
            </a:r>
            <a:endParaRPr lang="zh-CN" altLang="en-US" sz="2400" b="0" kern="1200" dirty="0">
              <a:solidFill>
                <a:srgbClr val="FF0000"/>
              </a:solidFill>
              <a:cs typeface="Calibri" panose="020F0502020204030204" pitchFamily="34" charset="0"/>
            </a:endParaRPr>
          </a:p>
          <a:p>
            <a:pPr marL="1295400" lvl="2" indent="-441325" eaLnBrk="1" hangingPunct="1">
              <a:lnSpc>
                <a:spcPct val="110000"/>
              </a:lnSpc>
              <a:spcBef>
                <a:spcPts val="0"/>
              </a:spcBef>
              <a:buClr>
                <a:srgbClr val="0000FF"/>
              </a:buClr>
              <a:buSzPct val="100000"/>
              <a:buFont typeface="Arial" panose="020B0604020202090204" pitchFamily="34" charset="0"/>
              <a:buChar char="•"/>
              <a:defRPr/>
            </a:pPr>
            <a:r>
              <a:rPr lang="zh-CN" altLang="en-US" sz="2000" b="0" kern="1200" dirty="0">
                <a:solidFill>
                  <a:srgbClr val="1557AE"/>
                </a:solidFill>
                <a:cs typeface="Calibri" panose="020F0502020204030204" pitchFamily="34" charset="0"/>
              </a:rPr>
              <a:t>通过概念分层和数据离散化来规约数据，对数值型数据特别重要</a:t>
            </a:r>
            <a:endParaRPr lang="zh-CN" altLang="en-US" sz="2000" b="0" kern="1200" dirty="0">
              <a:solidFill>
                <a:srgbClr val="1557AE"/>
              </a:solidFill>
              <a:cs typeface="Calibri" panose="020F0502020204030204" pitchFamily="34" charset="0"/>
            </a:endParaRPr>
          </a:p>
        </p:txBody>
      </p:sp>
      <p:sp>
        <p:nvSpPr>
          <p:cNvPr id="6" name="Rectangle 6"/>
          <p:cNvSpPr>
            <a:spLocks noGrp="1" noChangeArrowheads="1"/>
          </p:cNvSpPr>
          <p:nvPr>
            <p:ph type="title"/>
          </p:nvPr>
        </p:nvSpPr>
        <p:spPr>
          <a:xfrm>
            <a:off x="528321" y="188640"/>
            <a:ext cx="8001000" cy="636067"/>
          </a:xfrm>
        </p:spPr>
        <p:txBody>
          <a:bodyPr/>
          <a:lstStyle/>
          <a:p>
            <a:pPr eaLnBrk="1" hangingPunct="1">
              <a:defRPr/>
            </a:pPr>
            <a:r>
              <a:rPr lang="en-US" altLang="zh-CN" sz="3600" dirty="0"/>
              <a:t>2.1  </a:t>
            </a:r>
            <a:r>
              <a:rPr lang="zh-CN" altLang="en-US" sz="3600" dirty="0"/>
              <a:t>为什么要预处理数据</a:t>
            </a:r>
            <a:endParaRPr lang="zh-CN" altLang="en-US" sz="3600"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8" name="Rectangle 6"/>
          <p:cNvSpPr>
            <a:spLocks noGrp="1" noChangeArrowheads="1"/>
          </p:cNvSpPr>
          <p:nvPr>
            <p:ph type="title"/>
          </p:nvPr>
        </p:nvSpPr>
        <p:spPr/>
        <p:txBody>
          <a:bodyPr/>
          <a:lstStyle/>
          <a:p>
            <a:pPr eaLnBrk="1" hangingPunct="1">
              <a:defRPr/>
            </a:pPr>
            <a:r>
              <a:rPr lang="zh-CN" altLang="en-US" sz="3600" dirty="0"/>
              <a:t>本章内容</a:t>
            </a:r>
            <a:endParaRPr lang="zh-CN" altLang="en-US" sz="3600" dirty="0"/>
          </a:p>
        </p:txBody>
      </p:sp>
      <p:sp>
        <p:nvSpPr>
          <p:cNvPr id="6147" name="Rectangle 7"/>
          <p:cNvSpPr>
            <a:spLocks noGrp="1" noChangeArrowheads="1"/>
          </p:cNvSpPr>
          <p:nvPr>
            <p:ph type="body" idx="1"/>
          </p:nvPr>
        </p:nvSpPr>
        <p:spPr>
          <a:xfrm>
            <a:off x="755650" y="1628775"/>
            <a:ext cx="7780338" cy="3024188"/>
          </a:xfrm>
        </p:spPr>
        <p:txBody>
          <a:bodyPr/>
          <a:lstStyle/>
          <a:p>
            <a:pPr marL="0" indent="0" eaLnBrk="1" hangingPunct="1">
              <a:lnSpc>
                <a:spcPct val="120000"/>
              </a:lnSpc>
              <a:spcBef>
                <a:spcPts val="600"/>
              </a:spcBef>
              <a:buNone/>
            </a:pPr>
            <a:r>
              <a:rPr lang="en-US" altLang="zh-CN" sz="2800" b="0" dirty="0">
                <a:solidFill>
                  <a:srgbClr val="1557AE"/>
                </a:solidFill>
                <a:cs typeface="Times New Roman" panose="02020503050405090304" pitchFamily="18" charset="0"/>
              </a:rPr>
              <a:t>2.0  </a:t>
            </a:r>
            <a:r>
              <a:rPr lang="zh-CN" altLang="en-US" sz="2800" b="0" dirty="0">
                <a:solidFill>
                  <a:srgbClr val="1557AE"/>
                </a:solidFill>
                <a:cs typeface="Times New Roman" panose="02020503050405090304" pitchFamily="18" charset="0"/>
              </a:rPr>
              <a:t>认识数据</a:t>
            </a:r>
            <a:endParaRPr lang="en-US" altLang="zh-CN" sz="2800" b="0" dirty="0">
              <a:solidFill>
                <a:srgbClr val="1557AE"/>
              </a:solidFill>
              <a:cs typeface="Times New Roman" panose="02020503050405090304" pitchFamily="18" charset="0"/>
            </a:endParaRPr>
          </a:p>
          <a:p>
            <a:pPr marL="0" indent="0" eaLnBrk="1" hangingPunct="1">
              <a:lnSpc>
                <a:spcPct val="120000"/>
              </a:lnSpc>
              <a:spcBef>
                <a:spcPts val="600"/>
              </a:spcBef>
              <a:buNone/>
            </a:pPr>
            <a:r>
              <a:rPr lang="en-US" altLang="zh-CN" sz="2800" b="0" dirty="0">
                <a:solidFill>
                  <a:srgbClr val="1557AE"/>
                </a:solidFill>
                <a:cs typeface="Times New Roman" panose="02020503050405090304" pitchFamily="18" charset="0"/>
              </a:rPr>
              <a:t>2.1  </a:t>
            </a:r>
            <a:r>
              <a:rPr lang="zh-CN" altLang="zh-CN" sz="2800" b="0" dirty="0">
                <a:solidFill>
                  <a:srgbClr val="1557AE"/>
                </a:solidFill>
                <a:cs typeface="Times New Roman" panose="02020503050405090304" pitchFamily="18" charset="0"/>
              </a:rPr>
              <a:t>为什么要预处理数据</a:t>
            </a:r>
            <a:endParaRPr lang="zh-CN" altLang="zh-CN" sz="2800" b="0" dirty="0">
              <a:solidFill>
                <a:srgbClr val="1557AE"/>
              </a:solidFill>
              <a:cs typeface="Times New Roman" panose="02020503050405090304" pitchFamily="18" charset="0"/>
            </a:endParaRPr>
          </a:p>
          <a:p>
            <a:pPr marL="0" indent="0" eaLnBrk="1" hangingPunct="1">
              <a:lnSpc>
                <a:spcPct val="120000"/>
              </a:lnSpc>
              <a:spcBef>
                <a:spcPts val="600"/>
              </a:spcBef>
              <a:buNone/>
            </a:pPr>
            <a:r>
              <a:rPr lang="en-US" altLang="zh-CN" sz="2800" b="0" dirty="0">
                <a:solidFill>
                  <a:srgbClr val="FF0000"/>
                </a:solidFill>
                <a:cs typeface="Times New Roman" panose="02020503050405090304" pitchFamily="18" charset="0"/>
              </a:rPr>
              <a:t>2.2  </a:t>
            </a:r>
            <a:r>
              <a:rPr lang="zh-CN" altLang="zh-CN" sz="2800" b="0" dirty="0">
                <a:solidFill>
                  <a:srgbClr val="FF0000"/>
                </a:solidFill>
                <a:cs typeface="Times New Roman" panose="02020503050405090304" pitchFamily="18" charset="0"/>
              </a:rPr>
              <a:t>数据清理</a:t>
            </a:r>
            <a:endParaRPr lang="zh-CN" altLang="zh-CN" sz="2800" b="0" dirty="0">
              <a:solidFill>
                <a:srgbClr val="FF0000"/>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Times New Roman" panose="02020503050405090304" pitchFamily="18" charset="0"/>
              </a:rPr>
              <a:t>2.3  </a:t>
            </a:r>
            <a:r>
              <a:rPr lang="zh-CN" altLang="zh-CN" sz="2800" b="0" dirty="0">
                <a:solidFill>
                  <a:srgbClr val="1557AE"/>
                </a:solidFill>
                <a:cs typeface="Times New Roman" panose="02020503050405090304" pitchFamily="18" charset="0"/>
              </a:rPr>
              <a:t>数据集成和变换</a:t>
            </a:r>
            <a:endParaRPr lang="zh-CN" altLang="zh-CN" sz="2800" b="0" dirty="0">
              <a:solidFill>
                <a:srgbClr val="1557AE"/>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Times New Roman" panose="02020503050405090304" pitchFamily="18" charset="0"/>
              </a:rPr>
              <a:t>2.4  </a:t>
            </a:r>
            <a:r>
              <a:rPr lang="zh-CN" altLang="zh-CN" sz="2800" b="0" dirty="0">
                <a:solidFill>
                  <a:srgbClr val="1557AE"/>
                </a:solidFill>
                <a:cs typeface="Times New Roman" panose="02020503050405090304" pitchFamily="18" charset="0"/>
              </a:rPr>
              <a:t>数据归约</a:t>
            </a:r>
            <a:endParaRPr lang="zh-CN" altLang="zh-CN" sz="2800" b="0" dirty="0">
              <a:solidFill>
                <a:srgbClr val="1557AE"/>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endParaRPr lang="zh-CN" altLang="en-US" sz="2800" b="0" dirty="0"/>
          </a:p>
          <a:p>
            <a:pPr marL="0" indent="0" eaLnBrk="1" hangingPunct="1">
              <a:lnSpc>
                <a:spcPct val="150000"/>
              </a:lnSpc>
              <a:buFont typeface="Wingdings" panose="05000000000000000000" pitchFamily="2" charset="2"/>
              <a:buNone/>
            </a:pPr>
            <a:endParaRPr lang="zh-CN" altLang="en-US" b="0"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8" name="Rectangle 6"/>
          <p:cNvSpPr>
            <a:spLocks noGrp="1" noChangeArrowheads="1"/>
          </p:cNvSpPr>
          <p:nvPr>
            <p:ph type="title"/>
          </p:nvPr>
        </p:nvSpPr>
        <p:spPr/>
        <p:txBody>
          <a:bodyPr/>
          <a:lstStyle/>
          <a:p>
            <a:pPr eaLnBrk="1" hangingPunct="1">
              <a:defRPr/>
            </a:pPr>
            <a:r>
              <a:rPr lang="en-US" altLang="zh-CN" sz="3600" dirty="0"/>
              <a:t>2.2  </a:t>
            </a:r>
            <a:r>
              <a:rPr lang="zh-CN" altLang="en-US" sz="3600" dirty="0"/>
              <a:t>数据清洗</a:t>
            </a:r>
            <a:endParaRPr lang="zh-CN" altLang="en-US" sz="3600" dirty="0"/>
          </a:p>
        </p:txBody>
      </p:sp>
      <p:sp>
        <p:nvSpPr>
          <p:cNvPr id="4" name="内容占位符 2"/>
          <p:cNvSpPr>
            <a:spLocks noGrp="1"/>
          </p:cNvSpPr>
          <p:nvPr>
            <p:ph idx="1"/>
          </p:nvPr>
        </p:nvSpPr>
        <p:spPr>
          <a:xfrm>
            <a:off x="457200" y="1481138"/>
            <a:ext cx="8229600" cy="4525962"/>
          </a:xfrm>
        </p:spPr>
        <p:txBody>
          <a:bodyPr/>
          <a:lstStyle/>
          <a:p>
            <a:pPr marL="342900" indent="-342900" eaLnBrk="1" hangingPunct="1">
              <a:lnSpc>
                <a:spcPct val="130000"/>
              </a:lnSpc>
              <a:buClrTx/>
              <a:buSzPct val="100000"/>
              <a:buFont typeface="Wingdings" panose="05000000000000000000" pitchFamily="2" charset="2"/>
              <a:buChar char="n"/>
              <a:defRPr/>
            </a:pPr>
            <a:r>
              <a:rPr lang="zh-CN" altLang="en-US" sz="2800" b="0" kern="1200" dirty="0">
                <a:solidFill>
                  <a:srgbClr val="1557AE"/>
                </a:solidFill>
                <a:cs typeface="Calibri" panose="020F0502020204030204" pitchFamily="34" charset="0"/>
              </a:rPr>
              <a:t>业界对数据清理的认识</a:t>
            </a:r>
            <a:endParaRPr lang="en-US" altLang="zh-CN" sz="2800" b="0" kern="1200" dirty="0">
              <a:solidFill>
                <a:srgbClr val="1557AE"/>
              </a:solidFill>
              <a:cs typeface="Calibri" panose="020F0502020204030204" pitchFamily="34" charset="0"/>
            </a:endParaRPr>
          </a:p>
          <a:p>
            <a:pPr lvl="1" eaLnBrk="1" hangingPunct="1">
              <a:lnSpc>
                <a:spcPct val="130000"/>
              </a:lnSpc>
              <a:buClrTx/>
              <a:buFont typeface="Wingdings" panose="05000000000000000000" pitchFamily="2" charset="2"/>
              <a:buChar char="Ø"/>
            </a:pPr>
            <a:r>
              <a:rPr lang="zh-CN" altLang="en-US" sz="2400" b="0" dirty="0">
                <a:solidFill>
                  <a:srgbClr val="1557AE"/>
                </a:solidFill>
                <a:cs typeface="Calibri" panose="020F0502020204030204" pitchFamily="34" charset="0"/>
              </a:rPr>
              <a:t>“数据清理是数据仓库构建中最重要的问题”</a:t>
            </a:r>
            <a:r>
              <a:rPr lang="en-US" altLang="zh-CN" sz="2400" b="0" dirty="0">
                <a:solidFill>
                  <a:srgbClr val="FF0000"/>
                </a:solidFill>
                <a:cs typeface="Calibri" panose="020F0502020204030204" pitchFamily="34" charset="0"/>
              </a:rPr>
              <a:t>— DCI survey</a:t>
            </a:r>
            <a:endParaRPr lang="en-US" altLang="zh-CN" sz="2400" b="0" dirty="0">
              <a:solidFill>
                <a:srgbClr val="FF0000"/>
              </a:solidFill>
              <a:cs typeface="Calibri" panose="020F0502020204030204" pitchFamily="34" charset="0"/>
            </a:endParaRPr>
          </a:p>
          <a:p>
            <a:pPr marL="342900" indent="-342900" eaLnBrk="1" hangingPunct="1">
              <a:lnSpc>
                <a:spcPct val="130000"/>
              </a:lnSpc>
              <a:buClrTx/>
              <a:buSzPct val="100000"/>
              <a:buFont typeface="Wingdings" panose="05000000000000000000" pitchFamily="2" charset="2"/>
              <a:buChar char="n"/>
              <a:defRPr/>
            </a:pPr>
            <a:r>
              <a:rPr lang="zh-CN" altLang="en-US" sz="2800" b="0" kern="1200" dirty="0">
                <a:solidFill>
                  <a:srgbClr val="FF0000"/>
                </a:solidFill>
                <a:cs typeface="Calibri" panose="020F0502020204030204" pitchFamily="34" charset="0"/>
              </a:rPr>
              <a:t>数据清理任务</a:t>
            </a:r>
            <a:endParaRPr lang="en-US" altLang="zh-CN" sz="2800" b="0" kern="1200" dirty="0">
              <a:solidFill>
                <a:srgbClr val="FF0000"/>
              </a:solidFill>
              <a:cs typeface="Calibri" panose="020F0502020204030204" pitchFamily="34" charset="0"/>
            </a:endParaRPr>
          </a:p>
          <a:p>
            <a:pPr lvl="1" eaLnBrk="1" hangingPunct="1">
              <a:lnSpc>
                <a:spcPct val="130000"/>
              </a:lnSpc>
              <a:buClrTx/>
              <a:buFont typeface="Wingdings" panose="05000000000000000000" pitchFamily="2" charset="2"/>
              <a:buChar char="Ø"/>
            </a:pPr>
            <a:r>
              <a:rPr lang="zh-CN" altLang="en-US" sz="2400" b="0" dirty="0">
                <a:solidFill>
                  <a:srgbClr val="1557AE"/>
                </a:solidFill>
                <a:cs typeface="Calibri" panose="020F0502020204030204" pitchFamily="34" charset="0"/>
              </a:rPr>
              <a:t>填写空缺值</a:t>
            </a:r>
            <a:endParaRPr lang="en-US" altLang="zh-CN" sz="2400" b="0" dirty="0">
              <a:solidFill>
                <a:srgbClr val="1557AE"/>
              </a:solidFill>
              <a:cs typeface="Calibri" panose="020F0502020204030204" pitchFamily="34" charset="0"/>
            </a:endParaRPr>
          </a:p>
          <a:p>
            <a:pPr lvl="1" eaLnBrk="1" hangingPunct="1">
              <a:lnSpc>
                <a:spcPct val="130000"/>
              </a:lnSpc>
              <a:buClrTx/>
              <a:buFont typeface="Wingdings" panose="05000000000000000000" pitchFamily="2" charset="2"/>
              <a:buChar char="Ø"/>
            </a:pPr>
            <a:r>
              <a:rPr lang="zh-CN" altLang="en-US" sz="2400" b="0" dirty="0">
                <a:solidFill>
                  <a:srgbClr val="1557AE"/>
                </a:solidFill>
                <a:cs typeface="Calibri" panose="020F0502020204030204" pitchFamily="34" charset="0"/>
              </a:rPr>
              <a:t>识别离群点和平滑噪声数据</a:t>
            </a:r>
            <a:endParaRPr lang="en-US" altLang="zh-CN" sz="2400" b="0" dirty="0">
              <a:solidFill>
                <a:srgbClr val="1557AE"/>
              </a:solidFill>
              <a:cs typeface="Calibri" panose="020F0502020204030204" pitchFamily="34" charset="0"/>
            </a:endParaRPr>
          </a:p>
          <a:p>
            <a:pPr lvl="1" eaLnBrk="1" hangingPunct="1">
              <a:lnSpc>
                <a:spcPct val="130000"/>
              </a:lnSpc>
              <a:buClrTx/>
              <a:buFont typeface="Wingdings" panose="05000000000000000000" pitchFamily="2" charset="2"/>
              <a:buChar char="Ø"/>
            </a:pPr>
            <a:r>
              <a:rPr lang="zh-CN" altLang="en-US" sz="2400" b="0" dirty="0">
                <a:solidFill>
                  <a:srgbClr val="1557AE"/>
                </a:solidFill>
                <a:cs typeface="Calibri" panose="020F0502020204030204" pitchFamily="34" charset="0"/>
              </a:rPr>
              <a:t>纠正不一致的数据</a:t>
            </a:r>
            <a:endParaRPr lang="en-US" altLang="zh-CN" sz="2400" b="0" dirty="0">
              <a:solidFill>
                <a:srgbClr val="1557AE"/>
              </a:solidFill>
              <a:cs typeface="Calibri" panose="020F0502020204030204" pitchFamily="34" charset="0"/>
            </a:endParaRPr>
          </a:p>
          <a:p>
            <a:pPr lvl="1" eaLnBrk="1" hangingPunct="1">
              <a:lnSpc>
                <a:spcPct val="130000"/>
              </a:lnSpc>
              <a:buClrTx/>
              <a:buFont typeface="Wingdings" panose="05000000000000000000" pitchFamily="2" charset="2"/>
              <a:buChar char="Ø"/>
            </a:pPr>
            <a:r>
              <a:rPr lang="zh-CN" altLang="en-US" sz="2400" b="0" dirty="0">
                <a:solidFill>
                  <a:srgbClr val="1557AE"/>
                </a:solidFill>
                <a:cs typeface="Calibri" panose="020F0502020204030204" pitchFamily="34" charset="0"/>
              </a:rPr>
              <a:t>解决数据集成造成的冗余</a:t>
            </a:r>
            <a:endParaRPr lang="zh-CN" altLang="en-US" sz="2400" b="0" dirty="0">
              <a:solidFill>
                <a:srgbClr val="1557AE"/>
              </a:solidFill>
              <a:cs typeface="Calibri" panose="020F0502020204030204" pitchFamily="34"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内容占位符 2"/>
          <p:cNvSpPr>
            <a:spLocks noGrp="1"/>
          </p:cNvSpPr>
          <p:nvPr>
            <p:ph idx="1"/>
          </p:nvPr>
        </p:nvSpPr>
        <p:spPr>
          <a:xfrm>
            <a:off x="414021" y="1268760"/>
            <a:ext cx="8229600" cy="4525962"/>
          </a:xfrm>
        </p:spPr>
        <p:txBody>
          <a:bodyPr/>
          <a:lstStyle/>
          <a:p>
            <a:pPr marL="342900" indent="-342900" eaLnBrk="1" hangingPunct="1">
              <a:lnSpc>
                <a:spcPct val="130000"/>
              </a:lnSpc>
              <a:buClrTx/>
              <a:buSzPct val="100000"/>
              <a:buFont typeface="Wingdings" panose="05000000000000000000" pitchFamily="2" charset="2"/>
              <a:buChar char="n"/>
              <a:defRPr/>
            </a:pPr>
            <a:r>
              <a:rPr lang="zh-CN" altLang="en-US" sz="2800" b="0" kern="1200" dirty="0">
                <a:solidFill>
                  <a:srgbClr val="FF0000"/>
                </a:solidFill>
                <a:cs typeface="Calibri" panose="020F0502020204030204" pitchFamily="34" charset="0"/>
              </a:rPr>
              <a:t>空缺值</a:t>
            </a:r>
            <a:endParaRPr lang="en-US" altLang="zh-CN" sz="2800" b="0" kern="1200" dirty="0">
              <a:solidFill>
                <a:srgbClr val="FF0000"/>
              </a:solidFill>
              <a:cs typeface="Calibri" panose="020F0502020204030204" pitchFamily="34" charset="0"/>
            </a:endParaRPr>
          </a:p>
          <a:p>
            <a:pPr lvl="1" eaLnBrk="1" hangingPunct="1">
              <a:lnSpc>
                <a:spcPct val="130000"/>
              </a:lnSpc>
              <a:spcBef>
                <a:spcPts val="600"/>
              </a:spcBef>
              <a:buClrTx/>
              <a:buFont typeface="Wingdings" panose="05000000000000000000" pitchFamily="2" charset="2"/>
              <a:buChar char="Ø"/>
            </a:pPr>
            <a:r>
              <a:rPr lang="zh-CN" altLang="en-US" sz="2400" b="0" dirty="0">
                <a:solidFill>
                  <a:srgbClr val="FF0000"/>
                </a:solidFill>
                <a:cs typeface="Calibri" panose="020F0502020204030204" pitchFamily="34" charset="0"/>
              </a:rPr>
              <a:t>数据并不总是完整的</a:t>
            </a:r>
            <a:endParaRPr lang="zh-CN" altLang="en-US" sz="2400" b="0" dirty="0">
              <a:solidFill>
                <a:srgbClr val="FF0000"/>
              </a:solidFill>
              <a:cs typeface="Calibri" panose="020F0502020204030204" pitchFamily="34" charset="0"/>
            </a:endParaRPr>
          </a:p>
          <a:p>
            <a:pPr lvl="2" eaLnBrk="1" hangingPunct="1">
              <a:lnSpc>
                <a:spcPct val="130000"/>
              </a:lnSpc>
              <a:spcBef>
                <a:spcPts val="600"/>
              </a:spcBef>
              <a:buFont typeface="Arial" panose="020B0604020202090204" pitchFamily="34" charset="0"/>
              <a:buChar char="•"/>
            </a:pPr>
            <a:r>
              <a:rPr lang="zh-CN" altLang="en-US" sz="2000" b="0" dirty="0">
                <a:solidFill>
                  <a:srgbClr val="1557AE"/>
                </a:solidFill>
                <a:cs typeface="Calibri" panose="020F0502020204030204" pitchFamily="34" charset="0"/>
              </a:rPr>
              <a:t>例如：数据库表中，很多条记录的对应字段没有相应值，比如销售表中的顾客收入</a:t>
            </a:r>
            <a:endParaRPr lang="zh-CN" altLang="en-US" sz="2000" b="0" dirty="0">
              <a:solidFill>
                <a:srgbClr val="1557AE"/>
              </a:solidFill>
              <a:cs typeface="Calibri" panose="020F0502020204030204" pitchFamily="34" charset="0"/>
            </a:endParaRPr>
          </a:p>
          <a:p>
            <a:pPr lvl="1" eaLnBrk="1" hangingPunct="1">
              <a:lnSpc>
                <a:spcPct val="130000"/>
              </a:lnSpc>
              <a:spcBef>
                <a:spcPts val="600"/>
              </a:spcBef>
              <a:buClrTx/>
              <a:buFont typeface="Wingdings" panose="05000000000000000000" pitchFamily="2" charset="2"/>
              <a:buChar char="Ø"/>
            </a:pPr>
            <a:r>
              <a:rPr lang="zh-CN" altLang="en-US" sz="2400" b="0" dirty="0">
                <a:solidFill>
                  <a:srgbClr val="FF0000"/>
                </a:solidFill>
                <a:cs typeface="Calibri" panose="020F0502020204030204" pitchFamily="34" charset="0"/>
              </a:rPr>
              <a:t>引起空缺值的原因</a:t>
            </a:r>
            <a:endParaRPr lang="zh-CN" altLang="en-US" sz="2400" b="0" dirty="0">
              <a:solidFill>
                <a:srgbClr val="FF0000"/>
              </a:solidFill>
              <a:cs typeface="Calibri" panose="020F0502020204030204" pitchFamily="34" charset="0"/>
            </a:endParaRPr>
          </a:p>
          <a:p>
            <a:pPr lvl="2" eaLnBrk="1" hangingPunct="1">
              <a:lnSpc>
                <a:spcPct val="130000"/>
              </a:lnSpc>
              <a:spcBef>
                <a:spcPts val="600"/>
              </a:spcBef>
              <a:buFont typeface="Arial" panose="020B0604020202090204" pitchFamily="34" charset="0"/>
              <a:buChar char="•"/>
            </a:pPr>
            <a:r>
              <a:rPr lang="zh-CN" altLang="en-US" sz="2000" b="0" dirty="0">
                <a:solidFill>
                  <a:srgbClr val="1557AE"/>
                </a:solidFill>
                <a:cs typeface="Calibri" panose="020F0502020204030204" pitchFamily="34" charset="0"/>
              </a:rPr>
              <a:t>设备异常</a:t>
            </a:r>
            <a:endParaRPr lang="zh-CN" altLang="en-US" sz="2000" b="0" dirty="0">
              <a:solidFill>
                <a:srgbClr val="1557AE"/>
              </a:solidFill>
              <a:cs typeface="Calibri" panose="020F0502020204030204" pitchFamily="34" charset="0"/>
            </a:endParaRPr>
          </a:p>
          <a:p>
            <a:pPr lvl="2" eaLnBrk="1" hangingPunct="1">
              <a:lnSpc>
                <a:spcPct val="130000"/>
              </a:lnSpc>
              <a:spcBef>
                <a:spcPts val="600"/>
              </a:spcBef>
              <a:buFont typeface="Arial" panose="020B0604020202090204" pitchFamily="34" charset="0"/>
              <a:buChar char="•"/>
            </a:pPr>
            <a:r>
              <a:rPr lang="zh-CN" altLang="en-US" sz="2000" b="0" dirty="0">
                <a:solidFill>
                  <a:srgbClr val="1557AE"/>
                </a:solidFill>
                <a:cs typeface="Calibri" panose="020F0502020204030204" pitchFamily="34" charset="0"/>
              </a:rPr>
              <a:t>与其他已有数据不一致而被删除</a:t>
            </a:r>
            <a:endParaRPr lang="zh-CN" altLang="en-US" sz="2000" b="0" dirty="0">
              <a:solidFill>
                <a:srgbClr val="1557AE"/>
              </a:solidFill>
              <a:cs typeface="Calibri" panose="020F0502020204030204" pitchFamily="34" charset="0"/>
            </a:endParaRPr>
          </a:p>
          <a:p>
            <a:pPr lvl="2" eaLnBrk="1" hangingPunct="1">
              <a:lnSpc>
                <a:spcPct val="130000"/>
              </a:lnSpc>
              <a:spcBef>
                <a:spcPts val="600"/>
              </a:spcBef>
              <a:buFont typeface="Arial" panose="020B0604020202090204" pitchFamily="34" charset="0"/>
              <a:buChar char="•"/>
            </a:pPr>
            <a:r>
              <a:rPr lang="zh-CN" altLang="en-US" sz="2000" b="0" dirty="0">
                <a:solidFill>
                  <a:srgbClr val="1557AE"/>
                </a:solidFill>
                <a:cs typeface="Calibri" panose="020F0502020204030204" pitchFamily="34" charset="0"/>
              </a:rPr>
              <a:t>因为误解而没有被输入的数据</a:t>
            </a:r>
            <a:endParaRPr lang="zh-CN" altLang="en-US" sz="2000" b="0" dirty="0">
              <a:solidFill>
                <a:srgbClr val="1557AE"/>
              </a:solidFill>
              <a:cs typeface="Calibri" panose="020F0502020204030204" pitchFamily="34" charset="0"/>
            </a:endParaRPr>
          </a:p>
          <a:p>
            <a:pPr lvl="2" eaLnBrk="1" hangingPunct="1">
              <a:lnSpc>
                <a:spcPct val="130000"/>
              </a:lnSpc>
              <a:spcBef>
                <a:spcPts val="600"/>
              </a:spcBef>
              <a:buFont typeface="Arial" panose="020B0604020202090204" pitchFamily="34" charset="0"/>
              <a:buChar char="•"/>
            </a:pPr>
            <a:r>
              <a:rPr lang="zh-CN" altLang="en-US" sz="2000" b="0" dirty="0">
                <a:solidFill>
                  <a:srgbClr val="1557AE"/>
                </a:solidFill>
                <a:cs typeface="Calibri" panose="020F0502020204030204" pitchFamily="34" charset="0"/>
              </a:rPr>
              <a:t>在输入时，有些数据应为得不到重视而没有被输入</a:t>
            </a:r>
            <a:endParaRPr lang="zh-CN" altLang="en-US" sz="2000" b="0" dirty="0">
              <a:solidFill>
                <a:srgbClr val="1557AE"/>
              </a:solidFill>
              <a:cs typeface="Calibri" panose="020F0502020204030204" pitchFamily="34" charset="0"/>
            </a:endParaRPr>
          </a:p>
          <a:p>
            <a:pPr lvl="2" eaLnBrk="1" hangingPunct="1">
              <a:lnSpc>
                <a:spcPct val="130000"/>
              </a:lnSpc>
              <a:spcBef>
                <a:spcPts val="600"/>
              </a:spcBef>
              <a:buFont typeface="Arial" panose="020B0604020202090204" pitchFamily="34" charset="0"/>
              <a:buChar char="•"/>
            </a:pPr>
            <a:r>
              <a:rPr lang="zh-CN" altLang="en-US" sz="2000" b="0" dirty="0">
                <a:solidFill>
                  <a:srgbClr val="1557AE"/>
                </a:solidFill>
                <a:cs typeface="Calibri" panose="020F0502020204030204" pitchFamily="34" charset="0"/>
              </a:rPr>
              <a:t>随机缺失</a:t>
            </a:r>
            <a:r>
              <a:rPr lang="en-US" altLang="zh-CN" sz="2000" b="0" dirty="0">
                <a:solidFill>
                  <a:srgbClr val="1557AE"/>
                </a:solidFill>
                <a:cs typeface="Calibri" panose="020F0502020204030204" pitchFamily="34" charset="0"/>
              </a:rPr>
              <a:t>，</a:t>
            </a:r>
            <a:r>
              <a:rPr lang="zh-CN" altLang="en-US" sz="2000" b="0" dirty="0">
                <a:solidFill>
                  <a:srgbClr val="1557AE"/>
                </a:solidFill>
                <a:cs typeface="Calibri" panose="020F0502020204030204" pitchFamily="34" charset="0"/>
              </a:rPr>
              <a:t>条件</a:t>
            </a:r>
            <a:r>
              <a:rPr lang="zh-CN" altLang="en-US" sz="2000" b="0" dirty="0">
                <a:solidFill>
                  <a:srgbClr val="1557AE"/>
                </a:solidFill>
                <a:cs typeface="Calibri" panose="020F0502020204030204" pitchFamily="34" charset="0"/>
              </a:rPr>
              <a:t>缺失</a:t>
            </a:r>
            <a:endParaRPr lang="zh-CN" altLang="en-US" sz="2000" b="0" dirty="0">
              <a:solidFill>
                <a:srgbClr val="1557AE"/>
              </a:solidFill>
              <a:cs typeface="Calibri" panose="020F0502020204030204" pitchFamily="34" charset="0"/>
            </a:endParaRPr>
          </a:p>
          <a:p>
            <a:pPr lvl="1" eaLnBrk="1" hangingPunct="1">
              <a:lnSpc>
                <a:spcPct val="130000"/>
              </a:lnSpc>
              <a:spcBef>
                <a:spcPts val="600"/>
              </a:spcBef>
              <a:buClrTx/>
              <a:buFont typeface="Wingdings" panose="05000000000000000000" pitchFamily="2" charset="2"/>
              <a:buChar char="Ø"/>
            </a:pPr>
            <a:r>
              <a:rPr lang="zh-CN" altLang="en-US" sz="2400" b="0" dirty="0">
                <a:solidFill>
                  <a:srgbClr val="FF0000"/>
                </a:solidFill>
                <a:cs typeface="Calibri" panose="020F0502020204030204" pitchFamily="34" charset="0"/>
              </a:rPr>
              <a:t>空缺值要经过推断而补上</a:t>
            </a:r>
            <a:endParaRPr lang="zh-CN" altLang="en-US" sz="2400" b="0" dirty="0">
              <a:solidFill>
                <a:srgbClr val="FF0000"/>
              </a:solidFill>
              <a:cs typeface="Calibri" panose="020F0502020204030204" pitchFamily="34" charset="0"/>
            </a:endParaRPr>
          </a:p>
        </p:txBody>
      </p:sp>
      <p:sp>
        <p:nvSpPr>
          <p:cNvPr id="6" name="Rectangle 6"/>
          <p:cNvSpPr>
            <a:spLocks noGrp="1" noChangeArrowheads="1"/>
          </p:cNvSpPr>
          <p:nvPr>
            <p:ph type="title"/>
          </p:nvPr>
        </p:nvSpPr>
        <p:spPr>
          <a:xfrm>
            <a:off x="528321" y="188640"/>
            <a:ext cx="8001000" cy="636067"/>
          </a:xfrm>
        </p:spPr>
        <p:txBody>
          <a:bodyPr/>
          <a:lstStyle/>
          <a:p>
            <a:pPr eaLnBrk="1" hangingPunct="1">
              <a:defRPr/>
            </a:pPr>
            <a:r>
              <a:rPr lang="en-US" altLang="zh-CN" sz="3600" dirty="0"/>
              <a:t>2.2  </a:t>
            </a:r>
            <a:r>
              <a:rPr lang="zh-CN" altLang="en-US" sz="3600" dirty="0"/>
              <a:t>数据清洗</a:t>
            </a:r>
            <a:endParaRPr lang="zh-CN" altLang="en-US" sz="3600"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内容占位符 2"/>
          <p:cNvSpPr>
            <a:spLocks noGrp="1"/>
          </p:cNvSpPr>
          <p:nvPr>
            <p:ph idx="1"/>
          </p:nvPr>
        </p:nvSpPr>
        <p:spPr>
          <a:xfrm>
            <a:off x="457200" y="1481138"/>
            <a:ext cx="8229600" cy="4525962"/>
          </a:xfrm>
        </p:spPr>
        <p:txBody>
          <a:bodyPr/>
          <a:lstStyle/>
          <a:p>
            <a:pPr marL="342900" indent="-342900" eaLnBrk="1" hangingPunct="1">
              <a:lnSpc>
                <a:spcPct val="120000"/>
              </a:lnSpc>
              <a:buClrTx/>
              <a:buSzPct val="100000"/>
              <a:buFont typeface="Wingdings" panose="05000000000000000000" pitchFamily="2" charset="2"/>
              <a:buChar char="n"/>
              <a:defRPr/>
            </a:pPr>
            <a:r>
              <a:rPr lang="zh-CN" altLang="en-US" sz="2800" b="0" kern="1200" dirty="0">
                <a:solidFill>
                  <a:srgbClr val="FF0000"/>
                </a:solidFill>
                <a:cs typeface="Calibri" panose="020F0502020204030204" pitchFamily="34" charset="0"/>
              </a:rPr>
              <a:t>如何处理空缺值</a:t>
            </a:r>
            <a:endParaRPr lang="en-US" altLang="zh-CN" sz="2800" b="0" kern="1200" dirty="0">
              <a:solidFill>
                <a:srgbClr val="FF0000"/>
              </a:solidFill>
              <a:cs typeface="Calibri" panose="020F0502020204030204" pitchFamily="34" charset="0"/>
            </a:endParaRPr>
          </a:p>
          <a:p>
            <a:pPr lvl="1" eaLnBrk="1" hangingPunct="1">
              <a:lnSpc>
                <a:spcPct val="130000"/>
              </a:lnSpc>
              <a:spcBef>
                <a:spcPts val="600"/>
              </a:spcBef>
              <a:buClrTx/>
              <a:buFont typeface="Wingdings" panose="05000000000000000000" pitchFamily="2" charset="2"/>
              <a:buChar char="Ø"/>
            </a:pPr>
            <a:r>
              <a:rPr lang="zh-CN" altLang="en-US" sz="2200" b="0" dirty="0">
                <a:solidFill>
                  <a:srgbClr val="FF0000"/>
                </a:solidFill>
                <a:cs typeface="Calibri" panose="020F0502020204030204" pitchFamily="34" charset="0"/>
              </a:rPr>
              <a:t>忽略元组：</a:t>
            </a:r>
            <a:r>
              <a:rPr lang="zh-CN" altLang="en-US" sz="2200" b="0" dirty="0">
                <a:solidFill>
                  <a:srgbClr val="1557AE"/>
                </a:solidFill>
                <a:cs typeface="Calibri" panose="020F0502020204030204" pitchFamily="34" charset="0"/>
              </a:rPr>
              <a:t>当类标号缺少时通常这么做（假定挖掘任务设计分类或描述），当每个属性缺少值的百分比很大时，它的效果非常差。</a:t>
            </a:r>
            <a:endParaRPr lang="zh-CN" altLang="en-US" sz="2200" b="0" dirty="0">
              <a:solidFill>
                <a:srgbClr val="1557AE"/>
              </a:solidFill>
              <a:cs typeface="Calibri" panose="020F0502020204030204" pitchFamily="34" charset="0"/>
            </a:endParaRPr>
          </a:p>
          <a:p>
            <a:pPr lvl="1" eaLnBrk="1" hangingPunct="1">
              <a:lnSpc>
                <a:spcPct val="130000"/>
              </a:lnSpc>
              <a:spcBef>
                <a:spcPts val="600"/>
              </a:spcBef>
              <a:buClrTx/>
              <a:buFont typeface="Wingdings" panose="05000000000000000000" pitchFamily="2" charset="2"/>
              <a:buChar char="Ø"/>
            </a:pPr>
            <a:r>
              <a:rPr lang="zh-CN" altLang="en-US" sz="2200" b="0" dirty="0">
                <a:solidFill>
                  <a:srgbClr val="FF0000"/>
                </a:solidFill>
                <a:cs typeface="Calibri" panose="020F0502020204030204" pitchFamily="34" charset="0"/>
              </a:rPr>
              <a:t>人工填写空缺值：</a:t>
            </a:r>
            <a:r>
              <a:rPr lang="zh-CN" altLang="en-US" sz="2200" b="0" dirty="0">
                <a:solidFill>
                  <a:srgbClr val="1557AE"/>
                </a:solidFill>
                <a:cs typeface="Calibri" panose="020F0502020204030204" pitchFamily="34" charset="0"/>
              </a:rPr>
              <a:t>工作量大，可行性低</a:t>
            </a:r>
            <a:endParaRPr lang="zh-CN" altLang="en-US" sz="2200" b="0" dirty="0">
              <a:solidFill>
                <a:srgbClr val="1557AE"/>
              </a:solidFill>
              <a:cs typeface="Calibri" panose="020F0502020204030204" pitchFamily="34" charset="0"/>
            </a:endParaRPr>
          </a:p>
          <a:p>
            <a:pPr lvl="1" eaLnBrk="1" hangingPunct="1">
              <a:lnSpc>
                <a:spcPct val="130000"/>
              </a:lnSpc>
              <a:spcBef>
                <a:spcPts val="600"/>
              </a:spcBef>
              <a:buClrTx/>
              <a:buFont typeface="Wingdings" panose="05000000000000000000" pitchFamily="2" charset="2"/>
              <a:buChar char="Ø"/>
            </a:pPr>
            <a:r>
              <a:rPr lang="zh-CN" altLang="en-US" sz="2200" b="0" dirty="0">
                <a:solidFill>
                  <a:srgbClr val="FF0000"/>
                </a:solidFill>
                <a:cs typeface="Calibri" panose="020F0502020204030204" pitchFamily="34" charset="0"/>
              </a:rPr>
              <a:t>使用一个全局变量填充空缺值：</a:t>
            </a:r>
            <a:r>
              <a:rPr lang="zh-CN" altLang="en-US" sz="2200" b="0" dirty="0">
                <a:solidFill>
                  <a:srgbClr val="1557AE"/>
                </a:solidFill>
                <a:cs typeface="Calibri" panose="020F0502020204030204" pitchFamily="34" charset="0"/>
              </a:rPr>
              <a:t>比如使用</a:t>
            </a:r>
            <a:r>
              <a:rPr lang="en-US" altLang="zh-CN" sz="2200" b="0" dirty="0">
                <a:solidFill>
                  <a:srgbClr val="1557AE"/>
                </a:solidFill>
                <a:cs typeface="Calibri" panose="020F0502020204030204" pitchFamily="34" charset="0"/>
              </a:rPr>
              <a:t>unknown</a:t>
            </a:r>
            <a:r>
              <a:rPr lang="zh-CN" altLang="en-US" sz="2200" b="0" dirty="0">
                <a:solidFill>
                  <a:srgbClr val="1557AE"/>
                </a:solidFill>
                <a:cs typeface="Calibri" panose="020F0502020204030204" pitchFamily="34" charset="0"/>
              </a:rPr>
              <a:t>或</a:t>
            </a:r>
            <a:r>
              <a:rPr lang="en-US" altLang="zh-CN" sz="2200" b="0" dirty="0">
                <a:solidFill>
                  <a:srgbClr val="1557AE"/>
                </a:solidFill>
                <a:cs typeface="Calibri" panose="020F0502020204030204" pitchFamily="34" charset="0"/>
              </a:rPr>
              <a:t>-∞</a:t>
            </a:r>
            <a:endParaRPr lang="en-US" altLang="zh-CN" sz="2200" b="0" dirty="0">
              <a:solidFill>
                <a:srgbClr val="1557AE"/>
              </a:solidFill>
              <a:cs typeface="Calibri" panose="020F0502020204030204" pitchFamily="34" charset="0"/>
            </a:endParaRPr>
          </a:p>
          <a:p>
            <a:pPr lvl="1" eaLnBrk="1" hangingPunct="1">
              <a:lnSpc>
                <a:spcPct val="130000"/>
              </a:lnSpc>
              <a:spcBef>
                <a:spcPts val="600"/>
              </a:spcBef>
              <a:buClrTx/>
              <a:buFont typeface="Wingdings" panose="05000000000000000000" pitchFamily="2" charset="2"/>
              <a:buChar char="Ø"/>
            </a:pPr>
            <a:r>
              <a:rPr lang="zh-CN" altLang="en-US" sz="2200" b="0" dirty="0">
                <a:solidFill>
                  <a:srgbClr val="FF0000"/>
                </a:solidFill>
                <a:cs typeface="Calibri" panose="020F0502020204030204" pitchFamily="34" charset="0"/>
              </a:rPr>
              <a:t>使用属性的平均值填充空缺值</a:t>
            </a:r>
            <a:endParaRPr lang="zh-CN" altLang="en-US" sz="2200" b="0" dirty="0">
              <a:solidFill>
                <a:srgbClr val="FF0000"/>
              </a:solidFill>
              <a:cs typeface="Calibri" panose="020F0502020204030204" pitchFamily="34" charset="0"/>
            </a:endParaRPr>
          </a:p>
          <a:p>
            <a:pPr lvl="1" eaLnBrk="1" hangingPunct="1">
              <a:lnSpc>
                <a:spcPct val="130000"/>
              </a:lnSpc>
              <a:spcBef>
                <a:spcPts val="600"/>
              </a:spcBef>
              <a:buClrTx/>
              <a:buFont typeface="Wingdings" panose="05000000000000000000" pitchFamily="2" charset="2"/>
              <a:buChar char="Ø"/>
            </a:pPr>
            <a:r>
              <a:rPr lang="zh-CN" altLang="en-US" sz="2200" b="0" dirty="0">
                <a:solidFill>
                  <a:srgbClr val="FF0000"/>
                </a:solidFill>
                <a:cs typeface="Calibri" panose="020F0502020204030204" pitchFamily="34" charset="0"/>
              </a:rPr>
              <a:t>使用与给定元组属同一类的所有样本的平均值</a:t>
            </a:r>
            <a:endParaRPr lang="zh-CN" altLang="en-US" sz="2200" b="0" dirty="0">
              <a:solidFill>
                <a:srgbClr val="FF0000"/>
              </a:solidFill>
              <a:cs typeface="Calibri" panose="020F0502020204030204" pitchFamily="34" charset="0"/>
            </a:endParaRPr>
          </a:p>
          <a:p>
            <a:pPr lvl="1" eaLnBrk="1" hangingPunct="1">
              <a:lnSpc>
                <a:spcPct val="130000"/>
              </a:lnSpc>
              <a:spcBef>
                <a:spcPts val="600"/>
              </a:spcBef>
              <a:buClrTx/>
              <a:buFont typeface="Wingdings" panose="05000000000000000000" pitchFamily="2" charset="2"/>
              <a:buChar char="Ø"/>
            </a:pPr>
            <a:r>
              <a:rPr lang="zh-CN" altLang="en-US" sz="2200" b="0" dirty="0">
                <a:solidFill>
                  <a:srgbClr val="FF0000"/>
                </a:solidFill>
                <a:cs typeface="Calibri" panose="020F0502020204030204" pitchFamily="34" charset="0"/>
              </a:rPr>
              <a:t>使用最可能的值填充空缺值：</a:t>
            </a:r>
            <a:r>
              <a:rPr lang="zh-CN" altLang="en-US" sz="2200" b="0" dirty="0">
                <a:solidFill>
                  <a:srgbClr val="1557AE"/>
                </a:solidFill>
                <a:cs typeface="Calibri" panose="020F0502020204030204" pitchFamily="34" charset="0"/>
              </a:rPr>
              <a:t>使用像</a:t>
            </a:r>
            <a:r>
              <a:rPr lang="en-US" altLang="zh-CN" sz="2200" b="0" dirty="0">
                <a:solidFill>
                  <a:srgbClr val="1557AE"/>
                </a:solidFill>
                <a:cs typeface="Calibri" panose="020F0502020204030204" pitchFamily="34" charset="0"/>
              </a:rPr>
              <a:t>Bayesian</a:t>
            </a:r>
            <a:r>
              <a:rPr lang="zh-CN" altLang="en-US" sz="2200" b="0" dirty="0">
                <a:solidFill>
                  <a:srgbClr val="1557AE"/>
                </a:solidFill>
                <a:cs typeface="Calibri" panose="020F0502020204030204" pitchFamily="34" charset="0"/>
              </a:rPr>
              <a:t>公式或判定树这样的基于推断的方法</a:t>
            </a:r>
            <a:endParaRPr lang="zh-CN" altLang="en-US" sz="2400" b="0" dirty="0">
              <a:solidFill>
                <a:srgbClr val="1557AE"/>
              </a:solidFill>
              <a:cs typeface="Calibri" panose="020F0502020204030204" pitchFamily="34" charset="0"/>
            </a:endParaRPr>
          </a:p>
        </p:txBody>
      </p:sp>
      <p:sp>
        <p:nvSpPr>
          <p:cNvPr id="6" name="Rectangle 6"/>
          <p:cNvSpPr>
            <a:spLocks noGrp="1" noChangeArrowheads="1"/>
          </p:cNvSpPr>
          <p:nvPr>
            <p:ph type="title"/>
          </p:nvPr>
        </p:nvSpPr>
        <p:spPr>
          <a:xfrm>
            <a:off x="528321" y="188640"/>
            <a:ext cx="8001000" cy="636067"/>
          </a:xfrm>
        </p:spPr>
        <p:txBody>
          <a:bodyPr/>
          <a:lstStyle/>
          <a:p>
            <a:pPr eaLnBrk="1" hangingPunct="1">
              <a:defRPr/>
            </a:pPr>
            <a:r>
              <a:rPr lang="en-US" altLang="zh-CN" sz="3600" dirty="0"/>
              <a:t>2.2  </a:t>
            </a:r>
            <a:r>
              <a:rPr lang="zh-CN" altLang="en-US" sz="3600" dirty="0"/>
              <a:t>数据清洗</a:t>
            </a:r>
            <a:endParaRPr lang="zh-CN" altLang="en-US" sz="3600"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内容占位符 2"/>
          <p:cNvSpPr>
            <a:spLocks noGrp="1"/>
          </p:cNvSpPr>
          <p:nvPr>
            <p:ph idx="1"/>
          </p:nvPr>
        </p:nvSpPr>
        <p:spPr>
          <a:xfrm>
            <a:off x="457200" y="1481138"/>
            <a:ext cx="8229600" cy="4525962"/>
          </a:xfrm>
        </p:spPr>
        <p:txBody>
          <a:bodyPr/>
          <a:lstStyle/>
          <a:p>
            <a:pPr marL="342900" indent="-342900" eaLnBrk="1" hangingPunct="1">
              <a:lnSpc>
                <a:spcPct val="120000"/>
              </a:lnSpc>
              <a:buClrTx/>
              <a:buSzPct val="100000"/>
              <a:buFont typeface="Wingdings" panose="05000000000000000000" pitchFamily="2" charset="2"/>
              <a:buChar char="n"/>
              <a:defRPr/>
            </a:pPr>
            <a:r>
              <a:rPr lang="zh-CN" altLang="en-US" sz="2800" b="0" kern="1200" dirty="0">
                <a:solidFill>
                  <a:srgbClr val="FF0000"/>
                </a:solidFill>
                <a:cs typeface="Calibri" panose="020F0502020204030204" pitchFamily="34" charset="0"/>
              </a:rPr>
              <a:t>噪声数据</a:t>
            </a:r>
            <a:endParaRPr lang="en-US" altLang="zh-CN" sz="2800" b="0" kern="1200" dirty="0">
              <a:solidFill>
                <a:srgbClr val="FF0000"/>
              </a:solidFill>
              <a:cs typeface="Calibri" panose="020F0502020204030204" pitchFamily="34" charset="0"/>
            </a:endParaRPr>
          </a:p>
          <a:p>
            <a:pPr lvl="1" eaLnBrk="1" hangingPunct="1">
              <a:lnSpc>
                <a:spcPct val="120000"/>
              </a:lnSpc>
              <a:spcBef>
                <a:spcPts val="600"/>
              </a:spcBef>
              <a:buClrTx/>
              <a:buFont typeface="Wingdings" panose="05000000000000000000" pitchFamily="2" charset="2"/>
              <a:buChar char="Ø"/>
            </a:pPr>
            <a:r>
              <a:rPr lang="zh-CN" altLang="en-US" sz="2400" b="0" dirty="0">
                <a:solidFill>
                  <a:srgbClr val="FF0000"/>
                </a:solidFill>
                <a:cs typeface="Calibri" panose="020F0502020204030204" pitchFamily="34" charset="0"/>
              </a:rPr>
              <a:t>噪声：</a:t>
            </a:r>
            <a:r>
              <a:rPr lang="zh-CN" altLang="en-US" sz="2400" b="0" dirty="0">
                <a:solidFill>
                  <a:srgbClr val="1557AE"/>
                </a:solidFill>
                <a:cs typeface="Calibri" panose="020F0502020204030204" pitchFamily="34" charset="0"/>
              </a:rPr>
              <a:t>一个测量变量中的随机错误或偏差</a:t>
            </a:r>
            <a:endParaRPr lang="zh-CN" altLang="en-US" sz="2400" b="0" dirty="0">
              <a:solidFill>
                <a:srgbClr val="1557AE"/>
              </a:solidFill>
              <a:cs typeface="Calibri" panose="020F0502020204030204" pitchFamily="34" charset="0"/>
            </a:endParaRPr>
          </a:p>
          <a:p>
            <a:pPr lvl="1" eaLnBrk="1" hangingPunct="1">
              <a:lnSpc>
                <a:spcPct val="120000"/>
              </a:lnSpc>
              <a:spcBef>
                <a:spcPts val="600"/>
              </a:spcBef>
              <a:buClrTx/>
              <a:buFont typeface="Wingdings" panose="05000000000000000000" pitchFamily="2" charset="2"/>
              <a:buChar char="Ø"/>
            </a:pPr>
            <a:r>
              <a:rPr lang="zh-CN" altLang="en-US" sz="2400" b="0" dirty="0">
                <a:solidFill>
                  <a:srgbClr val="FF0000"/>
                </a:solidFill>
                <a:cs typeface="Calibri" panose="020F0502020204030204" pitchFamily="34" charset="0"/>
              </a:rPr>
              <a:t>引起噪声的原因</a:t>
            </a:r>
            <a:endParaRPr lang="zh-CN" altLang="en-US" sz="2400" b="0" dirty="0">
              <a:solidFill>
                <a:srgbClr val="FF0000"/>
              </a:solidFill>
              <a:cs typeface="Calibri" panose="020F0502020204030204" pitchFamily="34" charset="0"/>
            </a:endParaRPr>
          </a:p>
          <a:p>
            <a:pPr lvl="2" eaLnBrk="1" hangingPunct="1">
              <a:lnSpc>
                <a:spcPct val="120000"/>
              </a:lnSpc>
              <a:spcBef>
                <a:spcPts val="600"/>
              </a:spcBef>
              <a:buFont typeface="Arial" panose="020B0604020202090204" pitchFamily="34" charset="0"/>
              <a:buChar char="•"/>
            </a:pPr>
            <a:r>
              <a:rPr lang="zh-CN" altLang="en-US" sz="2000" b="0" dirty="0">
                <a:solidFill>
                  <a:srgbClr val="1557AE"/>
                </a:solidFill>
                <a:cs typeface="Calibri" panose="020F0502020204030204" pitchFamily="34" charset="0"/>
              </a:rPr>
              <a:t>数据收集工具的问题</a:t>
            </a:r>
            <a:endParaRPr lang="zh-CN" altLang="en-US" sz="2000" b="0" dirty="0">
              <a:solidFill>
                <a:srgbClr val="1557AE"/>
              </a:solidFill>
              <a:cs typeface="Calibri" panose="020F0502020204030204" pitchFamily="34" charset="0"/>
            </a:endParaRPr>
          </a:p>
          <a:p>
            <a:pPr lvl="2" eaLnBrk="1" hangingPunct="1">
              <a:lnSpc>
                <a:spcPct val="120000"/>
              </a:lnSpc>
              <a:spcBef>
                <a:spcPts val="600"/>
              </a:spcBef>
              <a:buFont typeface="Arial" panose="020B0604020202090204" pitchFamily="34" charset="0"/>
              <a:buChar char="•"/>
            </a:pPr>
            <a:r>
              <a:rPr lang="zh-CN" altLang="en-US" sz="2000" b="0" dirty="0">
                <a:solidFill>
                  <a:srgbClr val="1557AE"/>
                </a:solidFill>
                <a:cs typeface="Calibri" panose="020F0502020204030204" pitchFamily="34" charset="0"/>
              </a:rPr>
              <a:t>数据输入错误</a:t>
            </a:r>
            <a:endParaRPr lang="zh-CN" altLang="en-US" sz="2000" b="0" dirty="0">
              <a:solidFill>
                <a:srgbClr val="1557AE"/>
              </a:solidFill>
              <a:cs typeface="Calibri" panose="020F0502020204030204" pitchFamily="34" charset="0"/>
            </a:endParaRPr>
          </a:p>
          <a:p>
            <a:pPr lvl="2" eaLnBrk="1" hangingPunct="1">
              <a:lnSpc>
                <a:spcPct val="120000"/>
              </a:lnSpc>
              <a:spcBef>
                <a:spcPts val="600"/>
              </a:spcBef>
              <a:buFont typeface="Arial" panose="020B0604020202090204" pitchFamily="34" charset="0"/>
              <a:buChar char="•"/>
            </a:pPr>
            <a:r>
              <a:rPr lang="zh-CN" altLang="en-US" sz="2000" b="0" dirty="0">
                <a:solidFill>
                  <a:srgbClr val="1557AE"/>
                </a:solidFill>
                <a:cs typeface="Calibri" panose="020F0502020204030204" pitchFamily="34" charset="0"/>
              </a:rPr>
              <a:t>数据传输错误</a:t>
            </a:r>
            <a:endParaRPr lang="zh-CN" altLang="en-US" sz="2000" b="0" dirty="0">
              <a:solidFill>
                <a:srgbClr val="1557AE"/>
              </a:solidFill>
              <a:cs typeface="Calibri" panose="020F0502020204030204" pitchFamily="34" charset="0"/>
            </a:endParaRPr>
          </a:p>
          <a:p>
            <a:pPr lvl="2" eaLnBrk="1" hangingPunct="1">
              <a:lnSpc>
                <a:spcPct val="120000"/>
              </a:lnSpc>
              <a:spcBef>
                <a:spcPts val="600"/>
              </a:spcBef>
              <a:buFont typeface="Arial" panose="020B0604020202090204" pitchFamily="34" charset="0"/>
              <a:buChar char="•"/>
            </a:pPr>
            <a:r>
              <a:rPr lang="zh-CN" altLang="en-US" sz="2000" b="0" dirty="0">
                <a:solidFill>
                  <a:srgbClr val="1557AE"/>
                </a:solidFill>
                <a:cs typeface="Calibri" panose="020F0502020204030204" pitchFamily="34" charset="0"/>
              </a:rPr>
              <a:t>命名规则的不一致</a:t>
            </a:r>
            <a:endParaRPr lang="zh-CN" altLang="en-US" sz="2400" b="0" dirty="0">
              <a:solidFill>
                <a:srgbClr val="1557AE"/>
              </a:solidFill>
              <a:cs typeface="Calibri" panose="020F0502020204030204" pitchFamily="34" charset="0"/>
            </a:endParaRPr>
          </a:p>
        </p:txBody>
      </p:sp>
      <p:sp>
        <p:nvSpPr>
          <p:cNvPr id="6" name="Rectangle 6"/>
          <p:cNvSpPr>
            <a:spLocks noGrp="1" noChangeArrowheads="1"/>
          </p:cNvSpPr>
          <p:nvPr>
            <p:ph type="title"/>
          </p:nvPr>
        </p:nvSpPr>
        <p:spPr>
          <a:xfrm>
            <a:off x="528321" y="188640"/>
            <a:ext cx="8001000" cy="636067"/>
          </a:xfrm>
        </p:spPr>
        <p:txBody>
          <a:bodyPr/>
          <a:lstStyle/>
          <a:p>
            <a:pPr eaLnBrk="1" hangingPunct="1">
              <a:defRPr/>
            </a:pPr>
            <a:r>
              <a:rPr lang="en-US" altLang="zh-CN" sz="3600" dirty="0"/>
              <a:t>2.2  </a:t>
            </a:r>
            <a:r>
              <a:rPr lang="zh-CN" altLang="en-US" sz="3600" dirty="0"/>
              <a:t>数据清洗</a:t>
            </a:r>
            <a:endParaRPr lang="zh-CN" altLang="en-US" sz="3600"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内容占位符 2"/>
          <p:cNvSpPr>
            <a:spLocks noGrp="1"/>
          </p:cNvSpPr>
          <p:nvPr>
            <p:ph idx="1"/>
          </p:nvPr>
        </p:nvSpPr>
        <p:spPr>
          <a:xfrm>
            <a:off x="467544" y="1628800"/>
            <a:ext cx="8229600" cy="4525962"/>
          </a:xfrm>
        </p:spPr>
        <p:txBody>
          <a:bodyPr/>
          <a:lstStyle/>
          <a:p>
            <a:pPr marL="342900" indent="-342900" eaLnBrk="1" hangingPunct="1">
              <a:lnSpc>
                <a:spcPct val="120000"/>
              </a:lnSpc>
              <a:buClrTx/>
              <a:buSzPct val="100000"/>
              <a:buFont typeface="Wingdings" panose="05000000000000000000" pitchFamily="2" charset="2"/>
              <a:buChar char="n"/>
              <a:defRPr/>
            </a:pPr>
            <a:r>
              <a:rPr lang="zh-CN" altLang="en-US" sz="2800" b="0" kern="1200" dirty="0">
                <a:solidFill>
                  <a:srgbClr val="FF0000"/>
                </a:solidFill>
                <a:cs typeface="Calibri" panose="020F0502020204030204" pitchFamily="34" charset="0"/>
              </a:rPr>
              <a:t>噪声数据处理</a:t>
            </a:r>
            <a:endParaRPr lang="en-US" altLang="zh-CN" sz="2800" b="0" kern="1200" dirty="0">
              <a:solidFill>
                <a:srgbClr val="FF0000"/>
              </a:solidFill>
              <a:cs typeface="Calibri" panose="020F0502020204030204" pitchFamily="34" charset="0"/>
            </a:endParaRPr>
          </a:p>
          <a:p>
            <a:pPr lvl="1" eaLnBrk="1" hangingPunct="1">
              <a:lnSpc>
                <a:spcPct val="120000"/>
              </a:lnSpc>
              <a:spcBef>
                <a:spcPts val="600"/>
              </a:spcBef>
              <a:spcAft>
                <a:spcPts val="600"/>
              </a:spcAft>
              <a:buClrTx/>
              <a:buFont typeface="Wingdings" panose="05000000000000000000" pitchFamily="2" charset="2"/>
              <a:buChar char="Ø"/>
            </a:pPr>
            <a:r>
              <a:rPr lang="zh-CN" altLang="en-US" sz="2400" b="0" dirty="0">
                <a:solidFill>
                  <a:srgbClr val="FF0000"/>
                </a:solidFill>
                <a:cs typeface="Calibri" panose="020F0502020204030204" pitchFamily="34" charset="0"/>
              </a:rPr>
              <a:t>分箱</a:t>
            </a:r>
            <a:r>
              <a:rPr lang="en-US" altLang="zh-CN" sz="2400" b="0" dirty="0">
                <a:solidFill>
                  <a:srgbClr val="FF0000"/>
                </a:solidFill>
                <a:cs typeface="Calibri" panose="020F0502020204030204" pitchFamily="34" charset="0"/>
              </a:rPr>
              <a:t>(binning):</a:t>
            </a:r>
            <a:endParaRPr lang="en-US" altLang="zh-CN" sz="2400" b="0" dirty="0">
              <a:solidFill>
                <a:srgbClr val="FF0000"/>
              </a:solidFill>
              <a:cs typeface="Calibri" panose="020F0502020204030204" pitchFamily="34" charset="0"/>
            </a:endParaRPr>
          </a:p>
          <a:p>
            <a:pPr lvl="2" eaLnBrk="1" hangingPunct="1">
              <a:lnSpc>
                <a:spcPct val="120000"/>
              </a:lnSpc>
              <a:spcBef>
                <a:spcPts val="600"/>
              </a:spcBef>
              <a:spcAft>
                <a:spcPts val="600"/>
              </a:spcAft>
              <a:buFont typeface="Arial" panose="020B0604020202090204" pitchFamily="34" charset="0"/>
              <a:buChar char="•"/>
            </a:pPr>
            <a:r>
              <a:rPr lang="zh-CN" altLang="en-US" sz="2000" b="0" dirty="0">
                <a:solidFill>
                  <a:srgbClr val="1557AE"/>
                </a:solidFill>
                <a:cs typeface="Calibri" panose="020F0502020204030204" pitchFamily="34" charset="0"/>
              </a:rPr>
              <a:t>首先排序数据，并将他们分到等深的箱中</a:t>
            </a:r>
            <a:endParaRPr lang="zh-CN" altLang="en-US" sz="2000" b="0" dirty="0">
              <a:solidFill>
                <a:srgbClr val="1557AE"/>
              </a:solidFill>
              <a:cs typeface="Calibri" panose="020F0502020204030204" pitchFamily="34" charset="0"/>
            </a:endParaRPr>
          </a:p>
          <a:p>
            <a:pPr lvl="2" eaLnBrk="1" hangingPunct="1">
              <a:lnSpc>
                <a:spcPct val="120000"/>
              </a:lnSpc>
              <a:spcBef>
                <a:spcPts val="600"/>
              </a:spcBef>
              <a:spcAft>
                <a:spcPts val="600"/>
              </a:spcAft>
              <a:buFont typeface="Arial" panose="020B0604020202090204" pitchFamily="34" charset="0"/>
              <a:buChar char="•"/>
            </a:pPr>
            <a:r>
              <a:rPr lang="zh-CN" altLang="en-US" sz="2000" b="0" dirty="0">
                <a:solidFill>
                  <a:srgbClr val="1557AE"/>
                </a:solidFill>
                <a:cs typeface="Calibri" panose="020F0502020204030204" pitchFamily="34" charset="0"/>
              </a:rPr>
              <a:t>可以按箱的平均值平滑、按箱中值平滑、按箱的边界平滑</a:t>
            </a:r>
            <a:endParaRPr lang="en-US" altLang="zh-CN" sz="2000" b="0" dirty="0">
              <a:solidFill>
                <a:srgbClr val="1557AE"/>
              </a:solidFill>
              <a:cs typeface="Calibri" panose="020F0502020204030204" pitchFamily="34" charset="0"/>
            </a:endParaRPr>
          </a:p>
          <a:p>
            <a:pPr lvl="1" eaLnBrk="1" hangingPunct="1">
              <a:lnSpc>
                <a:spcPct val="120000"/>
              </a:lnSpc>
              <a:spcBef>
                <a:spcPts val="600"/>
              </a:spcBef>
              <a:spcAft>
                <a:spcPts val="600"/>
              </a:spcAft>
              <a:buClrTx/>
              <a:buFont typeface="Wingdings" panose="05000000000000000000" pitchFamily="2" charset="2"/>
              <a:buChar char="Ø"/>
            </a:pPr>
            <a:r>
              <a:rPr lang="zh-CN" altLang="en-US" sz="2400" b="0" dirty="0">
                <a:solidFill>
                  <a:srgbClr val="FF0000"/>
                </a:solidFill>
                <a:cs typeface="Calibri" panose="020F0502020204030204" pitchFamily="34" charset="0"/>
              </a:rPr>
              <a:t>回归：</a:t>
            </a:r>
            <a:r>
              <a:rPr lang="zh-CN" altLang="en-US" sz="2000" b="0" dirty="0">
                <a:solidFill>
                  <a:srgbClr val="1557AE"/>
                </a:solidFill>
                <a:cs typeface="Calibri" panose="020F0502020204030204" pitchFamily="34" charset="0"/>
              </a:rPr>
              <a:t>通过让数据适应回归函数来平滑数据</a:t>
            </a:r>
            <a:endParaRPr lang="zh-CN" altLang="en-US" sz="2000" b="0" dirty="0">
              <a:solidFill>
                <a:srgbClr val="1557AE"/>
              </a:solidFill>
              <a:cs typeface="Calibri" panose="020F0502020204030204" pitchFamily="34" charset="0"/>
            </a:endParaRPr>
          </a:p>
          <a:p>
            <a:pPr lvl="1" eaLnBrk="1" hangingPunct="1">
              <a:lnSpc>
                <a:spcPct val="120000"/>
              </a:lnSpc>
              <a:spcBef>
                <a:spcPts val="600"/>
              </a:spcBef>
              <a:spcAft>
                <a:spcPts val="600"/>
              </a:spcAft>
              <a:buClrTx/>
              <a:buFont typeface="Wingdings" panose="05000000000000000000" pitchFamily="2" charset="2"/>
              <a:buChar char="Ø"/>
            </a:pPr>
            <a:r>
              <a:rPr lang="zh-CN" altLang="en-US" sz="2400" b="0" dirty="0">
                <a:solidFill>
                  <a:srgbClr val="FF0000"/>
                </a:solidFill>
                <a:cs typeface="Calibri" panose="020F0502020204030204" pitchFamily="34" charset="0"/>
              </a:rPr>
              <a:t>聚类：</a:t>
            </a:r>
            <a:r>
              <a:rPr lang="zh-CN" altLang="en-US" sz="2000" b="0" dirty="0">
                <a:solidFill>
                  <a:srgbClr val="1557AE"/>
                </a:solidFill>
                <a:cs typeface="Calibri" panose="020F0502020204030204" pitchFamily="34" charset="0"/>
              </a:rPr>
              <a:t>检测并且去除孤立点</a:t>
            </a:r>
            <a:endParaRPr lang="zh-CN" altLang="en-US" sz="2000" b="0" dirty="0">
              <a:solidFill>
                <a:srgbClr val="1557AE"/>
              </a:solidFill>
              <a:cs typeface="Calibri" panose="020F0502020204030204" pitchFamily="34" charset="0"/>
            </a:endParaRPr>
          </a:p>
          <a:p>
            <a:pPr lvl="1" eaLnBrk="1" hangingPunct="1">
              <a:lnSpc>
                <a:spcPct val="120000"/>
              </a:lnSpc>
              <a:spcBef>
                <a:spcPts val="600"/>
              </a:spcBef>
              <a:spcAft>
                <a:spcPts val="600"/>
              </a:spcAft>
              <a:buClrTx/>
              <a:buFont typeface="Wingdings" panose="05000000000000000000" pitchFamily="2" charset="2"/>
              <a:buChar char="Ø"/>
            </a:pPr>
            <a:r>
              <a:rPr lang="zh-CN" altLang="en-US" sz="2400" b="0" dirty="0">
                <a:solidFill>
                  <a:srgbClr val="FF0000"/>
                </a:solidFill>
                <a:cs typeface="Calibri" panose="020F0502020204030204" pitchFamily="34" charset="0"/>
              </a:rPr>
              <a:t>计算机和人工检查结合：</a:t>
            </a:r>
            <a:r>
              <a:rPr lang="zh-CN" altLang="en-US" sz="2000" b="0" dirty="0">
                <a:solidFill>
                  <a:srgbClr val="1557AE"/>
                </a:solidFill>
                <a:cs typeface="Calibri" panose="020F0502020204030204" pitchFamily="34" charset="0"/>
              </a:rPr>
              <a:t>计算机检测可疑数据，然后对它们进行人工判断</a:t>
            </a:r>
            <a:endParaRPr lang="zh-CN" altLang="en-US" sz="2000" b="0" dirty="0">
              <a:solidFill>
                <a:srgbClr val="1557AE"/>
              </a:solidFill>
              <a:cs typeface="Calibri" panose="020F0502020204030204" pitchFamily="34" charset="0"/>
            </a:endParaRPr>
          </a:p>
        </p:txBody>
      </p:sp>
      <p:sp>
        <p:nvSpPr>
          <p:cNvPr id="6" name="Rectangle 6"/>
          <p:cNvSpPr>
            <a:spLocks noGrp="1" noChangeArrowheads="1"/>
          </p:cNvSpPr>
          <p:nvPr>
            <p:ph type="title"/>
          </p:nvPr>
        </p:nvSpPr>
        <p:spPr>
          <a:xfrm>
            <a:off x="528321" y="188640"/>
            <a:ext cx="8001000" cy="636067"/>
          </a:xfrm>
        </p:spPr>
        <p:txBody>
          <a:bodyPr/>
          <a:lstStyle/>
          <a:p>
            <a:pPr eaLnBrk="1" hangingPunct="1">
              <a:defRPr/>
            </a:pPr>
            <a:r>
              <a:rPr lang="en-US" altLang="zh-CN" sz="3600" dirty="0"/>
              <a:t>2.2  </a:t>
            </a:r>
            <a:r>
              <a:rPr lang="zh-CN" altLang="en-US" sz="3600" dirty="0"/>
              <a:t>数据清洗</a:t>
            </a:r>
            <a:endParaRPr lang="zh-CN" altLang="en-US" sz="3600"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idx="1"/>
          </p:nvPr>
        </p:nvSpPr>
        <p:spPr>
          <a:xfrm>
            <a:off x="571500" y="980728"/>
            <a:ext cx="8320980" cy="4267200"/>
          </a:xfrm>
        </p:spPr>
        <p:txBody>
          <a:bodyPr/>
          <a:lstStyle/>
          <a:p>
            <a:pPr marL="342900" indent="-342900" eaLnBrk="1" hangingPunct="1">
              <a:lnSpc>
                <a:spcPct val="120000"/>
              </a:lnSpc>
              <a:buClrTx/>
              <a:buSzPct val="100000"/>
              <a:buFont typeface="Wingdings" panose="05000000000000000000" pitchFamily="2" charset="2"/>
              <a:buChar char="n"/>
              <a:defRPr/>
            </a:pPr>
            <a:r>
              <a:rPr lang="zh-CN" altLang="en-US" sz="2800" b="0" kern="1200" dirty="0">
                <a:solidFill>
                  <a:srgbClr val="FF0000"/>
                </a:solidFill>
                <a:cs typeface="Calibri" panose="020F0502020204030204" pitchFamily="34" charset="0"/>
              </a:rPr>
              <a:t>分箱方法</a:t>
            </a:r>
            <a:endParaRPr lang="en-US" altLang="zh-CN" sz="2800" b="0" kern="1200" dirty="0">
              <a:solidFill>
                <a:srgbClr val="FF0000"/>
              </a:solidFill>
              <a:cs typeface="Calibri" panose="020F0502020204030204" pitchFamily="34" charset="0"/>
            </a:endParaRPr>
          </a:p>
          <a:p>
            <a:pPr lvl="1" eaLnBrk="1" hangingPunct="1">
              <a:lnSpc>
                <a:spcPct val="120000"/>
              </a:lnSpc>
              <a:spcBef>
                <a:spcPts val="600"/>
              </a:spcBef>
              <a:spcAft>
                <a:spcPts val="0"/>
              </a:spcAft>
              <a:buClrTx/>
              <a:buFont typeface="Wingdings" panose="05000000000000000000" pitchFamily="2" charset="2"/>
              <a:buChar char="Ø"/>
            </a:pPr>
            <a:r>
              <a:rPr lang="en-US" altLang="zh-CN" sz="2000" b="0" dirty="0">
                <a:solidFill>
                  <a:srgbClr val="FF0000"/>
                </a:solidFill>
                <a:cs typeface="Calibri" panose="020F0502020204030204" pitchFamily="34" charset="0"/>
              </a:rPr>
              <a:t>price</a:t>
            </a:r>
            <a:r>
              <a:rPr lang="zh-CN" altLang="en-US" sz="2000" b="0" dirty="0">
                <a:solidFill>
                  <a:srgbClr val="FF0000"/>
                </a:solidFill>
                <a:cs typeface="Calibri" panose="020F0502020204030204" pitchFamily="34" charset="0"/>
              </a:rPr>
              <a:t>的排序后数据：</a:t>
            </a:r>
            <a:r>
              <a:rPr lang="en-US" altLang="zh-CN" sz="2000" b="0" dirty="0">
                <a:solidFill>
                  <a:srgbClr val="1557AE"/>
                </a:solidFill>
                <a:cs typeface="Calibri" panose="020F0502020204030204" pitchFamily="34" charset="0"/>
              </a:rPr>
              <a:t>4</a:t>
            </a:r>
            <a:r>
              <a:rPr lang="zh-CN" altLang="en-US" sz="2000" b="0" dirty="0">
                <a:solidFill>
                  <a:srgbClr val="1557AE"/>
                </a:solidFill>
                <a:cs typeface="Calibri" panose="020F0502020204030204" pitchFamily="34" charset="0"/>
              </a:rPr>
              <a:t>，</a:t>
            </a:r>
            <a:r>
              <a:rPr lang="en-US" altLang="zh-CN" sz="2000" b="0" dirty="0">
                <a:solidFill>
                  <a:srgbClr val="1557AE"/>
                </a:solidFill>
                <a:cs typeface="Calibri" panose="020F0502020204030204" pitchFamily="34" charset="0"/>
              </a:rPr>
              <a:t>8</a:t>
            </a:r>
            <a:r>
              <a:rPr lang="zh-CN" altLang="en-US" sz="2000" b="0" dirty="0">
                <a:solidFill>
                  <a:srgbClr val="1557AE"/>
                </a:solidFill>
                <a:cs typeface="Calibri" panose="020F0502020204030204" pitchFamily="34" charset="0"/>
              </a:rPr>
              <a:t>，</a:t>
            </a:r>
            <a:r>
              <a:rPr lang="en-US" altLang="zh-CN" sz="2000" b="0" dirty="0">
                <a:solidFill>
                  <a:srgbClr val="1557AE"/>
                </a:solidFill>
                <a:cs typeface="Calibri" panose="020F0502020204030204" pitchFamily="34" charset="0"/>
              </a:rPr>
              <a:t>15</a:t>
            </a:r>
            <a:r>
              <a:rPr lang="zh-CN" altLang="en-US" sz="2000" b="0" dirty="0">
                <a:solidFill>
                  <a:srgbClr val="1557AE"/>
                </a:solidFill>
                <a:cs typeface="Calibri" panose="020F0502020204030204" pitchFamily="34" charset="0"/>
              </a:rPr>
              <a:t>，</a:t>
            </a:r>
            <a:r>
              <a:rPr lang="en-US" altLang="zh-CN" sz="2000" b="0" dirty="0">
                <a:solidFill>
                  <a:srgbClr val="1557AE"/>
                </a:solidFill>
                <a:cs typeface="Calibri" panose="020F0502020204030204" pitchFamily="34" charset="0"/>
              </a:rPr>
              <a:t>21</a:t>
            </a:r>
            <a:r>
              <a:rPr lang="zh-CN" altLang="en-US" sz="2000" b="0" dirty="0">
                <a:solidFill>
                  <a:srgbClr val="1557AE"/>
                </a:solidFill>
                <a:cs typeface="Calibri" panose="020F0502020204030204" pitchFamily="34" charset="0"/>
              </a:rPr>
              <a:t>，</a:t>
            </a:r>
            <a:r>
              <a:rPr lang="en-US" altLang="zh-CN" sz="2000" b="0" dirty="0">
                <a:solidFill>
                  <a:srgbClr val="1557AE"/>
                </a:solidFill>
                <a:cs typeface="Calibri" panose="020F0502020204030204" pitchFamily="34" charset="0"/>
              </a:rPr>
              <a:t>21</a:t>
            </a:r>
            <a:r>
              <a:rPr lang="zh-CN" altLang="en-US" sz="2000" b="0" dirty="0">
                <a:solidFill>
                  <a:srgbClr val="1557AE"/>
                </a:solidFill>
                <a:cs typeface="Calibri" panose="020F0502020204030204" pitchFamily="34" charset="0"/>
              </a:rPr>
              <a:t>，</a:t>
            </a:r>
            <a:r>
              <a:rPr lang="en-US" altLang="zh-CN" sz="2000" b="0" dirty="0">
                <a:solidFill>
                  <a:srgbClr val="1557AE"/>
                </a:solidFill>
                <a:cs typeface="Calibri" panose="020F0502020204030204" pitchFamily="34" charset="0"/>
              </a:rPr>
              <a:t>24</a:t>
            </a:r>
            <a:r>
              <a:rPr lang="zh-CN" altLang="en-US" sz="2000" b="0" dirty="0">
                <a:solidFill>
                  <a:srgbClr val="1557AE"/>
                </a:solidFill>
                <a:cs typeface="Calibri" panose="020F0502020204030204" pitchFamily="34" charset="0"/>
              </a:rPr>
              <a:t>，</a:t>
            </a:r>
            <a:r>
              <a:rPr lang="en-US" altLang="zh-CN" sz="2000" b="0" dirty="0">
                <a:solidFill>
                  <a:srgbClr val="1557AE"/>
                </a:solidFill>
                <a:cs typeface="Calibri" panose="020F0502020204030204" pitchFamily="34" charset="0"/>
              </a:rPr>
              <a:t>25</a:t>
            </a:r>
            <a:r>
              <a:rPr lang="zh-CN" altLang="en-US" sz="2000" b="0" dirty="0">
                <a:solidFill>
                  <a:srgbClr val="1557AE"/>
                </a:solidFill>
                <a:cs typeface="Calibri" panose="020F0502020204030204" pitchFamily="34" charset="0"/>
              </a:rPr>
              <a:t>，</a:t>
            </a:r>
            <a:r>
              <a:rPr lang="en-US" altLang="zh-CN" sz="2000" b="0" dirty="0">
                <a:solidFill>
                  <a:srgbClr val="1557AE"/>
                </a:solidFill>
                <a:cs typeface="Calibri" panose="020F0502020204030204" pitchFamily="34" charset="0"/>
              </a:rPr>
              <a:t>28</a:t>
            </a:r>
            <a:r>
              <a:rPr lang="zh-CN" altLang="en-US" sz="2000" b="0" dirty="0">
                <a:solidFill>
                  <a:srgbClr val="1557AE"/>
                </a:solidFill>
                <a:cs typeface="Calibri" panose="020F0502020204030204" pitchFamily="34" charset="0"/>
              </a:rPr>
              <a:t>，</a:t>
            </a:r>
            <a:r>
              <a:rPr lang="en-US" altLang="zh-CN" sz="2000" b="0" dirty="0">
                <a:solidFill>
                  <a:srgbClr val="1557AE"/>
                </a:solidFill>
                <a:cs typeface="Calibri" panose="020F0502020204030204" pitchFamily="34" charset="0"/>
              </a:rPr>
              <a:t>34</a:t>
            </a:r>
            <a:endParaRPr lang="en-US" altLang="zh-CN" sz="2000" b="0" dirty="0">
              <a:solidFill>
                <a:srgbClr val="1557AE"/>
              </a:solidFill>
              <a:cs typeface="Calibri" panose="020F0502020204030204" pitchFamily="34" charset="0"/>
            </a:endParaRPr>
          </a:p>
          <a:p>
            <a:pPr lvl="1" eaLnBrk="1" hangingPunct="1">
              <a:lnSpc>
                <a:spcPct val="120000"/>
              </a:lnSpc>
              <a:spcBef>
                <a:spcPts val="600"/>
              </a:spcBef>
              <a:spcAft>
                <a:spcPts val="0"/>
              </a:spcAft>
              <a:buClrTx/>
              <a:buFont typeface="Wingdings" panose="05000000000000000000" pitchFamily="2" charset="2"/>
              <a:buChar char="Ø"/>
            </a:pPr>
            <a:r>
              <a:rPr lang="zh-CN" altLang="en-US" sz="2000" b="0" dirty="0">
                <a:solidFill>
                  <a:srgbClr val="FF0000"/>
                </a:solidFill>
                <a:cs typeface="Calibri" panose="020F0502020204030204" pitchFamily="34" charset="0"/>
              </a:rPr>
              <a:t>划分为（等深的）箱：</a:t>
            </a:r>
            <a:endParaRPr lang="zh-CN" altLang="en-US" sz="2000" b="0" dirty="0">
              <a:solidFill>
                <a:srgbClr val="FF0000"/>
              </a:solidFill>
              <a:cs typeface="Calibri" panose="020F0502020204030204" pitchFamily="34" charset="0"/>
            </a:endParaRPr>
          </a:p>
          <a:p>
            <a:pPr lvl="2" eaLnBrk="1" hangingPunct="1">
              <a:lnSpc>
                <a:spcPct val="120000"/>
              </a:lnSpc>
              <a:spcBef>
                <a:spcPts val="0"/>
              </a:spcBef>
              <a:spcAft>
                <a:spcPts val="0"/>
              </a:spcAft>
              <a:buFont typeface="Wingdings" panose="05000000000000000000" pitchFamily="2" charset="2"/>
              <a:buChar char="Ø"/>
            </a:pPr>
            <a:r>
              <a:rPr lang="zh-CN" altLang="en-US" sz="1800" b="0" dirty="0">
                <a:solidFill>
                  <a:srgbClr val="1557AE"/>
                </a:solidFill>
                <a:cs typeface="Calibri" panose="020F0502020204030204" pitchFamily="34" charset="0"/>
              </a:rPr>
              <a:t>箱</a:t>
            </a:r>
            <a:r>
              <a:rPr lang="en-US" altLang="zh-CN" sz="1800" b="0" dirty="0">
                <a:solidFill>
                  <a:srgbClr val="1557AE"/>
                </a:solidFill>
                <a:cs typeface="Calibri" panose="020F0502020204030204" pitchFamily="34" charset="0"/>
              </a:rPr>
              <a:t>1</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4</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8</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15</a:t>
            </a:r>
            <a:endParaRPr lang="en-US" altLang="zh-CN" sz="1800" b="0" dirty="0">
              <a:solidFill>
                <a:srgbClr val="1557AE"/>
              </a:solidFill>
              <a:cs typeface="Calibri" panose="020F0502020204030204" pitchFamily="34" charset="0"/>
            </a:endParaRPr>
          </a:p>
          <a:p>
            <a:pPr lvl="2" eaLnBrk="1" hangingPunct="1">
              <a:lnSpc>
                <a:spcPct val="120000"/>
              </a:lnSpc>
              <a:spcBef>
                <a:spcPts val="0"/>
              </a:spcBef>
              <a:spcAft>
                <a:spcPts val="0"/>
              </a:spcAft>
              <a:buFont typeface="Wingdings" panose="05000000000000000000" pitchFamily="2" charset="2"/>
              <a:buChar char="Ø"/>
            </a:pPr>
            <a:r>
              <a:rPr lang="zh-CN" altLang="en-US" sz="1800" b="0" dirty="0">
                <a:solidFill>
                  <a:srgbClr val="1557AE"/>
                </a:solidFill>
                <a:cs typeface="Calibri" panose="020F0502020204030204" pitchFamily="34" charset="0"/>
              </a:rPr>
              <a:t>箱</a:t>
            </a:r>
            <a:r>
              <a:rPr lang="en-US" altLang="zh-CN" sz="1800" b="0" dirty="0">
                <a:solidFill>
                  <a:srgbClr val="1557AE"/>
                </a:solidFill>
                <a:cs typeface="Calibri" panose="020F0502020204030204" pitchFamily="34" charset="0"/>
              </a:rPr>
              <a:t>2</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21</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21</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24</a:t>
            </a:r>
            <a:endParaRPr lang="en-US" altLang="zh-CN" sz="1800" b="0" dirty="0">
              <a:solidFill>
                <a:srgbClr val="1557AE"/>
              </a:solidFill>
              <a:cs typeface="Calibri" panose="020F0502020204030204" pitchFamily="34" charset="0"/>
            </a:endParaRPr>
          </a:p>
          <a:p>
            <a:pPr lvl="2" eaLnBrk="1" hangingPunct="1">
              <a:lnSpc>
                <a:spcPct val="120000"/>
              </a:lnSpc>
              <a:spcBef>
                <a:spcPts val="0"/>
              </a:spcBef>
              <a:spcAft>
                <a:spcPts val="0"/>
              </a:spcAft>
              <a:buFont typeface="Wingdings" panose="05000000000000000000" pitchFamily="2" charset="2"/>
              <a:buChar char="Ø"/>
            </a:pPr>
            <a:r>
              <a:rPr lang="zh-CN" altLang="en-US" sz="1800" b="0" dirty="0">
                <a:solidFill>
                  <a:srgbClr val="1557AE"/>
                </a:solidFill>
                <a:cs typeface="Calibri" panose="020F0502020204030204" pitchFamily="34" charset="0"/>
              </a:rPr>
              <a:t>箱</a:t>
            </a:r>
            <a:r>
              <a:rPr lang="en-US" altLang="zh-CN" sz="1800" b="0" dirty="0">
                <a:solidFill>
                  <a:srgbClr val="1557AE"/>
                </a:solidFill>
                <a:cs typeface="Calibri" panose="020F0502020204030204" pitchFamily="34" charset="0"/>
              </a:rPr>
              <a:t>3</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25</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28</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34</a:t>
            </a:r>
            <a:endParaRPr lang="en-US" altLang="zh-CN" sz="1800" b="0" dirty="0">
              <a:solidFill>
                <a:srgbClr val="1557AE"/>
              </a:solidFill>
              <a:cs typeface="Calibri" panose="020F0502020204030204" pitchFamily="34" charset="0"/>
            </a:endParaRPr>
          </a:p>
          <a:p>
            <a:pPr lvl="1" eaLnBrk="1" hangingPunct="1">
              <a:lnSpc>
                <a:spcPct val="120000"/>
              </a:lnSpc>
              <a:spcBef>
                <a:spcPts val="600"/>
              </a:spcBef>
              <a:spcAft>
                <a:spcPts val="0"/>
              </a:spcAft>
              <a:buClrTx/>
              <a:buFont typeface="Wingdings" panose="05000000000000000000" pitchFamily="2" charset="2"/>
              <a:buChar char="Ø"/>
            </a:pPr>
            <a:r>
              <a:rPr lang="zh-CN" altLang="en-US" sz="2000" b="0" dirty="0">
                <a:solidFill>
                  <a:srgbClr val="FF0000"/>
                </a:solidFill>
                <a:cs typeface="Calibri" panose="020F0502020204030204" pitchFamily="34" charset="0"/>
              </a:rPr>
              <a:t>用箱平均值平滑：</a:t>
            </a:r>
            <a:endParaRPr lang="zh-CN" altLang="en-US" sz="2000" b="0" dirty="0">
              <a:solidFill>
                <a:srgbClr val="FF0000"/>
              </a:solidFill>
              <a:cs typeface="Calibri" panose="020F0502020204030204" pitchFamily="34" charset="0"/>
            </a:endParaRPr>
          </a:p>
          <a:p>
            <a:pPr lvl="2" eaLnBrk="1" hangingPunct="1">
              <a:lnSpc>
                <a:spcPct val="120000"/>
              </a:lnSpc>
              <a:spcBef>
                <a:spcPts val="0"/>
              </a:spcBef>
              <a:spcAft>
                <a:spcPts val="0"/>
              </a:spcAft>
              <a:buFont typeface="Wingdings" panose="05000000000000000000" pitchFamily="2" charset="2"/>
              <a:buChar char="Ø"/>
            </a:pPr>
            <a:r>
              <a:rPr lang="zh-CN" altLang="en-US" sz="1800" b="0" dirty="0">
                <a:solidFill>
                  <a:srgbClr val="1557AE"/>
                </a:solidFill>
                <a:cs typeface="Calibri" panose="020F0502020204030204" pitchFamily="34" charset="0"/>
              </a:rPr>
              <a:t>箱</a:t>
            </a:r>
            <a:r>
              <a:rPr lang="en-US" altLang="zh-CN" sz="1800" b="0" dirty="0">
                <a:solidFill>
                  <a:srgbClr val="1557AE"/>
                </a:solidFill>
                <a:cs typeface="Calibri" panose="020F0502020204030204" pitchFamily="34" charset="0"/>
              </a:rPr>
              <a:t>1</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9</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9</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9</a:t>
            </a:r>
            <a:endParaRPr lang="en-US" altLang="zh-CN" sz="1800" b="0" dirty="0">
              <a:solidFill>
                <a:srgbClr val="1557AE"/>
              </a:solidFill>
              <a:cs typeface="Calibri" panose="020F0502020204030204" pitchFamily="34" charset="0"/>
            </a:endParaRPr>
          </a:p>
          <a:p>
            <a:pPr lvl="2" eaLnBrk="1" hangingPunct="1">
              <a:lnSpc>
                <a:spcPct val="120000"/>
              </a:lnSpc>
              <a:spcBef>
                <a:spcPts val="0"/>
              </a:spcBef>
              <a:spcAft>
                <a:spcPts val="0"/>
              </a:spcAft>
              <a:buFont typeface="Wingdings" panose="05000000000000000000" pitchFamily="2" charset="2"/>
              <a:buChar char="Ø"/>
            </a:pPr>
            <a:r>
              <a:rPr lang="zh-CN" altLang="en-US" sz="1800" b="0" dirty="0">
                <a:solidFill>
                  <a:srgbClr val="1557AE"/>
                </a:solidFill>
                <a:cs typeface="Calibri" panose="020F0502020204030204" pitchFamily="34" charset="0"/>
              </a:rPr>
              <a:t>箱</a:t>
            </a:r>
            <a:r>
              <a:rPr lang="en-US" altLang="zh-CN" sz="1800" b="0" dirty="0">
                <a:solidFill>
                  <a:srgbClr val="1557AE"/>
                </a:solidFill>
                <a:cs typeface="Calibri" panose="020F0502020204030204" pitchFamily="34" charset="0"/>
              </a:rPr>
              <a:t>2</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22</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22</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22</a:t>
            </a:r>
            <a:endParaRPr lang="en-US" altLang="zh-CN" sz="1800" b="0" dirty="0">
              <a:solidFill>
                <a:srgbClr val="1557AE"/>
              </a:solidFill>
              <a:cs typeface="Calibri" panose="020F0502020204030204" pitchFamily="34" charset="0"/>
            </a:endParaRPr>
          </a:p>
          <a:p>
            <a:pPr lvl="2" eaLnBrk="1" hangingPunct="1">
              <a:lnSpc>
                <a:spcPct val="120000"/>
              </a:lnSpc>
              <a:spcBef>
                <a:spcPts val="0"/>
              </a:spcBef>
              <a:spcAft>
                <a:spcPts val="0"/>
              </a:spcAft>
              <a:buFont typeface="Wingdings" panose="05000000000000000000" pitchFamily="2" charset="2"/>
              <a:buChar char="Ø"/>
            </a:pPr>
            <a:r>
              <a:rPr lang="zh-CN" altLang="en-US" sz="1800" b="0" dirty="0">
                <a:solidFill>
                  <a:srgbClr val="1557AE"/>
                </a:solidFill>
                <a:cs typeface="Calibri" panose="020F0502020204030204" pitchFamily="34" charset="0"/>
              </a:rPr>
              <a:t>箱</a:t>
            </a:r>
            <a:r>
              <a:rPr lang="en-US" altLang="zh-CN" sz="1800" b="0" dirty="0">
                <a:solidFill>
                  <a:srgbClr val="1557AE"/>
                </a:solidFill>
                <a:cs typeface="Calibri" panose="020F0502020204030204" pitchFamily="34" charset="0"/>
              </a:rPr>
              <a:t>3</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29</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29</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29</a:t>
            </a:r>
            <a:endParaRPr lang="en-US" altLang="zh-CN" sz="1800" b="0" dirty="0">
              <a:solidFill>
                <a:srgbClr val="1557AE"/>
              </a:solidFill>
              <a:cs typeface="Calibri" panose="020F0502020204030204" pitchFamily="34" charset="0"/>
            </a:endParaRPr>
          </a:p>
          <a:p>
            <a:pPr lvl="1" eaLnBrk="1" hangingPunct="1">
              <a:lnSpc>
                <a:spcPct val="120000"/>
              </a:lnSpc>
              <a:spcBef>
                <a:spcPts val="600"/>
              </a:spcBef>
              <a:spcAft>
                <a:spcPts val="0"/>
              </a:spcAft>
              <a:buClrTx/>
              <a:buFont typeface="Wingdings" panose="05000000000000000000" pitchFamily="2" charset="2"/>
              <a:buChar char="Ø"/>
            </a:pPr>
            <a:r>
              <a:rPr lang="zh-CN" altLang="en-US" sz="2000" b="0" dirty="0">
                <a:solidFill>
                  <a:srgbClr val="FF0000"/>
                </a:solidFill>
                <a:cs typeface="Calibri" panose="020F0502020204030204" pitchFamily="34" charset="0"/>
              </a:rPr>
              <a:t>用箱边界平滑：</a:t>
            </a:r>
            <a:endParaRPr lang="zh-CN" altLang="en-US" sz="2000" b="0" dirty="0">
              <a:solidFill>
                <a:srgbClr val="FF0000"/>
              </a:solidFill>
              <a:cs typeface="Calibri" panose="020F0502020204030204" pitchFamily="34" charset="0"/>
            </a:endParaRPr>
          </a:p>
          <a:p>
            <a:pPr lvl="2" eaLnBrk="1" hangingPunct="1">
              <a:lnSpc>
                <a:spcPct val="120000"/>
              </a:lnSpc>
              <a:spcBef>
                <a:spcPts val="0"/>
              </a:spcBef>
              <a:spcAft>
                <a:spcPts val="0"/>
              </a:spcAft>
              <a:buFont typeface="Wingdings" panose="05000000000000000000" pitchFamily="2" charset="2"/>
              <a:buChar char="Ø"/>
            </a:pPr>
            <a:r>
              <a:rPr lang="zh-CN" altLang="en-US" sz="1800" b="0" dirty="0">
                <a:solidFill>
                  <a:srgbClr val="1557AE"/>
                </a:solidFill>
                <a:cs typeface="Calibri" panose="020F0502020204030204" pitchFamily="34" charset="0"/>
              </a:rPr>
              <a:t>箱</a:t>
            </a:r>
            <a:r>
              <a:rPr lang="en-US" altLang="zh-CN" sz="1800" b="0" dirty="0">
                <a:solidFill>
                  <a:srgbClr val="1557AE"/>
                </a:solidFill>
                <a:cs typeface="Calibri" panose="020F0502020204030204" pitchFamily="34" charset="0"/>
              </a:rPr>
              <a:t>1</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4</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4</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15</a:t>
            </a:r>
            <a:endParaRPr lang="en-US" altLang="zh-CN" sz="1800" b="0" dirty="0">
              <a:solidFill>
                <a:srgbClr val="1557AE"/>
              </a:solidFill>
              <a:cs typeface="Calibri" panose="020F0502020204030204" pitchFamily="34" charset="0"/>
            </a:endParaRPr>
          </a:p>
          <a:p>
            <a:pPr lvl="2" eaLnBrk="1" hangingPunct="1">
              <a:lnSpc>
                <a:spcPct val="120000"/>
              </a:lnSpc>
              <a:spcBef>
                <a:spcPts val="0"/>
              </a:spcBef>
              <a:spcAft>
                <a:spcPts val="0"/>
              </a:spcAft>
              <a:buFont typeface="Wingdings" panose="05000000000000000000" pitchFamily="2" charset="2"/>
              <a:buChar char="Ø"/>
            </a:pPr>
            <a:r>
              <a:rPr lang="zh-CN" altLang="en-US" sz="1800" b="0" dirty="0">
                <a:solidFill>
                  <a:srgbClr val="1557AE"/>
                </a:solidFill>
                <a:cs typeface="Calibri" panose="020F0502020204030204" pitchFamily="34" charset="0"/>
              </a:rPr>
              <a:t>箱</a:t>
            </a:r>
            <a:r>
              <a:rPr lang="en-US" altLang="zh-CN" sz="1800" b="0" dirty="0">
                <a:solidFill>
                  <a:srgbClr val="1557AE"/>
                </a:solidFill>
                <a:cs typeface="Calibri" panose="020F0502020204030204" pitchFamily="34" charset="0"/>
              </a:rPr>
              <a:t>2</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21</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21</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24</a:t>
            </a:r>
            <a:endParaRPr lang="en-US" altLang="zh-CN" sz="1800" b="0" dirty="0">
              <a:solidFill>
                <a:srgbClr val="1557AE"/>
              </a:solidFill>
              <a:cs typeface="Calibri" panose="020F0502020204030204" pitchFamily="34" charset="0"/>
            </a:endParaRPr>
          </a:p>
          <a:p>
            <a:pPr lvl="2" eaLnBrk="1" hangingPunct="1">
              <a:lnSpc>
                <a:spcPct val="120000"/>
              </a:lnSpc>
              <a:spcBef>
                <a:spcPts val="0"/>
              </a:spcBef>
              <a:spcAft>
                <a:spcPts val="0"/>
              </a:spcAft>
              <a:buFont typeface="Wingdings" panose="05000000000000000000" pitchFamily="2" charset="2"/>
              <a:buChar char="Ø"/>
            </a:pPr>
            <a:r>
              <a:rPr lang="zh-CN" altLang="en-US" sz="1800" b="0" dirty="0">
                <a:solidFill>
                  <a:srgbClr val="1557AE"/>
                </a:solidFill>
                <a:cs typeface="Calibri" panose="020F0502020204030204" pitchFamily="34" charset="0"/>
              </a:rPr>
              <a:t>箱</a:t>
            </a:r>
            <a:r>
              <a:rPr lang="en-US" altLang="zh-CN" sz="1800" b="0" dirty="0">
                <a:solidFill>
                  <a:srgbClr val="1557AE"/>
                </a:solidFill>
                <a:cs typeface="Calibri" panose="020F0502020204030204" pitchFamily="34" charset="0"/>
              </a:rPr>
              <a:t>3</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25</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25</a:t>
            </a:r>
            <a:r>
              <a:rPr lang="zh-CN" altLang="en-US" sz="1800" b="0" dirty="0">
                <a:solidFill>
                  <a:srgbClr val="1557AE"/>
                </a:solidFill>
                <a:cs typeface="Calibri" panose="020F0502020204030204" pitchFamily="34" charset="0"/>
              </a:rPr>
              <a:t>，</a:t>
            </a:r>
            <a:r>
              <a:rPr lang="en-US" altLang="zh-CN" sz="1800" b="0" dirty="0">
                <a:solidFill>
                  <a:srgbClr val="1557AE"/>
                </a:solidFill>
                <a:cs typeface="Calibri" panose="020F0502020204030204" pitchFamily="34" charset="0"/>
              </a:rPr>
              <a:t>34</a:t>
            </a:r>
            <a:endParaRPr lang="en-US" altLang="zh-CN" sz="1800" b="0" dirty="0">
              <a:solidFill>
                <a:srgbClr val="1557AE"/>
              </a:solidFill>
              <a:cs typeface="Calibri" panose="020F0502020204030204" pitchFamily="34" charset="0"/>
            </a:endParaRPr>
          </a:p>
        </p:txBody>
      </p:sp>
      <p:sp>
        <p:nvSpPr>
          <p:cNvPr id="4" name="Rectangle 6"/>
          <p:cNvSpPr>
            <a:spLocks noGrp="1" noChangeArrowheads="1"/>
          </p:cNvSpPr>
          <p:nvPr>
            <p:ph type="title"/>
          </p:nvPr>
        </p:nvSpPr>
        <p:spPr>
          <a:xfrm>
            <a:off x="528321" y="188640"/>
            <a:ext cx="8001000" cy="636067"/>
          </a:xfrm>
        </p:spPr>
        <p:txBody>
          <a:bodyPr/>
          <a:lstStyle/>
          <a:p>
            <a:pPr eaLnBrk="1" hangingPunct="1">
              <a:defRPr/>
            </a:pPr>
            <a:r>
              <a:rPr lang="en-US" altLang="zh-CN" sz="3600" dirty="0"/>
              <a:t>2.2  </a:t>
            </a:r>
            <a:r>
              <a:rPr lang="zh-CN" altLang="en-US" sz="3600" dirty="0"/>
              <a:t>数据清洗</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711200" y="2733675"/>
            <a:ext cx="1412527" cy="6254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fontAlgn="auto" hangingPunct="1">
              <a:spcAft>
                <a:spcPts val="0"/>
              </a:spcAft>
            </a:pPr>
            <a:r>
              <a:rPr lang="zh-CN" altLang="en-US" dirty="0">
                <a:solidFill>
                  <a:srgbClr val="FF0000"/>
                </a:solidFill>
              </a:rPr>
              <a:t>回归</a:t>
            </a:r>
            <a:endParaRPr lang="zh-CN" altLang="en-US" dirty="0">
              <a:solidFill>
                <a:srgbClr val="FF0000"/>
              </a:solidFill>
            </a:endParaRPr>
          </a:p>
        </p:txBody>
      </p:sp>
      <p:sp>
        <p:nvSpPr>
          <p:cNvPr id="36867" name="Line 4"/>
          <p:cNvSpPr>
            <a:spLocks noChangeShapeType="1"/>
          </p:cNvSpPr>
          <p:nvPr/>
        </p:nvSpPr>
        <p:spPr bwMode="auto">
          <a:xfrm>
            <a:off x="711201" y="4452937"/>
            <a:ext cx="69230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方正兰亭中黑_GBK" panose="02000000000000000000" pitchFamily="2" charset="-122"/>
              <a:ea typeface="方正兰亭中黑_GBK" panose="02000000000000000000" pitchFamily="2" charset="-122"/>
            </a:endParaRPr>
          </a:p>
        </p:txBody>
      </p:sp>
      <p:sp>
        <p:nvSpPr>
          <p:cNvPr id="36868" name="Line 5"/>
          <p:cNvSpPr>
            <a:spLocks noChangeShapeType="1"/>
          </p:cNvSpPr>
          <p:nvPr/>
        </p:nvSpPr>
        <p:spPr bwMode="auto">
          <a:xfrm flipV="1">
            <a:off x="3960813" y="1693862"/>
            <a:ext cx="0" cy="47021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0">
              <a:latin typeface="方正兰亭中黑_GBK" panose="02000000000000000000" pitchFamily="2" charset="-122"/>
              <a:ea typeface="方正兰亭中黑_GBK" panose="02000000000000000000" pitchFamily="2" charset="-122"/>
            </a:endParaRPr>
          </a:p>
        </p:txBody>
      </p:sp>
      <p:sp>
        <p:nvSpPr>
          <p:cNvPr id="36869" name="Oval 6"/>
          <p:cNvSpPr>
            <a:spLocks noChangeArrowheads="1"/>
          </p:cNvSpPr>
          <p:nvPr/>
        </p:nvSpPr>
        <p:spPr bwMode="auto">
          <a:xfrm flipV="1">
            <a:off x="5346701" y="3363912"/>
            <a:ext cx="42862" cy="42863"/>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70" name="Oval 7"/>
          <p:cNvSpPr>
            <a:spLocks noChangeArrowheads="1"/>
          </p:cNvSpPr>
          <p:nvPr/>
        </p:nvSpPr>
        <p:spPr bwMode="auto">
          <a:xfrm flipV="1">
            <a:off x="4929188" y="3468687"/>
            <a:ext cx="42863" cy="42863"/>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71" name="Oval 8"/>
          <p:cNvSpPr>
            <a:spLocks noChangeArrowheads="1"/>
          </p:cNvSpPr>
          <p:nvPr/>
        </p:nvSpPr>
        <p:spPr bwMode="auto">
          <a:xfrm flipV="1">
            <a:off x="4749701" y="2538487"/>
            <a:ext cx="84931" cy="60325"/>
          </a:xfrm>
          <a:prstGeom prst="ellipse">
            <a:avLst/>
          </a:prstGeom>
          <a:solidFill>
            <a:schemeClr val="accent2">
              <a:lumMod val="75000"/>
            </a:schemeClr>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72" name="Oval 9"/>
          <p:cNvSpPr>
            <a:spLocks noChangeArrowheads="1"/>
          </p:cNvSpPr>
          <p:nvPr/>
        </p:nvSpPr>
        <p:spPr bwMode="auto">
          <a:xfrm flipV="1">
            <a:off x="4579938" y="3937000"/>
            <a:ext cx="42863" cy="42862"/>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73" name="Oval 10"/>
          <p:cNvSpPr>
            <a:spLocks noChangeArrowheads="1"/>
          </p:cNvSpPr>
          <p:nvPr/>
        </p:nvSpPr>
        <p:spPr bwMode="auto">
          <a:xfrm flipV="1">
            <a:off x="5451476" y="3011487"/>
            <a:ext cx="42862" cy="42863"/>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74" name="Oval 11"/>
          <p:cNvSpPr>
            <a:spLocks noChangeArrowheads="1"/>
          </p:cNvSpPr>
          <p:nvPr/>
        </p:nvSpPr>
        <p:spPr bwMode="auto">
          <a:xfrm flipV="1">
            <a:off x="5653088" y="2738437"/>
            <a:ext cx="42863" cy="42863"/>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75" name="Oval 12"/>
          <p:cNvSpPr>
            <a:spLocks noChangeArrowheads="1"/>
          </p:cNvSpPr>
          <p:nvPr/>
        </p:nvSpPr>
        <p:spPr bwMode="auto">
          <a:xfrm flipV="1">
            <a:off x="4221163" y="4033837"/>
            <a:ext cx="42863" cy="42863"/>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76" name="Oval 13"/>
          <p:cNvSpPr>
            <a:spLocks noChangeArrowheads="1"/>
          </p:cNvSpPr>
          <p:nvPr/>
        </p:nvSpPr>
        <p:spPr bwMode="auto">
          <a:xfrm flipV="1">
            <a:off x="5973763" y="2733675"/>
            <a:ext cx="42863" cy="42862"/>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77" name="Oval 14"/>
          <p:cNvSpPr>
            <a:spLocks noChangeArrowheads="1"/>
          </p:cNvSpPr>
          <p:nvPr/>
        </p:nvSpPr>
        <p:spPr bwMode="auto">
          <a:xfrm flipV="1">
            <a:off x="5994401" y="2493962"/>
            <a:ext cx="42862" cy="42863"/>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78" name="Oval 15"/>
          <p:cNvSpPr>
            <a:spLocks noChangeArrowheads="1"/>
          </p:cNvSpPr>
          <p:nvPr/>
        </p:nvSpPr>
        <p:spPr bwMode="auto">
          <a:xfrm flipV="1">
            <a:off x="6408738" y="2466975"/>
            <a:ext cx="42863" cy="42862"/>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79" name="Oval 16"/>
          <p:cNvSpPr>
            <a:spLocks noChangeArrowheads="1"/>
          </p:cNvSpPr>
          <p:nvPr/>
        </p:nvSpPr>
        <p:spPr bwMode="auto">
          <a:xfrm flipV="1">
            <a:off x="4176713" y="4300537"/>
            <a:ext cx="42863" cy="42863"/>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80" name="Oval 17"/>
          <p:cNvSpPr>
            <a:spLocks noChangeArrowheads="1"/>
          </p:cNvSpPr>
          <p:nvPr/>
        </p:nvSpPr>
        <p:spPr bwMode="auto">
          <a:xfrm flipV="1">
            <a:off x="6388101" y="2216150"/>
            <a:ext cx="42862" cy="42862"/>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81" name="Oval 18"/>
          <p:cNvSpPr>
            <a:spLocks noChangeArrowheads="1"/>
          </p:cNvSpPr>
          <p:nvPr/>
        </p:nvSpPr>
        <p:spPr bwMode="auto">
          <a:xfrm flipV="1">
            <a:off x="6718301" y="2090737"/>
            <a:ext cx="42862" cy="42863"/>
          </a:xfrm>
          <a:prstGeom prst="ellipse">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6882" name="Line 19"/>
          <p:cNvSpPr>
            <a:spLocks noChangeShapeType="1"/>
          </p:cNvSpPr>
          <p:nvPr/>
        </p:nvSpPr>
        <p:spPr bwMode="auto">
          <a:xfrm flipV="1">
            <a:off x="3943351" y="2003425"/>
            <a:ext cx="2906712" cy="2270125"/>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a:lstStyle/>
          <a:p>
            <a:endParaRPr lang="zh-CN" altLang="en-US" b="0">
              <a:latin typeface="方正兰亭中黑_GBK" panose="02000000000000000000" pitchFamily="2" charset="-122"/>
              <a:ea typeface="方正兰亭中黑_GBK" panose="02000000000000000000" pitchFamily="2" charset="-122"/>
            </a:endParaRPr>
          </a:p>
        </p:txBody>
      </p:sp>
      <p:sp>
        <p:nvSpPr>
          <p:cNvPr id="36883" name="Text Box 20"/>
          <p:cNvSpPr txBox="1">
            <a:spLocks noChangeArrowheads="1"/>
          </p:cNvSpPr>
          <p:nvPr/>
        </p:nvSpPr>
        <p:spPr bwMode="auto">
          <a:xfrm>
            <a:off x="7484630" y="4440237"/>
            <a:ext cx="3850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en-US" altLang="zh-CN" sz="2400" b="0">
                <a:latin typeface="方正兰亭中黑_GBK" panose="02000000000000000000" pitchFamily="2" charset="-122"/>
                <a:ea typeface="方正兰亭中黑_GBK" panose="02000000000000000000" pitchFamily="2" charset="-122"/>
              </a:rPr>
              <a:t>x</a:t>
            </a:r>
            <a:endParaRPr lang="en-US" altLang="zh-CN" sz="2400" b="0">
              <a:latin typeface="方正兰亭中黑_GBK" panose="02000000000000000000" pitchFamily="2" charset="-122"/>
              <a:ea typeface="方正兰亭中黑_GBK" panose="02000000000000000000" pitchFamily="2" charset="-122"/>
            </a:endParaRPr>
          </a:p>
        </p:txBody>
      </p:sp>
      <p:sp>
        <p:nvSpPr>
          <p:cNvPr id="36884" name="Text Box 21"/>
          <p:cNvSpPr txBox="1">
            <a:spLocks noChangeArrowheads="1"/>
          </p:cNvSpPr>
          <p:nvPr/>
        </p:nvSpPr>
        <p:spPr bwMode="auto">
          <a:xfrm>
            <a:off x="4142989" y="1516062"/>
            <a:ext cx="3754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en-US" altLang="zh-CN" sz="2400" b="0">
                <a:latin typeface="方正兰亭中黑_GBK" panose="02000000000000000000" pitchFamily="2" charset="-122"/>
                <a:ea typeface="方正兰亭中黑_GBK" panose="02000000000000000000" pitchFamily="2" charset="-122"/>
              </a:rPr>
              <a:t>y</a:t>
            </a:r>
            <a:endParaRPr lang="en-US" altLang="zh-CN" sz="2400" b="0">
              <a:latin typeface="方正兰亭中黑_GBK" panose="02000000000000000000" pitchFamily="2" charset="-122"/>
              <a:ea typeface="方正兰亭中黑_GBK" panose="02000000000000000000" pitchFamily="2" charset="-122"/>
            </a:endParaRPr>
          </a:p>
        </p:txBody>
      </p:sp>
      <p:sp>
        <p:nvSpPr>
          <p:cNvPr id="36885" name="Text Box 22"/>
          <p:cNvSpPr txBox="1">
            <a:spLocks noChangeArrowheads="1"/>
          </p:cNvSpPr>
          <p:nvPr/>
        </p:nvSpPr>
        <p:spPr bwMode="auto">
          <a:xfrm>
            <a:off x="5609822" y="3279775"/>
            <a:ext cx="15279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en-US" altLang="zh-CN" sz="2400" b="0">
                <a:latin typeface="方正兰亭中黑_GBK" panose="02000000000000000000" pitchFamily="2" charset="-122"/>
                <a:ea typeface="方正兰亭中黑_GBK" panose="02000000000000000000" pitchFamily="2" charset="-122"/>
              </a:rPr>
              <a:t>y = x + 1</a:t>
            </a:r>
            <a:endParaRPr lang="en-US" altLang="zh-CN" sz="2400" b="0">
              <a:latin typeface="方正兰亭中黑_GBK" panose="02000000000000000000" pitchFamily="2" charset="-122"/>
              <a:ea typeface="方正兰亭中黑_GBK" panose="02000000000000000000" pitchFamily="2" charset="-122"/>
            </a:endParaRPr>
          </a:p>
        </p:txBody>
      </p:sp>
      <p:sp>
        <p:nvSpPr>
          <p:cNvPr id="36886" name="Line 23"/>
          <p:cNvSpPr>
            <a:spLocks noChangeShapeType="1"/>
          </p:cNvSpPr>
          <p:nvPr/>
        </p:nvSpPr>
        <p:spPr bwMode="auto">
          <a:xfrm>
            <a:off x="4775994" y="2587624"/>
            <a:ext cx="794" cy="1881187"/>
          </a:xfrm>
          <a:prstGeom prst="line">
            <a:avLst/>
          </a:prstGeom>
          <a:noFill/>
          <a:ln w="9525">
            <a:solidFill>
              <a:srgbClr val="006666"/>
            </a:solidFill>
            <a:prstDash val="dash"/>
            <a:round/>
          </a:ln>
          <a:extLst>
            <a:ext uri="{909E8E84-426E-40DD-AFC4-6F175D3DCCD1}">
              <a14:hiddenFill xmlns:a14="http://schemas.microsoft.com/office/drawing/2010/main">
                <a:noFill/>
              </a14:hiddenFill>
            </a:ext>
          </a:extLst>
        </p:spPr>
        <p:txBody>
          <a:bodyPr/>
          <a:lstStyle/>
          <a:p>
            <a:endParaRPr lang="zh-CN" altLang="en-US" b="0">
              <a:latin typeface="方正兰亭中黑_GBK" panose="02000000000000000000" pitchFamily="2" charset="-122"/>
              <a:ea typeface="方正兰亭中黑_GBK" panose="02000000000000000000" pitchFamily="2" charset="-122"/>
            </a:endParaRPr>
          </a:p>
        </p:txBody>
      </p:sp>
      <p:sp>
        <p:nvSpPr>
          <p:cNvPr id="36887" name="Line 24"/>
          <p:cNvSpPr>
            <a:spLocks noChangeShapeType="1"/>
          </p:cNvSpPr>
          <p:nvPr/>
        </p:nvSpPr>
        <p:spPr bwMode="auto">
          <a:xfrm flipH="1">
            <a:off x="3960813" y="2574925"/>
            <a:ext cx="800100" cy="0"/>
          </a:xfrm>
          <a:prstGeom prst="line">
            <a:avLst/>
          </a:prstGeom>
          <a:noFill/>
          <a:ln w="9525">
            <a:solidFill>
              <a:srgbClr val="006666"/>
            </a:solidFill>
            <a:prstDash val="dash"/>
            <a:round/>
          </a:ln>
          <a:extLst>
            <a:ext uri="{909E8E84-426E-40DD-AFC4-6F175D3DCCD1}">
              <a14:hiddenFill xmlns:a14="http://schemas.microsoft.com/office/drawing/2010/main">
                <a:noFill/>
              </a14:hiddenFill>
            </a:ext>
          </a:extLst>
        </p:spPr>
        <p:txBody>
          <a:bodyPr/>
          <a:lstStyle/>
          <a:p>
            <a:endParaRPr lang="zh-CN" altLang="en-US" b="0">
              <a:latin typeface="方正兰亭中黑_GBK" panose="02000000000000000000" pitchFamily="2" charset="-122"/>
              <a:ea typeface="方正兰亭中黑_GBK" panose="02000000000000000000" pitchFamily="2" charset="-122"/>
            </a:endParaRPr>
          </a:p>
        </p:txBody>
      </p:sp>
      <p:sp>
        <p:nvSpPr>
          <p:cNvPr id="36888" name="Line 25"/>
          <p:cNvSpPr>
            <a:spLocks noChangeShapeType="1"/>
          </p:cNvSpPr>
          <p:nvPr/>
        </p:nvSpPr>
        <p:spPr bwMode="auto">
          <a:xfrm flipH="1">
            <a:off x="3944938" y="3586162"/>
            <a:ext cx="815975" cy="0"/>
          </a:xfrm>
          <a:prstGeom prst="line">
            <a:avLst/>
          </a:prstGeom>
          <a:noFill/>
          <a:ln w="9525">
            <a:solidFill>
              <a:srgbClr val="006666"/>
            </a:solidFill>
            <a:prstDash val="dash"/>
            <a:round/>
          </a:ln>
          <a:extLst>
            <a:ext uri="{909E8E84-426E-40DD-AFC4-6F175D3DCCD1}">
              <a14:hiddenFill xmlns:a14="http://schemas.microsoft.com/office/drawing/2010/main">
                <a:noFill/>
              </a14:hiddenFill>
            </a:ext>
          </a:extLst>
        </p:spPr>
        <p:txBody>
          <a:bodyPr/>
          <a:lstStyle/>
          <a:p>
            <a:endParaRPr lang="zh-CN" altLang="en-US" b="0">
              <a:latin typeface="方正兰亭中黑_GBK" panose="02000000000000000000" pitchFamily="2" charset="-122"/>
              <a:ea typeface="方正兰亭中黑_GBK" panose="02000000000000000000" pitchFamily="2" charset="-122"/>
            </a:endParaRPr>
          </a:p>
        </p:txBody>
      </p:sp>
      <p:sp>
        <p:nvSpPr>
          <p:cNvPr id="36889" name="Text Box 26"/>
          <p:cNvSpPr txBox="1">
            <a:spLocks noChangeArrowheads="1"/>
          </p:cNvSpPr>
          <p:nvPr/>
        </p:nvSpPr>
        <p:spPr bwMode="auto">
          <a:xfrm>
            <a:off x="4670758" y="4471987"/>
            <a:ext cx="5549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en-US" altLang="zh-CN" sz="2000" b="0">
                <a:latin typeface="方正兰亭中黑_GBK" panose="02000000000000000000" pitchFamily="2" charset="-122"/>
                <a:ea typeface="方正兰亭中黑_GBK" panose="02000000000000000000" pitchFamily="2" charset="-122"/>
              </a:rPr>
              <a:t>X1</a:t>
            </a:r>
            <a:endParaRPr lang="en-US" altLang="zh-CN" sz="2000" b="0">
              <a:latin typeface="方正兰亭中黑_GBK" panose="02000000000000000000" pitchFamily="2" charset="-122"/>
              <a:ea typeface="方正兰亭中黑_GBK" panose="02000000000000000000" pitchFamily="2" charset="-122"/>
            </a:endParaRPr>
          </a:p>
        </p:txBody>
      </p:sp>
      <p:sp>
        <p:nvSpPr>
          <p:cNvPr id="36890" name="Text Box 27"/>
          <p:cNvSpPr txBox="1">
            <a:spLocks noChangeArrowheads="1"/>
          </p:cNvSpPr>
          <p:nvPr/>
        </p:nvSpPr>
        <p:spPr bwMode="auto">
          <a:xfrm>
            <a:off x="3448399" y="2382837"/>
            <a:ext cx="5517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en-US" altLang="zh-CN" sz="2000" b="0">
                <a:latin typeface="方正兰亭中黑_GBK" panose="02000000000000000000" pitchFamily="2" charset="-122"/>
                <a:ea typeface="方正兰亭中黑_GBK" panose="02000000000000000000" pitchFamily="2" charset="-122"/>
              </a:rPr>
              <a:t>Y1</a:t>
            </a:r>
            <a:endParaRPr lang="en-US" altLang="zh-CN" sz="2000" b="0">
              <a:latin typeface="方正兰亭中黑_GBK" panose="02000000000000000000" pitchFamily="2" charset="-122"/>
              <a:ea typeface="方正兰亭中黑_GBK" panose="02000000000000000000" pitchFamily="2" charset="-122"/>
            </a:endParaRPr>
          </a:p>
        </p:txBody>
      </p:sp>
      <p:sp>
        <p:nvSpPr>
          <p:cNvPr id="36891" name="Text Box 28"/>
          <p:cNvSpPr txBox="1">
            <a:spLocks noChangeArrowheads="1"/>
          </p:cNvSpPr>
          <p:nvPr/>
        </p:nvSpPr>
        <p:spPr bwMode="auto">
          <a:xfrm>
            <a:off x="3361426" y="3328987"/>
            <a:ext cx="8098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en-US" altLang="zh-CN" sz="2000" b="0">
                <a:latin typeface="方正兰亭中黑_GBK" panose="02000000000000000000" pitchFamily="2" charset="-122"/>
                <a:ea typeface="方正兰亭中黑_GBK" panose="02000000000000000000" pitchFamily="2" charset="-122"/>
              </a:rPr>
              <a:t>Y1’</a:t>
            </a:r>
            <a:endParaRPr lang="en-US" altLang="zh-CN" sz="2000" b="0">
              <a:latin typeface="方正兰亭中黑_GBK" panose="02000000000000000000" pitchFamily="2" charset="-122"/>
              <a:ea typeface="方正兰亭中黑_GBK" panose="02000000000000000000" pitchFamily="2" charset="-122"/>
            </a:endParaRPr>
          </a:p>
        </p:txBody>
      </p:sp>
      <p:sp>
        <p:nvSpPr>
          <p:cNvPr id="29" name="Rectangle 6"/>
          <p:cNvSpPr txBox="1">
            <a:spLocks noChangeArrowheads="1"/>
          </p:cNvSpPr>
          <p:nvPr/>
        </p:nvSpPr>
        <p:spPr bwMode="auto">
          <a:xfrm>
            <a:off x="528321" y="188640"/>
            <a:ext cx="8001000" cy="636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rtl="0" eaLnBrk="0" fontAlgn="base" hangingPunct="0">
              <a:spcBef>
                <a:spcPct val="0"/>
              </a:spcBef>
              <a:spcAft>
                <a:spcPct val="0"/>
              </a:spcAft>
              <a:defRPr sz="3800">
                <a:solidFill>
                  <a:srgbClr val="1557AE"/>
                </a:solidFill>
                <a:latin typeface="方正兰亭中黑_GBK" panose="02000000000000000000" pitchFamily="2" charset="-122"/>
                <a:ea typeface="方正兰亭中黑_GBK" panose="02000000000000000000" pitchFamily="2" charset="-122"/>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eaLnBrk="1" hangingPunct="1">
              <a:defRPr/>
            </a:pPr>
            <a:r>
              <a:rPr lang="en-US" altLang="zh-CN" sz="3600" b="0" kern="0"/>
              <a:t>2.2  </a:t>
            </a:r>
            <a:r>
              <a:rPr lang="zh-CN" altLang="en-US" sz="3600" b="0" kern="0"/>
              <a:t>数据清洗</a:t>
            </a:r>
            <a:endParaRPr lang="zh-CN" altLang="en-US" sz="3600" b="0" kern="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2" name="Rectangle 48"/>
          <p:cNvSpPr>
            <a:spLocks noGrp="1" noChangeArrowheads="1"/>
          </p:cNvSpPr>
          <p:nvPr>
            <p:ph idx="1"/>
          </p:nvPr>
        </p:nvSpPr>
        <p:spPr>
          <a:xfrm>
            <a:off x="522586" y="5373216"/>
            <a:ext cx="8229600" cy="1143000"/>
          </a:xfrm>
        </p:spPr>
        <p:txBody>
          <a:bodyPr>
            <a:normAutofit/>
          </a:bodyPr>
          <a:lstStyle/>
          <a:p>
            <a:pPr marL="342900" indent="-342900" eaLnBrk="1" hangingPunct="1">
              <a:lnSpc>
                <a:spcPct val="140000"/>
              </a:lnSpc>
              <a:buClrTx/>
              <a:buSzPct val="100000"/>
              <a:buFont typeface="Wingdings" panose="05000000000000000000" pitchFamily="2" charset="2"/>
              <a:buChar char="n"/>
              <a:defRPr/>
            </a:pPr>
            <a:r>
              <a:rPr lang="zh-CN" altLang="en-US" sz="2400" b="0" kern="1200" dirty="0">
                <a:solidFill>
                  <a:srgbClr val="FF0000"/>
                </a:solidFill>
                <a:cs typeface="Calibri" panose="020F0502020204030204" pitchFamily="34" charset="0"/>
              </a:rPr>
              <a:t>通过聚类分析检测离群点，消除噪声：</a:t>
            </a:r>
            <a:r>
              <a:rPr lang="zh-CN" altLang="en-US" sz="2400" b="0" dirty="0">
                <a:solidFill>
                  <a:srgbClr val="1557AE"/>
                </a:solidFill>
                <a:cs typeface="Calibri" panose="020F0502020204030204" pitchFamily="34" charset="0"/>
              </a:rPr>
              <a:t>聚类将类似的值聚成簇。直观的，落在簇集合之外的值被视为离群点</a:t>
            </a:r>
            <a:endParaRPr lang="zh-CN" altLang="en-US" sz="2400" b="0" dirty="0">
              <a:solidFill>
                <a:srgbClr val="1557AE"/>
              </a:solidFill>
              <a:cs typeface="Calibri" panose="020F0502020204030204" pitchFamily="34" charset="0"/>
            </a:endParaRPr>
          </a:p>
        </p:txBody>
      </p:sp>
      <p:sp>
        <p:nvSpPr>
          <p:cNvPr id="37890" name="Rectangle 2"/>
          <p:cNvSpPr>
            <a:spLocks noGrp="1" noChangeArrowheads="1"/>
          </p:cNvSpPr>
          <p:nvPr>
            <p:ph type="title"/>
          </p:nvPr>
        </p:nvSpPr>
        <p:spPr>
          <a:xfrm>
            <a:off x="467544" y="2840237"/>
            <a:ext cx="1450551" cy="892175"/>
          </a:xfrm>
        </p:spPr>
        <p:txBody>
          <a:bodyPr/>
          <a:lstStyle/>
          <a:p>
            <a:pPr eaLnBrk="1" fontAlgn="auto" hangingPunct="1">
              <a:spcAft>
                <a:spcPts val="0"/>
              </a:spcAft>
              <a:defRPr/>
            </a:pPr>
            <a:r>
              <a:rPr lang="zh-CN" altLang="en-US" dirty="0">
                <a:solidFill>
                  <a:srgbClr val="FF0000"/>
                </a:solidFill>
              </a:rPr>
              <a:t>聚类</a:t>
            </a:r>
            <a:endParaRPr lang="zh-CN" altLang="en-US" dirty="0">
              <a:solidFill>
                <a:srgbClr val="FF0000"/>
              </a:solidFill>
            </a:endParaRPr>
          </a:p>
        </p:txBody>
      </p:sp>
      <p:sp>
        <p:nvSpPr>
          <p:cNvPr id="35844" name="AutoShape 4"/>
          <p:cNvSpPr>
            <a:spLocks noChangeArrowheads="1"/>
          </p:cNvSpPr>
          <p:nvPr/>
        </p:nvSpPr>
        <p:spPr bwMode="auto">
          <a:xfrm>
            <a:off x="6500812" y="3823281"/>
            <a:ext cx="142875" cy="146050"/>
          </a:xfrm>
          <a:prstGeom prst="flowChartConnector">
            <a:avLst/>
          </a:prstGeom>
          <a:solidFill>
            <a:schemeClr val="accent2">
              <a:lumMod val="75000"/>
            </a:schemeClr>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45" name="AutoShape 5"/>
          <p:cNvSpPr>
            <a:spLocks noChangeArrowheads="1"/>
          </p:cNvSpPr>
          <p:nvPr/>
        </p:nvSpPr>
        <p:spPr bwMode="auto">
          <a:xfrm>
            <a:off x="2900362" y="3967743"/>
            <a:ext cx="142875" cy="146050"/>
          </a:xfrm>
          <a:prstGeom prst="flowChartConnector">
            <a:avLst/>
          </a:prstGeom>
          <a:solidFill>
            <a:schemeClr val="accent2">
              <a:lumMod val="75000"/>
            </a:schemeClr>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46" name="AutoShape 6"/>
          <p:cNvSpPr>
            <a:spLocks noChangeArrowheads="1"/>
          </p:cNvSpPr>
          <p:nvPr/>
        </p:nvSpPr>
        <p:spPr bwMode="auto">
          <a:xfrm>
            <a:off x="6156325" y="2529468"/>
            <a:ext cx="142875" cy="146050"/>
          </a:xfrm>
          <a:prstGeom prst="flowChartConnector">
            <a:avLst/>
          </a:prstGeom>
          <a:solidFill>
            <a:schemeClr val="accent2">
              <a:lumMod val="75000"/>
            </a:schemeClr>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grpSp>
        <p:nvGrpSpPr>
          <p:cNvPr id="35847" name="Group 7"/>
          <p:cNvGrpSpPr/>
          <p:nvPr/>
        </p:nvGrpSpPr>
        <p:grpSpPr bwMode="auto">
          <a:xfrm>
            <a:off x="3749675" y="3680406"/>
            <a:ext cx="173037" cy="173037"/>
            <a:chOff x="1900" y="3589"/>
            <a:chExt cx="109" cy="109"/>
          </a:xfrm>
        </p:grpSpPr>
        <p:sp>
          <p:nvSpPr>
            <p:cNvPr id="35886" name="Line 8"/>
            <p:cNvSpPr>
              <a:spLocks noChangeShapeType="1"/>
            </p:cNvSpPr>
            <p:nvPr/>
          </p:nvSpPr>
          <p:spPr bwMode="auto">
            <a:xfrm>
              <a:off x="1900" y="3637"/>
              <a:ext cx="10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87" name="Line 9"/>
            <p:cNvSpPr>
              <a:spLocks noChangeShapeType="1"/>
            </p:cNvSpPr>
            <p:nvPr/>
          </p:nvSpPr>
          <p:spPr bwMode="auto">
            <a:xfrm rot="-5400000">
              <a:off x="1896" y="3644"/>
              <a:ext cx="10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grpSp>
      <p:grpSp>
        <p:nvGrpSpPr>
          <p:cNvPr id="35848" name="Group 10"/>
          <p:cNvGrpSpPr/>
          <p:nvPr/>
        </p:nvGrpSpPr>
        <p:grpSpPr bwMode="auto">
          <a:xfrm>
            <a:off x="4757737" y="2859668"/>
            <a:ext cx="173038" cy="173038"/>
            <a:chOff x="1900" y="3589"/>
            <a:chExt cx="109" cy="109"/>
          </a:xfrm>
        </p:grpSpPr>
        <p:sp>
          <p:nvSpPr>
            <p:cNvPr id="35884" name="Line 11"/>
            <p:cNvSpPr>
              <a:spLocks noChangeShapeType="1"/>
            </p:cNvSpPr>
            <p:nvPr/>
          </p:nvSpPr>
          <p:spPr bwMode="auto">
            <a:xfrm>
              <a:off x="1900" y="3637"/>
              <a:ext cx="10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85" name="Line 12"/>
            <p:cNvSpPr>
              <a:spLocks noChangeShapeType="1"/>
            </p:cNvSpPr>
            <p:nvPr/>
          </p:nvSpPr>
          <p:spPr bwMode="auto">
            <a:xfrm rot="-5400000">
              <a:off x="1896" y="3644"/>
              <a:ext cx="10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grpSp>
      <p:grpSp>
        <p:nvGrpSpPr>
          <p:cNvPr id="35849" name="Group 13"/>
          <p:cNvGrpSpPr/>
          <p:nvPr/>
        </p:nvGrpSpPr>
        <p:grpSpPr bwMode="auto">
          <a:xfrm>
            <a:off x="2698750" y="2888243"/>
            <a:ext cx="173037" cy="173038"/>
            <a:chOff x="1900" y="3589"/>
            <a:chExt cx="109" cy="109"/>
          </a:xfrm>
        </p:grpSpPr>
        <p:sp>
          <p:nvSpPr>
            <p:cNvPr id="35882" name="Line 14"/>
            <p:cNvSpPr>
              <a:spLocks noChangeShapeType="1"/>
            </p:cNvSpPr>
            <p:nvPr/>
          </p:nvSpPr>
          <p:spPr bwMode="auto">
            <a:xfrm>
              <a:off x="1900" y="3637"/>
              <a:ext cx="10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83" name="Line 15"/>
            <p:cNvSpPr>
              <a:spLocks noChangeShapeType="1"/>
            </p:cNvSpPr>
            <p:nvPr/>
          </p:nvSpPr>
          <p:spPr bwMode="auto">
            <a:xfrm rot="-5400000">
              <a:off x="1896" y="3644"/>
              <a:ext cx="10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grpSp>
      <p:grpSp>
        <p:nvGrpSpPr>
          <p:cNvPr id="35850" name="Group 16"/>
          <p:cNvGrpSpPr/>
          <p:nvPr/>
        </p:nvGrpSpPr>
        <p:grpSpPr bwMode="auto">
          <a:xfrm>
            <a:off x="2179097" y="1817080"/>
            <a:ext cx="5461000" cy="3455987"/>
            <a:chOff x="1028" y="1418"/>
            <a:chExt cx="3790" cy="2591"/>
          </a:xfrm>
        </p:grpSpPr>
        <p:sp>
          <p:nvSpPr>
            <p:cNvPr id="35851" name="AutoShape 17"/>
            <p:cNvSpPr>
              <a:spLocks noChangeArrowheads="1"/>
            </p:cNvSpPr>
            <p:nvPr/>
          </p:nvSpPr>
          <p:spPr bwMode="auto">
            <a:xfrm>
              <a:off x="1755" y="2737"/>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52" name="AutoShape 18"/>
            <p:cNvSpPr>
              <a:spLocks noChangeArrowheads="1"/>
            </p:cNvSpPr>
            <p:nvPr/>
          </p:nvSpPr>
          <p:spPr bwMode="auto">
            <a:xfrm>
              <a:off x="1633" y="2615"/>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53" name="AutoShape 19"/>
            <p:cNvSpPr>
              <a:spLocks noChangeArrowheads="1"/>
            </p:cNvSpPr>
            <p:nvPr/>
          </p:nvSpPr>
          <p:spPr bwMode="auto">
            <a:xfrm>
              <a:off x="1948" y="2630"/>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54" name="AutoShape 20"/>
            <p:cNvSpPr>
              <a:spLocks noChangeArrowheads="1"/>
            </p:cNvSpPr>
            <p:nvPr/>
          </p:nvSpPr>
          <p:spPr bwMode="auto">
            <a:xfrm>
              <a:off x="1797" y="2416"/>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55" name="AutoShape 21"/>
            <p:cNvSpPr>
              <a:spLocks noChangeArrowheads="1"/>
            </p:cNvSpPr>
            <p:nvPr/>
          </p:nvSpPr>
          <p:spPr bwMode="auto">
            <a:xfrm>
              <a:off x="1575" y="2757"/>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56" name="AutoShape 22"/>
            <p:cNvSpPr>
              <a:spLocks noChangeArrowheads="1"/>
            </p:cNvSpPr>
            <p:nvPr/>
          </p:nvSpPr>
          <p:spPr bwMode="auto">
            <a:xfrm>
              <a:off x="1662" y="2462"/>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57" name="AutoShape 23"/>
            <p:cNvSpPr>
              <a:spLocks noChangeArrowheads="1"/>
            </p:cNvSpPr>
            <p:nvPr/>
          </p:nvSpPr>
          <p:spPr bwMode="auto">
            <a:xfrm>
              <a:off x="3169" y="2124"/>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58" name="AutoShape 24"/>
            <p:cNvSpPr>
              <a:spLocks noChangeArrowheads="1"/>
            </p:cNvSpPr>
            <p:nvPr/>
          </p:nvSpPr>
          <p:spPr bwMode="auto">
            <a:xfrm>
              <a:off x="3100" y="2521"/>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59" name="AutoShape 25"/>
            <p:cNvSpPr>
              <a:spLocks noChangeArrowheads="1"/>
            </p:cNvSpPr>
            <p:nvPr/>
          </p:nvSpPr>
          <p:spPr bwMode="auto">
            <a:xfrm>
              <a:off x="3333" y="2298"/>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60" name="AutoShape 26"/>
            <p:cNvSpPr>
              <a:spLocks noChangeArrowheads="1"/>
            </p:cNvSpPr>
            <p:nvPr/>
          </p:nvSpPr>
          <p:spPr bwMode="auto">
            <a:xfrm>
              <a:off x="3010" y="2339"/>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61" name="AutoShape 27"/>
            <p:cNvSpPr>
              <a:spLocks noChangeArrowheads="1"/>
            </p:cNvSpPr>
            <p:nvPr/>
          </p:nvSpPr>
          <p:spPr bwMode="auto">
            <a:xfrm>
              <a:off x="3706" y="2372"/>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62" name="AutoShape 28"/>
            <p:cNvSpPr>
              <a:spLocks noChangeArrowheads="1"/>
            </p:cNvSpPr>
            <p:nvPr/>
          </p:nvSpPr>
          <p:spPr bwMode="auto">
            <a:xfrm>
              <a:off x="3594" y="2568"/>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63" name="Rectangle 29"/>
            <p:cNvSpPr>
              <a:spLocks noChangeArrowheads="1"/>
            </p:cNvSpPr>
            <p:nvPr/>
          </p:nvSpPr>
          <p:spPr bwMode="auto">
            <a:xfrm>
              <a:off x="1028" y="1418"/>
              <a:ext cx="3790" cy="259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64" name="AutoShape 30"/>
            <p:cNvSpPr>
              <a:spLocks noChangeArrowheads="1"/>
            </p:cNvSpPr>
            <p:nvPr/>
          </p:nvSpPr>
          <p:spPr bwMode="auto">
            <a:xfrm>
              <a:off x="1963" y="2828"/>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65" name="AutoShape 31"/>
            <p:cNvSpPr>
              <a:spLocks noChangeArrowheads="1"/>
            </p:cNvSpPr>
            <p:nvPr/>
          </p:nvSpPr>
          <p:spPr bwMode="auto">
            <a:xfrm>
              <a:off x="2359" y="2851"/>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66" name="AutoShape 32"/>
            <p:cNvSpPr>
              <a:spLocks noChangeArrowheads="1"/>
            </p:cNvSpPr>
            <p:nvPr/>
          </p:nvSpPr>
          <p:spPr bwMode="auto">
            <a:xfrm>
              <a:off x="3380" y="2616"/>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67" name="AutoShape 33"/>
            <p:cNvSpPr>
              <a:spLocks noChangeArrowheads="1"/>
            </p:cNvSpPr>
            <p:nvPr/>
          </p:nvSpPr>
          <p:spPr bwMode="auto">
            <a:xfrm>
              <a:off x="2819" y="2928"/>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68" name="AutoShape 34"/>
            <p:cNvSpPr>
              <a:spLocks noChangeArrowheads="1"/>
            </p:cNvSpPr>
            <p:nvPr/>
          </p:nvSpPr>
          <p:spPr bwMode="auto">
            <a:xfrm>
              <a:off x="2651" y="3242"/>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69" name="AutoShape 35"/>
            <p:cNvSpPr>
              <a:spLocks noChangeArrowheads="1"/>
            </p:cNvSpPr>
            <p:nvPr/>
          </p:nvSpPr>
          <p:spPr bwMode="auto">
            <a:xfrm>
              <a:off x="2746" y="3110"/>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70" name="AutoShape 36"/>
            <p:cNvSpPr>
              <a:spLocks noChangeArrowheads="1"/>
            </p:cNvSpPr>
            <p:nvPr/>
          </p:nvSpPr>
          <p:spPr bwMode="auto">
            <a:xfrm>
              <a:off x="2070" y="2452"/>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71" name="AutoShape 37"/>
            <p:cNvSpPr>
              <a:spLocks noChangeArrowheads="1"/>
            </p:cNvSpPr>
            <p:nvPr/>
          </p:nvSpPr>
          <p:spPr bwMode="auto">
            <a:xfrm>
              <a:off x="2466" y="3057"/>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72" name="AutoShape 38"/>
            <p:cNvSpPr>
              <a:spLocks noChangeArrowheads="1"/>
            </p:cNvSpPr>
            <p:nvPr/>
          </p:nvSpPr>
          <p:spPr bwMode="auto">
            <a:xfrm>
              <a:off x="2462" y="3208"/>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73" name="AutoShape 39"/>
            <p:cNvSpPr>
              <a:spLocks noChangeArrowheads="1"/>
            </p:cNvSpPr>
            <p:nvPr/>
          </p:nvSpPr>
          <p:spPr bwMode="auto">
            <a:xfrm>
              <a:off x="2082" y="2246"/>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74" name="AutoShape 40"/>
            <p:cNvSpPr>
              <a:spLocks noChangeArrowheads="1"/>
            </p:cNvSpPr>
            <p:nvPr/>
          </p:nvSpPr>
          <p:spPr bwMode="auto">
            <a:xfrm>
              <a:off x="2887" y="1942"/>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75" name="AutoShape 41"/>
            <p:cNvSpPr>
              <a:spLocks noChangeArrowheads="1"/>
            </p:cNvSpPr>
            <p:nvPr/>
          </p:nvSpPr>
          <p:spPr bwMode="auto">
            <a:xfrm>
              <a:off x="2001" y="2066"/>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76" name="AutoShape 42"/>
            <p:cNvSpPr>
              <a:spLocks noChangeArrowheads="1"/>
            </p:cNvSpPr>
            <p:nvPr/>
          </p:nvSpPr>
          <p:spPr bwMode="auto">
            <a:xfrm>
              <a:off x="2552" y="2752"/>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77" name="AutoShape 43"/>
            <p:cNvSpPr>
              <a:spLocks noChangeArrowheads="1"/>
            </p:cNvSpPr>
            <p:nvPr/>
          </p:nvSpPr>
          <p:spPr bwMode="auto">
            <a:xfrm>
              <a:off x="2656" y="2904"/>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78" name="AutoShape 44"/>
            <p:cNvSpPr>
              <a:spLocks noChangeArrowheads="1"/>
            </p:cNvSpPr>
            <p:nvPr/>
          </p:nvSpPr>
          <p:spPr bwMode="auto">
            <a:xfrm>
              <a:off x="2880" y="3217"/>
              <a:ext cx="90" cy="92"/>
            </a:xfrm>
            <a:prstGeom prst="flowChartConnector">
              <a:avLst/>
            </a:prstGeom>
            <a:solidFill>
              <a:schemeClr val="accent1"/>
            </a:solidFill>
            <a:ln w="9525">
              <a:solidFill>
                <a:schemeClr val="tx1"/>
              </a:solidFill>
              <a:round/>
            </a:ln>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79" name="Freeform 45"/>
            <p:cNvSpPr/>
            <p:nvPr/>
          </p:nvSpPr>
          <p:spPr bwMode="auto">
            <a:xfrm>
              <a:off x="2795" y="1842"/>
              <a:ext cx="1101" cy="1077"/>
            </a:xfrm>
            <a:custGeom>
              <a:avLst/>
              <a:gdLst>
                <a:gd name="T0" fmla="*/ 1041 w 1101"/>
                <a:gd name="T1" fmla="*/ 294 h 1077"/>
                <a:gd name="T2" fmla="*/ 1077 w 1101"/>
                <a:gd name="T3" fmla="*/ 485 h 1077"/>
                <a:gd name="T4" fmla="*/ 1013 w 1101"/>
                <a:gd name="T5" fmla="*/ 930 h 1077"/>
                <a:gd name="T6" fmla="*/ 950 w 1101"/>
                <a:gd name="T7" fmla="*/ 1040 h 1077"/>
                <a:gd name="T8" fmla="*/ 850 w 1101"/>
                <a:gd name="T9" fmla="*/ 1076 h 1077"/>
                <a:gd name="T10" fmla="*/ 595 w 1101"/>
                <a:gd name="T11" fmla="*/ 1040 h 1077"/>
                <a:gd name="T12" fmla="*/ 486 w 1101"/>
                <a:gd name="T13" fmla="*/ 994 h 1077"/>
                <a:gd name="T14" fmla="*/ 459 w 1101"/>
                <a:gd name="T15" fmla="*/ 985 h 1077"/>
                <a:gd name="T16" fmla="*/ 322 w 1101"/>
                <a:gd name="T17" fmla="*/ 876 h 1077"/>
                <a:gd name="T18" fmla="*/ 232 w 1101"/>
                <a:gd name="T19" fmla="*/ 803 h 1077"/>
                <a:gd name="T20" fmla="*/ 104 w 1101"/>
                <a:gd name="T21" fmla="*/ 685 h 1077"/>
                <a:gd name="T22" fmla="*/ 4 w 1101"/>
                <a:gd name="T23" fmla="*/ 449 h 1077"/>
                <a:gd name="T24" fmla="*/ 13 w 1101"/>
                <a:gd name="T25" fmla="*/ 130 h 1077"/>
                <a:gd name="T26" fmla="*/ 186 w 1101"/>
                <a:gd name="T27" fmla="*/ 21 h 1077"/>
                <a:gd name="T28" fmla="*/ 222 w 1101"/>
                <a:gd name="T29" fmla="*/ 12 h 1077"/>
                <a:gd name="T30" fmla="*/ 422 w 1101"/>
                <a:gd name="T31" fmla="*/ 30 h 1077"/>
                <a:gd name="T32" fmla="*/ 577 w 1101"/>
                <a:gd name="T33" fmla="*/ 103 h 1077"/>
                <a:gd name="T34" fmla="*/ 695 w 1101"/>
                <a:gd name="T35" fmla="*/ 176 h 1077"/>
                <a:gd name="T36" fmla="*/ 768 w 1101"/>
                <a:gd name="T37" fmla="*/ 203 h 1077"/>
                <a:gd name="T38" fmla="*/ 1041 w 1101"/>
                <a:gd name="T39" fmla="*/ 294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80" name="Freeform 46"/>
            <p:cNvSpPr/>
            <p:nvPr/>
          </p:nvSpPr>
          <p:spPr bwMode="auto">
            <a:xfrm>
              <a:off x="2291" y="2591"/>
              <a:ext cx="918" cy="965"/>
            </a:xfrm>
            <a:custGeom>
              <a:avLst/>
              <a:gdLst>
                <a:gd name="T0" fmla="*/ 227 w 918"/>
                <a:gd name="T1" fmla="*/ 818 h 965"/>
                <a:gd name="T2" fmla="*/ 191 w 918"/>
                <a:gd name="T3" fmla="*/ 782 h 965"/>
                <a:gd name="T4" fmla="*/ 118 w 918"/>
                <a:gd name="T5" fmla="*/ 737 h 965"/>
                <a:gd name="T6" fmla="*/ 81 w 918"/>
                <a:gd name="T7" fmla="*/ 700 h 965"/>
                <a:gd name="T8" fmla="*/ 45 w 918"/>
                <a:gd name="T9" fmla="*/ 646 h 965"/>
                <a:gd name="T10" fmla="*/ 0 w 918"/>
                <a:gd name="T11" fmla="*/ 464 h 965"/>
                <a:gd name="T12" fmla="*/ 9 w 918"/>
                <a:gd name="T13" fmla="*/ 200 h 965"/>
                <a:gd name="T14" fmla="*/ 81 w 918"/>
                <a:gd name="T15" fmla="*/ 136 h 965"/>
                <a:gd name="T16" fmla="*/ 291 w 918"/>
                <a:gd name="T17" fmla="*/ 0 h 965"/>
                <a:gd name="T18" fmla="*/ 391 w 918"/>
                <a:gd name="T19" fmla="*/ 18 h 965"/>
                <a:gd name="T20" fmla="*/ 491 w 918"/>
                <a:gd name="T21" fmla="*/ 55 h 965"/>
                <a:gd name="T22" fmla="*/ 691 w 918"/>
                <a:gd name="T23" fmla="*/ 164 h 965"/>
                <a:gd name="T24" fmla="*/ 718 w 918"/>
                <a:gd name="T25" fmla="*/ 218 h 965"/>
                <a:gd name="T26" fmla="*/ 745 w 918"/>
                <a:gd name="T27" fmla="*/ 246 h 965"/>
                <a:gd name="T28" fmla="*/ 809 w 918"/>
                <a:gd name="T29" fmla="*/ 346 h 965"/>
                <a:gd name="T30" fmla="*/ 845 w 918"/>
                <a:gd name="T31" fmla="*/ 427 h 965"/>
                <a:gd name="T32" fmla="*/ 863 w 918"/>
                <a:gd name="T33" fmla="*/ 518 h 965"/>
                <a:gd name="T34" fmla="*/ 890 w 918"/>
                <a:gd name="T35" fmla="*/ 609 h 965"/>
                <a:gd name="T36" fmla="*/ 918 w 918"/>
                <a:gd name="T37" fmla="*/ 773 h 965"/>
                <a:gd name="T38" fmla="*/ 827 w 918"/>
                <a:gd name="T39" fmla="*/ 927 h 965"/>
                <a:gd name="T40" fmla="*/ 754 w 918"/>
                <a:gd name="T41" fmla="*/ 946 h 965"/>
                <a:gd name="T42" fmla="*/ 718 w 918"/>
                <a:gd name="T43" fmla="*/ 955 h 965"/>
                <a:gd name="T44" fmla="*/ 354 w 918"/>
                <a:gd name="T45" fmla="*/ 937 h 965"/>
                <a:gd name="T46" fmla="*/ 245 w 918"/>
                <a:gd name="T47" fmla="*/ 864 h 965"/>
                <a:gd name="T48" fmla="*/ 227 w 918"/>
                <a:gd name="T49" fmla="*/ 81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sp>
          <p:nvSpPr>
            <p:cNvPr id="35881" name="Freeform 47"/>
            <p:cNvSpPr/>
            <p:nvPr/>
          </p:nvSpPr>
          <p:spPr bwMode="auto">
            <a:xfrm>
              <a:off x="1473" y="1882"/>
              <a:ext cx="869" cy="1173"/>
            </a:xfrm>
            <a:custGeom>
              <a:avLst/>
              <a:gdLst>
                <a:gd name="T0" fmla="*/ 754 w 869"/>
                <a:gd name="T1" fmla="*/ 791 h 1173"/>
                <a:gd name="T2" fmla="*/ 699 w 869"/>
                <a:gd name="T3" fmla="*/ 945 h 1173"/>
                <a:gd name="T4" fmla="*/ 654 w 869"/>
                <a:gd name="T5" fmla="*/ 1082 h 1173"/>
                <a:gd name="T6" fmla="*/ 636 w 869"/>
                <a:gd name="T7" fmla="*/ 1136 h 1173"/>
                <a:gd name="T8" fmla="*/ 618 w 869"/>
                <a:gd name="T9" fmla="*/ 1155 h 1173"/>
                <a:gd name="T10" fmla="*/ 563 w 869"/>
                <a:gd name="T11" fmla="*/ 1173 h 1173"/>
                <a:gd name="T12" fmla="*/ 290 w 869"/>
                <a:gd name="T13" fmla="*/ 1145 h 1173"/>
                <a:gd name="T14" fmla="*/ 127 w 869"/>
                <a:gd name="T15" fmla="*/ 1073 h 1173"/>
                <a:gd name="T16" fmla="*/ 36 w 869"/>
                <a:gd name="T17" fmla="*/ 1009 h 1173"/>
                <a:gd name="T18" fmla="*/ 0 w 869"/>
                <a:gd name="T19" fmla="*/ 955 h 1173"/>
                <a:gd name="T20" fmla="*/ 81 w 869"/>
                <a:gd name="T21" fmla="*/ 500 h 1173"/>
                <a:gd name="T22" fmla="*/ 109 w 869"/>
                <a:gd name="T23" fmla="*/ 236 h 1173"/>
                <a:gd name="T24" fmla="*/ 154 w 869"/>
                <a:gd name="T25" fmla="*/ 164 h 1173"/>
                <a:gd name="T26" fmla="*/ 200 w 869"/>
                <a:gd name="T27" fmla="*/ 136 h 1173"/>
                <a:gd name="T28" fmla="*/ 309 w 869"/>
                <a:gd name="T29" fmla="*/ 73 h 1173"/>
                <a:gd name="T30" fmla="*/ 354 w 869"/>
                <a:gd name="T31" fmla="*/ 45 h 1173"/>
                <a:gd name="T32" fmla="*/ 427 w 869"/>
                <a:gd name="T33" fmla="*/ 0 h 1173"/>
                <a:gd name="T34" fmla="*/ 709 w 869"/>
                <a:gd name="T35" fmla="*/ 82 h 1173"/>
                <a:gd name="T36" fmla="*/ 809 w 869"/>
                <a:gd name="T37" fmla="*/ 200 h 1173"/>
                <a:gd name="T38" fmla="*/ 845 w 869"/>
                <a:gd name="T39" fmla="*/ 255 h 1173"/>
                <a:gd name="T40" fmla="*/ 863 w 869"/>
                <a:gd name="T41" fmla="*/ 309 h 1173"/>
                <a:gd name="T42" fmla="*/ 790 w 869"/>
                <a:gd name="T43" fmla="*/ 709 h 1173"/>
                <a:gd name="T44" fmla="*/ 754 w 869"/>
                <a:gd name="T45" fmla="*/ 791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0">
                <a:latin typeface="方正兰亭中黑_GBK" panose="02000000000000000000" pitchFamily="2" charset="-122"/>
                <a:ea typeface="方正兰亭中黑_GBK" panose="02000000000000000000" pitchFamily="2" charset="-122"/>
              </a:endParaRPr>
            </a:p>
          </p:txBody>
        </p:sp>
      </p:grpSp>
      <p:sp>
        <p:nvSpPr>
          <p:cNvPr id="49" name="Rectangle 6"/>
          <p:cNvSpPr txBox="1">
            <a:spLocks noChangeArrowheads="1"/>
          </p:cNvSpPr>
          <p:nvPr/>
        </p:nvSpPr>
        <p:spPr bwMode="auto">
          <a:xfrm>
            <a:off x="528321" y="188640"/>
            <a:ext cx="8001000" cy="636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rtl="0" eaLnBrk="0" fontAlgn="base" hangingPunct="0">
              <a:spcBef>
                <a:spcPct val="0"/>
              </a:spcBef>
              <a:spcAft>
                <a:spcPct val="0"/>
              </a:spcAft>
              <a:defRPr sz="3800">
                <a:solidFill>
                  <a:srgbClr val="1557AE"/>
                </a:solidFill>
                <a:latin typeface="方正兰亭中黑_GBK" panose="02000000000000000000" pitchFamily="2" charset="-122"/>
                <a:ea typeface="方正兰亭中黑_GBK" panose="02000000000000000000" pitchFamily="2" charset="-122"/>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eaLnBrk="1" hangingPunct="1">
              <a:defRPr/>
            </a:pPr>
            <a:r>
              <a:rPr lang="en-US" altLang="zh-CN" sz="3600" b="0" kern="0"/>
              <a:t>2.2  </a:t>
            </a:r>
            <a:r>
              <a:rPr lang="zh-CN" altLang="en-US" sz="3600" b="0" kern="0"/>
              <a:t>数据清洗</a:t>
            </a:r>
            <a:endParaRPr lang="zh-CN" altLang="en-US" sz="3600" b="0" kern="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8" name="Rectangle 6"/>
          <p:cNvSpPr>
            <a:spLocks noGrp="1" noChangeArrowheads="1"/>
          </p:cNvSpPr>
          <p:nvPr>
            <p:ph type="title"/>
          </p:nvPr>
        </p:nvSpPr>
        <p:spPr/>
        <p:txBody>
          <a:bodyPr/>
          <a:lstStyle/>
          <a:p>
            <a:pPr eaLnBrk="1" hangingPunct="1">
              <a:defRPr/>
            </a:pPr>
            <a:r>
              <a:rPr lang="zh-CN" altLang="en-US" sz="3600" dirty="0"/>
              <a:t>本章内容</a:t>
            </a:r>
            <a:endParaRPr lang="zh-CN" altLang="en-US" sz="3600" dirty="0"/>
          </a:p>
        </p:txBody>
      </p:sp>
      <p:sp>
        <p:nvSpPr>
          <p:cNvPr id="6147" name="Rectangle 7"/>
          <p:cNvSpPr>
            <a:spLocks noGrp="1" noChangeArrowheads="1"/>
          </p:cNvSpPr>
          <p:nvPr>
            <p:ph type="body" idx="1"/>
          </p:nvPr>
        </p:nvSpPr>
        <p:spPr>
          <a:xfrm>
            <a:off x="755650" y="1628775"/>
            <a:ext cx="7780338" cy="3024188"/>
          </a:xfrm>
        </p:spPr>
        <p:txBody>
          <a:bodyPr/>
          <a:lstStyle/>
          <a:p>
            <a:pPr marL="0" indent="0" eaLnBrk="1" hangingPunct="1">
              <a:lnSpc>
                <a:spcPct val="120000"/>
              </a:lnSpc>
              <a:spcBef>
                <a:spcPts val="600"/>
              </a:spcBef>
              <a:buNone/>
            </a:pPr>
            <a:r>
              <a:rPr lang="en-US" altLang="zh-CN" sz="2800" b="0" dirty="0">
                <a:solidFill>
                  <a:srgbClr val="1557AE"/>
                </a:solidFill>
                <a:cs typeface="Times New Roman" panose="02020503050405090304" pitchFamily="18" charset="0"/>
              </a:rPr>
              <a:t>2.0  </a:t>
            </a:r>
            <a:r>
              <a:rPr lang="zh-CN" altLang="en-US" sz="2800" b="0" dirty="0">
                <a:solidFill>
                  <a:srgbClr val="1557AE"/>
                </a:solidFill>
                <a:cs typeface="Times New Roman" panose="02020503050405090304" pitchFamily="18" charset="0"/>
              </a:rPr>
              <a:t>认识数据</a:t>
            </a:r>
            <a:endParaRPr lang="en-US" altLang="zh-CN" sz="2800" b="0" dirty="0">
              <a:solidFill>
                <a:srgbClr val="1557AE"/>
              </a:solidFill>
              <a:cs typeface="Times New Roman" panose="02020503050405090304" pitchFamily="18" charset="0"/>
            </a:endParaRPr>
          </a:p>
          <a:p>
            <a:pPr marL="0" indent="0" eaLnBrk="1" hangingPunct="1">
              <a:lnSpc>
                <a:spcPct val="120000"/>
              </a:lnSpc>
              <a:spcBef>
                <a:spcPts val="600"/>
              </a:spcBef>
              <a:buNone/>
            </a:pPr>
            <a:r>
              <a:rPr lang="en-US" altLang="zh-CN" sz="2800" b="0" dirty="0">
                <a:solidFill>
                  <a:srgbClr val="1557AE"/>
                </a:solidFill>
                <a:cs typeface="Times New Roman" panose="02020503050405090304" pitchFamily="18" charset="0"/>
              </a:rPr>
              <a:t>2.1  </a:t>
            </a:r>
            <a:r>
              <a:rPr lang="zh-CN" altLang="zh-CN" sz="2800" b="0" dirty="0">
                <a:solidFill>
                  <a:srgbClr val="1557AE"/>
                </a:solidFill>
                <a:cs typeface="Times New Roman" panose="02020503050405090304" pitchFamily="18" charset="0"/>
              </a:rPr>
              <a:t>为什么要预处理数据</a:t>
            </a:r>
            <a:endParaRPr lang="zh-CN" altLang="zh-CN" sz="2800" b="0" dirty="0">
              <a:solidFill>
                <a:srgbClr val="1557AE"/>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Times New Roman" panose="02020503050405090304" pitchFamily="18" charset="0"/>
              </a:rPr>
              <a:t>2.2  </a:t>
            </a:r>
            <a:r>
              <a:rPr lang="zh-CN" altLang="zh-CN" sz="2800" b="0" dirty="0">
                <a:solidFill>
                  <a:srgbClr val="1557AE"/>
                </a:solidFill>
                <a:cs typeface="Times New Roman" panose="02020503050405090304" pitchFamily="18" charset="0"/>
              </a:rPr>
              <a:t>数据清理</a:t>
            </a:r>
            <a:endParaRPr lang="zh-CN" altLang="zh-CN" sz="2800" b="0" dirty="0">
              <a:solidFill>
                <a:srgbClr val="1557AE"/>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FF0000"/>
                </a:solidFill>
                <a:cs typeface="Times New Roman" panose="02020503050405090304" pitchFamily="18" charset="0"/>
              </a:rPr>
              <a:t>2.3  </a:t>
            </a:r>
            <a:r>
              <a:rPr lang="zh-CN" altLang="zh-CN" sz="2800" b="0" dirty="0">
                <a:solidFill>
                  <a:srgbClr val="FF0000"/>
                </a:solidFill>
                <a:cs typeface="Times New Roman" panose="02020503050405090304" pitchFamily="18" charset="0"/>
              </a:rPr>
              <a:t>数据集成和变换</a:t>
            </a:r>
            <a:endParaRPr lang="zh-CN" altLang="zh-CN" sz="2800" b="0" dirty="0">
              <a:solidFill>
                <a:srgbClr val="FF0000"/>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Times New Roman" panose="02020503050405090304" pitchFamily="18" charset="0"/>
              </a:rPr>
              <a:t>2.4  </a:t>
            </a:r>
            <a:r>
              <a:rPr lang="zh-CN" altLang="zh-CN" sz="2800" b="0" dirty="0">
                <a:solidFill>
                  <a:srgbClr val="1557AE"/>
                </a:solidFill>
                <a:cs typeface="Times New Roman" panose="02020503050405090304" pitchFamily="18" charset="0"/>
              </a:rPr>
              <a:t>数据归约</a:t>
            </a:r>
            <a:endParaRPr lang="zh-CN" altLang="zh-CN" sz="2800" b="0" dirty="0">
              <a:solidFill>
                <a:srgbClr val="1557AE"/>
              </a:solidFill>
              <a:cs typeface="Times New Roman" panose="02020503050405090304" pitchFamily="18" charset="0"/>
            </a:endParaRPr>
          </a:p>
          <a:p>
            <a:pPr marL="0" indent="0" eaLnBrk="1" hangingPunct="1">
              <a:lnSpc>
                <a:spcPct val="120000"/>
              </a:lnSpc>
              <a:spcBef>
                <a:spcPts val="600"/>
              </a:spcBef>
              <a:buFont typeface="Wingdings" panose="05000000000000000000" pitchFamily="2" charset="2"/>
              <a:buNone/>
            </a:pPr>
            <a:endParaRPr lang="zh-CN" altLang="en-US" sz="2800" b="0" dirty="0"/>
          </a:p>
          <a:p>
            <a:pPr marL="0" indent="0" eaLnBrk="1" hangingPunct="1">
              <a:lnSpc>
                <a:spcPct val="150000"/>
              </a:lnSpc>
              <a:buFont typeface="Wingdings" panose="05000000000000000000" pitchFamily="2" charset="2"/>
              <a:buNone/>
            </a:pPr>
            <a:endParaRPr lang="zh-CN" altLang="en-US" b="0"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txBox="1">
            <a:spLocks noChangeArrowheads="1"/>
          </p:cNvSpPr>
          <p:nvPr/>
        </p:nvSpPr>
        <p:spPr bwMode="auto">
          <a:xfrm>
            <a:off x="780390" y="116632"/>
            <a:ext cx="7583219" cy="70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2.3  </a:t>
            </a:r>
            <a:r>
              <a:rPr lang="zh-CN" altLang="en-US" sz="3600" b="0" dirty="0">
                <a:solidFill>
                  <a:srgbClr val="1557AE"/>
                </a:solidFill>
                <a:latin typeface="微软雅黑" charset="0"/>
                <a:ea typeface="微软雅黑" charset="0"/>
                <a:cs typeface="微软雅黑" charset="0"/>
              </a:rPr>
              <a:t>数据集成和变换</a:t>
            </a:r>
            <a:endParaRPr lang="zh-CN" altLang="en-US" sz="3600" b="0" dirty="0">
              <a:solidFill>
                <a:srgbClr val="1557AE"/>
              </a:solidFill>
              <a:latin typeface="微软雅黑" charset="0"/>
              <a:ea typeface="微软雅黑" charset="0"/>
              <a:cs typeface="微软雅黑" charset="0"/>
            </a:endParaRPr>
          </a:p>
        </p:txBody>
      </p:sp>
      <p:sp>
        <p:nvSpPr>
          <p:cNvPr id="6" name="Rectangle 3"/>
          <p:cNvSpPr txBox="1">
            <a:spLocks noChangeArrowheads="1"/>
          </p:cNvSpPr>
          <p:nvPr/>
        </p:nvSpPr>
        <p:spPr bwMode="auto">
          <a:xfrm>
            <a:off x="387400" y="1268760"/>
            <a:ext cx="850508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数据集成：</a:t>
            </a:r>
            <a:r>
              <a:rPr lang="zh-CN" altLang="en-US" sz="2800" b="0" dirty="0">
                <a:solidFill>
                  <a:srgbClr val="1557AE"/>
                </a:solidFill>
                <a:latin typeface="微软雅黑" charset="0"/>
                <a:ea typeface="微软雅黑" charset="0"/>
                <a:cs typeface="微软雅黑" charset="0"/>
              </a:rPr>
              <a:t>将多个数据源中的数据整合到一个一致的存储中</a:t>
            </a:r>
            <a:endParaRPr lang="zh-CN" altLang="en-US" sz="2800" b="0" dirty="0">
              <a:solidFill>
                <a:srgbClr val="1557AE"/>
              </a:solidFill>
              <a:latin typeface="微软雅黑" charset="0"/>
              <a:ea typeface="微软雅黑" charset="0"/>
              <a:cs typeface="微软雅黑" charset="0"/>
            </a:endParaRPr>
          </a:p>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模式集成：</a:t>
            </a:r>
            <a:r>
              <a:rPr lang="zh-CN" altLang="en-US" sz="2800" b="0" dirty="0">
                <a:solidFill>
                  <a:srgbClr val="1557AE"/>
                </a:solidFill>
                <a:latin typeface="微软雅黑" charset="0"/>
                <a:ea typeface="微软雅黑" charset="0"/>
                <a:cs typeface="微软雅黑" charset="0"/>
              </a:rPr>
              <a:t>整合不同数据源中的</a:t>
            </a:r>
            <a:r>
              <a:rPr lang="zh-CN" altLang="en-US" sz="2800" b="0" dirty="0">
                <a:solidFill>
                  <a:srgbClr val="FF0000"/>
                </a:solidFill>
                <a:latin typeface="微软雅黑" charset="0"/>
                <a:ea typeface="微软雅黑" charset="0"/>
                <a:cs typeface="微软雅黑" charset="0"/>
              </a:rPr>
              <a:t>元数据？</a:t>
            </a:r>
            <a:endParaRPr lang="en-US" altLang="zh-CN" sz="2800" b="0" dirty="0">
              <a:solidFill>
                <a:srgbClr val="FF0000"/>
              </a:solidFill>
              <a:latin typeface="微软雅黑" charset="0"/>
              <a:ea typeface="微软雅黑" charset="0"/>
              <a:cs typeface="微软雅黑" charset="0"/>
            </a:endParaRPr>
          </a:p>
          <a:p>
            <a:pPr lvl="1" eaLnBrk="1" hangingPunct="1">
              <a:lnSpc>
                <a:spcPct val="120000"/>
              </a:lnSpc>
              <a:buClrTx/>
              <a:buFont typeface="Wingdings" panose="05000000000000000000" pitchFamily="2" charset="2"/>
              <a:buChar char="Ø"/>
            </a:pPr>
            <a:r>
              <a:rPr lang="en-US" altLang="zh-CN" sz="2000" b="0" dirty="0">
                <a:solidFill>
                  <a:srgbClr val="1557AE"/>
                </a:solidFill>
                <a:latin typeface="微软雅黑" charset="0"/>
                <a:ea typeface="微软雅黑" charset="0"/>
                <a:cs typeface="微软雅黑" charset="0"/>
              </a:rPr>
              <a:t>e.g. </a:t>
            </a:r>
            <a:r>
              <a:rPr lang="en-US" altLang="zh-CN" sz="2000" b="0" dirty="0" err="1">
                <a:solidFill>
                  <a:srgbClr val="1557AE"/>
                </a:solidFill>
                <a:latin typeface="微软雅黑" charset="0"/>
                <a:ea typeface="微软雅黑" charset="0"/>
                <a:cs typeface="微软雅黑" charset="0"/>
              </a:rPr>
              <a:t>A.cust_id</a:t>
            </a:r>
            <a:r>
              <a:rPr lang="en-US" altLang="zh-CN" sz="2000" b="0" dirty="0">
                <a:solidFill>
                  <a:srgbClr val="1557AE"/>
                </a:solidFill>
                <a:latin typeface="微软雅黑" charset="0"/>
                <a:ea typeface="微软雅黑" charset="0"/>
                <a:cs typeface="微软雅黑" charset="0"/>
              </a:rPr>
              <a:t> = </a:t>
            </a:r>
            <a:r>
              <a:rPr lang="en-US" altLang="zh-CN" sz="2000" b="0" dirty="0" err="1">
                <a:solidFill>
                  <a:srgbClr val="1557AE"/>
                </a:solidFill>
                <a:latin typeface="微软雅黑" charset="0"/>
                <a:ea typeface="微软雅黑" charset="0"/>
                <a:cs typeface="微软雅黑" charset="0"/>
              </a:rPr>
              <a:t>B.customer_no</a:t>
            </a:r>
            <a:endParaRPr lang="zh-CN" altLang="en-US" sz="2000" b="0" dirty="0">
              <a:solidFill>
                <a:srgbClr val="1557AE"/>
              </a:solidFill>
              <a:latin typeface="微软雅黑" charset="0"/>
              <a:ea typeface="微软雅黑" charset="0"/>
              <a:cs typeface="微软雅黑" charset="0"/>
            </a:endParaRPr>
          </a:p>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实体识别问题：</a:t>
            </a:r>
            <a:endParaRPr lang="en-US" altLang="zh-CN" sz="2800" b="0" dirty="0">
              <a:solidFill>
                <a:srgbClr val="FF0000"/>
              </a:solidFill>
              <a:latin typeface="微软雅黑" charset="0"/>
              <a:ea typeface="微软雅黑" charset="0"/>
              <a:cs typeface="微软雅黑" charset="0"/>
            </a:endParaRPr>
          </a:p>
          <a:p>
            <a:pPr lvl="1" eaLnBrk="1" hangingPunct="1">
              <a:lnSpc>
                <a:spcPct val="120000"/>
              </a:lnSpc>
              <a:buClrTx/>
              <a:buFont typeface="Wingdings" panose="05000000000000000000" pitchFamily="2" charset="2"/>
              <a:buChar char="Ø"/>
            </a:pPr>
            <a:r>
              <a:rPr lang="zh-CN" altLang="en-US" sz="2000" b="0" dirty="0">
                <a:solidFill>
                  <a:srgbClr val="1557AE"/>
                </a:solidFill>
                <a:latin typeface="微软雅黑" charset="0"/>
                <a:ea typeface="微软雅黑" charset="0"/>
                <a:cs typeface="微软雅黑" charset="0"/>
              </a:rPr>
              <a:t>匹配来自不同数据源的现实世界的实体 </a:t>
            </a:r>
            <a:endParaRPr lang="en-US" altLang="zh-CN" sz="2000" b="0" dirty="0">
              <a:solidFill>
                <a:srgbClr val="1557AE"/>
              </a:solidFill>
              <a:latin typeface="微软雅黑" charset="0"/>
              <a:ea typeface="微软雅黑" charset="0"/>
              <a:cs typeface="微软雅黑" charset="0"/>
            </a:endParaRPr>
          </a:p>
          <a:p>
            <a:pPr lvl="1" eaLnBrk="1" hangingPunct="1">
              <a:lnSpc>
                <a:spcPct val="120000"/>
              </a:lnSpc>
              <a:buClrTx/>
              <a:buFont typeface="Wingdings" panose="05000000000000000000" pitchFamily="2" charset="2"/>
              <a:buChar char="Ø"/>
            </a:pPr>
            <a:r>
              <a:rPr lang="en-US" altLang="zh-CN" sz="2000" b="0" dirty="0">
                <a:solidFill>
                  <a:srgbClr val="1557AE"/>
                </a:solidFill>
                <a:latin typeface="微软雅黑" charset="0"/>
                <a:ea typeface="微软雅黑" charset="0"/>
                <a:cs typeface="微软雅黑" charset="0"/>
              </a:rPr>
              <a:t>e.g. Bill Clinton = William Clinton</a:t>
            </a:r>
            <a:endParaRPr lang="en-US" altLang="zh-CN" sz="2000" b="0" dirty="0">
              <a:solidFill>
                <a:srgbClr val="1557AE"/>
              </a:solidFill>
              <a:latin typeface="微软雅黑" charset="0"/>
              <a:ea typeface="微软雅黑" charset="0"/>
              <a:cs typeface="微软雅黑" charset="0"/>
            </a:endParaRPr>
          </a:p>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检测并解决数据值的冲突</a:t>
            </a:r>
            <a:endParaRPr lang="zh-CN" altLang="en-US" sz="2800" b="0" dirty="0">
              <a:solidFill>
                <a:srgbClr val="FF0000"/>
              </a:solidFill>
              <a:latin typeface="微软雅黑" charset="0"/>
              <a:ea typeface="微软雅黑" charset="0"/>
              <a:cs typeface="微软雅黑" charset="0"/>
            </a:endParaRPr>
          </a:p>
          <a:p>
            <a:pPr lvl="1" eaLnBrk="1" hangingPunct="1">
              <a:lnSpc>
                <a:spcPct val="120000"/>
              </a:lnSpc>
              <a:buClrTx/>
              <a:buFont typeface="Wingdings" panose="05000000000000000000" pitchFamily="2" charset="2"/>
              <a:buChar char="Ø"/>
            </a:pPr>
            <a:r>
              <a:rPr lang="zh-CN" altLang="en-US" sz="2000" b="0" dirty="0">
                <a:solidFill>
                  <a:srgbClr val="1557AE"/>
                </a:solidFill>
                <a:latin typeface="微软雅黑" charset="0"/>
                <a:ea typeface="微软雅黑" charset="0"/>
                <a:cs typeface="微软雅黑" charset="0"/>
              </a:rPr>
              <a:t>对现实世界中的同一实体，来自不同数据源的属性值可能是不同的</a:t>
            </a:r>
            <a:endParaRPr lang="zh-CN" altLang="en-US" sz="2000" b="0" dirty="0">
              <a:solidFill>
                <a:srgbClr val="1557AE"/>
              </a:solidFill>
              <a:latin typeface="微软雅黑" charset="0"/>
              <a:ea typeface="微软雅黑" charset="0"/>
              <a:cs typeface="微软雅黑" charset="0"/>
            </a:endParaRPr>
          </a:p>
          <a:p>
            <a:pPr lvl="1" eaLnBrk="1" hangingPunct="1">
              <a:lnSpc>
                <a:spcPct val="120000"/>
              </a:lnSpc>
              <a:buClrTx/>
              <a:buFont typeface="Wingdings" panose="05000000000000000000" pitchFamily="2" charset="2"/>
              <a:buChar char="Ø"/>
            </a:pPr>
            <a:r>
              <a:rPr lang="zh-CN" altLang="en-US" sz="2000" b="0" dirty="0">
                <a:solidFill>
                  <a:srgbClr val="1557AE"/>
                </a:solidFill>
                <a:latin typeface="微软雅黑" charset="0"/>
                <a:ea typeface="微软雅黑" charset="0"/>
                <a:cs typeface="微软雅黑" charset="0"/>
              </a:rPr>
              <a:t>可能的原因：不同的数据表示，不同的度量等</a:t>
            </a:r>
            <a:endParaRPr lang="zh-CN" altLang="en-US" sz="2000" b="0" dirty="0">
              <a:solidFill>
                <a:srgbClr val="1557AE"/>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251520" y="1166019"/>
            <a:ext cx="8623687"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数据集成中的冗余数据处理</a:t>
            </a:r>
            <a:endParaRPr lang="zh-CN" altLang="en-US" sz="2800" b="0" dirty="0">
              <a:solidFill>
                <a:srgbClr val="FF0000"/>
              </a:solidFill>
              <a:latin typeface="微软雅黑" charset="0"/>
              <a:ea typeface="微软雅黑" charset="0"/>
              <a:cs typeface="微软雅黑" charset="0"/>
            </a:endParaRPr>
          </a:p>
          <a:p>
            <a:pPr lvl="1" eaLnBrk="1" hangingPunct="1">
              <a:lnSpc>
                <a:spcPct val="120000"/>
              </a:lnSpc>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集成多个数据库时，经常会出现冗余数据</a:t>
            </a:r>
            <a:endParaRPr lang="zh-CN" altLang="en-US" sz="2400" b="0" dirty="0">
              <a:solidFill>
                <a:srgbClr val="FF0000"/>
              </a:solidFill>
              <a:latin typeface="微软雅黑" charset="0"/>
              <a:ea typeface="微软雅黑" charset="0"/>
              <a:cs typeface="微软雅黑" charset="0"/>
            </a:endParaRPr>
          </a:p>
          <a:p>
            <a:pPr marL="909320" lvl="2" indent="0" eaLnBrk="1" hangingPunct="1">
              <a:lnSpc>
                <a:spcPct val="120000"/>
              </a:lnSpc>
              <a:buClrTx/>
              <a:buSzPct val="100000"/>
              <a:buNone/>
              <a:defRPr/>
            </a:pPr>
            <a:r>
              <a:rPr lang="zh-CN" altLang="en-US" sz="2100" b="0" dirty="0">
                <a:solidFill>
                  <a:srgbClr val="FF0000"/>
                </a:solidFill>
                <a:latin typeface="微软雅黑" charset="0"/>
                <a:ea typeface="微软雅黑" charset="0"/>
                <a:cs typeface="微软雅黑" charset="0"/>
              </a:rPr>
              <a:t>对象识别：</a:t>
            </a:r>
            <a:r>
              <a:rPr lang="zh-CN" altLang="en-US" sz="2100" b="0" dirty="0">
                <a:solidFill>
                  <a:srgbClr val="1557AE"/>
                </a:solidFill>
                <a:latin typeface="微软雅黑" charset="0"/>
                <a:ea typeface="微软雅黑" charset="0"/>
                <a:cs typeface="微软雅黑" charset="0"/>
              </a:rPr>
              <a:t>同一属性或对象在不同数据库中会有不同字段名</a:t>
            </a:r>
            <a:endParaRPr lang="zh-CN" altLang="en-US" sz="2100" b="0" dirty="0">
              <a:solidFill>
                <a:srgbClr val="1557AE"/>
              </a:solidFill>
              <a:latin typeface="微软雅黑" charset="0"/>
              <a:ea typeface="微软雅黑" charset="0"/>
              <a:cs typeface="微软雅黑" charset="0"/>
            </a:endParaRPr>
          </a:p>
          <a:p>
            <a:pPr marL="909320" lvl="2" indent="0" eaLnBrk="1" hangingPunct="1">
              <a:lnSpc>
                <a:spcPct val="120000"/>
              </a:lnSpc>
              <a:buClrTx/>
              <a:buSzPct val="100000"/>
              <a:buNone/>
              <a:defRPr/>
            </a:pPr>
            <a:r>
              <a:rPr lang="zh-CN" altLang="en-US" sz="2100" b="0" dirty="0">
                <a:solidFill>
                  <a:srgbClr val="FF0000"/>
                </a:solidFill>
                <a:latin typeface="微软雅黑" charset="0"/>
                <a:ea typeface="微软雅黑" charset="0"/>
                <a:cs typeface="微软雅黑" charset="0"/>
              </a:rPr>
              <a:t>可导出数据：</a:t>
            </a:r>
            <a:r>
              <a:rPr lang="zh-CN" altLang="en-US" sz="2100" b="0" dirty="0">
                <a:solidFill>
                  <a:srgbClr val="1557AE"/>
                </a:solidFill>
                <a:latin typeface="微软雅黑" charset="0"/>
                <a:ea typeface="微软雅黑" charset="0"/>
                <a:cs typeface="微软雅黑" charset="0"/>
              </a:rPr>
              <a:t>一个属性可以由另外一个表导出，如“年薪”</a:t>
            </a:r>
            <a:endParaRPr lang="zh-CN" altLang="en-US" sz="2100" b="0" dirty="0">
              <a:solidFill>
                <a:srgbClr val="1557AE"/>
              </a:solidFill>
              <a:latin typeface="微软雅黑" charset="0"/>
              <a:ea typeface="微软雅黑" charset="0"/>
              <a:cs typeface="微软雅黑" charset="0"/>
            </a:endParaRPr>
          </a:p>
          <a:p>
            <a:pPr lvl="1" eaLnBrk="1" hangingPunct="1">
              <a:lnSpc>
                <a:spcPct val="120000"/>
              </a:lnSpc>
              <a:spcBef>
                <a:spcPts val="600"/>
              </a:spcBef>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有些冗余可以被相关分析检测到</a:t>
            </a:r>
            <a:endParaRPr lang="zh-CN" altLang="en-US" sz="2400" b="0" dirty="0">
              <a:solidFill>
                <a:srgbClr val="FF0000"/>
              </a:solidFill>
              <a:latin typeface="微软雅黑" charset="0"/>
              <a:ea typeface="微软雅黑" charset="0"/>
              <a:cs typeface="微软雅黑" charset="0"/>
            </a:endParaRPr>
          </a:p>
          <a:p>
            <a:pPr eaLnBrk="1" hangingPunct="1">
              <a:lnSpc>
                <a:spcPct val="120000"/>
              </a:lnSpc>
              <a:buClrTx/>
              <a:buSzPct val="100000"/>
              <a:buFont typeface="Wingdings" panose="05000000000000000000" pitchFamily="2" charset="2"/>
              <a:buChar char="Ø"/>
              <a:defRPr/>
            </a:pPr>
            <a:endParaRPr lang="zh-CN" altLang="en-US" sz="2800" b="0" dirty="0">
              <a:solidFill>
                <a:srgbClr val="C00000"/>
              </a:solidFill>
              <a:latin typeface="微软雅黑" charset="0"/>
              <a:ea typeface="微软雅黑" charset="0"/>
              <a:cs typeface="微软雅黑" charset="0"/>
            </a:endParaRPr>
          </a:p>
          <a:p>
            <a:pPr lvl="1" eaLnBrk="1" hangingPunct="1">
              <a:lnSpc>
                <a:spcPct val="130000"/>
              </a:lnSpc>
              <a:spcBef>
                <a:spcPts val="8400"/>
              </a:spcBef>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将多个数据源中的数据集成起来，</a:t>
            </a:r>
            <a:r>
              <a:rPr lang="zh-CN" altLang="en-US" sz="2400" b="0" dirty="0">
                <a:solidFill>
                  <a:srgbClr val="FF0000"/>
                </a:solidFill>
                <a:latin typeface="微软雅黑" charset="0"/>
                <a:ea typeface="微软雅黑" charset="0"/>
                <a:cs typeface="微软雅黑" charset="0"/>
              </a:rPr>
              <a:t>能减少或避免冗余与不一致性，</a:t>
            </a:r>
            <a:r>
              <a:rPr lang="zh-CN" altLang="en-US" sz="2400" b="0" dirty="0">
                <a:solidFill>
                  <a:srgbClr val="1557AE"/>
                </a:solidFill>
                <a:latin typeface="微软雅黑" charset="0"/>
                <a:ea typeface="微软雅黑" charset="0"/>
                <a:cs typeface="微软雅黑" charset="0"/>
              </a:rPr>
              <a:t>从而可以提高挖掘的速度和质量。</a:t>
            </a:r>
            <a:endParaRPr lang="zh-CN" altLang="en-US" sz="2400" b="0" dirty="0">
              <a:solidFill>
                <a:srgbClr val="1557AE"/>
              </a:solidFill>
              <a:latin typeface="微软雅黑" charset="0"/>
              <a:ea typeface="微软雅黑" charset="0"/>
              <a:cs typeface="微软雅黑" charset="0"/>
            </a:endParaRPr>
          </a:p>
        </p:txBody>
      </p:sp>
      <p:graphicFrame>
        <p:nvGraphicFramePr>
          <p:cNvPr id="8" name="Object 4"/>
          <p:cNvGraphicFramePr>
            <a:graphicFrameLocks noChangeAspect="1"/>
          </p:cNvGraphicFramePr>
          <p:nvPr/>
        </p:nvGraphicFramePr>
        <p:xfrm>
          <a:off x="1140965" y="3617169"/>
          <a:ext cx="3024336" cy="1162866"/>
        </p:xfrm>
        <a:graphic>
          <a:graphicData uri="http://schemas.openxmlformats.org/presentationml/2006/ole">
            <mc:AlternateContent xmlns:mc="http://schemas.openxmlformats.org/markup-compatibility/2006">
              <mc:Choice xmlns:v="urn:schemas-microsoft-com:vml" Requires="v">
                <p:oleObj spid="_x0000_s13409" name="Microsoft 公式 3.0" r:id="rId1" imgW="2082800" imgH="889000" progId="Equation.3">
                  <p:embed/>
                </p:oleObj>
              </mc:Choice>
              <mc:Fallback>
                <p:oleObj name="Microsoft 公式 3.0" r:id="rId1" imgW="2082800" imgH="889000" progId="Equation.3">
                  <p:embed/>
                  <p:pic>
                    <p:nvPicPr>
                      <p:cNvPr id="0" name="图片 22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0965" y="3617169"/>
                        <a:ext cx="3024336" cy="1162866"/>
                      </a:xfrm>
                      <a:prstGeom prst="rect">
                        <a:avLst/>
                      </a:prstGeom>
                      <a:noFill/>
                    </p:spPr>
                  </p:pic>
                </p:oleObj>
              </mc:Fallback>
            </mc:AlternateContent>
          </a:graphicData>
        </a:graphic>
      </p:graphicFrame>
      <p:sp>
        <p:nvSpPr>
          <p:cNvPr id="9" name="Rectangle 1026"/>
          <p:cNvSpPr>
            <a:spLocks noGrp="1" noChangeArrowheads="1"/>
          </p:cNvSpPr>
          <p:nvPr>
            <p:ph/>
          </p:nvPr>
        </p:nvSpPr>
        <p:spPr bwMode="auto">
          <a:xfrm>
            <a:off x="4291508" y="3717032"/>
            <a:ext cx="4583699" cy="1295673"/>
          </a:xfrm>
          <a:prstGeom prst="rect">
            <a:avLst/>
          </a:prstGeom>
          <a:solidFill>
            <a:srgbClr val="FFFFCC"/>
          </a:solidFill>
          <a:ln>
            <a:solidFill>
              <a:srgbClr val="C00000"/>
            </a:solidFill>
          </a:ln>
          <a:effectLst/>
        </p:spPr>
        <p:txBody>
          <a:bodyPr anchor="ctr" anchorCtr="0"/>
          <a:lstStyle/>
          <a:p>
            <a:pPr marL="0" marR="0" lvl="0" indent="0" defTabSz="914400" eaLnBrk="1" fontAlgn="auto" latinLnBrk="0" hangingPunct="1">
              <a:lnSpc>
                <a:spcPct val="120000"/>
              </a:lnSpc>
              <a:spcBef>
                <a:spcPts val="0"/>
              </a:spcBef>
              <a:spcAft>
                <a:spcPts val="0"/>
              </a:spcAft>
              <a:buClrTx/>
              <a:buSzTx/>
              <a:buFont typeface="Wingdings" panose="05000000000000000000" pitchFamily="2" charset="2"/>
              <a:buNone/>
              <a:defRPr/>
            </a:pPr>
            <a:r>
              <a:rPr lang="en-US" altLang="zh-CN" sz="2000" dirty="0">
                <a:solidFill>
                  <a:srgbClr val="FF0000"/>
                </a:solidFill>
                <a:cs typeface="微软雅黑" charset="0"/>
                <a:sym typeface="Wingdings" panose="05000000000000000000" pitchFamily="2" charset="2"/>
              </a:rPr>
              <a:t>- 1 &lt;=     &lt;= 1</a:t>
            </a:r>
            <a:r>
              <a:rPr lang="zh-CN" altLang="en-US" sz="2000" dirty="0">
                <a:solidFill>
                  <a:srgbClr val="FF0000"/>
                </a:solidFill>
                <a:cs typeface="微软雅黑" charset="0"/>
                <a:sym typeface="Wingdings" panose="05000000000000000000" pitchFamily="2" charset="2"/>
              </a:rPr>
              <a:t>，大于</a:t>
            </a:r>
            <a:r>
              <a:rPr lang="en-US" altLang="zh-CN" sz="2000" dirty="0">
                <a:solidFill>
                  <a:srgbClr val="FF0000"/>
                </a:solidFill>
                <a:cs typeface="微软雅黑" charset="0"/>
                <a:sym typeface="Wingdings" panose="05000000000000000000" pitchFamily="2" charset="2"/>
              </a:rPr>
              <a:t>0</a:t>
            </a:r>
            <a:r>
              <a:rPr lang="zh-CN" altLang="en-US" sz="2000" dirty="0">
                <a:solidFill>
                  <a:srgbClr val="FF0000"/>
                </a:solidFill>
                <a:cs typeface="微软雅黑" charset="0"/>
                <a:sym typeface="Wingdings" panose="05000000000000000000" pitchFamily="2" charset="2"/>
              </a:rPr>
              <a:t>时正相关，小于</a:t>
            </a:r>
            <a:r>
              <a:rPr lang="en-US" altLang="zh-CN" sz="2000" dirty="0">
                <a:solidFill>
                  <a:srgbClr val="FF0000"/>
                </a:solidFill>
                <a:cs typeface="微软雅黑" charset="0"/>
                <a:sym typeface="Wingdings" panose="05000000000000000000" pitchFamily="2" charset="2"/>
              </a:rPr>
              <a:t>0</a:t>
            </a:r>
            <a:r>
              <a:rPr lang="zh-CN" altLang="en-US" sz="2000" dirty="0">
                <a:solidFill>
                  <a:srgbClr val="FF0000"/>
                </a:solidFill>
                <a:cs typeface="微软雅黑" charset="0"/>
                <a:sym typeface="Wingdings" panose="05000000000000000000" pitchFamily="2" charset="2"/>
              </a:rPr>
              <a:t>时负相关。绝对值越接近于</a:t>
            </a:r>
            <a:r>
              <a:rPr lang="en-US" altLang="zh-CN" sz="2000" dirty="0">
                <a:solidFill>
                  <a:srgbClr val="FF0000"/>
                </a:solidFill>
                <a:cs typeface="微软雅黑" charset="0"/>
                <a:sym typeface="Wingdings" panose="05000000000000000000" pitchFamily="2" charset="2"/>
              </a:rPr>
              <a:t>1</a:t>
            </a:r>
            <a:r>
              <a:rPr lang="zh-CN" altLang="en-US" sz="2000" dirty="0">
                <a:solidFill>
                  <a:srgbClr val="FF0000"/>
                </a:solidFill>
                <a:cs typeface="微软雅黑" charset="0"/>
                <a:sym typeface="Wingdings" panose="05000000000000000000" pitchFamily="2" charset="2"/>
              </a:rPr>
              <a:t>，两要素关系</a:t>
            </a:r>
            <a:r>
              <a:rPr kumimoji="0" lang="zh-CN" altLang="en-US" sz="2000" i="0" u="none" strike="noStrike" kern="0" cap="none" spc="0" normalizeH="0" baseline="0" noProof="0" dirty="0">
                <a:ln>
                  <a:noFill/>
                </a:ln>
                <a:solidFill>
                  <a:srgbClr val="FF0000"/>
                </a:solidFill>
                <a:uLnTx/>
                <a:uFillTx/>
                <a:cs typeface="微软雅黑" charset="0"/>
                <a:sym typeface="Wingdings" panose="05000000000000000000" pitchFamily="2" charset="2"/>
              </a:rPr>
              <a:t>越密切；越接近于</a:t>
            </a:r>
            <a:r>
              <a:rPr kumimoji="0" lang="en-US" altLang="zh-CN" sz="2000" i="0" u="none" strike="noStrike" kern="0" cap="none" spc="0" normalizeH="0" baseline="0" noProof="0" dirty="0">
                <a:ln>
                  <a:noFill/>
                </a:ln>
                <a:solidFill>
                  <a:srgbClr val="FF0000"/>
                </a:solidFill>
                <a:uLnTx/>
                <a:uFillTx/>
                <a:cs typeface="微软雅黑" charset="0"/>
                <a:sym typeface="Wingdings" panose="05000000000000000000" pitchFamily="2" charset="2"/>
              </a:rPr>
              <a:t>0</a:t>
            </a:r>
            <a:r>
              <a:rPr kumimoji="0" lang="zh-CN" altLang="en-US" sz="2000" i="0" u="none" strike="noStrike" kern="0" cap="none" spc="0" normalizeH="0" baseline="0" noProof="0" dirty="0">
                <a:ln>
                  <a:noFill/>
                </a:ln>
                <a:solidFill>
                  <a:srgbClr val="FF0000"/>
                </a:solidFill>
                <a:uLnTx/>
                <a:uFillTx/>
                <a:cs typeface="微软雅黑" charset="0"/>
                <a:sym typeface="Wingdings" panose="05000000000000000000" pitchFamily="2" charset="2"/>
              </a:rPr>
              <a:t>，越不密切。</a:t>
            </a:r>
            <a:endParaRPr kumimoji="0" lang="zh-CN" altLang="en-US" sz="2000" i="0" u="none" strike="noStrike" kern="0" cap="none" spc="0" normalizeH="0" baseline="0" noProof="0" dirty="0">
              <a:ln>
                <a:noFill/>
              </a:ln>
              <a:solidFill>
                <a:srgbClr val="FF0000"/>
              </a:solidFill>
              <a:uLnTx/>
              <a:uFillTx/>
              <a:cs typeface="微软雅黑" charset="0"/>
              <a:sym typeface="Wingdings" panose="05000000000000000000" pitchFamily="2" charset="2"/>
            </a:endParaRPr>
          </a:p>
        </p:txBody>
      </p:sp>
      <p:graphicFrame>
        <p:nvGraphicFramePr>
          <p:cNvPr id="11" name="对象 10"/>
          <p:cNvGraphicFramePr>
            <a:graphicFrameLocks noChangeAspect="1"/>
          </p:cNvGraphicFramePr>
          <p:nvPr/>
        </p:nvGraphicFramePr>
        <p:xfrm>
          <a:off x="5292080" y="3861048"/>
          <a:ext cx="403176" cy="397868"/>
        </p:xfrm>
        <a:graphic>
          <a:graphicData uri="http://schemas.openxmlformats.org/presentationml/2006/ole">
            <mc:AlternateContent xmlns:mc="http://schemas.openxmlformats.org/markup-compatibility/2006">
              <mc:Choice xmlns:v="urn:schemas-microsoft-com:vml" Requires="v">
                <p:oleObj spid="_x0000_s2" name="Equation" r:id="rId3" imgW="177800" imgH="241300" progId="Equation.3">
                  <p:embed/>
                </p:oleObj>
              </mc:Choice>
              <mc:Fallback>
                <p:oleObj name="Equation" r:id="rId3" imgW="177800" imgH="241300" progId="Equation.3">
                  <p:embed/>
                  <p:pic>
                    <p:nvPicPr>
                      <p:cNvPr id="0" name="图片 22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3861048"/>
                        <a:ext cx="403176" cy="397868"/>
                      </a:xfrm>
                      <a:prstGeom prst="rect">
                        <a:avLst/>
                      </a:prstGeom>
                      <a:noFill/>
                      <a:ln>
                        <a:noFill/>
                      </a:ln>
                    </p:spPr>
                  </p:pic>
                </p:oleObj>
              </mc:Fallback>
            </mc:AlternateContent>
          </a:graphicData>
        </a:graphic>
      </p:graphicFrame>
      <p:sp>
        <p:nvSpPr>
          <p:cNvPr id="3" name="矩形 2"/>
          <p:cNvSpPr/>
          <p:nvPr/>
        </p:nvSpPr>
        <p:spPr>
          <a:xfrm>
            <a:off x="1979711" y="4866676"/>
            <a:ext cx="1346843" cy="369332"/>
          </a:xfrm>
          <a:prstGeom prst="rect">
            <a:avLst/>
          </a:prstGeom>
        </p:spPr>
        <p:txBody>
          <a:bodyPr wrap="none">
            <a:spAutoFit/>
          </a:bodyPr>
          <a:lstStyle/>
          <a:p>
            <a:r>
              <a:rPr lang="zh-CN" altLang="en-US" b="0" dirty="0">
                <a:solidFill>
                  <a:srgbClr val="1557AE"/>
                </a:solidFill>
                <a:latin typeface="微软雅黑" charset="0"/>
                <a:ea typeface="微软雅黑" charset="0"/>
              </a:rPr>
              <a:t>皮尔逊系数</a:t>
            </a:r>
            <a:endParaRPr lang="zh-CN" altLang="en-US" b="0" dirty="0">
              <a:solidFill>
                <a:srgbClr val="1557AE"/>
              </a:solidFill>
              <a:latin typeface="微软雅黑" charset="0"/>
              <a:ea typeface="微软雅黑" charset="0"/>
            </a:endParaRPr>
          </a:p>
        </p:txBody>
      </p:sp>
      <p:sp>
        <p:nvSpPr>
          <p:cNvPr id="10" name="Rectangle 6"/>
          <p:cNvSpPr txBox="1">
            <a:spLocks noChangeArrowheads="1"/>
          </p:cNvSpPr>
          <p:nvPr/>
        </p:nvSpPr>
        <p:spPr bwMode="auto">
          <a:xfrm>
            <a:off x="780390" y="116632"/>
            <a:ext cx="7583219" cy="70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2.3  </a:t>
            </a:r>
            <a:r>
              <a:rPr lang="zh-CN" altLang="en-US" sz="3600" b="0" dirty="0">
                <a:solidFill>
                  <a:srgbClr val="1557AE"/>
                </a:solidFill>
                <a:latin typeface="微软雅黑" charset="0"/>
                <a:ea typeface="微软雅黑" charset="0"/>
                <a:cs typeface="微软雅黑" charset="0"/>
              </a:rPr>
              <a:t>数据集成和变换</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387400" y="1268760"/>
            <a:ext cx="850508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相关性分析用于属性选择</a:t>
            </a:r>
            <a:endParaRPr lang="zh-CN" altLang="en-US" sz="2800" b="0" dirty="0">
              <a:solidFill>
                <a:srgbClr val="FF0000"/>
              </a:solidFill>
              <a:latin typeface="微软雅黑" charset="0"/>
              <a:ea typeface="微软雅黑" charset="0"/>
              <a:cs typeface="Calibri" panose="020F0502020204030204" pitchFamily="34" charset="0"/>
            </a:endParaRPr>
          </a:p>
        </p:txBody>
      </p:sp>
      <p:graphicFrame>
        <p:nvGraphicFramePr>
          <p:cNvPr id="5" name="Group 133"/>
          <p:cNvGraphicFramePr>
            <a:graphicFrameLocks noGrp="1"/>
          </p:cNvGraphicFramePr>
          <p:nvPr>
            <p:ph sz="half" idx="4294967295"/>
          </p:nvPr>
        </p:nvGraphicFramePr>
        <p:xfrm>
          <a:off x="4071640" y="1916832"/>
          <a:ext cx="4813324" cy="4501243"/>
        </p:xfrm>
        <a:graphic>
          <a:graphicData uri="http://schemas.openxmlformats.org/drawingml/2006/table">
            <a:tbl>
              <a:tblPr>
                <a:tableStyleId>{8A107856-5554-42FB-B03E-39F5DBC370BA}</a:tableStyleId>
              </a:tblPr>
              <a:tblGrid>
                <a:gridCol w="470533"/>
                <a:gridCol w="850432"/>
                <a:gridCol w="1178261"/>
                <a:gridCol w="977064"/>
                <a:gridCol w="802221"/>
                <a:gridCol w="534813"/>
              </a:tblGrid>
              <a:tr h="576058">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en-US" altLang="zh-TW" sz="1200" b="1" u="none" strike="noStrike" cap="none" normalizeH="0" baseline="0" dirty="0">
                          <a:ln>
                            <a:noFill/>
                          </a:ln>
                          <a:solidFill>
                            <a:schemeClr val="bg1"/>
                          </a:solidFill>
                          <a:effectLst/>
                          <a:latin typeface="微软雅黑" charset="0"/>
                          <a:ea typeface="微软雅黑" charset="0"/>
                        </a:rPr>
                        <a:t>ID</a:t>
                      </a:r>
                      <a:endParaRPr kumimoji="0" lang="en-US" altLang="zh-TW" sz="12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0" marR="0" marT="45725" marB="45725" anchor="ctr" anchorCtr="1" horzOverflow="overflow">
                    <a:solidFill>
                      <a:schemeClr val="accent2"/>
                    </a:solidFill>
                  </a:tcPr>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en-US" altLang="zh-TW" sz="1200" b="1" u="none" strike="noStrike" cap="none" normalizeH="0" baseline="0" dirty="0">
                          <a:ln>
                            <a:noFill/>
                          </a:ln>
                          <a:solidFill>
                            <a:schemeClr val="bg1"/>
                          </a:solidFill>
                          <a:effectLst/>
                          <a:latin typeface="微软雅黑" charset="0"/>
                          <a:ea typeface="微软雅黑" charset="0"/>
                        </a:rPr>
                        <a:t>Outlook</a:t>
                      </a:r>
                      <a:endParaRPr kumimoji="0" lang="en-US" altLang="zh-TW" sz="12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0" marR="0" marT="45725" marB="45725" anchor="ctr" anchorCtr="1" horzOverflow="overflow">
                    <a:solidFill>
                      <a:schemeClr val="accent2"/>
                    </a:solidFill>
                  </a:tcPr>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en-US" altLang="zh-TW" sz="1200" b="1" u="none" strike="noStrike" cap="none" normalizeH="0" baseline="0" dirty="0">
                          <a:ln>
                            <a:noFill/>
                          </a:ln>
                          <a:solidFill>
                            <a:schemeClr val="bg1"/>
                          </a:solidFill>
                          <a:effectLst/>
                          <a:latin typeface="微软雅黑" charset="0"/>
                          <a:ea typeface="微软雅黑" charset="0"/>
                        </a:rPr>
                        <a:t>Temperature</a:t>
                      </a:r>
                      <a:endParaRPr kumimoji="0" lang="en-US" altLang="zh-TW" sz="12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0" marR="0" marT="45725" marB="45725" anchor="ctr" anchorCtr="1" horzOverflow="overflow">
                    <a:solidFill>
                      <a:schemeClr val="accent2"/>
                    </a:solidFill>
                  </a:tcPr>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en-US" altLang="zh-TW" sz="1200" b="1" u="none" strike="noStrike" cap="none" normalizeH="0" baseline="0" dirty="0">
                          <a:ln>
                            <a:noFill/>
                          </a:ln>
                          <a:solidFill>
                            <a:schemeClr val="bg1"/>
                          </a:solidFill>
                          <a:effectLst/>
                          <a:latin typeface="微软雅黑" charset="0"/>
                          <a:ea typeface="微软雅黑" charset="0"/>
                        </a:rPr>
                        <a:t>Humidity</a:t>
                      </a:r>
                      <a:endParaRPr kumimoji="0" lang="en-US" altLang="zh-TW" sz="12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0" marR="0" marT="45725" marB="45725" anchor="ctr" anchorCtr="1" horzOverflow="overflow">
                    <a:solidFill>
                      <a:schemeClr val="accent2"/>
                    </a:solidFill>
                  </a:tcPr>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en-US" altLang="zh-TW" sz="1200" b="1" u="none" strike="noStrike" cap="none" normalizeH="0" baseline="0" dirty="0">
                          <a:ln>
                            <a:noFill/>
                          </a:ln>
                          <a:solidFill>
                            <a:schemeClr val="bg1"/>
                          </a:solidFill>
                          <a:effectLst/>
                          <a:latin typeface="微软雅黑" charset="0"/>
                          <a:ea typeface="微软雅黑" charset="0"/>
                        </a:rPr>
                        <a:t>Windy</a:t>
                      </a:r>
                      <a:endParaRPr kumimoji="0" lang="en-US" altLang="zh-TW" sz="12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0" marR="0" marT="45725" marB="45725" anchor="ctr" anchorCtr="1" horzOverflow="overflow">
                    <a:solidFill>
                      <a:schemeClr val="accent2"/>
                    </a:solidFill>
                  </a:tcPr>
                </a:tc>
                <a:tc>
                  <a:txBody>
                    <a:bodyPr/>
                    <a:lstStyle/>
                    <a:p>
                      <a:pPr marL="342900" marR="0" lvl="0" indent="-342900" algn="l" defTabSz="914400" rtl="0" eaLnBrk="0" fontAlgn="ctr" latinLnBrk="0" hangingPunct="0">
                        <a:lnSpc>
                          <a:spcPct val="100000"/>
                        </a:lnSpc>
                        <a:spcBef>
                          <a:spcPct val="0"/>
                        </a:spcBef>
                        <a:spcAft>
                          <a:spcPct val="0"/>
                        </a:spcAft>
                        <a:buClrTx/>
                        <a:buSzTx/>
                        <a:buFontTx/>
                        <a:buNone/>
                      </a:pPr>
                      <a:r>
                        <a:rPr kumimoji="0" lang="en-US" altLang="zh-TW" sz="1200" b="1" u="none" strike="noStrike" cap="none" normalizeH="0" baseline="0" dirty="0">
                          <a:ln>
                            <a:noFill/>
                          </a:ln>
                          <a:solidFill>
                            <a:schemeClr val="bg1"/>
                          </a:solidFill>
                          <a:effectLst/>
                          <a:latin typeface="微软雅黑" charset="0"/>
                          <a:ea typeface="微软雅黑" charset="0"/>
                        </a:rPr>
                        <a:t>Play</a:t>
                      </a:r>
                      <a:endParaRPr kumimoji="0" lang="en-US" altLang="zh-TW" sz="12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L="0" marR="0" marT="45725" marB="45725" anchor="ctr" anchorCtr="1" horzOverflow="overflow">
                    <a:solidFill>
                      <a:schemeClr val="accent2"/>
                    </a:solidFill>
                  </a:tcPr>
                </a:tc>
              </a:tr>
              <a:tr h="288032">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1</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100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40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90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T</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2</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100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40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90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F</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3</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50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40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90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T</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4</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30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90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T</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5</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15</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70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T</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6</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15</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70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F</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7</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50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15</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70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T</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8</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100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30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90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F</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9</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100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15</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70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T</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30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70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F</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11</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100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30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70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1</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F</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12</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50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30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90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1</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T</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13</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50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40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70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0</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T</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r h="279781">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14</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10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30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a:ln>
                            <a:noFill/>
                          </a:ln>
                          <a:effectLst/>
                          <a:latin typeface="微软雅黑" charset="0"/>
                          <a:ea typeface="微软雅黑" charset="0"/>
                        </a:rPr>
                        <a:t>90</a:t>
                      </a:r>
                      <a:endParaRPr kumimoji="0" lang="en-US" altLang="zh-TW" sz="12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1</a:t>
                      </a:r>
                      <a:endParaRPr kumimoji="0" lang="en-US" altLang="zh-TW" sz="12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0" marR="0" marT="45725" marB="45725" anchor="ctr" anchorCtr="1" horzOverflow="overflow"/>
                </a:tc>
                <a:tc>
                  <a:txBody>
                    <a:bodyPr/>
                    <a:lstStyle/>
                    <a:p>
                      <a:pPr marL="342900" marR="0" lvl="0" indent="-342900" algn="r" defTabSz="914400" rtl="0" eaLnBrk="0" fontAlgn="ctr" latinLnBrk="0" hangingPunct="0">
                        <a:lnSpc>
                          <a:spcPct val="100000"/>
                        </a:lnSpc>
                        <a:spcBef>
                          <a:spcPct val="0"/>
                        </a:spcBef>
                        <a:spcAft>
                          <a:spcPct val="0"/>
                        </a:spcAft>
                        <a:buClrTx/>
                        <a:buSzTx/>
                        <a:buFontTx/>
                        <a:buNone/>
                      </a:pPr>
                      <a:r>
                        <a:rPr kumimoji="0" lang="en-US" altLang="zh-TW" sz="1200" u="none" strike="noStrike" cap="none" normalizeH="0" baseline="0" dirty="0">
                          <a:ln>
                            <a:noFill/>
                          </a:ln>
                          <a:effectLst/>
                          <a:latin typeface="微软雅黑" charset="0"/>
                          <a:ea typeface="微软雅黑" charset="0"/>
                        </a:rPr>
                        <a:t>F</a:t>
                      </a:r>
                      <a:endParaRPr kumimoji="0" lang="en-US" altLang="zh-TW" sz="1200" b="0" i="0" u="none" strike="noStrike" cap="none" normalizeH="0" baseline="0" dirty="0">
                        <a:ln>
                          <a:noFill/>
                        </a:ln>
                        <a:solidFill>
                          <a:schemeClr val="hlink"/>
                        </a:solidFill>
                        <a:effectLst/>
                        <a:latin typeface="微软雅黑" charset="0"/>
                        <a:ea typeface="微软雅黑" charset="0"/>
                        <a:cs typeface="Calibri" panose="020F0502020204030204" pitchFamily="34" charset="0"/>
                      </a:endParaRPr>
                    </a:p>
                  </a:txBody>
                  <a:tcPr marL="0" marR="0" marT="45725" marB="45725" anchor="ctr" anchorCtr="1" horzOverflow="overflow"/>
                </a:tc>
              </a:tr>
            </a:tbl>
          </a:graphicData>
        </a:graphic>
      </p:graphicFrame>
      <p:sp>
        <p:nvSpPr>
          <p:cNvPr id="7" name="Rectangle 3"/>
          <p:cNvSpPr txBox="1">
            <a:spLocks noChangeArrowheads="1"/>
          </p:cNvSpPr>
          <p:nvPr/>
        </p:nvSpPr>
        <p:spPr bwMode="auto">
          <a:xfrm>
            <a:off x="352872" y="1875284"/>
            <a:ext cx="3643064"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lvl="1" eaLnBrk="1" hangingPunct="1">
              <a:lnSpc>
                <a:spcPct val="130000"/>
              </a:lnSpc>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属性</a:t>
            </a:r>
            <a:r>
              <a:rPr lang="en-US" altLang="zh-TW" sz="2400" b="0" dirty="0">
                <a:solidFill>
                  <a:srgbClr val="FF0000"/>
                </a:solidFill>
                <a:latin typeface="微软雅黑" charset="0"/>
                <a:ea typeface="微软雅黑" charset="0"/>
                <a:cs typeface="微软雅黑" charset="0"/>
              </a:rPr>
              <a:t> A1</a:t>
            </a:r>
            <a:r>
              <a:rPr lang="zh-CN" altLang="en-US" sz="2400" b="0" dirty="0">
                <a:solidFill>
                  <a:srgbClr val="FF0000"/>
                </a:solidFill>
                <a:latin typeface="微软雅黑" charset="0"/>
                <a:ea typeface="微软雅黑" charset="0"/>
                <a:cs typeface="微软雅黑" charset="0"/>
              </a:rPr>
              <a:t>与</a:t>
            </a:r>
            <a:r>
              <a:rPr lang="en-US" altLang="zh-TW" sz="2400" b="0" dirty="0">
                <a:solidFill>
                  <a:srgbClr val="FF0000"/>
                </a:solidFill>
                <a:latin typeface="微软雅黑" charset="0"/>
                <a:ea typeface="微软雅黑" charset="0"/>
                <a:cs typeface="微软雅黑" charset="0"/>
              </a:rPr>
              <a:t>A2 </a:t>
            </a:r>
            <a:r>
              <a:rPr lang="zh-CN" altLang="en-US" sz="2400" b="0" dirty="0">
                <a:solidFill>
                  <a:srgbClr val="FF0000"/>
                </a:solidFill>
                <a:latin typeface="微软雅黑" charset="0"/>
                <a:ea typeface="微软雅黑" charset="0"/>
                <a:cs typeface="微软雅黑" charset="0"/>
              </a:rPr>
              <a:t>是相互独立的吗</a:t>
            </a:r>
            <a:r>
              <a:rPr lang="en-US" altLang="zh-TW" sz="2400" b="0" dirty="0">
                <a:solidFill>
                  <a:srgbClr val="FF0000"/>
                </a:solidFill>
                <a:latin typeface="微软雅黑" charset="0"/>
                <a:ea typeface="微软雅黑" charset="0"/>
                <a:cs typeface="微软雅黑" charset="0"/>
              </a:rPr>
              <a:t>?</a:t>
            </a:r>
            <a:endParaRPr lang="en-US" altLang="zh-TW" sz="2400" b="0" dirty="0">
              <a:solidFill>
                <a:srgbClr val="FF0000"/>
              </a:solidFill>
              <a:latin typeface="微软雅黑" charset="0"/>
              <a:ea typeface="微软雅黑" charset="0"/>
              <a:cs typeface="微软雅黑" charset="0"/>
            </a:endParaRPr>
          </a:p>
          <a:p>
            <a:pPr marL="1079500" lvl="2" indent="-355600" eaLnBrk="1" hangingPunct="1">
              <a:lnSpc>
                <a:spcPct val="130000"/>
              </a:lnSpc>
              <a:buClrTx/>
              <a:buSzPct val="100000"/>
              <a:buFont typeface="Arial" panose="020B0604020202090204" pitchFamily="34" charset="0"/>
              <a:buChar char="•"/>
              <a:defRPr/>
            </a:pPr>
            <a:r>
              <a:rPr lang="zh-CN" altLang="en-US" sz="2100" b="0" dirty="0">
                <a:solidFill>
                  <a:srgbClr val="1557AE"/>
                </a:solidFill>
                <a:latin typeface="微软雅黑" charset="0"/>
                <a:ea typeface="微软雅黑" charset="0"/>
                <a:cs typeface="微软雅黑" charset="0"/>
              </a:rPr>
              <a:t>如果它们是相互依赖的，则可以任意去除一个</a:t>
            </a:r>
            <a:endParaRPr lang="en-US" altLang="zh-CN" sz="2100" b="0" dirty="0">
              <a:solidFill>
                <a:srgbClr val="1557AE"/>
              </a:solidFill>
              <a:latin typeface="微软雅黑" charset="0"/>
              <a:ea typeface="微软雅黑" charset="0"/>
              <a:cs typeface="微软雅黑" charset="0"/>
            </a:endParaRPr>
          </a:p>
          <a:p>
            <a:pPr marL="1079500" lvl="2" indent="-355600" eaLnBrk="1" hangingPunct="1">
              <a:lnSpc>
                <a:spcPct val="130000"/>
              </a:lnSpc>
              <a:buClrTx/>
              <a:buSzPct val="100000"/>
              <a:buFont typeface="Arial" panose="020B0604020202090204" pitchFamily="34" charset="0"/>
              <a:buChar char="•"/>
              <a:defRPr/>
            </a:pPr>
            <a:r>
              <a:rPr lang="zh-CN" altLang="en-US" sz="2100" b="0" dirty="0">
                <a:solidFill>
                  <a:srgbClr val="1557AE"/>
                </a:solidFill>
                <a:latin typeface="微软雅黑" charset="0"/>
                <a:ea typeface="微软雅黑" charset="0"/>
                <a:cs typeface="微软雅黑" charset="0"/>
              </a:rPr>
              <a:t>如果</a:t>
            </a:r>
            <a:r>
              <a:rPr lang="en-US" altLang="zh-TW" sz="2100" b="0" dirty="0">
                <a:solidFill>
                  <a:srgbClr val="1557AE"/>
                </a:solidFill>
                <a:latin typeface="微软雅黑" charset="0"/>
                <a:ea typeface="微软雅黑" charset="0"/>
                <a:cs typeface="微软雅黑" charset="0"/>
              </a:rPr>
              <a:t>A1 </a:t>
            </a:r>
            <a:r>
              <a:rPr lang="zh-CN" altLang="en-US" sz="2100" b="0" dirty="0">
                <a:solidFill>
                  <a:srgbClr val="1557AE"/>
                </a:solidFill>
                <a:latin typeface="微软雅黑" charset="0"/>
                <a:ea typeface="微软雅黑" charset="0"/>
                <a:cs typeface="微软雅黑" charset="0"/>
              </a:rPr>
              <a:t>与</a:t>
            </a:r>
            <a:r>
              <a:rPr lang="zh-CN" altLang="en-US" sz="2100" b="0" dirty="0">
                <a:solidFill>
                  <a:srgbClr val="FF0000"/>
                </a:solidFill>
                <a:latin typeface="微软雅黑" charset="0"/>
                <a:ea typeface="微软雅黑" charset="0"/>
                <a:cs typeface="微软雅黑" charset="0"/>
              </a:rPr>
              <a:t>类标签属性</a:t>
            </a:r>
            <a:r>
              <a:rPr lang="en-US" altLang="zh-CN" sz="2100" b="0" dirty="0">
                <a:solidFill>
                  <a:srgbClr val="1557AE"/>
                </a:solidFill>
                <a:latin typeface="微软雅黑" charset="0"/>
                <a:ea typeface="微软雅黑" charset="0"/>
                <a:cs typeface="微软雅黑" charset="0"/>
              </a:rPr>
              <a:t>A2</a:t>
            </a:r>
            <a:r>
              <a:rPr lang="zh-CN" altLang="en-US" sz="2100" b="0" dirty="0">
                <a:solidFill>
                  <a:srgbClr val="1557AE"/>
                </a:solidFill>
                <a:latin typeface="微软雅黑" charset="0"/>
                <a:ea typeface="微软雅黑" charset="0"/>
                <a:cs typeface="微软雅黑" charset="0"/>
              </a:rPr>
              <a:t>是独立的，可以从训练集中去除属性</a:t>
            </a:r>
            <a:r>
              <a:rPr lang="en-US" altLang="zh-TW" sz="2100" b="0" dirty="0">
                <a:solidFill>
                  <a:srgbClr val="1557AE"/>
                </a:solidFill>
                <a:latin typeface="微软雅黑" charset="0"/>
                <a:ea typeface="微软雅黑" charset="0"/>
                <a:cs typeface="微软雅黑" charset="0"/>
              </a:rPr>
              <a:t>A1</a:t>
            </a:r>
            <a:endParaRPr lang="zh-TW" altLang="en-US" sz="2100" b="0" dirty="0">
              <a:solidFill>
                <a:srgbClr val="1557AE"/>
              </a:solidFill>
              <a:latin typeface="微软雅黑" charset="0"/>
              <a:ea typeface="微软雅黑" charset="0"/>
              <a:cs typeface="微软雅黑" charset="0"/>
            </a:endParaRPr>
          </a:p>
        </p:txBody>
      </p:sp>
      <p:sp>
        <p:nvSpPr>
          <p:cNvPr id="8" name="Rectangle 6"/>
          <p:cNvSpPr txBox="1">
            <a:spLocks noChangeArrowheads="1"/>
          </p:cNvSpPr>
          <p:nvPr/>
        </p:nvSpPr>
        <p:spPr bwMode="auto">
          <a:xfrm>
            <a:off x="780390" y="116632"/>
            <a:ext cx="7583219" cy="70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2.3  </a:t>
            </a:r>
            <a:r>
              <a:rPr lang="zh-CN" altLang="en-US" sz="3600" b="0" dirty="0">
                <a:solidFill>
                  <a:srgbClr val="1557AE"/>
                </a:solidFill>
                <a:latin typeface="微软雅黑" charset="0"/>
                <a:ea typeface="微软雅黑" charset="0"/>
                <a:cs typeface="微软雅黑" charset="0"/>
              </a:rPr>
              <a:t>数据集成和变换</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387400" y="1412776"/>
            <a:ext cx="850508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离散数据的相关性分析</a:t>
            </a:r>
            <a:endParaRPr lang="zh-CN" altLang="en-US" sz="2800" b="0" dirty="0">
              <a:solidFill>
                <a:srgbClr val="FF0000"/>
              </a:solidFill>
              <a:latin typeface="微软雅黑" charset="0"/>
              <a:ea typeface="微软雅黑" charset="0"/>
              <a:cs typeface="微软雅黑" charset="0"/>
            </a:endParaRPr>
          </a:p>
          <a:p>
            <a:pPr lvl="1" eaLnBrk="1" hangingPunct="1">
              <a:lnSpc>
                <a:spcPct val="120000"/>
              </a:lnSpc>
              <a:buClrTx/>
              <a:buSzPct val="100000"/>
              <a:buFont typeface="Wingdings" panose="05000000000000000000" pitchFamily="2" charset="2"/>
              <a:buChar char="Ø"/>
              <a:defRPr/>
            </a:pPr>
            <a:r>
              <a:rPr lang="el-GR" altLang="zh-CN" sz="2400" b="0" dirty="0">
                <a:solidFill>
                  <a:srgbClr val="FF0000"/>
                </a:solidFill>
                <a:latin typeface="微软雅黑" charset="0"/>
                <a:ea typeface="微软雅黑" charset="0"/>
                <a:cs typeface="微软雅黑" charset="0"/>
              </a:rPr>
              <a:t>Χ</a:t>
            </a:r>
            <a:r>
              <a:rPr lang="en-US" altLang="zh-CN" sz="2400" b="0" baseline="30000" dirty="0">
                <a:solidFill>
                  <a:srgbClr val="FF0000"/>
                </a:solidFill>
                <a:latin typeface="微软雅黑" charset="0"/>
                <a:ea typeface="微软雅黑" charset="0"/>
                <a:cs typeface="微软雅黑" charset="0"/>
              </a:rPr>
              <a:t>2</a:t>
            </a:r>
            <a:r>
              <a:rPr lang="en-US" altLang="zh-CN" sz="2400" b="0" dirty="0">
                <a:solidFill>
                  <a:srgbClr val="FF0000"/>
                </a:solidFill>
                <a:latin typeface="微软雅黑" charset="0"/>
                <a:ea typeface="微软雅黑" charset="0"/>
                <a:cs typeface="微软雅黑" charset="0"/>
              </a:rPr>
              <a:t> (chi-square)</a:t>
            </a:r>
            <a:r>
              <a:rPr lang="zh-CN" altLang="en-US" sz="2400" b="0" dirty="0">
                <a:solidFill>
                  <a:srgbClr val="FF0000"/>
                </a:solidFill>
                <a:latin typeface="微软雅黑" charset="0"/>
                <a:ea typeface="微软雅黑" charset="0"/>
                <a:cs typeface="微软雅黑" charset="0"/>
              </a:rPr>
              <a:t>测试</a:t>
            </a:r>
            <a:r>
              <a:rPr lang="en-US" altLang="zh-CN" sz="2400" b="0" dirty="0">
                <a:solidFill>
                  <a:srgbClr val="FF0000"/>
                </a:solidFill>
                <a:latin typeface="微软雅黑" charset="0"/>
                <a:ea typeface="微软雅黑" charset="0"/>
                <a:cs typeface="微软雅黑" charset="0"/>
              </a:rPr>
              <a:t>(</a:t>
            </a:r>
            <a:r>
              <a:rPr lang="zh-CN" altLang="en-US" sz="2400" b="0" dirty="0">
                <a:solidFill>
                  <a:srgbClr val="FF0000"/>
                </a:solidFill>
                <a:latin typeface="微软雅黑" charset="0"/>
                <a:ea typeface="微软雅黑" charset="0"/>
                <a:cs typeface="微软雅黑" charset="0"/>
              </a:rPr>
              <a:t>卡方测试</a:t>
            </a:r>
            <a:r>
              <a:rPr lang="en-US" altLang="zh-CN" sz="2400" b="0" dirty="0">
                <a:solidFill>
                  <a:srgbClr val="FF0000"/>
                </a:solidFill>
                <a:latin typeface="微软雅黑" charset="0"/>
                <a:ea typeface="微软雅黑" charset="0"/>
                <a:cs typeface="微软雅黑" charset="0"/>
              </a:rPr>
              <a:t>)</a:t>
            </a:r>
            <a:endParaRPr lang="en-US" altLang="zh-CN" sz="2400" b="0" dirty="0">
              <a:solidFill>
                <a:srgbClr val="FF0000"/>
              </a:solidFill>
              <a:latin typeface="微软雅黑" charset="0"/>
              <a:ea typeface="微软雅黑" charset="0"/>
              <a:cs typeface="微软雅黑" charset="0"/>
            </a:endParaRPr>
          </a:p>
          <a:p>
            <a:pPr lvl="1" eaLnBrk="1" hangingPunct="1">
              <a:lnSpc>
                <a:spcPct val="120000"/>
              </a:lnSpc>
              <a:buClrTx/>
              <a:buSzPct val="100000"/>
              <a:buFont typeface="Wingdings" panose="05000000000000000000" pitchFamily="2" charset="2"/>
              <a:buChar char="ü"/>
              <a:defRPr/>
            </a:pPr>
            <a:endParaRPr lang="en-US" altLang="zh-CN" sz="2400" b="0" dirty="0">
              <a:solidFill>
                <a:srgbClr val="0000FF"/>
              </a:solidFill>
              <a:latin typeface="微软雅黑" charset="0"/>
              <a:ea typeface="微软雅黑" charset="0"/>
              <a:cs typeface="微软雅黑" charset="0"/>
            </a:endParaRPr>
          </a:p>
          <a:p>
            <a:pPr lvl="1" eaLnBrk="1" hangingPunct="1">
              <a:lnSpc>
                <a:spcPct val="120000"/>
              </a:lnSpc>
              <a:buClrTx/>
              <a:buSzPct val="100000"/>
              <a:buFont typeface="Wingdings" panose="05000000000000000000" pitchFamily="2" charset="2"/>
              <a:buChar char="ü"/>
              <a:defRPr/>
            </a:pPr>
            <a:endParaRPr lang="en-US" altLang="zh-CN" sz="2400" b="0" dirty="0">
              <a:solidFill>
                <a:srgbClr val="0000FF"/>
              </a:solidFill>
              <a:latin typeface="微软雅黑" charset="0"/>
              <a:ea typeface="微软雅黑" charset="0"/>
              <a:cs typeface="微软雅黑" charset="0"/>
            </a:endParaRPr>
          </a:p>
          <a:p>
            <a:pPr lvl="1" eaLnBrk="1" hangingPunct="1">
              <a:lnSpc>
                <a:spcPct val="120000"/>
              </a:lnSpc>
              <a:buClrTx/>
              <a:buSzPct val="100000"/>
              <a:buFont typeface="Wingdings" panose="05000000000000000000" pitchFamily="2" charset="2"/>
              <a:buChar char="Ø"/>
              <a:defRPr/>
            </a:pPr>
            <a:r>
              <a:rPr lang="el-GR" altLang="zh-CN" sz="2400" b="0" dirty="0">
                <a:solidFill>
                  <a:srgbClr val="FF0000"/>
                </a:solidFill>
                <a:latin typeface="微软雅黑" charset="0"/>
                <a:ea typeface="微软雅黑" charset="0"/>
                <a:cs typeface="微软雅黑" charset="0"/>
              </a:rPr>
              <a:t>Χ</a:t>
            </a:r>
            <a:r>
              <a:rPr lang="el-GR" altLang="zh-CN" sz="2400" b="0" baseline="30000" dirty="0">
                <a:solidFill>
                  <a:srgbClr val="FF0000"/>
                </a:solidFill>
                <a:latin typeface="微软雅黑" charset="0"/>
                <a:ea typeface="微软雅黑" charset="0"/>
                <a:cs typeface="微软雅黑" charset="0"/>
              </a:rPr>
              <a:t>2</a:t>
            </a:r>
            <a:r>
              <a:rPr lang="zh-CN" altLang="en-US" sz="2400" b="0" dirty="0">
                <a:solidFill>
                  <a:srgbClr val="FF0000"/>
                </a:solidFill>
                <a:latin typeface="微软雅黑" charset="0"/>
                <a:ea typeface="微软雅黑" charset="0"/>
                <a:cs typeface="微软雅黑" charset="0"/>
              </a:rPr>
              <a:t>的值越大，意味着两个变量相关的可能性越大</a:t>
            </a:r>
            <a:endParaRPr lang="zh-CN" altLang="en-US" sz="2400" b="0" dirty="0">
              <a:solidFill>
                <a:srgbClr val="FF0000"/>
              </a:solidFill>
              <a:latin typeface="微软雅黑" charset="0"/>
              <a:ea typeface="微软雅黑" charset="0"/>
              <a:cs typeface="微软雅黑" charset="0"/>
            </a:endParaRPr>
          </a:p>
          <a:p>
            <a:pPr lvl="1" eaLnBrk="1" hangingPunct="1">
              <a:lnSpc>
                <a:spcPct val="120000"/>
              </a:lnSpc>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期望值和观测值之间相差越大，值也将越大</a:t>
            </a:r>
            <a:endParaRPr lang="zh-CN" altLang="en-US" sz="2400" b="0" dirty="0">
              <a:solidFill>
                <a:srgbClr val="FF0000"/>
              </a:solidFill>
              <a:latin typeface="微软雅黑" charset="0"/>
              <a:ea typeface="微软雅黑" charset="0"/>
              <a:cs typeface="微软雅黑" charset="0"/>
            </a:endParaRPr>
          </a:p>
          <a:p>
            <a:pPr lvl="1" eaLnBrk="1" hangingPunct="1">
              <a:lnSpc>
                <a:spcPct val="120000"/>
              </a:lnSpc>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相关性不意味着因果关系</a:t>
            </a:r>
            <a:endParaRPr lang="zh-CN" altLang="en-US" sz="2400" b="0" dirty="0">
              <a:solidFill>
                <a:srgbClr val="FF0000"/>
              </a:solidFill>
              <a:latin typeface="微软雅黑" charset="0"/>
              <a:ea typeface="微软雅黑" charset="0"/>
              <a:cs typeface="微软雅黑" charset="0"/>
            </a:endParaRPr>
          </a:p>
          <a:p>
            <a:pPr lvl="2" eaLnBrk="1" hangingPunct="1">
              <a:lnSpc>
                <a:spcPct val="120000"/>
              </a:lnSpc>
              <a:buClrTx/>
              <a:buSzPct val="100000"/>
              <a:buFont typeface="Arial" panose="020B0604020202090204" pitchFamily="34" charset="0"/>
              <a:buChar char="•"/>
              <a:defRPr/>
            </a:pPr>
            <a:r>
              <a:rPr lang="en-US" altLang="zh-CN" sz="2100" b="0" dirty="0">
                <a:solidFill>
                  <a:srgbClr val="1557AE"/>
                </a:solidFill>
                <a:latin typeface="微软雅黑" charset="0"/>
                <a:ea typeface="微软雅黑" charset="0"/>
                <a:cs typeface="微软雅黑" charset="0"/>
              </a:rPr>
              <a:t>e.g. </a:t>
            </a:r>
            <a:r>
              <a:rPr lang="zh-CN" altLang="en-US" sz="2100" b="0" dirty="0">
                <a:solidFill>
                  <a:srgbClr val="1557AE"/>
                </a:solidFill>
                <a:latin typeface="微软雅黑" charset="0"/>
                <a:ea typeface="微软雅黑" charset="0"/>
                <a:cs typeface="微软雅黑" charset="0"/>
              </a:rPr>
              <a:t>我们发现一个地区的医院数和汽车盗窃数相关</a:t>
            </a:r>
            <a:endParaRPr lang="zh-CN" altLang="en-US" sz="2100" b="0" dirty="0">
              <a:solidFill>
                <a:srgbClr val="1557AE"/>
              </a:solidFill>
              <a:latin typeface="微软雅黑" charset="0"/>
              <a:ea typeface="微软雅黑" charset="0"/>
              <a:cs typeface="微软雅黑" charset="0"/>
            </a:endParaRPr>
          </a:p>
        </p:txBody>
      </p:sp>
      <p:graphicFrame>
        <p:nvGraphicFramePr>
          <p:cNvPr id="12" name="对象 11"/>
          <p:cNvGraphicFramePr>
            <a:graphicFrameLocks noChangeAspect="1"/>
          </p:cNvGraphicFramePr>
          <p:nvPr/>
        </p:nvGraphicFramePr>
        <p:xfrm>
          <a:off x="1979712" y="2564904"/>
          <a:ext cx="4040609" cy="873111"/>
        </p:xfrm>
        <a:graphic>
          <a:graphicData uri="http://schemas.openxmlformats.org/presentationml/2006/ole">
            <mc:AlternateContent xmlns:mc="http://schemas.openxmlformats.org/markup-compatibility/2006">
              <mc:Choice xmlns:v="urn:schemas-microsoft-com:vml" Requires="v">
                <p:oleObj spid="_x0000_s13409" name="Equation" r:id="rId1" imgW="2057400" imgH="444500" progId="Equation.3">
                  <p:embed/>
                </p:oleObj>
              </mc:Choice>
              <mc:Fallback>
                <p:oleObj name="Equation" r:id="rId1" imgW="2057400" imgH="4445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564904"/>
                        <a:ext cx="4040609" cy="873111"/>
                      </a:xfrm>
                      <a:prstGeom prst="rect">
                        <a:avLst/>
                      </a:prstGeom>
                      <a:noFill/>
                      <a:ln>
                        <a:noFill/>
                      </a:ln>
                      <a:effectLst/>
                    </p:spPr>
                  </p:pic>
                </p:oleObj>
              </mc:Fallback>
            </mc:AlternateContent>
          </a:graphicData>
        </a:graphic>
      </p:graphicFrame>
      <p:sp>
        <p:nvSpPr>
          <p:cNvPr id="5" name="Rectangle 6"/>
          <p:cNvSpPr txBox="1">
            <a:spLocks noChangeArrowheads="1"/>
          </p:cNvSpPr>
          <p:nvPr/>
        </p:nvSpPr>
        <p:spPr bwMode="auto">
          <a:xfrm>
            <a:off x="780390" y="116632"/>
            <a:ext cx="7583219" cy="70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2.3  </a:t>
            </a:r>
            <a:r>
              <a:rPr lang="zh-CN" altLang="en-US" sz="3600" b="0" dirty="0">
                <a:solidFill>
                  <a:srgbClr val="1557AE"/>
                </a:solidFill>
                <a:latin typeface="微软雅黑" charset="0"/>
                <a:ea typeface="微软雅黑" charset="0"/>
                <a:cs typeface="微软雅黑" charset="0"/>
              </a:rPr>
              <a:t>数据集成和变换</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312434" y="1560354"/>
            <a:ext cx="850508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相关性分析用于属性选择</a:t>
            </a:r>
            <a:endParaRPr lang="zh-CN" altLang="en-US" sz="2800" b="0" dirty="0">
              <a:solidFill>
                <a:srgbClr val="FF0000"/>
              </a:solidFill>
              <a:latin typeface="微软雅黑" charset="0"/>
              <a:ea typeface="微软雅黑" charset="0"/>
              <a:cs typeface="Calibri" panose="020F0502020204030204" pitchFamily="34" charset="0"/>
            </a:endParaRPr>
          </a:p>
        </p:txBody>
      </p:sp>
      <p:graphicFrame>
        <p:nvGraphicFramePr>
          <p:cNvPr id="38" name="Group 37"/>
          <p:cNvGraphicFramePr>
            <a:graphicFrameLocks noGrp="1"/>
          </p:cNvGraphicFramePr>
          <p:nvPr>
            <p:ph sz="half" idx="4294967295"/>
          </p:nvPr>
        </p:nvGraphicFramePr>
        <p:xfrm>
          <a:off x="517172" y="2852936"/>
          <a:ext cx="2934748" cy="2160242"/>
        </p:xfrm>
        <a:graphic>
          <a:graphicData uri="http://schemas.openxmlformats.org/drawingml/2006/table">
            <a:tbl>
              <a:tblPr>
                <a:tableStyleId>{8A107856-5554-42FB-B03E-39F5DBC370BA}</a:tableStyleId>
              </a:tblPr>
              <a:tblGrid>
                <a:gridCol w="1174508"/>
                <a:gridCol w="1760240"/>
              </a:tblGrid>
              <a:tr h="50596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b="1" u="none" strike="noStrike" cap="none" normalizeH="0" baseline="0" dirty="0">
                          <a:ln>
                            <a:noFill/>
                          </a:ln>
                          <a:solidFill>
                            <a:srgbClr val="FFFFE7"/>
                          </a:solidFill>
                          <a:effectLst/>
                          <a:latin typeface="微软雅黑" charset="0"/>
                          <a:ea typeface="微软雅黑" charset="0"/>
                          <a:cs typeface="Calibri" panose="020F0502020204030204" pitchFamily="34" charset="0"/>
                        </a:rPr>
                        <a:t>Outlook</a:t>
                      </a:r>
                      <a:endParaRPr kumimoji="0" lang="en-US" altLang="zh-TW" sz="1800" b="1" i="0" u="none" strike="noStrike" cap="none" normalizeH="0" baseline="0" dirty="0">
                        <a:ln>
                          <a:noFill/>
                        </a:ln>
                        <a:solidFill>
                          <a:srgbClr val="FFFFE7"/>
                        </a:solidFill>
                        <a:effectLst/>
                        <a:latin typeface="微软雅黑" charset="0"/>
                        <a:ea typeface="微软雅黑" charset="0"/>
                        <a:cs typeface="Calibri" panose="020F0502020204030204" pitchFamily="34" charset="0"/>
                      </a:endParaRPr>
                    </a:p>
                  </a:txBody>
                  <a:tcPr anchor="ctr" horzOverflow="overflow">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b="1" u="none" strike="noStrike" cap="none" normalizeH="0" baseline="0" dirty="0">
                          <a:ln>
                            <a:noFill/>
                          </a:ln>
                          <a:solidFill>
                            <a:srgbClr val="FFFFE7"/>
                          </a:solidFill>
                          <a:effectLst/>
                          <a:latin typeface="微软雅黑" charset="0"/>
                          <a:ea typeface="微软雅黑" charset="0"/>
                          <a:cs typeface="Calibri" panose="020F0502020204030204" pitchFamily="34" charset="0"/>
                        </a:rPr>
                        <a:t>Temperature</a:t>
                      </a:r>
                      <a:endParaRPr kumimoji="0" lang="en-US" altLang="zh-TW" sz="1800" b="1" i="0" u="none" strike="noStrike" cap="none" normalizeH="0" baseline="0" dirty="0">
                        <a:ln>
                          <a:noFill/>
                        </a:ln>
                        <a:solidFill>
                          <a:srgbClr val="FFFFE7"/>
                        </a:solidFill>
                        <a:effectLst/>
                        <a:latin typeface="微软雅黑" charset="0"/>
                        <a:ea typeface="微软雅黑" charset="0"/>
                        <a:cs typeface="Calibri" panose="020F0502020204030204" pitchFamily="34" charset="0"/>
                      </a:endParaRPr>
                    </a:p>
                  </a:txBody>
                  <a:tcPr anchor="ctr" horzOverflow="overflow">
                    <a:solidFill>
                      <a:schemeClr val="accent2">
                        <a:lumMod val="60000"/>
                        <a:lumOff val="40000"/>
                      </a:schemeClr>
                    </a:solidFill>
                  </a:tcPr>
                </a:tc>
              </a:tr>
              <a:tr h="55097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Sunny</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High</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55233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Cloudy</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Low</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55097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Sunny</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High</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bl>
          </a:graphicData>
        </a:graphic>
      </p:graphicFrame>
      <p:graphicFrame>
        <p:nvGraphicFramePr>
          <p:cNvPr id="39" name="Group 65"/>
          <p:cNvGraphicFramePr>
            <a:graphicFrameLocks noGrp="1"/>
          </p:cNvGraphicFramePr>
          <p:nvPr>
            <p:ph sz="half" idx="1"/>
          </p:nvPr>
        </p:nvGraphicFramePr>
        <p:xfrm>
          <a:off x="3638492" y="2420888"/>
          <a:ext cx="5184578" cy="3459164"/>
        </p:xfrm>
        <a:graphic>
          <a:graphicData uri="http://schemas.openxmlformats.org/drawingml/2006/table">
            <a:tbl>
              <a:tblPr>
                <a:tableStyleId>{8A107856-5554-42FB-B03E-39F5DBC370BA}</a:tableStyleId>
              </a:tblPr>
              <a:tblGrid>
                <a:gridCol w="1777571"/>
                <a:gridCol w="958735"/>
                <a:gridCol w="1115095"/>
                <a:gridCol w="1333177"/>
              </a:tblGrid>
              <a:tr h="106542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u="none" strike="noStrike" cap="none" normalizeH="0" baseline="0" dirty="0">
                          <a:ln>
                            <a:noFill/>
                          </a:ln>
                          <a:solidFill>
                            <a:schemeClr val="bg1"/>
                          </a:solidFill>
                          <a:effectLst/>
                          <a:latin typeface="微软雅黑" charset="0"/>
                          <a:ea typeface="微软雅黑" charset="0"/>
                          <a:cs typeface="微软雅黑" charset="0"/>
                        </a:rPr>
                        <a:t>T</a:t>
                      </a:r>
                      <a:r>
                        <a:rPr kumimoji="0" lang="en-US" altLang="zh-TW" sz="1600" b="1" u="none" strike="noStrike" cap="none" normalizeH="0" baseline="0" dirty="0">
                          <a:ln>
                            <a:noFill/>
                          </a:ln>
                          <a:solidFill>
                            <a:schemeClr val="bg1"/>
                          </a:solidFill>
                          <a:effectLst/>
                          <a:latin typeface="微软雅黑" charset="0"/>
                          <a:ea typeface="微软雅黑" charset="0"/>
                          <a:cs typeface="微软雅黑" charset="0"/>
                        </a:rPr>
                        <a:t>emperature</a:t>
                      </a:r>
                      <a:r>
                        <a:rPr kumimoji="0" lang="en-US" altLang="zh-TW" sz="1600" b="1" u="none" strike="noStrike" cap="none" normalizeH="0" baseline="0" dirty="0">
                          <a:ln>
                            <a:noFill/>
                          </a:ln>
                          <a:solidFill>
                            <a:schemeClr val="bg1"/>
                          </a:solidFill>
                          <a:effectLst/>
                          <a:latin typeface="微软雅黑" charset="0"/>
                          <a:ea typeface="微软雅黑" charset="0"/>
                          <a:cs typeface="微软雅黑" charset="0"/>
                          <a:sym typeface="Wingdings" panose="05000000000000000000" pitchFamily="2" charset="2"/>
                        </a:rPr>
                        <a:t></a:t>
                      </a:r>
                      <a:endParaRPr kumimoji="0" lang="en-US" altLang="zh-TW" sz="1600" b="1" u="none" strike="noStrike" cap="none" normalizeH="0" baseline="0" dirty="0">
                        <a:ln>
                          <a:noFill/>
                        </a:ln>
                        <a:solidFill>
                          <a:schemeClr val="bg1"/>
                        </a:solidFill>
                        <a:effectLst/>
                        <a:latin typeface="微软雅黑" charset="0"/>
                        <a:ea typeface="微软雅黑" charset="0"/>
                        <a:cs typeface="微软雅黑" charset="0"/>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b="1" u="none" strike="noStrike" cap="none" normalizeH="0" baseline="0" dirty="0">
                          <a:ln>
                            <a:noFill/>
                          </a:ln>
                          <a:solidFill>
                            <a:schemeClr val="bg1"/>
                          </a:solidFill>
                          <a:effectLst/>
                          <a:latin typeface="微软雅黑" charset="0"/>
                          <a:ea typeface="微软雅黑" charset="0"/>
                          <a:cs typeface="微软雅黑" charset="0"/>
                        </a:rPr>
                        <a:t>Outlook</a:t>
                      </a:r>
                      <a:endParaRPr kumimoji="0" lang="en-US" altLang="zh-TW" sz="1600" b="1" i="0" u="none" strike="noStrike" cap="none" normalizeH="0" baseline="0" dirty="0">
                        <a:ln>
                          <a:noFill/>
                        </a:ln>
                        <a:solidFill>
                          <a:schemeClr val="bg1"/>
                        </a:solidFill>
                        <a:effectLst/>
                        <a:latin typeface="微软雅黑" charset="0"/>
                        <a:ea typeface="微软雅黑" charset="0"/>
                        <a:cs typeface="微软雅黑" charset="0"/>
                      </a:endParaRPr>
                    </a:p>
                  </a:txBody>
                  <a:tcPr marT="45729" marB="45729" anchor="ctr" horzOverflow="overflow">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b="1" u="none" strike="noStrike" cap="none" normalizeH="0" baseline="0" dirty="0">
                          <a:ln>
                            <a:noFill/>
                          </a:ln>
                          <a:solidFill>
                            <a:schemeClr val="bg1"/>
                          </a:solidFill>
                          <a:effectLst/>
                          <a:latin typeface="微软雅黑" charset="0"/>
                          <a:ea typeface="微软雅黑" charset="0"/>
                        </a:rPr>
                        <a:t>High</a:t>
                      </a:r>
                      <a:endParaRPr kumimoji="0" lang="en-US" altLang="zh-TW" sz="16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T="45729" marB="45729" anchor="ctr" horzOverflow="overflow">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b="1" u="none" strike="noStrike" cap="none" normalizeH="0" baseline="0" dirty="0">
                          <a:ln>
                            <a:noFill/>
                          </a:ln>
                          <a:solidFill>
                            <a:schemeClr val="bg1"/>
                          </a:solidFill>
                          <a:effectLst/>
                          <a:latin typeface="微软雅黑" charset="0"/>
                          <a:ea typeface="微软雅黑" charset="0"/>
                        </a:rPr>
                        <a:t>Low</a:t>
                      </a:r>
                      <a:endParaRPr kumimoji="0" lang="en-US" altLang="zh-TW" sz="16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T="45729" marB="45729" anchor="ctr" horzOverflow="overflow">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b="1" u="none" strike="noStrike" cap="none" normalizeH="0" baseline="0" dirty="0">
                          <a:ln>
                            <a:noFill/>
                          </a:ln>
                          <a:solidFill>
                            <a:schemeClr val="bg1"/>
                          </a:solidFill>
                          <a:effectLst/>
                          <a:latin typeface="微软雅黑" charset="0"/>
                          <a:ea typeface="微软雅黑" charset="0"/>
                        </a:rPr>
                        <a:t>Outlook Subtotal</a:t>
                      </a:r>
                      <a:endParaRPr kumimoji="0" lang="en-US" altLang="zh-TW" sz="16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T="45729" marB="45729" anchor="ctr" horzOverflow="overflow">
                    <a:solidFill>
                      <a:schemeClr val="accent2">
                        <a:lumMod val="60000"/>
                        <a:lumOff val="40000"/>
                      </a:schemeClr>
                    </a:solidFill>
                  </a:tcPr>
                </a:tc>
              </a:tr>
              <a:tr h="71134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Sunny</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2</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0</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a:ln>
                            <a:noFill/>
                          </a:ln>
                          <a:effectLst/>
                          <a:latin typeface="微软雅黑" charset="0"/>
                          <a:ea typeface="微软雅黑" charset="0"/>
                        </a:rPr>
                        <a:t>2</a:t>
                      </a:r>
                      <a:endParaRPr kumimoji="0" lang="en-US" altLang="zh-TW"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r>
              <a:tr h="71293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Cloudy</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0</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1</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a:ln>
                            <a:noFill/>
                          </a:ln>
                          <a:effectLst/>
                          <a:latin typeface="微软雅黑" charset="0"/>
                          <a:ea typeface="微软雅黑" charset="0"/>
                        </a:rPr>
                        <a:t>1</a:t>
                      </a:r>
                      <a:endParaRPr kumimoji="0" lang="en-US" altLang="zh-TW"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r>
              <a:tr h="96946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Temperature</a:t>
                      </a:r>
                      <a:endParaRPr kumimoji="0" lang="en-US" altLang="zh-TW" sz="1600" u="none" strike="noStrike" cap="none" normalizeH="0" baseline="0" dirty="0">
                        <a:ln>
                          <a:noFill/>
                        </a:ln>
                        <a:effectLst/>
                        <a:latin typeface="微软雅黑" charset="0"/>
                        <a:ea typeface="微软雅黑" charset="0"/>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Subtotal:</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a:ln>
                            <a:noFill/>
                          </a:ln>
                          <a:effectLst/>
                          <a:latin typeface="微软雅黑" charset="0"/>
                          <a:ea typeface="微软雅黑" charset="0"/>
                        </a:rPr>
                        <a:t>2</a:t>
                      </a:r>
                      <a:endParaRPr kumimoji="0" lang="en-US" altLang="zh-TW"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1</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Total count in table =3</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T="45729" marB="45729" anchor="ctr" horzOverflow="overflow"/>
                </a:tc>
              </a:tr>
            </a:tbl>
          </a:graphicData>
        </a:graphic>
      </p:graphicFrame>
      <p:sp>
        <p:nvSpPr>
          <p:cNvPr id="7" name="Rectangle 6"/>
          <p:cNvSpPr txBox="1">
            <a:spLocks noChangeArrowheads="1"/>
          </p:cNvSpPr>
          <p:nvPr/>
        </p:nvSpPr>
        <p:spPr bwMode="auto">
          <a:xfrm>
            <a:off x="780390" y="116632"/>
            <a:ext cx="7583219" cy="70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2.3  </a:t>
            </a:r>
            <a:r>
              <a:rPr lang="zh-CN" altLang="en-US" sz="3600" b="0" dirty="0">
                <a:solidFill>
                  <a:srgbClr val="1557AE"/>
                </a:solidFill>
                <a:latin typeface="微软雅黑" charset="0"/>
                <a:ea typeface="微软雅黑" charset="0"/>
                <a:cs typeface="微软雅黑" charset="0"/>
              </a:rPr>
              <a:t>数据集成和变换</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312434" y="1412776"/>
            <a:ext cx="850508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零假设</a:t>
            </a:r>
            <a:r>
              <a:rPr lang="en-US" altLang="zh-CN" sz="2800" b="0" dirty="0">
                <a:solidFill>
                  <a:srgbClr val="FF0000"/>
                </a:solidFill>
                <a:latin typeface="微软雅黑" charset="0"/>
                <a:ea typeface="微软雅黑" charset="0"/>
                <a:cs typeface="微软雅黑" charset="0"/>
              </a:rPr>
              <a:t>Ho</a:t>
            </a:r>
            <a:r>
              <a:rPr lang="zh-CN" altLang="en-US" sz="2800" b="0" dirty="0">
                <a:solidFill>
                  <a:srgbClr val="FF0000"/>
                </a:solidFill>
                <a:latin typeface="微软雅黑" charset="0"/>
                <a:ea typeface="微软雅黑" charset="0"/>
                <a:cs typeface="微软雅黑" charset="0"/>
              </a:rPr>
              <a:t>：</a:t>
            </a:r>
            <a:r>
              <a:rPr lang="en-US" altLang="zh-TW" sz="2800" b="0" dirty="0">
                <a:solidFill>
                  <a:srgbClr val="FF0000"/>
                </a:solidFill>
                <a:latin typeface="微软雅黑" charset="0"/>
                <a:ea typeface="微软雅黑" charset="0"/>
                <a:cs typeface="微软雅黑" charset="0"/>
              </a:rPr>
              <a:t> Outlook</a:t>
            </a:r>
            <a:r>
              <a:rPr lang="zh-CN" altLang="en-US" sz="2800" b="0" dirty="0">
                <a:solidFill>
                  <a:srgbClr val="FF0000"/>
                </a:solidFill>
                <a:latin typeface="微软雅黑" charset="0"/>
                <a:ea typeface="微软雅黑" charset="0"/>
                <a:cs typeface="微软雅黑" charset="0"/>
              </a:rPr>
              <a:t>与</a:t>
            </a:r>
            <a:r>
              <a:rPr lang="en-US" altLang="zh-TW" sz="2800" b="0" dirty="0">
                <a:solidFill>
                  <a:srgbClr val="FF0000"/>
                </a:solidFill>
                <a:latin typeface="微软雅黑" charset="0"/>
                <a:ea typeface="微软雅黑" charset="0"/>
                <a:cs typeface="微软雅黑" charset="0"/>
              </a:rPr>
              <a:t>Temperature</a:t>
            </a:r>
            <a:r>
              <a:rPr lang="zh-CN" altLang="en-US" sz="2800" b="0" dirty="0">
                <a:solidFill>
                  <a:srgbClr val="FF0000"/>
                </a:solidFill>
                <a:latin typeface="微软雅黑" charset="0"/>
                <a:ea typeface="微软雅黑" charset="0"/>
                <a:cs typeface="微软雅黑" charset="0"/>
              </a:rPr>
              <a:t>无关。</a:t>
            </a:r>
            <a:endParaRPr lang="zh-CN" altLang="en-US" sz="2800" b="0" dirty="0">
              <a:solidFill>
                <a:srgbClr val="FF0000"/>
              </a:solidFill>
              <a:latin typeface="微软雅黑" charset="0"/>
              <a:ea typeface="微软雅黑" charset="0"/>
              <a:cs typeface="微软雅黑" charset="0"/>
            </a:endParaRPr>
          </a:p>
        </p:txBody>
      </p:sp>
      <p:graphicFrame>
        <p:nvGraphicFramePr>
          <p:cNvPr id="38" name="Group 37"/>
          <p:cNvGraphicFramePr>
            <a:graphicFrameLocks noGrp="1"/>
          </p:cNvGraphicFramePr>
          <p:nvPr>
            <p:ph sz="half" idx="4294967295"/>
          </p:nvPr>
        </p:nvGraphicFramePr>
        <p:xfrm>
          <a:off x="517172" y="2852936"/>
          <a:ext cx="2934748" cy="2160242"/>
        </p:xfrm>
        <a:graphic>
          <a:graphicData uri="http://schemas.openxmlformats.org/drawingml/2006/table">
            <a:tbl>
              <a:tblPr>
                <a:tableStyleId>{8A107856-5554-42FB-B03E-39F5DBC370BA}</a:tableStyleId>
              </a:tblPr>
              <a:tblGrid>
                <a:gridCol w="1174508"/>
                <a:gridCol w="1760240"/>
              </a:tblGrid>
              <a:tr h="50596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b="1" u="none" strike="noStrike" cap="none" normalizeH="0" baseline="0" dirty="0">
                          <a:ln>
                            <a:noFill/>
                          </a:ln>
                          <a:solidFill>
                            <a:srgbClr val="FFFFE7"/>
                          </a:solidFill>
                          <a:effectLst/>
                          <a:latin typeface="微软雅黑" charset="0"/>
                          <a:ea typeface="微软雅黑" charset="0"/>
                          <a:cs typeface="Calibri" panose="020F0502020204030204" pitchFamily="34" charset="0"/>
                        </a:rPr>
                        <a:t>Outlook</a:t>
                      </a:r>
                      <a:endParaRPr kumimoji="0" lang="en-US" altLang="zh-TW" sz="1800" b="1" i="0" u="none" strike="noStrike" cap="none" normalizeH="0" baseline="0" dirty="0">
                        <a:ln>
                          <a:noFill/>
                        </a:ln>
                        <a:solidFill>
                          <a:srgbClr val="FFFFE7"/>
                        </a:solidFill>
                        <a:effectLst/>
                        <a:latin typeface="微软雅黑" charset="0"/>
                        <a:ea typeface="微软雅黑" charset="0"/>
                        <a:cs typeface="Calibri" panose="020F0502020204030204" pitchFamily="34" charset="0"/>
                      </a:endParaRPr>
                    </a:p>
                  </a:txBody>
                  <a:tcPr anchor="ctr" horzOverflow="overflow">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b="1" u="none" strike="noStrike" cap="none" normalizeH="0" baseline="0" dirty="0">
                          <a:ln>
                            <a:noFill/>
                          </a:ln>
                          <a:solidFill>
                            <a:srgbClr val="FFFFE7"/>
                          </a:solidFill>
                          <a:effectLst/>
                          <a:latin typeface="微软雅黑" charset="0"/>
                          <a:ea typeface="微软雅黑" charset="0"/>
                          <a:cs typeface="Calibri" panose="020F0502020204030204" pitchFamily="34" charset="0"/>
                        </a:rPr>
                        <a:t>Temperature</a:t>
                      </a:r>
                      <a:endParaRPr kumimoji="0" lang="en-US" altLang="zh-TW" sz="1800" b="1" i="0" u="none" strike="noStrike" cap="none" normalizeH="0" baseline="0" dirty="0">
                        <a:ln>
                          <a:noFill/>
                        </a:ln>
                        <a:solidFill>
                          <a:srgbClr val="FFFFE7"/>
                        </a:solidFill>
                        <a:effectLst/>
                        <a:latin typeface="微软雅黑" charset="0"/>
                        <a:ea typeface="微软雅黑" charset="0"/>
                        <a:cs typeface="Calibri" panose="020F0502020204030204" pitchFamily="34" charset="0"/>
                      </a:endParaRPr>
                    </a:p>
                  </a:txBody>
                  <a:tcPr anchor="ctr" horzOverflow="overflow">
                    <a:solidFill>
                      <a:schemeClr val="accent2">
                        <a:lumMod val="60000"/>
                        <a:lumOff val="40000"/>
                      </a:schemeClr>
                    </a:solidFill>
                  </a:tcPr>
                </a:tc>
              </a:tr>
              <a:tr h="55097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Sunny</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High</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55233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Cloudy</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Low</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r h="55097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Sunny</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u="none" strike="noStrike" cap="none" normalizeH="0" baseline="0" dirty="0">
                          <a:ln>
                            <a:noFill/>
                          </a:ln>
                          <a:effectLst/>
                          <a:latin typeface="微软雅黑" charset="0"/>
                          <a:ea typeface="微软雅黑" charset="0"/>
                          <a:cs typeface="Calibri" panose="020F0502020204030204" pitchFamily="34" charset="0"/>
                        </a:rPr>
                        <a:t>High</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anchor="ctr" horzOverflow="overflow"/>
                </a:tc>
              </a:tr>
            </a:tbl>
          </a:graphicData>
        </a:graphic>
      </p:graphicFrame>
      <p:graphicFrame>
        <p:nvGraphicFramePr>
          <p:cNvPr id="39" name="Group 65"/>
          <p:cNvGraphicFramePr>
            <a:graphicFrameLocks noGrp="1"/>
          </p:cNvGraphicFramePr>
          <p:nvPr>
            <p:ph sz="half" idx="1"/>
          </p:nvPr>
        </p:nvGraphicFramePr>
        <p:xfrm>
          <a:off x="3638492" y="2420888"/>
          <a:ext cx="5184578" cy="3459164"/>
        </p:xfrm>
        <a:graphic>
          <a:graphicData uri="http://schemas.openxmlformats.org/drawingml/2006/table">
            <a:tbl>
              <a:tblPr>
                <a:tableStyleId>{8A107856-5554-42FB-B03E-39F5DBC370BA}</a:tableStyleId>
              </a:tblPr>
              <a:tblGrid>
                <a:gridCol w="1653588"/>
                <a:gridCol w="1224136"/>
                <a:gridCol w="1152128"/>
                <a:gridCol w="1154726"/>
              </a:tblGrid>
              <a:tr h="106542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1" u="none" strike="noStrike" cap="none" normalizeH="0" baseline="0" dirty="0">
                          <a:ln>
                            <a:noFill/>
                          </a:ln>
                          <a:solidFill>
                            <a:schemeClr val="bg1"/>
                          </a:solidFill>
                          <a:effectLst/>
                          <a:latin typeface="微软雅黑" charset="0"/>
                          <a:ea typeface="微软雅黑" charset="0"/>
                          <a:cs typeface="微软雅黑" charset="0"/>
                        </a:rPr>
                        <a:t>T</a:t>
                      </a:r>
                      <a:r>
                        <a:rPr kumimoji="0" lang="en-US" altLang="zh-TW" sz="1600" b="1" u="none" strike="noStrike" cap="none" normalizeH="0" baseline="0" dirty="0">
                          <a:ln>
                            <a:noFill/>
                          </a:ln>
                          <a:solidFill>
                            <a:schemeClr val="bg1"/>
                          </a:solidFill>
                          <a:effectLst/>
                          <a:latin typeface="微软雅黑" charset="0"/>
                          <a:ea typeface="微软雅黑" charset="0"/>
                          <a:cs typeface="微软雅黑" charset="0"/>
                        </a:rPr>
                        <a:t>emperature</a:t>
                      </a:r>
                      <a:r>
                        <a:rPr kumimoji="0" lang="en-US" altLang="zh-TW" sz="1600" b="1" u="none" strike="noStrike" cap="none" normalizeH="0" baseline="0" dirty="0">
                          <a:ln>
                            <a:noFill/>
                          </a:ln>
                          <a:solidFill>
                            <a:schemeClr val="bg1"/>
                          </a:solidFill>
                          <a:effectLst/>
                          <a:latin typeface="微软雅黑" charset="0"/>
                          <a:ea typeface="微软雅黑" charset="0"/>
                          <a:cs typeface="微软雅黑" charset="0"/>
                          <a:sym typeface="Wingdings" panose="05000000000000000000" pitchFamily="2" charset="2"/>
                        </a:rPr>
                        <a:t></a:t>
                      </a:r>
                      <a:endParaRPr kumimoji="0" lang="en-US" altLang="zh-TW" sz="1600" b="1" u="none" strike="noStrike" cap="none" normalizeH="0" baseline="0" dirty="0">
                        <a:ln>
                          <a:noFill/>
                        </a:ln>
                        <a:solidFill>
                          <a:schemeClr val="bg1"/>
                        </a:solidFill>
                        <a:effectLst/>
                        <a:latin typeface="微软雅黑" charset="0"/>
                        <a:ea typeface="微软雅黑" charset="0"/>
                        <a:cs typeface="微软雅黑" charset="0"/>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b="1" u="none" strike="noStrike" cap="none" normalizeH="0" baseline="0" dirty="0">
                          <a:ln>
                            <a:noFill/>
                          </a:ln>
                          <a:solidFill>
                            <a:schemeClr val="bg1"/>
                          </a:solidFill>
                          <a:effectLst/>
                          <a:latin typeface="微软雅黑" charset="0"/>
                          <a:ea typeface="微软雅黑" charset="0"/>
                          <a:cs typeface="微软雅黑" charset="0"/>
                        </a:rPr>
                        <a:t>Outlook</a:t>
                      </a:r>
                      <a:endParaRPr kumimoji="0" lang="en-US" altLang="zh-TW" sz="1600" b="1" i="0" u="none" strike="noStrike" cap="none" normalizeH="0" baseline="0" dirty="0">
                        <a:ln>
                          <a:noFill/>
                        </a:ln>
                        <a:solidFill>
                          <a:schemeClr val="bg1"/>
                        </a:solidFill>
                        <a:effectLst/>
                        <a:latin typeface="微软雅黑" charset="0"/>
                        <a:ea typeface="微软雅黑" charset="0"/>
                        <a:cs typeface="微软雅黑" charset="0"/>
                      </a:endParaRPr>
                    </a:p>
                  </a:txBody>
                  <a:tcPr marT="45729" marB="45729" anchor="ctr" horzOverflow="overflow">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b="1" u="none" strike="noStrike" cap="none" normalizeH="0" baseline="0" dirty="0">
                          <a:ln>
                            <a:noFill/>
                          </a:ln>
                          <a:solidFill>
                            <a:schemeClr val="bg1"/>
                          </a:solidFill>
                          <a:effectLst/>
                          <a:latin typeface="微软雅黑" charset="0"/>
                          <a:ea typeface="微软雅黑" charset="0"/>
                        </a:rPr>
                        <a:t>High</a:t>
                      </a:r>
                      <a:endParaRPr kumimoji="0" lang="en-US" altLang="zh-TW" sz="16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T="45729" marB="45729" anchor="ctr" horzOverflow="overflow">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b="1" u="none" strike="noStrike" cap="none" normalizeH="0" baseline="0" dirty="0">
                          <a:ln>
                            <a:noFill/>
                          </a:ln>
                          <a:solidFill>
                            <a:schemeClr val="bg1"/>
                          </a:solidFill>
                          <a:effectLst/>
                          <a:latin typeface="微软雅黑" charset="0"/>
                          <a:ea typeface="微软雅黑" charset="0"/>
                        </a:rPr>
                        <a:t>Low</a:t>
                      </a:r>
                      <a:endParaRPr kumimoji="0" lang="en-US" altLang="zh-TW" sz="16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T="45729" marB="45729" anchor="ctr" horzOverflow="overflow">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b="1" u="none" strike="noStrike" cap="none" normalizeH="0" baseline="0" dirty="0">
                          <a:ln>
                            <a:noFill/>
                          </a:ln>
                          <a:solidFill>
                            <a:schemeClr val="bg1"/>
                          </a:solidFill>
                          <a:effectLst/>
                          <a:latin typeface="微软雅黑" charset="0"/>
                          <a:ea typeface="微软雅黑" charset="0"/>
                        </a:rPr>
                        <a:t>Outlook Subtotal</a:t>
                      </a:r>
                      <a:endParaRPr kumimoji="0" lang="en-US" altLang="zh-TW" sz="1600" b="1" i="0" u="none" strike="noStrike" cap="none" normalizeH="0" baseline="0" dirty="0">
                        <a:ln>
                          <a:noFill/>
                        </a:ln>
                        <a:solidFill>
                          <a:schemeClr val="bg1"/>
                        </a:solidFill>
                        <a:effectLst/>
                        <a:latin typeface="微软雅黑" charset="0"/>
                        <a:ea typeface="微软雅黑" charset="0"/>
                        <a:cs typeface="Calibri" panose="020F0502020204030204" pitchFamily="34" charset="0"/>
                      </a:endParaRPr>
                    </a:p>
                  </a:txBody>
                  <a:tcPr marT="45729" marB="45729" anchor="ctr" horzOverflow="overflow">
                    <a:solidFill>
                      <a:schemeClr val="accent2">
                        <a:lumMod val="60000"/>
                        <a:lumOff val="40000"/>
                      </a:schemeClr>
                    </a:solidFill>
                  </a:tcPr>
                </a:tc>
              </a:tr>
              <a:tr h="71134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Sunny</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36000" marR="36000" marT="45729" marB="45729" anchor="ctr" anchorCtr="1"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3*2/3*2</a:t>
                      </a:r>
                      <a:r>
                        <a:rPr kumimoji="0" lang="en-US" altLang="zh-CN"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/3</a:t>
                      </a:r>
                      <a:r>
                        <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=1.33</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36000" marR="36000" marT="45715" marB="45715" anchor="ctr" anchorCtr="1"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3*2/3*1</a:t>
                      </a:r>
                      <a:r>
                        <a:rPr kumimoji="0" lang="en-US" altLang="zh-CN"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/3</a:t>
                      </a:r>
                      <a:r>
                        <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=0.67</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36000" marR="36000" marT="45715" marB="45715" anchor="ctr" anchorCtr="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a:ln>
                            <a:noFill/>
                          </a:ln>
                          <a:effectLst/>
                          <a:latin typeface="微软雅黑" charset="0"/>
                          <a:ea typeface="微软雅黑" charset="0"/>
                        </a:rPr>
                        <a:t>2</a:t>
                      </a:r>
                      <a:endParaRPr kumimoji="0" lang="en-US" altLang="zh-TW"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36000" marR="36000" marT="45729" marB="45729" anchor="ctr" anchorCtr="1" horzOverflow="overflow"/>
                </a:tc>
              </a:tr>
              <a:tr h="71293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Cloudy</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36000" marR="36000" marT="45729" marB="45729" anchor="ctr" anchorCtr="1"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3*1/3*2/3=0.67</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36000" marR="36000" marT="45715" marB="45715" anchor="ctr" anchorCtr="1"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rPr>
                        <a:t>3*1/3*1/3=0.33</a:t>
                      </a:r>
                      <a:endParaRPr kumimoji="0" lang="en-US" altLang="zh-TW" sz="18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36000" marR="36000" marT="45715" marB="45715" anchor="ctr" anchorCtr="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a:ln>
                            <a:noFill/>
                          </a:ln>
                          <a:effectLst/>
                          <a:latin typeface="微软雅黑" charset="0"/>
                          <a:ea typeface="微软雅黑" charset="0"/>
                        </a:rPr>
                        <a:t>1</a:t>
                      </a:r>
                      <a:endParaRPr kumimoji="0" lang="en-US" altLang="zh-TW"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36000" marR="36000" marT="45729" marB="45729" anchor="ctr" anchorCtr="1" horzOverflow="overflow"/>
                </a:tc>
              </a:tr>
              <a:tr h="96946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Temperature</a:t>
                      </a:r>
                      <a:endParaRPr kumimoji="0" lang="en-US" altLang="zh-TW" sz="1600" u="none" strike="noStrike" cap="none" normalizeH="0" baseline="0" dirty="0">
                        <a:ln>
                          <a:noFill/>
                        </a:ln>
                        <a:effectLst/>
                        <a:latin typeface="微软雅黑" charset="0"/>
                        <a:ea typeface="微软雅黑" charset="0"/>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Subtotal:</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36000" marR="36000" marT="45729" marB="45729" anchor="ctr" anchorCtr="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a:ln>
                            <a:noFill/>
                          </a:ln>
                          <a:effectLst/>
                          <a:latin typeface="微软雅黑" charset="0"/>
                          <a:ea typeface="微软雅黑" charset="0"/>
                        </a:rPr>
                        <a:t>2</a:t>
                      </a:r>
                      <a:endParaRPr kumimoji="0" lang="en-US" altLang="zh-TW" sz="1600" b="0" i="0" u="none" strike="noStrike" cap="none" normalizeH="0" baseline="0">
                        <a:ln>
                          <a:noFill/>
                        </a:ln>
                        <a:solidFill>
                          <a:schemeClr val="tx1"/>
                        </a:solidFill>
                        <a:effectLst/>
                        <a:latin typeface="微软雅黑" charset="0"/>
                        <a:ea typeface="微软雅黑" charset="0"/>
                        <a:cs typeface="Calibri" panose="020F0502020204030204" pitchFamily="34" charset="0"/>
                      </a:endParaRPr>
                    </a:p>
                  </a:txBody>
                  <a:tcPr marL="36000" marR="36000" marT="45729" marB="45729" anchor="ctr" anchorCtr="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1</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36000" marR="36000" marT="45729" marB="45729" anchor="ctr" anchorCtr="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TW" sz="1600" u="none" strike="noStrike" cap="none" normalizeH="0" baseline="0" dirty="0">
                          <a:ln>
                            <a:noFill/>
                          </a:ln>
                          <a:effectLst/>
                          <a:latin typeface="微软雅黑" charset="0"/>
                          <a:ea typeface="微软雅黑" charset="0"/>
                        </a:rPr>
                        <a:t>Total count in table =3</a:t>
                      </a:r>
                      <a:endParaRPr kumimoji="0" lang="en-US" altLang="zh-TW" sz="1600" b="0" i="0" u="none" strike="noStrike" cap="none" normalizeH="0" baseline="0" dirty="0">
                        <a:ln>
                          <a:noFill/>
                        </a:ln>
                        <a:solidFill>
                          <a:schemeClr val="tx1"/>
                        </a:solidFill>
                        <a:effectLst/>
                        <a:latin typeface="微软雅黑" charset="0"/>
                        <a:ea typeface="微软雅黑" charset="0"/>
                        <a:cs typeface="Calibri" panose="020F0502020204030204" pitchFamily="34" charset="0"/>
                      </a:endParaRPr>
                    </a:p>
                  </a:txBody>
                  <a:tcPr marL="36000" marR="36000" marT="45729" marB="45729" anchor="ctr" anchorCtr="1" horzOverflow="overflow"/>
                </a:tc>
              </a:tr>
            </a:tbl>
          </a:graphicData>
        </a:graphic>
      </p:graphicFrame>
      <p:sp>
        <p:nvSpPr>
          <p:cNvPr id="7" name="Rectangle 6"/>
          <p:cNvSpPr txBox="1">
            <a:spLocks noChangeArrowheads="1"/>
          </p:cNvSpPr>
          <p:nvPr/>
        </p:nvSpPr>
        <p:spPr bwMode="auto">
          <a:xfrm>
            <a:off x="780390" y="116632"/>
            <a:ext cx="7583219" cy="70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2.3  </a:t>
            </a:r>
            <a:r>
              <a:rPr lang="zh-CN" altLang="en-US" sz="3600" b="0" dirty="0">
                <a:solidFill>
                  <a:srgbClr val="1557AE"/>
                </a:solidFill>
                <a:latin typeface="微软雅黑" charset="0"/>
                <a:ea typeface="微软雅黑" charset="0"/>
                <a:cs typeface="微软雅黑" charset="0"/>
              </a:rPr>
              <a:t>数据集成和变换</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323528" y="1052736"/>
            <a:ext cx="850508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零假设</a:t>
            </a:r>
            <a:r>
              <a:rPr lang="en-US" altLang="zh-CN" sz="2800" b="0" dirty="0">
                <a:solidFill>
                  <a:srgbClr val="FF0000"/>
                </a:solidFill>
                <a:latin typeface="微软雅黑" charset="0"/>
                <a:ea typeface="微软雅黑" charset="0"/>
                <a:cs typeface="微软雅黑" charset="0"/>
              </a:rPr>
              <a:t>Ho</a:t>
            </a:r>
            <a:r>
              <a:rPr lang="zh-CN" altLang="en-US" sz="2800" b="0" dirty="0">
                <a:solidFill>
                  <a:srgbClr val="FF0000"/>
                </a:solidFill>
                <a:latin typeface="微软雅黑" charset="0"/>
                <a:ea typeface="微软雅黑" charset="0"/>
                <a:cs typeface="微软雅黑" charset="0"/>
              </a:rPr>
              <a:t>：</a:t>
            </a:r>
            <a:r>
              <a:rPr lang="en-US" altLang="zh-TW" sz="2800" b="0" dirty="0">
                <a:solidFill>
                  <a:srgbClr val="FF0000"/>
                </a:solidFill>
                <a:latin typeface="微软雅黑" charset="0"/>
                <a:ea typeface="微软雅黑" charset="0"/>
                <a:cs typeface="微软雅黑" charset="0"/>
              </a:rPr>
              <a:t> Outlook</a:t>
            </a:r>
            <a:r>
              <a:rPr lang="zh-CN" altLang="en-US" sz="2800" b="0" dirty="0">
                <a:solidFill>
                  <a:srgbClr val="FF0000"/>
                </a:solidFill>
                <a:latin typeface="微软雅黑" charset="0"/>
                <a:ea typeface="微软雅黑" charset="0"/>
                <a:cs typeface="微软雅黑" charset="0"/>
              </a:rPr>
              <a:t>与</a:t>
            </a:r>
            <a:r>
              <a:rPr lang="en-US" altLang="zh-TW" sz="2800" b="0" dirty="0">
                <a:solidFill>
                  <a:srgbClr val="FF0000"/>
                </a:solidFill>
                <a:latin typeface="微软雅黑" charset="0"/>
                <a:ea typeface="微软雅黑" charset="0"/>
                <a:cs typeface="微软雅黑" charset="0"/>
              </a:rPr>
              <a:t>Temperature</a:t>
            </a:r>
            <a:r>
              <a:rPr lang="zh-CN" altLang="en-US" sz="2800" b="0" dirty="0">
                <a:solidFill>
                  <a:srgbClr val="FF0000"/>
                </a:solidFill>
                <a:latin typeface="微软雅黑" charset="0"/>
                <a:ea typeface="微软雅黑" charset="0"/>
                <a:cs typeface="微软雅黑" charset="0"/>
              </a:rPr>
              <a:t>无关。</a:t>
            </a:r>
            <a:endParaRPr lang="zh-CN" altLang="en-US" sz="2800" b="0" dirty="0">
              <a:solidFill>
                <a:srgbClr val="FF0000"/>
              </a:solidFill>
              <a:latin typeface="微软雅黑" charset="0"/>
              <a:ea typeface="微软雅黑" charset="0"/>
              <a:cs typeface="微软雅黑" charset="0"/>
            </a:endParaRPr>
          </a:p>
        </p:txBody>
      </p:sp>
      <p:pic>
        <p:nvPicPr>
          <p:cNvPr id="8" name="Picture 10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7435" y="1916832"/>
            <a:ext cx="7139886" cy="1421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3" name="TextBox 2"/>
              <p:cNvSpPr txBox="1"/>
              <p:nvPr/>
            </p:nvSpPr>
            <p:spPr>
              <a:xfrm>
                <a:off x="667673" y="3043248"/>
                <a:ext cx="7416133" cy="100206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rgbClr val="1557AE"/>
                          </a:solidFill>
                          <a:effectLst/>
                          <a:latin typeface="DejaVu Math TeX Gyre" panose="02000503000000000000" charset="0"/>
                          <a:ea typeface="微软雅黑" charset="0"/>
                          <a:cs typeface="DejaVu Math TeX Gyre" panose="02000503000000000000" charset="0"/>
                        </a:rPr>
                        <m:t>𝑐ℎ𝑖</m:t>
                      </m:r>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r>
                        <a:rPr lang="en-US" altLang="zh-CN" b="0" i="1" smtClean="0">
                          <a:solidFill>
                            <a:srgbClr val="1557AE"/>
                          </a:solidFill>
                          <a:effectLst/>
                          <a:latin typeface="DejaVu Math TeX Gyre" panose="02000503000000000000" charset="0"/>
                          <a:ea typeface="微软雅黑" charset="0"/>
                          <a:cs typeface="DejaVu Math TeX Gyre" panose="02000503000000000000" charset="0"/>
                        </a:rPr>
                        <m:t>𝑠𝑞𝑢𝑎𝑟𝑒𝑑</m:t>
                      </m:r>
                      <m:d>
                        <m:dPr>
                          <m:ctrlPr>
                            <a:rPr lang="en-US" altLang="zh-CN" b="0" i="1" smtClean="0">
                              <a:solidFill>
                                <a:srgbClr val="1557AE"/>
                              </a:solidFill>
                              <a:effectLst/>
                              <a:latin typeface="DejaVu Math TeX Gyre" panose="02000503000000000000" charset="0"/>
                              <a:ea typeface="微软雅黑" charset="0"/>
                              <a:cs typeface="DejaVu Math TeX Gyre" panose="02000503000000000000" charset="0"/>
                            </a:rPr>
                          </m:ctrlPr>
                        </m:dPr>
                        <m:e>
                          <m:sSup>
                            <m:sSupPr>
                              <m:ctrlPr>
                                <a:rPr lang="en-US" altLang="zh-CN" b="0" i="1" smtClean="0">
                                  <a:solidFill>
                                    <a:srgbClr val="1557AE"/>
                                  </a:solidFill>
                                  <a:effectLst/>
                                  <a:latin typeface="DejaVu Math TeX Gyre" panose="02000503000000000000" charset="0"/>
                                  <a:ea typeface="微软雅黑" charset="0"/>
                                  <a:cs typeface="DejaVu Math TeX Gyre" panose="02000503000000000000" charset="0"/>
                                </a:rPr>
                              </m:ctrlPr>
                            </m:sSupPr>
                            <m:e>
                              <m:r>
                                <a:rPr lang="en-US" altLang="zh-CN" b="0" i="1" smtClean="0">
                                  <a:solidFill>
                                    <a:srgbClr val="1557AE"/>
                                  </a:solidFill>
                                  <a:effectLst/>
                                  <a:latin typeface="DejaVu Math TeX Gyre" panose="02000503000000000000" charset="0"/>
                                  <a:ea typeface="微软雅黑" charset="0"/>
                                  <a:cs typeface="DejaVu Math TeX Gyre" panose="02000503000000000000" charset="0"/>
                                </a:rPr>
                                <m:t>𝑥</m:t>
                              </m:r>
                            </m:e>
                            <m:sup>
                              <m:r>
                                <a:rPr lang="en-US" altLang="zh-CN" b="0" i="1" smtClean="0">
                                  <a:solidFill>
                                    <a:srgbClr val="1557AE"/>
                                  </a:solidFill>
                                  <a:effectLst/>
                                  <a:latin typeface="DejaVu Math TeX Gyre" panose="02000503000000000000" charset="0"/>
                                  <a:ea typeface="宋体" charset="0"/>
                                  <a:cs typeface="DejaVu Math TeX Gyre" panose="02000503000000000000" charset="0"/>
                                </a:rPr>
                                <m:t>2</m:t>
                              </m:r>
                            </m:sup>
                          </m:sSup>
                        </m:e>
                      </m:d>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f>
                        <m:fPr>
                          <m:ctrlPr>
                            <a:rPr lang="en-US" altLang="zh-CN" b="0" i="1" smtClean="0">
                              <a:solidFill>
                                <a:srgbClr val="1557AE"/>
                              </a:solidFill>
                              <a:effectLst/>
                              <a:latin typeface="DejaVu Math TeX Gyre" panose="02000503000000000000" charset="0"/>
                              <a:ea typeface="微软雅黑" charset="0"/>
                              <a:cs typeface="DejaVu Math TeX Gyre" panose="02000503000000000000" charset="0"/>
                            </a:rPr>
                          </m:ctrlPr>
                        </m:fPr>
                        <m:num>
                          <m:sSup>
                            <m:sSupPr>
                              <m:ctrlPr>
                                <a:rPr lang="en-US" altLang="zh-CN" b="0" i="1" smtClean="0">
                                  <a:solidFill>
                                    <a:srgbClr val="1557AE"/>
                                  </a:solidFill>
                                  <a:effectLst/>
                                  <a:latin typeface="DejaVu Math TeX Gyre" panose="02000503000000000000" charset="0"/>
                                  <a:ea typeface="微软雅黑" charset="0"/>
                                  <a:cs typeface="DejaVu Math TeX Gyre" panose="02000503000000000000" charset="0"/>
                                </a:rPr>
                              </m:ctrlPr>
                            </m:sSupPr>
                            <m:e>
                              <m:d>
                                <m:dPr>
                                  <m:ctrlPr>
                                    <a:rPr lang="en-US" altLang="zh-CN" b="0" i="1" smtClean="0">
                                      <a:solidFill>
                                        <a:srgbClr val="1557AE"/>
                                      </a:solidFill>
                                      <a:effectLst/>
                                      <a:latin typeface="DejaVu Math TeX Gyre" panose="02000503000000000000" charset="0"/>
                                      <a:ea typeface="微软雅黑" charset="0"/>
                                      <a:cs typeface="DejaVu Math TeX Gyre" panose="02000503000000000000" charset="0"/>
                                    </a:rPr>
                                  </m:ctrlPr>
                                </m:dPr>
                                <m:e>
                                  <m:r>
                                    <a:rPr lang="en-US" altLang="zh-CN" b="0" i="1" smtClean="0">
                                      <a:solidFill>
                                        <a:srgbClr val="1557AE"/>
                                      </a:solidFill>
                                      <a:effectLst/>
                                      <a:latin typeface="DejaVu Math TeX Gyre" panose="02000503000000000000" charset="0"/>
                                      <a:ea typeface="宋体" charset="0"/>
                                      <a:cs typeface="DejaVu Math TeX Gyre" panose="02000503000000000000" charset="0"/>
                                    </a:rPr>
                                    <m:t>2</m:t>
                                  </m:r>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r>
                                    <a:rPr lang="en-US" altLang="zh-CN" b="0" i="1" smtClean="0">
                                      <a:solidFill>
                                        <a:srgbClr val="1557AE"/>
                                      </a:solidFill>
                                      <a:effectLst/>
                                      <a:latin typeface="DejaVu Math TeX Gyre" panose="02000503000000000000" charset="0"/>
                                      <a:ea typeface="宋体" charset="0"/>
                                      <a:cs typeface="DejaVu Math TeX Gyre" panose="02000503000000000000" charset="0"/>
                                    </a:rPr>
                                    <m:t>1</m:t>
                                  </m:r>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r>
                                    <a:rPr lang="en-US" altLang="zh-CN" b="0" i="1" smtClean="0">
                                      <a:solidFill>
                                        <a:srgbClr val="1557AE"/>
                                      </a:solidFill>
                                      <a:effectLst/>
                                      <a:latin typeface="DejaVu Math TeX Gyre" panose="02000503000000000000" charset="0"/>
                                      <a:ea typeface="宋体" charset="0"/>
                                      <a:cs typeface="DejaVu Math TeX Gyre" panose="02000503000000000000" charset="0"/>
                                    </a:rPr>
                                    <m:t>33</m:t>
                                  </m:r>
                                </m:e>
                              </m:d>
                            </m:e>
                            <m:sup>
                              <m:r>
                                <a:rPr lang="en-US" altLang="zh-CN" b="0" i="1" smtClean="0">
                                  <a:solidFill>
                                    <a:srgbClr val="1557AE"/>
                                  </a:solidFill>
                                  <a:effectLst/>
                                  <a:latin typeface="DejaVu Math TeX Gyre" panose="02000503000000000000" charset="0"/>
                                  <a:ea typeface="宋体" charset="0"/>
                                  <a:cs typeface="DejaVu Math TeX Gyre" panose="02000503000000000000" charset="0"/>
                                </a:rPr>
                                <m:t>2</m:t>
                              </m:r>
                            </m:sup>
                          </m:sSup>
                        </m:num>
                        <m:den>
                          <m:r>
                            <a:rPr lang="en-US" altLang="zh-CN" b="0" i="1" smtClean="0">
                              <a:solidFill>
                                <a:srgbClr val="1557AE"/>
                              </a:solidFill>
                              <a:effectLst/>
                              <a:latin typeface="DejaVu Math TeX Gyre" panose="02000503000000000000" charset="0"/>
                              <a:ea typeface="宋体" charset="0"/>
                              <a:cs typeface="DejaVu Math TeX Gyre" panose="02000503000000000000" charset="0"/>
                            </a:rPr>
                            <m:t>1</m:t>
                          </m:r>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r>
                            <a:rPr lang="en-US" altLang="zh-CN" b="0" i="1" smtClean="0">
                              <a:solidFill>
                                <a:srgbClr val="1557AE"/>
                              </a:solidFill>
                              <a:effectLst/>
                              <a:latin typeface="DejaVu Math TeX Gyre" panose="02000503000000000000" charset="0"/>
                              <a:ea typeface="宋体" charset="0"/>
                              <a:cs typeface="DejaVu Math TeX Gyre" panose="02000503000000000000" charset="0"/>
                            </a:rPr>
                            <m:t>33</m:t>
                          </m:r>
                        </m:den>
                      </m:f>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f>
                        <m:fPr>
                          <m:ctrlPr>
                            <a:rPr lang="en-US" altLang="zh-CN" b="0" i="1" smtClean="0">
                              <a:solidFill>
                                <a:srgbClr val="1557AE"/>
                              </a:solidFill>
                              <a:effectLst/>
                              <a:latin typeface="DejaVu Math TeX Gyre" panose="02000503000000000000" charset="0"/>
                              <a:ea typeface="微软雅黑" charset="0"/>
                              <a:cs typeface="DejaVu Math TeX Gyre" panose="02000503000000000000" charset="0"/>
                            </a:rPr>
                          </m:ctrlPr>
                        </m:fPr>
                        <m:num>
                          <m:sSup>
                            <m:sSupPr>
                              <m:ctrlPr>
                                <a:rPr lang="en-US" altLang="zh-CN" b="0" i="1" smtClean="0">
                                  <a:solidFill>
                                    <a:srgbClr val="1557AE"/>
                                  </a:solidFill>
                                  <a:effectLst/>
                                  <a:latin typeface="DejaVu Math TeX Gyre" panose="02000503000000000000" charset="0"/>
                                  <a:ea typeface="微软雅黑" charset="0"/>
                                  <a:cs typeface="DejaVu Math TeX Gyre" panose="02000503000000000000" charset="0"/>
                                </a:rPr>
                              </m:ctrlPr>
                            </m:sSupPr>
                            <m:e>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r>
                                <a:rPr lang="en-US" altLang="zh-CN" b="0" i="1" smtClean="0">
                                  <a:solidFill>
                                    <a:srgbClr val="1557AE"/>
                                  </a:solidFill>
                                  <a:effectLst/>
                                  <a:latin typeface="DejaVu Math TeX Gyre" panose="02000503000000000000" charset="0"/>
                                  <a:ea typeface="宋体" charset="0"/>
                                  <a:cs typeface="DejaVu Math TeX Gyre" panose="02000503000000000000" charset="0"/>
                                </a:rPr>
                                <m:t>0</m:t>
                              </m:r>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r>
                                <a:rPr lang="en-US" altLang="zh-CN" b="0" i="1" smtClean="0">
                                  <a:solidFill>
                                    <a:srgbClr val="1557AE"/>
                                  </a:solidFill>
                                  <a:effectLst/>
                                  <a:latin typeface="DejaVu Math TeX Gyre" panose="02000503000000000000" charset="0"/>
                                  <a:ea typeface="宋体" charset="0"/>
                                  <a:cs typeface="DejaVu Math TeX Gyre" panose="02000503000000000000" charset="0"/>
                                </a:rPr>
                                <m:t>67</m:t>
                              </m:r>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e>
                            <m:sup>
                              <m:r>
                                <a:rPr lang="en-US" altLang="zh-CN" b="0" i="1" smtClean="0">
                                  <a:solidFill>
                                    <a:srgbClr val="1557AE"/>
                                  </a:solidFill>
                                  <a:effectLst/>
                                  <a:latin typeface="DejaVu Math TeX Gyre" panose="02000503000000000000" charset="0"/>
                                  <a:ea typeface="宋体" charset="0"/>
                                  <a:cs typeface="DejaVu Math TeX Gyre" panose="02000503000000000000" charset="0"/>
                                </a:rPr>
                                <m:t>2</m:t>
                              </m:r>
                            </m:sup>
                          </m:sSup>
                        </m:num>
                        <m:den>
                          <m:r>
                            <a:rPr lang="en-US" altLang="zh-CN" b="0" i="1" smtClean="0">
                              <a:solidFill>
                                <a:srgbClr val="1557AE"/>
                              </a:solidFill>
                              <a:effectLst/>
                              <a:latin typeface="DejaVu Math TeX Gyre" panose="02000503000000000000" charset="0"/>
                              <a:ea typeface="宋体" charset="0"/>
                              <a:cs typeface="DejaVu Math TeX Gyre" panose="02000503000000000000" charset="0"/>
                            </a:rPr>
                            <m:t>0</m:t>
                          </m:r>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r>
                            <a:rPr lang="en-US" altLang="zh-CN" b="0" i="1" smtClean="0">
                              <a:solidFill>
                                <a:srgbClr val="1557AE"/>
                              </a:solidFill>
                              <a:effectLst/>
                              <a:latin typeface="DejaVu Math TeX Gyre" panose="02000503000000000000" charset="0"/>
                              <a:ea typeface="宋体" charset="0"/>
                              <a:cs typeface="DejaVu Math TeX Gyre" panose="02000503000000000000" charset="0"/>
                            </a:rPr>
                            <m:t>67</m:t>
                          </m:r>
                        </m:den>
                      </m:f>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f>
                        <m:fPr>
                          <m:ctrlPr>
                            <a:rPr lang="en-US" altLang="zh-CN" b="0" i="1" smtClean="0">
                              <a:solidFill>
                                <a:srgbClr val="1557AE"/>
                              </a:solidFill>
                              <a:effectLst/>
                              <a:latin typeface="DejaVu Math TeX Gyre" panose="02000503000000000000" charset="0"/>
                              <a:ea typeface="微软雅黑" charset="0"/>
                              <a:cs typeface="DejaVu Math TeX Gyre" panose="02000503000000000000" charset="0"/>
                            </a:rPr>
                          </m:ctrlPr>
                        </m:fPr>
                        <m:num>
                          <m:sSup>
                            <m:sSupPr>
                              <m:ctrlPr>
                                <a:rPr lang="en-US" altLang="zh-CN" b="0" i="1" smtClean="0">
                                  <a:solidFill>
                                    <a:srgbClr val="1557AE"/>
                                  </a:solidFill>
                                  <a:effectLst/>
                                  <a:latin typeface="DejaVu Math TeX Gyre" panose="02000503000000000000" charset="0"/>
                                  <a:ea typeface="微软雅黑" charset="0"/>
                                  <a:cs typeface="DejaVu Math TeX Gyre" panose="02000503000000000000" charset="0"/>
                                </a:rPr>
                              </m:ctrlPr>
                            </m:sSupPr>
                            <m:e>
                              <m:r>
                                <a:rPr lang="en-US" altLang="zh-CN" b="0" i="1">
                                  <a:solidFill>
                                    <a:srgbClr val="1557AE"/>
                                  </a:solidFill>
                                  <a:effectLst/>
                                  <a:latin typeface="DejaVu Math TeX Gyre" panose="02000503000000000000" charset="0"/>
                                  <a:ea typeface="宋体" charset="0"/>
                                  <a:cs typeface="DejaVu Math TeX Gyre" panose="02000503000000000000" charset="0"/>
                                </a:rPr>
                                <m:t>(</m:t>
                              </m:r>
                              <m:r>
                                <a:rPr lang="en-US" altLang="zh-CN" b="0" i="1" smtClean="0">
                                  <a:solidFill>
                                    <a:srgbClr val="1557AE"/>
                                  </a:solidFill>
                                  <a:effectLst/>
                                  <a:latin typeface="DejaVu Math TeX Gyre" panose="02000503000000000000" charset="0"/>
                                  <a:ea typeface="宋体" charset="0"/>
                                  <a:cs typeface="DejaVu Math TeX Gyre" panose="02000503000000000000" charset="0"/>
                                </a:rPr>
                                <m:t>0</m:t>
                              </m:r>
                              <m:r>
                                <a:rPr lang="en-US" altLang="zh-CN" b="0" i="1">
                                  <a:solidFill>
                                    <a:srgbClr val="1557AE"/>
                                  </a:solidFill>
                                  <a:effectLst/>
                                  <a:latin typeface="DejaVu Math TeX Gyre" panose="02000503000000000000" charset="0"/>
                                  <a:ea typeface="宋体" charset="0"/>
                                  <a:cs typeface="DejaVu Math TeX Gyre" panose="02000503000000000000" charset="0"/>
                                </a:rPr>
                                <m:t>−</m:t>
                              </m:r>
                              <m:r>
                                <a:rPr lang="en-US" altLang="zh-CN" b="0" i="1">
                                  <a:solidFill>
                                    <a:srgbClr val="1557AE"/>
                                  </a:solidFill>
                                  <a:effectLst/>
                                  <a:latin typeface="DejaVu Math TeX Gyre" panose="02000503000000000000" charset="0"/>
                                  <a:ea typeface="宋体" charset="0"/>
                                  <a:cs typeface="DejaVu Math TeX Gyre" panose="02000503000000000000" charset="0"/>
                                </a:rPr>
                                <m:t>0</m:t>
                              </m:r>
                              <m:r>
                                <a:rPr lang="en-US" altLang="zh-CN" b="0" i="1">
                                  <a:solidFill>
                                    <a:srgbClr val="1557AE"/>
                                  </a:solidFill>
                                  <a:effectLst/>
                                  <a:latin typeface="DejaVu Math TeX Gyre" panose="02000503000000000000" charset="0"/>
                                  <a:ea typeface="宋体" charset="0"/>
                                  <a:cs typeface="DejaVu Math TeX Gyre" panose="02000503000000000000" charset="0"/>
                                </a:rPr>
                                <m:t>.</m:t>
                              </m:r>
                              <m:r>
                                <a:rPr lang="en-US" altLang="zh-CN" b="0" i="1">
                                  <a:solidFill>
                                    <a:srgbClr val="1557AE"/>
                                  </a:solidFill>
                                  <a:effectLst/>
                                  <a:latin typeface="DejaVu Math TeX Gyre" panose="02000503000000000000" charset="0"/>
                                  <a:ea typeface="宋体" charset="0"/>
                                  <a:cs typeface="DejaVu Math TeX Gyre" panose="02000503000000000000" charset="0"/>
                                </a:rPr>
                                <m:t>67</m:t>
                              </m:r>
                              <m:r>
                                <a:rPr lang="en-US" altLang="zh-CN" b="0" i="1">
                                  <a:solidFill>
                                    <a:srgbClr val="1557AE"/>
                                  </a:solidFill>
                                  <a:effectLst/>
                                  <a:latin typeface="DejaVu Math TeX Gyre" panose="02000503000000000000" charset="0"/>
                                  <a:ea typeface="宋体" charset="0"/>
                                  <a:cs typeface="DejaVu Math TeX Gyre" panose="02000503000000000000" charset="0"/>
                                </a:rPr>
                                <m:t>)</m:t>
                              </m:r>
                            </m:e>
                            <m:sup>
                              <m:r>
                                <a:rPr lang="en-US" altLang="zh-CN" b="0" i="1" smtClean="0">
                                  <a:solidFill>
                                    <a:srgbClr val="1557AE"/>
                                  </a:solidFill>
                                  <a:effectLst/>
                                  <a:latin typeface="DejaVu Math TeX Gyre" panose="02000503000000000000" charset="0"/>
                                  <a:ea typeface="宋体" charset="0"/>
                                  <a:cs typeface="DejaVu Math TeX Gyre" panose="02000503000000000000" charset="0"/>
                                </a:rPr>
                                <m:t>2</m:t>
                              </m:r>
                            </m:sup>
                          </m:sSup>
                        </m:num>
                        <m:den>
                          <m:r>
                            <a:rPr lang="en-US" altLang="zh-CN" b="0" i="1" smtClean="0">
                              <a:solidFill>
                                <a:srgbClr val="1557AE"/>
                              </a:solidFill>
                              <a:effectLst/>
                              <a:latin typeface="DejaVu Math TeX Gyre" panose="02000503000000000000" charset="0"/>
                              <a:ea typeface="宋体" charset="0"/>
                              <a:cs typeface="DejaVu Math TeX Gyre" panose="02000503000000000000" charset="0"/>
                            </a:rPr>
                            <m:t>0</m:t>
                          </m:r>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r>
                            <a:rPr lang="en-US" altLang="zh-CN" b="0" i="1" smtClean="0">
                              <a:solidFill>
                                <a:srgbClr val="1557AE"/>
                              </a:solidFill>
                              <a:effectLst/>
                              <a:latin typeface="DejaVu Math TeX Gyre" panose="02000503000000000000" charset="0"/>
                              <a:ea typeface="宋体" charset="0"/>
                              <a:cs typeface="DejaVu Math TeX Gyre" panose="02000503000000000000" charset="0"/>
                            </a:rPr>
                            <m:t>67</m:t>
                          </m:r>
                        </m:den>
                      </m:f>
                      <m:r>
                        <a:rPr lang="en-US" altLang="zh-CN" b="0" i="1" smtClean="0">
                          <a:solidFill>
                            <a:srgbClr val="1557AE"/>
                          </a:solidFill>
                          <a:effectLst/>
                          <a:latin typeface="DejaVu Math TeX Gyre" panose="02000503000000000000" charset="0"/>
                          <a:ea typeface="宋体" charset="0"/>
                          <a:cs typeface="DejaVu Math TeX Gyre" panose="02000503000000000000" charset="0"/>
                        </a:rPr>
                        <m:t>+</m:t>
                      </m:r>
                      <m:f>
                        <m:fPr>
                          <m:ctrlPr>
                            <a:rPr lang="en-US" altLang="zh-CN" b="0" i="1">
                              <a:solidFill>
                                <a:srgbClr val="1557AE"/>
                              </a:solidFill>
                              <a:effectLst/>
                              <a:latin typeface="DejaVu Math TeX Gyre" panose="02000503000000000000" charset="0"/>
                              <a:ea typeface="微软雅黑" charset="0"/>
                              <a:cs typeface="DejaVu Math TeX Gyre" panose="02000503000000000000" charset="0"/>
                            </a:rPr>
                          </m:ctrlPr>
                        </m:fPr>
                        <m:num>
                          <m:sSup>
                            <m:sSupPr>
                              <m:ctrlPr>
                                <a:rPr lang="en-US" altLang="zh-CN" b="0" i="1">
                                  <a:solidFill>
                                    <a:srgbClr val="1557AE"/>
                                  </a:solidFill>
                                  <a:effectLst/>
                                  <a:latin typeface="DejaVu Math TeX Gyre" panose="02000503000000000000" charset="0"/>
                                  <a:ea typeface="微软雅黑" charset="0"/>
                                  <a:cs typeface="DejaVu Math TeX Gyre" panose="02000503000000000000" charset="0"/>
                                </a:rPr>
                              </m:ctrlPr>
                            </m:sSupPr>
                            <m:e>
                              <m:d>
                                <m:dPr>
                                  <m:ctrlPr>
                                    <a:rPr lang="en-US" altLang="zh-CN" b="0" i="1">
                                      <a:solidFill>
                                        <a:srgbClr val="1557AE"/>
                                      </a:solidFill>
                                      <a:effectLst/>
                                      <a:latin typeface="DejaVu Math TeX Gyre" panose="02000503000000000000" charset="0"/>
                                      <a:ea typeface="微软雅黑" charset="0"/>
                                      <a:cs typeface="DejaVu Math TeX Gyre" panose="02000503000000000000" charset="0"/>
                                    </a:rPr>
                                  </m:ctrlPr>
                                </m:dPr>
                                <m:e>
                                  <m:r>
                                    <a:rPr lang="en-US" altLang="zh-CN" b="0" i="1" smtClean="0">
                                      <a:solidFill>
                                        <a:srgbClr val="1557AE"/>
                                      </a:solidFill>
                                      <a:effectLst/>
                                      <a:latin typeface="DejaVu Math TeX Gyre" panose="02000503000000000000" charset="0"/>
                                      <a:ea typeface="宋体" charset="0"/>
                                      <a:cs typeface="DejaVu Math TeX Gyre" panose="02000503000000000000" charset="0"/>
                                    </a:rPr>
                                    <m:t>1</m:t>
                                  </m:r>
                                  <m:r>
                                    <a:rPr lang="en-US" altLang="zh-CN" b="0" i="1">
                                      <a:solidFill>
                                        <a:srgbClr val="1557AE"/>
                                      </a:solidFill>
                                      <a:effectLst/>
                                      <a:latin typeface="DejaVu Math TeX Gyre" panose="02000503000000000000" charset="0"/>
                                      <a:ea typeface="宋体" charset="0"/>
                                      <a:cs typeface="DejaVu Math TeX Gyre" panose="02000503000000000000" charset="0"/>
                                    </a:rPr>
                                    <m:t>−</m:t>
                                  </m:r>
                                  <m:r>
                                    <a:rPr lang="en-US" altLang="zh-CN" b="0" i="1" smtClean="0">
                                      <a:solidFill>
                                        <a:srgbClr val="1557AE"/>
                                      </a:solidFill>
                                      <a:effectLst/>
                                      <a:latin typeface="DejaVu Math TeX Gyre" panose="02000503000000000000" charset="0"/>
                                      <a:ea typeface="宋体" charset="0"/>
                                      <a:cs typeface="DejaVu Math TeX Gyre" panose="02000503000000000000" charset="0"/>
                                    </a:rPr>
                                    <m:t>0</m:t>
                                  </m:r>
                                  <m:r>
                                    <a:rPr lang="en-US" altLang="zh-CN" b="0" i="1">
                                      <a:solidFill>
                                        <a:srgbClr val="1557AE"/>
                                      </a:solidFill>
                                      <a:effectLst/>
                                      <a:latin typeface="DejaVu Math TeX Gyre" panose="02000503000000000000" charset="0"/>
                                      <a:ea typeface="宋体" charset="0"/>
                                      <a:cs typeface="DejaVu Math TeX Gyre" panose="02000503000000000000" charset="0"/>
                                    </a:rPr>
                                    <m:t>.</m:t>
                                  </m:r>
                                  <m:r>
                                    <a:rPr lang="en-US" altLang="zh-CN" b="0" i="1">
                                      <a:solidFill>
                                        <a:srgbClr val="1557AE"/>
                                      </a:solidFill>
                                      <a:effectLst/>
                                      <a:latin typeface="DejaVu Math TeX Gyre" panose="02000503000000000000" charset="0"/>
                                      <a:ea typeface="宋体" charset="0"/>
                                      <a:cs typeface="DejaVu Math TeX Gyre" panose="02000503000000000000" charset="0"/>
                                    </a:rPr>
                                    <m:t>33</m:t>
                                  </m:r>
                                </m:e>
                              </m:d>
                            </m:e>
                            <m:sup>
                              <m:r>
                                <a:rPr lang="en-US" altLang="zh-CN" b="0" i="1">
                                  <a:solidFill>
                                    <a:srgbClr val="1557AE"/>
                                  </a:solidFill>
                                  <a:effectLst/>
                                  <a:latin typeface="DejaVu Math TeX Gyre" panose="02000503000000000000" charset="0"/>
                                  <a:ea typeface="宋体" charset="0"/>
                                  <a:cs typeface="DejaVu Math TeX Gyre" panose="02000503000000000000" charset="0"/>
                                </a:rPr>
                                <m:t>2</m:t>
                              </m:r>
                            </m:sup>
                          </m:sSup>
                        </m:num>
                        <m:den>
                          <m:r>
                            <a:rPr lang="en-US" altLang="zh-CN" b="0" i="1" smtClean="0">
                              <a:solidFill>
                                <a:srgbClr val="1557AE"/>
                              </a:solidFill>
                              <a:effectLst/>
                              <a:latin typeface="DejaVu Math TeX Gyre" panose="02000503000000000000" charset="0"/>
                              <a:ea typeface="宋体" charset="0"/>
                              <a:cs typeface="DejaVu Math TeX Gyre" panose="02000503000000000000" charset="0"/>
                            </a:rPr>
                            <m:t>0</m:t>
                          </m:r>
                          <m:r>
                            <a:rPr lang="en-US" altLang="zh-CN" b="0" i="1">
                              <a:solidFill>
                                <a:srgbClr val="1557AE"/>
                              </a:solidFill>
                              <a:effectLst/>
                              <a:latin typeface="DejaVu Math TeX Gyre" panose="02000503000000000000" charset="0"/>
                              <a:ea typeface="宋体" charset="0"/>
                              <a:cs typeface="DejaVu Math TeX Gyre" panose="02000503000000000000" charset="0"/>
                            </a:rPr>
                            <m:t>.</m:t>
                          </m:r>
                          <m:r>
                            <a:rPr lang="en-US" altLang="zh-CN" b="0" i="1">
                              <a:solidFill>
                                <a:srgbClr val="1557AE"/>
                              </a:solidFill>
                              <a:effectLst/>
                              <a:latin typeface="DejaVu Math TeX Gyre" panose="02000503000000000000" charset="0"/>
                              <a:ea typeface="宋体" charset="0"/>
                              <a:cs typeface="DejaVu Math TeX Gyre" panose="02000503000000000000" charset="0"/>
                            </a:rPr>
                            <m:t>33</m:t>
                          </m:r>
                        </m:den>
                      </m:f>
                    </m:oMath>
                  </m:oMathPara>
                </a14:m>
                <a:endParaRPr lang="en-US" altLang="zh-CN" b="0" dirty="0">
                  <a:solidFill>
                    <a:srgbClr val="1557AE"/>
                  </a:solidFill>
                  <a:effectLst/>
                  <a:latin typeface="微软雅黑" charset="0"/>
                  <a:ea typeface="微软雅黑" charset="0"/>
                  <a:cs typeface="微软雅黑" charset="0"/>
                </a:endParaRPr>
              </a:p>
              <a:p>
                <a:pPr>
                  <a:spcBef>
                    <a:spcPts val="600"/>
                  </a:spcBef>
                </a:pPr>
                <a:r>
                  <a:rPr lang="en-US" altLang="zh-CN" b="0" dirty="0">
                    <a:solidFill>
                      <a:srgbClr val="1557AE"/>
                    </a:solidFill>
                    <a:effectLst/>
                    <a:latin typeface="微软雅黑" charset="0"/>
                    <a:ea typeface="微软雅黑" charset="0"/>
                    <a:cs typeface="微软雅黑" charset="0"/>
                  </a:rPr>
                  <a:t>=0.33+0.67+0.67+1.33=3</a:t>
                </a:r>
                <a:endParaRPr lang="zh-CN" altLang="en-US" b="0" dirty="0">
                  <a:solidFill>
                    <a:srgbClr val="1557AE"/>
                  </a:solidFill>
                  <a:effectLst/>
                  <a:latin typeface="微软雅黑" charset="0"/>
                  <a:ea typeface="微软雅黑" charset="0"/>
                  <a:cs typeface="微软雅黑" charset="0"/>
                </a:endParaRPr>
              </a:p>
            </p:txBody>
          </p:sp>
        </mc:Choice>
        <mc:Fallback>
          <p:sp>
            <p:nvSpPr>
              <p:cNvPr id="3" name="TextBox 2"/>
              <p:cNvSpPr txBox="1">
                <a:spLocks noRot="1" noChangeAspect="1" noMove="1" noResize="1" noEditPoints="1" noAdjustHandles="1" noChangeArrowheads="1" noChangeShapeType="1" noTextEdit="1"/>
              </p:cNvSpPr>
              <p:nvPr/>
            </p:nvSpPr>
            <p:spPr>
              <a:xfrm>
                <a:off x="667673" y="3043248"/>
                <a:ext cx="7416133" cy="1002069"/>
              </a:xfrm>
              <a:prstGeom prst="rect">
                <a:avLst/>
              </a:prstGeom>
              <a:blipFill rotWithShape="1">
                <a:blip r:embed="rId2"/>
                <a:stretch>
                  <a:fillRect l="-4" t="-33" r="-10468" b="37"/>
                </a:stretch>
              </a:blipFill>
            </p:spPr>
            <p:txBody>
              <a:bodyPr/>
              <a:lstStyle/>
              <a:p>
                <a:r>
                  <a:rPr lang="zh-CN" altLang="en-US">
                    <a:noFill/>
                  </a:rPr>
                  <a:t> </a:t>
                </a:r>
              </a:p>
            </p:txBody>
          </p:sp>
        </mc:Fallback>
      </mc:AlternateContent>
      <p:sp>
        <p:nvSpPr>
          <p:cNvPr id="9" name="矩形 8"/>
          <p:cNvSpPr/>
          <p:nvPr/>
        </p:nvSpPr>
        <p:spPr>
          <a:xfrm>
            <a:off x="589376" y="4320480"/>
            <a:ext cx="7896067" cy="830997"/>
          </a:xfrm>
          <a:prstGeom prst="rect">
            <a:avLst/>
          </a:prstGeom>
        </p:spPr>
        <p:txBody>
          <a:bodyPr wrap="square">
            <a:spAutoFit/>
          </a:bodyPr>
          <a:lstStyle/>
          <a:p>
            <a:pPr marL="342900" indent="-342900" algn="l">
              <a:lnSpc>
                <a:spcPct val="120000"/>
              </a:lnSpc>
              <a:buFont typeface="Wingdings" panose="05000000000000000000" pitchFamily="2" charset="2"/>
              <a:buChar char="Ø"/>
            </a:pPr>
            <a:r>
              <a:rPr lang="zh-CN" altLang="en-US" sz="2000" b="0" dirty="0">
                <a:solidFill>
                  <a:srgbClr val="1557AE"/>
                </a:solidFill>
                <a:latin typeface="微软雅黑" charset="0"/>
                <a:ea typeface="微软雅黑" charset="0"/>
                <a:cs typeface="微软雅黑" charset="0"/>
              </a:rPr>
              <a:t>确定</a:t>
            </a:r>
            <a:r>
              <a:rPr lang="zh-CN" altLang="en-US" sz="2000" b="0" dirty="0">
                <a:solidFill>
                  <a:srgbClr val="FF0000"/>
                </a:solidFill>
                <a:latin typeface="微软雅黑" charset="0"/>
                <a:ea typeface="微软雅黑" charset="0"/>
                <a:cs typeface="微软雅黑" charset="0"/>
              </a:rPr>
              <a:t>自由度</a:t>
            </a:r>
            <a:r>
              <a:rPr lang="en-US" altLang="zh-CN" sz="2000" b="0" dirty="0">
                <a:solidFill>
                  <a:srgbClr val="FF0000"/>
                </a:solidFill>
                <a:latin typeface="微软雅黑" charset="0"/>
                <a:ea typeface="微软雅黑" charset="0"/>
                <a:cs typeface="微软雅黑" charset="0"/>
              </a:rPr>
              <a:t>(?)</a:t>
            </a:r>
            <a:r>
              <a:rPr lang="zh-CN" altLang="en-US" sz="2000" b="0" dirty="0">
                <a:solidFill>
                  <a:srgbClr val="1557AE"/>
                </a:solidFill>
                <a:latin typeface="微软雅黑" charset="0"/>
                <a:ea typeface="微软雅黑" charset="0"/>
                <a:cs typeface="微软雅黑" charset="0"/>
              </a:rPr>
              <a:t>为</a:t>
            </a:r>
            <a:r>
              <a:rPr lang="en-US" altLang="zh-CN" sz="2000" b="0" dirty="0">
                <a:solidFill>
                  <a:srgbClr val="1557AE"/>
                </a:solidFill>
                <a:latin typeface="微软雅黑" charset="0"/>
                <a:ea typeface="微软雅黑" charset="0"/>
                <a:cs typeface="微软雅黑" charset="0"/>
              </a:rPr>
              <a:t>(2-1)×(2-1)=1 (</a:t>
            </a:r>
            <a:r>
              <a:rPr lang="en-US" altLang="zh-TW" sz="2000" b="0" dirty="0">
                <a:solidFill>
                  <a:srgbClr val="FF0000"/>
                </a:solidFill>
                <a:latin typeface="微软雅黑" charset="0"/>
                <a:ea typeface="微软雅黑" charset="0"/>
                <a:cs typeface="微软雅黑" charset="0"/>
                <a:sym typeface="Wingdings" panose="05000000000000000000" pitchFamily="2" charset="2"/>
              </a:rPr>
              <a:t>if table has n*m items, then freedom = (n-1)*(m-1)</a:t>
            </a:r>
            <a:r>
              <a:rPr lang="en-US" altLang="zh-CN" sz="2000" b="0" dirty="0">
                <a:solidFill>
                  <a:srgbClr val="1557AE"/>
                </a:solidFill>
                <a:latin typeface="微软雅黑" charset="0"/>
                <a:ea typeface="微软雅黑" charset="0"/>
                <a:cs typeface="微软雅黑" charset="0"/>
              </a:rPr>
              <a:t>)</a:t>
            </a:r>
            <a:r>
              <a:rPr lang="zh-CN" altLang="en-US" sz="2000" b="0" dirty="0">
                <a:solidFill>
                  <a:srgbClr val="1557AE"/>
                </a:solidFill>
                <a:latin typeface="微软雅黑" charset="0"/>
                <a:ea typeface="微软雅黑" charset="0"/>
                <a:cs typeface="微软雅黑" charset="0"/>
              </a:rPr>
              <a:t>，选择显著水平</a:t>
            </a:r>
            <a:r>
              <a:rPr lang="en-US" altLang="zh-CN" sz="2000" b="0" dirty="0">
                <a:solidFill>
                  <a:srgbClr val="FF0000"/>
                </a:solidFill>
                <a:latin typeface="微软雅黑" charset="0"/>
                <a:ea typeface="微软雅黑" charset="0"/>
                <a:cs typeface="微软雅黑" charset="0"/>
              </a:rPr>
              <a:t>α=0.05</a:t>
            </a:r>
            <a:r>
              <a:rPr lang="zh-CN" altLang="en-US" sz="2000" b="0" dirty="0">
                <a:solidFill>
                  <a:srgbClr val="FF0000"/>
                </a:solidFill>
                <a:latin typeface="微软雅黑" charset="0"/>
                <a:ea typeface="微软雅黑" charset="0"/>
                <a:cs typeface="微软雅黑" charset="0"/>
              </a:rPr>
              <a:t>。</a:t>
            </a:r>
            <a:endParaRPr lang="zh-CN" altLang="en-US" sz="2000" b="0" dirty="0">
              <a:solidFill>
                <a:srgbClr val="FF0000"/>
              </a:solidFill>
              <a:latin typeface="微软雅黑" charset="0"/>
              <a:ea typeface="微软雅黑" charset="0"/>
              <a:cs typeface="微软雅黑" charset="0"/>
            </a:endParaRPr>
          </a:p>
        </p:txBody>
      </p:sp>
      <p:pic>
        <p:nvPicPr>
          <p:cNvPr id="12" name="Picture 4"/>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675560" y="5205876"/>
            <a:ext cx="5850995" cy="1301402"/>
          </a:xfrm>
          <a:prstGeom prst="rect">
            <a:avLst/>
          </a:prstGeom>
          <a:noFill/>
          <a:extLst>
            <a:ext uri="{91240B29-F687-4F45-9708-019B960494DF}">
              <a14:hiddenLine xmlns:a14="http://schemas.microsoft.com/office/drawing/2010/main" w="9525">
                <a:solidFill>
                  <a:schemeClr val="tx1"/>
                </a:solidFill>
                <a:prstDash val="solid"/>
                <a:miter lim="800000"/>
                <a:headEnd type="none" w="med" len="med"/>
                <a:tailEnd type="none" w="med" len="med"/>
              </a14:hiddenLine>
            </a:ext>
          </a:extLst>
        </p:spPr>
      </p:pic>
      <p:sp>
        <p:nvSpPr>
          <p:cNvPr id="10" name="矩形 9"/>
          <p:cNvSpPr/>
          <p:nvPr/>
        </p:nvSpPr>
        <p:spPr>
          <a:xfrm>
            <a:off x="6530718" y="5487292"/>
            <a:ext cx="1811714" cy="646331"/>
          </a:xfrm>
          <a:prstGeom prst="rect">
            <a:avLst/>
          </a:prstGeom>
        </p:spPr>
        <p:txBody>
          <a:bodyPr wrap="none">
            <a:spAutoFit/>
          </a:bodyPr>
          <a:lstStyle/>
          <a:p>
            <a:r>
              <a:rPr lang="en-US" altLang="zh-TW" b="0" dirty="0">
                <a:solidFill>
                  <a:srgbClr val="FF0000"/>
                </a:solidFill>
                <a:latin typeface="微软雅黑" charset="0"/>
                <a:ea typeface="微软雅黑" charset="0"/>
                <a:cs typeface="微软雅黑" charset="0"/>
              </a:rPr>
              <a:t>3&lt;3.84!</a:t>
            </a:r>
            <a:endParaRPr lang="en-US" altLang="zh-TW" b="0" dirty="0">
              <a:solidFill>
                <a:srgbClr val="FF0000"/>
              </a:solidFill>
              <a:latin typeface="微软雅黑" charset="0"/>
              <a:ea typeface="微软雅黑" charset="0"/>
              <a:cs typeface="微软雅黑" charset="0"/>
            </a:endParaRPr>
          </a:p>
          <a:p>
            <a:r>
              <a:rPr lang="zh-CN" altLang="en-US" b="0" dirty="0">
                <a:solidFill>
                  <a:srgbClr val="FF0000"/>
                </a:solidFill>
                <a:latin typeface="微软雅黑" charset="0"/>
                <a:ea typeface="微软雅黑" charset="0"/>
                <a:cs typeface="微软雅黑" charset="0"/>
              </a:rPr>
              <a:t>不能拒绝零假设</a:t>
            </a:r>
            <a:endParaRPr lang="zh-CN" altLang="en-US" b="0" dirty="0">
              <a:solidFill>
                <a:srgbClr val="FF0000"/>
              </a:solidFill>
              <a:latin typeface="微软雅黑" charset="0"/>
              <a:ea typeface="微软雅黑" charset="0"/>
              <a:cs typeface="微软雅黑" charset="0"/>
            </a:endParaRPr>
          </a:p>
        </p:txBody>
      </p:sp>
      <p:sp>
        <p:nvSpPr>
          <p:cNvPr id="11" name="Rectangle 6"/>
          <p:cNvSpPr txBox="1">
            <a:spLocks noChangeArrowheads="1"/>
          </p:cNvSpPr>
          <p:nvPr/>
        </p:nvSpPr>
        <p:spPr bwMode="auto">
          <a:xfrm>
            <a:off x="780390" y="116632"/>
            <a:ext cx="7583219" cy="70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2.3  </a:t>
            </a:r>
            <a:r>
              <a:rPr lang="zh-CN" altLang="en-US" sz="3600" b="0" dirty="0">
                <a:solidFill>
                  <a:srgbClr val="1557AE"/>
                </a:solidFill>
                <a:latin typeface="微软雅黑" charset="0"/>
                <a:ea typeface="微软雅黑" charset="0"/>
                <a:cs typeface="微软雅黑" charset="0"/>
              </a:rPr>
              <a:t>数据集成和变换</a:t>
            </a:r>
            <a:endParaRPr lang="zh-CN" altLang="en-US" sz="3600" b="0" dirty="0">
              <a:solidFill>
                <a:srgbClr val="1557AE"/>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idx="1"/>
          </p:nvPr>
        </p:nvSpPr>
        <p:spPr>
          <a:xfrm>
            <a:off x="539552" y="1295400"/>
            <a:ext cx="8325742" cy="4267200"/>
          </a:xfrm>
        </p:spPr>
        <p:txBody>
          <a:bodyPr/>
          <a:lstStyle/>
          <a:p>
            <a:pPr marL="342900" indent="-342900" eaLnBrk="1" hangingPunct="1">
              <a:lnSpc>
                <a:spcPct val="150000"/>
              </a:lnSpc>
              <a:buClrTx/>
              <a:buSzPct val="100000"/>
              <a:buFont typeface="Wingdings" panose="05000000000000000000" pitchFamily="2" charset="2"/>
              <a:buChar char="n"/>
              <a:defRPr/>
            </a:pPr>
            <a:r>
              <a:rPr lang="zh-CN" altLang="en-US" sz="2800" b="0" kern="1200" dirty="0">
                <a:solidFill>
                  <a:srgbClr val="FF0000"/>
                </a:solidFill>
                <a:cs typeface="Calibri" panose="020F0502020204030204" pitchFamily="34" charset="0"/>
              </a:rPr>
              <a:t>数据变换：将数据转换或统一成适合挖掘的形式</a:t>
            </a:r>
            <a:endParaRPr lang="en-US" altLang="zh-CN" sz="2800" b="0" kern="1200" dirty="0">
              <a:solidFill>
                <a:srgbClr val="FF0000"/>
              </a:solidFill>
              <a:cs typeface="Calibri" panose="020F0502020204030204" pitchFamily="34" charset="0"/>
            </a:endParaRPr>
          </a:p>
          <a:p>
            <a:pPr lvl="1" eaLnBrk="1" hangingPunct="1">
              <a:lnSpc>
                <a:spcPct val="150000"/>
              </a:lnSpc>
              <a:spcBef>
                <a:spcPts val="0"/>
              </a:spcBef>
              <a:buClrTx/>
              <a:buSzPct val="100000"/>
              <a:buFont typeface="Wingdings" panose="05000000000000000000" pitchFamily="2" charset="2"/>
              <a:buChar char="Ø"/>
              <a:defRPr/>
            </a:pPr>
            <a:r>
              <a:rPr lang="zh-CN" altLang="en-US" sz="2200" b="0" kern="1200" dirty="0">
                <a:solidFill>
                  <a:srgbClr val="FF0000"/>
                </a:solidFill>
                <a:cs typeface="Calibri" panose="020F0502020204030204" pitchFamily="34" charset="0"/>
              </a:rPr>
              <a:t>规范化：</a:t>
            </a:r>
            <a:r>
              <a:rPr lang="zh-CN" altLang="en-US" sz="2200" b="0" kern="1200" dirty="0">
                <a:solidFill>
                  <a:srgbClr val="1557AE"/>
                </a:solidFill>
                <a:cs typeface="Calibri" panose="020F0502020204030204" pitchFamily="34" charset="0"/>
              </a:rPr>
              <a:t>将数据按比例缩放，使之落入一个小的特定区间</a:t>
            </a:r>
            <a:endParaRPr lang="zh-CN" altLang="en-US" sz="2200" b="0" kern="1200" dirty="0">
              <a:solidFill>
                <a:srgbClr val="1557AE"/>
              </a:solidFill>
              <a:cs typeface="Calibri" panose="020F0502020204030204" pitchFamily="34" charset="0"/>
            </a:endParaRPr>
          </a:p>
          <a:p>
            <a:pPr lvl="2" eaLnBrk="1" hangingPunct="1">
              <a:lnSpc>
                <a:spcPct val="150000"/>
              </a:lnSpc>
              <a:buClrTx/>
              <a:buSzPct val="100000"/>
              <a:buFont typeface="Arial" panose="020B0604020202090204" pitchFamily="34" charset="0"/>
              <a:buChar char="•"/>
              <a:defRPr/>
            </a:pPr>
            <a:r>
              <a:rPr lang="zh-CN" altLang="en-US" sz="2100" b="0" kern="1200" dirty="0">
                <a:solidFill>
                  <a:srgbClr val="1557AE"/>
                </a:solidFill>
                <a:cs typeface="Calibri" panose="020F0502020204030204" pitchFamily="34" charset="0"/>
              </a:rPr>
              <a:t>最小－最大规范化</a:t>
            </a:r>
            <a:endParaRPr lang="zh-CN" altLang="en-US" sz="2100" b="0" kern="1200" dirty="0">
              <a:solidFill>
                <a:srgbClr val="1557AE"/>
              </a:solidFill>
              <a:cs typeface="Calibri" panose="020F0502020204030204" pitchFamily="34" charset="0"/>
            </a:endParaRPr>
          </a:p>
          <a:p>
            <a:pPr lvl="2" eaLnBrk="1" hangingPunct="1">
              <a:lnSpc>
                <a:spcPct val="150000"/>
              </a:lnSpc>
              <a:buClrTx/>
              <a:buSzPct val="100000"/>
              <a:buFont typeface="Arial" panose="020B0604020202090204" pitchFamily="34" charset="0"/>
              <a:buChar char="•"/>
              <a:defRPr/>
            </a:pPr>
            <a:r>
              <a:rPr lang="en-US" altLang="zh-CN" sz="2100" b="0" kern="1200" dirty="0">
                <a:solidFill>
                  <a:srgbClr val="1557AE"/>
                </a:solidFill>
                <a:cs typeface="Calibri" panose="020F0502020204030204" pitchFamily="34" charset="0"/>
              </a:rPr>
              <a:t>z-score</a:t>
            </a:r>
            <a:r>
              <a:rPr lang="zh-CN" altLang="en-US" sz="2100" b="0" kern="1200" dirty="0">
                <a:solidFill>
                  <a:srgbClr val="1557AE"/>
                </a:solidFill>
                <a:cs typeface="Calibri" panose="020F0502020204030204" pitchFamily="34" charset="0"/>
              </a:rPr>
              <a:t>规范化</a:t>
            </a:r>
            <a:endParaRPr lang="zh-CN" altLang="en-US" sz="2100" b="0" kern="1200" dirty="0">
              <a:solidFill>
                <a:srgbClr val="1557AE"/>
              </a:solidFill>
              <a:cs typeface="Calibri" panose="020F0502020204030204" pitchFamily="34" charset="0"/>
            </a:endParaRPr>
          </a:p>
          <a:p>
            <a:pPr lvl="2" eaLnBrk="1" hangingPunct="1">
              <a:lnSpc>
                <a:spcPct val="150000"/>
              </a:lnSpc>
              <a:buClrTx/>
              <a:buSzPct val="100000"/>
              <a:buFont typeface="Arial" panose="020B0604020202090204" pitchFamily="34" charset="0"/>
              <a:buChar char="•"/>
              <a:defRPr/>
            </a:pPr>
            <a:r>
              <a:rPr lang="zh-CN" altLang="en-US" sz="2100" b="0" kern="1200" dirty="0">
                <a:solidFill>
                  <a:srgbClr val="1557AE"/>
                </a:solidFill>
                <a:cs typeface="Calibri" panose="020F0502020204030204" pitchFamily="34" charset="0"/>
              </a:rPr>
              <a:t>小数定标规范化</a:t>
            </a:r>
            <a:endParaRPr lang="zh-CN" altLang="en-US" sz="2100" b="0" kern="1200" dirty="0">
              <a:solidFill>
                <a:srgbClr val="1557AE"/>
              </a:solidFill>
              <a:cs typeface="Calibri" panose="020F0502020204030204" pitchFamily="34" charset="0"/>
            </a:endParaRPr>
          </a:p>
          <a:p>
            <a:pPr lvl="1" eaLnBrk="1" hangingPunct="1">
              <a:lnSpc>
                <a:spcPct val="150000"/>
              </a:lnSpc>
              <a:spcBef>
                <a:spcPts val="0"/>
              </a:spcBef>
              <a:buClrTx/>
              <a:buSzPct val="100000"/>
              <a:buFont typeface="Wingdings" panose="05000000000000000000" pitchFamily="2" charset="2"/>
              <a:buChar char="Ø"/>
              <a:defRPr/>
            </a:pPr>
            <a:r>
              <a:rPr lang="zh-CN" altLang="en-US" sz="2200" b="0" kern="1200" dirty="0">
                <a:solidFill>
                  <a:srgbClr val="FF0000"/>
                </a:solidFill>
                <a:cs typeface="Calibri" panose="020F0502020204030204" pitchFamily="34" charset="0"/>
              </a:rPr>
              <a:t>属性构造：</a:t>
            </a:r>
            <a:r>
              <a:rPr lang="zh-CN" altLang="en-US" sz="2200" b="0" kern="1200" dirty="0">
                <a:solidFill>
                  <a:srgbClr val="1557AE"/>
                </a:solidFill>
                <a:cs typeface="Calibri" panose="020F0502020204030204" pitchFamily="34" charset="0"/>
              </a:rPr>
              <a:t>通过现有属性构造新的属性，并添加到属性集中；以增加对高维数据的结构的理解和精确度</a:t>
            </a:r>
            <a:endParaRPr lang="en-US" altLang="zh-CN" sz="2200" b="0" kern="1200" dirty="0">
              <a:solidFill>
                <a:srgbClr val="1557AE"/>
              </a:solidFill>
              <a:cs typeface="Calibri" panose="020F0502020204030204" pitchFamily="34" charset="0"/>
            </a:endParaRPr>
          </a:p>
          <a:p>
            <a:pPr lvl="1" eaLnBrk="1" hangingPunct="1">
              <a:lnSpc>
                <a:spcPct val="150000"/>
              </a:lnSpc>
              <a:spcBef>
                <a:spcPts val="0"/>
              </a:spcBef>
              <a:buClrTx/>
              <a:buSzPct val="100000"/>
              <a:buFont typeface="Wingdings" panose="05000000000000000000" pitchFamily="2" charset="2"/>
              <a:buChar char="Ø"/>
              <a:defRPr/>
            </a:pPr>
            <a:r>
              <a:rPr lang="zh-CN" altLang="en-US" sz="2200" b="0" kern="1200" dirty="0">
                <a:solidFill>
                  <a:srgbClr val="FF0000"/>
                </a:solidFill>
                <a:cs typeface="Calibri" panose="020F0502020204030204" pitchFamily="34" charset="0"/>
              </a:rPr>
              <a:t>数据泛化：</a:t>
            </a:r>
            <a:r>
              <a:rPr lang="zh-CN" altLang="en-US" sz="2200" b="0" kern="1200" dirty="0">
                <a:solidFill>
                  <a:srgbClr val="1557AE"/>
                </a:solidFill>
                <a:cs typeface="Calibri" panose="020F0502020204030204" pitchFamily="34" charset="0"/>
              </a:rPr>
              <a:t>沿概念分层向上汇总</a:t>
            </a:r>
            <a:endParaRPr lang="zh-CN" altLang="en-US" sz="2200" b="0" kern="1200" dirty="0">
              <a:solidFill>
                <a:srgbClr val="1557AE"/>
              </a:solidFill>
              <a:cs typeface="Calibri" panose="020F0502020204030204" pitchFamily="34" charset="0"/>
            </a:endParaRPr>
          </a:p>
        </p:txBody>
      </p:sp>
      <p:sp>
        <p:nvSpPr>
          <p:cNvPr id="6" name="Rectangle 6"/>
          <p:cNvSpPr txBox="1">
            <a:spLocks noChangeArrowheads="1"/>
          </p:cNvSpPr>
          <p:nvPr/>
        </p:nvSpPr>
        <p:spPr bwMode="auto">
          <a:xfrm>
            <a:off x="780390" y="116632"/>
            <a:ext cx="7583219" cy="70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方正兰亭中黑_GBK" panose="02000000000000000000" pitchFamily="2" charset="-122"/>
                <a:ea typeface="方正兰亭中黑_GBK" panose="02000000000000000000" pitchFamily="2" charset="-122"/>
              </a:rPr>
              <a:t>2.3  </a:t>
            </a:r>
            <a:r>
              <a:rPr lang="zh-CN" altLang="en-US" sz="3600" b="0" dirty="0">
                <a:solidFill>
                  <a:srgbClr val="1557AE"/>
                </a:solidFill>
                <a:latin typeface="方正兰亭中黑_GBK" panose="02000000000000000000" pitchFamily="2" charset="-122"/>
                <a:ea typeface="方正兰亭中黑_GBK" panose="02000000000000000000" pitchFamily="2" charset="-122"/>
              </a:rPr>
              <a:t>数据集成和变换</a:t>
            </a:r>
            <a:endParaRPr lang="zh-CN" altLang="en-US" sz="3600" b="0" dirty="0">
              <a:solidFill>
                <a:srgbClr val="1557AE"/>
              </a:solidFill>
              <a:latin typeface="方正兰亭中黑_GBK" panose="02000000000000000000" pitchFamily="2" charset="-122"/>
              <a:ea typeface="方正兰亭中黑_GBK"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Rectangle 4"/>
          <p:cNvSpPr>
            <a:spLocks noGrp="1" noChangeArrowheads="1"/>
          </p:cNvSpPr>
          <p:nvPr>
            <p:ph idx="1"/>
          </p:nvPr>
        </p:nvSpPr>
        <p:spPr>
          <a:xfrm>
            <a:off x="569913" y="1310861"/>
            <a:ext cx="8077200" cy="4495800"/>
          </a:xfrm>
        </p:spPr>
        <p:txBody>
          <a:bodyPr>
            <a:normAutofit/>
          </a:bodyPr>
          <a:lstStyle/>
          <a:p>
            <a:pPr marL="342900" indent="-342900" eaLnBrk="1" hangingPunct="1">
              <a:lnSpc>
                <a:spcPct val="120000"/>
              </a:lnSpc>
              <a:buClrTx/>
              <a:buSzPct val="100000"/>
              <a:buFont typeface="Wingdings" panose="05000000000000000000" pitchFamily="2" charset="2"/>
              <a:buChar char="n"/>
              <a:defRPr/>
            </a:pPr>
            <a:r>
              <a:rPr lang="zh-CN" altLang="en-US" sz="2800" b="0" kern="1200" dirty="0">
                <a:solidFill>
                  <a:srgbClr val="FF0000"/>
                </a:solidFill>
                <a:cs typeface="Calibri" panose="020F0502020204030204" pitchFamily="34" charset="0"/>
              </a:rPr>
              <a:t>最小－最大规范化</a:t>
            </a:r>
            <a:endParaRPr lang="zh-CN" altLang="en-US" sz="2800" b="0" kern="1200" dirty="0">
              <a:solidFill>
                <a:srgbClr val="FF0000"/>
              </a:solidFill>
              <a:cs typeface="Calibri" panose="020F0502020204030204" pitchFamily="34" charset="0"/>
            </a:endParaRPr>
          </a:p>
          <a:p>
            <a:pPr marL="742950" lvl="1" indent="-285750" eaLnBrk="1" fontAlgn="auto" hangingPunct="1">
              <a:spcBef>
                <a:spcPts val="325"/>
              </a:spcBef>
              <a:spcAft>
                <a:spcPts val="0"/>
              </a:spcAft>
              <a:buFont typeface="Verdana" panose="020B0804030504040204"/>
              <a:buChar char="◦"/>
              <a:defRPr/>
            </a:pPr>
            <a:endParaRPr lang="zh-CN" altLang="en-US" b="0" dirty="0"/>
          </a:p>
          <a:p>
            <a:pPr marL="742950" lvl="1" indent="-285750" eaLnBrk="1" fontAlgn="auto" hangingPunct="1">
              <a:spcBef>
                <a:spcPts val="325"/>
              </a:spcBef>
              <a:spcAft>
                <a:spcPts val="0"/>
              </a:spcAft>
              <a:buFont typeface="Verdana" panose="020B0804030504040204"/>
              <a:buChar char="◦"/>
              <a:defRPr/>
            </a:pPr>
            <a:endParaRPr lang="zh-CN" altLang="en-US" b="0" dirty="0"/>
          </a:p>
          <a:p>
            <a:pPr marL="342900" indent="-342900" eaLnBrk="1" hangingPunct="1">
              <a:lnSpc>
                <a:spcPct val="120000"/>
              </a:lnSpc>
              <a:buClrTx/>
              <a:buSzPct val="100000"/>
              <a:buFont typeface="Wingdings" panose="05000000000000000000" pitchFamily="2" charset="2"/>
              <a:buChar char="n"/>
              <a:defRPr/>
            </a:pPr>
            <a:r>
              <a:rPr lang="en-US" altLang="zh-CN" sz="2800" b="0" kern="1200" dirty="0">
                <a:solidFill>
                  <a:srgbClr val="FF0000"/>
                </a:solidFill>
                <a:cs typeface="Calibri" panose="020F0502020204030204" pitchFamily="34" charset="0"/>
              </a:rPr>
              <a:t>z-score</a:t>
            </a:r>
            <a:r>
              <a:rPr lang="zh-CN" altLang="en-US" sz="2800" b="0" kern="1200" dirty="0">
                <a:solidFill>
                  <a:srgbClr val="FF0000"/>
                </a:solidFill>
                <a:cs typeface="Calibri" panose="020F0502020204030204" pitchFamily="34" charset="0"/>
              </a:rPr>
              <a:t>规范化：</a:t>
            </a:r>
            <a:r>
              <a:rPr lang="zh-CN" altLang="en-US" sz="2200" b="0" dirty="0">
                <a:solidFill>
                  <a:srgbClr val="1557AE"/>
                </a:solidFill>
              </a:rPr>
              <a:t>最大最小值未知，或者离群点影响较大的时候适用</a:t>
            </a:r>
            <a:endParaRPr lang="zh-CN" altLang="en-US" b="0" dirty="0">
              <a:solidFill>
                <a:srgbClr val="1557AE"/>
              </a:solidFill>
            </a:endParaRPr>
          </a:p>
          <a:p>
            <a:pPr marL="742950" lvl="1" indent="-285750" eaLnBrk="1" fontAlgn="auto" hangingPunct="1">
              <a:spcBef>
                <a:spcPts val="325"/>
              </a:spcBef>
              <a:spcAft>
                <a:spcPts val="0"/>
              </a:spcAft>
              <a:buFont typeface="Verdana" panose="020B0804030504040204"/>
              <a:buChar char="◦"/>
              <a:defRPr/>
            </a:pPr>
            <a:endParaRPr lang="zh-CN" altLang="en-US" b="0" dirty="0"/>
          </a:p>
          <a:p>
            <a:pPr marL="742950" lvl="1" indent="-285750" eaLnBrk="1" fontAlgn="auto" hangingPunct="1">
              <a:spcBef>
                <a:spcPts val="325"/>
              </a:spcBef>
              <a:spcAft>
                <a:spcPts val="0"/>
              </a:spcAft>
              <a:buFont typeface="Verdana" panose="020B0804030504040204"/>
              <a:buChar char="◦"/>
              <a:defRPr/>
            </a:pPr>
            <a:endParaRPr lang="zh-CN" altLang="en-US" b="0" dirty="0"/>
          </a:p>
          <a:p>
            <a:pPr marL="342900" indent="-342900" eaLnBrk="1" hangingPunct="1">
              <a:lnSpc>
                <a:spcPct val="120000"/>
              </a:lnSpc>
              <a:buClrTx/>
              <a:buSzPct val="100000"/>
              <a:buFont typeface="Wingdings" panose="05000000000000000000" pitchFamily="2" charset="2"/>
              <a:buChar char="n"/>
              <a:defRPr/>
            </a:pPr>
            <a:r>
              <a:rPr lang="zh-CN" altLang="en-US" sz="2800" b="0" kern="1200" dirty="0">
                <a:solidFill>
                  <a:srgbClr val="FF0000"/>
                </a:solidFill>
                <a:cs typeface="Calibri" panose="020F0502020204030204" pitchFamily="34" charset="0"/>
              </a:rPr>
              <a:t>小数定标规范化</a:t>
            </a:r>
            <a:endParaRPr lang="zh-CN" altLang="en-US" sz="2800" b="0" kern="1200" dirty="0">
              <a:solidFill>
                <a:srgbClr val="FF0000"/>
              </a:solidFill>
              <a:cs typeface="Calibri" panose="020F0502020204030204" pitchFamily="34" charset="0"/>
            </a:endParaRPr>
          </a:p>
          <a:p>
            <a:pPr marL="742950" lvl="1" indent="-285750" eaLnBrk="1" fontAlgn="auto" hangingPunct="1">
              <a:spcBef>
                <a:spcPts val="325"/>
              </a:spcBef>
              <a:spcAft>
                <a:spcPts val="0"/>
              </a:spcAft>
              <a:buFont typeface="Verdana" panose="020B0804030504040204"/>
              <a:buChar char="◦"/>
              <a:defRPr/>
            </a:pPr>
            <a:endParaRPr lang="zh-CN" altLang="en-US" b="0" dirty="0"/>
          </a:p>
          <a:p>
            <a:pPr marL="742950" lvl="1" indent="-285750" eaLnBrk="1" fontAlgn="auto" hangingPunct="1">
              <a:spcBef>
                <a:spcPts val="325"/>
              </a:spcBef>
              <a:spcAft>
                <a:spcPts val="0"/>
              </a:spcAft>
              <a:buFont typeface="Wingdings" panose="05000000000000000000" pitchFamily="2" charset="2"/>
              <a:buNone/>
              <a:defRPr/>
            </a:pPr>
            <a:endParaRPr lang="en-US" altLang="zh-CN" sz="2200" b="0" dirty="0"/>
          </a:p>
        </p:txBody>
      </p:sp>
      <p:graphicFrame>
        <p:nvGraphicFramePr>
          <p:cNvPr id="34820" name="Object 2"/>
          <p:cNvGraphicFramePr>
            <a:graphicFrameLocks noChangeAspect="1"/>
          </p:cNvGraphicFramePr>
          <p:nvPr/>
        </p:nvGraphicFramePr>
        <p:xfrm>
          <a:off x="755576" y="1948046"/>
          <a:ext cx="8267700" cy="901700"/>
        </p:xfrm>
        <a:graphic>
          <a:graphicData uri="http://schemas.openxmlformats.org/presentationml/2006/ole">
            <mc:AlternateContent xmlns:mc="http://schemas.openxmlformats.org/markup-compatibility/2006">
              <mc:Choice xmlns:v="urn:schemas-microsoft-com:vml" Requires="v">
                <p:oleObj spid="_x0000_s13409" name="公式" r:id="rId1" imgW="90525600" imgH="9753600" progId="Equation.3">
                  <p:embed/>
                </p:oleObj>
              </mc:Choice>
              <mc:Fallback>
                <p:oleObj name="公式" r:id="rId1" imgW="90525600" imgH="9753600" progId="Equation.3">
                  <p:embed/>
                  <p:pic>
                    <p:nvPicPr>
                      <p:cNvPr id="0" name="图片 5626"/>
                      <p:cNvPicPr>
                        <a:picLocks noChangeAspect="1" noChangeArrowheads="1"/>
                      </p:cNvPicPr>
                      <p:nvPr/>
                    </p:nvPicPr>
                    <p:blipFill>
                      <a:blip r:embed="rId2"/>
                      <a:srcRect/>
                      <a:stretch>
                        <a:fillRect/>
                      </a:stretch>
                    </p:blipFill>
                    <p:spPr bwMode="auto">
                      <a:xfrm>
                        <a:off x="755576" y="1948046"/>
                        <a:ext cx="8267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1" name="Object 3"/>
          <p:cNvGraphicFramePr>
            <a:graphicFrameLocks noChangeAspect="1"/>
          </p:cNvGraphicFramePr>
          <p:nvPr/>
        </p:nvGraphicFramePr>
        <p:xfrm>
          <a:off x="3075695" y="3541808"/>
          <a:ext cx="2811636" cy="930275"/>
        </p:xfrm>
        <a:graphic>
          <a:graphicData uri="http://schemas.openxmlformats.org/presentationml/2006/ole">
            <mc:AlternateContent xmlns:mc="http://schemas.openxmlformats.org/markup-compatibility/2006">
              <mc:Choice xmlns:v="urn:schemas-microsoft-com:vml" Requires="v">
                <p:oleObj spid="_x0000_s2" name="公式" r:id="rId3" imgW="30175200" imgH="10363200" progId="Equation.3">
                  <p:embed/>
                </p:oleObj>
              </mc:Choice>
              <mc:Fallback>
                <p:oleObj name="公式" r:id="rId3" imgW="30175200" imgH="10363200" progId="Equation.3">
                  <p:embed/>
                  <p:pic>
                    <p:nvPicPr>
                      <p:cNvPr id="0" name="图片 5627"/>
                      <p:cNvPicPr>
                        <a:picLocks noChangeAspect="1" noChangeArrowheads="1"/>
                      </p:cNvPicPr>
                      <p:nvPr/>
                    </p:nvPicPr>
                    <p:blipFill>
                      <a:blip r:embed="rId4"/>
                      <a:srcRect/>
                      <a:stretch>
                        <a:fillRect/>
                      </a:stretch>
                    </p:blipFill>
                    <p:spPr bwMode="auto">
                      <a:xfrm>
                        <a:off x="3075695" y="3541808"/>
                        <a:ext cx="2811636" cy="930275"/>
                      </a:xfrm>
                      <a:prstGeom prst="rect">
                        <a:avLst/>
                      </a:prstGeom>
                      <a:noFill/>
                      <a:ln>
                        <a:noFill/>
                      </a:ln>
                    </p:spPr>
                  </p:pic>
                </p:oleObj>
              </mc:Fallback>
            </mc:AlternateContent>
          </a:graphicData>
        </a:graphic>
      </p:graphicFrame>
      <p:graphicFrame>
        <p:nvGraphicFramePr>
          <p:cNvPr id="34822" name="Object 4"/>
          <p:cNvGraphicFramePr>
            <a:graphicFrameLocks noChangeAspect="1"/>
          </p:cNvGraphicFramePr>
          <p:nvPr/>
        </p:nvGraphicFramePr>
        <p:xfrm>
          <a:off x="3049220" y="5202362"/>
          <a:ext cx="1069975" cy="847725"/>
        </p:xfrm>
        <a:graphic>
          <a:graphicData uri="http://schemas.openxmlformats.org/presentationml/2006/ole">
            <mc:AlternateContent xmlns:mc="http://schemas.openxmlformats.org/markup-compatibility/2006">
              <mc:Choice xmlns:v="urn:schemas-microsoft-com:vml" Requires="v">
                <p:oleObj spid="_x0000_s3" name="Equation" r:id="rId5" imgW="495300" imgH="393700" progId="Equation.3">
                  <p:embed/>
                </p:oleObj>
              </mc:Choice>
              <mc:Fallback>
                <p:oleObj name="Equation" r:id="rId5" imgW="495300" imgH="393700" progId="Equation.3">
                  <p:embed/>
                  <p:pic>
                    <p:nvPicPr>
                      <p:cNvPr id="0" name="图片 56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9220" y="5202362"/>
                        <a:ext cx="10699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3" name="Object 5"/>
          <p:cNvGraphicFramePr>
            <a:graphicFrameLocks noChangeAspect="1"/>
          </p:cNvGraphicFramePr>
          <p:nvPr/>
        </p:nvGraphicFramePr>
        <p:xfrm>
          <a:off x="4368800" y="3094038"/>
          <a:ext cx="112713" cy="214312"/>
        </p:xfrm>
        <a:graphic>
          <a:graphicData uri="http://schemas.openxmlformats.org/presentationml/2006/ole">
            <mc:AlternateContent xmlns:mc="http://schemas.openxmlformats.org/markup-compatibility/2006">
              <mc:Choice xmlns:v="urn:schemas-microsoft-com:vml" Requires="v">
                <p:oleObj spid="_x0000_s4" name="Equation" r:id="rId7" imgW="114300" imgH="215900" progId="Equation.3">
                  <p:embed/>
                </p:oleObj>
              </mc:Choice>
              <mc:Fallback>
                <p:oleObj name="Equation" r:id="rId7" imgW="114300" imgH="215900" progId="Equation.3">
                  <p:embed/>
                  <p:pic>
                    <p:nvPicPr>
                      <p:cNvPr id="0" name="图片 56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68800" y="3094038"/>
                        <a:ext cx="112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4" name="Text Box 9"/>
          <p:cNvSpPr txBox="1">
            <a:spLocks noChangeArrowheads="1"/>
          </p:cNvSpPr>
          <p:nvPr/>
        </p:nvSpPr>
        <p:spPr bwMode="auto">
          <a:xfrm>
            <a:off x="1056113" y="6106053"/>
            <a:ext cx="612616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22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其中，</a:t>
            </a:r>
            <a:r>
              <a:rPr lang="en-US" altLang="zh-CN" sz="2200" b="0" i="1"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j </a:t>
            </a:r>
            <a:r>
              <a:rPr lang="zh-CN" altLang="en-US" sz="22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是使  </a:t>
            </a:r>
            <a:r>
              <a:rPr lang="en-US" altLang="zh-CN" sz="2200" b="0" i="1"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Max</a:t>
            </a:r>
            <a:r>
              <a:rPr lang="en-US" altLang="zh-CN" sz="22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  |)&lt;1</a:t>
            </a:r>
            <a:r>
              <a:rPr lang="zh-CN" altLang="en-US" sz="22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的最小整数</a:t>
            </a:r>
            <a:endParaRPr lang="zh-CN" altLang="en-US" sz="22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graphicFrame>
        <p:nvGraphicFramePr>
          <p:cNvPr id="34825" name="Object 6"/>
          <p:cNvGraphicFramePr>
            <a:graphicFrameLocks noChangeAspect="1"/>
          </p:cNvGraphicFramePr>
          <p:nvPr/>
        </p:nvGraphicFramePr>
        <p:xfrm>
          <a:off x="4224465" y="6140976"/>
          <a:ext cx="320675" cy="404813"/>
        </p:xfrm>
        <a:graphic>
          <a:graphicData uri="http://schemas.openxmlformats.org/presentationml/2006/ole">
            <mc:AlternateContent xmlns:mc="http://schemas.openxmlformats.org/markup-compatibility/2006">
              <mc:Choice xmlns:v="urn:schemas-microsoft-com:vml" Requires="v">
                <p:oleObj spid="_x0000_s5" name="Equation" r:id="rId9" imgW="139700" imgH="177800" progId="Equation.3">
                  <p:embed/>
                </p:oleObj>
              </mc:Choice>
              <mc:Fallback>
                <p:oleObj name="Equation" r:id="rId9" imgW="139700" imgH="177800" progId="Equation.3">
                  <p:embed/>
                  <p:pic>
                    <p:nvPicPr>
                      <p:cNvPr id="0" name="图片 56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4465" y="6140976"/>
                        <a:ext cx="320675"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Rectangle 6"/>
          <p:cNvSpPr txBox="1">
            <a:spLocks noChangeArrowheads="1"/>
          </p:cNvSpPr>
          <p:nvPr/>
        </p:nvSpPr>
        <p:spPr bwMode="auto">
          <a:xfrm>
            <a:off x="780390" y="116632"/>
            <a:ext cx="7583219" cy="70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方正兰亭中黑_GBK" panose="02000000000000000000" pitchFamily="2" charset="-122"/>
                <a:ea typeface="方正兰亭中黑_GBK" panose="02000000000000000000" pitchFamily="2" charset="-122"/>
              </a:rPr>
              <a:t>2.3  </a:t>
            </a:r>
            <a:r>
              <a:rPr lang="zh-CN" altLang="en-US" sz="3600" b="0" dirty="0">
                <a:solidFill>
                  <a:srgbClr val="1557AE"/>
                </a:solidFill>
                <a:latin typeface="方正兰亭中黑_GBK" panose="02000000000000000000" pitchFamily="2" charset="-122"/>
                <a:ea typeface="方正兰亭中黑_GBK" panose="02000000000000000000" pitchFamily="2" charset="-122"/>
              </a:rPr>
              <a:t>数据集成和变换</a:t>
            </a:r>
            <a:endParaRPr lang="zh-CN" altLang="en-US" sz="3600" b="0" dirty="0">
              <a:solidFill>
                <a:srgbClr val="1557AE"/>
              </a:solidFill>
              <a:latin typeface="方正兰亭中黑_GBK" panose="02000000000000000000" pitchFamily="2" charset="-122"/>
              <a:ea typeface="方正兰亭中黑_GBK"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Rectangle 4"/>
          <p:cNvSpPr>
            <a:spLocks noGrp="1" noChangeArrowheads="1"/>
          </p:cNvSpPr>
          <p:nvPr>
            <p:ph idx="1"/>
          </p:nvPr>
        </p:nvSpPr>
        <p:spPr>
          <a:xfrm>
            <a:off x="539750" y="1525588"/>
            <a:ext cx="8424738" cy="4135660"/>
          </a:xfrm>
        </p:spPr>
        <p:txBody>
          <a:bodyPr>
            <a:normAutofit fontScale="90000" lnSpcReduction="20000"/>
          </a:bodyPr>
          <a:lstStyle/>
          <a:p>
            <a:pPr marL="342900" indent="-342900" eaLnBrk="1" hangingPunct="1">
              <a:lnSpc>
                <a:spcPct val="120000"/>
              </a:lnSpc>
              <a:buClrTx/>
              <a:buSzPct val="100000"/>
              <a:buFont typeface="Wingdings" panose="05000000000000000000" pitchFamily="2" charset="2"/>
              <a:buChar char="n"/>
              <a:defRPr/>
            </a:pPr>
            <a:r>
              <a:rPr lang="zh-CN" altLang="en-US" sz="2800" b="0" kern="1200" dirty="0">
                <a:solidFill>
                  <a:srgbClr val="FF0000"/>
                </a:solidFill>
                <a:cs typeface="微软雅黑" charset="0"/>
              </a:rPr>
              <a:t>虚拟变量陷阱（</a:t>
            </a:r>
            <a:r>
              <a:rPr lang="en-US" altLang="zh-CN" sz="2800" b="0" kern="1200" dirty="0">
                <a:solidFill>
                  <a:srgbClr val="FF0000"/>
                </a:solidFill>
                <a:cs typeface="微软雅黑" charset="0"/>
              </a:rPr>
              <a:t>Dummy Variable Trap</a:t>
            </a:r>
            <a:r>
              <a:rPr lang="zh-CN" altLang="en-US" sz="2800" b="0" kern="1200" dirty="0">
                <a:solidFill>
                  <a:srgbClr val="FF0000"/>
                </a:solidFill>
                <a:cs typeface="微软雅黑" charset="0"/>
              </a:rPr>
              <a:t>）</a:t>
            </a:r>
            <a:endParaRPr lang="en-US" altLang="zh-CN" sz="2800" b="0" kern="1200" dirty="0">
              <a:solidFill>
                <a:srgbClr val="FF0000"/>
              </a:solidFill>
              <a:cs typeface="微软雅黑" charset="0"/>
            </a:endParaRPr>
          </a:p>
          <a:p>
            <a:pPr lvl="1" eaLnBrk="1" hangingPunct="1">
              <a:lnSpc>
                <a:spcPct val="140000"/>
              </a:lnSpc>
              <a:spcBef>
                <a:spcPts val="600"/>
              </a:spcBef>
              <a:buClrTx/>
              <a:buSzPct val="100000"/>
              <a:buFont typeface="Wingdings" panose="05000000000000000000" pitchFamily="2" charset="2"/>
              <a:buChar char="Ø"/>
              <a:defRPr/>
            </a:pPr>
            <a:r>
              <a:rPr lang="zh-CN" altLang="en-US" sz="2200" b="0" kern="1200" dirty="0">
                <a:solidFill>
                  <a:srgbClr val="1557AE"/>
                </a:solidFill>
                <a:cs typeface="微软雅黑" charset="0"/>
              </a:rPr>
              <a:t>指虚拟变量之间是多重共线性（</a:t>
            </a:r>
            <a:r>
              <a:rPr lang="en-US" altLang="zh-CN" sz="2200" b="0" kern="1200" dirty="0">
                <a:solidFill>
                  <a:srgbClr val="1557AE"/>
                </a:solidFill>
                <a:cs typeface="微软雅黑" charset="0"/>
              </a:rPr>
              <a:t>Multicollinearity</a:t>
            </a:r>
            <a:r>
              <a:rPr lang="zh-CN" altLang="en-US" sz="2200" b="0" kern="1200" dirty="0">
                <a:solidFill>
                  <a:srgbClr val="1557AE"/>
                </a:solidFill>
                <a:cs typeface="微软雅黑" charset="0"/>
              </a:rPr>
              <a:t>），一个变量可以预测其它变量的值。</a:t>
            </a:r>
            <a:endParaRPr lang="zh-CN" altLang="en-US" sz="2200" b="0" kern="1200" dirty="0">
              <a:solidFill>
                <a:srgbClr val="1557AE"/>
              </a:solidFill>
              <a:cs typeface="微软雅黑" charset="0"/>
            </a:endParaRPr>
          </a:p>
          <a:p>
            <a:pPr lvl="1" eaLnBrk="1" hangingPunct="1">
              <a:lnSpc>
                <a:spcPct val="140000"/>
              </a:lnSpc>
              <a:spcBef>
                <a:spcPts val="600"/>
              </a:spcBef>
              <a:buClrTx/>
              <a:buSzPct val="100000"/>
              <a:buFont typeface="Wingdings" panose="05000000000000000000" pitchFamily="2" charset="2"/>
              <a:buChar char="Ø"/>
              <a:defRPr/>
            </a:pPr>
            <a:endParaRPr lang="zh-CN" altLang="en-US" sz="2200" b="0" kern="1200" dirty="0">
              <a:solidFill>
                <a:srgbClr val="1557AE"/>
              </a:solidFill>
              <a:cs typeface="微软雅黑" charset="0"/>
            </a:endParaRPr>
          </a:p>
          <a:p>
            <a:pPr lvl="1" eaLnBrk="1" hangingPunct="1">
              <a:lnSpc>
                <a:spcPct val="140000"/>
              </a:lnSpc>
              <a:spcBef>
                <a:spcPts val="600"/>
              </a:spcBef>
              <a:buClrTx/>
              <a:buSzPct val="100000"/>
              <a:buFont typeface="Wingdings" panose="05000000000000000000" pitchFamily="2" charset="2"/>
              <a:buChar char="Ø"/>
              <a:defRPr/>
            </a:pPr>
            <a:endParaRPr lang="en-US" altLang="zh-CN" sz="2200" b="0" kern="1200" dirty="0">
              <a:solidFill>
                <a:srgbClr val="1557AE"/>
              </a:solidFill>
              <a:cs typeface="微软雅黑" charset="0"/>
            </a:endParaRPr>
          </a:p>
          <a:p>
            <a:pPr lvl="1" eaLnBrk="1" hangingPunct="1">
              <a:lnSpc>
                <a:spcPct val="140000"/>
              </a:lnSpc>
              <a:spcBef>
                <a:spcPts val="0"/>
              </a:spcBef>
              <a:buClrTx/>
              <a:buSzPct val="100000"/>
              <a:buFont typeface="Wingdings" panose="05000000000000000000" pitchFamily="2" charset="2"/>
              <a:buChar char="ü"/>
              <a:defRPr/>
            </a:pPr>
            <a:endParaRPr lang="en-US" altLang="zh-CN" sz="2200" b="0" kern="1200" dirty="0">
              <a:solidFill>
                <a:srgbClr val="0000FF"/>
              </a:solidFill>
              <a:cs typeface="微软雅黑" charset="0"/>
            </a:endParaRPr>
          </a:p>
          <a:p>
            <a:pPr lvl="1" eaLnBrk="1" hangingPunct="1">
              <a:lnSpc>
                <a:spcPct val="140000"/>
              </a:lnSpc>
              <a:spcBef>
                <a:spcPts val="0"/>
              </a:spcBef>
              <a:buClrTx/>
              <a:buSzPct val="100000"/>
              <a:buFont typeface="Wingdings" panose="05000000000000000000" pitchFamily="2" charset="2"/>
              <a:buChar char="ü"/>
              <a:defRPr/>
            </a:pPr>
            <a:endParaRPr lang="en-US" altLang="zh-CN" sz="2200" b="0" kern="1200" dirty="0">
              <a:solidFill>
                <a:srgbClr val="0000FF"/>
              </a:solidFill>
              <a:cs typeface="微软雅黑" charset="0"/>
            </a:endParaRPr>
          </a:p>
          <a:p>
            <a:pPr lvl="1" eaLnBrk="1" hangingPunct="1">
              <a:lnSpc>
                <a:spcPct val="140000"/>
              </a:lnSpc>
              <a:spcBef>
                <a:spcPts val="0"/>
              </a:spcBef>
              <a:buClrTx/>
              <a:buSzPct val="100000"/>
              <a:buFont typeface="Wingdings" panose="05000000000000000000" pitchFamily="2" charset="2"/>
              <a:buChar char="ü"/>
              <a:defRPr/>
            </a:pPr>
            <a:endParaRPr lang="en-US" altLang="zh-CN" sz="2200" b="0" kern="1200" dirty="0">
              <a:solidFill>
                <a:srgbClr val="0000FF"/>
              </a:solidFill>
              <a:cs typeface="微软雅黑" charset="0"/>
            </a:endParaRPr>
          </a:p>
          <a:p>
            <a:pPr marL="471170" lvl="1" indent="0" eaLnBrk="1" hangingPunct="1">
              <a:lnSpc>
                <a:spcPct val="140000"/>
              </a:lnSpc>
              <a:spcBef>
                <a:spcPts val="0"/>
              </a:spcBef>
              <a:buClrTx/>
              <a:buSzPct val="100000"/>
              <a:buNone/>
              <a:defRPr/>
            </a:pPr>
            <a:endParaRPr lang="en-US" altLang="zh-CN" sz="2200" b="0" kern="1200" dirty="0">
              <a:solidFill>
                <a:srgbClr val="0000FF"/>
              </a:solidFill>
              <a:cs typeface="微软雅黑" charset="0"/>
            </a:endParaRPr>
          </a:p>
          <a:p>
            <a:pPr lvl="1" eaLnBrk="1" hangingPunct="1">
              <a:lnSpc>
                <a:spcPct val="140000"/>
              </a:lnSpc>
              <a:spcBef>
                <a:spcPts val="0"/>
              </a:spcBef>
              <a:buClrTx/>
              <a:buSzPct val="100000"/>
              <a:buFont typeface="Wingdings" panose="05000000000000000000" pitchFamily="2" charset="2"/>
              <a:buChar char="Ø"/>
              <a:defRPr/>
            </a:pPr>
            <a:r>
              <a:rPr lang="zh-CN" altLang="en-US" sz="2200" b="0" kern="1200" dirty="0">
                <a:solidFill>
                  <a:srgbClr val="1557AE"/>
                </a:solidFill>
                <a:cs typeface="微软雅黑" charset="0"/>
              </a:rPr>
              <a:t>原特征有</a:t>
            </a:r>
            <a:r>
              <a:rPr lang="en-US" altLang="zh-CN" sz="2200" b="0" kern="1200" dirty="0">
                <a:solidFill>
                  <a:srgbClr val="1557AE"/>
                </a:solidFill>
                <a:cs typeface="微软雅黑" charset="0"/>
              </a:rPr>
              <a:t>m</a:t>
            </a:r>
            <a:r>
              <a:rPr lang="zh-CN" altLang="en-US" sz="2200" b="0" kern="1200" dirty="0">
                <a:solidFill>
                  <a:srgbClr val="1557AE"/>
                </a:solidFill>
                <a:cs typeface="微软雅黑" charset="0"/>
              </a:rPr>
              <a:t>个类别时，可转换成</a:t>
            </a:r>
            <a:r>
              <a:rPr lang="en-US" altLang="zh-CN" sz="2200" b="0" kern="1200" dirty="0">
                <a:solidFill>
                  <a:srgbClr val="1557AE"/>
                </a:solidFill>
                <a:cs typeface="微软雅黑" charset="0"/>
              </a:rPr>
              <a:t>m-1</a:t>
            </a:r>
            <a:r>
              <a:rPr lang="zh-CN" altLang="en-US" sz="2200" b="0" kern="1200" dirty="0">
                <a:solidFill>
                  <a:srgbClr val="1557AE"/>
                </a:solidFill>
                <a:cs typeface="微软雅黑" charset="0"/>
              </a:rPr>
              <a:t>个虚拟变量。</a:t>
            </a:r>
            <a:endParaRPr lang="en-US" altLang="zh-CN" sz="2200" b="0" kern="1200" dirty="0">
              <a:solidFill>
                <a:srgbClr val="1557AE"/>
              </a:solidFill>
              <a:cs typeface="微软雅黑" charset="0"/>
            </a:endParaRPr>
          </a:p>
        </p:txBody>
      </p:sp>
      <p:sp>
        <p:nvSpPr>
          <p:cNvPr id="3" name="矩形 2"/>
          <p:cNvSpPr/>
          <p:nvPr/>
        </p:nvSpPr>
        <p:spPr>
          <a:xfrm>
            <a:off x="12992" y="6237312"/>
            <a:ext cx="7452320" cy="338554"/>
          </a:xfrm>
          <a:prstGeom prst="rect">
            <a:avLst/>
          </a:prstGeom>
        </p:spPr>
        <p:txBody>
          <a:bodyPr wrap="square">
            <a:spAutoFit/>
          </a:bodyPr>
          <a:lstStyle/>
          <a:p>
            <a:r>
              <a:rPr lang="en-US" altLang="zh-CN" sz="1600" b="0" dirty="0">
                <a:latin typeface="微软雅黑" charset="0"/>
                <a:ea typeface="微软雅黑" charset="0"/>
                <a:cs typeface="Times New Roman" panose="02020503050405090304" pitchFamily="18" charset="0"/>
              </a:rPr>
              <a:t>http://www.ce.memphis.edu/7012/Lecture17_MLR_Dummy.pdf</a:t>
            </a:r>
            <a:endParaRPr lang="en-US" altLang="zh-CN" sz="1600" b="0" dirty="0">
              <a:latin typeface="微软雅黑" charset="0"/>
              <a:ea typeface="微软雅黑" charset="0"/>
              <a:cs typeface="Times New Roman" panose="02020503050405090304" pitchFamily="18" charset="0"/>
            </a:endParaRPr>
          </a:p>
        </p:txBody>
      </p:sp>
      <p:sp>
        <p:nvSpPr>
          <p:cNvPr id="7" name="Rectangle 6"/>
          <p:cNvSpPr txBox="1">
            <a:spLocks noChangeArrowheads="1"/>
          </p:cNvSpPr>
          <p:nvPr/>
        </p:nvSpPr>
        <p:spPr bwMode="auto">
          <a:xfrm>
            <a:off x="780390" y="116632"/>
            <a:ext cx="7583219" cy="705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2pPr>
            <a:lvl3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3pPr>
            <a:lvl4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4pPr>
            <a:lvl5pPr algn="l" rtl="0" eaLnBrk="0" fontAlgn="base" hangingPunct="0">
              <a:spcBef>
                <a:spcPct val="0"/>
              </a:spcBef>
              <a:spcAft>
                <a:spcPct val="0"/>
              </a:spcAft>
              <a:defRPr sz="3800">
                <a:solidFill>
                  <a:schemeClr val="tx2"/>
                </a:solidFill>
                <a:latin typeface="Verdana" panose="020B0804030504040204" pitchFamily="34" charset="0"/>
                <a:ea typeface="黑体" pitchFamily="49" charset="-122"/>
              </a:defRPr>
            </a:lvl5pPr>
            <a:lvl6pPr marL="457200" algn="l" rtl="0" fontAlgn="base">
              <a:spcBef>
                <a:spcPct val="0"/>
              </a:spcBef>
              <a:spcAft>
                <a:spcPct val="0"/>
              </a:spcAft>
              <a:defRPr sz="3800">
                <a:solidFill>
                  <a:schemeClr val="tx2"/>
                </a:solidFill>
                <a:latin typeface="Verdana" panose="020B0804030504040204" pitchFamily="34" charset="0"/>
                <a:ea typeface="黑体" pitchFamily="49" charset="-122"/>
              </a:defRPr>
            </a:lvl6pPr>
            <a:lvl7pPr marL="914400" algn="l" rtl="0" fontAlgn="base">
              <a:spcBef>
                <a:spcPct val="0"/>
              </a:spcBef>
              <a:spcAft>
                <a:spcPct val="0"/>
              </a:spcAft>
              <a:defRPr sz="3800">
                <a:solidFill>
                  <a:schemeClr val="tx2"/>
                </a:solidFill>
                <a:latin typeface="Verdana" panose="020B0804030504040204" pitchFamily="34" charset="0"/>
                <a:ea typeface="黑体" pitchFamily="49" charset="-122"/>
              </a:defRPr>
            </a:lvl7pPr>
            <a:lvl8pPr marL="1371600" algn="l" rtl="0" fontAlgn="base">
              <a:spcBef>
                <a:spcPct val="0"/>
              </a:spcBef>
              <a:spcAft>
                <a:spcPct val="0"/>
              </a:spcAft>
              <a:defRPr sz="3800">
                <a:solidFill>
                  <a:schemeClr val="tx2"/>
                </a:solidFill>
                <a:latin typeface="Verdana" panose="020B0804030504040204" pitchFamily="34" charset="0"/>
                <a:ea typeface="黑体" pitchFamily="49" charset="-122"/>
              </a:defRPr>
            </a:lvl8pPr>
            <a:lvl9pPr marL="1828800" algn="l" rtl="0" fontAlgn="base">
              <a:spcBef>
                <a:spcPct val="0"/>
              </a:spcBef>
              <a:spcAft>
                <a:spcPct val="0"/>
              </a:spcAft>
              <a:defRPr sz="3800">
                <a:solidFill>
                  <a:schemeClr val="tx2"/>
                </a:solidFill>
                <a:latin typeface="Verdana" panose="020B0804030504040204" pitchFamily="34" charset="0"/>
                <a:ea typeface="黑体" pitchFamily="49" charset="-122"/>
              </a:defRPr>
            </a:lvl9pPr>
          </a:lstStyle>
          <a:p>
            <a:pPr algn="ctr" eaLnBrk="1" hangingPunct="1">
              <a:defRPr/>
            </a:pPr>
            <a:r>
              <a:rPr lang="en-US" altLang="zh-CN" sz="3600" b="0" dirty="0">
                <a:solidFill>
                  <a:srgbClr val="1557AE"/>
                </a:solidFill>
                <a:latin typeface="微软雅黑" charset="0"/>
                <a:ea typeface="微软雅黑" charset="0"/>
                <a:cs typeface="微软雅黑" charset="0"/>
              </a:rPr>
              <a:t>2.3  </a:t>
            </a:r>
            <a:r>
              <a:rPr lang="zh-CN" altLang="en-US" sz="3600" b="0" dirty="0">
                <a:solidFill>
                  <a:srgbClr val="1557AE"/>
                </a:solidFill>
                <a:latin typeface="微软雅黑" charset="0"/>
                <a:ea typeface="微软雅黑" charset="0"/>
                <a:cs typeface="微软雅黑" charset="0"/>
              </a:rPr>
              <a:t>数据集成和变换</a:t>
            </a:r>
            <a:endParaRPr lang="zh-CN" altLang="en-US" sz="3600" b="0" dirty="0">
              <a:solidFill>
                <a:srgbClr val="1557AE"/>
              </a:solidFill>
              <a:latin typeface="微软雅黑" charset="0"/>
              <a:ea typeface="微软雅黑" charset="0"/>
              <a:cs typeface="微软雅黑" charset="0"/>
            </a:endParaRPr>
          </a:p>
        </p:txBody>
      </p:sp>
      <p:pic>
        <p:nvPicPr>
          <p:cNvPr id="4" name="图片 3"/>
          <p:cNvPicPr>
            <a:picLocks noChangeAspect="1"/>
          </p:cNvPicPr>
          <p:nvPr>
            <p:custDataLst>
              <p:tags r:id="rId1"/>
            </p:custDataLst>
          </p:nvPr>
        </p:nvPicPr>
        <p:blipFill>
          <a:blip r:embed="rId2"/>
          <a:stretch>
            <a:fillRect/>
          </a:stretch>
        </p:blipFill>
        <p:spPr>
          <a:xfrm>
            <a:off x="612140" y="3068955"/>
            <a:ext cx="8026400" cy="19177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8" name="Rectangle 6"/>
          <p:cNvSpPr>
            <a:spLocks noGrp="1" noChangeArrowheads="1"/>
          </p:cNvSpPr>
          <p:nvPr>
            <p:ph type="title"/>
          </p:nvPr>
        </p:nvSpPr>
        <p:spPr/>
        <p:txBody>
          <a:bodyPr/>
          <a:lstStyle/>
          <a:p>
            <a:pPr eaLnBrk="1" hangingPunct="1">
              <a:defRPr/>
            </a:pPr>
            <a:r>
              <a:rPr lang="zh-CN" altLang="en-US" sz="3600" dirty="0"/>
              <a:t>本章内容</a:t>
            </a:r>
            <a:endParaRPr lang="zh-CN" altLang="en-US" sz="3600" dirty="0"/>
          </a:p>
        </p:txBody>
      </p:sp>
      <p:sp>
        <p:nvSpPr>
          <p:cNvPr id="6147" name="Rectangle 7"/>
          <p:cNvSpPr>
            <a:spLocks noGrp="1" noChangeArrowheads="1"/>
          </p:cNvSpPr>
          <p:nvPr>
            <p:ph type="body" idx="1"/>
          </p:nvPr>
        </p:nvSpPr>
        <p:spPr>
          <a:xfrm>
            <a:off x="755650" y="1628775"/>
            <a:ext cx="7780338" cy="3024188"/>
          </a:xfrm>
        </p:spPr>
        <p:txBody>
          <a:bodyPr/>
          <a:lstStyle/>
          <a:p>
            <a:pPr marL="0" indent="0" eaLnBrk="1" hangingPunct="1">
              <a:lnSpc>
                <a:spcPct val="120000"/>
              </a:lnSpc>
              <a:spcBef>
                <a:spcPts val="600"/>
              </a:spcBef>
              <a:buNone/>
            </a:pPr>
            <a:r>
              <a:rPr lang="en-US" altLang="zh-CN" sz="2800" b="0" dirty="0">
                <a:solidFill>
                  <a:srgbClr val="1557AE"/>
                </a:solidFill>
                <a:cs typeface="微软雅黑" charset="0"/>
              </a:rPr>
              <a:t>2.0  </a:t>
            </a:r>
            <a:r>
              <a:rPr lang="zh-CN" altLang="en-US" sz="2800" b="0" dirty="0">
                <a:solidFill>
                  <a:srgbClr val="1557AE"/>
                </a:solidFill>
                <a:cs typeface="微软雅黑" charset="0"/>
              </a:rPr>
              <a:t>认识数据</a:t>
            </a:r>
            <a:endParaRPr lang="en-US" altLang="zh-CN" sz="2800" b="0" dirty="0">
              <a:solidFill>
                <a:srgbClr val="1557AE"/>
              </a:solidFill>
              <a:cs typeface="微软雅黑" charset="0"/>
            </a:endParaRPr>
          </a:p>
          <a:p>
            <a:pPr marL="0" indent="0" eaLnBrk="1" hangingPunct="1">
              <a:lnSpc>
                <a:spcPct val="120000"/>
              </a:lnSpc>
              <a:spcBef>
                <a:spcPts val="600"/>
              </a:spcBef>
              <a:buNone/>
            </a:pPr>
            <a:r>
              <a:rPr lang="en-US" altLang="zh-CN" sz="2800" b="0" dirty="0">
                <a:solidFill>
                  <a:srgbClr val="1557AE"/>
                </a:solidFill>
                <a:cs typeface="微软雅黑" charset="0"/>
              </a:rPr>
              <a:t>2.1  </a:t>
            </a:r>
            <a:r>
              <a:rPr lang="zh-CN" altLang="zh-CN" sz="2800" b="0" dirty="0">
                <a:solidFill>
                  <a:srgbClr val="1557AE"/>
                </a:solidFill>
                <a:cs typeface="微软雅黑" charset="0"/>
              </a:rPr>
              <a:t>为什么要预处理数据</a:t>
            </a:r>
            <a:endParaRPr lang="zh-CN" altLang="zh-CN" sz="2800" b="0" dirty="0">
              <a:solidFill>
                <a:srgbClr val="1557AE"/>
              </a:solidFill>
              <a:cs typeface="微软雅黑"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1557AE"/>
                </a:solidFill>
                <a:cs typeface="微软雅黑" charset="0"/>
              </a:rPr>
              <a:t>2.2  </a:t>
            </a:r>
            <a:r>
              <a:rPr lang="zh-CN" altLang="zh-CN" sz="2800" b="0" dirty="0">
                <a:solidFill>
                  <a:srgbClr val="1557AE"/>
                </a:solidFill>
                <a:cs typeface="微软雅黑" charset="0"/>
              </a:rPr>
              <a:t>数据清理</a:t>
            </a:r>
            <a:endParaRPr lang="zh-CN" altLang="zh-CN" sz="2800" b="0" dirty="0">
              <a:solidFill>
                <a:srgbClr val="1557AE"/>
              </a:solidFill>
              <a:cs typeface="微软雅黑" charset="0"/>
            </a:endParaRPr>
          </a:p>
          <a:p>
            <a:pPr marL="0" indent="0" eaLnBrk="1" hangingPunct="1">
              <a:lnSpc>
                <a:spcPct val="120000"/>
              </a:lnSpc>
              <a:spcBef>
                <a:spcPts val="600"/>
              </a:spcBef>
              <a:buNone/>
            </a:pPr>
            <a:r>
              <a:rPr lang="en-US" altLang="zh-CN" sz="2800" b="0" dirty="0">
                <a:solidFill>
                  <a:srgbClr val="1557AE"/>
                </a:solidFill>
                <a:cs typeface="微软雅黑" charset="0"/>
              </a:rPr>
              <a:t>2.3  </a:t>
            </a:r>
            <a:r>
              <a:rPr lang="zh-CN" altLang="zh-CN" sz="2800" b="0" dirty="0">
                <a:solidFill>
                  <a:srgbClr val="1557AE"/>
                </a:solidFill>
                <a:cs typeface="微软雅黑" charset="0"/>
              </a:rPr>
              <a:t>数据集成和变换</a:t>
            </a:r>
            <a:endParaRPr lang="zh-CN" altLang="zh-CN" sz="2800" b="0" dirty="0">
              <a:solidFill>
                <a:srgbClr val="1557AE"/>
              </a:solidFill>
              <a:cs typeface="微软雅黑" charset="0"/>
            </a:endParaRPr>
          </a:p>
          <a:p>
            <a:pPr marL="0" indent="0" eaLnBrk="1" hangingPunct="1">
              <a:lnSpc>
                <a:spcPct val="120000"/>
              </a:lnSpc>
              <a:spcBef>
                <a:spcPts val="600"/>
              </a:spcBef>
              <a:buFont typeface="Wingdings" panose="05000000000000000000" pitchFamily="2" charset="2"/>
              <a:buNone/>
            </a:pPr>
            <a:r>
              <a:rPr lang="en-US" altLang="zh-CN" sz="2800" b="0" dirty="0">
                <a:solidFill>
                  <a:srgbClr val="FF0000"/>
                </a:solidFill>
                <a:cs typeface="微软雅黑" charset="0"/>
              </a:rPr>
              <a:t>2.4  </a:t>
            </a:r>
            <a:r>
              <a:rPr lang="zh-CN" altLang="zh-CN" sz="2800" b="0" dirty="0">
                <a:solidFill>
                  <a:srgbClr val="FF0000"/>
                </a:solidFill>
                <a:cs typeface="微软雅黑" charset="0"/>
              </a:rPr>
              <a:t>数据归约</a:t>
            </a:r>
            <a:endParaRPr lang="zh-CN" altLang="zh-CN" sz="2800" b="0" dirty="0">
              <a:solidFill>
                <a:srgbClr val="FF0000"/>
              </a:solidFill>
              <a:cs typeface="微软雅黑" charset="0"/>
            </a:endParaRPr>
          </a:p>
          <a:p>
            <a:pPr marL="0" indent="0" eaLnBrk="1" hangingPunct="1">
              <a:lnSpc>
                <a:spcPct val="120000"/>
              </a:lnSpc>
              <a:spcBef>
                <a:spcPts val="600"/>
              </a:spcBef>
              <a:buFont typeface="Wingdings" panose="05000000000000000000" pitchFamily="2" charset="2"/>
              <a:buNone/>
            </a:pPr>
            <a:endParaRPr lang="zh-CN" altLang="en-US" sz="2800" b="0" dirty="0">
              <a:cs typeface="微软雅黑" charset="0"/>
            </a:endParaRPr>
          </a:p>
          <a:p>
            <a:pPr marL="0" indent="0" eaLnBrk="1" hangingPunct="1">
              <a:lnSpc>
                <a:spcPct val="150000"/>
              </a:lnSpc>
              <a:buFont typeface="Wingdings" panose="05000000000000000000" pitchFamily="2" charset="2"/>
              <a:buNone/>
            </a:pPr>
            <a:endParaRPr lang="zh-CN" altLang="en-US" b="0" dirty="0">
              <a:cs typeface="微软雅黑"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Rectangle 2"/>
          <p:cNvSpPr>
            <a:spLocks noGrp="1" noChangeArrowheads="1"/>
          </p:cNvSpPr>
          <p:nvPr>
            <p:ph type="title"/>
          </p:nvPr>
        </p:nvSpPr>
        <p:spPr/>
        <p:txBody>
          <a:bodyPr/>
          <a:lstStyle/>
          <a:p>
            <a:pPr eaLnBrk="1" fontAlgn="auto" hangingPunct="1">
              <a:spcAft>
                <a:spcPts val="0"/>
              </a:spcAft>
              <a:defRPr/>
            </a:pPr>
            <a:r>
              <a:rPr lang="en-US" altLang="zh-CN" sz="3600" dirty="0">
                <a:cs typeface="微软雅黑" charset="0"/>
              </a:rPr>
              <a:t>2.4  </a:t>
            </a:r>
            <a:r>
              <a:rPr lang="zh-CN" altLang="en-US" sz="3600" dirty="0">
                <a:cs typeface="微软雅黑" charset="0"/>
              </a:rPr>
              <a:t>数据归约</a:t>
            </a:r>
            <a:endParaRPr lang="zh-CN" altLang="en-US" sz="3600" dirty="0">
              <a:cs typeface="微软雅黑" charset="0"/>
            </a:endParaRPr>
          </a:p>
        </p:txBody>
      </p:sp>
      <p:graphicFrame>
        <p:nvGraphicFramePr>
          <p:cNvPr id="34823" name="Object 5"/>
          <p:cNvGraphicFramePr>
            <a:graphicFrameLocks noChangeAspect="1"/>
          </p:cNvGraphicFramePr>
          <p:nvPr/>
        </p:nvGraphicFramePr>
        <p:xfrm>
          <a:off x="4368800" y="3094038"/>
          <a:ext cx="112713" cy="214312"/>
        </p:xfrm>
        <a:graphic>
          <a:graphicData uri="http://schemas.openxmlformats.org/presentationml/2006/ole">
            <mc:AlternateContent xmlns:mc="http://schemas.openxmlformats.org/markup-compatibility/2006">
              <mc:Choice xmlns:v="urn:schemas-microsoft-com:vml" Requires="v">
                <p:oleObj spid="_x0000_s13409" name="Equation" r:id="rId1" imgW="114300" imgH="215900" progId="Equation.3">
                  <p:embed/>
                </p:oleObj>
              </mc:Choice>
              <mc:Fallback>
                <p:oleObj name="Equation" r:id="rId1" imgW="114300" imgH="215900" progId="Equation.3">
                  <p:embed/>
                  <p:pic>
                    <p:nvPicPr>
                      <p:cNvPr id="0" name="图片 62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800" y="3094038"/>
                        <a:ext cx="112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内容占位符 2"/>
          <p:cNvSpPr txBox="1"/>
          <p:nvPr/>
        </p:nvSpPr>
        <p:spPr bwMode="auto">
          <a:xfrm>
            <a:off x="462980" y="1268760"/>
            <a:ext cx="8501260" cy="5018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600" b="0" dirty="0">
                <a:solidFill>
                  <a:srgbClr val="1557AE"/>
                </a:solidFill>
                <a:latin typeface="微软雅黑" charset="0"/>
                <a:ea typeface="微软雅黑" charset="0"/>
                <a:cs typeface="微软雅黑" charset="0"/>
              </a:rPr>
              <a:t>为什么需要进行数据规约？</a:t>
            </a:r>
            <a:endParaRPr lang="zh-CN" altLang="en-US" sz="2600" b="0" dirty="0">
              <a:solidFill>
                <a:srgbClr val="1557AE"/>
              </a:solidFill>
              <a:latin typeface="微软雅黑" charset="0"/>
              <a:ea typeface="微软雅黑" charset="0"/>
              <a:cs typeface="微软雅黑"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微软雅黑" charset="0"/>
              </a:rPr>
              <a:t>在海量数据上进行复杂数据分析与挖掘需要很大的时空开销</a:t>
            </a:r>
            <a:endParaRPr lang="zh-CN" altLang="en-US" sz="2200" b="0" dirty="0">
              <a:solidFill>
                <a:srgbClr val="FF0000"/>
              </a:solidFill>
              <a:latin typeface="微软雅黑" charset="0"/>
              <a:ea typeface="微软雅黑" charset="0"/>
              <a:cs typeface="微软雅黑" charset="0"/>
            </a:endParaRPr>
          </a:p>
          <a:p>
            <a:pPr marL="342900" indent="-342900" eaLnBrk="1" hangingPunct="1">
              <a:lnSpc>
                <a:spcPct val="120000"/>
              </a:lnSpc>
              <a:buClrTx/>
              <a:buSzPct val="100000"/>
              <a:buFont typeface="Wingdings" panose="05000000000000000000" pitchFamily="2" charset="2"/>
              <a:buChar char="n"/>
              <a:defRPr/>
            </a:pPr>
            <a:r>
              <a:rPr lang="zh-CN" altLang="en-US" sz="2600" b="0" dirty="0">
                <a:solidFill>
                  <a:srgbClr val="FF0000"/>
                </a:solidFill>
                <a:latin typeface="微软雅黑" charset="0"/>
                <a:ea typeface="微软雅黑" charset="0"/>
                <a:cs typeface="微软雅黑" charset="0"/>
              </a:rPr>
              <a:t>数据归约</a:t>
            </a:r>
            <a:r>
              <a:rPr lang="en-US" altLang="zh-CN" sz="2600" b="0" dirty="0">
                <a:solidFill>
                  <a:srgbClr val="FF0000"/>
                </a:solidFill>
                <a:latin typeface="微软雅黑" charset="0"/>
                <a:ea typeface="微软雅黑" charset="0"/>
                <a:cs typeface="微软雅黑" charset="0"/>
              </a:rPr>
              <a:t>(data reduction)</a:t>
            </a:r>
            <a:r>
              <a:rPr lang="zh-CN" altLang="en-US" sz="2600" b="0" dirty="0">
                <a:solidFill>
                  <a:srgbClr val="FF0000"/>
                </a:solidFill>
                <a:latin typeface="微软雅黑" charset="0"/>
                <a:ea typeface="微软雅黑" charset="0"/>
                <a:cs typeface="微软雅黑" charset="0"/>
              </a:rPr>
              <a:t>：</a:t>
            </a:r>
            <a:r>
              <a:rPr lang="zh-CN" altLang="en-US" sz="2400" b="0" dirty="0">
                <a:solidFill>
                  <a:srgbClr val="1557AE"/>
                </a:solidFill>
                <a:latin typeface="微软雅黑" charset="0"/>
                <a:ea typeface="微软雅黑" charset="0"/>
                <a:cs typeface="微软雅黑" charset="0"/>
              </a:rPr>
              <a:t>用来得到数据集的归约表示，它小得多，但可产生相同或几乎相同的分析结果</a:t>
            </a:r>
            <a:endParaRPr lang="en-US" altLang="zh-CN" sz="2400" b="0" dirty="0">
              <a:solidFill>
                <a:srgbClr val="1557AE"/>
              </a:solidFill>
              <a:latin typeface="微软雅黑" charset="0"/>
              <a:ea typeface="微软雅黑" charset="0"/>
              <a:cs typeface="微软雅黑" charset="0"/>
            </a:endParaRPr>
          </a:p>
          <a:p>
            <a:pPr marL="342900" indent="-342900" eaLnBrk="1" hangingPunct="1">
              <a:lnSpc>
                <a:spcPct val="120000"/>
              </a:lnSpc>
              <a:buClrTx/>
              <a:buSzPct val="100000"/>
              <a:buFont typeface="Wingdings" panose="05000000000000000000" pitchFamily="2" charset="2"/>
              <a:buChar char="n"/>
              <a:defRPr/>
            </a:pPr>
            <a:r>
              <a:rPr lang="zh-CN" altLang="en-US" sz="2600" b="0" dirty="0">
                <a:solidFill>
                  <a:srgbClr val="1557AE"/>
                </a:solidFill>
                <a:latin typeface="微软雅黑" charset="0"/>
                <a:ea typeface="微软雅黑" charset="0"/>
                <a:cs typeface="微软雅黑" charset="0"/>
              </a:rPr>
              <a:t>常用的归约策略</a:t>
            </a:r>
            <a:endParaRPr lang="zh-CN" altLang="en-US" sz="2600" b="0" dirty="0">
              <a:solidFill>
                <a:srgbClr val="1557AE"/>
              </a:solidFill>
              <a:latin typeface="微软雅黑" charset="0"/>
              <a:ea typeface="微软雅黑" charset="0"/>
              <a:cs typeface="微软雅黑"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微软雅黑" charset="0"/>
              </a:rPr>
              <a:t>维归约，</a:t>
            </a:r>
            <a:r>
              <a:rPr lang="en-US" altLang="zh-CN" sz="2200" b="0" dirty="0">
                <a:solidFill>
                  <a:srgbClr val="FF0000"/>
                </a:solidFill>
                <a:latin typeface="微软雅黑" charset="0"/>
                <a:ea typeface="微软雅黑" charset="0"/>
                <a:cs typeface="微软雅黑" charset="0"/>
              </a:rPr>
              <a:t>e.g. </a:t>
            </a:r>
            <a:r>
              <a:rPr lang="zh-CN" altLang="en-US" sz="2200" b="0" dirty="0">
                <a:solidFill>
                  <a:srgbClr val="FF0000"/>
                </a:solidFill>
                <a:latin typeface="微软雅黑" charset="0"/>
                <a:ea typeface="微软雅黑" charset="0"/>
                <a:cs typeface="微软雅黑" charset="0"/>
              </a:rPr>
              <a:t>移除不重要的属性</a:t>
            </a:r>
            <a:endParaRPr lang="zh-CN" altLang="en-US" sz="2200" b="0" dirty="0">
              <a:solidFill>
                <a:srgbClr val="FF0000"/>
              </a:solidFill>
              <a:latin typeface="微软雅黑" charset="0"/>
              <a:ea typeface="微软雅黑" charset="0"/>
              <a:cs typeface="微软雅黑"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微软雅黑" charset="0"/>
              </a:rPr>
              <a:t>数据压缩</a:t>
            </a:r>
            <a:endParaRPr lang="zh-CN" altLang="en-US" sz="2200" b="0" dirty="0">
              <a:solidFill>
                <a:srgbClr val="FF0000"/>
              </a:solidFill>
              <a:latin typeface="微软雅黑" charset="0"/>
              <a:ea typeface="微软雅黑" charset="0"/>
              <a:cs typeface="微软雅黑"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微软雅黑" charset="0"/>
              </a:rPr>
              <a:t>数值归约，</a:t>
            </a:r>
            <a:r>
              <a:rPr lang="en-US" altLang="zh-CN" sz="2200" b="0" dirty="0">
                <a:solidFill>
                  <a:srgbClr val="FF0000"/>
                </a:solidFill>
                <a:latin typeface="微软雅黑" charset="0"/>
                <a:ea typeface="微软雅黑" charset="0"/>
                <a:cs typeface="微软雅黑" charset="0"/>
              </a:rPr>
              <a:t>e.g. </a:t>
            </a:r>
            <a:r>
              <a:rPr lang="zh-CN" altLang="en-US" sz="2200" b="0" dirty="0">
                <a:solidFill>
                  <a:srgbClr val="FF0000"/>
                </a:solidFill>
                <a:latin typeface="微软雅黑" charset="0"/>
                <a:ea typeface="微软雅黑" charset="0"/>
                <a:cs typeface="微软雅黑" charset="0"/>
              </a:rPr>
              <a:t>使用模型来表示数据</a:t>
            </a:r>
            <a:endParaRPr lang="zh-CN" altLang="en-US" sz="2200" b="0" dirty="0">
              <a:solidFill>
                <a:srgbClr val="FF0000"/>
              </a:solidFill>
              <a:latin typeface="微软雅黑" charset="0"/>
              <a:ea typeface="微软雅黑" charset="0"/>
              <a:cs typeface="微软雅黑"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微软雅黑" charset="0"/>
              </a:rPr>
              <a:t>离散化和概念分层产生</a:t>
            </a:r>
            <a:endParaRPr lang="zh-CN" altLang="en-US" sz="2200" b="0" dirty="0">
              <a:solidFill>
                <a:srgbClr val="FF0000"/>
              </a:solidFill>
              <a:latin typeface="微软雅黑" charset="0"/>
              <a:ea typeface="微软雅黑" charset="0"/>
              <a:cs typeface="微软雅黑" charset="0"/>
            </a:endParaRPr>
          </a:p>
          <a:p>
            <a:pPr marL="342900" indent="-342900" eaLnBrk="1" hangingPunct="1">
              <a:lnSpc>
                <a:spcPct val="120000"/>
              </a:lnSpc>
              <a:buClrTx/>
              <a:buSzPct val="100000"/>
              <a:buFont typeface="Wingdings" panose="05000000000000000000" pitchFamily="2" charset="2"/>
              <a:buChar char="n"/>
              <a:defRPr/>
            </a:pPr>
            <a:r>
              <a:rPr lang="zh-CN" altLang="en-US" sz="2600" b="0" dirty="0">
                <a:solidFill>
                  <a:srgbClr val="FF0000"/>
                </a:solidFill>
                <a:latin typeface="微软雅黑" charset="0"/>
                <a:ea typeface="微软雅黑" charset="0"/>
                <a:cs typeface="微软雅黑" charset="0"/>
              </a:rPr>
              <a:t>用于数据归约的时间不应当超过或“抵消”在归约后的数据上挖掘节省的时间</a:t>
            </a:r>
            <a:endParaRPr lang="zh-CN" altLang="en-US" sz="2600" b="0" dirty="0">
              <a:solidFill>
                <a:srgbClr val="FF0000"/>
              </a:solidFill>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23" name="Object 5"/>
          <p:cNvGraphicFramePr>
            <a:graphicFrameLocks noChangeAspect="1"/>
          </p:cNvGraphicFramePr>
          <p:nvPr/>
        </p:nvGraphicFramePr>
        <p:xfrm>
          <a:off x="4368800" y="3094038"/>
          <a:ext cx="112713" cy="214312"/>
        </p:xfrm>
        <a:graphic>
          <a:graphicData uri="http://schemas.openxmlformats.org/presentationml/2006/ole">
            <mc:AlternateContent xmlns:mc="http://schemas.openxmlformats.org/markup-compatibility/2006">
              <mc:Choice xmlns:v="urn:schemas-microsoft-com:vml" Requires="v">
                <p:oleObj spid="_x0000_s13409" name="Equation" r:id="rId1" imgW="114300" imgH="215900" progId="Equation.3">
                  <p:embed/>
                </p:oleObj>
              </mc:Choice>
              <mc:Fallback>
                <p:oleObj name="Equation" r:id="rId1" imgW="114300" imgH="215900" progId="Equation.3">
                  <p:embed/>
                  <p:pic>
                    <p:nvPicPr>
                      <p:cNvPr id="0" name="图片 82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800" y="3094038"/>
                        <a:ext cx="112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内容占位符 2"/>
          <p:cNvSpPr txBox="1"/>
          <p:nvPr/>
        </p:nvSpPr>
        <p:spPr bwMode="auto">
          <a:xfrm>
            <a:off x="462980" y="1578496"/>
            <a:ext cx="8501260" cy="5018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数据压缩</a:t>
            </a:r>
            <a:endParaRPr lang="zh-CN" altLang="en-US" sz="2800" b="0" dirty="0">
              <a:solidFill>
                <a:srgbClr val="FF0000"/>
              </a:solidFill>
              <a:latin typeface="微软雅黑" charset="0"/>
              <a:ea typeface="微软雅黑" charset="0"/>
              <a:cs typeface="微软雅黑"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微软雅黑" charset="0"/>
              </a:rPr>
              <a:t>有损压缩  </a:t>
            </a:r>
            <a:r>
              <a:rPr lang="en-US" altLang="zh-CN" sz="2200" b="0" dirty="0">
                <a:solidFill>
                  <a:srgbClr val="FF0000"/>
                </a:solidFill>
                <a:latin typeface="微软雅黑" charset="0"/>
                <a:ea typeface="微软雅黑" charset="0"/>
                <a:cs typeface="微软雅黑" charset="0"/>
              </a:rPr>
              <a:t>VS. </a:t>
            </a:r>
            <a:r>
              <a:rPr lang="zh-CN" altLang="en-US" sz="2200" b="0" dirty="0">
                <a:solidFill>
                  <a:srgbClr val="FF0000"/>
                </a:solidFill>
                <a:latin typeface="微软雅黑" charset="0"/>
                <a:ea typeface="微软雅黑" charset="0"/>
                <a:cs typeface="微软雅黑" charset="0"/>
              </a:rPr>
              <a:t>无损压缩</a:t>
            </a:r>
            <a:endParaRPr lang="zh-CN" altLang="en-US" sz="2200" b="0" dirty="0">
              <a:solidFill>
                <a:srgbClr val="FF0000"/>
              </a:solidFill>
              <a:latin typeface="微软雅黑" charset="0"/>
              <a:ea typeface="微软雅黑" charset="0"/>
              <a:cs typeface="微软雅黑"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微软雅黑" charset="0"/>
              </a:rPr>
              <a:t>字符串压缩</a:t>
            </a:r>
            <a:endParaRPr lang="zh-CN" altLang="en-US" sz="2200" b="0" dirty="0">
              <a:solidFill>
                <a:srgbClr val="FF0000"/>
              </a:solidFill>
              <a:latin typeface="微软雅黑" charset="0"/>
              <a:ea typeface="微软雅黑" charset="0"/>
              <a:cs typeface="微软雅黑" charset="0"/>
            </a:endParaRPr>
          </a:p>
          <a:p>
            <a:pPr lvl="2" eaLnBrk="1" hangingPunct="1">
              <a:lnSpc>
                <a:spcPct val="120000"/>
              </a:lnSpc>
              <a:buClrTx/>
              <a:buSzPct val="100000"/>
              <a:buFont typeface="Arial" panose="020B0604020202090204" pitchFamily="34" charset="0"/>
              <a:buChar char="•"/>
              <a:defRPr/>
            </a:pPr>
            <a:r>
              <a:rPr lang="zh-CN" altLang="en-US" sz="2100" b="0" dirty="0">
                <a:solidFill>
                  <a:srgbClr val="1557AE"/>
                </a:solidFill>
                <a:latin typeface="微软雅黑" charset="0"/>
                <a:ea typeface="微软雅黑" charset="0"/>
                <a:cs typeface="微软雅黑" charset="0"/>
              </a:rPr>
              <a:t>有广泛的理论基础和精妙的算法</a:t>
            </a:r>
            <a:endParaRPr lang="zh-CN" altLang="en-US" sz="2100" b="0" dirty="0">
              <a:solidFill>
                <a:srgbClr val="1557AE"/>
              </a:solidFill>
              <a:latin typeface="微软雅黑" charset="0"/>
              <a:ea typeface="微软雅黑" charset="0"/>
              <a:cs typeface="微软雅黑" charset="0"/>
            </a:endParaRPr>
          </a:p>
          <a:p>
            <a:pPr lvl="2" eaLnBrk="1" hangingPunct="1">
              <a:lnSpc>
                <a:spcPct val="120000"/>
              </a:lnSpc>
              <a:buClrTx/>
              <a:buSzPct val="100000"/>
              <a:buFont typeface="Arial" panose="020B0604020202090204" pitchFamily="34" charset="0"/>
              <a:buChar char="•"/>
              <a:defRPr/>
            </a:pPr>
            <a:r>
              <a:rPr lang="zh-CN" altLang="en-US" sz="2100" b="0" dirty="0">
                <a:solidFill>
                  <a:srgbClr val="1557AE"/>
                </a:solidFill>
                <a:latin typeface="微软雅黑" charset="0"/>
                <a:ea typeface="微软雅黑" charset="0"/>
                <a:cs typeface="微软雅黑" charset="0"/>
              </a:rPr>
              <a:t>通常是无损压缩</a:t>
            </a:r>
            <a:endParaRPr lang="zh-CN" altLang="en-US" sz="2100" b="0" dirty="0">
              <a:solidFill>
                <a:srgbClr val="1557AE"/>
              </a:solidFill>
              <a:latin typeface="微软雅黑" charset="0"/>
              <a:ea typeface="微软雅黑" charset="0"/>
              <a:cs typeface="微软雅黑" charset="0"/>
            </a:endParaRPr>
          </a:p>
          <a:p>
            <a:pPr lvl="2" eaLnBrk="1" hangingPunct="1">
              <a:lnSpc>
                <a:spcPct val="120000"/>
              </a:lnSpc>
              <a:buClrTx/>
              <a:buSzPct val="100000"/>
              <a:buFont typeface="Arial" panose="020B0604020202090204" pitchFamily="34" charset="0"/>
              <a:buChar char="•"/>
              <a:defRPr/>
            </a:pPr>
            <a:r>
              <a:rPr lang="zh-CN" altLang="en-US" sz="2100" b="0" dirty="0">
                <a:solidFill>
                  <a:srgbClr val="1557AE"/>
                </a:solidFill>
                <a:latin typeface="微软雅黑" charset="0"/>
                <a:ea typeface="微软雅黑" charset="0"/>
                <a:cs typeface="微软雅黑" charset="0"/>
              </a:rPr>
              <a:t>在解压缩前对字符串的操作非常有限</a:t>
            </a:r>
            <a:endParaRPr lang="zh-CN" altLang="en-US" sz="2100" b="0" dirty="0">
              <a:solidFill>
                <a:srgbClr val="1557AE"/>
              </a:solidFill>
              <a:latin typeface="微软雅黑" charset="0"/>
              <a:ea typeface="微软雅黑" charset="0"/>
              <a:cs typeface="微软雅黑"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微软雅黑" charset="0"/>
              </a:rPr>
              <a:t>音频</a:t>
            </a:r>
            <a:r>
              <a:rPr lang="en-US" altLang="zh-CN" sz="2200" b="0" dirty="0">
                <a:solidFill>
                  <a:srgbClr val="FF0000"/>
                </a:solidFill>
                <a:latin typeface="微软雅黑" charset="0"/>
                <a:ea typeface="微软雅黑" charset="0"/>
                <a:cs typeface="微软雅黑" charset="0"/>
              </a:rPr>
              <a:t>/</a:t>
            </a:r>
            <a:r>
              <a:rPr lang="zh-CN" altLang="en-US" sz="2200" b="0" dirty="0">
                <a:solidFill>
                  <a:srgbClr val="FF0000"/>
                </a:solidFill>
                <a:latin typeface="微软雅黑" charset="0"/>
                <a:ea typeface="微软雅黑" charset="0"/>
                <a:cs typeface="微软雅黑" charset="0"/>
              </a:rPr>
              <a:t>视频压缩</a:t>
            </a:r>
            <a:endParaRPr lang="zh-CN" altLang="en-US" sz="2200" b="0" dirty="0">
              <a:solidFill>
                <a:srgbClr val="FF0000"/>
              </a:solidFill>
              <a:latin typeface="微软雅黑" charset="0"/>
              <a:ea typeface="微软雅黑" charset="0"/>
              <a:cs typeface="微软雅黑" charset="0"/>
            </a:endParaRPr>
          </a:p>
          <a:p>
            <a:pPr lvl="2" eaLnBrk="1" hangingPunct="1">
              <a:lnSpc>
                <a:spcPct val="120000"/>
              </a:lnSpc>
              <a:buClrTx/>
              <a:buSzPct val="100000"/>
              <a:buFont typeface="Arial" panose="020B0604020202090204" pitchFamily="34" charset="0"/>
              <a:buChar char="•"/>
              <a:defRPr/>
            </a:pPr>
            <a:r>
              <a:rPr lang="zh-CN" altLang="en-US" sz="2100" b="0" dirty="0">
                <a:solidFill>
                  <a:srgbClr val="1557AE"/>
                </a:solidFill>
                <a:latin typeface="微软雅黑" charset="0"/>
                <a:ea typeface="微软雅黑" charset="0"/>
                <a:cs typeface="微软雅黑" charset="0"/>
              </a:rPr>
              <a:t>通常是有损压缩，压缩精度可以递进选择</a:t>
            </a:r>
            <a:endParaRPr lang="zh-CN" altLang="en-US" sz="2100" b="0" dirty="0">
              <a:solidFill>
                <a:srgbClr val="1557AE"/>
              </a:solidFill>
              <a:latin typeface="微软雅黑" charset="0"/>
              <a:ea typeface="微软雅黑" charset="0"/>
              <a:cs typeface="微软雅黑" charset="0"/>
            </a:endParaRPr>
          </a:p>
          <a:p>
            <a:pPr lvl="2" eaLnBrk="1" hangingPunct="1">
              <a:lnSpc>
                <a:spcPct val="120000"/>
              </a:lnSpc>
              <a:buClrTx/>
              <a:buSzPct val="100000"/>
              <a:buFont typeface="Arial" panose="020B0604020202090204" pitchFamily="34" charset="0"/>
              <a:buChar char="•"/>
              <a:defRPr/>
            </a:pPr>
            <a:r>
              <a:rPr lang="zh-CN" altLang="en-US" sz="2100" b="0" dirty="0">
                <a:solidFill>
                  <a:srgbClr val="1557AE"/>
                </a:solidFill>
                <a:latin typeface="微软雅黑" charset="0"/>
                <a:ea typeface="微软雅黑" charset="0"/>
                <a:cs typeface="微软雅黑" charset="0"/>
              </a:rPr>
              <a:t>有时可以在不解压整体数据的情况下，重构某个片断</a:t>
            </a:r>
            <a:endParaRPr lang="zh-CN" altLang="en-US" sz="2100" b="0" dirty="0">
              <a:solidFill>
                <a:srgbClr val="1557AE"/>
              </a:solidFill>
              <a:latin typeface="微软雅黑" charset="0"/>
              <a:ea typeface="微软雅黑" charset="0"/>
              <a:cs typeface="微软雅黑"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微软雅黑" charset="0"/>
              </a:rPr>
              <a:t>两种有损数据压缩的方法：小波变换和主要成分分析</a:t>
            </a:r>
            <a:endParaRPr lang="zh-CN" altLang="en-US" sz="2200" b="0" dirty="0">
              <a:solidFill>
                <a:srgbClr val="FF0000"/>
              </a:solidFill>
              <a:latin typeface="微软雅黑" charset="0"/>
              <a:ea typeface="微软雅黑" charset="0"/>
              <a:cs typeface="微软雅黑" charset="0"/>
            </a:endParaRPr>
          </a:p>
          <a:p>
            <a:pPr lvl="1" eaLnBrk="1" hangingPunct="1">
              <a:lnSpc>
                <a:spcPct val="120000"/>
              </a:lnSpc>
              <a:spcBef>
                <a:spcPts val="0"/>
              </a:spcBef>
              <a:buClrTx/>
              <a:buSzPct val="100000"/>
              <a:buFont typeface="Wingdings" panose="05000000000000000000" pitchFamily="2" charset="2"/>
              <a:buChar char="ü"/>
              <a:defRPr/>
            </a:pPr>
            <a:endParaRPr lang="en-US" altLang="zh-CN" sz="2200" b="0" dirty="0">
              <a:solidFill>
                <a:srgbClr val="0000FF"/>
              </a:solidFill>
              <a:latin typeface="微软雅黑" charset="0"/>
              <a:ea typeface="微软雅黑" charset="0"/>
              <a:cs typeface="微软雅黑" charset="0"/>
            </a:endParaRPr>
          </a:p>
        </p:txBody>
      </p:sp>
      <p:grpSp>
        <p:nvGrpSpPr>
          <p:cNvPr id="5" name="组合 4"/>
          <p:cNvGrpSpPr/>
          <p:nvPr/>
        </p:nvGrpSpPr>
        <p:grpSpPr>
          <a:xfrm>
            <a:off x="5865460" y="1460644"/>
            <a:ext cx="2974077" cy="2171092"/>
            <a:chOff x="838200" y="1625600"/>
            <a:chExt cx="7519988" cy="4926013"/>
          </a:xfrm>
        </p:grpSpPr>
        <p:sp>
          <p:nvSpPr>
            <p:cNvPr id="6" name="AutoShape 3"/>
            <p:cNvSpPr>
              <a:spLocks noChangeArrowheads="1"/>
            </p:cNvSpPr>
            <p:nvPr/>
          </p:nvSpPr>
          <p:spPr bwMode="auto">
            <a:xfrm>
              <a:off x="838200" y="1625600"/>
              <a:ext cx="3446463" cy="2595563"/>
            </a:xfrm>
            <a:prstGeom prst="can">
              <a:avLst>
                <a:gd name="adj" fmla="val 25000"/>
              </a:avLst>
            </a:prstGeom>
            <a:solidFill>
              <a:schemeClr val="bg1"/>
            </a:solidFill>
            <a:ln w="9525">
              <a:solidFill>
                <a:schemeClr val="tx1"/>
              </a:solidFill>
              <a:round/>
            </a:ln>
          </p:spPr>
          <p:txBody>
            <a:bodyPr wrap="none" lIns="36000" tIns="36000" rIns="36000" bIns="36000" anchor="ctr" anchorCtr="1"/>
            <a:lstStyle/>
            <a:p>
              <a:pPr algn="ctr" eaLnBrk="0" hangingPunct="0"/>
              <a:r>
                <a:rPr lang="zh-CN" altLang="en-US" sz="1400" b="0">
                  <a:latin typeface="微软雅黑" charset="0"/>
                  <a:ea typeface="微软雅黑" charset="0"/>
                </a:rPr>
                <a:t>原始数据</a:t>
              </a:r>
              <a:endParaRPr lang="zh-CN" altLang="en-US" sz="1400" b="0">
                <a:latin typeface="微软雅黑" charset="0"/>
                <a:ea typeface="微软雅黑" charset="0"/>
              </a:endParaRPr>
            </a:p>
          </p:txBody>
        </p:sp>
        <p:sp>
          <p:nvSpPr>
            <p:cNvPr id="7" name="AutoShape 4"/>
            <p:cNvSpPr>
              <a:spLocks noChangeArrowheads="1"/>
            </p:cNvSpPr>
            <p:nvPr/>
          </p:nvSpPr>
          <p:spPr bwMode="auto">
            <a:xfrm>
              <a:off x="6175375" y="2249488"/>
              <a:ext cx="2182813" cy="1608137"/>
            </a:xfrm>
            <a:prstGeom prst="cube">
              <a:avLst>
                <a:gd name="adj" fmla="val 25000"/>
              </a:avLst>
            </a:prstGeom>
            <a:solidFill>
              <a:srgbClr val="F6E6EA"/>
            </a:solidFill>
            <a:ln w="9525">
              <a:solidFill>
                <a:schemeClr val="tx1"/>
              </a:solidFill>
              <a:miter lim="800000"/>
            </a:ln>
          </p:spPr>
          <p:txBody>
            <a:bodyPr wrap="none" lIns="36000" tIns="36000" rIns="36000" bIns="36000" anchor="ctr" anchorCtr="1"/>
            <a:lstStyle/>
            <a:p>
              <a:pPr algn="ctr" eaLnBrk="0" hangingPunct="0"/>
              <a:r>
                <a:rPr lang="zh-CN" altLang="en-US" sz="1400" b="0">
                  <a:latin typeface="微软雅黑" charset="0"/>
                  <a:ea typeface="微软雅黑" charset="0"/>
                </a:rPr>
                <a:t>压缩后</a:t>
              </a:r>
              <a:endParaRPr lang="en-US" altLang="zh-CN" sz="1400" b="0">
                <a:latin typeface="微软雅黑" charset="0"/>
                <a:ea typeface="微软雅黑" charset="0"/>
              </a:endParaRPr>
            </a:p>
            <a:p>
              <a:pPr algn="ctr" eaLnBrk="0" hangingPunct="0"/>
              <a:r>
                <a:rPr lang="zh-CN" altLang="en-US" sz="1400" b="0">
                  <a:latin typeface="微软雅黑" charset="0"/>
                  <a:ea typeface="微软雅黑" charset="0"/>
                </a:rPr>
                <a:t>的数据</a:t>
              </a:r>
              <a:endParaRPr lang="en-US" altLang="zh-CN" sz="1400" b="0">
                <a:latin typeface="微软雅黑" charset="0"/>
                <a:ea typeface="微软雅黑" charset="0"/>
              </a:endParaRPr>
            </a:p>
          </p:txBody>
        </p:sp>
        <p:sp>
          <p:nvSpPr>
            <p:cNvPr id="8" name="Line 5"/>
            <p:cNvSpPr>
              <a:spLocks noChangeShapeType="1"/>
            </p:cNvSpPr>
            <p:nvPr/>
          </p:nvSpPr>
          <p:spPr bwMode="auto">
            <a:xfrm>
              <a:off x="4319588" y="3005138"/>
              <a:ext cx="18383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lIns="36000" tIns="36000" rIns="36000" bIns="36000" anchor="ctr" anchorCtr="1"/>
            <a:lstStyle/>
            <a:p>
              <a:endParaRPr lang="zh-CN" altLang="en-US" sz="1400" b="0">
                <a:latin typeface="方正兰亭中黑_GBK" panose="02000000000000000000" pitchFamily="2" charset="-122"/>
                <a:ea typeface="方正兰亭中黑_GBK" panose="02000000000000000000" pitchFamily="2" charset="-122"/>
              </a:endParaRPr>
            </a:p>
          </p:txBody>
        </p:sp>
        <p:sp>
          <p:nvSpPr>
            <p:cNvPr id="9" name="Line 6"/>
            <p:cNvSpPr>
              <a:spLocks noChangeShapeType="1"/>
            </p:cNvSpPr>
            <p:nvPr/>
          </p:nvSpPr>
          <p:spPr bwMode="auto">
            <a:xfrm flipH="1">
              <a:off x="4319588" y="3579813"/>
              <a:ext cx="18383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lIns="36000" tIns="36000" rIns="36000" bIns="36000" anchor="ctr" anchorCtr="1"/>
            <a:lstStyle/>
            <a:p>
              <a:endParaRPr lang="zh-CN" altLang="en-US" sz="1400" b="0">
                <a:latin typeface="方正兰亭中黑_GBK" panose="02000000000000000000" pitchFamily="2" charset="-122"/>
                <a:ea typeface="方正兰亭中黑_GBK" panose="02000000000000000000" pitchFamily="2" charset="-122"/>
              </a:endParaRPr>
            </a:p>
          </p:txBody>
        </p:sp>
        <p:sp>
          <p:nvSpPr>
            <p:cNvPr id="11" name="Text Box 7"/>
            <p:cNvSpPr txBox="1">
              <a:spLocks noChangeArrowheads="1"/>
            </p:cNvSpPr>
            <p:nvPr/>
          </p:nvSpPr>
          <p:spPr bwMode="auto">
            <a:xfrm>
              <a:off x="4290435" y="3686891"/>
              <a:ext cx="1999671" cy="653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1">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1400" b="0" dirty="0">
                  <a:latin typeface="微软雅黑" charset="0"/>
                  <a:ea typeface="微软雅黑" charset="0"/>
                </a:rPr>
                <a:t>无损压缩</a:t>
              </a:r>
              <a:endParaRPr lang="zh-CN" altLang="en-US" sz="1400" b="0" dirty="0">
                <a:latin typeface="微软雅黑" charset="0"/>
                <a:ea typeface="微软雅黑" charset="0"/>
              </a:endParaRPr>
            </a:p>
          </p:txBody>
        </p:sp>
        <p:sp>
          <p:nvSpPr>
            <p:cNvPr id="12" name="AutoShape 8"/>
            <p:cNvSpPr>
              <a:spLocks noChangeArrowheads="1"/>
            </p:cNvSpPr>
            <p:nvPr/>
          </p:nvSpPr>
          <p:spPr bwMode="auto">
            <a:xfrm>
              <a:off x="950913" y="4367213"/>
              <a:ext cx="3286125" cy="2184400"/>
            </a:xfrm>
            <a:prstGeom prst="can">
              <a:avLst>
                <a:gd name="adj" fmla="val 25000"/>
              </a:avLst>
            </a:prstGeom>
            <a:solidFill>
              <a:schemeClr val="bg1"/>
            </a:solidFill>
            <a:ln w="9525">
              <a:solidFill>
                <a:schemeClr val="tx1"/>
              </a:solidFill>
              <a:round/>
            </a:ln>
          </p:spPr>
          <p:txBody>
            <a:bodyPr wrap="none" lIns="36000" tIns="36000" rIns="36000" bIns="36000" anchor="ctr" anchorCtr="1"/>
            <a:lstStyle/>
            <a:p>
              <a:pPr algn="ctr" eaLnBrk="0" hangingPunct="0"/>
              <a:r>
                <a:rPr lang="zh-CN" altLang="en-US" sz="1400" b="0">
                  <a:latin typeface="微软雅黑" charset="0"/>
                  <a:ea typeface="微软雅黑" charset="0"/>
                </a:rPr>
                <a:t>近似的</a:t>
              </a:r>
              <a:endParaRPr lang="en-US" altLang="zh-CN" sz="1400" b="0">
                <a:latin typeface="微软雅黑" charset="0"/>
                <a:ea typeface="微软雅黑" charset="0"/>
              </a:endParaRPr>
            </a:p>
            <a:p>
              <a:pPr algn="ctr" eaLnBrk="0" hangingPunct="0"/>
              <a:r>
                <a:rPr lang="zh-CN" altLang="en-US" sz="1400" b="0">
                  <a:latin typeface="微软雅黑" charset="0"/>
                  <a:ea typeface="微软雅黑" charset="0"/>
                </a:rPr>
                <a:t>原始数据</a:t>
              </a:r>
              <a:endParaRPr lang="en-US" altLang="zh-CN" sz="1400" b="0">
                <a:latin typeface="微软雅黑" charset="0"/>
                <a:ea typeface="微软雅黑" charset="0"/>
              </a:endParaRPr>
            </a:p>
          </p:txBody>
        </p:sp>
        <p:sp>
          <p:nvSpPr>
            <p:cNvPr id="13" name="Line 9"/>
            <p:cNvSpPr>
              <a:spLocks noChangeShapeType="1"/>
            </p:cNvSpPr>
            <p:nvPr/>
          </p:nvSpPr>
          <p:spPr bwMode="auto">
            <a:xfrm flipH="1">
              <a:off x="4252913" y="3875088"/>
              <a:ext cx="2743200" cy="18065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lIns="36000" tIns="36000" rIns="36000" bIns="36000" anchor="ctr" anchorCtr="1"/>
            <a:lstStyle/>
            <a:p>
              <a:endParaRPr lang="zh-CN" altLang="en-US" sz="1400" b="0">
                <a:latin typeface="方正兰亭中黑_GBK" panose="02000000000000000000" pitchFamily="2" charset="-122"/>
                <a:ea typeface="方正兰亭中黑_GBK" panose="02000000000000000000" pitchFamily="2" charset="-122"/>
              </a:endParaRPr>
            </a:p>
          </p:txBody>
        </p:sp>
        <p:sp>
          <p:nvSpPr>
            <p:cNvPr id="14" name="Text Box 10"/>
            <p:cNvSpPr txBox="1">
              <a:spLocks noChangeArrowheads="1"/>
            </p:cNvSpPr>
            <p:nvPr/>
          </p:nvSpPr>
          <p:spPr bwMode="auto">
            <a:xfrm rot="19290237">
              <a:off x="4844283" y="4787052"/>
              <a:ext cx="1999671" cy="653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nchorCtr="1">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1400" b="0" dirty="0">
                  <a:latin typeface="微软雅黑" charset="0"/>
                  <a:ea typeface="微软雅黑" charset="0"/>
                </a:rPr>
                <a:t>有损压缩</a:t>
              </a:r>
              <a:endParaRPr lang="zh-CN" altLang="en-US" sz="1400" b="0" dirty="0">
                <a:latin typeface="微软雅黑" charset="0"/>
                <a:ea typeface="微软雅黑" charset="0"/>
              </a:endParaRPr>
            </a:p>
          </p:txBody>
        </p:sp>
      </p:grpSp>
      <p:sp>
        <p:nvSpPr>
          <p:cNvPr id="15"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en-US" altLang="zh-CN" sz="3600" dirty="0">
                <a:cs typeface="微软雅黑" charset="0"/>
              </a:rPr>
              <a:t>2.4  </a:t>
            </a:r>
            <a:r>
              <a:rPr lang="zh-CN" altLang="en-US" sz="3600" dirty="0">
                <a:cs typeface="微软雅黑" charset="0"/>
              </a:rPr>
              <a:t>数据归约</a:t>
            </a:r>
            <a:endParaRPr lang="zh-CN" altLang="en-US" sz="3600" dirty="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23" name="Object 5"/>
          <p:cNvGraphicFramePr>
            <a:graphicFrameLocks noChangeAspect="1"/>
          </p:cNvGraphicFramePr>
          <p:nvPr/>
        </p:nvGraphicFramePr>
        <p:xfrm>
          <a:off x="4368800" y="3094038"/>
          <a:ext cx="112713" cy="214312"/>
        </p:xfrm>
        <a:graphic>
          <a:graphicData uri="http://schemas.openxmlformats.org/presentationml/2006/ole">
            <mc:AlternateContent xmlns:mc="http://schemas.openxmlformats.org/markup-compatibility/2006">
              <mc:Choice xmlns:v="urn:schemas-microsoft-com:vml" Requires="v">
                <p:oleObj spid="_x0000_s13409" name="Equation" r:id="rId1" imgW="114300" imgH="215900" progId="Equation.3">
                  <p:embed/>
                </p:oleObj>
              </mc:Choice>
              <mc:Fallback>
                <p:oleObj name="Equation" r:id="rId1" imgW="114300" imgH="215900" progId="Equation.3">
                  <p:embed/>
                  <p:pic>
                    <p:nvPicPr>
                      <p:cNvPr id="0" name="图片 93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800" y="3094038"/>
                        <a:ext cx="112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内容占位符 2"/>
          <p:cNvSpPr txBox="1"/>
          <p:nvPr/>
        </p:nvSpPr>
        <p:spPr bwMode="auto">
          <a:xfrm>
            <a:off x="462980" y="2577443"/>
            <a:ext cx="8501260" cy="380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数值规约</a:t>
            </a:r>
            <a:endParaRPr lang="zh-CN" altLang="en-US" sz="2800" b="0" dirty="0">
              <a:solidFill>
                <a:srgbClr val="FF0000"/>
              </a:solidFill>
              <a:latin typeface="微软雅黑" charset="0"/>
              <a:ea typeface="微软雅黑" charset="0"/>
              <a:cs typeface="Calibri" panose="020F0502020204030204" pitchFamily="34"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Calibri" panose="020F0502020204030204" pitchFamily="34" charset="0"/>
              </a:rPr>
              <a:t>通过选择替代的、较小的数据表示形式来减少数据量</a:t>
            </a:r>
            <a:endParaRPr lang="zh-CN" altLang="en-US" sz="2400" b="0" dirty="0">
              <a:solidFill>
                <a:srgbClr val="FF0000"/>
              </a:solidFill>
              <a:latin typeface="微软雅黑" charset="0"/>
              <a:ea typeface="微软雅黑" charset="0"/>
              <a:cs typeface="Calibri" panose="020F0502020204030204" pitchFamily="34"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Calibri" panose="020F0502020204030204" pitchFamily="34" charset="0"/>
              </a:rPr>
              <a:t>有参方法</a:t>
            </a:r>
            <a:endParaRPr lang="zh-CN" altLang="en-US" sz="2400" b="0" dirty="0">
              <a:solidFill>
                <a:srgbClr val="FF0000"/>
              </a:solidFill>
              <a:latin typeface="微软雅黑" charset="0"/>
              <a:ea typeface="微软雅黑" charset="0"/>
              <a:cs typeface="Calibri" panose="020F0502020204030204" pitchFamily="34" charset="0"/>
            </a:endParaRPr>
          </a:p>
          <a:p>
            <a:pPr lvl="2" eaLnBrk="1" hangingPunct="1">
              <a:lnSpc>
                <a:spcPct val="120000"/>
              </a:lnSpc>
              <a:spcBef>
                <a:spcPts val="0"/>
              </a:spcBef>
              <a:buClrTx/>
              <a:buSzPct val="100000"/>
              <a:buFont typeface="Arial" panose="020B0604020202090204" pitchFamily="34" charset="0"/>
              <a:buChar char="•"/>
              <a:defRPr/>
            </a:pPr>
            <a:r>
              <a:rPr lang="zh-CN" altLang="en-US" sz="2000" b="0" dirty="0">
                <a:solidFill>
                  <a:srgbClr val="1557AE"/>
                </a:solidFill>
                <a:latin typeface="微软雅黑" charset="0"/>
                <a:ea typeface="微软雅黑" charset="0"/>
                <a:cs typeface="Calibri" panose="020F0502020204030204" pitchFamily="34" charset="0"/>
              </a:rPr>
              <a:t>使用一个参数模型估计数据，最后只要存储参数即可，不用存储数据（除了可能的离群点）</a:t>
            </a:r>
            <a:endParaRPr lang="zh-CN" altLang="en-US" sz="2000" b="0" dirty="0">
              <a:solidFill>
                <a:srgbClr val="1557AE"/>
              </a:solidFill>
              <a:latin typeface="微软雅黑" charset="0"/>
              <a:ea typeface="微软雅黑" charset="0"/>
              <a:cs typeface="Calibri" panose="020F0502020204030204" pitchFamily="34" charset="0"/>
            </a:endParaRPr>
          </a:p>
          <a:p>
            <a:pPr lvl="2" eaLnBrk="1" hangingPunct="1">
              <a:lnSpc>
                <a:spcPct val="120000"/>
              </a:lnSpc>
              <a:spcBef>
                <a:spcPts val="0"/>
              </a:spcBef>
              <a:buClrTx/>
              <a:buSzPct val="100000"/>
              <a:buFont typeface="Arial" panose="020B0604020202090204" pitchFamily="34" charset="0"/>
              <a:buChar char="•"/>
              <a:defRPr/>
            </a:pPr>
            <a:r>
              <a:rPr lang="zh-CN" altLang="en-US" sz="2000" b="0" dirty="0">
                <a:solidFill>
                  <a:srgbClr val="1557AE"/>
                </a:solidFill>
                <a:latin typeface="微软雅黑" charset="0"/>
                <a:ea typeface="微软雅黑" charset="0"/>
                <a:cs typeface="Calibri" panose="020F0502020204030204" pitchFamily="34" charset="0"/>
              </a:rPr>
              <a:t>常用方法：线性回归方法；多元回归；对数线性模型；</a:t>
            </a:r>
            <a:endParaRPr lang="zh-CN" altLang="en-US" sz="2000" b="0" dirty="0">
              <a:solidFill>
                <a:srgbClr val="1557AE"/>
              </a:solidFill>
              <a:latin typeface="微软雅黑" charset="0"/>
              <a:ea typeface="微软雅黑" charset="0"/>
              <a:cs typeface="Calibri" panose="020F0502020204030204" pitchFamily="34" charset="0"/>
            </a:endParaRPr>
          </a:p>
          <a:p>
            <a:pPr lvl="1" eaLnBrk="1" hangingPunct="1">
              <a:lnSpc>
                <a:spcPct val="120000"/>
              </a:lnSpc>
              <a:spcBef>
                <a:spcPts val="0"/>
              </a:spcBef>
              <a:buClrTx/>
              <a:buSzPct val="100000"/>
              <a:buFont typeface="Wingdings" panose="05000000000000000000" pitchFamily="2" charset="2"/>
              <a:buChar char="ü"/>
              <a:defRPr/>
            </a:pPr>
            <a:r>
              <a:rPr lang="zh-CN" altLang="en-US" sz="2400" b="0" dirty="0">
                <a:solidFill>
                  <a:srgbClr val="FF0000"/>
                </a:solidFill>
                <a:latin typeface="微软雅黑" charset="0"/>
                <a:ea typeface="微软雅黑" charset="0"/>
                <a:cs typeface="Calibri" panose="020F0502020204030204" pitchFamily="34" charset="0"/>
              </a:rPr>
              <a:t>无参方法</a:t>
            </a:r>
            <a:endParaRPr lang="zh-CN" altLang="en-US" sz="2400" b="0" dirty="0">
              <a:solidFill>
                <a:srgbClr val="FF0000"/>
              </a:solidFill>
              <a:latin typeface="微软雅黑" charset="0"/>
              <a:ea typeface="微软雅黑" charset="0"/>
              <a:cs typeface="Calibri" panose="020F0502020204030204" pitchFamily="34" charset="0"/>
            </a:endParaRPr>
          </a:p>
          <a:p>
            <a:pPr lvl="2" eaLnBrk="1" hangingPunct="1">
              <a:lnSpc>
                <a:spcPct val="120000"/>
              </a:lnSpc>
              <a:spcBef>
                <a:spcPts val="0"/>
              </a:spcBef>
              <a:buClrTx/>
              <a:buSzPct val="100000"/>
              <a:buFont typeface="Arial" panose="020B0604020202090204" pitchFamily="34" charset="0"/>
              <a:buChar char="•"/>
              <a:defRPr/>
            </a:pPr>
            <a:r>
              <a:rPr lang="zh-CN" altLang="en-US" sz="2100" b="0" dirty="0">
                <a:solidFill>
                  <a:srgbClr val="1557AE"/>
                </a:solidFill>
                <a:latin typeface="微软雅黑" charset="0"/>
                <a:ea typeface="微软雅黑" charset="0"/>
                <a:cs typeface="Calibri" panose="020F0502020204030204" pitchFamily="34" charset="0"/>
              </a:rPr>
              <a:t>不使用模型的方法存储数据</a:t>
            </a:r>
            <a:endParaRPr lang="zh-CN" altLang="en-US" sz="2100" b="0" dirty="0">
              <a:solidFill>
                <a:srgbClr val="1557AE"/>
              </a:solidFill>
              <a:latin typeface="微软雅黑" charset="0"/>
              <a:ea typeface="微软雅黑" charset="0"/>
              <a:cs typeface="Calibri" panose="020F0502020204030204" pitchFamily="34" charset="0"/>
            </a:endParaRPr>
          </a:p>
          <a:p>
            <a:pPr lvl="2" eaLnBrk="1" hangingPunct="1">
              <a:lnSpc>
                <a:spcPct val="120000"/>
              </a:lnSpc>
              <a:spcBef>
                <a:spcPts val="0"/>
              </a:spcBef>
              <a:buClrTx/>
              <a:buSzPct val="100000"/>
              <a:buFont typeface="Arial" panose="020B0604020202090204" pitchFamily="34" charset="0"/>
              <a:buChar char="•"/>
              <a:defRPr/>
            </a:pPr>
            <a:r>
              <a:rPr lang="zh-CN" altLang="en-US" sz="2100" b="0" dirty="0">
                <a:solidFill>
                  <a:srgbClr val="1557AE"/>
                </a:solidFill>
                <a:latin typeface="微软雅黑" charset="0"/>
                <a:ea typeface="微软雅黑" charset="0"/>
                <a:cs typeface="Calibri" panose="020F0502020204030204" pitchFamily="34" charset="0"/>
              </a:rPr>
              <a:t>常用方法：直方图，聚类，选样</a:t>
            </a:r>
            <a:endParaRPr lang="zh-CN" altLang="en-US" sz="2100" b="0" dirty="0">
              <a:solidFill>
                <a:srgbClr val="1557AE"/>
              </a:solidFill>
              <a:latin typeface="微软雅黑" charset="0"/>
              <a:ea typeface="微软雅黑" charset="0"/>
              <a:cs typeface="Calibri" panose="020F0502020204030204" pitchFamily="34" charset="0"/>
            </a:endParaRPr>
          </a:p>
        </p:txBody>
      </p:sp>
      <p:sp>
        <p:nvSpPr>
          <p:cNvPr id="5" name="内容占位符 2"/>
          <p:cNvSpPr txBox="1"/>
          <p:nvPr/>
        </p:nvSpPr>
        <p:spPr bwMode="auto">
          <a:xfrm>
            <a:off x="459979" y="1185505"/>
            <a:ext cx="8501260" cy="1391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维归约</a:t>
            </a:r>
            <a:endParaRPr lang="zh-CN" altLang="en-US" sz="2800" b="0" dirty="0">
              <a:solidFill>
                <a:srgbClr val="FF0000"/>
              </a:solidFill>
              <a:latin typeface="微软雅黑" charset="0"/>
              <a:ea typeface="微软雅黑" charset="0"/>
              <a:cs typeface="Calibri" panose="020F0502020204030204" pitchFamily="34"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Calibri" panose="020F0502020204030204" pitchFamily="34" charset="0"/>
              </a:rPr>
              <a:t>通过删除不相干的属性或维减少数据量</a:t>
            </a:r>
            <a:endParaRPr lang="zh-CN" altLang="en-US" sz="2200" b="0" dirty="0">
              <a:solidFill>
                <a:srgbClr val="FF0000"/>
              </a:solidFill>
              <a:latin typeface="微软雅黑" charset="0"/>
              <a:ea typeface="微软雅黑" charset="0"/>
              <a:cs typeface="Calibri" panose="020F0502020204030204" pitchFamily="34" charset="0"/>
            </a:endParaRPr>
          </a:p>
          <a:p>
            <a:pPr lvl="1" eaLnBrk="1" hangingPunct="1">
              <a:lnSpc>
                <a:spcPct val="120000"/>
              </a:lnSpc>
              <a:spcBef>
                <a:spcPts val="0"/>
              </a:spcBef>
              <a:buClrTx/>
              <a:buSzPct val="100000"/>
              <a:buFont typeface="Wingdings" panose="05000000000000000000" pitchFamily="2" charset="2"/>
              <a:buChar char="Ø"/>
              <a:defRPr/>
            </a:pPr>
            <a:r>
              <a:rPr lang="zh-CN" altLang="en-US" sz="2200" b="0" dirty="0">
                <a:solidFill>
                  <a:srgbClr val="FF0000"/>
                </a:solidFill>
                <a:latin typeface="微软雅黑" charset="0"/>
                <a:ea typeface="微软雅黑" charset="0"/>
                <a:cs typeface="Calibri" panose="020F0502020204030204" pitchFamily="34" charset="0"/>
              </a:rPr>
              <a:t>属性子集选择（特征选择）</a:t>
            </a:r>
            <a:endParaRPr lang="zh-CN" altLang="en-US" sz="2200" b="0" dirty="0">
              <a:solidFill>
                <a:srgbClr val="FF0000"/>
              </a:solidFill>
              <a:latin typeface="微软雅黑" charset="0"/>
              <a:ea typeface="微软雅黑" charset="0"/>
              <a:cs typeface="Calibri" panose="020F0502020204030204" pitchFamily="34" charset="0"/>
            </a:endParaRPr>
          </a:p>
        </p:txBody>
      </p:sp>
      <p:sp>
        <p:nvSpPr>
          <p:cNvPr id="13"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en-US" altLang="zh-CN" sz="3600" dirty="0">
                <a:cs typeface="微软雅黑" charset="0"/>
              </a:rPr>
              <a:t>2.4  </a:t>
            </a:r>
            <a:r>
              <a:rPr lang="zh-CN" altLang="en-US" sz="3600" dirty="0">
                <a:cs typeface="微软雅黑" charset="0"/>
              </a:rPr>
              <a:t>数据归约  </a:t>
            </a:r>
            <a:r>
              <a:rPr lang="en-US" altLang="zh-CN" sz="3600" dirty="0">
                <a:cs typeface="微软雅黑" charset="0"/>
              </a:rPr>
              <a:t>-  </a:t>
            </a:r>
            <a:r>
              <a:rPr lang="zh-CN" altLang="en-US" sz="3600" dirty="0">
                <a:cs typeface="微软雅黑" charset="0"/>
              </a:rPr>
              <a:t>数值规约</a:t>
            </a:r>
            <a:endParaRPr lang="zh-CN" altLang="en-US" sz="3600" dirty="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Rectangle 2"/>
          <p:cNvSpPr>
            <a:spLocks noGrp="1" noChangeArrowheads="1"/>
          </p:cNvSpPr>
          <p:nvPr>
            <p:ph type="title"/>
          </p:nvPr>
        </p:nvSpPr>
        <p:spPr/>
        <p:txBody>
          <a:bodyPr/>
          <a:lstStyle/>
          <a:p>
            <a:pPr eaLnBrk="1" fontAlgn="auto" hangingPunct="1">
              <a:spcAft>
                <a:spcPts val="0"/>
              </a:spcAft>
              <a:defRPr/>
            </a:pPr>
            <a:r>
              <a:rPr lang="en-US" altLang="zh-CN" sz="3600" dirty="0">
                <a:cs typeface="微软雅黑" charset="0"/>
              </a:rPr>
              <a:t>2.4  </a:t>
            </a:r>
            <a:r>
              <a:rPr lang="zh-CN" altLang="en-US" sz="3600" dirty="0">
                <a:cs typeface="微软雅黑" charset="0"/>
              </a:rPr>
              <a:t>数据归约  </a:t>
            </a:r>
            <a:r>
              <a:rPr lang="en-US" altLang="zh-CN" sz="3600" dirty="0">
                <a:cs typeface="微软雅黑" charset="0"/>
              </a:rPr>
              <a:t>-  </a:t>
            </a:r>
            <a:r>
              <a:rPr lang="zh-CN" altLang="en-US" sz="3600" dirty="0">
                <a:cs typeface="微软雅黑" charset="0"/>
              </a:rPr>
              <a:t>数值规约</a:t>
            </a:r>
            <a:endParaRPr lang="zh-CN" altLang="en-US" sz="3600" dirty="0">
              <a:cs typeface="微软雅黑" charset="0"/>
            </a:endParaRPr>
          </a:p>
        </p:txBody>
      </p:sp>
      <p:graphicFrame>
        <p:nvGraphicFramePr>
          <p:cNvPr id="34823" name="Object 5"/>
          <p:cNvGraphicFramePr>
            <a:graphicFrameLocks noChangeAspect="1"/>
          </p:cNvGraphicFramePr>
          <p:nvPr/>
        </p:nvGraphicFramePr>
        <p:xfrm>
          <a:off x="4368800" y="3094038"/>
          <a:ext cx="112713" cy="214312"/>
        </p:xfrm>
        <a:graphic>
          <a:graphicData uri="http://schemas.openxmlformats.org/presentationml/2006/ole">
            <mc:AlternateContent xmlns:mc="http://schemas.openxmlformats.org/markup-compatibility/2006">
              <mc:Choice xmlns:v="urn:schemas-microsoft-com:vml" Requires="v">
                <p:oleObj spid="_x0000_s13409" name="Equation" r:id="rId1" imgW="114300" imgH="215900" progId="Equation.3">
                  <p:embed/>
                </p:oleObj>
              </mc:Choice>
              <mc:Fallback>
                <p:oleObj name="Equation" r:id="rId1" imgW="114300" imgH="215900" progId="Equation.3">
                  <p:embed/>
                  <p:pic>
                    <p:nvPicPr>
                      <p:cNvPr id="0" name="图片 103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800" y="3094038"/>
                        <a:ext cx="112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内容占位符 2"/>
          <p:cNvSpPr txBox="1"/>
          <p:nvPr/>
        </p:nvSpPr>
        <p:spPr bwMode="auto">
          <a:xfrm>
            <a:off x="467544" y="1268760"/>
            <a:ext cx="8501260" cy="5018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回归分析</a:t>
            </a:r>
            <a:endParaRPr lang="zh-CN" altLang="en-US" sz="2800" b="0" dirty="0">
              <a:solidFill>
                <a:srgbClr val="FF0000"/>
              </a:solidFill>
              <a:latin typeface="微软雅黑" charset="0"/>
              <a:ea typeface="微软雅黑" charset="0"/>
              <a:cs typeface="微软雅黑" charset="0"/>
            </a:endParaRPr>
          </a:p>
          <a:p>
            <a:pPr lvl="1" eaLnBrk="1" hangingPunct="1">
              <a:lnSpc>
                <a:spcPct val="125000"/>
              </a:lnSpc>
              <a:spcBef>
                <a:spcPts val="600"/>
              </a:spcBef>
              <a:spcAft>
                <a:spcPts val="600"/>
              </a:spcAft>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线性回归：</a:t>
            </a:r>
            <a:r>
              <a:rPr lang="zh-CN" altLang="en-US" sz="2400" b="0" dirty="0">
                <a:solidFill>
                  <a:srgbClr val="1557AE"/>
                </a:solidFill>
                <a:latin typeface="微软雅黑" charset="0"/>
                <a:ea typeface="微软雅黑" charset="0"/>
                <a:cs typeface="微软雅黑" charset="0"/>
              </a:rPr>
              <a:t>数据被拟合为一条直线</a:t>
            </a:r>
            <a:r>
              <a:rPr lang="en-US" altLang="zh-CN" sz="2400" b="0" i="1" dirty="0">
                <a:solidFill>
                  <a:srgbClr val="FF0000"/>
                </a:solidFill>
                <a:latin typeface="微软雅黑" charset="0"/>
                <a:ea typeface="微软雅黑" charset="0"/>
                <a:cs typeface="微软雅黑" charset="0"/>
              </a:rPr>
              <a:t>Y</a:t>
            </a:r>
            <a:r>
              <a:rPr lang="en-US" altLang="zh-CN" sz="2400" b="0" dirty="0">
                <a:solidFill>
                  <a:srgbClr val="FF0000"/>
                </a:solidFill>
                <a:latin typeface="微软雅黑" charset="0"/>
                <a:ea typeface="微软雅黑" charset="0"/>
                <a:cs typeface="微软雅黑" charset="0"/>
              </a:rPr>
              <a:t> = </a:t>
            </a:r>
            <a:r>
              <a:rPr lang="en-US" altLang="zh-CN" sz="2400" b="0" i="1" dirty="0">
                <a:solidFill>
                  <a:srgbClr val="FF0000"/>
                </a:solidFill>
                <a:latin typeface="微软雅黑" charset="0"/>
                <a:ea typeface="微软雅黑" charset="0"/>
                <a:cs typeface="微软雅黑" charset="0"/>
              </a:rPr>
              <a:t>w X </a:t>
            </a:r>
            <a:r>
              <a:rPr lang="en-US" altLang="zh-CN" sz="2400" b="0" dirty="0">
                <a:solidFill>
                  <a:srgbClr val="FF0000"/>
                </a:solidFill>
                <a:latin typeface="微软雅黑" charset="0"/>
                <a:ea typeface="微软雅黑" charset="0"/>
                <a:cs typeface="微软雅黑" charset="0"/>
              </a:rPr>
              <a:t>+ </a:t>
            </a:r>
            <a:r>
              <a:rPr lang="en-US" altLang="zh-CN" sz="2400" b="0" i="1" dirty="0">
                <a:solidFill>
                  <a:srgbClr val="FF0000"/>
                </a:solidFill>
                <a:latin typeface="微软雅黑" charset="0"/>
                <a:ea typeface="微软雅黑" charset="0"/>
                <a:cs typeface="微软雅黑" charset="0"/>
              </a:rPr>
              <a:t>b</a:t>
            </a:r>
            <a:endParaRPr lang="en-US" altLang="zh-CN" sz="2400" b="0" i="1" dirty="0">
              <a:solidFill>
                <a:srgbClr val="FF0000"/>
              </a:solidFill>
              <a:latin typeface="微软雅黑" charset="0"/>
              <a:ea typeface="微软雅黑" charset="0"/>
              <a:cs typeface="微软雅黑" charset="0"/>
            </a:endParaRPr>
          </a:p>
          <a:p>
            <a:pPr lvl="2" eaLnBrk="1" hangingPunct="1">
              <a:lnSpc>
                <a:spcPct val="125000"/>
              </a:lnSpc>
              <a:spcBef>
                <a:spcPts val="600"/>
              </a:spcBef>
              <a:spcAft>
                <a:spcPts val="600"/>
              </a:spcAft>
              <a:buClrTx/>
              <a:buSzPct val="100000"/>
              <a:buFont typeface="Arial" panose="020B0604020202090204" pitchFamily="34" charset="0"/>
              <a:buChar char="•"/>
              <a:defRPr/>
            </a:pPr>
            <a:r>
              <a:rPr lang="zh-CN" altLang="en-US" sz="2000" b="0" dirty="0">
                <a:solidFill>
                  <a:srgbClr val="1557AE"/>
                </a:solidFill>
                <a:latin typeface="微软雅黑" charset="0"/>
                <a:ea typeface="微软雅黑" charset="0"/>
                <a:cs typeface="微软雅黑" charset="0"/>
              </a:rPr>
              <a:t>两个回归系数，</a:t>
            </a:r>
            <a:r>
              <a:rPr lang="en-US" altLang="zh-CN" sz="2000" b="0" i="1" dirty="0">
                <a:solidFill>
                  <a:srgbClr val="FF0000"/>
                </a:solidFill>
                <a:latin typeface="微软雅黑" charset="0"/>
                <a:ea typeface="微软雅黑" charset="0"/>
                <a:cs typeface="微软雅黑" charset="0"/>
              </a:rPr>
              <a:t>w</a:t>
            </a:r>
            <a:r>
              <a:rPr lang="zh-CN" altLang="en-US" sz="2000" b="0" dirty="0">
                <a:solidFill>
                  <a:srgbClr val="1557AE"/>
                </a:solidFill>
                <a:latin typeface="微软雅黑" charset="0"/>
                <a:ea typeface="微软雅黑" charset="0"/>
                <a:cs typeface="微软雅黑" charset="0"/>
              </a:rPr>
              <a:t>和</a:t>
            </a:r>
            <a:r>
              <a:rPr lang="en-US" altLang="zh-CN" sz="2000" b="0" i="1" dirty="0">
                <a:solidFill>
                  <a:srgbClr val="FF0000"/>
                </a:solidFill>
                <a:latin typeface="微软雅黑" charset="0"/>
                <a:ea typeface="微软雅黑" charset="0"/>
                <a:cs typeface="微软雅黑" charset="0"/>
              </a:rPr>
              <a:t>b</a:t>
            </a:r>
            <a:r>
              <a:rPr lang="zh-CN" altLang="en-US" sz="2000" b="0" dirty="0">
                <a:latin typeface="微软雅黑" charset="0"/>
                <a:ea typeface="微软雅黑" charset="0"/>
                <a:cs typeface="微软雅黑" charset="0"/>
              </a:rPr>
              <a:t>，</a:t>
            </a:r>
            <a:r>
              <a:rPr lang="zh-CN" altLang="en-US" sz="2000" b="0" dirty="0">
                <a:solidFill>
                  <a:srgbClr val="1557AE"/>
                </a:solidFill>
                <a:latin typeface="微软雅黑" charset="0"/>
                <a:ea typeface="微软雅黑" charset="0"/>
                <a:cs typeface="微软雅黑" charset="0"/>
              </a:rPr>
              <a:t>由手头数据来进行估算</a:t>
            </a:r>
            <a:endParaRPr lang="zh-CN" altLang="en-US" sz="2000" b="0" dirty="0">
              <a:solidFill>
                <a:srgbClr val="1557AE"/>
              </a:solidFill>
              <a:latin typeface="微软雅黑" charset="0"/>
              <a:ea typeface="微软雅黑" charset="0"/>
              <a:cs typeface="微软雅黑" charset="0"/>
            </a:endParaRPr>
          </a:p>
          <a:p>
            <a:pPr lvl="2" eaLnBrk="1" hangingPunct="1">
              <a:lnSpc>
                <a:spcPct val="125000"/>
              </a:lnSpc>
              <a:spcBef>
                <a:spcPts val="600"/>
              </a:spcBef>
              <a:spcAft>
                <a:spcPts val="600"/>
              </a:spcAft>
              <a:buClrTx/>
              <a:buSzPct val="100000"/>
              <a:buFont typeface="Arial" panose="020B0604020202090204" pitchFamily="34" charset="0"/>
              <a:buChar char="•"/>
              <a:defRPr/>
            </a:pPr>
            <a:r>
              <a:rPr lang="zh-CN" altLang="en-US" sz="2000" b="0" dirty="0">
                <a:solidFill>
                  <a:srgbClr val="1557AE"/>
                </a:solidFill>
                <a:latin typeface="微软雅黑" charset="0"/>
                <a:ea typeface="微软雅黑" charset="0"/>
                <a:cs typeface="微软雅黑" charset="0"/>
              </a:rPr>
              <a:t>通常适用</a:t>
            </a:r>
            <a:r>
              <a:rPr lang="zh-CN" altLang="en-US" sz="2000" b="0" dirty="0">
                <a:solidFill>
                  <a:srgbClr val="FF0000"/>
                </a:solidFill>
                <a:latin typeface="微软雅黑" charset="0"/>
                <a:ea typeface="微软雅黑" charset="0"/>
                <a:cs typeface="微软雅黑" charset="0"/>
              </a:rPr>
              <a:t>最小二乘法</a:t>
            </a:r>
            <a:r>
              <a:rPr lang="zh-CN" altLang="en-US" sz="2000" b="0" dirty="0">
                <a:solidFill>
                  <a:srgbClr val="1557AE"/>
                </a:solidFill>
                <a:latin typeface="微软雅黑" charset="0"/>
                <a:ea typeface="微软雅黑" charset="0"/>
                <a:cs typeface="微软雅黑" charset="0"/>
              </a:rPr>
              <a:t>来确定这条直线</a:t>
            </a:r>
            <a:endParaRPr lang="zh-CN" altLang="en-US" sz="2000" b="0" dirty="0">
              <a:solidFill>
                <a:srgbClr val="1557AE"/>
              </a:solidFill>
              <a:latin typeface="微软雅黑" charset="0"/>
              <a:ea typeface="微软雅黑" charset="0"/>
              <a:cs typeface="微软雅黑" charset="0"/>
            </a:endParaRPr>
          </a:p>
          <a:p>
            <a:pPr lvl="1" eaLnBrk="1" hangingPunct="1">
              <a:lnSpc>
                <a:spcPct val="125000"/>
              </a:lnSpc>
              <a:spcBef>
                <a:spcPts val="600"/>
              </a:spcBef>
              <a:spcAft>
                <a:spcPts val="600"/>
              </a:spcAft>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多元回归：</a:t>
            </a:r>
            <a:r>
              <a:rPr lang="zh-CN" altLang="en-US" sz="2400" b="0" dirty="0">
                <a:solidFill>
                  <a:srgbClr val="1557AE"/>
                </a:solidFill>
                <a:latin typeface="微软雅黑" charset="0"/>
                <a:ea typeface="微软雅黑" charset="0"/>
                <a:cs typeface="微软雅黑" charset="0"/>
              </a:rPr>
              <a:t>线性回归的扩充，允许响应变量</a:t>
            </a:r>
            <a:r>
              <a:rPr lang="en-US" altLang="zh-CN" sz="2400" b="0" dirty="0">
                <a:solidFill>
                  <a:srgbClr val="1557AE"/>
                </a:solidFill>
                <a:latin typeface="微软雅黑" charset="0"/>
                <a:ea typeface="微软雅黑" charset="0"/>
                <a:cs typeface="微软雅黑" charset="0"/>
              </a:rPr>
              <a:t>Y</a:t>
            </a:r>
            <a:r>
              <a:rPr lang="zh-CN" altLang="en-US" sz="2400" b="0" dirty="0">
                <a:solidFill>
                  <a:srgbClr val="1557AE"/>
                </a:solidFill>
                <a:latin typeface="微软雅黑" charset="0"/>
                <a:ea typeface="微软雅黑" charset="0"/>
                <a:cs typeface="微软雅黑" charset="0"/>
              </a:rPr>
              <a:t>被建模为两个或多个预测变量的线性或非线性函数</a:t>
            </a:r>
            <a:endParaRPr lang="en-US" altLang="zh-CN" sz="2400" b="0" dirty="0">
              <a:solidFill>
                <a:srgbClr val="1557AE"/>
              </a:solidFill>
              <a:latin typeface="微软雅黑" charset="0"/>
              <a:ea typeface="微软雅黑" charset="0"/>
              <a:cs typeface="微软雅黑" charset="0"/>
            </a:endParaRPr>
          </a:p>
          <a:p>
            <a:pPr marL="471170" lvl="1" indent="0" eaLnBrk="1" hangingPunct="1">
              <a:lnSpc>
                <a:spcPct val="125000"/>
              </a:lnSpc>
              <a:spcBef>
                <a:spcPts val="600"/>
              </a:spcBef>
              <a:spcAft>
                <a:spcPts val="600"/>
              </a:spcAft>
              <a:buClrTx/>
              <a:buSzPct val="100000"/>
              <a:buNone/>
              <a:defRPr/>
            </a:pPr>
            <a:r>
              <a:rPr lang="en-US" altLang="zh-CN" sz="2400" b="0" i="1" dirty="0">
                <a:solidFill>
                  <a:srgbClr val="1557AE"/>
                </a:solidFill>
                <a:latin typeface="微软雅黑" charset="0"/>
                <a:ea typeface="微软雅黑" charset="0"/>
                <a:cs typeface="微软雅黑" charset="0"/>
              </a:rPr>
              <a:t>     </a:t>
            </a:r>
            <a:r>
              <a:rPr lang="en-US" altLang="zh-CN" sz="2400" b="0" i="1" dirty="0">
                <a:solidFill>
                  <a:srgbClr val="FF0000"/>
                </a:solidFill>
                <a:latin typeface="微软雅黑" charset="0"/>
                <a:ea typeface="微软雅黑" charset="0"/>
                <a:cs typeface="微软雅黑" charset="0"/>
              </a:rPr>
              <a:t>Y </a:t>
            </a:r>
            <a:r>
              <a:rPr lang="en-US" altLang="zh-CN" sz="2400" b="0" dirty="0">
                <a:solidFill>
                  <a:srgbClr val="FF0000"/>
                </a:solidFill>
                <a:latin typeface="微软雅黑" charset="0"/>
                <a:ea typeface="微软雅黑" charset="0"/>
                <a:cs typeface="微软雅黑" charset="0"/>
              </a:rPr>
              <a:t>= </a:t>
            </a:r>
            <a:r>
              <a:rPr lang="en-US" altLang="zh-CN" sz="2400" b="0" i="1" dirty="0">
                <a:solidFill>
                  <a:srgbClr val="FF0000"/>
                </a:solidFill>
                <a:latin typeface="微软雅黑" charset="0"/>
                <a:ea typeface="微软雅黑" charset="0"/>
                <a:cs typeface="微软雅黑" charset="0"/>
              </a:rPr>
              <a:t>b</a:t>
            </a:r>
            <a:r>
              <a:rPr lang="en-US" altLang="zh-CN" sz="2400" b="0" i="1" baseline="-25000" dirty="0">
                <a:solidFill>
                  <a:srgbClr val="FF0000"/>
                </a:solidFill>
                <a:latin typeface="微软雅黑" charset="0"/>
                <a:ea typeface="微软雅黑" charset="0"/>
                <a:cs typeface="微软雅黑" charset="0"/>
              </a:rPr>
              <a:t>0</a:t>
            </a:r>
            <a:r>
              <a:rPr lang="en-US" altLang="zh-CN" sz="2400" b="0" i="1" dirty="0">
                <a:solidFill>
                  <a:srgbClr val="FF0000"/>
                </a:solidFill>
                <a:latin typeface="微软雅黑" charset="0"/>
                <a:ea typeface="微软雅黑" charset="0"/>
                <a:cs typeface="微软雅黑" charset="0"/>
              </a:rPr>
              <a:t> </a:t>
            </a:r>
            <a:r>
              <a:rPr lang="en-US" altLang="zh-CN" sz="2400" b="0" dirty="0">
                <a:solidFill>
                  <a:srgbClr val="FF0000"/>
                </a:solidFill>
                <a:latin typeface="微软雅黑" charset="0"/>
                <a:ea typeface="微软雅黑" charset="0"/>
                <a:cs typeface="微软雅黑" charset="0"/>
              </a:rPr>
              <a:t>+</a:t>
            </a:r>
            <a:r>
              <a:rPr lang="en-US" altLang="zh-CN" sz="2400" b="0" i="1" dirty="0">
                <a:solidFill>
                  <a:srgbClr val="FF0000"/>
                </a:solidFill>
                <a:latin typeface="微软雅黑" charset="0"/>
                <a:ea typeface="微软雅黑" charset="0"/>
                <a:cs typeface="微软雅黑" charset="0"/>
              </a:rPr>
              <a:t> b</a:t>
            </a:r>
            <a:r>
              <a:rPr lang="en-US" altLang="zh-CN" sz="2400" b="0" i="1" baseline="-25000" dirty="0">
                <a:solidFill>
                  <a:srgbClr val="FF0000"/>
                </a:solidFill>
                <a:latin typeface="微软雅黑" charset="0"/>
                <a:ea typeface="微软雅黑" charset="0"/>
                <a:cs typeface="微软雅黑" charset="0"/>
              </a:rPr>
              <a:t>1</a:t>
            </a:r>
            <a:r>
              <a:rPr lang="en-US" altLang="zh-CN" sz="2400" b="0" i="1" dirty="0">
                <a:solidFill>
                  <a:srgbClr val="FF0000"/>
                </a:solidFill>
                <a:latin typeface="微软雅黑" charset="0"/>
                <a:ea typeface="微软雅黑" charset="0"/>
                <a:cs typeface="微软雅黑" charset="0"/>
              </a:rPr>
              <a:t> X</a:t>
            </a:r>
            <a:r>
              <a:rPr lang="en-US" altLang="zh-CN" sz="2400" b="0" i="1" baseline="-25000" dirty="0">
                <a:solidFill>
                  <a:srgbClr val="FF0000"/>
                </a:solidFill>
                <a:latin typeface="微软雅黑" charset="0"/>
                <a:ea typeface="微软雅黑" charset="0"/>
                <a:cs typeface="微软雅黑" charset="0"/>
              </a:rPr>
              <a:t>1</a:t>
            </a:r>
            <a:r>
              <a:rPr lang="en-US" altLang="zh-CN" sz="2400" b="0" i="1" dirty="0">
                <a:solidFill>
                  <a:srgbClr val="FF0000"/>
                </a:solidFill>
                <a:latin typeface="微软雅黑" charset="0"/>
                <a:ea typeface="微软雅黑" charset="0"/>
                <a:cs typeface="微软雅黑" charset="0"/>
              </a:rPr>
              <a:t> </a:t>
            </a:r>
            <a:r>
              <a:rPr lang="en-US" altLang="zh-CN" sz="2400" b="0" dirty="0">
                <a:solidFill>
                  <a:srgbClr val="FF0000"/>
                </a:solidFill>
                <a:latin typeface="微软雅黑" charset="0"/>
                <a:ea typeface="微软雅黑" charset="0"/>
                <a:cs typeface="微软雅黑" charset="0"/>
              </a:rPr>
              <a:t>+</a:t>
            </a:r>
            <a:r>
              <a:rPr lang="en-US" altLang="zh-CN" sz="2400" b="0" i="1" dirty="0">
                <a:solidFill>
                  <a:srgbClr val="FF0000"/>
                </a:solidFill>
                <a:latin typeface="微软雅黑" charset="0"/>
                <a:ea typeface="微软雅黑" charset="0"/>
                <a:cs typeface="微软雅黑" charset="0"/>
              </a:rPr>
              <a:t> b</a:t>
            </a:r>
            <a:r>
              <a:rPr lang="en-US" altLang="zh-CN" sz="2400" b="0" i="1" baseline="-25000" dirty="0">
                <a:solidFill>
                  <a:srgbClr val="FF0000"/>
                </a:solidFill>
                <a:latin typeface="微软雅黑" charset="0"/>
                <a:ea typeface="微软雅黑" charset="0"/>
                <a:cs typeface="微软雅黑" charset="0"/>
              </a:rPr>
              <a:t>2</a:t>
            </a:r>
            <a:r>
              <a:rPr lang="en-US" altLang="zh-CN" sz="2400" b="0" i="1" dirty="0">
                <a:solidFill>
                  <a:srgbClr val="FF0000"/>
                </a:solidFill>
                <a:latin typeface="微软雅黑" charset="0"/>
                <a:ea typeface="微软雅黑" charset="0"/>
                <a:cs typeface="微软雅黑" charset="0"/>
              </a:rPr>
              <a:t> X</a:t>
            </a:r>
            <a:r>
              <a:rPr lang="en-US" altLang="zh-CN" sz="2400" b="0" i="1" baseline="-25000" dirty="0">
                <a:solidFill>
                  <a:srgbClr val="FF0000"/>
                </a:solidFill>
                <a:latin typeface="微软雅黑" charset="0"/>
                <a:ea typeface="微软雅黑" charset="0"/>
                <a:cs typeface="微软雅黑" charset="0"/>
              </a:rPr>
              <a:t>2</a:t>
            </a:r>
            <a:r>
              <a:rPr lang="en-US" altLang="zh-CN" sz="2400" b="0" dirty="0">
                <a:latin typeface="微软雅黑" charset="0"/>
                <a:ea typeface="微软雅黑" charset="0"/>
                <a:cs typeface="微软雅黑" charset="0"/>
              </a:rPr>
              <a:t>.</a:t>
            </a:r>
            <a:endParaRPr lang="en-US" altLang="zh-CN" sz="2400" b="0" dirty="0">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23" name="Object 5"/>
          <p:cNvGraphicFramePr>
            <a:graphicFrameLocks noChangeAspect="1"/>
          </p:cNvGraphicFramePr>
          <p:nvPr/>
        </p:nvGraphicFramePr>
        <p:xfrm>
          <a:off x="4368800" y="3094038"/>
          <a:ext cx="112713" cy="214312"/>
        </p:xfrm>
        <a:graphic>
          <a:graphicData uri="http://schemas.openxmlformats.org/presentationml/2006/ole">
            <mc:AlternateContent xmlns:mc="http://schemas.openxmlformats.org/markup-compatibility/2006">
              <mc:Choice xmlns:v="urn:schemas-microsoft-com:vml" Requires="v">
                <p:oleObj spid="_x0000_s13409" name="Equation" r:id="rId1" imgW="114300" imgH="215900" progId="Equation.3">
                  <p:embed/>
                </p:oleObj>
              </mc:Choice>
              <mc:Fallback>
                <p:oleObj name="Equation" r:id="rId1" imgW="114300" imgH="215900" progId="Equation.3">
                  <p:embed/>
                  <p:pic>
                    <p:nvPicPr>
                      <p:cNvPr id="0" name="图片 1238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800" y="3094038"/>
                        <a:ext cx="112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内容占位符 2"/>
          <p:cNvSpPr txBox="1"/>
          <p:nvPr/>
        </p:nvSpPr>
        <p:spPr bwMode="auto">
          <a:xfrm>
            <a:off x="431756" y="1196752"/>
            <a:ext cx="8501260" cy="5018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微软雅黑" charset="0"/>
              </a:rPr>
              <a:t>采样</a:t>
            </a:r>
            <a:endParaRPr lang="zh-CN" altLang="en-US" sz="2800" b="0" dirty="0">
              <a:solidFill>
                <a:srgbClr val="FF0000"/>
              </a:solidFill>
              <a:latin typeface="微软雅黑" charset="0"/>
              <a:ea typeface="微软雅黑" charset="0"/>
              <a:cs typeface="微软雅黑" charset="0"/>
            </a:endParaRPr>
          </a:p>
          <a:p>
            <a:pPr lvl="1" eaLnBrk="1" hangingPunct="1">
              <a:lnSpc>
                <a:spcPct val="125000"/>
              </a:lnSpc>
              <a:spcBef>
                <a:spcPts val="0"/>
              </a:spcBef>
              <a:spcAft>
                <a:spcPts val="0"/>
              </a:spcAft>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允许用数据的较小随机样本（子集）表示大的数据集</a:t>
            </a:r>
            <a:endParaRPr lang="zh-CN" altLang="en-US" sz="2400" b="0" dirty="0">
              <a:solidFill>
                <a:srgbClr val="FF0000"/>
              </a:solidFill>
              <a:latin typeface="微软雅黑" charset="0"/>
              <a:ea typeface="微软雅黑" charset="0"/>
              <a:cs typeface="微软雅黑" charset="0"/>
            </a:endParaRPr>
          </a:p>
          <a:p>
            <a:pPr lvl="1" eaLnBrk="1" hangingPunct="1">
              <a:lnSpc>
                <a:spcPct val="125000"/>
              </a:lnSpc>
              <a:spcBef>
                <a:spcPts val="600"/>
              </a:spcBef>
              <a:spcAft>
                <a:spcPts val="0"/>
              </a:spcAft>
              <a:buClrTx/>
              <a:buSzPct val="100000"/>
              <a:buFont typeface="Wingdings" panose="05000000000000000000" pitchFamily="2" charset="2"/>
              <a:buChar char="Ø"/>
              <a:defRPr/>
            </a:pPr>
            <a:r>
              <a:rPr lang="zh-CN" altLang="en-US" sz="2400" b="0" dirty="0">
                <a:solidFill>
                  <a:srgbClr val="FF0000"/>
                </a:solidFill>
                <a:latin typeface="微软雅黑" charset="0"/>
                <a:ea typeface="微软雅黑" charset="0"/>
                <a:cs typeface="微软雅黑" charset="0"/>
              </a:rPr>
              <a:t>对数据集</a:t>
            </a:r>
            <a:r>
              <a:rPr lang="en-US" altLang="zh-CN" sz="2400" b="0" dirty="0">
                <a:solidFill>
                  <a:srgbClr val="FF0000"/>
                </a:solidFill>
                <a:latin typeface="微软雅黑" charset="0"/>
                <a:ea typeface="微软雅黑" charset="0"/>
                <a:cs typeface="微软雅黑" charset="0"/>
              </a:rPr>
              <a:t>D</a:t>
            </a:r>
            <a:r>
              <a:rPr lang="zh-CN" altLang="en-US" sz="2400" b="0" dirty="0">
                <a:solidFill>
                  <a:srgbClr val="FF0000"/>
                </a:solidFill>
                <a:latin typeface="微软雅黑" charset="0"/>
                <a:ea typeface="微软雅黑" charset="0"/>
                <a:cs typeface="微软雅黑" charset="0"/>
              </a:rPr>
              <a:t>的样本选择：</a:t>
            </a:r>
            <a:endParaRPr lang="zh-CN" altLang="en-US" sz="2400" b="0" dirty="0">
              <a:solidFill>
                <a:srgbClr val="FF0000"/>
              </a:solidFill>
              <a:latin typeface="微软雅黑" charset="0"/>
              <a:ea typeface="微软雅黑" charset="0"/>
              <a:cs typeface="微软雅黑" charset="0"/>
            </a:endParaRPr>
          </a:p>
          <a:p>
            <a:pPr lvl="2" eaLnBrk="1" hangingPunct="1">
              <a:lnSpc>
                <a:spcPct val="125000"/>
              </a:lnSpc>
              <a:spcBef>
                <a:spcPts val="600"/>
              </a:spcBef>
              <a:spcAft>
                <a:spcPts val="0"/>
              </a:spcAft>
              <a:buClrTx/>
              <a:buSzPct val="100000"/>
              <a:buFont typeface="Arial" panose="020B0604020202090204" pitchFamily="34" charset="0"/>
              <a:buChar char="•"/>
              <a:defRPr/>
            </a:pPr>
            <a:r>
              <a:rPr lang="en-US" altLang="zh-CN" sz="2000" b="0" i="1" dirty="0">
                <a:solidFill>
                  <a:srgbClr val="FF0000"/>
                </a:solidFill>
                <a:latin typeface="微软雅黑" charset="0"/>
                <a:ea typeface="微软雅黑" charset="0"/>
                <a:cs typeface="微软雅黑" charset="0"/>
              </a:rPr>
              <a:t>s</a:t>
            </a:r>
            <a:r>
              <a:rPr lang="zh-CN" altLang="en-US" sz="2000" b="0" dirty="0">
                <a:solidFill>
                  <a:srgbClr val="1557AE"/>
                </a:solidFill>
                <a:latin typeface="微软雅黑" charset="0"/>
                <a:ea typeface="微软雅黑" charset="0"/>
                <a:cs typeface="微软雅黑" charset="0"/>
              </a:rPr>
              <a:t>个样本无放回简单随机抽样（</a:t>
            </a:r>
            <a:r>
              <a:rPr lang="en-US" altLang="zh-CN" sz="2000" b="0" dirty="0">
                <a:solidFill>
                  <a:srgbClr val="FF0000"/>
                </a:solidFill>
                <a:latin typeface="微软雅黑" charset="0"/>
                <a:ea typeface="微软雅黑" charset="0"/>
                <a:cs typeface="微软雅黑" charset="0"/>
              </a:rPr>
              <a:t>Simple random sampling without replacement</a:t>
            </a:r>
            <a:r>
              <a:rPr lang="zh-CN" altLang="en-US" sz="2000" b="0" dirty="0">
                <a:solidFill>
                  <a:srgbClr val="FF0000"/>
                </a:solidFill>
                <a:latin typeface="微软雅黑" charset="0"/>
                <a:ea typeface="微软雅黑" charset="0"/>
                <a:cs typeface="微软雅黑" charset="0"/>
              </a:rPr>
              <a:t>，</a:t>
            </a:r>
            <a:r>
              <a:rPr lang="en-US" altLang="zh-CN" sz="2000" b="0" dirty="0">
                <a:solidFill>
                  <a:srgbClr val="FF0000"/>
                </a:solidFill>
                <a:latin typeface="微软雅黑" charset="0"/>
                <a:ea typeface="微软雅黑" charset="0"/>
                <a:cs typeface="微软雅黑" charset="0"/>
              </a:rPr>
              <a:t>SRSWOR</a:t>
            </a:r>
            <a:r>
              <a:rPr lang="zh-CN" altLang="en-US" sz="2000" b="0" dirty="0">
                <a:solidFill>
                  <a:srgbClr val="1557AE"/>
                </a:solidFill>
                <a:latin typeface="微软雅黑" charset="0"/>
                <a:ea typeface="微软雅黑" charset="0"/>
                <a:cs typeface="微软雅黑" charset="0"/>
              </a:rPr>
              <a:t>）：由</a:t>
            </a:r>
            <a:r>
              <a:rPr lang="en-US" altLang="zh-CN" sz="2000" b="0" dirty="0">
                <a:solidFill>
                  <a:srgbClr val="FF0000"/>
                </a:solidFill>
                <a:latin typeface="微软雅黑" charset="0"/>
                <a:ea typeface="微软雅黑" charset="0"/>
                <a:cs typeface="微软雅黑" charset="0"/>
              </a:rPr>
              <a:t>D </a:t>
            </a:r>
            <a:r>
              <a:rPr lang="zh-CN" altLang="en-US" sz="2000" b="0" dirty="0">
                <a:solidFill>
                  <a:srgbClr val="1557AE"/>
                </a:solidFill>
                <a:latin typeface="微软雅黑" charset="0"/>
                <a:ea typeface="微软雅黑" charset="0"/>
                <a:cs typeface="微软雅黑" charset="0"/>
              </a:rPr>
              <a:t>的</a:t>
            </a:r>
            <a:r>
              <a:rPr lang="en-US" altLang="zh-CN" sz="2000" b="0" dirty="0">
                <a:solidFill>
                  <a:srgbClr val="FF0000"/>
                </a:solidFill>
                <a:latin typeface="微软雅黑" charset="0"/>
                <a:ea typeface="微软雅黑" charset="0"/>
                <a:cs typeface="微软雅黑" charset="0"/>
              </a:rPr>
              <a:t>N</a:t>
            </a:r>
            <a:r>
              <a:rPr lang="zh-CN" altLang="en-US" sz="2000" b="0" dirty="0">
                <a:solidFill>
                  <a:srgbClr val="1557AE"/>
                </a:solidFill>
                <a:latin typeface="微软雅黑" charset="0"/>
                <a:ea typeface="微软雅黑" charset="0"/>
                <a:cs typeface="微软雅黑" charset="0"/>
              </a:rPr>
              <a:t>个元组中抽取</a:t>
            </a:r>
            <a:r>
              <a:rPr lang="en-US" altLang="zh-CN" sz="2000" b="0" dirty="0">
                <a:solidFill>
                  <a:srgbClr val="FF0000"/>
                </a:solidFill>
                <a:latin typeface="微软雅黑" charset="0"/>
                <a:ea typeface="微软雅黑" charset="0"/>
                <a:cs typeface="微软雅黑" charset="0"/>
              </a:rPr>
              <a:t>s</a:t>
            </a:r>
            <a:r>
              <a:rPr lang="zh-CN" altLang="en-US" sz="2000" b="0" dirty="0">
                <a:solidFill>
                  <a:srgbClr val="1557AE"/>
                </a:solidFill>
                <a:latin typeface="微软雅黑" charset="0"/>
                <a:ea typeface="微软雅黑" charset="0"/>
                <a:cs typeface="微软雅黑" charset="0"/>
              </a:rPr>
              <a:t>个样本</a:t>
            </a:r>
            <a:r>
              <a:rPr lang="zh-CN" altLang="en-US" sz="2000" b="0" dirty="0">
                <a:latin typeface="微软雅黑" charset="0"/>
                <a:ea typeface="微软雅黑" charset="0"/>
                <a:cs typeface="微软雅黑" charset="0"/>
              </a:rPr>
              <a:t>（</a:t>
            </a:r>
            <a:r>
              <a:rPr lang="en-US" altLang="zh-CN" sz="2000" b="0" dirty="0">
                <a:solidFill>
                  <a:srgbClr val="FF0000"/>
                </a:solidFill>
                <a:latin typeface="微软雅黑" charset="0"/>
                <a:ea typeface="微软雅黑" charset="0"/>
                <a:cs typeface="微软雅黑" charset="0"/>
              </a:rPr>
              <a:t>s&lt;N</a:t>
            </a:r>
            <a:r>
              <a:rPr lang="zh-CN" altLang="en-US" sz="2000" b="0" dirty="0">
                <a:latin typeface="微软雅黑" charset="0"/>
                <a:ea typeface="微软雅黑" charset="0"/>
                <a:cs typeface="微软雅黑" charset="0"/>
              </a:rPr>
              <a:t>）</a:t>
            </a:r>
            <a:endParaRPr lang="zh-CN" altLang="en-US" sz="2000" b="0" dirty="0">
              <a:latin typeface="微软雅黑" charset="0"/>
              <a:ea typeface="微软雅黑" charset="0"/>
              <a:cs typeface="微软雅黑" charset="0"/>
            </a:endParaRPr>
          </a:p>
          <a:p>
            <a:pPr lvl="2" eaLnBrk="1" hangingPunct="1">
              <a:lnSpc>
                <a:spcPct val="125000"/>
              </a:lnSpc>
              <a:spcBef>
                <a:spcPts val="600"/>
              </a:spcBef>
              <a:spcAft>
                <a:spcPts val="0"/>
              </a:spcAft>
              <a:buClrTx/>
              <a:buSzPct val="100000"/>
              <a:buFont typeface="Arial" panose="020B0604020202090204" pitchFamily="34" charset="0"/>
              <a:buChar char="•"/>
              <a:defRPr/>
            </a:pPr>
            <a:r>
              <a:rPr lang="en-US" altLang="zh-CN" sz="2000" b="0" dirty="0">
                <a:solidFill>
                  <a:srgbClr val="FF0000"/>
                </a:solidFill>
                <a:latin typeface="微软雅黑" charset="0"/>
                <a:ea typeface="微软雅黑" charset="0"/>
                <a:cs typeface="微软雅黑" charset="0"/>
              </a:rPr>
              <a:t>s</a:t>
            </a:r>
            <a:r>
              <a:rPr lang="zh-CN" altLang="en-US" sz="2000" b="0" dirty="0">
                <a:solidFill>
                  <a:srgbClr val="1557AE"/>
                </a:solidFill>
                <a:latin typeface="微软雅黑" charset="0"/>
                <a:ea typeface="微软雅黑" charset="0"/>
                <a:cs typeface="微软雅黑" charset="0"/>
              </a:rPr>
              <a:t>个样本有放回简单随机抽样（</a:t>
            </a:r>
            <a:r>
              <a:rPr lang="en-US" altLang="zh-CN" sz="2000" b="0" dirty="0">
                <a:solidFill>
                  <a:srgbClr val="1557AE"/>
                </a:solidFill>
                <a:latin typeface="微软雅黑" charset="0"/>
                <a:ea typeface="微软雅黑" charset="0"/>
                <a:cs typeface="微软雅黑" charset="0"/>
              </a:rPr>
              <a:t> </a:t>
            </a:r>
            <a:r>
              <a:rPr lang="en-US" altLang="zh-CN" sz="2000" b="0" dirty="0">
                <a:solidFill>
                  <a:srgbClr val="FF0000"/>
                </a:solidFill>
                <a:latin typeface="微软雅黑" charset="0"/>
                <a:ea typeface="微软雅黑" charset="0"/>
                <a:cs typeface="微软雅黑" charset="0"/>
              </a:rPr>
              <a:t>Simple Random Sampling With Replacement</a:t>
            </a:r>
            <a:r>
              <a:rPr lang="zh-CN" altLang="en-US" sz="2000" b="0" dirty="0">
                <a:solidFill>
                  <a:srgbClr val="FF0000"/>
                </a:solidFill>
                <a:latin typeface="微软雅黑" charset="0"/>
                <a:ea typeface="微软雅黑" charset="0"/>
                <a:cs typeface="微软雅黑" charset="0"/>
              </a:rPr>
              <a:t>，</a:t>
            </a:r>
            <a:r>
              <a:rPr lang="en-US" altLang="zh-CN" sz="2000" b="0" dirty="0">
                <a:solidFill>
                  <a:srgbClr val="FF0000"/>
                </a:solidFill>
                <a:latin typeface="微软雅黑" charset="0"/>
                <a:ea typeface="微软雅黑" charset="0"/>
                <a:cs typeface="微软雅黑" charset="0"/>
              </a:rPr>
              <a:t>SRSWR</a:t>
            </a:r>
            <a:r>
              <a:rPr lang="zh-CN" altLang="en-US" sz="2000" b="0" dirty="0">
                <a:solidFill>
                  <a:srgbClr val="1557AE"/>
                </a:solidFill>
                <a:latin typeface="微软雅黑" charset="0"/>
                <a:ea typeface="微软雅黑" charset="0"/>
                <a:cs typeface="微软雅黑" charset="0"/>
              </a:rPr>
              <a:t>）：过程同上，只是元组被抽取后，将被回放，可能再次被抽取</a:t>
            </a:r>
            <a:endParaRPr lang="zh-CN" altLang="en-US" sz="2000" b="0" dirty="0">
              <a:solidFill>
                <a:srgbClr val="1557AE"/>
              </a:solidFill>
              <a:latin typeface="微软雅黑" charset="0"/>
              <a:ea typeface="微软雅黑" charset="0"/>
              <a:cs typeface="微软雅黑" charset="0"/>
            </a:endParaRPr>
          </a:p>
          <a:p>
            <a:pPr lvl="2" eaLnBrk="1" hangingPunct="1">
              <a:lnSpc>
                <a:spcPct val="125000"/>
              </a:lnSpc>
              <a:spcBef>
                <a:spcPts val="600"/>
              </a:spcBef>
              <a:spcAft>
                <a:spcPts val="0"/>
              </a:spcAft>
              <a:buClrTx/>
              <a:buSzPct val="100000"/>
              <a:buFont typeface="Arial" panose="020B0604020202090204" pitchFamily="34" charset="0"/>
              <a:buChar char="•"/>
              <a:defRPr/>
            </a:pPr>
            <a:r>
              <a:rPr lang="zh-CN" altLang="en-US" sz="2000" b="0" dirty="0">
                <a:solidFill>
                  <a:srgbClr val="FF0000"/>
                </a:solidFill>
                <a:latin typeface="微软雅黑" charset="0"/>
                <a:ea typeface="微软雅黑" charset="0"/>
                <a:cs typeface="微软雅黑" charset="0"/>
              </a:rPr>
              <a:t>聚类选样：</a:t>
            </a:r>
            <a:r>
              <a:rPr lang="en-US" altLang="zh-CN" sz="2000" b="0" dirty="0">
                <a:solidFill>
                  <a:srgbClr val="FF0000"/>
                </a:solidFill>
                <a:latin typeface="微软雅黑" charset="0"/>
                <a:ea typeface="微软雅黑" charset="0"/>
                <a:cs typeface="微软雅黑" charset="0"/>
              </a:rPr>
              <a:t>D </a:t>
            </a:r>
            <a:r>
              <a:rPr lang="zh-CN" altLang="en-US" sz="2000" b="0" dirty="0">
                <a:solidFill>
                  <a:srgbClr val="1557AE"/>
                </a:solidFill>
                <a:latin typeface="微软雅黑" charset="0"/>
                <a:ea typeface="微软雅黑" charset="0"/>
                <a:cs typeface="微软雅黑" charset="0"/>
              </a:rPr>
              <a:t>中元组被分入 </a:t>
            </a:r>
            <a:r>
              <a:rPr lang="en-US" altLang="zh-CN" sz="2000" b="0" dirty="0">
                <a:solidFill>
                  <a:srgbClr val="FF0000"/>
                </a:solidFill>
                <a:latin typeface="微软雅黑" charset="0"/>
                <a:ea typeface="微软雅黑" charset="0"/>
                <a:cs typeface="微软雅黑" charset="0"/>
              </a:rPr>
              <a:t>M</a:t>
            </a:r>
            <a:r>
              <a:rPr lang="en-US" altLang="zh-CN" sz="2000" b="0" dirty="0">
                <a:solidFill>
                  <a:srgbClr val="0000FF"/>
                </a:solidFill>
                <a:latin typeface="微软雅黑" charset="0"/>
                <a:ea typeface="微软雅黑" charset="0"/>
                <a:cs typeface="微软雅黑" charset="0"/>
              </a:rPr>
              <a:t> </a:t>
            </a:r>
            <a:r>
              <a:rPr lang="zh-CN" altLang="en-US" sz="2000" b="0" dirty="0">
                <a:solidFill>
                  <a:srgbClr val="1557AE"/>
                </a:solidFill>
                <a:latin typeface="微软雅黑" charset="0"/>
                <a:ea typeface="微软雅黑" charset="0"/>
                <a:cs typeface="微软雅黑" charset="0"/>
              </a:rPr>
              <a:t>个互不相交的簇中，可在其中的</a:t>
            </a:r>
            <a:r>
              <a:rPr lang="en-US" altLang="zh-CN" sz="2000" b="0" dirty="0">
                <a:solidFill>
                  <a:srgbClr val="FF0000"/>
                </a:solidFill>
                <a:latin typeface="微软雅黑" charset="0"/>
                <a:ea typeface="微软雅黑" charset="0"/>
                <a:cs typeface="微软雅黑" charset="0"/>
              </a:rPr>
              <a:t>m</a:t>
            </a:r>
            <a:r>
              <a:rPr lang="zh-CN" altLang="en-US" sz="2000" b="0" dirty="0">
                <a:solidFill>
                  <a:srgbClr val="1557AE"/>
                </a:solidFill>
                <a:latin typeface="微软雅黑" charset="0"/>
                <a:ea typeface="微软雅黑" charset="0"/>
                <a:cs typeface="微软雅黑" charset="0"/>
              </a:rPr>
              <a:t>个簇上进行简单随机选择（</a:t>
            </a:r>
            <a:r>
              <a:rPr lang="en-US" altLang="zh-CN" sz="2000" b="0" dirty="0">
                <a:solidFill>
                  <a:srgbClr val="FF0000"/>
                </a:solidFill>
                <a:latin typeface="微软雅黑" charset="0"/>
                <a:ea typeface="微软雅黑" charset="0"/>
                <a:cs typeface="微软雅黑" charset="0"/>
              </a:rPr>
              <a:t>SRS</a:t>
            </a:r>
            <a:r>
              <a:rPr lang="zh-CN" altLang="en-US" sz="2000" b="0" dirty="0">
                <a:solidFill>
                  <a:srgbClr val="FF0000"/>
                </a:solidFill>
                <a:latin typeface="微软雅黑" charset="0"/>
                <a:ea typeface="微软雅黑" charset="0"/>
                <a:cs typeface="微软雅黑" charset="0"/>
              </a:rPr>
              <a:t>，</a:t>
            </a:r>
            <a:r>
              <a:rPr lang="en-US" altLang="zh-CN" sz="2000" b="0" dirty="0">
                <a:solidFill>
                  <a:srgbClr val="FF0000"/>
                </a:solidFill>
                <a:latin typeface="微软雅黑" charset="0"/>
                <a:ea typeface="微软雅黑" charset="0"/>
                <a:cs typeface="微软雅黑" charset="0"/>
              </a:rPr>
              <a:t>m&lt;M</a:t>
            </a:r>
            <a:r>
              <a:rPr lang="zh-CN" altLang="en-US" sz="2000" b="0" dirty="0">
                <a:solidFill>
                  <a:srgbClr val="1557AE"/>
                </a:solidFill>
                <a:latin typeface="微软雅黑" charset="0"/>
                <a:ea typeface="微软雅黑" charset="0"/>
                <a:cs typeface="微软雅黑" charset="0"/>
              </a:rPr>
              <a:t>）</a:t>
            </a:r>
            <a:endParaRPr lang="zh-CN" altLang="en-US" sz="2000" b="0" dirty="0">
              <a:solidFill>
                <a:srgbClr val="1557AE"/>
              </a:solidFill>
              <a:latin typeface="微软雅黑" charset="0"/>
              <a:ea typeface="微软雅黑" charset="0"/>
              <a:cs typeface="微软雅黑" charset="0"/>
            </a:endParaRPr>
          </a:p>
        </p:txBody>
      </p:sp>
      <p:sp>
        <p:nvSpPr>
          <p:cNvPr id="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en-US" altLang="zh-CN" sz="3600" dirty="0">
                <a:cs typeface="微软雅黑" charset="0"/>
              </a:rPr>
              <a:t>2.4  </a:t>
            </a:r>
            <a:r>
              <a:rPr lang="zh-CN" altLang="en-US" sz="3600" dirty="0">
                <a:cs typeface="微软雅黑" charset="0"/>
              </a:rPr>
              <a:t>数据归约  </a:t>
            </a:r>
            <a:r>
              <a:rPr lang="en-US" altLang="zh-CN" sz="3600" dirty="0">
                <a:cs typeface="微软雅黑" charset="0"/>
              </a:rPr>
              <a:t>-  </a:t>
            </a:r>
            <a:r>
              <a:rPr lang="zh-CN" altLang="en-US" sz="3600" dirty="0">
                <a:cs typeface="微软雅黑" charset="0"/>
              </a:rPr>
              <a:t>数值规约</a:t>
            </a:r>
            <a:endParaRPr lang="zh-CN" altLang="en-US" sz="3600" dirty="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23" name="Object 5"/>
          <p:cNvGraphicFramePr>
            <a:graphicFrameLocks noChangeAspect="1"/>
          </p:cNvGraphicFramePr>
          <p:nvPr/>
        </p:nvGraphicFramePr>
        <p:xfrm>
          <a:off x="4324219" y="3378994"/>
          <a:ext cx="112713" cy="214312"/>
        </p:xfrm>
        <a:graphic>
          <a:graphicData uri="http://schemas.openxmlformats.org/presentationml/2006/ole">
            <mc:AlternateContent xmlns:mc="http://schemas.openxmlformats.org/markup-compatibility/2006">
              <mc:Choice xmlns:v="urn:schemas-microsoft-com:vml" Requires="v">
                <p:oleObj spid="_x0000_s13409" name="Equation" r:id="rId1" imgW="114300" imgH="215900" progId="Equation.3">
                  <p:embed/>
                </p:oleObj>
              </mc:Choice>
              <mc:Fallback>
                <p:oleObj name="Equation" r:id="rId1" imgW="114300" imgH="215900" progId="Equation.3">
                  <p:embed/>
                  <p:pic>
                    <p:nvPicPr>
                      <p:cNvPr id="0" name="图片 134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4219" y="3378994"/>
                        <a:ext cx="112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内容占位符 2"/>
          <p:cNvSpPr txBox="1"/>
          <p:nvPr/>
        </p:nvSpPr>
        <p:spPr bwMode="auto">
          <a:xfrm>
            <a:off x="387175" y="1412776"/>
            <a:ext cx="8501260"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342900" indent="-342900" eaLnBrk="1" hangingPunct="1">
              <a:lnSpc>
                <a:spcPct val="120000"/>
              </a:lnSpc>
              <a:buClrTx/>
              <a:buSzPct val="100000"/>
              <a:buFont typeface="Wingdings" panose="05000000000000000000" pitchFamily="2" charset="2"/>
              <a:buChar char="n"/>
              <a:defRPr/>
            </a:pPr>
            <a:r>
              <a:rPr lang="zh-CN" altLang="en-US" sz="2800" b="0" dirty="0">
                <a:solidFill>
                  <a:srgbClr val="FF0000"/>
                </a:solidFill>
                <a:latin typeface="微软雅黑" charset="0"/>
                <a:ea typeface="微软雅黑" charset="0"/>
                <a:cs typeface="Calibri" panose="020F0502020204030204" pitchFamily="34" charset="0"/>
              </a:rPr>
              <a:t>采样</a:t>
            </a:r>
            <a:endParaRPr lang="zh-CN" altLang="en-US" sz="2800" b="0" dirty="0">
              <a:solidFill>
                <a:srgbClr val="FF0000"/>
              </a:solidFill>
              <a:latin typeface="微软雅黑" charset="0"/>
              <a:ea typeface="微软雅黑" charset="0"/>
              <a:cs typeface="Calibri" panose="020F0502020204030204" pitchFamily="34" charset="0"/>
            </a:endParaRPr>
          </a:p>
        </p:txBody>
      </p:sp>
      <p:sp>
        <p:nvSpPr>
          <p:cNvPr id="32" name="Text Box 4"/>
          <p:cNvSpPr txBox="1">
            <a:spLocks noChangeArrowheads="1"/>
          </p:cNvSpPr>
          <p:nvPr/>
        </p:nvSpPr>
        <p:spPr bwMode="auto">
          <a:xfrm rot="20586437">
            <a:off x="3606116" y="2875667"/>
            <a:ext cx="188705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en-US" altLang="zh-CN" sz="2400" b="0" dirty="0">
                <a:solidFill>
                  <a:srgbClr val="1557AE"/>
                </a:solidFill>
                <a:latin typeface="微软雅黑" charset="0"/>
                <a:ea typeface="微软雅黑" charset="0"/>
                <a:cs typeface="微软雅黑" charset="0"/>
              </a:rPr>
              <a:t>SRSWOR</a:t>
            </a:r>
            <a:endParaRPr lang="en-US" altLang="zh-CN" sz="2400" b="0" dirty="0">
              <a:solidFill>
                <a:srgbClr val="1557AE"/>
              </a:solidFill>
              <a:latin typeface="微软雅黑" charset="0"/>
              <a:ea typeface="微软雅黑" charset="0"/>
              <a:cs typeface="微软雅黑" charset="0"/>
            </a:endParaRPr>
          </a:p>
          <a:p>
            <a:r>
              <a:rPr lang="en-US" altLang="zh-CN" sz="2400" b="0" dirty="0">
                <a:solidFill>
                  <a:srgbClr val="1557AE"/>
                </a:solidFill>
                <a:latin typeface="微软雅黑" charset="0"/>
                <a:ea typeface="微软雅黑" charset="0"/>
                <a:cs typeface="微软雅黑" charset="0"/>
              </a:rPr>
              <a:t>(</a:t>
            </a:r>
            <a:r>
              <a:rPr lang="zh-CN" altLang="en-US" sz="2400" b="0" dirty="0">
                <a:solidFill>
                  <a:srgbClr val="1557AE"/>
                </a:solidFill>
                <a:latin typeface="微软雅黑" charset="0"/>
                <a:ea typeface="微软雅黑" charset="0"/>
                <a:cs typeface="微软雅黑" charset="0"/>
              </a:rPr>
              <a:t>简单随机选</a:t>
            </a:r>
            <a:endParaRPr lang="zh-CN" altLang="en-US" sz="2400" b="0" dirty="0">
              <a:solidFill>
                <a:srgbClr val="1557AE"/>
              </a:solidFill>
              <a:latin typeface="微软雅黑" charset="0"/>
              <a:ea typeface="微软雅黑" charset="0"/>
              <a:cs typeface="微软雅黑" charset="0"/>
            </a:endParaRPr>
          </a:p>
          <a:p>
            <a:r>
              <a:rPr lang="zh-CN" altLang="en-US" sz="2400" b="0" dirty="0">
                <a:solidFill>
                  <a:srgbClr val="1557AE"/>
                </a:solidFill>
                <a:latin typeface="微软雅黑" charset="0"/>
                <a:ea typeface="微软雅黑" charset="0"/>
                <a:cs typeface="微软雅黑" charset="0"/>
              </a:rPr>
              <a:t>样，不回放</a:t>
            </a:r>
            <a:r>
              <a:rPr lang="en-US" altLang="zh-CN" sz="2400" b="0" dirty="0">
                <a:solidFill>
                  <a:srgbClr val="1557AE"/>
                </a:solidFill>
                <a:latin typeface="微软雅黑" charset="0"/>
                <a:ea typeface="微软雅黑" charset="0"/>
                <a:cs typeface="微软雅黑" charset="0"/>
              </a:rPr>
              <a:t>)</a:t>
            </a:r>
            <a:endParaRPr lang="en-US" altLang="zh-CN" sz="2400" b="0" dirty="0">
              <a:solidFill>
                <a:srgbClr val="1557AE"/>
              </a:solidFill>
              <a:latin typeface="微软雅黑" charset="0"/>
              <a:ea typeface="微软雅黑" charset="0"/>
              <a:cs typeface="微软雅黑" charset="0"/>
            </a:endParaRPr>
          </a:p>
        </p:txBody>
      </p:sp>
      <p:grpSp>
        <p:nvGrpSpPr>
          <p:cNvPr id="33" name="Group 5"/>
          <p:cNvGrpSpPr/>
          <p:nvPr/>
        </p:nvGrpSpPr>
        <p:grpSpPr bwMode="auto">
          <a:xfrm>
            <a:off x="5651369" y="1769269"/>
            <a:ext cx="2438400" cy="1676400"/>
            <a:chOff x="3588" y="1116"/>
            <a:chExt cx="1536" cy="1056"/>
          </a:xfrm>
        </p:grpSpPr>
        <p:sp>
          <p:nvSpPr>
            <p:cNvPr id="34" name="AutoShape 6"/>
            <p:cNvSpPr>
              <a:spLocks noChangeArrowheads="1"/>
            </p:cNvSpPr>
            <p:nvPr/>
          </p:nvSpPr>
          <p:spPr bwMode="auto">
            <a:xfrm>
              <a:off x="3588" y="1116"/>
              <a:ext cx="1536" cy="1056"/>
            </a:xfrm>
            <a:prstGeom prst="can">
              <a:avLst>
                <a:gd name="adj" fmla="val 25000"/>
              </a:avLst>
            </a:prstGeom>
            <a:noFill/>
            <a:ln w="9525">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35" name="Oval 7"/>
            <p:cNvSpPr>
              <a:spLocks noChangeArrowheads="1"/>
            </p:cNvSpPr>
            <p:nvPr/>
          </p:nvSpPr>
          <p:spPr bwMode="auto">
            <a:xfrm>
              <a:off x="4092" y="1788"/>
              <a:ext cx="540" cy="360"/>
            </a:xfrm>
            <a:prstGeom prst="ellipse">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36" name="Oval 8"/>
            <p:cNvSpPr>
              <a:spLocks noChangeArrowheads="1"/>
            </p:cNvSpPr>
            <p:nvPr/>
          </p:nvSpPr>
          <p:spPr bwMode="auto">
            <a:xfrm>
              <a:off x="4632" y="1632"/>
              <a:ext cx="492" cy="396"/>
            </a:xfrm>
            <a:prstGeom prst="ellipse">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37" name="Oval 9"/>
            <p:cNvSpPr>
              <a:spLocks noChangeArrowheads="1"/>
            </p:cNvSpPr>
            <p:nvPr/>
          </p:nvSpPr>
          <p:spPr bwMode="auto">
            <a:xfrm>
              <a:off x="3588" y="1668"/>
              <a:ext cx="540" cy="360"/>
            </a:xfrm>
            <a:prstGeom prst="ellipse">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grpSp>
      <p:sp>
        <p:nvSpPr>
          <p:cNvPr id="38" name="Text Box 10"/>
          <p:cNvSpPr txBox="1">
            <a:spLocks noChangeArrowheads="1"/>
          </p:cNvSpPr>
          <p:nvPr/>
        </p:nvSpPr>
        <p:spPr bwMode="auto">
          <a:xfrm rot="848056">
            <a:off x="3756222" y="5100787"/>
            <a:ext cx="15408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en-US" altLang="zh-CN" sz="2400" b="0" dirty="0">
                <a:solidFill>
                  <a:srgbClr val="1557AE"/>
                </a:solidFill>
                <a:latin typeface="微软雅黑" charset="0"/>
                <a:ea typeface="微软雅黑" charset="0"/>
                <a:cs typeface="Calibri" panose="020F0502020204030204" pitchFamily="34" charset="0"/>
              </a:rPr>
              <a:t>SRSWR</a:t>
            </a:r>
            <a:endParaRPr lang="en-US" altLang="zh-CN" sz="2400" b="0" dirty="0">
              <a:solidFill>
                <a:srgbClr val="1557AE"/>
              </a:solidFill>
              <a:latin typeface="微软雅黑" charset="0"/>
              <a:ea typeface="微软雅黑" charset="0"/>
              <a:cs typeface="Calibri" panose="020F0502020204030204" pitchFamily="34" charset="0"/>
            </a:endParaRPr>
          </a:p>
        </p:txBody>
      </p:sp>
      <p:grpSp>
        <p:nvGrpSpPr>
          <p:cNvPr id="39" name="Group 11"/>
          <p:cNvGrpSpPr/>
          <p:nvPr/>
        </p:nvGrpSpPr>
        <p:grpSpPr bwMode="auto">
          <a:xfrm>
            <a:off x="5727569" y="4455319"/>
            <a:ext cx="2438400" cy="1676400"/>
            <a:chOff x="3636" y="2808"/>
            <a:chExt cx="1536" cy="1056"/>
          </a:xfrm>
        </p:grpSpPr>
        <p:sp>
          <p:nvSpPr>
            <p:cNvPr id="40" name="AutoShape 12"/>
            <p:cNvSpPr>
              <a:spLocks noChangeArrowheads="1"/>
            </p:cNvSpPr>
            <p:nvPr/>
          </p:nvSpPr>
          <p:spPr bwMode="auto">
            <a:xfrm>
              <a:off x="3636" y="2808"/>
              <a:ext cx="1536" cy="1056"/>
            </a:xfrm>
            <a:prstGeom prst="can">
              <a:avLst>
                <a:gd name="adj" fmla="val 25000"/>
              </a:avLst>
            </a:prstGeom>
            <a:noFill/>
            <a:ln w="9525">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41" name="Oval 13"/>
            <p:cNvSpPr>
              <a:spLocks noChangeArrowheads="1"/>
            </p:cNvSpPr>
            <p:nvPr/>
          </p:nvSpPr>
          <p:spPr bwMode="auto">
            <a:xfrm>
              <a:off x="3648" y="3372"/>
              <a:ext cx="540" cy="360"/>
            </a:xfrm>
            <a:prstGeom prst="ellipse">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42" name="Oval 14"/>
            <p:cNvSpPr>
              <a:spLocks noChangeArrowheads="1"/>
            </p:cNvSpPr>
            <p:nvPr/>
          </p:nvSpPr>
          <p:spPr bwMode="auto">
            <a:xfrm>
              <a:off x="4188" y="3480"/>
              <a:ext cx="540" cy="360"/>
            </a:xfrm>
            <a:prstGeom prst="ellipse">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43" name="Oval 15"/>
            <p:cNvSpPr>
              <a:spLocks noChangeArrowheads="1"/>
            </p:cNvSpPr>
            <p:nvPr/>
          </p:nvSpPr>
          <p:spPr bwMode="auto">
            <a:xfrm>
              <a:off x="4656" y="3288"/>
              <a:ext cx="516" cy="396"/>
            </a:xfrm>
            <a:prstGeom prst="ellipse">
              <a:avLst/>
            </a:prstGeom>
            <a:solidFill>
              <a:srgbClr val="FAE2F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grpSp>
      <p:grpSp>
        <p:nvGrpSpPr>
          <p:cNvPr id="44" name="Group 16"/>
          <p:cNvGrpSpPr/>
          <p:nvPr/>
        </p:nvGrpSpPr>
        <p:grpSpPr bwMode="auto">
          <a:xfrm>
            <a:off x="831719" y="1902619"/>
            <a:ext cx="2724150" cy="4540249"/>
            <a:chOff x="564" y="1284"/>
            <a:chExt cx="1716" cy="2860"/>
          </a:xfrm>
        </p:grpSpPr>
        <p:sp>
          <p:nvSpPr>
            <p:cNvPr id="45" name="AutoShape 17"/>
            <p:cNvSpPr>
              <a:spLocks noChangeArrowheads="1"/>
            </p:cNvSpPr>
            <p:nvPr/>
          </p:nvSpPr>
          <p:spPr bwMode="auto">
            <a:xfrm>
              <a:off x="564" y="1284"/>
              <a:ext cx="1716" cy="2616"/>
            </a:xfrm>
            <a:prstGeom prst="can">
              <a:avLst>
                <a:gd name="adj" fmla="val 38112"/>
              </a:avLst>
            </a:prstGeom>
            <a:noFill/>
            <a:ln w="9525">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46" name="Oval 18"/>
            <p:cNvSpPr>
              <a:spLocks noChangeArrowheads="1"/>
            </p:cNvSpPr>
            <p:nvPr/>
          </p:nvSpPr>
          <p:spPr bwMode="auto">
            <a:xfrm>
              <a:off x="672" y="3336"/>
              <a:ext cx="516" cy="396"/>
            </a:xfrm>
            <a:prstGeom prst="ellipse">
              <a:avLst/>
            </a:prstGeom>
            <a:solidFill>
              <a:srgbClr val="FAE2F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47" name="Oval 19"/>
            <p:cNvSpPr>
              <a:spLocks noChangeArrowheads="1"/>
            </p:cNvSpPr>
            <p:nvPr/>
          </p:nvSpPr>
          <p:spPr bwMode="auto">
            <a:xfrm>
              <a:off x="660" y="2916"/>
              <a:ext cx="540" cy="360"/>
            </a:xfrm>
            <a:prstGeom prst="ellipse">
              <a:avLst/>
            </a:prstGeom>
            <a:solidFill>
              <a:srgbClr val="006666"/>
            </a:solidFill>
            <a:ln w="9525">
              <a:solidFill>
                <a:srgbClr val="DA1F28"/>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48" name="Oval 20"/>
            <p:cNvSpPr>
              <a:spLocks noChangeArrowheads="1"/>
            </p:cNvSpPr>
            <p:nvPr/>
          </p:nvSpPr>
          <p:spPr bwMode="auto">
            <a:xfrm>
              <a:off x="1236" y="3468"/>
              <a:ext cx="564" cy="396"/>
            </a:xfrm>
            <a:prstGeom prst="ellipse">
              <a:avLst/>
            </a:prstGeom>
            <a:solidFill>
              <a:srgbClr val="121328"/>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49" name="Oval 21"/>
            <p:cNvSpPr>
              <a:spLocks noChangeArrowheads="1"/>
            </p:cNvSpPr>
            <p:nvPr/>
          </p:nvSpPr>
          <p:spPr bwMode="auto">
            <a:xfrm>
              <a:off x="1764" y="3240"/>
              <a:ext cx="492" cy="396"/>
            </a:xfrm>
            <a:prstGeom prst="ellipse">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50" name="Oval 22"/>
            <p:cNvSpPr>
              <a:spLocks noChangeArrowheads="1"/>
            </p:cNvSpPr>
            <p:nvPr/>
          </p:nvSpPr>
          <p:spPr bwMode="auto">
            <a:xfrm>
              <a:off x="1236" y="3084"/>
              <a:ext cx="468" cy="372"/>
            </a:xfrm>
            <a:prstGeom prst="ellipse">
              <a:avLst/>
            </a:prstGeom>
            <a:solidFill>
              <a:srgbClr val="CCFF99"/>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51" name="Oval 23"/>
            <p:cNvSpPr>
              <a:spLocks noChangeArrowheads="1"/>
            </p:cNvSpPr>
            <p:nvPr/>
          </p:nvSpPr>
          <p:spPr bwMode="auto">
            <a:xfrm>
              <a:off x="1680" y="2808"/>
              <a:ext cx="540" cy="360"/>
            </a:xfrm>
            <a:prstGeom prst="ellipse">
              <a:avLst/>
            </a:prstGeom>
            <a:solidFill>
              <a:srgbClr val="FF8119"/>
            </a:solidFill>
            <a:ln w="9525">
              <a:solidFill>
                <a:srgbClr val="FF8119"/>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52" name="Oval 24"/>
            <p:cNvSpPr>
              <a:spLocks noChangeArrowheads="1"/>
            </p:cNvSpPr>
            <p:nvPr/>
          </p:nvSpPr>
          <p:spPr bwMode="auto">
            <a:xfrm>
              <a:off x="1092" y="2664"/>
              <a:ext cx="540" cy="360"/>
            </a:xfrm>
            <a:prstGeom prst="ellipse">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53" name="Oval 25"/>
            <p:cNvSpPr>
              <a:spLocks noChangeArrowheads="1"/>
            </p:cNvSpPr>
            <p:nvPr/>
          </p:nvSpPr>
          <p:spPr bwMode="auto">
            <a:xfrm>
              <a:off x="564" y="2556"/>
              <a:ext cx="540" cy="360"/>
            </a:xfrm>
            <a:prstGeom prst="ellipse">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54" name="Oval 26"/>
            <p:cNvSpPr>
              <a:spLocks noChangeArrowheads="1"/>
            </p:cNvSpPr>
            <p:nvPr/>
          </p:nvSpPr>
          <p:spPr bwMode="auto">
            <a:xfrm>
              <a:off x="1620" y="2424"/>
              <a:ext cx="540" cy="360"/>
            </a:xfrm>
            <a:prstGeom prst="ellipse">
              <a:avLst/>
            </a:prstGeom>
            <a:solidFill>
              <a:srgbClr val="423E78"/>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微软雅黑" charset="0"/>
                <a:ea typeface="微软雅黑" charset="0"/>
                <a:cs typeface="Calibri" panose="020F0502020204030204" pitchFamily="34" charset="0"/>
              </a:endParaRPr>
            </a:p>
          </p:txBody>
        </p:sp>
        <p:sp>
          <p:nvSpPr>
            <p:cNvPr id="55" name="Text Box 27"/>
            <p:cNvSpPr txBox="1">
              <a:spLocks noChangeArrowheads="1"/>
            </p:cNvSpPr>
            <p:nvPr/>
          </p:nvSpPr>
          <p:spPr bwMode="auto">
            <a:xfrm>
              <a:off x="968" y="3853"/>
              <a:ext cx="89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1557AE"/>
                  </a:solidFill>
                  <a:uLnTx/>
                  <a:uFillTx/>
                  <a:latin typeface="微软雅黑" charset="0"/>
                  <a:ea typeface="微软雅黑" charset="0"/>
                  <a:cs typeface="Calibri" panose="020F0502020204030204" pitchFamily="34" charset="0"/>
                </a:rPr>
                <a:t>原始数据</a:t>
              </a:r>
              <a:endParaRPr kumimoji="0" lang="zh-CN" altLang="en-US" sz="2400" b="0" i="0" u="none" strike="noStrike" kern="0" cap="none" spc="0" normalizeH="0" baseline="0" noProof="0" dirty="0">
                <a:ln>
                  <a:noFill/>
                </a:ln>
                <a:solidFill>
                  <a:srgbClr val="1557AE"/>
                </a:solidFill>
                <a:uLnTx/>
                <a:uFillTx/>
                <a:latin typeface="微软雅黑" charset="0"/>
                <a:ea typeface="微软雅黑" charset="0"/>
                <a:cs typeface="Calibri" panose="020F0502020204030204" pitchFamily="34" charset="0"/>
              </a:endParaRPr>
            </a:p>
          </p:txBody>
        </p:sp>
      </p:grpSp>
      <p:sp>
        <p:nvSpPr>
          <p:cNvPr id="56" name="Line 28"/>
          <p:cNvSpPr>
            <a:spLocks noChangeShapeType="1"/>
          </p:cNvSpPr>
          <p:nvPr/>
        </p:nvSpPr>
        <p:spPr bwMode="auto">
          <a:xfrm flipV="1">
            <a:off x="3765419" y="2969419"/>
            <a:ext cx="1657350" cy="552450"/>
          </a:xfrm>
          <a:prstGeom prst="line">
            <a:avLst/>
          </a:prstGeom>
          <a:noFill/>
          <a:ln w="9525">
            <a:solidFill>
              <a:sysClr val="windowText" lastClr="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57" name="Line 29"/>
          <p:cNvSpPr>
            <a:spLocks noChangeShapeType="1"/>
          </p:cNvSpPr>
          <p:nvPr/>
        </p:nvSpPr>
        <p:spPr bwMode="auto">
          <a:xfrm>
            <a:off x="3784469" y="4893469"/>
            <a:ext cx="1790700" cy="495300"/>
          </a:xfrm>
          <a:prstGeom prst="line">
            <a:avLst/>
          </a:prstGeom>
          <a:noFill/>
          <a:ln w="9525">
            <a:solidFill>
              <a:sysClr val="windowText" lastClr="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uLnTx/>
              <a:uFillTx/>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59"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en-US" altLang="zh-CN" sz="3600" dirty="0">
                <a:cs typeface="微软雅黑" charset="0"/>
              </a:rPr>
              <a:t>2.4  </a:t>
            </a:r>
            <a:r>
              <a:rPr lang="zh-CN" altLang="en-US" sz="3600" dirty="0">
                <a:cs typeface="微软雅黑" charset="0"/>
              </a:rPr>
              <a:t>数据归约  </a:t>
            </a:r>
            <a:r>
              <a:rPr lang="en-US" altLang="zh-CN" sz="3600" dirty="0">
                <a:cs typeface="微软雅黑" charset="0"/>
              </a:rPr>
              <a:t>-  </a:t>
            </a:r>
            <a:r>
              <a:rPr lang="zh-CN" altLang="en-US" sz="3600" dirty="0">
                <a:cs typeface="微软雅黑" charset="0"/>
              </a:rPr>
              <a:t>数值规约</a:t>
            </a:r>
            <a:endParaRPr lang="zh-CN" altLang="en-US" sz="3600" dirty="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p:cNvSpPr txBox="1"/>
          <p:nvPr/>
        </p:nvSpPr>
        <p:spPr bwMode="auto">
          <a:xfrm>
            <a:off x="387175" y="1412776"/>
            <a:ext cx="8501260"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defPPr>
              <a:defRPr lang="zh-CN"/>
            </a:defPPr>
            <a:lvl1pPr marL="342900" indent="-342900" algn="l" eaLnBrk="1" hangingPunct="1">
              <a:lnSpc>
                <a:spcPct val="120000"/>
              </a:lnSpc>
              <a:spcBef>
                <a:spcPct val="20000"/>
              </a:spcBef>
              <a:buClrTx/>
              <a:buSzPct val="100000"/>
              <a:buFont typeface="Wingdings" panose="05000000000000000000" pitchFamily="2" charset="2"/>
              <a:buChar char="n"/>
              <a:defRPr sz="2800">
                <a:solidFill>
                  <a:srgbClr val="C00000"/>
                </a:solidFill>
                <a:latin typeface="黑体"/>
                <a:ea typeface="+mn-ea"/>
                <a:cs typeface="Calibri" panose="020F0502020204030204" pitchFamily="34" charset="0"/>
              </a:defRPr>
            </a:lvl1pPr>
            <a:lvl2pPr marL="908050" indent="-436880" algn="l" eaLnBrk="0" hangingPunct="0">
              <a:spcBef>
                <a:spcPct val="20000"/>
              </a:spcBef>
              <a:buClr>
                <a:schemeClr val="accent2"/>
              </a:buClr>
              <a:buFont typeface="Wingdings" panose="05000000000000000000" pitchFamily="2" charset="2"/>
              <a:buChar char="n"/>
              <a:defRPr sz="2600">
                <a:latin typeface="+mn-lt"/>
                <a:ea typeface="+mn-ea"/>
              </a:defRPr>
            </a:lvl2pPr>
            <a:lvl3pPr marL="1304925" indent="-395605" algn="l" eaLnBrk="0" hangingPunct="0">
              <a:spcBef>
                <a:spcPct val="20000"/>
              </a:spcBef>
              <a:buClr>
                <a:schemeClr val="accent2"/>
              </a:buClr>
              <a:buFont typeface="Wingdings" panose="05000000000000000000" pitchFamily="2" charset="2"/>
              <a:buChar char="o"/>
              <a:defRPr sz="2300">
                <a:latin typeface="+mn-lt"/>
                <a:ea typeface="+mn-ea"/>
              </a:defRPr>
            </a:lvl3pPr>
            <a:lvl4pPr marL="1694180" indent="-387350" algn="l" eaLnBrk="0" hangingPunct="0">
              <a:spcBef>
                <a:spcPct val="20000"/>
              </a:spcBef>
              <a:buClr>
                <a:schemeClr val="accent2"/>
              </a:buClr>
              <a:buFont typeface="Wingdings" panose="05000000000000000000" pitchFamily="2" charset="2"/>
              <a:buChar char="n"/>
              <a:defRPr sz="2000">
                <a:latin typeface="+mn-lt"/>
                <a:ea typeface="+mn-ea"/>
              </a:defRPr>
            </a:lvl4pPr>
            <a:lvl5pPr marL="2094230" indent="-398780" algn="l" eaLnBrk="0" hangingPunct="0">
              <a:spcBef>
                <a:spcPct val="25000"/>
              </a:spcBef>
              <a:buClr>
                <a:schemeClr val="accent2"/>
              </a:buClr>
              <a:buFont typeface="Wingdings" panose="05000000000000000000" pitchFamily="2" charset="2"/>
              <a:buChar char="§"/>
              <a:defRPr sz="2000">
                <a:latin typeface="+mn-lt"/>
                <a:ea typeface="+mn-ea"/>
              </a:defRPr>
            </a:lvl5pPr>
            <a:lvl6pPr marL="2551430" indent="-398780" fontAlgn="base">
              <a:spcBef>
                <a:spcPct val="25000"/>
              </a:spcBef>
              <a:spcAft>
                <a:spcPct val="0"/>
              </a:spcAft>
              <a:buClr>
                <a:schemeClr val="accent2"/>
              </a:buClr>
              <a:buFont typeface="Wingdings" panose="05000000000000000000" pitchFamily="2" charset="2"/>
              <a:buChar char="§"/>
              <a:defRPr sz="2000">
                <a:latin typeface="+mn-lt"/>
                <a:ea typeface="+mn-ea"/>
              </a:defRPr>
            </a:lvl6pPr>
            <a:lvl7pPr marL="3008630" indent="-398780" fontAlgn="base">
              <a:spcBef>
                <a:spcPct val="25000"/>
              </a:spcBef>
              <a:spcAft>
                <a:spcPct val="0"/>
              </a:spcAft>
              <a:buClr>
                <a:schemeClr val="accent2"/>
              </a:buClr>
              <a:buFont typeface="Wingdings" panose="05000000000000000000" pitchFamily="2" charset="2"/>
              <a:buChar char="§"/>
              <a:defRPr sz="2000">
                <a:latin typeface="+mn-lt"/>
                <a:ea typeface="+mn-ea"/>
              </a:defRPr>
            </a:lvl7pPr>
            <a:lvl8pPr marL="3465830" indent="-398780" fontAlgn="base">
              <a:spcBef>
                <a:spcPct val="25000"/>
              </a:spcBef>
              <a:spcAft>
                <a:spcPct val="0"/>
              </a:spcAft>
              <a:buClr>
                <a:schemeClr val="accent2"/>
              </a:buClr>
              <a:buFont typeface="Wingdings" panose="05000000000000000000" pitchFamily="2" charset="2"/>
              <a:buChar char="§"/>
              <a:defRPr sz="2000">
                <a:latin typeface="+mn-lt"/>
                <a:ea typeface="+mn-ea"/>
              </a:defRPr>
            </a:lvl8pPr>
            <a:lvl9pPr marL="3923030" indent="-398780" fontAlgn="base">
              <a:spcBef>
                <a:spcPct val="25000"/>
              </a:spcBef>
              <a:spcAft>
                <a:spcPct val="0"/>
              </a:spcAft>
              <a:buClr>
                <a:schemeClr val="accent2"/>
              </a:buClr>
              <a:buFont typeface="Wingdings" panose="05000000000000000000" pitchFamily="2" charset="2"/>
              <a:buChar char="§"/>
              <a:defRPr sz="2000">
                <a:latin typeface="+mn-lt"/>
                <a:ea typeface="+mn-ea"/>
              </a:defRPr>
            </a:lvl9pPr>
          </a:lstStyle>
          <a:p>
            <a:r>
              <a:rPr lang="zh-CN" altLang="en-US" b="0" dirty="0">
                <a:solidFill>
                  <a:srgbClr val="FF0000"/>
                </a:solidFill>
                <a:latin typeface="微软雅黑" charset="0"/>
                <a:ea typeface="微软雅黑" charset="0"/>
                <a:cs typeface="微软雅黑" charset="0"/>
              </a:rPr>
              <a:t>采样</a:t>
            </a:r>
            <a:r>
              <a:rPr lang="en-US" altLang="zh-CN" b="0" dirty="0">
                <a:solidFill>
                  <a:srgbClr val="FF0000"/>
                </a:solidFill>
                <a:latin typeface="微软雅黑" charset="0"/>
                <a:ea typeface="微软雅黑" charset="0"/>
                <a:cs typeface="微软雅黑" charset="0"/>
              </a:rPr>
              <a:t>——</a:t>
            </a:r>
            <a:r>
              <a:rPr lang="zh-CN" altLang="en-US" b="0" dirty="0">
                <a:solidFill>
                  <a:srgbClr val="FF0000"/>
                </a:solidFill>
                <a:latin typeface="微软雅黑" charset="0"/>
                <a:ea typeface="微软雅黑" charset="0"/>
                <a:cs typeface="微软雅黑" charset="0"/>
              </a:rPr>
              <a:t>聚类采样</a:t>
            </a:r>
            <a:endParaRPr lang="zh-CN" altLang="en-US" b="0" dirty="0">
              <a:solidFill>
                <a:srgbClr val="FF0000"/>
              </a:solidFill>
              <a:latin typeface="微软雅黑" charset="0"/>
              <a:ea typeface="微软雅黑" charset="0"/>
              <a:cs typeface="微软雅黑" charset="0"/>
            </a:endParaRPr>
          </a:p>
        </p:txBody>
      </p:sp>
      <p:grpSp>
        <p:nvGrpSpPr>
          <p:cNvPr id="108" name="Group 4"/>
          <p:cNvGrpSpPr/>
          <p:nvPr/>
        </p:nvGrpSpPr>
        <p:grpSpPr bwMode="auto">
          <a:xfrm>
            <a:off x="736600" y="2889274"/>
            <a:ext cx="3751263" cy="3348038"/>
            <a:chOff x="274" y="1418"/>
            <a:chExt cx="2363" cy="2109"/>
          </a:xfrm>
        </p:grpSpPr>
        <p:sp>
          <p:nvSpPr>
            <p:cNvPr id="109" name="Rectangle 5"/>
            <p:cNvSpPr>
              <a:spLocks noChangeArrowheads="1"/>
            </p:cNvSpPr>
            <p:nvPr/>
          </p:nvSpPr>
          <p:spPr bwMode="auto">
            <a:xfrm>
              <a:off x="274" y="1418"/>
              <a:ext cx="2363" cy="2109"/>
            </a:xfrm>
            <a:prstGeom prst="rect">
              <a:avLst/>
            </a:prstGeom>
            <a:noFill/>
            <a:ln w="9525">
              <a:solidFill>
                <a:sysClr val="windowText" lastClr="000000"/>
              </a:solidFill>
              <a:miter lim="800000"/>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10" name="AutoShape 6"/>
            <p:cNvSpPr>
              <a:spLocks noChangeArrowheads="1"/>
            </p:cNvSpPr>
            <p:nvPr/>
          </p:nvSpPr>
          <p:spPr bwMode="auto">
            <a:xfrm>
              <a:off x="1609" y="1993"/>
              <a:ext cx="56" cy="75"/>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11" name="AutoShape 7"/>
            <p:cNvSpPr>
              <a:spLocks noChangeArrowheads="1"/>
            </p:cNvSpPr>
            <p:nvPr/>
          </p:nvSpPr>
          <p:spPr bwMode="auto">
            <a:xfrm>
              <a:off x="1566" y="2316"/>
              <a:ext cx="56" cy="75"/>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12" name="AutoShape 8"/>
            <p:cNvSpPr>
              <a:spLocks noChangeArrowheads="1"/>
            </p:cNvSpPr>
            <p:nvPr/>
          </p:nvSpPr>
          <p:spPr bwMode="auto">
            <a:xfrm>
              <a:off x="1711" y="2134"/>
              <a:ext cx="56" cy="75"/>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13" name="AutoShape 9"/>
            <p:cNvSpPr>
              <a:spLocks noChangeArrowheads="1"/>
            </p:cNvSpPr>
            <p:nvPr/>
          </p:nvSpPr>
          <p:spPr bwMode="auto">
            <a:xfrm>
              <a:off x="1510" y="2168"/>
              <a:ext cx="56" cy="75"/>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14" name="AutoShape 10"/>
            <p:cNvSpPr>
              <a:spLocks noChangeArrowheads="1"/>
            </p:cNvSpPr>
            <p:nvPr/>
          </p:nvSpPr>
          <p:spPr bwMode="auto">
            <a:xfrm>
              <a:off x="1944" y="2195"/>
              <a:ext cx="56" cy="74"/>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15" name="AutoShape 11"/>
            <p:cNvSpPr>
              <a:spLocks noChangeArrowheads="1"/>
            </p:cNvSpPr>
            <p:nvPr/>
          </p:nvSpPr>
          <p:spPr bwMode="auto">
            <a:xfrm>
              <a:off x="1874" y="2354"/>
              <a:ext cx="56" cy="75"/>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16" name="AutoShape 12"/>
            <p:cNvSpPr>
              <a:spLocks noChangeArrowheads="1"/>
            </p:cNvSpPr>
            <p:nvPr/>
          </p:nvSpPr>
          <p:spPr bwMode="auto">
            <a:xfrm>
              <a:off x="1740" y="2393"/>
              <a:ext cx="57" cy="75"/>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17" name="AutoShape 13"/>
            <p:cNvSpPr>
              <a:spLocks noChangeArrowheads="1"/>
            </p:cNvSpPr>
            <p:nvPr/>
          </p:nvSpPr>
          <p:spPr bwMode="auto">
            <a:xfrm>
              <a:off x="1433" y="1845"/>
              <a:ext cx="56" cy="74"/>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18" name="Freeform 14"/>
            <p:cNvSpPr/>
            <p:nvPr/>
          </p:nvSpPr>
          <p:spPr bwMode="auto">
            <a:xfrm>
              <a:off x="1376" y="1763"/>
              <a:ext cx="686" cy="877"/>
            </a:xfrm>
            <a:custGeom>
              <a:avLst/>
              <a:gdLst>
                <a:gd name="T0" fmla="*/ 38 w 1101"/>
                <a:gd name="T1" fmla="*/ 70 h 1077"/>
                <a:gd name="T2" fmla="*/ 39 w 1101"/>
                <a:gd name="T3" fmla="*/ 115 h 1077"/>
                <a:gd name="T4" fmla="*/ 37 w 1101"/>
                <a:gd name="T5" fmla="*/ 221 h 1077"/>
                <a:gd name="T6" fmla="*/ 34 w 1101"/>
                <a:gd name="T7" fmla="*/ 248 h 1077"/>
                <a:gd name="T8" fmla="*/ 31 w 1101"/>
                <a:gd name="T9" fmla="*/ 256 h 1077"/>
                <a:gd name="T10" fmla="*/ 22 w 1101"/>
                <a:gd name="T11" fmla="*/ 248 h 1077"/>
                <a:gd name="T12" fmla="*/ 18 w 1101"/>
                <a:gd name="T13" fmla="*/ 236 h 1077"/>
                <a:gd name="T14" fmla="*/ 17 w 1101"/>
                <a:gd name="T15" fmla="*/ 234 h 1077"/>
                <a:gd name="T16" fmla="*/ 12 w 1101"/>
                <a:gd name="T17" fmla="*/ 208 h 1077"/>
                <a:gd name="T18" fmla="*/ 9 w 1101"/>
                <a:gd name="T19" fmla="*/ 191 h 1077"/>
                <a:gd name="T20" fmla="*/ 4 w 1101"/>
                <a:gd name="T21" fmla="*/ 163 h 1077"/>
                <a:gd name="T22" fmla="*/ 1 w 1101"/>
                <a:gd name="T23" fmla="*/ 107 h 1077"/>
                <a:gd name="T24" fmla="*/ 1 w 1101"/>
                <a:gd name="T25" fmla="*/ 30 h 1077"/>
                <a:gd name="T26" fmla="*/ 7 w 1101"/>
                <a:gd name="T27" fmla="*/ 5 h 1077"/>
                <a:gd name="T28" fmla="*/ 8 w 1101"/>
                <a:gd name="T29" fmla="*/ 3 h 1077"/>
                <a:gd name="T30" fmla="*/ 16 w 1101"/>
                <a:gd name="T31" fmla="*/ 7 h 1077"/>
                <a:gd name="T32" fmla="*/ 21 w 1101"/>
                <a:gd name="T33" fmla="*/ 24 h 1077"/>
                <a:gd name="T34" fmla="*/ 25 w 1101"/>
                <a:gd name="T35" fmla="*/ 42 h 1077"/>
                <a:gd name="T36" fmla="*/ 28 w 1101"/>
                <a:gd name="T37" fmla="*/ 48 h 1077"/>
                <a:gd name="T38" fmla="*/ 38 w 1101"/>
                <a:gd name="T39" fmla="*/ 70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19" name="AutoShape 15"/>
            <p:cNvSpPr>
              <a:spLocks noChangeArrowheads="1"/>
            </p:cNvSpPr>
            <p:nvPr/>
          </p:nvSpPr>
          <p:spPr bwMode="auto">
            <a:xfrm>
              <a:off x="1104" y="2584"/>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20" name="AutoShape 16"/>
            <p:cNvSpPr>
              <a:spLocks noChangeArrowheads="1"/>
            </p:cNvSpPr>
            <p:nvPr/>
          </p:nvSpPr>
          <p:spPr bwMode="auto">
            <a:xfrm>
              <a:off x="1391" y="2647"/>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21" name="AutoShape 17"/>
            <p:cNvSpPr>
              <a:spLocks noChangeArrowheads="1"/>
            </p:cNvSpPr>
            <p:nvPr/>
          </p:nvSpPr>
          <p:spPr bwMode="auto">
            <a:xfrm>
              <a:off x="1286" y="2903"/>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22" name="AutoShape 18"/>
            <p:cNvSpPr>
              <a:spLocks noChangeArrowheads="1"/>
            </p:cNvSpPr>
            <p:nvPr/>
          </p:nvSpPr>
          <p:spPr bwMode="auto">
            <a:xfrm>
              <a:off x="1345" y="2795"/>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23" name="AutoShape 19"/>
            <p:cNvSpPr>
              <a:spLocks noChangeArrowheads="1"/>
            </p:cNvSpPr>
            <p:nvPr/>
          </p:nvSpPr>
          <p:spPr bwMode="auto">
            <a:xfrm>
              <a:off x="1171" y="2752"/>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24" name="AutoShape 20"/>
            <p:cNvSpPr>
              <a:spLocks noChangeArrowheads="1"/>
            </p:cNvSpPr>
            <p:nvPr/>
          </p:nvSpPr>
          <p:spPr bwMode="auto">
            <a:xfrm>
              <a:off x="1168" y="2875"/>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25" name="AutoShape 21"/>
            <p:cNvSpPr>
              <a:spLocks noChangeArrowheads="1"/>
            </p:cNvSpPr>
            <p:nvPr/>
          </p:nvSpPr>
          <p:spPr bwMode="auto">
            <a:xfrm>
              <a:off x="1224" y="2504"/>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26" name="AutoShape 22"/>
            <p:cNvSpPr>
              <a:spLocks noChangeArrowheads="1"/>
            </p:cNvSpPr>
            <p:nvPr/>
          </p:nvSpPr>
          <p:spPr bwMode="auto">
            <a:xfrm>
              <a:off x="1289" y="2628"/>
              <a:ext cx="56" cy="74"/>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27" name="AutoShape 23"/>
            <p:cNvSpPr>
              <a:spLocks noChangeArrowheads="1"/>
            </p:cNvSpPr>
            <p:nvPr/>
          </p:nvSpPr>
          <p:spPr bwMode="auto">
            <a:xfrm>
              <a:off x="1429" y="2882"/>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28" name="Freeform 24"/>
            <p:cNvSpPr/>
            <p:nvPr/>
          </p:nvSpPr>
          <p:spPr bwMode="auto">
            <a:xfrm>
              <a:off x="1061" y="2373"/>
              <a:ext cx="573" cy="785"/>
            </a:xfrm>
            <a:custGeom>
              <a:avLst/>
              <a:gdLst>
                <a:gd name="T0" fmla="*/ 9 w 918"/>
                <a:gd name="T1" fmla="*/ 193 h 965"/>
                <a:gd name="T2" fmla="*/ 7 w 918"/>
                <a:gd name="T3" fmla="*/ 184 h 965"/>
                <a:gd name="T4" fmla="*/ 4 w 918"/>
                <a:gd name="T5" fmla="*/ 174 h 965"/>
                <a:gd name="T6" fmla="*/ 2 w 918"/>
                <a:gd name="T7" fmla="*/ 165 h 965"/>
                <a:gd name="T8" fmla="*/ 1 w 918"/>
                <a:gd name="T9" fmla="*/ 152 h 965"/>
                <a:gd name="T10" fmla="*/ 0 w 918"/>
                <a:gd name="T11" fmla="*/ 109 h 965"/>
                <a:gd name="T12" fmla="*/ 1 w 918"/>
                <a:gd name="T13" fmla="*/ 48 h 965"/>
                <a:gd name="T14" fmla="*/ 2 w 918"/>
                <a:gd name="T15" fmla="*/ 32 h 965"/>
                <a:gd name="T16" fmla="*/ 11 w 918"/>
                <a:gd name="T17" fmla="*/ 0 h 965"/>
                <a:gd name="T18" fmla="*/ 14 w 918"/>
                <a:gd name="T19" fmla="*/ 5 h 965"/>
                <a:gd name="T20" fmla="*/ 18 w 918"/>
                <a:gd name="T21" fmla="*/ 13 h 965"/>
                <a:gd name="T22" fmla="*/ 26 w 918"/>
                <a:gd name="T23" fmla="*/ 39 h 965"/>
                <a:gd name="T24" fmla="*/ 26 w 918"/>
                <a:gd name="T25" fmla="*/ 51 h 965"/>
                <a:gd name="T26" fmla="*/ 27 w 918"/>
                <a:gd name="T27" fmla="*/ 59 h 965"/>
                <a:gd name="T28" fmla="*/ 30 w 918"/>
                <a:gd name="T29" fmla="*/ 81 h 965"/>
                <a:gd name="T30" fmla="*/ 31 w 918"/>
                <a:gd name="T31" fmla="*/ 100 h 965"/>
                <a:gd name="T32" fmla="*/ 32 w 918"/>
                <a:gd name="T33" fmla="*/ 122 h 965"/>
                <a:gd name="T34" fmla="*/ 32 w 918"/>
                <a:gd name="T35" fmla="*/ 144 h 965"/>
                <a:gd name="T36" fmla="*/ 34 w 918"/>
                <a:gd name="T37" fmla="*/ 182 h 965"/>
                <a:gd name="T38" fmla="*/ 31 w 918"/>
                <a:gd name="T39" fmla="*/ 218 h 965"/>
                <a:gd name="T40" fmla="*/ 28 w 918"/>
                <a:gd name="T41" fmla="*/ 223 h 965"/>
                <a:gd name="T42" fmla="*/ 26 w 918"/>
                <a:gd name="T43" fmla="*/ 225 h 965"/>
                <a:gd name="T44" fmla="*/ 13 w 918"/>
                <a:gd name="T45" fmla="*/ 221 h 965"/>
                <a:gd name="T46" fmla="*/ 9 w 918"/>
                <a:gd name="T47" fmla="*/ 203 h 965"/>
                <a:gd name="T48" fmla="*/ 9 w 918"/>
                <a:gd name="T49" fmla="*/ 193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grpSp>
          <p:nvGrpSpPr>
            <p:cNvPr id="129" name="Group 25"/>
            <p:cNvGrpSpPr/>
            <p:nvPr/>
          </p:nvGrpSpPr>
          <p:grpSpPr bwMode="auto">
            <a:xfrm>
              <a:off x="551" y="1796"/>
              <a:ext cx="542" cy="954"/>
              <a:chOff x="551" y="1796"/>
              <a:chExt cx="542" cy="954"/>
            </a:xfrm>
          </p:grpSpPr>
          <p:sp>
            <p:nvSpPr>
              <p:cNvPr id="130" name="AutoShape 26"/>
              <p:cNvSpPr>
                <a:spLocks noChangeArrowheads="1"/>
              </p:cNvSpPr>
              <p:nvPr/>
            </p:nvSpPr>
            <p:spPr bwMode="auto">
              <a:xfrm>
                <a:off x="727" y="2492"/>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31" name="AutoShape 27"/>
              <p:cNvSpPr>
                <a:spLocks noChangeArrowheads="1"/>
              </p:cNvSpPr>
              <p:nvPr/>
            </p:nvSpPr>
            <p:spPr bwMode="auto">
              <a:xfrm>
                <a:off x="651" y="2392"/>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32" name="AutoShape 28"/>
              <p:cNvSpPr>
                <a:spLocks noChangeArrowheads="1"/>
              </p:cNvSpPr>
              <p:nvPr/>
            </p:nvSpPr>
            <p:spPr bwMode="auto">
              <a:xfrm>
                <a:off x="848" y="2405"/>
                <a:ext cx="56" cy="74"/>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33" name="AutoShape 29"/>
              <p:cNvSpPr>
                <a:spLocks noChangeArrowheads="1"/>
              </p:cNvSpPr>
              <p:nvPr/>
            </p:nvSpPr>
            <p:spPr bwMode="auto">
              <a:xfrm>
                <a:off x="753" y="2230"/>
                <a:ext cx="57"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34" name="AutoShape 30"/>
              <p:cNvSpPr>
                <a:spLocks noChangeArrowheads="1"/>
              </p:cNvSpPr>
              <p:nvPr/>
            </p:nvSpPr>
            <p:spPr bwMode="auto">
              <a:xfrm>
                <a:off x="615" y="2508"/>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35" name="AutoShape 31"/>
              <p:cNvSpPr>
                <a:spLocks noChangeArrowheads="1"/>
              </p:cNvSpPr>
              <p:nvPr/>
            </p:nvSpPr>
            <p:spPr bwMode="auto">
              <a:xfrm>
                <a:off x="669" y="2268"/>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36" name="AutoShape 32"/>
              <p:cNvSpPr>
                <a:spLocks noChangeArrowheads="1"/>
              </p:cNvSpPr>
              <p:nvPr/>
            </p:nvSpPr>
            <p:spPr bwMode="auto">
              <a:xfrm>
                <a:off x="857" y="2566"/>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37" name="AutoShape 33"/>
              <p:cNvSpPr>
                <a:spLocks noChangeArrowheads="1"/>
              </p:cNvSpPr>
              <p:nvPr/>
            </p:nvSpPr>
            <p:spPr bwMode="auto">
              <a:xfrm>
                <a:off x="924" y="2260"/>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38" name="AutoShape 34"/>
              <p:cNvSpPr>
                <a:spLocks noChangeArrowheads="1"/>
              </p:cNvSpPr>
              <p:nvPr/>
            </p:nvSpPr>
            <p:spPr bwMode="auto">
              <a:xfrm>
                <a:off x="931" y="2092"/>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39" name="AutoShape 35"/>
              <p:cNvSpPr>
                <a:spLocks noChangeArrowheads="1"/>
              </p:cNvSpPr>
              <p:nvPr/>
            </p:nvSpPr>
            <p:spPr bwMode="auto">
              <a:xfrm>
                <a:off x="881" y="1945"/>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40" name="Freeform 36"/>
              <p:cNvSpPr/>
              <p:nvPr/>
            </p:nvSpPr>
            <p:spPr bwMode="auto">
              <a:xfrm>
                <a:off x="551" y="1796"/>
                <a:ext cx="542" cy="954"/>
              </a:xfrm>
              <a:custGeom>
                <a:avLst/>
                <a:gdLst>
                  <a:gd name="T0" fmla="*/ 27 w 869"/>
                  <a:gd name="T1" fmla="*/ 186 h 1173"/>
                  <a:gd name="T2" fmla="*/ 26 w 869"/>
                  <a:gd name="T3" fmla="*/ 222 h 1173"/>
                  <a:gd name="T4" fmla="*/ 24 w 869"/>
                  <a:gd name="T5" fmla="*/ 255 h 1173"/>
                  <a:gd name="T6" fmla="*/ 23 w 869"/>
                  <a:gd name="T7" fmla="*/ 268 h 1173"/>
                  <a:gd name="T8" fmla="*/ 23 w 869"/>
                  <a:gd name="T9" fmla="*/ 272 h 1173"/>
                  <a:gd name="T10" fmla="*/ 21 w 869"/>
                  <a:gd name="T11" fmla="*/ 276 h 1173"/>
                  <a:gd name="T12" fmla="*/ 11 w 869"/>
                  <a:gd name="T13" fmla="*/ 269 h 1173"/>
                  <a:gd name="T14" fmla="*/ 4 w 869"/>
                  <a:gd name="T15" fmla="*/ 252 h 1173"/>
                  <a:gd name="T16" fmla="*/ 1 w 869"/>
                  <a:gd name="T17" fmla="*/ 237 h 1173"/>
                  <a:gd name="T18" fmla="*/ 0 w 869"/>
                  <a:gd name="T19" fmla="*/ 225 h 1173"/>
                  <a:gd name="T20" fmla="*/ 2 w 869"/>
                  <a:gd name="T21" fmla="*/ 118 h 1173"/>
                  <a:gd name="T22" fmla="*/ 4 w 869"/>
                  <a:gd name="T23" fmla="*/ 55 h 1173"/>
                  <a:gd name="T24" fmla="*/ 6 w 869"/>
                  <a:gd name="T25" fmla="*/ 39 h 1173"/>
                  <a:gd name="T26" fmla="*/ 7 w 869"/>
                  <a:gd name="T27" fmla="*/ 32 h 1173"/>
                  <a:gd name="T28" fmla="*/ 11 w 869"/>
                  <a:gd name="T29" fmla="*/ 17 h 1173"/>
                  <a:gd name="T30" fmla="*/ 13 w 869"/>
                  <a:gd name="T31" fmla="*/ 11 h 1173"/>
                  <a:gd name="T32" fmla="*/ 16 w 869"/>
                  <a:gd name="T33" fmla="*/ 0 h 1173"/>
                  <a:gd name="T34" fmla="*/ 26 w 869"/>
                  <a:gd name="T35" fmla="*/ 20 h 1173"/>
                  <a:gd name="T36" fmla="*/ 29 w 869"/>
                  <a:gd name="T37" fmla="*/ 48 h 1173"/>
                  <a:gd name="T38" fmla="*/ 31 w 869"/>
                  <a:gd name="T39" fmla="*/ 59 h 1173"/>
                  <a:gd name="T40" fmla="*/ 32 w 869"/>
                  <a:gd name="T41" fmla="*/ 72 h 1173"/>
                  <a:gd name="T42" fmla="*/ 29 w 869"/>
                  <a:gd name="T43" fmla="*/ 167 h 1173"/>
                  <a:gd name="T44" fmla="*/ 27 w 869"/>
                  <a:gd name="T45" fmla="*/ 186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grpSp>
      </p:grpSp>
      <p:sp>
        <p:nvSpPr>
          <p:cNvPr id="141" name="Rectangle 37"/>
          <p:cNvSpPr>
            <a:spLocks noChangeArrowheads="1"/>
          </p:cNvSpPr>
          <p:nvPr/>
        </p:nvSpPr>
        <p:spPr bwMode="auto">
          <a:xfrm>
            <a:off x="5018088" y="2868637"/>
            <a:ext cx="3751262" cy="3348037"/>
          </a:xfrm>
          <a:prstGeom prst="rect">
            <a:avLst/>
          </a:prstGeom>
          <a:noFill/>
          <a:ln w="9525">
            <a:solidFill>
              <a:sysClr val="windowText" lastClr="000000"/>
            </a:solidFill>
            <a:miter lim="800000"/>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grpSp>
        <p:nvGrpSpPr>
          <p:cNvPr id="142" name="Group 38"/>
          <p:cNvGrpSpPr/>
          <p:nvPr/>
        </p:nvGrpSpPr>
        <p:grpSpPr bwMode="auto">
          <a:xfrm>
            <a:off x="5457825" y="3416324"/>
            <a:ext cx="2398713" cy="2214563"/>
            <a:chOff x="3302" y="2032"/>
            <a:chExt cx="1511" cy="1395"/>
          </a:xfrm>
        </p:grpSpPr>
        <p:sp>
          <p:nvSpPr>
            <p:cNvPr id="143" name="AutoShape 39"/>
            <p:cNvSpPr>
              <a:spLocks noChangeArrowheads="1"/>
            </p:cNvSpPr>
            <p:nvPr/>
          </p:nvSpPr>
          <p:spPr bwMode="auto">
            <a:xfrm>
              <a:off x="3366" y="2777"/>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44" name="AutoShape 40"/>
            <p:cNvSpPr>
              <a:spLocks noChangeArrowheads="1"/>
            </p:cNvSpPr>
            <p:nvPr/>
          </p:nvSpPr>
          <p:spPr bwMode="auto">
            <a:xfrm>
              <a:off x="3420" y="2537"/>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45" name="AutoShape 41"/>
            <p:cNvSpPr>
              <a:spLocks noChangeArrowheads="1"/>
            </p:cNvSpPr>
            <p:nvPr/>
          </p:nvSpPr>
          <p:spPr bwMode="auto">
            <a:xfrm>
              <a:off x="4360" y="2262"/>
              <a:ext cx="56" cy="75"/>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46" name="AutoShape 42"/>
            <p:cNvSpPr>
              <a:spLocks noChangeArrowheads="1"/>
            </p:cNvSpPr>
            <p:nvPr/>
          </p:nvSpPr>
          <p:spPr bwMode="auto">
            <a:xfrm>
              <a:off x="4317" y="2585"/>
              <a:ext cx="56" cy="75"/>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47" name="AutoShape 43"/>
            <p:cNvSpPr>
              <a:spLocks noChangeArrowheads="1"/>
            </p:cNvSpPr>
            <p:nvPr/>
          </p:nvSpPr>
          <p:spPr bwMode="auto">
            <a:xfrm>
              <a:off x="4695" y="2464"/>
              <a:ext cx="56" cy="74"/>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48" name="AutoShape 44"/>
            <p:cNvSpPr>
              <a:spLocks noChangeArrowheads="1"/>
            </p:cNvSpPr>
            <p:nvPr/>
          </p:nvSpPr>
          <p:spPr bwMode="auto">
            <a:xfrm>
              <a:off x="3608" y="2835"/>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49" name="AutoShape 45"/>
            <p:cNvSpPr>
              <a:spLocks noChangeArrowheads="1"/>
            </p:cNvSpPr>
            <p:nvPr/>
          </p:nvSpPr>
          <p:spPr bwMode="auto">
            <a:xfrm>
              <a:off x="4037" y="3172"/>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50" name="AutoShape 46"/>
            <p:cNvSpPr>
              <a:spLocks noChangeArrowheads="1"/>
            </p:cNvSpPr>
            <p:nvPr/>
          </p:nvSpPr>
          <p:spPr bwMode="auto">
            <a:xfrm>
              <a:off x="4096" y="3064"/>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51" name="AutoShape 47"/>
            <p:cNvSpPr>
              <a:spLocks noChangeArrowheads="1"/>
            </p:cNvSpPr>
            <p:nvPr/>
          </p:nvSpPr>
          <p:spPr bwMode="auto">
            <a:xfrm>
              <a:off x="3675" y="2529"/>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52" name="AutoShape 48"/>
            <p:cNvSpPr>
              <a:spLocks noChangeArrowheads="1"/>
            </p:cNvSpPr>
            <p:nvPr/>
          </p:nvSpPr>
          <p:spPr bwMode="auto">
            <a:xfrm>
              <a:off x="3922" y="3021"/>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53" name="AutoShape 49"/>
            <p:cNvSpPr>
              <a:spLocks noChangeArrowheads="1"/>
            </p:cNvSpPr>
            <p:nvPr/>
          </p:nvSpPr>
          <p:spPr bwMode="auto">
            <a:xfrm>
              <a:off x="3682" y="2361"/>
              <a:ext cx="56" cy="75"/>
            </a:xfrm>
            <a:prstGeom prst="flowChartConnector">
              <a:avLst/>
            </a:prstGeom>
            <a:solidFill>
              <a:srgbClr val="2DA2B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54" name="AutoShape 50"/>
            <p:cNvSpPr>
              <a:spLocks noChangeArrowheads="1"/>
            </p:cNvSpPr>
            <p:nvPr/>
          </p:nvSpPr>
          <p:spPr bwMode="auto">
            <a:xfrm>
              <a:off x="4184" y="2114"/>
              <a:ext cx="56" cy="74"/>
            </a:xfrm>
            <a:prstGeom prst="flowChartConnector">
              <a:avLst/>
            </a:prstGeom>
            <a:solidFill>
              <a:sysClr val="window" lastClr="FFFFFF"/>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55" name="AutoShape 51"/>
            <p:cNvSpPr>
              <a:spLocks noChangeArrowheads="1"/>
            </p:cNvSpPr>
            <p:nvPr/>
          </p:nvSpPr>
          <p:spPr bwMode="auto">
            <a:xfrm>
              <a:off x="3975" y="2773"/>
              <a:ext cx="56" cy="75"/>
            </a:xfrm>
            <a:prstGeom prst="flowChartConnector">
              <a:avLst/>
            </a:prstGeom>
            <a:solidFill>
              <a:srgbClr val="464646"/>
            </a:solidFill>
            <a:ln w="9525">
              <a:solidFill>
                <a:sysClr val="windowText" lastClr="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56" name="Freeform 52"/>
            <p:cNvSpPr/>
            <p:nvPr/>
          </p:nvSpPr>
          <p:spPr bwMode="auto">
            <a:xfrm>
              <a:off x="4127" y="2032"/>
              <a:ext cx="686" cy="877"/>
            </a:xfrm>
            <a:custGeom>
              <a:avLst/>
              <a:gdLst>
                <a:gd name="T0" fmla="*/ 38 w 1101"/>
                <a:gd name="T1" fmla="*/ 70 h 1077"/>
                <a:gd name="T2" fmla="*/ 39 w 1101"/>
                <a:gd name="T3" fmla="*/ 115 h 1077"/>
                <a:gd name="T4" fmla="*/ 37 w 1101"/>
                <a:gd name="T5" fmla="*/ 221 h 1077"/>
                <a:gd name="T6" fmla="*/ 34 w 1101"/>
                <a:gd name="T7" fmla="*/ 248 h 1077"/>
                <a:gd name="T8" fmla="*/ 31 w 1101"/>
                <a:gd name="T9" fmla="*/ 256 h 1077"/>
                <a:gd name="T10" fmla="*/ 22 w 1101"/>
                <a:gd name="T11" fmla="*/ 248 h 1077"/>
                <a:gd name="T12" fmla="*/ 18 w 1101"/>
                <a:gd name="T13" fmla="*/ 236 h 1077"/>
                <a:gd name="T14" fmla="*/ 17 w 1101"/>
                <a:gd name="T15" fmla="*/ 234 h 1077"/>
                <a:gd name="T16" fmla="*/ 12 w 1101"/>
                <a:gd name="T17" fmla="*/ 208 h 1077"/>
                <a:gd name="T18" fmla="*/ 9 w 1101"/>
                <a:gd name="T19" fmla="*/ 191 h 1077"/>
                <a:gd name="T20" fmla="*/ 4 w 1101"/>
                <a:gd name="T21" fmla="*/ 163 h 1077"/>
                <a:gd name="T22" fmla="*/ 1 w 1101"/>
                <a:gd name="T23" fmla="*/ 107 h 1077"/>
                <a:gd name="T24" fmla="*/ 1 w 1101"/>
                <a:gd name="T25" fmla="*/ 30 h 1077"/>
                <a:gd name="T26" fmla="*/ 7 w 1101"/>
                <a:gd name="T27" fmla="*/ 5 h 1077"/>
                <a:gd name="T28" fmla="*/ 8 w 1101"/>
                <a:gd name="T29" fmla="*/ 3 h 1077"/>
                <a:gd name="T30" fmla="*/ 16 w 1101"/>
                <a:gd name="T31" fmla="*/ 7 h 1077"/>
                <a:gd name="T32" fmla="*/ 21 w 1101"/>
                <a:gd name="T33" fmla="*/ 24 h 1077"/>
                <a:gd name="T34" fmla="*/ 25 w 1101"/>
                <a:gd name="T35" fmla="*/ 42 h 1077"/>
                <a:gd name="T36" fmla="*/ 28 w 1101"/>
                <a:gd name="T37" fmla="*/ 48 h 1077"/>
                <a:gd name="T38" fmla="*/ 38 w 1101"/>
                <a:gd name="T39" fmla="*/ 70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57" name="Freeform 53"/>
            <p:cNvSpPr/>
            <p:nvPr/>
          </p:nvSpPr>
          <p:spPr bwMode="auto">
            <a:xfrm>
              <a:off x="3812" y="2642"/>
              <a:ext cx="573" cy="785"/>
            </a:xfrm>
            <a:custGeom>
              <a:avLst/>
              <a:gdLst>
                <a:gd name="T0" fmla="*/ 9 w 918"/>
                <a:gd name="T1" fmla="*/ 193 h 965"/>
                <a:gd name="T2" fmla="*/ 7 w 918"/>
                <a:gd name="T3" fmla="*/ 184 h 965"/>
                <a:gd name="T4" fmla="*/ 4 w 918"/>
                <a:gd name="T5" fmla="*/ 174 h 965"/>
                <a:gd name="T6" fmla="*/ 2 w 918"/>
                <a:gd name="T7" fmla="*/ 165 h 965"/>
                <a:gd name="T8" fmla="*/ 1 w 918"/>
                <a:gd name="T9" fmla="*/ 152 h 965"/>
                <a:gd name="T10" fmla="*/ 0 w 918"/>
                <a:gd name="T11" fmla="*/ 109 h 965"/>
                <a:gd name="T12" fmla="*/ 1 w 918"/>
                <a:gd name="T13" fmla="*/ 48 h 965"/>
                <a:gd name="T14" fmla="*/ 2 w 918"/>
                <a:gd name="T15" fmla="*/ 32 h 965"/>
                <a:gd name="T16" fmla="*/ 11 w 918"/>
                <a:gd name="T17" fmla="*/ 0 h 965"/>
                <a:gd name="T18" fmla="*/ 14 w 918"/>
                <a:gd name="T19" fmla="*/ 5 h 965"/>
                <a:gd name="T20" fmla="*/ 18 w 918"/>
                <a:gd name="T21" fmla="*/ 13 h 965"/>
                <a:gd name="T22" fmla="*/ 26 w 918"/>
                <a:gd name="T23" fmla="*/ 39 h 965"/>
                <a:gd name="T24" fmla="*/ 26 w 918"/>
                <a:gd name="T25" fmla="*/ 51 h 965"/>
                <a:gd name="T26" fmla="*/ 27 w 918"/>
                <a:gd name="T27" fmla="*/ 59 h 965"/>
                <a:gd name="T28" fmla="*/ 30 w 918"/>
                <a:gd name="T29" fmla="*/ 81 h 965"/>
                <a:gd name="T30" fmla="*/ 31 w 918"/>
                <a:gd name="T31" fmla="*/ 100 h 965"/>
                <a:gd name="T32" fmla="*/ 32 w 918"/>
                <a:gd name="T33" fmla="*/ 122 h 965"/>
                <a:gd name="T34" fmla="*/ 32 w 918"/>
                <a:gd name="T35" fmla="*/ 144 h 965"/>
                <a:gd name="T36" fmla="*/ 34 w 918"/>
                <a:gd name="T37" fmla="*/ 182 h 965"/>
                <a:gd name="T38" fmla="*/ 31 w 918"/>
                <a:gd name="T39" fmla="*/ 218 h 965"/>
                <a:gd name="T40" fmla="*/ 28 w 918"/>
                <a:gd name="T41" fmla="*/ 223 h 965"/>
                <a:gd name="T42" fmla="*/ 26 w 918"/>
                <a:gd name="T43" fmla="*/ 225 h 965"/>
                <a:gd name="T44" fmla="*/ 13 w 918"/>
                <a:gd name="T45" fmla="*/ 221 h 965"/>
                <a:gd name="T46" fmla="*/ 9 w 918"/>
                <a:gd name="T47" fmla="*/ 203 h 965"/>
                <a:gd name="T48" fmla="*/ 9 w 918"/>
                <a:gd name="T49" fmla="*/ 193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sp>
          <p:nvSpPr>
            <p:cNvPr id="158" name="Freeform 54"/>
            <p:cNvSpPr/>
            <p:nvPr/>
          </p:nvSpPr>
          <p:spPr bwMode="auto">
            <a:xfrm>
              <a:off x="3302" y="2065"/>
              <a:ext cx="542" cy="954"/>
            </a:xfrm>
            <a:custGeom>
              <a:avLst/>
              <a:gdLst>
                <a:gd name="T0" fmla="*/ 27 w 869"/>
                <a:gd name="T1" fmla="*/ 186 h 1173"/>
                <a:gd name="T2" fmla="*/ 26 w 869"/>
                <a:gd name="T3" fmla="*/ 222 h 1173"/>
                <a:gd name="T4" fmla="*/ 24 w 869"/>
                <a:gd name="T5" fmla="*/ 255 h 1173"/>
                <a:gd name="T6" fmla="*/ 23 w 869"/>
                <a:gd name="T7" fmla="*/ 268 h 1173"/>
                <a:gd name="T8" fmla="*/ 23 w 869"/>
                <a:gd name="T9" fmla="*/ 272 h 1173"/>
                <a:gd name="T10" fmla="*/ 21 w 869"/>
                <a:gd name="T11" fmla="*/ 276 h 1173"/>
                <a:gd name="T12" fmla="*/ 11 w 869"/>
                <a:gd name="T13" fmla="*/ 269 h 1173"/>
                <a:gd name="T14" fmla="*/ 4 w 869"/>
                <a:gd name="T15" fmla="*/ 252 h 1173"/>
                <a:gd name="T16" fmla="*/ 1 w 869"/>
                <a:gd name="T17" fmla="*/ 237 h 1173"/>
                <a:gd name="T18" fmla="*/ 0 w 869"/>
                <a:gd name="T19" fmla="*/ 225 h 1173"/>
                <a:gd name="T20" fmla="*/ 2 w 869"/>
                <a:gd name="T21" fmla="*/ 118 h 1173"/>
                <a:gd name="T22" fmla="*/ 4 w 869"/>
                <a:gd name="T23" fmla="*/ 55 h 1173"/>
                <a:gd name="T24" fmla="*/ 6 w 869"/>
                <a:gd name="T25" fmla="*/ 39 h 1173"/>
                <a:gd name="T26" fmla="*/ 7 w 869"/>
                <a:gd name="T27" fmla="*/ 32 h 1173"/>
                <a:gd name="T28" fmla="*/ 11 w 869"/>
                <a:gd name="T29" fmla="*/ 17 h 1173"/>
                <a:gd name="T30" fmla="*/ 13 w 869"/>
                <a:gd name="T31" fmla="*/ 11 h 1173"/>
                <a:gd name="T32" fmla="*/ 16 w 869"/>
                <a:gd name="T33" fmla="*/ 0 h 1173"/>
                <a:gd name="T34" fmla="*/ 26 w 869"/>
                <a:gd name="T35" fmla="*/ 20 h 1173"/>
                <a:gd name="T36" fmla="*/ 29 w 869"/>
                <a:gd name="T37" fmla="*/ 48 h 1173"/>
                <a:gd name="T38" fmla="*/ 31 w 869"/>
                <a:gd name="T39" fmla="*/ 59 h 1173"/>
                <a:gd name="T40" fmla="*/ 32 w 869"/>
                <a:gd name="T41" fmla="*/ 72 h 1173"/>
                <a:gd name="T42" fmla="*/ 29 w 869"/>
                <a:gd name="T43" fmla="*/ 167 h 1173"/>
                <a:gd name="T44" fmla="*/ 27 w 869"/>
                <a:gd name="T45" fmla="*/ 186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微软雅黑" charset="0"/>
                <a:ea typeface="微软雅黑" charset="0"/>
              </a:endParaRPr>
            </a:p>
          </p:txBody>
        </p:sp>
      </p:grpSp>
      <p:sp>
        <p:nvSpPr>
          <p:cNvPr id="159" name="Text Box 55"/>
          <p:cNvSpPr txBox="1">
            <a:spLocks noChangeArrowheads="1"/>
          </p:cNvSpPr>
          <p:nvPr/>
        </p:nvSpPr>
        <p:spPr bwMode="auto">
          <a:xfrm>
            <a:off x="1648784" y="2201863"/>
            <a:ext cx="15087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2400" b="0" dirty="0">
                <a:latin typeface="微软雅黑" charset="0"/>
                <a:ea typeface="微软雅黑" charset="0"/>
                <a:cs typeface="微软雅黑" charset="0"/>
              </a:rPr>
              <a:t>原始数据 </a:t>
            </a:r>
            <a:endParaRPr lang="zh-CN" altLang="en-US" sz="2400" b="0" dirty="0">
              <a:latin typeface="微软雅黑" charset="0"/>
              <a:ea typeface="微软雅黑" charset="0"/>
              <a:cs typeface="微软雅黑" charset="0"/>
            </a:endParaRPr>
          </a:p>
        </p:txBody>
      </p:sp>
      <p:sp>
        <p:nvSpPr>
          <p:cNvPr id="160" name="Text Box 56"/>
          <p:cNvSpPr txBox="1">
            <a:spLocks noChangeArrowheads="1"/>
          </p:cNvSpPr>
          <p:nvPr/>
        </p:nvSpPr>
        <p:spPr bwMode="auto">
          <a:xfrm>
            <a:off x="6035450" y="2228216"/>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2400" b="0" dirty="0">
                <a:latin typeface="微软雅黑" charset="0"/>
                <a:ea typeface="微软雅黑" charset="0"/>
                <a:cs typeface="Calibri" panose="020F0502020204030204" pitchFamily="34" charset="0"/>
              </a:rPr>
              <a:t>聚类采样</a:t>
            </a:r>
            <a:endParaRPr lang="zh-CN" altLang="en-US" sz="2400" b="0" dirty="0">
              <a:latin typeface="微软雅黑" charset="0"/>
              <a:ea typeface="微软雅黑" charset="0"/>
              <a:cs typeface="Calibri" panose="020F0502020204030204" pitchFamily="34" charset="0"/>
            </a:endParaRPr>
          </a:p>
        </p:txBody>
      </p:sp>
      <p:sp>
        <p:nvSpPr>
          <p:cNvPr id="61"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en-US" altLang="zh-CN" sz="3600" dirty="0">
                <a:cs typeface="微软雅黑" charset="0"/>
              </a:rPr>
              <a:t>2.4  </a:t>
            </a:r>
            <a:r>
              <a:rPr lang="zh-CN" altLang="en-US" sz="3600" dirty="0">
                <a:cs typeface="微软雅黑" charset="0"/>
              </a:rPr>
              <a:t>数据归约  </a:t>
            </a:r>
            <a:r>
              <a:rPr lang="en-US" altLang="zh-CN" sz="3600" dirty="0">
                <a:cs typeface="微软雅黑" charset="0"/>
              </a:rPr>
              <a:t>-  </a:t>
            </a:r>
            <a:r>
              <a:rPr lang="zh-CN" altLang="en-US" sz="3600" dirty="0">
                <a:cs typeface="微软雅黑" charset="0"/>
              </a:rPr>
              <a:t>离散化和概念分层</a:t>
            </a:r>
            <a:endParaRPr lang="zh-CN" altLang="en-US" sz="3600" dirty="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Rectangle 2"/>
          <p:cNvSpPr>
            <a:spLocks noGrp="1" noChangeArrowheads="1"/>
          </p:cNvSpPr>
          <p:nvPr>
            <p:ph type="title"/>
          </p:nvPr>
        </p:nvSpPr>
        <p:spPr/>
        <p:txBody>
          <a:bodyPr/>
          <a:lstStyle/>
          <a:p>
            <a:pPr eaLnBrk="1" fontAlgn="auto" hangingPunct="1">
              <a:spcAft>
                <a:spcPts val="0"/>
              </a:spcAft>
              <a:defRPr/>
            </a:pPr>
            <a:r>
              <a:rPr lang="en-US" altLang="zh-CN" sz="3600" dirty="0">
                <a:cs typeface="微软雅黑" charset="0"/>
              </a:rPr>
              <a:t>2.4  </a:t>
            </a:r>
            <a:r>
              <a:rPr lang="zh-CN" altLang="en-US" sz="3600" dirty="0">
                <a:cs typeface="微软雅黑" charset="0"/>
              </a:rPr>
              <a:t>数据归约  </a:t>
            </a:r>
            <a:r>
              <a:rPr lang="en-US" altLang="zh-CN" sz="3600" dirty="0">
                <a:cs typeface="微软雅黑" charset="0"/>
              </a:rPr>
              <a:t>-  </a:t>
            </a:r>
            <a:r>
              <a:rPr lang="zh-CN" altLang="en-US" sz="3600" dirty="0">
                <a:cs typeface="微软雅黑" charset="0"/>
              </a:rPr>
              <a:t>离散化和概念分层</a:t>
            </a:r>
            <a:endParaRPr lang="zh-CN" altLang="en-US" sz="3600" dirty="0">
              <a:cs typeface="微软雅黑" charset="0"/>
            </a:endParaRPr>
          </a:p>
        </p:txBody>
      </p:sp>
      <p:sp>
        <p:nvSpPr>
          <p:cNvPr id="10" name="内容占位符 2"/>
          <p:cNvSpPr txBox="1"/>
          <p:nvPr/>
        </p:nvSpPr>
        <p:spPr bwMode="auto">
          <a:xfrm>
            <a:off x="387175" y="1412776"/>
            <a:ext cx="8501260"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defPPr>
              <a:defRPr lang="zh-CN"/>
            </a:defPPr>
            <a:lvl1pPr marL="342900" indent="-342900" algn="l" eaLnBrk="1" hangingPunct="1">
              <a:lnSpc>
                <a:spcPct val="120000"/>
              </a:lnSpc>
              <a:spcBef>
                <a:spcPct val="20000"/>
              </a:spcBef>
              <a:buClrTx/>
              <a:buSzPct val="100000"/>
              <a:buFont typeface="Wingdings" panose="05000000000000000000" pitchFamily="2" charset="2"/>
              <a:buChar char="n"/>
              <a:defRPr sz="2800">
                <a:solidFill>
                  <a:srgbClr val="C00000"/>
                </a:solidFill>
                <a:latin typeface="黑体"/>
                <a:ea typeface="+mn-ea"/>
                <a:cs typeface="Calibri" panose="020F0502020204030204" pitchFamily="34" charset="0"/>
              </a:defRPr>
            </a:lvl1pPr>
            <a:lvl2pPr marL="908050" indent="-436880" algn="l" eaLnBrk="0" hangingPunct="0">
              <a:spcBef>
                <a:spcPct val="20000"/>
              </a:spcBef>
              <a:buClr>
                <a:schemeClr val="accent2"/>
              </a:buClr>
              <a:buFont typeface="Wingdings" panose="05000000000000000000" pitchFamily="2" charset="2"/>
              <a:buChar char="n"/>
              <a:defRPr sz="2600">
                <a:latin typeface="+mn-lt"/>
                <a:ea typeface="+mn-ea"/>
              </a:defRPr>
            </a:lvl2pPr>
            <a:lvl3pPr marL="1304925" indent="-395605" algn="l" eaLnBrk="0" hangingPunct="0">
              <a:spcBef>
                <a:spcPct val="20000"/>
              </a:spcBef>
              <a:buClr>
                <a:schemeClr val="accent2"/>
              </a:buClr>
              <a:buFont typeface="Wingdings" panose="05000000000000000000" pitchFamily="2" charset="2"/>
              <a:buChar char="o"/>
              <a:defRPr sz="2300">
                <a:latin typeface="+mn-lt"/>
                <a:ea typeface="+mn-ea"/>
              </a:defRPr>
            </a:lvl3pPr>
            <a:lvl4pPr marL="1694180" indent="-387350" algn="l" eaLnBrk="0" hangingPunct="0">
              <a:spcBef>
                <a:spcPct val="20000"/>
              </a:spcBef>
              <a:buClr>
                <a:schemeClr val="accent2"/>
              </a:buClr>
              <a:buFont typeface="Wingdings" panose="05000000000000000000" pitchFamily="2" charset="2"/>
              <a:buChar char="n"/>
              <a:defRPr sz="2000">
                <a:latin typeface="+mn-lt"/>
                <a:ea typeface="+mn-ea"/>
              </a:defRPr>
            </a:lvl4pPr>
            <a:lvl5pPr marL="2094230" indent="-398780" algn="l" eaLnBrk="0" hangingPunct="0">
              <a:spcBef>
                <a:spcPct val="25000"/>
              </a:spcBef>
              <a:buClr>
                <a:schemeClr val="accent2"/>
              </a:buClr>
              <a:buFont typeface="Wingdings" panose="05000000000000000000" pitchFamily="2" charset="2"/>
              <a:buChar char="§"/>
              <a:defRPr sz="2000">
                <a:latin typeface="+mn-lt"/>
                <a:ea typeface="+mn-ea"/>
              </a:defRPr>
            </a:lvl5pPr>
            <a:lvl6pPr marL="2551430" indent="-398780" fontAlgn="base">
              <a:spcBef>
                <a:spcPct val="25000"/>
              </a:spcBef>
              <a:spcAft>
                <a:spcPct val="0"/>
              </a:spcAft>
              <a:buClr>
                <a:schemeClr val="accent2"/>
              </a:buClr>
              <a:buFont typeface="Wingdings" panose="05000000000000000000" pitchFamily="2" charset="2"/>
              <a:buChar char="§"/>
              <a:defRPr sz="2000">
                <a:latin typeface="+mn-lt"/>
                <a:ea typeface="+mn-ea"/>
              </a:defRPr>
            </a:lvl6pPr>
            <a:lvl7pPr marL="3008630" indent="-398780" fontAlgn="base">
              <a:spcBef>
                <a:spcPct val="25000"/>
              </a:spcBef>
              <a:spcAft>
                <a:spcPct val="0"/>
              </a:spcAft>
              <a:buClr>
                <a:schemeClr val="accent2"/>
              </a:buClr>
              <a:buFont typeface="Wingdings" panose="05000000000000000000" pitchFamily="2" charset="2"/>
              <a:buChar char="§"/>
              <a:defRPr sz="2000">
                <a:latin typeface="+mn-lt"/>
                <a:ea typeface="+mn-ea"/>
              </a:defRPr>
            </a:lvl7pPr>
            <a:lvl8pPr marL="3465830" indent="-398780" fontAlgn="base">
              <a:spcBef>
                <a:spcPct val="25000"/>
              </a:spcBef>
              <a:spcAft>
                <a:spcPct val="0"/>
              </a:spcAft>
              <a:buClr>
                <a:schemeClr val="accent2"/>
              </a:buClr>
              <a:buFont typeface="Wingdings" panose="05000000000000000000" pitchFamily="2" charset="2"/>
              <a:buChar char="§"/>
              <a:defRPr sz="2000">
                <a:latin typeface="+mn-lt"/>
                <a:ea typeface="+mn-ea"/>
              </a:defRPr>
            </a:lvl8pPr>
            <a:lvl9pPr marL="3923030" indent="-398780" fontAlgn="base">
              <a:spcBef>
                <a:spcPct val="25000"/>
              </a:spcBef>
              <a:spcAft>
                <a:spcPct val="0"/>
              </a:spcAft>
              <a:buClr>
                <a:schemeClr val="accent2"/>
              </a:buClr>
              <a:buFont typeface="Wingdings" panose="05000000000000000000" pitchFamily="2" charset="2"/>
              <a:buChar char="§"/>
              <a:defRPr sz="2000">
                <a:latin typeface="+mn-lt"/>
                <a:ea typeface="+mn-ea"/>
              </a:defRPr>
            </a:lvl9pPr>
          </a:lstStyle>
          <a:p>
            <a:r>
              <a:rPr lang="zh-CN" altLang="en-US" b="0" dirty="0">
                <a:solidFill>
                  <a:srgbClr val="FF0000"/>
                </a:solidFill>
                <a:latin typeface="微软雅黑" charset="0"/>
                <a:ea typeface="微软雅黑" charset="0"/>
                <a:cs typeface="微软雅黑" charset="0"/>
              </a:rPr>
              <a:t>离散化</a:t>
            </a:r>
            <a:endParaRPr lang="zh-CN" altLang="en-US" b="0" dirty="0">
              <a:solidFill>
                <a:srgbClr val="FF0000"/>
              </a:solidFill>
              <a:latin typeface="微软雅黑" charset="0"/>
              <a:ea typeface="微软雅黑" charset="0"/>
              <a:cs typeface="微软雅黑" charset="0"/>
            </a:endParaRPr>
          </a:p>
          <a:p>
            <a:pPr lvl="1" eaLnBrk="1" hangingPunct="1">
              <a:lnSpc>
                <a:spcPct val="125000"/>
              </a:lnSpc>
              <a:spcBef>
                <a:spcPts val="600"/>
              </a:spcBef>
              <a:spcAft>
                <a:spcPts val="0"/>
              </a:spcAft>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有些分类算法只接受离散属性值</a:t>
            </a:r>
            <a:endParaRPr lang="zh-CN" altLang="en-US" sz="2400" b="0" dirty="0">
              <a:solidFill>
                <a:srgbClr val="1557AE"/>
              </a:solidFill>
              <a:latin typeface="微软雅黑" charset="0"/>
              <a:ea typeface="微软雅黑" charset="0"/>
              <a:cs typeface="微软雅黑" charset="0"/>
            </a:endParaRPr>
          </a:p>
          <a:p>
            <a:pPr lvl="1" eaLnBrk="1" hangingPunct="1">
              <a:lnSpc>
                <a:spcPct val="125000"/>
              </a:lnSpc>
              <a:spcBef>
                <a:spcPts val="600"/>
              </a:spcBef>
              <a:spcAft>
                <a:spcPts val="0"/>
              </a:spcAft>
              <a:buClrTx/>
              <a:buSzPct val="100000"/>
              <a:buFont typeface="Wingdings" panose="05000000000000000000" pitchFamily="2" charset="2"/>
              <a:buChar char="Ø"/>
              <a:defRPr/>
            </a:pPr>
            <a:r>
              <a:rPr lang="zh-CN" altLang="en-US" sz="2400" b="0" dirty="0">
                <a:solidFill>
                  <a:srgbClr val="1557AE"/>
                </a:solidFill>
                <a:latin typeface="微软雅黑" charset="0"/>
                <a:ea typeface="微软雅黑" charset="0"/>
                <a:cs typeface="微软雅黑" charset="0"/>
              </a:rPr>
              <a:t>将连续属性的范围划分为区间，区间的标号可以代替实际的数据值，减少给定连续属性值的个数</a:t>
            </a:r>
            <a:endParaRPr lang="en-US" altLang="zh-CN" sz="2400" b="0" dirty="0">
              <a:solidFill>
                <a:srgbClr val="1557AE"/>
              </a:solidFill>
              <a:latin typeface="微软雅黑" charset="0"/>
              <a:ea typeface="微软雅黑" charset="0"/>
              <a:cs typeface="微软雅黑" charset="0"/>
            </a:endParaRPr>
          </a:p>
          <a:p>
            <a:r>
              <a:rPr lang="zh-CN" altLang="en-US" b="0" dirty="0">
                <a:solidFill>
                  <a:srgbClr val="FF0000"/>
                </a:solidFill>
                <a:latin typeface="微软雅黑" charset="0"/>
                <a:ea typeface="微软雅黑" charset="0"/>
                <a:cs typeface="微软雅黑" charset="0"/>
              </a:rPr>
              <a:t>概念分层：</a:t>
            </a:r>
            <a:r>
              <a:rPr lang="zh-CN" altLang="en-US" sz="2400" b="0" dirty="0">
                <a:solidFill>
                  <a:srgbClr val="1557AE"/>
                </a:solidFill>
                <a:latin typeface="微软雅黑" charset="0"/>
                <a:ea typeface="微软雅黑" charset="0"/>
                <a:cs typeface="微软雅黑" charset="0"/>
              </a:rPr>
              <a:t>使用高层概念（比如：青年、中年、老年）来替代底层的属性值（比如：实际年龄）来规约数据</a:t>
            </a:r>
            <a:endParaRPr lang="en-US" altLang="zh-CN" sz="2400" b="0" dirty="0">
              <a:solidFill>
                <a:srgbClr val="1557AE"/>
              </a:solidFill>
              <a:latin typeface="微软雅黑" charset="0"/>
              <a:ea typeface="微软雅黑" charset="0"/>
              <a:cs typeface="微软雅黑" charset="0"/>
            </a:endParaRPr>
          </a:p>
          <a:p>
            <a:pPr lvl="1" eaLnBrk="1" hangingPunct="1">
              <a:lnSpc>
                <a:spcPct val="125000"/>
              </a:lnSpc>
              <a:spcBef>
                <a:spcPts val="600"/>
              </a:spcBef>
              <a:spcAft>
                <a:spcPts val="0"/>
              </a:spcAft>
              <a:buClrTx/>
              <a:buSzPct val="100000"/>
              <a:buFont typeface="Wingdings" panose="05000000000000000000" pitchFamily="2" charset="2"/>
              <a:buChar char="Ø"/>
              <a:defRPr/>
            </a:pPr>
            <a:r>
              <a:rPr lang="zh-CN" altLang="en-US" sz="2200" b="0" dirty="0">
                <a:solidFill>
                  <a:srgbClr val="1557AE"/>
                </a:solidFill>
                <a:latin typeface="微软雅黑" charset="0"/>
                <a:ea typeface="微软雅黑" charset="0"/>
                <a:cs typeface="微软雅黑" charset="0"/>
              </a:rPr>
              <a:t>聚类分析产生概念分层可能会将一个工资区间划分为：</a:t>
            </a:r>
            <a:r>
              <a:rPr lang="en-US" altLang="zh-CN" sz="2200" b="0" dirty="0">
                <a:solidFill>
                  <a:srgbClr val="FF0000"/>
                </a:solidFill>
                <a:latin typeface="微软雅黑" charset="0"/>
                <a:ea typeface="微软雅黑" charset="0"/>
                <a:cs typeface="微软雅黑" charset="0"/>
              </a:rPr>
              <a:t>[51263.98, 60872.34]</a:t>
            </a:r>
            <a:endParaRPr lang="en-US" altLang="zh-CN" sz="2200" b="0" dirty="0">
              <a:solidFill>
                <a:srgbClr val="FF0000"/>
              </a:solidFill>
              <a:latin typeface="微软雅黑" charset="0"/>
              <a:ea typeface="微软雅黑" charset="0"/>
              <a:cs typeface="微软雅黑" charset="0"/>
            </a:endParaRPr>
          </a:p>
          <a:p>
            <a:pPr lvl="1" eaLnBrk="1" hangingPunct="1">
              <a:lnSpc>
                <a:spcPct val="125000"/>
              </a:lnSpc>
              <a:spcBef>
                <a:spcPts val="600"/>
              </a:spcBef>
              <a:spcAft>
                <a:spcPts val="0"/>
              </a:spcAft>
              <a:buClrTx/>
              <a:buSzPct val="100000"/>
              <a:buFont typeface="Wingdings" panose="05000000000000000000" pitchFamily="2" charset="2"/>
              <a:buChar char="Ø"/>
              <a:defRPr/>
            </a:pPr>
            <a:r>
              <a:rPr lang="zh-CN" altLang="en-US" sz="2200" b="0" dirty="0">
                <a:solidFill>
                  <a:srgbClr val="1557AE"/>
                </a:solidFill>
                <a:latin typeface="微软雅黑" charset="0"/>
                <a:ea typeface="微软雅黑" charset="0"/>
                <a:cs typeface="微软雅黑" charset="0"/>
              </a:rPr>
              <a:t>通常数据分析人员希望看到划分的形式为</a:t>
            </a:r>
            <a:r>
              <a:rPr lang="en-US" altLang="zh-CN" sz="2200" b="0" dirty="0">
                <a:solidFill>
                  <a:srgbClr val="FF0000"/>
                </a:solidFill>
                <a:latin typeface="微软雅黑" charset="0"/>
                <a:ea typeface="微软雅黑" charset="0"/>
                <a:cs typeface="微软雅黑" charset="0"/>
              </a:rPr>
              <a:t>[50000</a:t>
            </a:r>
            <a:r>
              <a:rPr lang="zh-CN" altLang="en-US" sz="2200" b="0" dirty="0">
                <a:solidFill>
                  <a:srgbClr val="FF0000"/>
                </a:solidFill>
                <a:latin typeface="微软雅黑" charset="0"/>
                <a:ea typeface="微软雅黑" charset="0"/>
                <a:cs typeface="微软雅黑" charset="0"/>
              </a:rPr>
              <a:t>，</a:t>
            </a:r>
            <a:r>
              <a:rPr lang="en-US" altLang="zh-CN" sz="2200" b="0" dirty="0">
                <a:solidFill>
                  <a:srgbClr val="FF0000"/>
                </a:solidFill>
                <a:latin typeface="微软雅黑" charset="0"/>
                <a:ea typeface="微软雅黑" charset="0"/>
                <a:cs typeface="微软雅黑" charset="0"/>
              </a:rPr>
              <a:t>60000]</a:t>
            </a:r>
            <a:endParaRPr lang="en-US" altLang="zh-CN" sz="2200" b="0" dirty="0">
              <a:solidFill>
                <a:srgbClr val="FF0000"/>
              </a:solidFill>
              <a:latin typeface="微软雅黑" charset="0"/>
              <a:ea typeface="微软雅黑" charset="0"/>
              <a:cs typeface="微软雅黑" charset="0"/>
            </a:endParaRPr>
          </a:p>
          <a:p>
            <a:pPr marL="342900" lvl="1" indent="-342900" eaLnBrk="1" hangingPunct="1">
              <a:lnSpc>
                <a:spcPct val="120000"/>
              </a:lnSpc>
              <a:buClrTx/>
              <a:buSzPct val="100000"/>
              <a:defRPr/>
            </a:pPr>
            <a:endParaRPr lang="en-US" altLang="zh-CN" sz="2800" b="0" dirty="0">
              <a:solidFill>
                <a:srgbClr val="C00000"/>
              </a:solidFill>
              <a:latin typeface="微软雅黑" charset="0"/>
              <a:ea typeface="微软雅黑" charset="0"/>
              <a:cs typeface="微软雅黑" charset="0"/>
            </a:endParaRPr>
          </a:p>
          <a:p>
            <a:pPr lvl="1" eaLnBrk="1" hangingPunct="1">
              <a:lnSpc>
                <a:spcPct val="125000"/>
              </a:lnSpc>
              <a:spcBef>
                <a:spcPts val="600"/>
              </a:spcBef>
              <a:spcAft>
                <a:spcPts val="0"/>
              </a:spcAft>
              <a:buClrTx/>
              <a:buSzPct val="100000"/>
              <a:buFont typeface="Wingdings" panose="05000000000000000000" pitchFamily="2" charset="2"/>
              <a:buChar char="ü"/>
              <a:defRPr/>
            </a:pPr>
            <a:endParaRPr lang="en-US" altLang="zh-CN" sz="2400" b="0" dirty="0">
              <a:solidFill>
                <a:srgbClr val="C00000"/>
              </a:solidFill>
              <a:latin typeface="微软雅黑" charset="0"/>
              <a:ea typeface="微软雅黑" charset="0"/>
              <a:cs typeface="微软雅黑" charset="0"/>
            </a:endParaRPr>
          </a:p>
          <a:p>
            <a:pPr lvl="1" eaLnBrk="1" hangingPunct="1">
              <a:lnSpc>
                <a:spcPct val="125000"/>
              </a:lnSpc>
              <a:spcBef>
                <a:spcPts val="600"/>
              </a:spcBef>
              <a:spcAft>
                <a:spcPts val="0"/>
              </a:spcAft>
              <a:buClrTx/>
              <a:buSzPct val="100000"/>
              <a:buFont typeface="Wingdings" panose="05000000000000000000" pitchFamily="2" charset="2"/>
              <a:buChar char="ü"/>
              <a:defRPr/>
            </a:pPr>
            <a:endParaRPr lang="zh-CN" altLang="en-US" sz="2200" b="0" dirty="0">
              <a:solidFill>
                <a:srgbClr val="0000FF"/>
              </a:solidFill>
              <a:latin typeface="微软雅黑" charset="0"/>
              <a:ea typeface="微软雅黑" charset="0"/>
              <a:cs typeface="微软雅黑" charset="0"/>
            </a:endParaRPr>
          </a:p>
          <a:p>
            <a:endParaRPr lang="zh-CN" altLang="en-US" sz="2400" b="0" dirty="0">
              <a:solidFill>
                <a:schemeClr val="tx1"/>
              </a:solidFill>
              <a:latin typeface="微软雅黑" charset="0"/>
              <a:ea typeface="微软雅黑" charset="0"/>
              <a:cs typeface="微软雅黑" charset="0"/>
            </a:endParaRPr>
          </a:p>
          <a:p>
            <a:pPr lvl="1" eaLnBrk="1" hangingPunct="1">
              <a:lnSpc>
                <a:spcPct val="125000"/>
              </a:lnSpc>
              <a:spcBef>
                <a:spcPts val="600"/>
              </a:spcBef>
              <a:spcAft>
                <a:spcPts val="0"/>
              </a:spcAft>
              <a:buClrTx/>
              <a:buSzPct val="100000"/>
              <a:buFont typeface="Wingdings" panose="05000000000000000000" pitchFamily="2" charset="2"/>
              <a:buChar char="ü"/>
              <a:defRPr/>
            </a:pPr>
            <a:endParaRPr lang="zh-CN" altLang="en-US" sz="2400" b="0" dirty="0">
              <a:latin typeface="微软雅黑" charset="0"/>
              <a:ea typeface="微软雅黑" charset="0"/>
              <a:cs typeface="微软雅黑" charset="0"/>
            </a:endParaRPr>
          </a:p>
          <a:p>
            <a:endParaRPr lang="zh-CN" altLang="en-US" b="0" dirty="0">
              <a:latin typeface="微软雅黑" charset="0"/>
              <a:ea typeface="微软雅黑" charset="0"/>
              <a:cs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idx="1"/>
          </p:nvPr>
        </p:nvSpPr>
        <p:spPr>
          <a:xfrm>
            <a:off x="251520" y="1268760"/>
            <a:ext cx="8784976" cy="4267200"/>
          </a:xfrm>
        </p:spPr>
        <p:txBody>
          <a:bodyPr/>
          <a:lstStyle/>
          <a:p>
            <a:pPr marL="342900" indent="-342900" eaLnBrk="1" hangingPunct="1">
              <a:lnSpc>
                <a:spcPct val="120000"/>
              </a:lnSpc>
              <a:buClrTx/>
              <a:buSzPct val="100000"/>
              <a:buFont typeface="Wingdings" panose="05000000000000000000" pitchFamily="2" charset="2"/>
              <a:buChar char="n"/>
            </a:pPr>
            <a:r>
              <a:rPr lang="zh-CN" altLang="en-US" sz="2400" b="0" kern="1200" dirty="0">
                <a:solidFill>
                  <a:srgbClr val="FF0000"/>
                </a:solidFill>
                <a:cs typeface="Calibri" panose="020F0502020204030204" pitchFamily="34" charset="0"/>
              </a:rPr>
              <a:t>分类数据是指无序的离散数据，它有有限个值（可能很多个）。</a:t>
            </a:r>
            <a:endParaRPr lang="zh-CN" altLang="en-US" sz="2400" b="0" kern="1200" dirty="0">
              <a:solidFill>
                <a:srgbClr val="FF0000"/>
              </a:solidFill>
              <a:cs typeface="Calibri" panose="020F0502020204030204" pitchFamily="34" charset="0"/>
            </a:endParaRPr>
          </a:p>
          <a:p>
            <a:pPr marL="342900" indent="-342900" eaLnBrk="1" hangingPunct="1">
              <a:lnSpc>
                <a:spcPct val="120000"/>
              </a:lnSpc>
              <a:buClrTx/>
              <a:buSzPct val="100000"/>
              <a:buFont typeface="Wingdings" panose="05000000000000000000" pitchFamily="2" charset="2"/>
              <a:buChar char="n"/>
            </a:pPr>
            <a:r>
              <a:rPr lang="zh-CN" altLang="en-US" sz="2400" b="0" dirty="0">
                <a:solidFill>
                  <a:srgbClr val="FF0000"/>
                </a:solidFill>
              </a:rPr>
              <a:t>根据在给定属性集中，每个属性所包含的不同值的个数，可以自动的生成概念分层；不同值个数最多的属性将被放在概念分层的最底层。</a:t>
            </a:r>
            <a:endParaRPr lang="zh-CN" altLang="en-US" sz="2400" b="0" dirty="0">
              <a:solidFill>
                <a:srgbClr val="FF0000"/>
              </a:solidFill>
            </a:endParaRPr>
          </a:p>
          <a:p>
            <a:pPr marL="0" indent="0" eaLnBrk="1" hangingPunct="1">
              <a:lnSpc>
                <a:spcPct val="120000"/>
              </a:lnSpc>
              <a:buClrTx/>
              <a:buSzPct val="100000"/>
              <a:buNone/>
            </a:pPr>
            <a:endParaRPr lang="zh-CN" altLang="en-US" sz="2800" b="0" kern="1200" dirty="0">
              <a:cs typeface="Calibri" panose="020F0502020204030204" pitchFamily="34" charset="0"/>
            </a:endParaRPr>
          </a:p>
          <a:p>
            <a:pPr lvl="1" eaLnBrk="1" hangingPunct="1">
              <a:lnSpc>
                <a:spcPct val="120000"/>
              </a:lnSpc>
              <a:spcBef>
                <a:spcPts val="600"/>
              </a:spcBef>
              <a:spcAft>
                <a:spcPts val="0"/>
              </a:spcAft>
              <a:buClrTx/>
              <a:buSzPct val="100000"/>
              <a:buFont typeface="Wingdings" panose="05000000000000000000" pitchFamily="2" charset="2"/>
              <a:buChar char="ü"/>
              <a:defRPr/>
            </a:pPr>
            <a:endParaRPr lang="zh-CN" altLang="en-US" sz="2000" b="0" kern="1200" dirty="0">
              <a:cs typeface="Calibri" panose="020F0502020204030204" pitchFamily="34" charset="0"/>
            </a:endParaRPr>
          </a:p>
        </p:txBody>
      </p:sp>
      <p:sp>
        <p:nvSpPr>
          <p:cNvPr id="15" name="Oval 4"/>
          <p:cNvSpPr>
            <a:spLocks noChangeArrowheads="1"/>
          </p:cNvSpPr>
          <p:nvPr/>
        </p:nvSpPr>
        <p:spPr bwMode="auto">
          <a:xfrm>
            <a:off x="1066800" y="3665091"/>
            <a:ext cx="3581400" cy="342900"/>
          </a:xfrm>
          <a:prstGeom prst="ellipse">
            <a:avLst/>
          </a:prstGeom>
          <a:solidFill>
            <a:srgbClr val="44B9E8"/>
          </a:solidFill>
          <a:ln w="9525">
            <a:solidFill>
              <a:srgbClr val="44B9E8"/>
            </a:solidFill>
            <a:round/>
          </a:ln>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6E6EA"/>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rPr>
              <a:t>country</a:t>
            </a:r>
            <a:endParaRPr kumimoji="0" lang="en-US" altLang="zh-CN" sz="2400" b="0" i="0" u="none" strike="noStrike" kern="0" cap="none" spc="0" normalizeH="0" baseline="0" noProof="0" dirty="0">
              <a:ln>
                <a:noFill/>
              </a:ln>
              <a:solidFill>
                <a:srgbClr val="F6E6EA"/>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16" name="Oval 5"/>
          <p:cNvSpPr>
            <a:spLocks noChangeArrowheads="1"/>
          </p:cNvSpPr>
          <p:nvPr/>
        </p:nvSpPr>
        <p:spPr bwMode="auto">
          <a:xfrm>
            <a:off x="1123950" y="4388991"/>
            <a:ext cx="3581400" cy="342900"/>
          </a:xfrm>
          <a:prstGeom prst="ellipse">
            <a:avLst/>
          </a:prstGeom>
          <a:solidFill>
            <a:srgbClr val="44B9E8"/>
          </a:solidFill>
          <a:ln w="9525">
            <a:solidFill>
              <a:srgbClr val="44B9E8"/>
            </a:solidFill>
            <a:round/>
          </a:ln>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AE2F6"/>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rPr>
              <a:t>province</a:t>
            </a:r>
            <a:endParaRPr kumimoji="0" lang="en-US" altLang="zh-CN" sz="2400" b="0" i="0" u="none" strike="noStrike" kern="0" cap="none" spc="0" normalizeH="0" baseline="0" noProof="0" dirty="0">
              <a:ln>
                <a:noFill/>
              </a:ln>
              <a:solidFill>
                <a:srgbClr val="FAE2F6"/>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17" name="Oval 6"/>
          <p:cNvSpPr>
            <a:spLocks noChangeArrowheads="1"/>
          </p:cNvSpPr>
          <p:nvPr/>
        </p:nvSpPr>
        <p:spPr bwMode="auto">
          <a:xfrm>
            <a:off x="1200150" y="5189091"/>
            <a:ext cx="3581400" cy="342900"/>
          </a:xfrm>
          <a:prstGeom prst="ellipse">
            <a:avLst/>
          </a:prstGeom>
          <a:solidFill>
            <a:srgbClr val="44B9E8"/>
          </a:solidFill>
          <a:ln w="9525">
            <a:solidFill>
              <a:srgbClr val="44B9E8"/>
            </a:solidFill>
            <a:round/>
          </a:ln>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srgbClr val="FAE2F6"/>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rPr>
              <a:t>city</a:t>
            </a:r>
            <a:endParaRPr kumimoji="0" lang="en-US" altLang="zh-CN" sz="2400" b="0" i="0" u="none" strike="noStrike" kern="0" cap="none" spc="0" normalizeH="0" baseline="0" noProof="0">
              <a:ln>
                <a:noFill/>
              </a:ln>
              <a:solidFill>
                <a:srgbClr val="FAE2F6"/>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18" name="Oval 7"/>
          <p:cNvSpPr>
            <a:spLocks noChangeArrowheads="1"/>
          </p:cNvSpPr>
          <p:nvPr/>
        </p:nvSpPr>
        <p:spPr bwMode="auto">
          <a:xfrm>
            <a:off x="1181100" y="5951091"/>
            <a:ext cx="3581400" cy="342900"/>
          </a:xfrm>
          <a:prstGeom prst="ellipse">
            <a:avLst/>
          </a:prstGeom>
          <a:solidFill>
            <a:srgbClr val="44B9E8"/>
          </a:solidFill>
          <a:ln w="9525">
            <a:solidFill>
              <a:srgbClr val="44B9E8"/>
            </a:solidFill>
            <a:round/>
          </a:ln>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srgbClr val="FAE2F6"/>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rPr>
              <a:t>street</a:t>
            </a:r>
            <a:endParaRPr kumimoji="0" lang="en-US" altLang="zh-CN" sz="2400" b="0" i="0" u="none" strike="noStrike" kern="0" cap="none" spc="0" normalizeH="0" baseline="0" noProof="0">
              <a:ln>
                <a:noFill/>
              </a:ln>
              <a:solidFill>
                <a:srgbClr val="FAE2F6"/>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19" name="Line 8"/>
          <p:cNvSpPr>
            <a:spLocks noChangeShapeType="1"/>
          </p:cNvSpPr>
          <p:nvPr/>
        </p:nvSpPr>
        <p:spPr bwMode="auto">
          <a:xfrm flipH="1">
            <a:off x="2914650" y="4046091"/>
            <a:ext cx="0" cy="190500"/>
          </a:xfrm>
          <a:prstGeom prst="line">
            <a:avLst/>
          </a:prstGeom>
          <a:noFill/>
          <a:ln w="9525">
            <a:solidFill>
              <a:srgbClr val="464646"/>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20" name="Line 9"/>
          <p:cNvSpPr>
            <a:spLocks noChangeShapeType="1"/>
          </p:cNvSpPr>
          <p:nvPr/>
        </p:nvSpPr>
        <p:spPr bwMode="auto">
          <a:xfrm>
            <a:off x="2914650" y="4830315"/>
            <a:ext cx="0" cy="320675"/>
          </a:xfrm>
          <a:prstGeom prst="line">
            <a:avLst/>
          </a:prstGeom>
          <a:noFill/>
          <a:ln w="9525">
            <a:solidFill>
              <a:srgbClr val="464646"/>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21" name="Line 10"/>
          <p:cNvSpPr>
            <a:spLocks noChangeShapeType="1"/>
          </p:cNvSpPr>
          <p:nvPr/>
        </p:nvSpPr>
        <p:spPr bwMode="auto">
          <a:xfrm>
            <a:off x="2914650" y="5531991"/>
            <a:ext cx="0" cy="457200"/>
          </a:xfrm>
          <a:prstGeom prst="line">
            <a:avLst/>
          </a:prstGeom>
          <a:noFill/>
          <a:ln w="9525">
            <a:solidFill>
              <a:srgbClr val="464646"/>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22" name="Text Box 11"/>
          <p:cNvSpPr txBox="1">
            <a:spLocks noChangeArrowheads="1"/>
          </p:cNvSpPr>
          <p:nvPr/>
        </p:nvSpPr>
        <p:spPr bwMode="auto">
          <a:xfrm>
            <a:off x="5966528" y="3573016"/>
            <a:ext cx="16273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en-US" altLang="zh-CN"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5</a:t>
            </a:r>
            <a:r>
              <a:rPr lang="zh-CN" altLang="en-US"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个不同值</a:t>
            </a:r>
            <a:endParaRPr lang="zh-CN" altLang="en-US"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23" name="Text Box 12"/>
          <p:cNvSpPr txBox="1">
            <a:spLocks noChangeArrowheads="1"/>
          </p:cNvSpPr>
          <p:nvPr/>
        </p:nvSpPr>
        <p:spPr bwMode="auto">
          <a:xfrm>
            <a:off x="5737225" y="4373116"/>
            <a:ext cx="231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en-US" altLang="zh-CN"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65 </a:t>
            </a:r>
            <a:r>
              <a:rPr lang="zh-CN" altLang="en-US"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个不同值</a:t>
            </a:r>
            <a:endParaRPr lang="zh-CN" altLang="en-US"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24" name="Text Box 13"/>
          <p:cNvSpPr txBox="1">
            <a:spLocks noChangeArrowheads="1"/>
          </p:cNvSpPr>
          <p:nvPr/>
        </p:nvSpPr>
        <p:spPr bwMode="auto">
          <a:xfrm>
            <a:off x="5655976" y="5116066"/>
            <a:ext cx="2324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en-US" altLang="zh-CN"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3567 </a:t>
            </a:r>
            <a:r>
              <a:rPr lang="zh-CN" altLang="en-US"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个不同值</a:t>
            </a:r>
            <a:endParaRPr lang="zh-CN" altLang="en-US"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25" name="Text Box 14"/>
          <p:cNvSpPr txBox="1">
            <a:spLocks noChangeArrowheads="1"/>
          </p:cNvSpPr>
          <p:nvPr/>
        </p:nvSpPr>
        <p:spPr bwMode="auto">
          <a:xfrm>
            <a:off x="5305047" y="5839966"/>
            <a:ext cx="28360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en-US" altLang="zh-CN"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674,339 </a:t>
            </a:r>
            <a:r>
              <a:rPr lang="zh-CN" altLang="en-US"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rPr>
              <a:t>个不同值</a:t>
            </a:r>
            <a:endParaRPr lang="zh-CN" altLang="en-US" sz="2400" b="0" dirty="0">
              <a:solidFill>
                <a:srgbClr val="1557AE"/>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en-US" altLang="zh-CN" sz="3600" dirty="0"/>
              <a:t>2.4  </a:t>
            </a:r>
            <a:r>
              <a:rPr lang="zh-CN" altLang="en-US" sz="3600" dirty="0"/>
              <a:t>数据归约  </a:t>
            </a:r>
            <a:r>
              <a:rPr lang="en-US" altLang="zh-CN" sz="3600" dirty="0"/>
              <a:t>-  </a:t>
            </a:r>
            <a:r>
              <a:rPr lang="zh-CN" altLang="en-US" sz="3600" dirty="0">
                <a:cs typeface="Calibri" panose="020F0502020204030204" pitchFamily="34" charset="0"/>
              </a:rPr>
              <a:t>离散化和概念分层</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a:t>
            </a:r>
            <a:r>
              <a:rPr lang="zh-CN" altLang="en-US" sz="3600" dirty="0"/>
              <a:t>选择</a:t>
            </a:r>
            <a:endParaRPr lang="zh-CN" altLang="en-US" sz="3600" dirty="0"/>
          </a:p>
        </p:txBody>
      </p:sp>
      <p:sp>
        <p:nvSpPr>
          <p:cNvPr id="30" name="TextBox 5"/>
          <p:cNvSpPr txBox="1"/>
          <p:nvPr>
            <p:custDataLst>
              <p:tags r:id="rId1"/>
            </p:custDataLst>
          </p:nvPr>
        </p:nvSpPr>
        <p:spPr>
          <a:xfrm>
            <a:off x="838200" y="1828800"/>
            <a:ext cx="685799" cy="369332"/>
          </a:xfrm>
          <a:prstGeom prst="rect">
            <a:avLst/>
          </a:prstGeom>
          <a:noFill/>
        </p:spPr>
        <p:txBody>
          <a:bodyPr wrap="square" rtlCol="0">
            <a:spAutoFit/>
          </a:bodyPr>
          <a:p>
            <a:r>
              <a:rPr lang="en-AU" altLang="zh-CN" dirty="0" smtClean="0"/>
              <a:t>Age</a:t>
            </a:r>
            <a:endParaRPr lang="zh-CN" altLang="en-US" dirty="0"/>
          </a:p>
        </p:txBody>
      </p:sp>
      <p:sp>
        <p:nvSpPr>
          <p:cNvPr id="31" name="TextBox 6"/>
          <p:cNvSpPr txBox="1"/>
          <p:nvPr>
            <p:custDataLst>
              <p:tags r:id="rId2"/>
            </p:custDataLst>
          </p:nvPr>
        </p:nvSpPr>
        <p:spPr>
          <a:xfrm>
            <a:off x="1600200" y="2438400"/>
            <a:ext cx="954107" cy="369332"/>
          </a:xfrm>
          <a:prstGeom prst="rect">
            <a:avLst/>
          </a:prstGeom>
          <a:noFill/>
        </p:spPr>
        <p:txBody>
          <a:bodyPr wrap="none" rtlCol="0">
            <a:spAutoFit/>
          </a:bodyPr>
          <a:p>
            <a:r>
              <a:rPr lang="en-AU" altLang="zh-CN" dirty="0" smtClean="0"/>
              <a:t>Gender</a:t>
            </a:r>
            <a:endParaRPr lang="zh-CN" altLang="en-US" dirty="0"/>
          </a:p>
        </p:txBody>
      </p:sp>
      <p:sp>
        <p:nvSpPr>
          <p:cNvPr id="32" name="TextBox 7"/>
          <p:cNvSpPr txBox="1"/>
          <p:nvPr>
            <p:custDataLst>
              <p:tags r:id="rId3"/>
            </p:custDataLst>
          </p:nvPr>
        </p:nvSpPr>
        <p:spPr>
          <a:xfrm>
            <a:off x="762000" y="3276600"/>
            <a:ext cx="851515" cy="369332"/>
          </a:xfrm>
          <a:prstGeom prst="rect">
            <a:avLst/>
          </a:prstGeom>
          <a:noFill/>
        </p:spPr>
        <p:txBody>
          <a:bodyPr wrap="none" rtlCol="0">
            <a:spAutoFit/>
          </a:bodyPr>
          <a:p>
            <a:r>
              <a:rPr lang="en-AU" altLang="zh-CN" dirty="0" smtClean="0"/>
              <a:t>Height</a:t>
            </a:r>
            <a:endParaRPr lang="en-AU" altLang="zh-CN" dirty="0" smtClean="0"/>
          </a:p>
        </p:txBody>
      </p:sp>
      <p:sp>
        <p:nvSpPr>
          <p:cNvPr id="33" name="TextBox 8"/>
          <p:cNvSpPr txBox="1"/>
          <p:nvPr>
            <p:custDataLst>
              <p:tags r:id="rId4"/>
            </p:custDataLst>
          </p:nvPr>
        </p:nvSpPr>
        <p:spPr>
          <a:xfrm>
            <a:off x="2514600" y="1447800"/>
            <a:ext cx="898644" cy="369332"/>
          </a:xfrm>
          <a:prstGeom prst="rect">
            <a:avLst/>
          </a:prstGeom>
          <a:noFill/>
        </p:spPr>
        <p:txBody>
          <a:bodyPr wrap="none" rtlCol="0">
            <a:spAutoFit/>
          </a:bodyPr>
          <a:p>
            <a:r>
              <a:rPr lang="en-AU" altLang="zh-CN" dirty="0" smtClean="0"/>
              <a:t>Weight</a:t>
            </a:r>
            <a:endParaRPr lang="en-AU" altLang="zh-CN" dirty="0" smtClean="0"/>
          </a:p>
        </p:txBody>
      </p:sp>
      <p:sp>
        <p:nvSpPr>
          <p:cNvPr id="34" name="TextBox 9"/>
          <p:cNvSpPr txBox="1"/>
          <p:nvPr>
            <p:custDataLst>
              <p:tags r:id="rId5"/>
            </p:custDataLst>
          </p:nvPr>
        </p:nvSpPr>
        <p:spPr>
          <a:xfrm>
            <a:off x="914400" y="4267200"/>
            <a:ext cx="941283" cy="369332"/>
          </a:xfrm>
          <a:prstGeom prst="rect">
            <a:avLst/>
          </a:prstGeom>
          <a:noFill/>
        </p:spPr>
        <p:txBody>
          <a:bodyPr wrap="none" rtlCol="0">
            <a:spAutoFit/>
          </a:bodyPr>
          <a:p>
            <a:r>
              <a:rPr lang="en-AU" altLang="zh-CN" dirty="0" smtClean="0"/>
              <a:t>Income</a:t>
            </a:r>
            <a:endParaRPr lang="en-AU" altLang="zh-CN" dirty="0" smtClean="0"/>
          </a:p>
        </p:txBody>
      </p:sp>
      <p:sp>
        <p:nvSpPr>
          <p:cNvPr id="35" name="TextBox 10"/>
          <p:cNvSpPr txBox="1"/>
          <p:nvPr>
            <p:custDataLst>
              <p:tags r:id="rId6"/>
            </p:custDataLst>
          </p:nvPr>
        </p:nvSpPr>
        <p:spPr>
          <a:xfrm>
            <a:off x="685800" y="5943600"/>
            <a:ext cx="1351652" cy="369332"/>
          </a:xfrm>
          <a:prstGeom prst="rect">
            <a:avLst/>
          </a:prstGeom>
          <a:noFill/>
        </p:spPr>
        <p:txBody>
          <a:bodyPr wrap="none" rtlCol="0">
            <a:spAutoFit/>
          </a:bodyPr>
          <a:p>
            <a:r>
              <a:rPr lang="en-AU" altLang="zh-CN" dirty="0" smtClean="0"/>
              <a:t>Occupation</a:t>
            </a:r>
            <a:endParaRPr lang="en-AU" altLang="zh-CN" dirty="0" smtClean="0"/>
          </a:p>
        </p:txBody>
      </p:sp>
      <p:sp>
        <p:nvSpPr>
          <p:cNvPr id="36" name="TextBox 11"/>
          <p:cNvSpPr txBox="1"/>
          <p:nvPr>
            <p:custDataLst>
              <p:tags r:id="rId7"/>
            </p:custDataLst>
          </p:nvPr>
        </p:nvSpPr>
        <p:spPr>
          <a:xfrm>
            <a:off x="1676400" y="3733800"/>
            <a:ext cx="1210588" cy="369332"/>
          </a:xfrm>
          <a:prstGeom prst="rect">
            <a:avLst/>
          </a:prstGeom>
          <a:noFill/>
        </p:spPr>
        <p:txBody>
          <a:bodyPr wrap="none" rtlCol="0">
            <a:spAutoFit/>
          </a:bodyPr>
          <a:p>
            <a:r>
              <a:rPr lang="en-AU" altLang="zh-CN" dirty="0" smtClean="0"/>
              <a:t>Education</a:t>
            </a:r>
            <a:endParaRPr lang="en-AU" altLang="zh-CN" dirty="0" smtClean="0"/>
          </a:p>
        </p:txBody>
      </p:sp>
      <p:sp>
        <p:nvSpPr>
          <p:cNvPr id="37" name="TextBox 12"/>
          <p:cNvSpPr txBox="1"/>
          <p:nvPr>
            <p:custDataLst>
              <p:tags r:id="rId8"/>
            </p:custDataLst>
          </p:nvPr>
        </p:nvSpPr>
        <p:spPr>
          <a:xfrm>
            <a:off x="1447800" y="4953000"/>
            <a:ext cx="1031051" cy="369332"/>
          </a:xfrm>
          <a:prstGeom prst="rect">
            <a:avLst/>
          </a:prstGeom>
          <a:noFill/>
        </p:spPr>
        <p:txBody>
          <a:bodyPr wrap="none" rtlCol="0">
            <a:spAutoFit/>
          </a:bodyPr>
          <a:p>
            <a:r>
              <a:rPr lang="en-AU" altLang="zh-CN" dirty="0" smtClean="0"/>
              <a:t>Address</a:t>
            </a:r>
            <a:endParaRPr lang="en-AU" altLang="zh-CN" dirty="0" smtClean="0"/>
          </a:p>
        </p:txBody>
      </p:sp>
      <p:sp>
        <p:nvSpPr>
          <p:cNvPr id="38" name="TextBox 13"/>
          <p:cNvSpPr txBox="1"/>
          <p:nvPr>
            <p:custDataLst>
              <p:tags r:id="rId9"/>
            </p:custDataLst>
          </p:nvPr>
        </p:nvSpPr>
        <p:spPr>
          <a:xfrm>
            <a:off x="2362200" y="5791200"/>
            <a:ext cx="1056700" cy="369332"/>
          </a:xfrm>
          <a:prstGeom prst="rect">
            <a:avLst/>
          </a:prstGeom>
          <a:noFill/>
        </p:spPr>
        <p:txBody>
          <a:bodyPr wrap="none" rtlCol="0">
            <a:spAutoFit/>
          </a:bodyPr>
          <a:p>
            <a:r>
              <a:rPr lang="en-AU" altLang="zh-CN" dirty="0" smtClean="0"/>
              <a:t>Location</a:t>
            </a:r>
            <a:endParaRPr lang="en-AU" altLang="zh-CN" dirty="0" smtClean="0"/>
          </a:p>
        </p:txBody>
      </p:sp>
      <p:sp>
        <p:nvSpPr>
          <p:cNvPr id="39" name="TextBox 14"/>
          <p:cNvSpPr txBox="1"/>
          <p:nvPr>
            <p:custDataLst>
              <p:tags r:id="rId10"/>
            </p:custDataLst>
          </p:nvPr>
        </p:nvSpPr>
        <p:spPr>
          <a:xfrm>
            <a:off x="1752600" y="1524000"/>
            <a:ext cx="415498" cy="369332"/>
          </a:xfrm>
          <a:prstGeom prst="rect">
            <a:avLst/>
          </a:prstGeom>
          <a:noFill/>
        </p:spPr>
        <p:txBody>
          <a:bodyPr wrap="none" rtlCol="0">
            <a:spAutoFit/>
          </a:bodyPr>
          <a:p>
            <a:r>
              <a:rPr lang="en-AU" altLang="zh-CN" dirty="0" smtClean="0"/>
              <a:t>ID</a:t>
            </a:r>
            <a:endParaRPr lang="zh-CN" altLang="en-US" dirty="0"/>
          </a:p>
        </p:txBody>
      </p:sp>
      <p:sp>
        <p:nvSpPr>
          <p:cNvPr id="40" name="TextBox 15"/>
          <p:cNvSpPr txBox="1"/>
          <p:nvPr>
            <p:custDataLst>
              <p:tags r:id="rId11"/>
            </p:custDataLst>
          </p:nvPr>
        </p:nvSpPr>
        <p:spPr>
          <a:xfrm>
            <a:off x="6248400" y="2286000"/>
            <a:ext cx="889987" cy="369332"/>
          </a:xfrm>
          <a:prstGeom prst="rect">
            <a:avLst/>
          </a:prstGeom>
          <a:noFill/>
        </p:spPr>
        <p:txBody>
          <a:bodyPr wrap="none" rtlCol="0">
            <a:spAutoFit/>
          </a:bodyPr>
          <a:p>
            <a:r>
              <a:rPr lang="en-AU" altLang="zh-CN" dirty="0" smtClean="0">
                <a:solidFill>
                  <a:srgbClr val="FF0000"/>
                </a:solidFill>
              </a:rPr>
              <a:t>Noisy?</a:t>
            </a:r>
            <a:endParaRPr lang="zh-CN" altLang="en-US" dirty="0">
              <a:solidFill>
                <a:srgbClr val="FF0000"/>
              </a:solidFill>
            </a:endParaRPr>
          </a:p>
        </p:txBody>
      </p:sp>
      <p:sp>
        <p:nvSpPr>
          <p:cNvPr id="41" name="TextBox 16"/>
          <p:cNvSpPr txBox="1"/>
          <p:nvPr>
            <p:custDataLst>
              <p:tags r:id="rId12"/>
            </p:custDataLst>
          </p:nvPr>
        </p:nvSpPr>
        <p:spPr>
          <a:xfrm>
            <a:off x="7086600" y="3276600"/>
            <a:ext cx="1274708" cy="369332"/>
          </a:xfrm>
          <a:prstGeom prst="rect">
            <a:avLst/>
          </a:prstGeom>
          <a:noFill/>
        </p:spPr>
        <p:txBody>
          <a:bodyPr wrap="none" rtlCol="0">
            <a:spAutoFit/>
          </a:bodyPr>
          <a:p>
            <a:r>
              <a:rPr lang="en-AU" altLang="zh-CN" dirty="0" smtClean="0">
                <a:solidFill>
                  <a:srgbClr val="FF0000"/>
                </a:solidFill>
              </a:rPr>
              <a:t>Irrelevant?</a:t>
            </a:r>
            <a:endParaRPr lang="zh-CN" altLang="en-US" dirty="0">
              <a:solidFill>
                <a:srgbClr val="FF0000"/>
              </a:solidFill>
            </a:endParaRPr>
          </a:p>
        </p:txBody>
      </p:sp>
      <p:sp>
        <p:nvSpPr>
          <p:cNvPr id="42" name="TextBox 17"/>
          <p:cNvSpPr txBox="1"/>
          <p:nvPr>
            <p:custDataLst>
              <p:tags r:id="rId13"/>
            </p:custDataLst>
          </p:nvPr>
        </p:nvSpPr>
        <p:spPr>
          <a:xfrm>
            <a:off x="6172200" y="3962400"/>
            <a:ext cx="1274708" cy="369332"/>
          </a:xfrm>
          <a:prstGeom prst="rect">
            <a:avLst/>
          </a:prstGeom>
          <a:noFill/>
        </p:spPr>
        <p:txBody>
          <a:bodyPr wrap="none" rtlCol="0">
            <a:spAutoFit/>
          </a:bodyPr>
          <a:p>
            <a:r>
              <a:rPr lang="en-AU" altLang="zh-CN" dirty="0" smtClean="0">
                <a:solidFill>
                  <a:srgbClr val="FF0000"/>
                </a:solidFill>
              </a:rPr>
              <a:t>Duplicate?</a:t>
            </a:r>
            <a:endParaRPr lang="zh-CN" altLang="en-US" dirty="0">
              <a:solidFill>
                <a:srgbClr val="FF0000"/>
              </a:solidFill>
            </a:endParaRPr>
          </a:p>
        </p:txBody>
      </p:sp>
      <p:sp>
        <p:nvSpPr>
          <p:cNvPr id="43" name="TextBox 18"/>
          <p:cNvSpPr txBox="1"/>
          <p:nvPr>
            <p:custDataLst>
              <p:tags r:id="rId14"/>
            </p:custDataLst>
          </p:nvPr>
        </p:nvSpPr>
        <p:spPr>
          <a:xfrm>
            <a:off x="6705600" y="4876800"/>
            <a:ext cx="1454244" cy="369332"/>
          </a:xfrm>
          <a:prstGeom prst="rect">
            <a:avLst/>
          </a:prstGeom>
          <a:noFill/>
        </p:spPr>
        <p:txBody>
          <a:bodyPr wrap="none" rtlCol="0">
            <a:spAutoFit/>
          </a:bodyPr>
          <a:p>
            <a:r>
              <a:rPr lang="en-AU" altLang="zh-CN" dirty="0" smtClean="0">
                <a:solidFill>
                  <a:srgbClr val="FF0000"/>
                </a:solidFill>
              </a:rPr>
              <a:t>Complexity?</a:t>
            </a:r>
            <a:endParaRPr lang="zh-CN" altLang="en-US" dirty="0">
              <a:solidFill>
                <a:srgbClr val="FF0000"/>
              </a:solidFill>
            </a:endParaRPr>
          </a:p>
        </p:txBody>
      </p:sp>
      <p:pic>
        <p:nvPicPr>
          <p:cNvPr id="44" name="图片 43"/>
          <p:cNvPicPr>
            <a:picLocks noChangeAspect="1"/>
          </p:cNvPicPr>
          <p:nvPr>
            <p:custDataLst>
              <p:tags r:id="rId15"/>
            </p:custDataLst>
          </p:nvPr>
        </p:nvPicPr>
        <p:blipFill>
          <a:blip r:embed="rId16"/>
          <a:stretch>
            <a:fillRect/>
          </a:stretch>
        </p:blipFill>
        <p:spPr>
          <a:xfrm>
            <a:off x="2896235" y="2132965"/>
            <a:ext cx="3305175" cy="32905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a:t>
            </a:r>
            <a:r>
              <a:rPr lang="zh-CN" altLang="en-US" sz="3600" dirty="0"/>
              <a:t>选择</a:t>
            </a:r>
            <a:endParaRPr lang="zh-CN" altLang="en-US" sz="3600" dirty="0"/>
          </a:p>
        </p:txBody>
      </p:sp>
      <p:pic>
        <p:nvPicPr>
          <p:cNvPr id="39939" name="Picture 3"/>
          <p:cNvPicPr>
            <a:picLocks noChangeAspect="1" noChangeArrowheads="1"/>
          </p:cNvPicPr>
          <p:nvPr>
            <p:custDataLst>
              <p:tags r:id="rId1"/>
            </p:custDataLst>
          </p:nvPr>
        </p:nvPicPr>
        <p:blipFill>
          <a:blip r:embed="rId2"/>
          <a:srcRect/>
          <a:stretch>
            <a:fillRect/>
          </a:stretch>
        </p:blipFill>
        <p:spPr bwMode="auto">
          <a:xfrm>
            <a:off x="1752600" y="1447800"/>
            <a:ext cx="5943600" cy="4257675"/>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a:t>
            </a:r>
            <a:r>
              <a:rPr lang="zh-CN" altLang="en-US" sz="3600" dirty="0"/>
              <a:t>选择</a:t>
            </a:r>
            <a:endParaRPr lang="zh-CN" altLang="en-US" sz="3600" dirty="0"/>
          </a:p>
        </p:txBody>
      </p:sp>
      <p:pic>
        <p:nvPicPr>
          <p:cNvPr id="66562"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781050" y="1104900"/>
            <a:ext cx="7581900" cy="506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a:t>
            </a:r>
            <a:r>
              <a:rPr lang="zh-CN" altLang="en-US" sz="3600" dirty="0"/>
              <a:t>选择</a:t>
            </a:r>
            <a:endParaRPr lang="zh-CN" altLang="en-US" sz="3600" dirty="0"/>
          </a:p>
        </p:txBody>
      </p:sp>
      <p:pic>
        <p:nvPicPr>
          <p:cNvPr id="39938" name="Picture 2"/>
          <p:cNvPicPr>
            <a:picLocks noChangeAspect="1" noChangeArrowheads="1"/>
          </p:cNvPicPr>
          <p:nvPr>
            <p:custDataLst>
              <p:tags r:id="rId1"/>
            </p:custDataLst>
          </p:nvPr>
        </p:nvPicPr>
        <p:blipFill rotWithShape="1">
          <a:blip r:embed="rId2"/>
          <a:srcRect t="5594" r="6586"/>
          <a:stretch>
            <a:fillRect/>
          </a:stretch>
        </p:blipFill>
        <p:spPr bwMode="auto">
          <a:xfrm>
            <a:off x="6040922" y="978877"/>
            <a:ext cx="2722078" cy="2373923"/>
          </a:xfrm>
          <a:prstGeom prst="rect">
            <a:avLst/>
          </a:prstGeom>
          <a:noFill/>
          <a:ln w="9525">
            <a:noFill/>
            <a:miter lim="800000"/>
            <a:headEnd/>
            <a:tailEnd/>
          </a:ln>
          <a:effectLst/>
        </p:spPr>
      </p:pic>
      <p:graphicFrame>
        <p:nvGraphicFramePr>
          <p:cNvPr id="7" name="对象 6"/>
          <p:cNvGraphicFramePr>
            <a:graphicFrameLocks noChangeAspect="1"/>
          </p:cNvGraphicFramePr>
          <p:nvPr>
            <p:custDataLst>
              <p:tags r:id="rId3"/>
            </p:custDataLst>
          </p:nvPr>
        </p:nvGraphicFramePr>
        <p:xfrm>
          <a:off x="744538" y="2362200"/>
          <a:ext cx="5174966" cy="392111"/>
        </p:xfrm>
        <a:graphic>
          <a:graphicData uri="http://schemas.openxmlformats.org/presentationml/2006/ole">
            <mc:AlternateContent xmlns:mc="http://schemas.openxmlformats.org/markup-compatibility/2006">
              <mc:Choice xmlns:v="urn:schemas-microsoft-com:vml" Requires="v">
                <p:oleObj spid="_x0000_s75796" name="公式" r:id="rId4" imgW="75895200" imgH="5486400" progId="Equation.3">
                  <p:embed/>
                </p:oleObj>
              </mc:Choice>
              <mc:Fallback>
                <p:oleObj name="公式" r:id="rId4" imgW="75895200" imgH="5486400" progId="Equation.3">
                  <p:embed/>
                  <p:pic>
                    <p:nvPicPr>
                      <p:cNvPr id="0" name="Picture 3"/>
                      <p:cNvPicPr>
                        <a:picLocks noChangeAspect="1" noChangeArrowheads="1"/>
                      </p:cNvPicPr>
                      <p:nvPr/>
                    </p:nvPicPr>
                    <p:blipFill>
                      <a:blip r:embed="rId5"/>
                      <a:srcRect/>
                      <a:stretch>
                        <a:fillRect/>
                      </a:stretch>
                    </p:blipFill>
                    <p:spPr bwMode="auto">
                      <a:xfrm>
                        <a:off x="744538" y="2362200"/>
                        <a:ext cx="5174966" cy="392111"/>
                      </a:xfrm>
                      <a:prstGeom prst="rect">
                        <a:avLst/>
                      </a:prstGeom>
                      <a:noFill/>
                    </p:spPr>
                  </p:pic>
                </p:oleObj>
              </mc:Fallback>
            </mc:AlternateContent>
          </a:graphicData>
        </a:graphic>
      </p:graphicFrame>
      <p:graphicFrame>
        <p:nvGraphicFramePr>
          <p:cNvPr id="8" name="对象 7"/>
          <p:cNvGraphicFramePr>
            <a:graphicFrameLocks noChangeAspect="1"/>
          </p:cNvGraphicFramePr>
          <p:nvPr>
            <p:custDataLst>
              <p:tags r:id="rId6"/>
            </p:custDataLst>
          </p:nvPr>
        </p:nvGraphicFramePr>
        <p:xfrm>
          <a:off x="746125" y="3733800"/>
          <a:ext cx="6467787" cy="381000"/>
        </p:xfrm>
        <a:graphic>
          <a:graphicData uri="http://schemas.openxmlformats.org/presentationml/2006/ole">
            <mc:AlternateContent xmlns:mc="http://schemas.openxmlformats.org/markup-compatibility/2006">
              <mc:Choice xmlns:v="urn:schemas-microsoft-com:vml" Requires="v">
                <p:oleObj spid="_x0000_s75797" name="公式" r:id="rId7" imgW="95707200" imgH="5486400" progId="Equation.3">
                  <p:embed/>
                </p:oleObj>
              </mc:Choice>
              <mc:Fallback>
                <p:oleObj name="公式" r:id="rId7" imgW="95707200" imgH="5486400" progId="Equation.3">
                  <p:embed/>
                  <p:pic>
                    <p:nvPicPr>
                      <p:cNvPr id="0" name="Picture 4"/>
                      <p:cNvPicPr>
                        <a:picLocks noChangeAspect="1" noChangeArrowheads="1"/>
                      </p:cNvPicPr>
                      <p:nvPr/>
                    </p:nvPicPr>
                    <p:blipFill>
                      <a:blip r:embed="rId8"/>
                      <a:srcRect/>
                      <a:stretch>
                        <a:fillRect/>
                      </a:stretch>
                    </p:blipFill>
                    <p:spPr bwMode="auto">
                      <a:xfrm>
                        <a:off x="746125" y="3733800"/>
                        <a:ext cx="6467787" cy="381000"/>
                      </a:xfrm>
                      <a:prstGeom prst="rect">
                        <a:avLst/>
                      </a:prstGeom>
                      <a:noFill/>
                    </p:spPr>
                  </p:pic>
                </p:oleObj>
              </mc:Fallback>
            </mc:AlternateContent>
          </a:graphicData>
        </a:graphic>
      </p:graphicFrame>
      <p:graphicFrame>
        <p:nvGraphicFramePr>
          <p:cNvPr id="9" name="对象 8"/>
          <p:cNvGraphicFramePr>
            <a:graphicFrameLocks noChangeAspect="1"/>
          </p:cNvGraphicFramePr>
          <p:nvPr>
            <p:custDataLst>
              <p:tags r:id="rId9"/>
            </p:custDataLst>
          </p:nvPr>
        </p:nvGraphicFramePr>
        <p:xfrm>
          <a:off x="762000" y="4343400"/>
          <a:ext cx="6716161" cy="365125"/>
        </p:xfrm>
        <a:graphic>
          <a:graphicData uri="http://schemas.openxmlformats.org/presentationml/2006/ole">
            <mc:AlternateContent xmlns:mc="http://schemas.openxmlformats.org/markup-compatibility/2006">
              <mc:Choice xmlns:v="urn:schemas-microsoft-com:vml" Requires="v">
                <p:oleObj spid="_x0000_s75798" name="公式" r:id="rId10" imgW="105460800" imgH="5486400" progId="Equation.3">
                  <p:embed/>
                </p:oleObj>
              </mc:Choice>
              <mc:Fallback>
                <p:oleObj name="公式" r:id="rId10" imgW="105460800" imgH="5486400" progId="Equation.3">
                  <p:embed/>
                  <p:pic>
                    <p:nvPicPr>
                      <p:cNvPr id="0" name="Object 4"/>
                      <p:cNvPicPr>
                        <a:picLocks noChangeAspect="1" noChangeArrowheads="1"/>
                      </p:cNvPicPr>
                      <p:nvPr/>
                    </p:nvPicPr>
                    <p:blipFill>
                      <a:blip r:embed="rId11"/>
                      <a:srcRect/>
                      <a:stretch>
                        <a:fillRect/>
                      </a:stretch>
                    </p:blipFill>
                    <p:spPr bwMode="auto">
                      <a:xfrm>
                        <a:off x="762000" y="4343400"/>
                        <a:ext cx="6716161" cy="365125"/>
                      </a:xfrm>
                      <a:prstGeom prst="rect">
                        <a:avLst/>
                      </a:prstGeom>
                      <a:noFill/>
                    </p:spPr>
                  </p:pic>
                </p:oleObj>
              </mc:Fallback>
            </mc:AlternateContent>
          </a:graphicData>
        </a:graphic>
      </p:graphicFrame>
      <p:graphicFrame>
        <p:nvGraphicFramePr>
          <p:cNvPr id="10" name="对象 9"/>
          <p:cNvGraphicFramePr>
            <a:graphicFrameLocks noChangeAspect="1"/>
          </p:cNvGraphicFramePr>
          <p:nvPr>
            <p:custDataLst>
              <p:tags r:id="rId12"/>
            </p:custDataLst>
          </p:nvPr>
        </p:nvGraphicFramePr>
        <p:xfrm>
          <a:off x="733425" y="4967288"/>
          <a:ext cx="6553200" cy="323850"/>
        </p:xfrm>
        <a:graphic>
          <a:graphicData uri="http://schemas.openxmlformats.org/presentationml/2006/ole">
            <mc:AlternateContent xmlns:mc="http://schemas.openxmlformats.org/markup-compatibility/2006">
              <mc:Choice xmlns:v="urn:schemas-microsoft-com:vml" Requires="v">
                <p:oleObj spid="_x0000_s75799" name="公式" r:id="rId13" imgW="104851200" imgH="5181600" progId="Equation.3">
                  <p:embed/>
                </p:oleObj>
              </mc:Choice>
              <mc:Fallback>
                <p:oleObj name="公式" r:id="rId13" imgW="104851200" imgH="5181600" progId="Equation.3">
                  <p:embed/>
                  <p:pic>
                    <p:nvPicPr>
                      <p:cNvPr id="0" name="Picture 6"/>
                      <p:cNvPicPr>
                        <a:picLocks noChangeAspect="1" noChangeArrowheads="1"/>
                      </p:cNvPicPr>
                      <p:nvPr/>
                    </p:nvPicPr>
                    <p:blipFill>
                      <a:blip r:embed="rId14"/>
                      <a:srcRect/>
                      <a:stretch>
                        <a:fillRect/>
                      </a:stretch>
                    </p:blipFill>
                    <p:spPr bwMode="auto">
                      <a:xfrm>
                        <a:off x="733425" y="4967288"/>
                        <a:ext cx="655320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custDataLst>
              <p:tags r:id="rId15"/>
            </p:custDataLst>
          </p:nvPr>
        </p:nvGraphicFramePr>
        <p:xfrm>
          <a:off x="706438" y="5586413"/>
          <a:ext cx="5081587" cy="387350"/>
        </p:xfrm>
        <a:graphic>
          <a:graphicData uri="http://schemas.openxmlformats.org/presentationml/2006/ole">
            <mc:AlternateContent xmlns:mc="http://schemas.openxmlformats.org/markup-compatibility/2006">
              <mc:Choice xmlns:v="urn:schemas-microsoft-com:vml" Requires="v">
                <p:oleObj spid="_x0000_s75800" name="公式" r:id="rId16" imgW="67970400" imgH="5181600" progId="Equation.3">
                  <p:embed/>
                </p:oleObj>
              </mc:Choice>
              <mc:Fallback>
                <p:oleObj name="公式" r:id="rId16" imgW="67970400" imgH="5181600" progId="Equation.3">
                  <p:embed/>
                  <p:pic>
                    <p:nvPicPr>
                      <p:cNvPr id="0" name="Picture 7"/>
                      <p:cNvPicPr>
                        <a:picLocks noChangeAspect="1" noChangeArrowheads="1"/>
                      </p:cNvPicPr>
                      <p:nvPr/>
                    </p:nvPicPr>
                    <p:blipFill>
                      <a:blip r:embed="rId17"/>
                      <a:srcRect/>
                      <a:stretch>
                        <a:fillRect/>
                      </a:stretch>
                    </p:blipFill>
                    <p:spPr bwMode="auto">
                      <a:xfrm>
                        <a:off x="706438" y="5586413"/>
                        <a:ext cx="5081587"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3" name="TextBox 2"/>
              <p:cNvSpPr txBox="1"/>
              <p:nvPr>
                <p:custDataLst>
                  <p:tags r:id="rId18"/>
                </p:custDataLst>
              </p:nvPr>
            </p:nvSpPr>
            <p:spPr>
              <a:xfrm>
                <a:off x="609600" y="1219200"/>
                <a:ext cx="3163687" cy="848566"/>
              </a:xfrm>
              <a:prstGeom prst="rect">
                <a:avLst/>
              </a:prstGeom>
              <a:noFill/>
            </p:spPr>
            <p:txBody>
              <a:bodyPr wrap="none" rtlCol="0">
                <a:spAutoFit/>
              </a:bodyPr>
              <a:p>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DejaVu Math TeX Gyre" panose="02000503000000000000" charset="0"/>
                          <a:ea typeface="微软雅黑" charset="0"/>
                          <a:cs typeface="DejaVu Math TeX Gyre" panose="02000503000000000000" charset="0"/>
                        </a:rPr>
                        <m:t>𝐻</m:t>
                      </m:r>
                      <m:d>
                        <m:dPr>
                          <m:ctrlPr>
                            <a:rPr lang="en-US" altLang="zh-CN" b="0" i="1" smtClean="0">
                              <a:solidFill>
                                <a:srgbClr val="000000"/>
                              </a:solidFill>
                              <a:latin typeface="DejaVu Math TeX Gyre" panose="02000503000000000000" charset="0"/>
                              <a:ea typeface="微软雅黑" charset="0"/>
                              <a:cs typeface="DejaVu Math TeX Gyre" panose="02000503000000000000" charset="0"/>
                            </a:rPr>
                          </m:ctrlPr>
                        </m:dPr>
                        <m:e>
                          <m:r>
                            <a:rPr lang="en-US" altLang="zh-CN" b="0" i="1" smtClean="0">
                              <a:solidFill>
                                <a:srgbClr val="000000"/>
                              </a:solidFill>
                              <a:latin typeface="DejaVu Math TeX Gyre" panose="02000503000000000000" charset="0"/>
                              <a:ea typeface="微软雅黑" charset="0"/>
                              <a:cs typeface="DejaVu Math TeX Gyre" panose="02000503000000000000" charset="0"/>
                            </a:rPr>
                            <m:t>𝑋</m:t>
                          </m:r>
                        </m:e>
                      </m:d>
                      <m:r>
                        <a:rPr lang="en-US" altLang="zh-CN" b="0" i="1" smtClean="0">
                          <a:solidFill>
                            <a:srgbClr val="000000"/>
                          </a:solidFill>
                          <a:latin typeface="DejaVu Math TeX Gyre" panose="02000503000000000000" charset="0"/>
                          <a:ea typeface="宋体" pitchFamily="2" charset="-122"/>
                          <a:cs typeface="DejaVu Math TeX Gyre" panose="02000503000000000000" charset="0"/>
                        </a:rPr>
                        <m:t>=−</m:t>
                      </m:r>
                      <m:nary>
                        <m:naryPr>
                          <m:chr m:val="∑"/>
                          <m:ctrlPr>
                            <a:rPr lang="en-US" altLang="zh-CN" b="0" i="1" smtClean="0">
                              <a:solidFill>
                                <a:srgbClr val="000000"/>
                              </a:solidFill>
                              <a:latin typeface="DejaVu Math TeX Gyre" panose="02000503000000000000" charset="0"/>
                              <a:ea typeface="微软雅黑" charset="0"/>
                              <a:cs typeface="DejaVu Math TeX Gyre" panose="02000503000000000000" charset="0"/>
                            </a:rPr>
                          </m:ctrlPr>
                        </m:naryPr>
                        <m:sub>
                          <m:r>
                            <m:rPr>
                              <m:brk m:alnAt="23"/>
                            </m:rPr>
                            <a:rPr lang="en-US" altLang="zh-CN" b="0" i="1" smtClean="0">
                              <a:solidFill>
                                <a:srgbClr val="000000"/>
                              </a:solidFill>
                              <a:latin typeface="DejaVu Math TeX Gyre" panose="02000503000000000000" charset="0"/>
                              <a:ea typeface="微软雅黑" charset="0"/>
                              <a:cs typeface="DejaVu Math TeX Gyre" panose="02000503000000000000" charset="0"/>
                            </a:rPr>
                            <m:t>𝑖</m:t>
                          </m:r>
                          <m:r>
                            <a:rPr lang="en-US" altLang="zh-CN" b="0" i="1" smtClean="0">
                              <a:solidFill>
                                <a:srgbClr val="000000"/>
                              </a:solidFill>
                              <a:latin typeface="DejaVu Math TeX Gyre" panose="02000503000000000000" charset="0"/>
                              <a:ea typeface="宋体" pitchFamily="2" charset="-122"/>
                              <a:cs typeface="DejaVu Math TeX Gyre" panose="02000503000000000000" charset="0"/>
                            </a:rPr>
                            <m:t>=</m:t>
                          </m:r>
                          <m:r>
                            <a:rPr lang="en-US" altLang="zh-CN" b="0" i="1" smtClean="0">
                              <a:solidFill>
                                <a:srgbClr val="000000"/>
                              </a:solidFill>
                              <a:latin typeface="DejaVu Math TeX Gyre" panose="02000503000000000000" charset="0"/>
                              <a:ea typeface="宋体" pitchFamily="2" charset="-122"/>
                              <a:cs typeface="DejaVu Math TeX Gyre" panose="02000503000000000000" charset="0"/>
                            </a:rPr>
                            <m:t>1</m:t>
                          </m:r>
                        </m:sub>
                        <m:sup>
                          <m:r>
                            <a:rPr lang="en-US" altLang="zh-CN" b="0" i="1" smtClean="0">
                              <a:solidFill>
                                <a:srgbClr val="000000"/>
                              </a:solidFill>
                              <a:latin typeface="DejaVu Math TeX Gyre" panose="02000503000000000000" charset="0"/>
                              <a:ea typeface="微软雅黑" charset="0"/>
                              <a:cs typeface="DejaVu Math TeX Gyre" panose="02000503000000000000" charset="0"/>
                            </a:rPr>
                            <m:t>𝑛</m:t>
                          </m:r>
                        </m:sup>
                        <m:e>
                          <m:r>
                            <a:rPr lang="en-US" altLang="zh-CN" b="0" i="1" smtClean="0">
                              <a:solidFill>
                                <a:srgbClr val="000000"/>
                              </a:solidFill>
                              <a:latin typeface="DejaVu Math TeX Gyre" panose="02000503000000000000" charset="0"/>
                              <a:ea typeface="微软雅黑" charset="0"/>
                              <a:cs typeface="DejaVu Math TeX Gyre" panose="02000503000000000000" charset="0"/>
                            </a:rPr>
                            <m:t>𝑝</m:t>
                          </m:r>
                          <m:d>
                            <m:dPr>
                              <m:ctrlPr>
                                <a:rPr lang="en-US" altLang="zh-CN" b="0" i="1" smtClean="0">
                                  <a:solidFill>
                                    <a:srgbClr val="000000"/>
                                  </a:solidFill>
                                  <a:latin typeface="DejaVu Math TeX Gyre" panose="02000503000000000000" charset="0"/>
                                  <a:ea typeface="微软雅黑" charset="0"/>
                                  <a:cs typeface="DejaVu Math TeX Gyre" panose="02000503000000000000" charset="0"/>
                                </a:rPr>
                              </m:ctrlPr>
                            </m:dPr>
                            <m:e>
                              <m:sSub>
                                <m:sSubPr>
                                  <m:ctrlPr>
                                    <a:rPr lang="en-US" altLang="zh-CN" b="0" i="1" smtClean="0">
                                      <a:solidFill>
                                        <a:srgbClr val="000000"/>
                                      </a:solidFill>
                                      <a:latin typeface="DejaVu Math TeX Gyre" panose="02000503000000000000" charset="0"/>
                                      <a:ea typeface="微软雅黑" charset="0"/>
                                      <a:cs typeface="DejaVu Math TeX Gyre" panose="02000503000000000000" charset="0"/>
                                    </a:rPr>
                                  </m:ctrlPr>
                                </m:sSubPr>
                                <m:e>
                                  <m:r>
                                    <a:rPr lang="en-US" altLang="zh-CN" b="0" i="1" smtClean="0">
                                      <a:solidFill>
                                        <a:srgbClr val="000000"/>
                                      </a:solidFill>
                                      <a:latin typeface="DejaVu Math TeX Gyre" panose="02000503000000000000" charset="0"/>
                                      <a:ea typeface="微软雅黑" charset="0"/>
                                      <a:cs typeface="DejaVu Math TeX Gyre" panose="02000503000000000000" charset="0"/>
                                    </a:rPr>
                                    <m:t>𝑥</m:t>
                                  </m:r>
                                </m:e>
                                <m:sub>
                                  <m:r>
                                    <a:rPr lang="en-US" altLang="zh-CN" b="0" i="1" smtClean="0">
                                      <a:solidFill>
                                        <a:srgbClr val="000000"/>
                                      </a:solidFill>
                                      <a:latin typeface="DejaVu Math TeX Gyre" panose="02000503000000000000" charset="0"/>
                                      <a:ea typeface="微软雅黑" charset="0"/>
                                      <a:cs typeface="DejaVu Math TeX Gyre" panose="02000503000000000000" charset="0"/>
                                    </a:rPr>
                                    <m:t>𝑖</m:t>
                                  </m:r>
                                </m:sub>
                              </m:sSub>
                            </m:e>
                          </m:d>
                          <m:func>
                            <m:funcPr>
                              <m:ctrlPr>
                                <a:rPr lang="en-US" altLang="zh-CN" b="0" i="1" smtClean="0">
                                  <a:solidFill>
                                    <a:srgbClr val="000000"/>
                                  </a:solidFill>
                                  <a:latin typeface="DejaVu Math TeX Gyre" panose="02000503000000000000" charset="0"/>
                                  <a:ea typeface="微软雅黑" charset="0"/>
                                  <a:cs typeface="DejaVu Math TeX Gyre" panose="02000503000000000000" charset="0"/>
                                </a:rPr>
                              </m:ctrlPr>
                            </m:funcPr>
                            <m:fName>
                              <m:sSub>
                                <m:sSubPr>
                                  <m:ctrlPr>
                                    <a:rPr lang="en-US" altLang="zh-CN" b="0" i="1" smtClean="0">
                                      <a:solidFill>
                                        <a:srgbClr val="000000"/>
                                      </a:solidFill>
                                      <a:latin typeface="DejaVu Math TeX Gyre" panose="02000503000000000000" charset="0"/>
                                      <a:ea typeface="微软雅黑" charset="0"/>
                                      <a:cs typeface="DejaVu Math TeX Gyre" panose="02000503000000000000" charset="0"/>
                                    </a:rPr>
                                  </m:ctrlPr>
                                </m:sSubPr>
                                <m:e>
                                  <m:r>
                                    <m:rPr>
                                      <m:sty m:val="p"/>
                                    </m:rPr>
                                    <a:rPr lang="en-US" altLang="zh-CN" b="0" i="0" smtClean="0">
                                      <a:solidFill>
                                        <a:srgbClr val="000000"/>
                                      </a:solidFill>
                                      <a:latin typeface="DejaVu Math TeX Gyre" panose="02000503000000000000" charset="0"/>
                                      <a:ea typeface="微软雅黑" charset="0"/>
                                      <a:cs typeface="DejaVu Math TeX Gyre" panose="02000503000000000000" charset="0"/>
                                    </a:rPr>
                                    <m:t>log</m:t>
                                  </m:r>
                                </m:e>
                                <m:sub>
                                  <m:r>
                                    <a:rPr lang="en-US" altLang="zh-CN" b="0" i="1" smtClean="0">
                                      <a:solidFill>
                                        <a:srgbClr val="000000"/>
                                      </a:solidFill>
                                      <a:latin typeface="DejaVu Math TeX Gyre" panose="02000503000000000000" charset="0"/>
                                      <a:ea typeface="微软雅黑" charset="0"/>
                                      <a:cs typeface="DejaVu Math TeX Gyre" panose="02000503000000000000" charset="0"/>
                                    </a:rPr>
                                    <m:t>𝑏</m:t>
                                  </m:r>
                                </m:sub>
                              </m:sSub>
                            </m:fName>
                            <m:e>
                              <m:r>
                                <a:rPr lang="en-US" altLang="zh-CN" b="0" i="1" smtClean="0">
                                  <a:solidFill>
                                    <a:srgbClr val="000000"/>
                                  </a:solidFill>
                                  <a:latin typeface="DejaVu Math TeX Gyre" panose="02000503000000000000" charset="0"/>
                                  <a:ea typeface="微软雅黑" charset="0"/>
                                  <a:cs typeface="DejaVu Math TeX Gyre" panose="02000503000000000000" charset="0"/>
                                </a:rPr>
                                <m:t>𝑝</m:t>
                              </m:r>
                              <m:d>
                                <m:dPr>
                                  <m:ctrlPr>
                                    <a:rPr lang="en-US" altLang="zh-CN" b="0" i="1" smtClean="0">
                                      <a:solidFill>
                                        <a:srgbClr val="000000"/>
                                      </a:solidFill>
                                      <a:latin typeface="DejaVu Math TeX Gyre" panose="02000503000000000000" charset="0"/>
                                      <a:ea typeface="微软雅黑" charset="0"/>
                                      <a:cs typeface="DejaVu Math TeX Gyre" panose="02000503000000000000" charset="0"/>
                                    </a:rPr>
                                  </m:ctrlPr>
                                </m:dPr>
                                <m:e>
                                  <m:sSub>
                                    <m:sSubPr>
                                      <m:ctrlPr>
                                        <a:rPr lang="en-US" altLang="zh-CN" b="0" i="1" smtClean="0">
                                          <a:solidFill>
                                            <a:srgbClr val="000000"/>
                                          </a:solidFill>
                                          <a:latin typeface="DejaVu Math TeX Gyre" panose="02000503000000000000" charset="0"/>
                                          <a:ea typeface="微软雅黑" charset="0"/>
                                          <a:cs typeface="DejaVu Math TeX Gyre" panose="02000503000000000000" charset="0"/>
                                        </a:rPr>
                                      </m:ctrlPr>
                                    </m:sSubPr>
                                    <m:e>
                                      <m:r>
                                        <a:rPr lang="en-US" altLang="zh-CN" b="0" i="1" smtClean="0">
                                          <a:solidFill>
                                            <a:srgbClr val="000000"/>
                                          </a:solidFill>
                                          <a:latin typeface="DejaVu Math TeX Gyre" panose="02000503000000000000" charset="0"/>
                                          <a:ea typeface="微软雅黑" charset="0"/>
                                          <a:cs typeface="DejaVu Math TeX Gyre" panose="02000503000000000000" charset="0"/>
                                        </a:rPr>
                                        <m:t>𝑥</m:t>
                                      </m:r>
                                    </m:e>
                                    <m:sub>
                                      <m:r>
                                        <a:rPr lang="en-US" altLang="zh-CN" b="0" i="1" smtClean="0">
                                          <a:solidFill>
                                            <a:srgbClr val="000000"/>
                                          </a:solidFill>
                                          <a:latin typeface="DejaVu Math TeX Gyre" panose="02000503000000000000" charset="0"/>
                                          <a:ea typeface="微软雅黑" charset="0"/>
                                          <a:cs typeface="DejaVu Math TeX Gyre" panose="02000503000000000000" charset="0"/>
                                        </a:rPr>
                                        <m:t>𝑖</m:t>
                                      </m:r>
                                    </m:sub>
                                  </m:sSub>
                                </m:e>
                              </m:d>
                            </m:e>
                          </m:func>
                        </m:e>
                      </m:nary>
                    </m:oMath>
                  </m:oMathPara>
                </a14:m>
                <a:endParaRPr lang="zh-CN" altLang="en-US" dirty="0">
                  <a:latin typeface="微软雅黑" charset="0"/>
                  <a:ea typeface="微软雅黑" charset="0"/>
                  <a:cs typeface="微软雅黑" charset="0"/>
                </a:endParaRPr>
              </a:p>
            </p:txBody>
          </p:sp>
        </mc:Choice>
        <mc:Fallback>
          <p:sp>
            <p:nvSpPr>
              <p:cNvPr id="3" name="TextBox 2"/>
              <p:cNvSpPr txBox="1">
                <a:spLocks noRot="1" noChangeAspect="1" noMove="1" noResize="1" noEditPoints="1" noAdjustHandles="1" noChangeArrowheads="1" noChangeShapeType="1" noTextEdit="1"/>
              </p:cNvSpPr>
              <p:nvPr>
                <p:custDataLst>
                  <p:tags r:id="rId19"/>
                </p:custDataLst>
              </p:nvPr>
            </p:nvSpPr>
            <p:spPr>
              <a:xfrm>
                <a:off x="609600" y="1219200"/>
                <a:ext cx="3163687" cy="848566"/>
              </a:xfrm>
              <a:prstGeom prst="rect">
                <a:avLst/>
              </a:prstGeom>
              <a:blipFill rotWithShape="1">
                <a:blip r:embed="rId20"/>
                <a:stretch>
                  <a:fillRect r="-8627"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Box 4"/>
              <p:cNvSpPr txBox="1"/>
              <p:nvPr>
                <p:custDataLst>
                  <p:tags r:id="rId21"/>
                </p:custDataLst>
              </p:nvPr>
            </p:nvSpPr>
            <p:spPr>
              <a:xfrm>
                <a:off x="685800" y="3048000"/>
                <a:ext cx="4271041" cy="369332"/>
              </a:xfrm>
              <a:prstGeom prst="rect">
                <a:avLst/>
              </a:prstGeom>
              <a:noFill/>
            </p:spPr>
            <p:txBody>
              <a:bodyPr wrap="none" rtlCol="0">
                <a:spAutoFit/>
              </a:bodyPr>
              <a:p>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DejaVu Math TeX Gyre" panose="02000503000000000000" charset="0"/>
                          <a:ea typeface="微软雅黑" charset="0"/>
                          <a:cs typeface="DejaVu Math TeX Gyre" panose="02000503000000000000" charset="0"/>
                        </a:rPr>
                        <m:t>𝑋</m:t>
                      </m:r>
                      <m:r>
                        <a:rPr lang="en-US" altLang="zh-CN" b="0" i="1" smtClean="0">
                          <a:solidFill>
                            <a:srgbClr val="000000"/>
                          </a:solidFill>
                          <a:latin typeface="DejaVu Math TeX Gyre" panose="02000503000000000000" charset="0"/>
                          <a:ea typeface="宋体" pitchFamily="2" charset="-122"/>
                          <a:cs typeface="DejaVu Math TeX Gyre" panose="02000503000000000000" charset="0"/>
                        </a:rPr>
                        <m:t>:{</m:t>
                      </m:r>
                      <m:r>
                        <a:rPr lang="en-US" altLang="zh-CN" b="0" i="1" smtClean="0">
                          <a:solidFill>
                            <a:srgbClr val="000000"/>
                          </a:solidFill>
                          <a:latin typeface="DejaVu Math TeX Gyre" panose="02000503000000000000" charset="0"/>
                          <a:ea typeface="微软雅黑" charset="0"/>
                          <a:cs typeface="DejaVu Math TeX Gyre" panose="02000503000000000000" charset="0"/>
                        </a:rPr>
                        <m:t>𝑎</m:t>
                      </m:r>
                      <m:r>
                        <a:rPr lang="en-US" altLang="zh-CN" b="0" i="1" smtClean="0">
                          <a:solidFill>
                            <a:srgbClr val="000000"/>
                          </a:solidFill>
                          <a:latin typeface="DejaVu Math TeX Gyre" panose="02000503000000000000" charset="0"/>
                          <a:ea typeface="宋体" pitchFamily="2" charset="-122"/>
                          <a:cs typeface="DejaVu Math TeX Gyre" panose="02000503000000000000" charset="0"/>
                        </a:rPr>
                        <m:t>="</m:t>
                      </m:r>
                      <m:r>
                        <m:rPr>
                          <m:nor/>
                        </m:rPr>
                        <a:rPr lang="en-US" altLang="zh-CN" b="0" i="0" smtClean="0">
                          <a:solidFill>
                            <a:srgbClr val="000000"/>
                          </a:solidFill>
                          <a:latin typeface="DejaVu Math TeX Gyre" panose="02000503000000000000" charset="0"/>
                          <a:ea typeface="微软雅黑" charset="0"/>
                          <a:cs typeface="DejaVu Math TeX Gyre" panose="02000503000000000000" charset="0"/>
                        </a:rPr>
                        <m:t>Non</m:t>
                      </m:r>
                      <m:r>
                        <m:rPr>
                          <m:nor/>
                        </m:rPr>
                        <a:rPr lang="en-US" altLang="zh-CN" b="0" i="0" smtClean="0">
                          <a:solidFill>
                            <a:srgbClr val="000000"/>
                          </a:solidFill>
                          <a:latin typeface="DejaVu Math TeX Gyre" panose="02000503000000000000" charset="0"/>
                          <a:ea typeface="宋体" pitchFamily="2" charset="-122"/>
                          <a:cs typeface="DejaVu Math TeX Gyre" panose="02000503000000000000" charset="0"/>
                        </a:rPr>
                        <m:t>−</m:t>
                      </m:r>
                      <m:r>
                        <m:rPr>
                          <m:nor/>
                        </m:rPr>
                        <a:rPr lang="en-US" altLang="zh-CN" b="0" i="0" smtClean="0">
                          <a:solidFill>
                            <a:srgbClr val="000000"/>
                          </a:solidFill>
                          <a:latin typeface="DejaVu Math TeX Gyre" panose="02000503000000000000" charset="0"/>
                          <a:ea typeface="微软雅黑" charset="0"/>
                          <a:cs typeface="DejaVu Math TeX Gyre" panose="02000503000000000000" charset="0"/>
                        </a:rPr>
                        <m:t>Smoker</m:t>
                      </m:r>
                      <m:r>
                        <a:rPr lang="en-US" altLang="zh-CN" b="0" i="1" smtClean="0">
                          <a:solidFill>
                            <a:srgbClr val="000000"/>
                          </a:solidFill>
                          <a:latin typeface="DejaVu Math TeX Gyre" panose="02000503000000000000" charset="0"/>
                          <a:ea typeface="宋体" pitchFamily="2" charset="-122"/>
                          <a:cs typeface="DejaVu Math TeX Gyre" panose="02000503000000000000" charset="0"/>
                        </a:rPr>
                        <m:t>";   </m:t>
                      </m:r>
                      <m:r>
                        <a:rPr lang="en-US" altLang="zh-CN" b="0" i="1" smtClean="0">
                          <a:solidFill>
                            <a:srgbClr val="000000"/>
                          </a:solidFill>
                          <a:latin typeface="DejaVu Math TeX Gyre" panose="02000503000000000000" charset="0"/>
                          <a:ea typeface="微软雅黑" charset="0"/>
                          <a:cs typeface="DejaVu Math TeX Gyre" panose="02000503000000000000" charset="0"/>
                        </a:rPr>
                        <m:t>𝑏</m:t>
                      </m:r>
                      <m:r>
                        <a:rPr lang="en-US" altLang="zh-CN" b="0" i="1" smtClean="0">
                          <a:solidFill>
                            <a:srgbClr val="000000"/>
                          </a:solidFill>
                          <a:latin typeface="DejaVu Math TeX Gyre" panose="02000503000000000000" charset="0"/>
                          <a:ea typeface="宋体" pitchFamily="2" charset="-122"/>
                          <a:cs typeface="DejaVu Math TeX Gyre" panose="02000503000000000000" charset="0"/>
                        </a:rPr>
                        <m:t>=</m:t>
                      </m:r>
                      <m:r>
                        <m:rPr>
                          <m:nor/>
                        </m:rPr>
                        <a:rPr lang="en-US" altLang="zh-CN" b="0" i="0" smtClean="0">
                          <a:solidFill>
                            <a:srgbClr val="000000"/>
                          </a:solidFill>
                          <a:latin typeface="DejaVu Math TeX Gyre" panose="02000503000000000000" charset="0"/>
                          <a:ea typeface="宋体" pitchFamily="2" charset="-122"/>
                          <a:cs typeface="DejaVu Math TeX Gyre" panose="02000503000000000000" charset="0"/>
                        </a:rPr>
                        <m:t>"</m:t>
                      </m:r>
                      <m:r>
                        <m:rPr>
                          <m:nor/>
                        </m:rPr>
                        <a:rPr lang="en-US" altLang="zh-CN" b="0" i="0" smtClean="0">
                          <a:solidFill>
                            <a:srgbClr val="000000"/>
                          </a:solidFill>
                          <a:latin typeface="DejaVu Math TeX Gyre" panose="02000503000000000000" charset="0"/>
                          <a:ea typeface="微软雅黑" charset="0"/>
                          <a:cs typeface="DejaVu Math TeX Gyre" panose="02000503000000000000" charset="0"/>
                        </a:rPr>
                        <m:t>Smoker</m:t>
                      </m:r>
                      <m:r>
                        <a:rPr lang="en-US" altLang="zh-CN" b="0" i="1" smtClean="0">
                          <a:solidFill>
                            <a:srgbClr val="000000"/>
                          </a:solidFill>
                          <a:latin typeface="DejaVu Math TeX Gyre" panose="02000503000000000000" charset="0"/>
                          <a:ea typeface="宋体" pitchFamily="2" charset="-122"/>
                          <a:cs typeface="DejaVu Math TeX Gyre" panose="02000503000000000000" charset="0"/>
                        </a:rPr>
                        <m:t>"  }</m:t>
                      </m:r>
                    </m:oMath>
                  </m:oMathPara>
                </a14:m>
                <a:endParaRPr lang="zh-CN" altLang="en-US" dirty="0">
                  <a:solidFill>
                    <a:srgbClr val="000000"/>
                  </a:solidFill>
                  <a:latin typeface="微软雅黑" charset="0"/>
                  <a:ea typeface="微软雅黑" charset="0"/>
                  <a:cs typeface="微软雅黑" charset="0"/>
                </a:endParaRPr>
              </a:p>
            </p:txBody>
          </p:sp>
        </mc:Choice>
        <mc:Fallback>
          <p:sp>
            <p:nvSpPr>
              <p:cNvPr id="5" name="TextBox 4"/>
              <p:cNvSpPr txBox="1">
                <a:spLocks noRot="1" noChangeAspect="1" noMove="1" noResize="1" noEditPoints="1" noAdjustHandles="1" noChangeArrowheads="1" noChangeShapeType="1" noTextEdit="1"/>
              </p:cNvSpPr>
              <p:nvPr>
                <p:custDataLst>
                  <p:tags r:id="rId22"/>
                </p:custDataLst>
              </p:nvPr>
            </p:nvSpPr>
            <p:spPr>
              <a:xfrm>
                <a:off x="685800" y="3048000"/>
                <a:ext cx="4271041" cy="369332"/>
              </a:xfrm>
              <a:prstGeom prst="rect">
                <a:avLst/>
              </a:prstGeom>
              <a:blipFill rotWithShape="1">
                <a:blip r:embed="rId23"/>
                <a:stretch>
                  <a:fillRect r="-17290" b="107"/>
                </a:stretch>
              </a:blipFill>
            </p:spPr>
            <p:txBody>
              <a:bodyPr/>
              <a:lstStyle/>
              <a:p>
                <a:r>
                  <a:rPr lang="zh-CN" altLang="en-US">
                    <a:noFill/>
                  </a:rPr>
                  <a:t> </a:t>
                </a:r>
              </a:p>
            </p:txBody>
          </p:sp>
        </mc:Fallback>
      </mc:AlternateContent>
      <p:sp>
        <p:nvSpPr>
          <p:cNvPr id="6" name="TextBox 5"/>
          <p:cNvSpPr txBox="1"/>
          <p:nvPr>
            <p:custDataLst>
              <p:tags r:id="rId24"/>
            </p:custDataLst>
          </p:nvPr>
        </p:nvSpPr>
        <p:spPr>
          <a:xfrm>
            <a:off x="6324600" y="5592763"/>
            <a:ext cx="1890261" cy="369332"/>
          </a:xfrm>
          <a:prstGeom prst="rect">
            <a:avLst/>
          </a:prstGeom>
          <a:noFill/>
        </p:spPr>
        <p:txBody>
          <a:bodyPr wrap="none" rtlCol="0">
            <a:spAutoFit/>
          </a:bodyPr>
          <a:p>
            <a:r>
              <a:rPr lang="en-US" altLang="zh-CN" dirty="0" smtClean="0">
                <a:solidFill>
                  <a:srgbClr val="FF0000"/>
                </a:solidFill>
                <a:latin typeface="微软雅黑" charset="0"/>
                <a:ea typeface="微软雅黑" charset="0"/>
              </a:rPr>
              <a:t>Information Gain</a:t>
            </a:r>
            <a:endParaRPr lang="en-US" altLang="zh-CN" dirty="0" smtClean="0">
              <a:solidFill>
                <a:srgbClr val="FF0000"/>
              </a:solidFill>
              <a:latin typeface="微软雅黑" charset="0"/>
              <a:ea typeface="微软雅黑" charset="0"/>
            </a:endParaRPr>
          </a:p>
        </p:txBody>
      </p:sp>
      <p:sp>
        <p:nvSpPr>
          <p:cNvPr id="2" name="标题 1"/>
          <p:cNvSpPr>
            <a:spLocks noGrp="1"/>
          </p:cNvSpPr>
          <p:nvPr>
            <p:custDataLst>
              <p:tags r:id="rId25"/>
            </p:custDataLst>
          </p:nvPr>
        </p:nvSpPr>
        <p:spPr>
          <a:xfrm>
            <a:off x="323215" y="860108"/>
            <a:ext cx="6705600" cy="563562"/>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2800" b="1" i="1">
                <a:solidFill>
                  <a:schemeClr val="tx1"/>
                </a:solidFill>
                <a:latin typeface="+mj-lt"/>
                <a:ea typeface="+mj-ea"/>
                <a:cs typeface="+mj-cs"/>
              </a:defRPr>
            </a:lvl1pPr>
            <a:lvl2pPr algn="l" rtl="0" eaLnBrk="0" fontAlgn="base" hangingPunct="0">
              <a:spcBef>
                <a:spcPct val="0"/>
              </a:spcBef>
              <a:spcAft>
                <a:spcPct val="0"/>
              </a:spcAft>
              <a:defRPr sz="2800" b="1" i="1">
                <a:solidFill>
                  <a:schemeClr val="tx1"/>
                </a:solidFill>
                <a:latin typeface="Verdana" panose="020B0804030504040204" pitchFamily="34" charset="0"/>
              </a:defRPr>
            </a:lvl2pPr>
            <a:lvl3pPr algn="l" rtl="0" eaLnBrk="0" fontAlgn="base" hangingPunct="0">
              <a:spcBef>
                <a:spcPct val="0"/>
              </a:spcBef>
              <a:spcAft>
                <a:spcPct val="0"/>
              </a:spcAft>
              <a:defRPr sz="2800" b="1" i="1">
                <a:solidFill>
                  <a:schemeClr val="tx1"/>
                </a:solidFill>
                <a:latin typeface="Verdana" panose="020B0804030504040204" pitchFamily="34" charset="0"/>
              </a:defRPr>
            </a:lvl3pPr>
            <a:lvl4pPr algn="l" rtl="0" eaLnBrk="0" fontAlgn="base" hangingPunct="0">
              <a:spcBef>
                <a:spcPct val="0"/>
              </a:spcBef>
              <a:spcAft>
                <a:spcPct val="0"/>
              </a:spcAft>
              <a:defRPr sz="2800" b="1" i="1">
                <a:solidFill>
                  <a:schemeClr val="tx1"/>
                </a:solidFill>
                <a:latin typeface="Verdana" panose="020B0804030504040204" pitchFamily="34" charset="0"/>
              </a:defRPr>
            </a:lvl4pPr>
            <a:lvl5pPr algn="l" rtl="0" eaLnBrk="0" fontAlgn="base" hangingPunct="0">
              <a:spcBef>
                <a:spcPct val="0"/>
              </a:spcBef>
              <a:spcAft>
                <a:spcPct val="0"/>
              </a:spcAft>
              <a:defRPr sz="2800" b="1" i="1">
                <a:solidFill>
                  <a:schemeClr val="tx1"/>
                </a:solidFill>
                <a:latin typeface="Verdana" panose="020B0804030504040204" pitchFamily="34" charset="0"/>
              </a:defRPr>
            </a:lvl5pPr>
            <a:lvl6pPr marL="457200" algn="l" rtl="0" fontAlgn="base">
              <a:spcBef>
                <a:spcPct val="0"/>
              </a:spcBef>
              <a:spcAft>
                <a:spcPct val="0"/>
              </a:spcAft>
              <a:defRPr sz="2800" b="1" i="1">
                <a:solidFill>
                  <a:schemeClr val="tx1"/>
                </a:solidFill>
                <a:latin typeface="Verdana" panose="020B0804030504040204" pitchFamily="34" charset="0"/>
              </a:defRPr>
            </a:lvl6pPr>
            <a:lvl7pPr marL="914400" algn="l" rtl="0" fontAlgn="base">
              <a:spcBef>
                <a:spcPct val="0"/>
              </a:spcBef>
              <a:spcAft>
                <a:spcPct val="0"/>
              </a:spcAft>
              <a:defRPr sz="2800" b="1" i="1">
                <a:solidFill>
                  <a:schemeClr val="tx1"/>
                </a:solidFill>
                <a:latin typeface="Verdana" panose="020B0804030504040204" pitchFamily="34" charset="0"/>
              </a:defRPr>
            </a:lvl7pPr>
            <a:lvl8pPr marL="1371600" algn="l" rtl="0" fontAlgn="base">
              <a:spcBef>
                <a:spcPct val="0"/>
              </a:spcBef>
              <a:spcAft>
                <a:spcPct val="0"/>
              </a:spcAft>
              <a:defRPr sz="2800" b="1" i="1">
                <a:solidFill>
                  <a:schemeClr val="tx1"/>
                </a:solidFill>
                <a:latin typeface="Verdana" panose="020B0804030504040204" pitchFamily="34" charset="0"/>
              </a:defRPr>
            </a:lvl8pPr>
            <a:lvl9pPr marL="1828800" algn="l" rtl="0" fontAlgn="base">
              <a:spcBef>
                <a:spcPct val="0"/>
              </a:spcBef>
              <a:spcAft>
                <a:spcPct val="0"/>
              </a:spcAft>
              <a:defRPr sz="2800" b="1" i="1">
                <a:solidFill>
                  <a:schemeClr val="tx1"/>
                </a:solidFill>
                <a:latin typeface="Verdana" panose="020B0804030504040204" pitchFamily="34" charset="0"/>
              </a:defRPr>
            </a:lvl9pPr>
          </a:lstStyle>
          <a:p>
            <a:r>
              <a:rPr lang="en-AU" altLang="zh-CN" dirty="0" smtClean="0">
                <a:latin typeface="微软雅黑" charset="0"/>
                <a:ea typeface="微软雅黑" charset="0"/>
              </a:rPr>
              <a:t>Entropy</a:t>
            </a:r>
            <a:endParaRPr lang="en-AU" altLang="zh-CN" dirty="0" smtClean="0">
              <a:latin typeface="微软雅黑" charset="0"/>
              <a:ea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938"/>
                                        </p:tgtEl>
                                        <p:attrNameLst>
                                          <p:attrName>style.visibility</p:attrName>
                                        </p:attrNameLst>
                                      </p:cBhvr>
                                      <p:to>
                                        <p:strVal val="visible"/>
                                      </p:to>
                                    </p:set>
                                    <p:animEffect transition="in" filter="fade">
                                      <p:cBhvr>
                                        <p:cTn id="12" dur="500"/>
                                        <p:tgtEl>
                                          <p:spTgt spid="399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a:t>
            </a:r>
            <a:r>
              <a:rPr lang="zh-CN" altLang="en-US" sz="3600" dirty="0"/>
              <a:t>选择</a:t>
            </a:r>
            <a:endParaRPr lang="zh-CN" altLang="en-US" sz="3600" dirty="0"/>
          </a:p>
        </p:txBody>
      </p:sp>
      <p:sp>
        <p:nvSpPr>
          <p:cNvPr id="3" name="内容占位符 2"/>
          <p:cNvSpPr>
            <a:spLocks noGrp="1"/>
          </p:cNvSpPr>
          <p:nvPr>
            <p:ph idx="1"/>
            <p:custDataLst>
              <p:tags r:id="rId1"/>
            </p:custDataLst>
          </p:nvPr>
        </p:nvSpPr>
        <p:spPr>
          <a:xfrm>
            <a:off x="609600" y="1228725"/>
            <a:ext cx="8023225" cy="1971675"/>
          </a:xfrm>
        </p:spPr>
        <p:txBody>
          <a:bodyPr>
            <a:normAutofit fontScale="70000" lnSpcReduction="20000"/>
          </a:bodyPr>
          <a:p>
            <a:r>
              <a:rPr lang="en-AU" altLang="zh-CN" dirty="0" smtClean="0"/>
              <a:t>Exhaustive</a:t>
            </a:r>
            <a:endParaRPr lang="en-AU" altLang="zh-CN" dirty="0" smtClean="0"/>
          </a:p>
          <a:p>
            <a:pPr lvl="1">
              <a:lnSpc>
                <a:spcPct val="120000"/>
              </a:lnSpc>
            </a:pPr>
            <a:r>
              <a:rPr lang="en-AU" altLang="zh-CN" dirty="0" smtClean="0"/>
              <a:t>All possible combinations</a:t>
            </a:r>
            <a:endParaRPr lang="en-AU" altLang="zh-CN" dirty="0" smtClean="0"/>
          </a:p>
          <a:p>
            <a:pPr lvl="1"/>
            <a:endParaRPr lang="en-AU" altLang="zh-CN" dirty="0" smtClean="0"/>
          </a:p>
          <a:p>
            <a:endParaRPr lang="en-AU" altLang="zh-CN" dirty="0" smtClean="0"/>
          </a:p>
          <a:p>
            <a:endParaRPr lang="en-AU" altLang="zh-CN" dirty="0" smtClean="0"/>
          </a:p>
          <a:p>
            <a:r>
              <a:rPr lang="en-AU" altLang="zh-CN" dirty="0" smtClean="0"/>
              <a:t>Branch and Bound</a:t>
            </a:r>
            <a:endParaRPr lang="zh-CN" altLang="en-US" dirty="0"/>
          </a:p>
        </p:txBody>
      </p:sp>
      <p:graphicFrame>
        <p:nvGraphicFramePr>
          <p:cNvPr id="5" name="对象 4"/>
          <p:cNvGraphicFramePr>
            <a:graphicFrameLocks noChangeAspect="1"/>
          </p:cNvGraphicFramePr>
          <p:nvPr>
            <p:custDataLst>
              <p:tags r:id="rId2"/>
            </p:custDataLst>
          </p:nvPr>
        </p:nvGraphicFramePr>
        <p:xfrm>
          <a:off x="1449388" y="1981200"/>
          <a:ext cx="4598987" cy="609600"/>
        </p:xfrm>
        <a:graphic>
          <a:graphicData uri="http://schemas.openxmlformats.org/presentationml/2006/ole">
            <mc:AlternateContent xmlns:mc="http://schemas.openxmlformats.org/markup-compatibility/2006">
              <mc:Choice xmlns:v="urn:schemas-microsoft-com:vml" Requires="v">
                <p:oleObj spid="_x0000_s54079" name="Equation" r:id="rId3" imgW="3162300" imgH="419100" progId="Equation.3">
                  <p:embed/>
                </p:oleObj>
              </mc:Choice>
              <mc:Fallback>
                <p:oleObj name="Equation" r:id="rId3" imgW="3162300" imgH="4191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9388" y="1981200"/>
                        <a:ext cx="4598987"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custDataLst>
              <p:tags r:id="rId5"/>
            </p:custDataLst>
          </p:nvPr>
        </p:nvGraphicFramePr>
        <p:xfrm>
          <a:off x="3073400" y="5949297"/>
          <a:ext cx="3556000" cy="299103"/>
        </p:xfrm>
        <a:graphic>
          <a:graphicData uri="http://schemas.openxmlformats.org/presentationml/2006/ole">
            <mc:AlternateContent xmlns:mc="http://schemas.openxmlformats.org/markup-compatibility/2006">
              <mc:Choice xmlns:v="urn:schemas-microsoft-com:vml" Requires="v">
                <p:oleObj spid="_x0000_s54080" name="Equation" r:id="rId6" imgW="2717800" imgH="228600" progId="Equation.3">
                  <p:embed/>
                </p:oleObj>
              </mc:Choice>
              <mc:Fallback>
                <p:oleObj name="Equation" r:id="rId6" imgW="2717800" imgH="22860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3400" y="5949297"/>
                        <a:ext cx="3556000" cy="299103"/>
                      </a:xfrm>
                      <a:prstGeom prst="rect">
                        <a:avLst/>
                      </a:prstGeom>
                      <a:noFill/>
                      <a:ln w="19050">
                        <a:solidFill>
                          <a:srgbClr val="FF0000"/>
                        </a:solidFill>
                      </a:ln>
                    </p:spPr>
                  </p:pic>
                </p:oleObj>
              </mc:Fallback>
            </mc:AlternateContent>
          </a:graphicData>
        </a:graphic>
      </p:graphicFrame>
      <p:pic>
        <p:nvPicPr>
          <p:cNvPr id="53976" name="Picture 728" descr="http://songyot.ece.engr.tu.ac.th/Res2.jpg"/>
          <p:cNvPicPr>
            <a:picLocks noChangeAspect="1" noChangeArrowheads="1"/>
          </p:cNvPicPr>
          <p:nvPr>
            <p:custDataLst>
              <p:tags r:id="rId8"/>
            </p:custDataLst>
          </p:nvPr>
        </p:nvPicPr>
        <p:blipFill>
          <a:blip r:embed="rId9">
            <a:extLst>
              <a:ext uri="{28A0092B-C50C-407E-A947-70E740481C1C}">
                <a14:useLocalDpi xmlns:a14="http://schemas.microsoft.com/office/drawing/2010/main" val="0"/>
              </a:ext>
            </a:extLst>
          </a:blip>
          <a:srcRect/>
          <a:stretch>
            <a:fillRect/>
          </a:stretch>
        </p:blipFill>
        <p:spPr bwMode="auto">
          <a:xfrm>
            <a:off x="1752600" y="3124200"/>
            <a:ext cx="5486400" cy="2590800"/>
          </a:xfrm>
          <a:prstGeom prst="rect">
            <a:avLst/>
          </a:prstGeom>
          <a:noFill/>
          <a:extLst>
            <a:ext uri="{909E8E84-426E-40DD-AFC4-6F175D3DCCD1}">
              <a14:hiddenFill xmlns:a14="http://schemas.microsoft.com/office/drawing/2010/main">
                <a:solidFill>
                  <a:srgbClr val="FFFFFF"/>
                </a:solidFill>
              </a14:hiddenFill>
            </a:ext>
          </a:extLst>
        </p:spPr>
      </p:pic>
      <p:sp>
        <p:nvSpPr>
          <p:cNvPr id="6" name="乘号 5"/>
          <p:cNvSpPr/>
          <p:nvPr>
            <p:custDataLst>
              <p:tags r:id="rId10"/>
            </p:custDataLst>
          </p:nvPr>
        </p:nvSpPr>
        <p:spPr>
          <a:xfrm>
            <a:off x="5035617" y="3980046"/>
            <a:ext cx="1219200" cy="1524000"/>
          </a:xfrm>
          <a:prstGeom prst="mathMultiply">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charset="0"/>
              <a:ea typeface="微软雅黑" charset="0"/>
            </a:endParaRPr>
          </a:p>
        </p:txBody>
      </p:sp>
      <p:sp>
        <p:nvSpPr>
          <p:cNvPr id="8" name="椭圆 7"/>
          <p:cNvSpPr/>
          <p:nvPr>
            <p:custDataLst>
              <p:tags r:id="rId11"/>
            </p:custDataLst>
          </p:nvPr>
        </p:nvSpPr>
        <p:spPr>
          <a:xfrm>
            <a:off x="4267200" y="5257800"/>
            <a:ext cx="457200" cy="60960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charset="0"/>
              <a:ea typeface="微软雅黑" charset="0"/>
            </a:endParaRPr>
          </a:p>
        </p:txBody>
      </p:sp>
      <p:sp>
        <p:nvSpPr>
          <p:cNvPr id="10" name="椭圆 9"/>
          <p:cNvSpPr/>
          <p:nvPr>
            <p:custDataLst>
              <p:tags r:id="rId12"/>
            </p:custDataLst>
          </p:nvPr>
        </p:nvSpPr>
        <p:spPr>
          <a:xfrm>
            <a:off x="5410200" y="3675246"/>
            <a:ext cx="533400" cy="60960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charset="0"/>
              <a:ea typeface="微软雅黑"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10"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a:t>
            </a:r>
            <a:r>
              <a:rPr lang="zh-CN" altLang="en-US" sz="3600" dirty="0"/>
              <a:t>选择</a:t>
            </a:r>
            <a:endParaRPr lang="zh-CN" altLang="en-US" sz="3600" dirty="0"/>
          </a:p>
        </p:txBody>
      </p:sp>
      <p:sp>
        <p:nvSpPr>
          <p:cNvPr id="3" name="内容占位符 2"/>
          <p:cNvSpPr>
            <a:spLocks noGrp="1"/>
          </p:cNvSpPr>
          <p:nvPr>
            <p:ph idx="1"/>
            <p:custDataLst>
              <p:tags r:id="rId1"/>
            </p:custDataLst>
          </p:nvPr>
        </p:nvSpPr>
        <p:spPr>
          <a:xfrm>
            <a:off x="584835" y="1228725"/>
            <a:ext cx="8047990" cy="4745355"/>
          </a:xfrm>
        </p:spPr>
        <p:txBody>
          <a:bodyPr>
            <a:normAutofit fontScale="52500" lnSpcReduction="20000"/>
          </a:bodyPr>
          <a:p>
            <a:r>
              <a:rPr lang="en-AU" altLang="zh-CN" dirty="0" smtClean="0"/>
              <a:t>Top K Individual Features</a:t>
            </a:r>
            <a:endParaRPr lang="en-AU" altLang="zh-CN" dirty="0" smtClean="0"/>
          </a:p>
          <a:p>
            <a:pPr marL="0" indent="0">
              <a:buNone/>
            </a:pPr>
            <a:endParaRPr lang="en-AU" altLang="zh-CN" dirty="0" smtClean="0"/>
          </a:p>
          <a:p>
            <a:pPr marL="0" indent="0">
              <a:buNone/>
            </a:pPr>
            <a:endParaRPr lang="en-AU" altLang="zh-CN" dirty="0"/>
          </a:p>
          <a:p>
            <a:pPr marL="0" indent="0">
              <a:buNone/>
            </a:pPr>
            <a:endParaRPr lang="en-AU" altLang="zh-CN" dirty="0"/>
          </a:p>
          <a:p>
            <a:r>
              <a:rPr lang="en-AU" altLang="zh-CN" dirty="0" smtClean="0"/>
              <a:t>Sequential Forward Selection</a:t>
            </a:r>
            <a:endParaRPr lang="en-AU" altLang="zh-CN" dirty="0" smtClean="0"/>
          </a:p>
          <a:p>
            <a:endParaRPr lang="en-AU" altLang="zh-CN" dirty="0" smtClean="0"/>
          </a:p>
          <a:p>
            <a:endParaRPr lang="en-AU" altLang="zh-CN" dirty="0" smtClean="0"/>
          </a:p>
          <a:p>
            <a:endParaRPr lang="en-AU" altLang="zh-CN" dirty="0" smtClean="0"/>
          </a:p>
          <a:p>
            <a:r>
              <a:rPr lang="en-AU" altLang="zh-CN" dirty="0" smtClean="0"/>
              <a:t>Sequential Backward Selection</a:t>
            </a:r>
            <a:endParaRPr lang="en-AU" altLang="zh-CN" dirty="0" smtClean="0"/>
          </a:p>
          <a:p>
            <a:endParaRPr lang="en-AU" altLang="zh-CN" dirty="0" smtClean="0"/>
          </a:p>
          <a:p>
            <a:endParaRPr lang="en-AU" altLang="zh-CN" dirty="0" smtClean="0"/>
          </a:p>
          <a:p>
            <a:endParaRPr lang="en-AU" altLang="zh-CN" dirty="0" smtClean="0"/>
          </a:p>
          <a:p>
            <a:pPr>
              <a:lnSpc>
                <a:spcPct val="120000"/>
              </a:lnSpc>
            </a:pPr>
            <a:r>
              <a:rPr lang="en-AU" altLang="zh-CN" dirty="0" smtClean="0"/>
              <a:t>Optimization Algorithms</a:t>
            </a:r>
            <a:endParaRPr lang="en-AU" altLang="zh-CN" dirty="0" smtClean="0"/>
          </a:p>
          <a:p>
            <a:pPr lvl="1">
              <a:lnSpc>
                <a:spcPct val="120000"/>
              </a:lnSpc>
            </a:pPr>
            <a:r>
              <a:rPr lang="en-AU" altLang="zh-CN" dirty="0" smtClean="0"/>
              <a:t>Simulated Annealing</a:t>
            </a:r>
            <a:endParaRPr lang="en-AU" altLang="zh-CN" dirty="0" smtClean="0"/>
          </a:p>
          <a:p>
            <a:pPr lvl="1">
              <a:lnSpc>
                <a:spcPct val="120000"/>
              </a:lnSpc>
            </a:pPr>
            <a:r>
              <a:rPr lang="en-AU" altLang="zh-CN" dirty="0" smtClean="0"/>
              <a:t>Tabu Search</a:t>
            </a:r>
            <a:endParaRPr lang="en-AU" altLang="zh-CN" dirty="0" smtClean="0"/>
          </a:p>
          <a:p>
            <a:pPr lvl="1">
              <a:lnSpc>
                <a:spcPct val="120000"/>
              </a:lnSpc>
            </a:pPr>
            <a:r>
              <a:rPr lang="en-AU" altLang="zh-CN" dirty="0" smtClean="0"/>
              <a:t>Genetic Algorithms</a:t>
            </a:r>
            <a:endParaRPr lang="zh-CN" altLang="en-US" dirty="0"/>
          </a:p>
        </p:txBody>
      </p:sp>
      <p:graphicFrame>
        <p:nvGraphicFramePr>
          <p:cNvPr id="6" name="对象 5"/>
          <p:cNvGraphicFramePr>
            <a:graphicFrameLocks noChangeAspect="1"/>
          </p:cNvGraphicFramePr>
          <p:nvPr>
            <p:custDataLst>
              <p:tags r:id="rId2"/>
            </p:custDataLst>
          </p:nvPr>
        </p:nvGraphicFramePr>
        <p:xfrm>
          <a:off x="1085850" y="2564765"/>
          <a:ext cx="6518275" cy="381000"/>
        </p:xfrm>
        <a:graphic>
          <a:graphicData uri="http://schemas.openxmlformats.org/presentationml/2006/ole">
            <mc:AlternateContent xmlns:mc="http://schemas.openxmlformats.org/markup-compatibility/2006">
              <mc:Choice xmlns:v="urn:schemas-microsoft-com:vml" Requires="v">
                <p:oleObj spid="_x0000_s74973" name="公式" r:id="rId3" imgW="93878400" imgH="5486400" progId="Equation.3">
                  <p:embed/>
                </p:oleObj>
              </mc:Choice>
              <mc:Fallback>
                <p:oleObj name="公式" r:id="rId3" imgW="93878400" imgH="5486400" progId="Equation.3">
                  <p:embed/>
                  <p:pic>
                    <p:nvPicPr>
                      <p:cNvPr id="0" name="Picture 3"/>
                      <p:cNvPicPr>
                        <a:picLocks noChangeAspect="1" noChangeArrowheads="1"/>
                      </p:cNvPicPr>
                      <p:nvPr/>
                    </p:nvPicPr>
                    <p:blipFill>
                      <a:blip r:embed="rId4"/>
                      <a:srcRect/>
                      <a:stretch>
                        <a:fillRect/>
                      </a:stretch>
                    </p:blipFill>
                    <p:spPr bwMode="auto">
                      <a:xfrm>
                        <a:off x="1085850" y="2564765"/>
                        <a:ext cx="6518275" cy="381000"/>
                      </a:xfrm>
                      <a:prstGeom prst="rect">
                        <a:avLst/>
                      </a:prstGeom>
                      <a:noFill/>
                    </p:spPr>
                  </p:pic>
                </p:oleObj>
              </mc:Fallback>
            </mc:AlternateContent>
          </a:graphicData>
        </a:graphic>
      </p:graphicFrame>
      <p:graphicFrame>
        <p:nvGraphicFramePr>
          <p:cNvPr id="7" name="对象 6"/>
          <p:cNvGraphicFramePr>
            <a:graphicFrameLocks noChangeAspect="1"/>
          </p:cNvGraphicFramePr>
          <p:nvPr>
            <p:custDataLst>
              <p:tags r:id="rId5"/>
            </p:custDataLst>
          </p:nvPr>
        </p:nvGraphicFramePr>
        <p:xfrm>
          <a:off x="1085850" y="3644900"/>
          <a:ext cx="6143625" cy="381000"/>
        </p:xfrm>
        <a:graphic>
          <a:graphicData uri="http://schemas.openxmlformats.org/presentationml/2006/ole">
            <mc:AlternateContent xmlns:mc="http://schemas.openxmlformats.org/markup-compatibility/2006">
              <mc:Choice xmlns:v="urn:schemas-microsoft-com:vml" Requires="v">
                <p:oleObj spid="_x0000_s74974" name="公式" r:id="rId6" imgW="90525600" imgH="5486400" progId="Equation.3">
                  <p:embed/>
                </p:oleObj>
              </mc:Choice>
              <mc:Fallback>
                <p:oleObj name="公式" r:id="rId6" imgW="90525600" imgH="5486400" progId="Equation.3">
                  <p:embed/>
                  <p:pic>
                    <p:nvPicPr>
                      <p:cNvPr id="0" name="Picture 4"/>
                      <p:cNvPicPr>
                        <a:picLocks noChangeAspect="1" noChangeArrowheads="1"/>
                      </p:cNvPicPr>
                      <p:nvPr/>
                    </p:nvPicPr>
                    <p:blipFill>
                      <a:blip r:embed="rId7"/>
                      <a:srcRect/>
                      <a:stretch>
                        <a:fillRect/>
                      </a:stretch>
                    </p:blipFill>
                    <p:spPr bwMode="auto">
                      <a:xfrm>
                        <a:off x="1085850" y="3644900"/>
                        <a:ext cx="6143625" cy="381000"/>
                      </a:xfrm>
                      <a:prstGeom prst="rect">
                        <a:avLst/>
                      </a:prstGeom>
                      <a:noFill/>
                    </p:spPr>
                  </p:pic>
                </p:oleObj>
              </mc:Fallback>
            </mc:AlternateContent>
          </a:graphicData>
        </a:graphic>
      </p:graphicFrame>
      <p:graphicFrame>
        <p:nvGraphicFramePr>
          <p:cNvPr id="8" name="对象 7"/>
          <p:cNvGraphicFramePr>
            <a:graphicFrameLocks noChangeAspect="1"/>
          </p:cNvGraphicFramePr>
          <p:nvPr>
            <p:custDataLst>
              <p:tags r:id="rId8"/>
            </p:custDataLst>
          </p:nvPr>
        </p:nvGraphicFramePr>
        <p:xfrm>
          <a:off x="1115694" y="1628775"/>
          <a:ext cx="6686551" cy="381000"/>
        </p:xfrm>
        <a:graphic>
          <a:graphicData uri="http://schemas.openxmlformats.org/presentationml/2006/ole">
            <mc:AlternateContent xmlns:mc="http://schemas.openxmlformats.org/markup-compatibility/2006">
              <mc:Choice xmlns:v="urn:schemas-microsoft-com:vml" Requires="v">
                <p:oleObj spid="_x0000_s74975" name="公式" r:id="rId9" imgW="96316800" imgH="5486400" progId="Equation.3">
                  <p:embed/>
                </p:oleObj>
              </mc:Choice>
              <mc:Fallback>
                <p:oleObj name="公式" r:id="rId9" imgW="96316800" imgH="5486400" progId="Equation.3">
                  <p:embed/>
                  <p:pic>
                    <p:nvPicPr>
                      <p:cNvPr id="0" name="对象 5"/>
                      <p:cNvPicPr>
                        <a:picLocks noChangeAspect="1" noChangeArrowheads="1"/>
                      </p:cNvPicPr>
                      <p:nvPr/>
                    </p:nvPicPr>
                    <p:blipFill>
                      <a:blip r:embed="rId10"/>
                      <a:srcRect/>
                      <a:stretch>
                        <a:fillRect/>
                      </a:stretch>
                    </p:blipFill>
                    <p:spPr bwMode="auto">
                      <a:xfrm>
                        <a:off x="1115694" y="1628775"/>
                        <a:ext cx="6686551" cy="381000"/>
                      </a:xfrm>
                      <a:prstGeom prst="rect">
                        <a:avLst/>
                      </a:prstGeom>
                      <a:noFill/>
                      <a:ln>
                        <a:noFill/>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fade">
                                      <p:cBhvr>
                                        <p:cTn id="7" dur="500"/>
                                        <p:tgtEl>
                                          <p:spTgt spid="3">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294967295" end="4294967295"/>
                                            </p:txEl>
                                          </p:spTgt>
                                        </p:tgtEl>
                                        <p:attrNameLst>
                                          <p:attrName>style.visibility</p:attrName>
                                        </p:attrNameLst>
                                      </p:cBhvr>
                                      <p:to>
                                        <p:strVal val="visible"/>
                                      </p:to>
                                    </p:set>
                                    <p:animEffect transition="in" filter="fade">
                                      <p:cBhvr>
                                        <p:cTn id="12" dur="500"/>
                                        <p:tgtEl>
                                          <p:spTgt spid="3">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animEffect transition="in" filter="fade">
                                      <p:cBhvr>
                                        <p:cTn id="17" dur="500"/>
                                        <p:tgtEl>
                                          <p:spTgt spid="3">
                                            <p:txEl>
                                              <p:pRg st="12" end="1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13" end="13"/>
                                            </p:txEl>
                                          </p:spTgt>
                                        </p:tgtEl>
                                        <p:attrNameLst>
                                          <p:attrName>style.visibility</p:attrName>
                                        </p:attrNameLst>
                                      </p:cBhvr>
                                      <p:to>
                                        <p:strVal val="visible"/>
                                      </p:to>
                                    </p:set>
                                    <p:animEffect transition="in" filter="fade">
                                      <p:cBhvr>
                                        <p:cTn id="20" dur="500"/>
                                        <p:tgtEl>
                                          <p:spTgt spid="3">
                                            <p:txEl>
                                              <p:pRg st="13" end="1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animEffect transition="in" filter="fade">
                                      <p:cBhvr>
                                        <p:cTn id="23" dur="500"/>
                                        <p:tgtEl>
                                          <p:spTgt spid="3">
                                            <p:txEl>
                                              <p:pRg st="14" end="1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15" end="15"/>
                                            </p:txEl>
                                          </p:spTgt>
                                        </p:tgtEl>
                                        <p:attrNameLst>
                                          <p:attrName>style.visibility</p:attrName>
                                        </p:attrNameLst>
                                      </p:cBhvr>
                                      <p:to>
                                        <p:strVal val="visible"/>
                                      </p:to>
                                    </p:set>
                                    <p:animEffect transition="in" filter="fade">
                                      <p:cBhvr>
                                        <p:cTn id="26"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a:t>
            </a:r>
            <a:r>
              <a:rPr lang="zh-CN" altLang="en-US" sz="3600" dirty="0"/>
              <a:t>提取</a:t>
            </a:r>
            <a:endParaRPr lang="zh-CN" altLang="en-US" sz="3600" dirty="0"/>
          </a:p>
        </p:txBody>
      </p:sp>
      <p:pic>
        <p:nvPicPr>
          <p:cNvPr id="73730" name="Picture 2"/>
          <p:cNvPicPr>
            <a:picLocks noChangeAspect="1" noChangeArrowheads="1"/>
          </p:cNvPicPr>
          <p:nvPr>
            <p:custDataLst>
              <p:tags r:id="rId1"/>
            </p:custDataLst>
          </p:nvPr>
        </p:nvPicPr>
        <p:blipFill>
          <a:blip r:embed="rId2"/>
          <a:srcRect/>
          <a:stretch>
            <a:fillRect/>
          </a:stretch>
        </p:blipFill>
        <p:spPr bwMode="auto">
          <a:xfrm>
            <a:off x="685800" y="2178137"/>
            <a:ext cx="2926080" cy="2926080"/>
          </a:xfrm>
          <a:prstGeom prst="rect">
            <a:avLst/>
          </a:prstGeom>
          <a:noFill/>
          <a:ln w="9525">
            <a:noFill/>
            <a:miter lim="800000"/>
            <a:headEnd/>
            <a:tailEnd/>
          </a:ln>
          <a:effectLst/>
        </p:spPr>
      </p:pic>
      <p:pic>
        <p:nvPicPr>
          <p:cNvPr id="73732" name="Picture 4" descr="http://fileadmin.cs.lth.se/cs/Personal/Calle_Lejdfors/pyip/edges.png"/>
          <p:cNvPicPr>
            <a:picLocks noChangeAspect="1" noChangeArrowheads="1"/>
          </p:cNvPicPr>
          <p:nvPr>
            <p:custDataLst>
              <p:tags r:id="rId3"/>
            </p:custDataLst>
          </p:nvPr>
        </p:nvPicPr>
        <p:blipFill>
          <a:blip r:embed="rId4"/>
          <a:srcRect/>
          <a:stretch>
            <a:fillRect/>
          </a:stretch>
        </p:blipFill>
        <p:spPr bwMode="auto">
          <a:xfrm>
            <a:off x="5414738" y="2178137"/>
            <a:ext cx="3119662" cy="2927263"/>
          </a:xfrm>
          <a:prstGeom prst="rect">
            <a:avLst/>
          </a:prstGeom>
          <a:noFill/>
        </p:spPr>
      </p:pic>
      <p:sp>
        <p:nvSpPr>
          <p:cNvPr id="7" name="Right Arrow 6"/>
          <p:cNvSpPr/>
          <p:nvPr>
            <p:custDataLst>
              <p:tags r:id="rId5"/>
            </p:custDataLst>
          </p:nvPr>
        </p:nvSpPr>
        <p:spPr>
          <a:xfrm>
            <a:off x="3886200" y="3625937"/>
            <a:ext cx="1371600" cy="381000"/>
          </a:xfrm>
          <a:prstGeom prst="rightArrow">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3732"/>
                                        </p:tgtEl>
                                        <p:attrNameLst>
                                          <p:attrName>style.visibility</p:attrName>
                                        </p:attrNameLst>
                                      </p:cBhvr>
                                      <p:to>
                                        <p:strVal val="visible"/>
                                      </p:to>
                                    </p:set>
                                    <p:animEffect transition="in" filter="wipe(left)">
                                      <p:cBhvr>
                                        <p:cTn id="11" dur="500"/>
                                        <p:tgtEl>
                                          <p:spTgt spid="73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特征提取</a:t>
            </a:r>
            <a:endParaRPr lang="zh-CN" altLang="en-US" sz="3600" dirty="0"/>
          </a:p>
        </p:txBody>
      </p:sp>
      <p:pic>
        <p:nvPicPr>
          <p:cNvPr id="2" name="图片 1"/>
          <p:cNvPicPr>
            <a:picLocks noChangeAspect="1"/>
          </p:cNvPicPr>
          <p:nvPr>
            <p:custDataLst>
              <p:tags r:id="rId1"/>
            </p:custDataLst>
          </p:nvPr>
        </p:nvPicPr>
        <p:blipFill>
          <a:blip r:embed="rId2"/>
          <a:stretch>
            <a:fillRect/>
          </a:stretch>
        </p:blipFill>
        <p:spPr>
          <a:xfrm>
            <a:off x="395605" y="2421255"/>
            <a:ext cx="2143125" cy="2143125"/>
          </a:xfrm>
          <a:prstGeom prst="rect">
            <a:avLst/>
          </a:prstGeom>
        </p:spPr>
      </p:pic>
      <p:sp>
        <p:nvSpPr>
          <p:cNvPr id="7" name="Right Arrow 6"/>
          <p:cNvSpPr/>
          <p:nvPr>
            <p:custDataLst>
              <p:tags r:id="rId3"/>
            </p:custDataLst>
          </p:nvPr>
        </p:nvSpPr>
        <p:spPr>
          <a:xfrm>
            <a:off x="2339975" y="3244850"/>
            <a:ext cx="973455" cy="381000"/>
          </a:xfrm>
          <a:prstGeom prst="rightArrow">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atin typeface="微软雅黑" charset="0"/>
              <a:ea typeface="微软雅黑" charset="0"/>
            </a:endParaRPr>
          </a:p>
        </p:txBody>
      </p:sp>
      <p:pic>
        <p:nvPicPr>
          <p:cNvPr id="28" name="图片 28"/>
          <p:cNvPicPr>
            <a:picLocks noChangeAspect="1"/>
          </p:cNvPicPr>
          <p:nvPr>
            <p:custDataLst>
              <p:tags r:id="rId4"/>
            </p:custDataLst>
          </p:nvPr>
        </p:nvPicPr>
        <p:blipFill>
          <a:blip r:embed="rId5"/>
          <a:stretch>
            <a:fillRect/>
          </a:stretch>
        </p:blipFill>
        <p:spPr>
          <a:xfrm>
            <a:off x="3780155" y="1484630"/>
            <a:ext cx="4019550" cy="1553210"/>
          </a:xfrm>
          <a:prstGeom prst="rect">
            <a:avLst/>
          </a:prstGeom>
        </p:spPr>
      </p:pic>
      <p:sp>
        <p:nvSpPr>
          <p:cNvPr id="100" name="文本框 99"/>
          <p:cNvSpPr txBox="1"/>
          <p:nvPr/>
        </p:nvSpPr>
        <p:spPr>
          <a:xfrm>
            <a:off x="2987675" y="1052830"/>
            <a:ext cx="5970270" cy="368300"/>
          </a:xfrm>
          <a:prstGeom prst="rect">
            <a:avLst/>
          </a:prstGeom>
          <a:noFill/>
          <a:ln w="9525">
            <a:noFill/>
          </a:ln>
        </p:spPr>
        <p:txBody>
          <a:bodyPr wrap="square">
            <a:spAutoFit/>
          </a:bodyPr>
          <a:p>
            <a:pPr marL="0" indent="0" algn="l"/>
            <a:r>
              <a:rPr lang="zh-CN" sz="1800" b="0">
                <a:latin typeface="微软雅黑" charset="0"/>
                <a:ea typeface="微软雅黑" charset="0"/>
                <a:cs typeface="微软雅黑" charset="0"/>
              </a:rPr>
              <a:t>能够访问或操作用户的敏感数据、设备资源或功能的</a:t>
            </a:r>
            <a:r>
              <a:rPr lang="en-US" sz="1800" b="0">
                <a:latin typeface="微软雅黑" charset="0"/>
                <a:ea typeface="微软雅黑" charset="0"/>
                <a:cs typeface="微软雅黑" charset="0"/>
              </a:rPr>
              <a:t>API</a:t>
            </a:r>
            <a:endParaRPr lang="en-US" altLang="en-US" sz="1800" b="0">
              <a:latin typeface="微软雅黑" charset="0"/>
              <a:ea typeface="微软雅黑" charset="0"/>
              <a:cs typeface="微软雅黑" charset="0"/>
            </a:endParaRPr>
          </a:p>
        </p:txBody>
      </p:sp>
      <p:sp>
        <p:nvSpPr>
          <p:cNvPr id="3" name="文本框 2"/>
          <p:cNvSpPr txBox="1"/>
          <p:nvPr/>
        </p:nvSpPr>
        <p:spPr>
          <a:xfrm>
            <a:off x="3275965" y="3213100"/>
            <a:ext cx="5080000" cy="645160"/>
          </a:xfrm>
          <a:prstGeom prst="rect">
            <a:avLst/>
          </a:prstGeom>
          <a:noFill/>
          <a:ln w="9525">
            <a:noFill/>
          </a:ln>
        </p:spPr>
        <p:txBody>
          <a:bodyPr>
            <a:spAutoFit/>
          </a:bodyPr>
          <a:p>
            <a:pPr marL="0" indent="0"/>
            <a:r>
              <a:rPr lang="zh-CN" sz="1800" b="0">
                <a:latin typeface="微软雅黑" charset="0"/>
                <a:ea typeface="微软雅黑" charset="0"/>
                <a:cs typeface="宋体" charset="0"/>
              </a:rPr>
              <a:t>与系统权限、敏感操作、或潜在安全隐患相关的字符串</a:t>
            </a:r>
            <a:endParaRPr lang="zh-CN" altLang="en-US" sz="1800" b="0">
              <a:latin typeface="微软雅黑" charset="0"/>
              <a:ea typeface="微软雅黑" charset="0"/>
              <a:cs typeface="宋体" charset="0"/>
            </a:endParaRPr>
          </a:p>
        </p:txBody>
      </p:sp>
      <p:pic>
        <p:nvPicPr>
          <p:cNvPr id="4" name="图片 27"/>
          <p:cNvPicPr>
            <a:picLocks noChangeAspect="1"/>
          </p:cNvPicPr>
          <p:nvPr>
            <p:custDataLst>
              <p:tags r:id="rId6"/>
            </p:custDataLst>
          </p:nvPr>
        </p:nvPicPr>
        <p:blipFill>
          <a:blip r:embed="rId7"/>
          <a:stretch>
            <a:fillRect/>
          </a:stretch>
        </p:blipFill>
        <p:spPr>
          <a:xfrm>
            <a:off x="3707765" y="3861435"/>
            <a:ext cx="4287520" cy="19367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特征提取</a:t>
            </a:r>
            <a:endParaRPr lang="zh-CN" altLang="en-US" sz="3600" dirty="0"/>
          </a:p>
        </p:txBody>
      </p:sp>
      <p:pic>
        <p:nvPicPr>
          <p:cNvPr id="2" name="图片 1"/>
          <p:cNvPicPr>
            <a:picLocks noChangeAspect="1"/>
          </p:cNvPicPr>
          <p:nvPr>
            <p:custDataLst>
              <p:tags r:id="rId1"/>
            </p:custDataLst>
          </p:nvPr>
        </p:nvPicPr>
        <p:blipFill>
          <a:blip r:embed="rId2"/>
          <a:stretch>
            <a:fillRect/>
          </a:stretch>
        </p:blipFill>
        <p:spPr>
          <a:xfrm>
            <a:off x="395605" y="2421255"/>
            <a:ext cx="2143125" cy="2143125"/>
          </a:xfrm>
          <a:prstGeom prst="rect">
            <a:avLst/>
          </a:prstGeom>
        </p:spPr>
      </p:pic>
      <p:sp>
        <p:nvSpPr>
          <p:cNvPr id="7" name="Right Arrow 6"/>
          <p:cNvSpPr/>
          <p:nvPr>
            <p:custDataLst>
              <p:tags r:id="rId3"/>
            </p:custDataLst>
          </p:nvPr>
        </p:nvSpPr>
        <p:spPr>
          <a:xfrm>
            <a:off x="2339975" y="3244850"/>
            <a:ext cx="973455" cy="381000"/>
          </a:xfrm>
          <a:prstGeom prst="rightArrow">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atin typeface="微软雅黑" charset="0"/>
              <a:ea typeface="微软雅黑" charset="0"/>
            </a:endParaRPr>
          </a:p>
        </p:txBody>
      </p:sp>
      <p:sp>
        <p:nvSpPr>
          <p:cNvPr id="5" name="文本框 4"/>
          <p:cNvSpPr txBox="1"/>
          <p:nvPr/>
        </p:nvSpPr>
        <p:spPr>
          <a:xfrm>
            <a:off x="2987675" y="1196975"/>
            <a:ext cx="5080000" cy="368300"/>
          </a:xfrm>
          <a:prstGeom prst="rect">
            <a:avLst/>
          </a:prstGeom>
          <a:noFill/>
          <a:ln w="9525">
            <a:noFill/>
          </a:ln>
        </p:spPr>
        <p:txBody>
          <a:bodyPr>
            <a:spAutoFit/>
          </a:bodyPr>
          <a:p>
            <a:pPr marL="0" indent="0"/>
            <a:r>
              <a:rPr lang="zh-CN" sz="1800" b="0">
                <a:latin typeface="微软雅黑" charset="0"/>
                <a:ea typeface="微软雅黑" charset="0"/>
                <a:cs typeface="宋体" charset="0"/>
              </a:rPr>
              <a:t>含有广告信息的页面截图</a:t>
            </a:r>
            <a:endParaRPr lang="zh-CN" altLang="en-US" sz="1800" b="0">
              <a:latin typeface="微软雅黑" charset="0"/>
              <a:ea typeface="微软雅黑" charset="0"/>
              <a:cs typeface="宋体" charset="0"/>
            </a:endParaRPr>
          </a:p>
        </p:txBody>
      </p:sp>
      <p:pic>
        <p:nvPicPr>
          <p:cNvPr id="29" name="图片 16"/>
          <p:cNvPicPr>
            <a:picLocks noChangeAspect="1"/>
          </p:cNvPicPr>
          <p:nvPr>
            <p:custDataLst>
              <p:tags r:id="rId4"/>
            </p:custDataLst>
          </p:nvPr>
        </p:nvPicPr>
        <p:blipFill>
          <a:blip r:embed="rId5" cstate="print">
            <a:extLst>
              <a:ext uri="{28A0092B-C50C-407E-A947-70E740481C1C}">
                <a14:useLocalDpi xmlns:a14="http://schemas.microsoft.com/office/drawing/2010/main" val="0"/>
              </a:ext>
            </a:extLst>
          </a:blip>
          <a:srcRect t="6425" b="3606"/>
          <a:stretch>
            <a:fillRect/>
          </a:stretch>
        </p:blipFill>
        <p:spPr>
          <a:xfrm>
            <a:off x="4283710" y="1917065"/>
            <a:ext cx="2345690" cy="4394835"/>
          </a:xfrm>
          <a:prstGeom prst="rect">
            <a:avLst/>
          </a:prstGeom>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特征提取</a:t>
            </a:r>
            <a:endParaRPr lang="zh-CN" altLang="en-US" sz="3600" dirty="0"/>
          </a:p>
        </p:txBody>
      </p:sp>
      <p:pic>
        <p:nvPicPr>
          <p:cNvPr id="2" name="图片 1"/>
          <p:cNvPicPr>
            <a:picLocks noChangeAspect="1"/>
          </p:cNvPicPr>
          <p:nvPr>
            <p:custDataLst>
              <p:tags r:id="rId1"/>
            </p:custDataLst>
          </p:nvPr>
        </p:nvPicPr>
        <p:blipFill>
          <a:blip r:embed="rId2"/>
          <a:stretch>
            <a:fillRect/>
          </a:stretch>
        </p:blipFill>
        <p:spPr>
          <a:xfrm>
            <a:off x="395605" y="2421255"/>
            <a:ext cx="2143125" cy="2143125"/>
          </a:xfrm>
          <a:prstGeom prst="rect">
            <a:avLst/>
          </a:prstGeom>
        </p:spPr>
      </p:pic>
      <p:sp>
        <p:nvSpPr>
          <p:cNvPr id="7" name="Right Arrow 6"/>
          <p:cNvSpPr/>
          <p:nvPr>
            <p:custDataLst>
              <p:tags r:id="rId3"/>
            </p:custDataLst>
          </p:nvPr>
        </p:nvSpPr>
        <p:spPr>
          <a:xfrm>
            <a:off x="2339975" y="3244850"/>
            <a:ext cx="973455" cy="381000"/>
          </a:xfrm>
          <a:prstGeom prst="rightArrow">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atin typeface="微软雅黑" charset="0"/>
              <a:ea typeface="微软雅黑" charset="0"/>
            </a:endParaRPr>
          </a:p>
        </p:txBody>
      </p:sp>
      <p:pic>
        <p:nvPicPr>
          <p:cNvPr id="30" name="图片 30"/>
          <p:cNvPicPr>
            <a:picLocks noChangeAspect="1"/>
          </p:cNvPicPr>
          <p:nvPr>
            <p:custDataLst>
              <p:tags r:id="rId4"/>
            </p:custDataLst>
          </p:nvPr>
        </p:nvPicPr>
        <p:blipFill>
          <a:blip r:embed="rId5"/>
          <a:stretch>
            <a:fillRect/>
          </a:stretch>
        </p:blipFill>
        <p:spPr>
          <a:xfrm>
            <a:off x="3491865" y="2853055"/>
            <a:ext cx="4773295" cy="1982470"/>
          </a:xfrm>
          <a:prstGeom prst="rect">
            <a:avLst/>
          </a:prstGeom>
        </p:spPr>
      </p:pic>
      <p:sp>
        <p:nvSpPr>
          <p:cNvPr id="100" name="文本框 99"/>
          <p:cNvSpPr txBox="1"/>
          <p:nvPr/>
        </p:nvSpPr>
        <p:spPr>
          <a:xfrm>
            <a:off x="3275965" y="2132965"/>
            <a:ext cx="5080000" cy="398780"/>
          </a:xfrm>
          <a:prstGeom prst="rect">
            <a:avLst/>
          </a:prstGeom>
          <a:noFill/>
          <a:ln w="9525">
            <a:noFill/>
          </a:ln>
        </p:spPr>
        <p:txBody>
          <a:bodyPr>
            <a:spAutoFit/>
          </a:bodyPr>
          <a:p>
            <a:pPr marL="0" indent="0"/>
            <a:r>
              <a:rPr lang="zh-CN" sz="2000" b="0">
                <a:latin typeface="微软雅黑" charset="0"/>
                <a:ea typeface="微软雅黑" charset="0"/>
                <a:cs typeface="宋体" charset="0"/>
              </a:rPr>
              <a:t>控件的属性、状态以及与其他控件的关系</a:t>
            </a:r>
            <a:endParaRPr lang="zh-CN" altLang="en-US" sz="2000" b="0">
              <a:latin typeface="微软雅黑" charset="0"/>
              <a:ea typeface="微软雅黑" charset="0"/>
              <a:cs typeface="宋体"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a:spLocks noGrp="1" noChangeArrowheads="1"/>
          </p:cNvSpPr>
          <p:nvPr>
            <p:ph type="title"/>
          </p:nvPr>
        </p:nvSpPr>
        <p:spPr>
          <a:xfrm>
            <a:off x="528321" y="188640"/>
            <a:ext cx="8001000" cy="636067"/>
          </a:xfrm>
        </p:spPr>
        <p:txBody>
          <a:bodyPr/>
          <a:lstStyle/>
          <a:p>
            <a:pPr eaLnBrk="1" fontAlgn="auto" hangingPunct="1">
              <a:spcAft>
                <a:spcPts val="0"/>
              </a:spcAft>
              <a:defRPr/>
            </a:pPr>
            <a:r>
              <a:rPr lang="zh-CN" altLang="en-US" sz="3600" dirty="0"/>
              <a:t>特征降</a:t>
            </a:r>
            <a:r>
              <a:rPr lang="zh-CN" altLang="en-US" sz="3600" dirty="0"/>
              <a:t>维</a:t>
            </a:r>
            <a:endParaRPr lang="zh-CN" altLang="en-US" sz="3600" dirty="0"/>
          </a:p>
        </p:txBody>
      </p:sp>
      <p:pic>
        <p:nvPicPr>
          <p:cNvPr id="5" name="Picture 1" descr="http://www.rspb.org.uk/Images/golden%20eagle_300_tcm9-139839.jpg"/>
          <p:cNvPicPr/>
          <p:nvPr>
            <p:custDataLst>
              <p:tags r:id="rId1"/>
            </p:custDataLst>
          </p:nvPr>
        </p:nvPicPr>
        <p:blipFill>
          <a:blip r:embed="rId2"/>
          <a:srcRect/>
          <a:stretch>
            <a:fillRect/>
          </a:stretch>
        </p:blipFill>
        <p:spPr bwMode="auto">
          <a:xfrm>
            <a:off x="762000" y="1143000"/>
            <a:ext cx="2855595" cy="3019425"/>
          </a:xfrm>
          <a:prstGeom prst="rect">
            <a:avLst/>
          </a:prstGeom>
          <a:noFill/>
          <a:ln w="9525">
            <a:noFill/>
            <a:miter lim="800000"/>
            <a:headEnd/>
            <a:tailEnd/>
          </a:ln>
        </p:spPr>
      </p:pic>
      <p:pic>
        <p:nvPicPr>
          <p:cNvPr id="6" name="Picture 4" descr="http://www.doe-mbi.ucla.edu/~parag/multivar/images/torches.gif"/>
          <p:cNvPicPr/>
          <p:nvPr>
            <p:custDataLst>
              <p:tags r:id="rId3"/>
            </p:custDataLst>
          </p:nvPr>
        </p:nvPicPr>
        <p:blipFill>
          <a:blip r:embed="rId4"/>
          <a:srcRect/>
          <a:stretch>
            <a:fillRect/>
          </a:stretch>
        </p:blipFill>
        <p:spPr bwMode="auto">
          <a:xfrm>
            <a:off x="4343400" y="2057400"/>
            <a:ext cx="4157980" cy="389064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idx="1"/>
          </p:nvPr>
        </p:nvSpPr>
        <p:spPr>
          <a:xfrm>
            <a:off x="323528" y="1628800"/>
            <a:ext cx="8640960" cy="4267200"/>
          </a:xfrm>
        </p:spPr>
        <p:txBody>
          <a:bodyPr/>
          <a:lstStyle/>
          <a:p>
            <a:pPr eaLnBrk="1" hangingPunct="1">
              <a:lnSpc>
                <a:spcPct val="120000"/>
              </a:lnSpc>
              <a:buClr>
                <a:srgbClr val="1557AE"/>
              </a:buClr>
              <a:buFont typeface="Wingdings" panose="05000000000000000000" pitchFamily="2" charset="2"/>
              <a:buChar char="n"/>
            </a:pPr>
            <a:r>
              <a:rPr lang="en-US" altLang="zh-CN" sz="2000" b="0" dirty="0">
                <a:solidFill>
                  <a:srgbClr val="1557AE"/>
                </a:solidFill>
                <a:cs typeface="Calibri" panose="020F0502020204030204" pitchFamily="34" charset="0"/>
              </a:rPr>
              <a:t>Data attribute types: nominal, binary, ordinal, interval-scaled, ratio-scaled</a:t>
            </a:r>
            <a:endParaRPr lang="en-US" altLang="zh-CN" sz="2000" b="0" dirty="0">
              <a:solidFill>
                <a:srgbClr val="1557AE"/>
              </a:solidFill>
              <a:cs typeface="Calibri" panose="020F0502020204030204" pitchFamily="34" charset="0"/>
            </a:endParaRPr>
          </a:p>
          <a:p>
            <a:pPr marL="469900" lvl="1" indent="-469900" eaLnBrk="1" hangingPunct="1">
              <a:lnSpc>
                <a:spcPct val="120000"/>
              </a:lnSpc>
            </a:pPr>
            <a:r>
              <a:rPr lang="en-US" altLang="zh-CN" sz="2000" b="0" dirty="0">
                <a:solidFill>
                  <a:srgbClr val="1557AE"/>
                </a:solidFill>
                <a:cs typeface="Calibri" panose="020F0502020204030204" pitchFamily="34" charset="0"/>
              </a:rPr>
              <a:t>Basic statistical data description: central tendency, dispersion,  graphical displays</a:t>
            </a:r>
            <a:endParaRPr lang="en-US" altLang="zh-CN" sz="2000" b="0" dirty="0">
              <a:solidFill>
                <a:srgbClr val="1557AE"/>
              </a:solidFill>
              <a:cs typeface="Calibri" panose="020F0502020204030204" pitchFamily="34" charset="0"/>
            </a:endParaRPr>
          </a:p>
          <a:p>
            <a:pPr eaLnBrk="1" hangingPunct="1">
              <a:lnSpc>
                <a:spcPct val="120000"/>
              </a:lnSpc>
              <a:buClr>
                <a:srgbClr val="1557AE"/>
              </a:buClr>
              <a:buFont typeface="Wingdings" panose="05000000000000000000" pitchFamily="2" charset="2"/>
              <a:buChar char="n"/>
            </a:pPr>
            <a:r>
              <a:rPr lang="en-US" altLang="zh-CN" sz="2000" b="0" dirty="0">
                <a:solidFill>
                  <a:srgbClr val="1557AE"/>
                </a:solidFill>
                <a:cs typeface="Calibri" panose="020F0502020204030204" pitchFamily="34" charset="0"/>
              </a:rPr>
              <a:t>Data quality: accuracy, completeness, consistency, timeliness, believability, interpretability</a:t>
            </a:r>
            <a:endParaRPr lang="en-US" altLang="zh-CN" sz="2000" b="0" dirty="0">
              <a:solidFill>
                <a:srgbClr val="1557AE"/>
              </a:solidFill>
              <a:cs typeface="Calibri" panose="020F0502020204030204" pitchFamily="34" charset="0"/>
            </a:endParaRPr>
          </a:p>
          <a:p>
            <a:pPr eaLnBrk="1" hangingPunct="1">
              <a:lnSpc>
                <a:spcPct val="120000"/>
              </a:lnSpc>
              <a:buClr>
                <a:srgbClr val="1557AE"/>
              </a:buClr>
              <a:buFont typeface="Wingdings" panose="05000000000000000000" pitchFamily="2" charset="2"/>
              <a:buChar char="n"/>
            </a:pPr>
            <a:r>
              <a:rPr lang="en-US" altLang="zh-CN" sz="2000" b="0" dirty="0">
                <a:solidFill>
                  <a:srgbClr val="1557AE"/>
                </a:solidFill>
                <a:cs typeface="Calibri" panose="020F0502020204030204" pitchFamily="34" charset="0"/>
              </a:rPr>
              <a:t>Data cleaning: e.g. missing/noisy values, outliers</a:t>
            </a:r>
            <a:endParaRPr lang="en-US" altLang="zh-CN" sz="2000" b="0" dirty="0">
              <a:solidFill>
                <a:srgbClr val="1557AE"/>
              </a:solidFill>
              <a:cs typeface="Calibri" panose="020F0502020204030204" pitchFamily="34" charset="0"/>
            </a:endParaRPr>
          </a:p>
          <a:p>
            <a:pPr eaLnBrk="1" hangingPunct="1">
              <a:lnSpc>
                <a:spcPct val="120000"/>
              </a:lnSpc>
              <a:buClr>
                <a:srgbClr val="1557AE"/>
              </a:buClr>
              <a:buFont typeface="Wingdings" panose="05000000000000000000" pitchFamily="2" charset="2"/>
              <a:buChar char="n"/>
            </a:pPr>
            <a:r>
              <a:rPr lang="en-US" altLang="zh-CN" sz="2000" b="0" dirty="0">
                <a:solidFill>
                  <a:srgbClr val="1557AE"/>
                </a:solidFill>
                <a:cs typeface="Calibri" panose="020F0502020204030204" pitchFamily="34" charset="0"/>
              </a:rPr>
              <a:t>Data reduction: Dimensionality reduction, </a:t>
            </a:r>
            <a:r>
              <a:rPr lang="en-US" altLang="zh-CN" sz="2000" b="0" dirty="0" err="1">
                <a:solidFill>
                  <a:srgbClr val="1557AE"/>
                </a:solidFill>
                <a:cs typeface="Calibri" panose="020F0502020204030204" pitchFamily="34" charset="0"/>
              </a:rPr>
              <a:t>Numerosity</a:t>
            </a:r>
            <a:r>
              <a:rPr lang="en-US" altLang="zh-CN" sz="2000" b="0" dirty="0">
                <a:solidFill>
                  <a:srgbClr val="1557AE"/>
                </a:solidFill>
                <a:cs typeface="Calibri" panose="020F0502020204030204" pitchFamily="34" charset="0"/>
              </a:rPr>
              <a:t> reduction, Data compression</a:t>
            </a:r>
            <a:endParaRPr lang="en-US" altLang="zh-CN" sz="2000" b="0" dirty="0">
              <a:solidFill>
                <a:srgbClr val="1557AE"/>
              </a:solidFill>
              <a:cs typeface="Calibri" panose="020F0502020204030204" pitchFamily="34" charset="0"/>
            </a:endParaRPr>
          </a:p>
          <a:p>
            <a:pPr eaLnBrk="1" hangingPunct="1">
              <a:lnSpc>
                <a:spcPct val="120000"/>
              </a:lnSpc>
              <a:buClr>
                <a:srgbClr val="1557AE"/>
              </a:buClr>
              <a:buFont typeface="Wingdings" panose="05000000000000000000" pitchFamily="2" charset="2"/>
              <a:buChar char="n"/>
            </a:pPr>
            <a:r>
              <a:rPr lang="en-US" altLang="zh-CN" sz="2000" b="0" dirty="0">
                <a:solidFill>
                  <a:srgbClr val="1557AE"/>
                </a:solidFill>
                <a:cs typeface="Calibri" panose="020F0502020204030204" pitchFamily="34" charset="0"/>
              </a:rPr>
              <a:t>Data transformation and data discretization: Normalization, Concept hierarchy generation</a:t>
            </a:r>
            <a:endParaRPr lang="en-US" altLang="zh-CN" sz="2000" b="0" dirty="0">
              <a:solidFill>
                <a:srgbClr val="1557AE"/>
              </a:solidFill>
              <a:cs typeface="Calibri" panose="020F0502020204030204" pitchFamily="34" charset="0"/>
            </a:endParaRPr>
          </a:p>
          <a:p>
            <a:pPr eaLnBrk="1" hangingPunct="1">
              <a:lnSpc>
                <a:spcPct val="120000"/>
              </a:lnSpc>
              <a:buFont typeface="Wingdings" panose="05000000000000000000" pitchFamily="2" charset="2"/>
              <a:buChar char="n"/>
            </a:pPr>
            <a:endParaRPr lang="en-US" altLang="zh-CN" sz="2000" b="0" dirty="0">
              <a:cs typeface="Calibri" panose="020F0502020204030204" pitchFamily="34" charset="0"/>
            </a:endParaRPr>
          </a:p>
          <a:p>
            <a:pPr marL="182880" lvl="0" indent="-5080" eaLnBrk="1" hangingPunct="1">
              <a:lnSpc>
                <a:spcPct val="120000"/>
              </a:lnSpc>
              <a:spcBef>
                <a:spcPts val="600"/>
              </a:spcBef>
              <a:buClrTx/>
              <a:buNone/>
            </a:pPr>
            <a:endParaRPr lang="en-US" altLang="zh-CN" sz="2400" b="0" kern="1200" dirty="0">
              <a:solidFill>
                <a:srgbClr val="C00000"/>
              </a:solidFill>
              <a:cs typeface="Calibri" panose="020F0502020204030204" pitchFamily="34" charset="0"/>
            </a:endParaRPr>
          </a:p>
          <a:p>
            <a:pPr marL="182880" lvl="0" indent="-5080" eaLnBrk="1" hangingPunct="1">
              <a:lnSpc>
                <a:spcPct val="120000"/>
              </a:lnSpc>
              <a:spcBef>
                <a:spcPts val="600"/>
              </a:spcBef>
              <a:buClrTx/>
              <a:buNone/>
            </a:pPr>
            <a:br>
              <a:rPr lang="zh-CN" altLang="zh-CN" sz="2800" b="0" dirty="0">
                <a:solidFill>
                  <a:srgbClr val="333333"/>
                </a:solidFill>
                <a:cs typeface="宋体" pitchFamily="2" charset="-122"/>
              </a:rPr>
            </a:br>
            <a:r>
              <a:rPr lang="zh-CN" altLang="zh-CN" sz="2800" b="0" dirty="0">
                <a:solidFill>
                  <a:srgbClr val="333333"/>
                </a:solidFill>
                <a:cs typeface="宋体" pitchFamily="2" charset="-122"/>
              </a:rPr>
              <a:t> </a:t>
            </a:r>
            <a:endParaRPr lang="zh-CN" altLang="zh-CN" sz="9600" b="0" dirty="0">
              <a:cs typeface="宋体" pitchFamily="2" charset="-122"/>
            </a:endParaRPr>
          </a:p>
          <a:p>
            <a:pPr marL="0" lvl="0" indent="177800">
              <a:lnSpc>
                <a:spcPct val="120000"/>
              </a:lnSpc>
              <a:spcBef>
                <a:spcPct val="0"/>
              </a:spcBef>
              <a:buClrTx/>
              <a:buNone/>
            </a:pPr>
            <a:endParaRPr lang="en-US" altLang="zh-CN" sz="2400" b="0" dirty="0">
              <a:solidFill>
                <a:srgbClr val="333333"/>
              </a:solidFill>
              <a:cs typeface="Calibri" panose="020F0502020204030204" pitchFamily="34" charset="0"/>
            </a:endParaRPr>
          </a:p>
        </p:txBody>
      </p:sp>
      <p:sp>
        <p:nvSpPr>
          <p:cNvPr id="61442" name="Rectangle 2"/>
          <p:cNvSpPr>
            <a:spLocks noGrp="1" noChangeArrowheads="1"/>
          </p:cNvSpPr>
          <p:nvPr>
            <p:ph type="title"/>
          </p:nvPr>
        </p:nvSpPr>
        <p:spPr/>
        <p:txBody>
          <a:bodyPr/>
          <a:lstStyle/>
          <a:p>
            <a:pPr eaLnBrk="1" fontAlgn="auto" hangingPunct="1">
              <a:spcAft>
                <a:spcPts val="0"/>
              </a:spcAft>
              <a:defRPr/>
            </a:pPr>
            <a:r>
              <a:rPr lang="zh-CN" altLang="en-US" sz="3600" dirty="0"/>
              <a:t>总结</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黑体"/>
        <a:cs typeface=""/>
      </a:majorFont>
      <a:minorFont>
        <a:latin typeface="Verdan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a:noFill/>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Verdana" panose="020B0804030504040204" pitchFamily="34" charset="0"/>
            <a:ea typeface="宋体" pitchFamily="2" charset="-122"/>
          </a:defRPr>
        </a:defPPr>
      </a:lstStyle>
    </a:spDef>
    <a:lnDef>
      <a:spPr bwMode="auto">
        <a:xfrm>
          <a:off x="0" y="0"/>
          <a:ext cx="1" cy="1"/>
        </a:xfrm>
        <a:custGeom>
          <a:avLst/>
          <a:gdLst/>
          <a:ahLst/>
          <a:cxnLst/>
          <a:rect l="0" t="0" r="0" b="0"/>
          <a:pathLst/>
        </a:custGeom>
        <a:solidFill>
          <a:srgbClr val="FFFFFF"/>
        </a:solidFill>
        <a:ln>
          <a:noFill/>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Verdana" panose="020B0804030504040204" pitchFamily="34" charset="0"/>
            <a:ea typeface="宋体"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默认设计模板">
      <a:majorFont>
        <a:latin typeface="Tahoma"/>
        <a:ea typeface="黑体"/>
        <a:cs typeface=""/>
      </a:majorFont>
      <a:minorFont>
        <a:latin typeface="Tahom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sz="1800" b="1" i="0" u="none" strike="noStrike" cap="none" normalizeH="0" baseline="0" smtClean="0">
            <a:ln>
              <a:noFill/>
            </a:ln>
            <a:solidFill>
              <a:schemeClr val="bg1"/>
            </a:solidFill>
            <a:effectLst/>
            <a:latin typeface="黑体" pitchFamily="49" charset="-122"/>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sz="1800" b="1" i="0" u="none" strike="noStrike" cap="none" normalizeH="0" baseline="0" smtClean="0">
            <a:ln>
              <a:noFill/>
            </a:ln>
            <a:solidFill>
              <a:schemeClr val="bg1"/>
            </a:solidFill>
            <a:effectLst/>
            <a:latin typeface="黑体" pitchFamily="49" charset="-122"/>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10002</Words>
  <Application>WPS 文字</Application>
  <PresentationFormat>全屏显示(4:3)</PresentationFormat>
  <Paragraphs>1104</Paragraphs>
  <Slides>87</Slides>
  <Notes>60</Notes>
  <HiddenSlides>0</HiddenSlides>
  <MMClips>0</MMClips>
  <ScaleCrop>false</ScaleCrop>
  <HeadingPairs>
    <vt:vector size="8" baseType="variant">
      <vt:variant>
        <vt:lpstr>已用的字体</vt:lpstr>
      </vt:variant>
      <vt:variant>
        <vt:i4>21</vt:i4>
      </vt:variant>
      <vt:variant>
        <vt:lpstr>主题</vt:lpstr>
      </vt:variant>
      <vt:variant>
        <vt:i4>2</vt:i4>
      </vt:variant>
      <vt:variant>
        <vt:lpstr>嵌入 OLE 服务器</vt:lpstr>
      </vt:variant>
      <vt:variant>
        <vt:i4>31</vt:i4>
      </vt:variant>
      <vt:variant>
        <vt:lpstr>幻灯片标题</vt:lpstr>
      </vt:variant>
      <vt:variant>
        <vt:i4>87</vt:i4>
      </vt:variant>
    </vt:vector>
  </HeadingPairs>
  <TitlesOfParts>
    <vt:vector size="141" baseType="lpstr">
      <vt:lpstr>Arial</vt:lpstr>
      <vt:lpstr>宋体</vt:lpstr>
      <vt:lpstr>Wingdings</vt:lpstr>
      <vt:lpstr>Verdana</vt:lpstr>
      <vt:lpstr>汉仪书宋二KW</vt:lpstr>
      <vt:lpstr>微软雅黑</vt:lpstr>
      <vt:lpstr>汉仪旗黑</vt:lpstr>
      <vt:lpstr>黑体</vt:lpstr>
      <vt:lpstr>Tahoma</vt:lpstr>
      <vt:lpstr>方正兰亭中黑_GBK</vt:lpstr>
      <vt:lpstr>Times New Roman</vt:lpstr>
      <vt:lpstr>Calibri</vt:lpstr>
      <vt:lpstr>微软雅黑</vt:lpstr>
      <vt:lpstr>宋体</vt:lpstr>
      <vt:lpstr>Arial Unicode MS</vt:lpstr>
      <vt:lpstr>Helvetica Neue</vt:lpstr>
      <vt:lpstr>DejaVu Math TeX Gyre</vt:lpstr>
      <vt:lpstr>Verdana</vt:lpstr>
      <vt:lpstr>黑体</vt:lpstr>
      <vt:lpstr>Wingdings</vt:lpstr>
      <vt:lpstr>黑体</vt:lpstr>
      <vt:lpstr>Profile</vt:lpstr>
      <vt:lpstr>默认设计模板</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SmartDraw.2</vt:lpstr>
      <vt:lpstr>SmartDraw.2</vt:lpstr>
      <vt:lpstr>Equation.3</vt:lpstr>
      <vt:lpstr>Equation.3</vt:lpstr>
      <vt:lpstr>数据挖掘     第二章：数据预处理</vt:lpstr>
      <vt:lpstr>PowerPoint 演示文稿</vt:lpstr>
      <vt:lpstr>本章内容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CiteSpace</vt:lpstr>
      <vt:lpstr>Gephi</vt:lpstr>
      <vt:lpstr>统计量与群智</vt:lpstr>
      <vt:lpstr>统计量与群智</vt:lpstr>
      <vt:lpstr>统计量与群智</vt:lpstr>
      <vt:lpstr>本章内容</vt:lpstr>
      <vt:lpstr>统计量与群智</vt:lpstr>
      <vt:lpstr>2.1  为什么要预处理数据</vt:lpstr>
      <vt:lpstr>2.1  为什么要预处理数据</vt:lpstr>
      <vt:lpstr>本章内容</vt:lpstr>
      <vt:lpstr>2.2  数据清洗</vt:lpstr>
      <vt:lpstr>2.2  数据清洗</vt:lpstr>
      <vt:lpstr>2.2  数据清洗</vt:lpstr>
      <vt:lpstr>2.2  数据清洗</vt:lpstr>
      <vt:lpstr>2.2  数据清洗</vt:lpstr>
      <vt:lpstr>2.2  数据清洗</vt:lpstr>
      <vt:lpstr>回归</vt:lpstr>
      <vt:lpstr>聚类</vt:lpstr>
      <vt:lpstr>本章内容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本章内容</vt:lpstr>
      <vt:lpstr>2.4  数据归约</vt:lpstr>
      <vt:lpstr>2.4  数据归约</vt:lpstr>
      <vt:lpstr>2.4  数据归约  -  数值规约</vt:lpstr>
      <vt:lpstr>2.4  数据归约  -  数值规约</vt:lpstr>
      <vt:lpstr>2.4  数据归约  -  数值规约</vt:lpstr>
      <vt:lpstr>2.4  数据归约  -  数值规约</vt:lpstr>
      <vt:lpstr>2.4  数据归约  -  离散化和概念分层</vt:lpstr>
      <vt:lpstr>2.4  数据归约  -  离散化和概念分层</vt:lpstr>
      <vt:lpstr>2.4  数据归约  -  离散化和概念分层</vt:lpstr>
      <vt:lpstr>特征选择</vt:lpstr>
      <vt:lpstr>特征选择</vt:lpstr>
      <vt:lpstr>特征选择</vt:lpstr>
      <vt:lpstr>特征选择</vt:lpstr>
      <vt:lpstr>特征选择</vt:lpstr>
      <vt:lpstr>特征选择</vt:lpstr>
      <vt:lpstr>特征提取</vt:lpstr>
      <vt:lpstr>特征提取</vt:lpstr>
      <vt:lpstr>特征提取</vt:lpstr>
      <vt:lpstr>特征提取</vt:lpstr>
      <vt:lpstr>特征降维</vt:lpstr>
      <vt:lpstr>总结</vt:lpstr>
    </vt:vector>
  </TitlesOfParts>
  <Company>CCNU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知识服务的内涵与模式</dc:title>
  <dc:creator>CCNUITBXL</dc:creator>
  <cp:lastModifiedBy>铭</cp:lastModifiedBy>
  <cp:revision>728</cp:revision>
  <dcterms:created xsi:type="dcterms:W3CDTF">2025-11-23T03:51:55Z</dcterms:created>
  <dcterms:modified xsi:type="dcterms:W3CDTF">2025-11-23T03:51:55Z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95F01D21950221F5B105E1665EB9E466_42</vt:lpwstr>
  </property>
  <property fmtid="{D5CDD505-2E9C-101B-9397-08002B2CF9AE}" pid="3" name="KSOProductBuildVer">
    <vt:lpwstr>2052-12.1.23540.23540</vt:lpwstr>
  </property>
</Properties>
</file>