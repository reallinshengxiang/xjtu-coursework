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26.fntdata" ContentType="application/x-fontdata"/>
  <Override PartName="/ppt/fonts/font27.fntdata" ContentType="application/x-fontdata"/>
  <Override PartName="/ppt/fonts/font28.fntdata" ContentType="application/x-fontdata"/>
  <Override PartName="/ppt/fonts/font29.fntdata" ContentType="application/x-fontdata"/>
  <Override PartName="/ppt/fonts/font3.fntdata" ContentType="application/x-fontdata"/>
  <Override PartName="/ppt/fonts/font30.fntdata" ContentType="application/x-fontdata"/>
  <Override PartName="/ppt/fonts/font31.fntdata" ContentType="application/x-fontdata"/>
  <Override PartName="/ppt/fonts/font32.fntdata" ContentType="application/x-fontdata"/>
  <Override PartName="/ppt/fonts/font33.fntdata" ContentType="application/x-fontdata"/>
  <Override PartName="/ppt/fonts/font34.fntdata" ContentType="application/x-fontdata"/>
  <Override PartName="/ppt/fonts/font35.fntdata" ContentType="application/x-fontdata"/>
  <Override PartName="/ppt/fonts/font36.fntdata" ContentType="application/x-fontdata"/>
  <Override PartName="/ppt/fonts/font37.fntdata" ContentType="application/x-fontdata"/>
  <Override PartName="/ppt/fonts/font38.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102"/>
  </p:handoutMasterIdLst>
  <p:sldIdLst>
    <p:sldId id="1155" r:id="rId3"/>
    <p:sldId id="637" r:id="rId5"/>
    <p:sldId id="540" r:id="rId6"/>
    <p:sldId id="542" r:id="rId7"/>
    <p:sldId id="543" r:id="rId8"/>
    <p:sldId id="544" r:id="rId9"/>
    <p:sldId id="545" r:id="rId10"/>
    <p:sldId id="548" r:id="rId11"/>
    <p:sldId id="547" r:id="rId12"/>
    <p:sldId id="546" r:id="rId13"/>
    <p:sldId id="550" r:id="rId14"/>
    <p:sldId id="551" r:id="rId15"/>
    <p:sldId id="552" r:id="rId16"/>
    <p:sldId id="553" r:id="rId17"/>
    <p:sldId id="554" r:id="rId18"/>
    <p:sldId id="955" r:id="rId19"/>
    <p:sldId id="1181" r:id="rId20"/>
    <p:sldId id="1182" r:id="rId21"/>
    <p:sldId id="555" r:id="rId22"/>
    <p:sldId id="710" r:id="rId23"/>
    <p:sldId id="711" r:id="rId24"/>
    <p:sldId id="712" r:id="rId25"/>
    <p:sldId id="954" r:id="rId26"/>
    <p:sldId id="1174" r:id="rId27"/>
    <p:sldId id="1175" r:id="rId28"/>
    <p:sldId id="1176" r:id="rId29"/>
    <p:sldId id="1177" r:id="rId30"/>
    <p:sldId id="1178" r:id="rId31"/>
    <p:sldId id="580" r:id="rId32"/>
    <p:sldId id="581" r:id="rId33"/>
    <p:sldId id="583" r:id="rId34"/>
    <p:sldId id="584" r:id="rId35"/>
    <p:sldId id="585" r:id="rId36"/>
    <p:sldId id="586" r:id="rId37"/>
    <p:sldId id="587" r:id="rId38"/>
    <p:sldId id="1183" r:id="rId39"/>
    <p:sldId id="678" r:id="rId40"/>
    <p:sldId id="588" r:id="rId41"/>
    <p:sldId id="679" r:id="rId42"/>
    <p:sldId id="589" r:id="rId43"/>
    <p:sldId id="1012" r:id="rId44"/>
    <p:sldId id="590" r:id="rId45"/>
    <p:sldId id="591" r:id="rId46"/>
    <p:sldId id="592" r:id="rId47"/>
    <p:sldId id="713" r:id="rId48"/>
    <p:sldId id="720" r:id="rId49"/>
    <p:sldId id="721" r:id="rId50"/>
    <p:sldId id="1189" r:id="rId51"/>
    <p:sldId id="1190" r:id="rId52"/>
    <p:sldId id="1191" r:id="rId53"/>
    <p:sldId id="1192" r:id="rId54"/>
    <p:sldId id="1193" r:id="rId55"/>
    <p:sldId id="1194" r:id="rId56"/>
    <p:sldId id="1195" r:id="rId57"/>
    <p:sldId id="1196" r:id="rId58"/>
    <p:sldId id="1208" r:id="rId59"/>
    <p:sldId id="1199" r:id="rId60"/>
    <p:sldId id="1200" r:id="rId61"/>
    <p:sldId id="694" r:id="rId62"/>
    <p:sldId id="688" r:id="rId63"/>
    <p:sldId id="1201" r:id="rId64"/>
    <p:sldId id="1202" r:id="rId65"/>
    <p:sldId id="695" r:id="rId66"/>
    <p:sldId id="1204" r:id="rId67"/>
    <p:sldId id="1205" r:id="rId68"/>
    <p:sldId id="698" r:id="rId69"/>
    <p:sldId id="719" r:id="rId70"/>
    <p:sldId id="1206" r:id="rId71"/>
    <p:sldId id="699" r:id="rId72"/>
    <p:sldId id="1207" r:id="rId73"/>
    <p:sldId id="727" r:id="rId74"/>
    <p:sldId id="1209" r:id="rId75"/>
    <p:sldId id="1210" r:id="rId76"/>
    <p:sldId id="1211" r:id="rId77"/>
    <p:sldId id="1212" r:id="rId78"/>
    <p:sldId id="732" r:id="rId79"/>
    <p:sldId id="1213" r:id="rId80"/>
    <p:sldId id="1214" r:id="rId81"/>
    <p:sldId id="1215" r:id="rId82"/>
    <p:sldId id="761" r:id="rId83"/>
    <p:sldId id="1216" r:id="rId84"/>
    <p:sldId id="1217" r:id="rId85"/>
    <p:sldId id="752" r:id="rId86"/>
    <p:sldId id="758" r:id="rId87"/>
    <p:sldId id="1218" r:id="rId88"/>
    <p:sldId id="1170" r:id="rId89"/>
    <p:sldId id="1219" r:id="rId90"/>
    <p:sldId id="1220" r:id="rId91"/>
    <p:sldId id="756" r:id="rId92"/>
    <p:sldId id="754" r:id="rId93"/>
    <p:sldId id="1164" r:id="rId94"/>
    <p:sldId id="1165" r:id="rId95"/>
    <p:sldId id="1166" r:id="rId96"/>
    <p:sldId id="1167" r:id="rId97"/>
    <p:sldId id="1168" r:id="rId98"/>
    <p:sldId id="1171" r:id="rId99"/>
    <p:sldId id="1172" r:id="rId100"/>
    <p:sldId id="1173" r:id="rId101"/>
  </p:sldIdLst>
  <p:sldSz cx="9144000" cy="6858000" type="screen4x3"/>
  <p:notesSz cx="6858000" cy="9144000"/>
  <p:embeddedFontLst>
    <p:embeddedFont>
      <p:font typeface="Verdana" panose="020B0604030504040204" pitchFamily="34" charset="0"/>
      <p:regular r:id="rId106"/>
      <p:bold r:id="rId107"/>
      <p:italic r:id="rId108"/>
      <p:boldItalic r:id="rId109"/>
    </p:embeddedFont>
    <p:embeddedFont>
      <p:font typeface="黑体" panose="02010609060101010101" pitchFamily="49" charset="-122"/>
      <p:regular r:id="rId110"/>
    </p:embeddedFont>
    <p:embeddedFont>
      <p:font typeface="Tahoma" panose="020B0604030504040204" pitchFamily="34" charset="0"/>
      <p:regular r:id="rId111"/>
      <p:bold r:id="rId112"/>
    </p:embeddedFont>
    <p:embeddedFont>
      <p:font typeface="Calibri" panose="020F0502020204030204" pitchFamily="34" charset="0"/>
      <p:regular r:id="rId113"/>
      <p:bold r:id="rId114"/>
      <p:italic r:id="rId115"/>
      <p:boldItalic r:id="rId116"/>
    </p:embeddedFont>
    <p:embeddedFont>
      <p:font typeface="方正兰亭中黑_GBK" panose="02000000000000000000" pitchFamily="2" charset="-122"/>
      <p:regular r:id="rId117"/>
    </p:embeddedFont>
    <p:embeddedFont>
      <p:font typeface="Century Gothic" panose="020B0502020202020204" pitchFamily="34" charset="0"/>
      <p:regular r:id="rId118"/>
      <p:bold r:id="rId119"/>
      <p:italic r:id="rId120"/>
      <p:boldItalic r:id="rId121"/>
    </p:embeddedFont>
    <p:embeddedFont>
      <p:font typeface="新細明體" panose="02020500000000000000" pitchFamily="18" charset="-120"/>
      <p:regular r:id="rId122"/>
    </p:embeddedFont>
    <p:embeddedFont>
      <p:font typeface="微软雅黑" panose="020B0503020204020204" charset="-122"/>
      <p:regular r:id="rId123"/>
    </p:embeddedFont>
    <p:embeddedFont>
      <p:font typeface="Arial Unicode MS" panose="020B0604020202020204" charset="-122"/>
      <p:regular r:id="rId124"/>
    </p:embeddedFont>
    <p:embeddedFont>
      <p:font typeface="Verdana" panose="020B0604030504040204"/>
      <p:regular r:id="rId125"/>
      <p:bold r:id="rId126"/>
      <p:italic r:id="rId127"/>
      <p:boldItalic r:id="rId128"/>
    </p:embeddedFont>
    <p:embeddedFont>
      <p:font typeface="Palatino Linotype" panose="02040502050505030304" pitchFamily="18" charset="0"/>
      <p:regular r:id="rId129"/>
      <p:bold r:id="rId130"/>
      <p:italic r:id="rId131"/>
      <p:boldItalic r:id="rId132"/>
    </p:embeddedFont>
    <p:embeddedFont>
      <p:font typeface="Comic Sans MS" panose="030F0702030302020204" pitchFamily="66" charset="0"/>
      <p:regular r:id="rId133"/>
      <p:bold r:id="rId134"/>
      <p:italic r:id="rId135"/>
      <p:boldItalic r:id="rId136"/>
    </p:embeddedFont>
    <p:embeddedFont>
      <p:font typeface="Monotype Sorts" panose="01010601010101010101" pitchFamily="-96" charset="2"/>
      <p:regular r:id="rId137"/>
    </p:embeddedFont>
    <p:embeddedFont>
      <p:font typeface="Palatino" panose="02010600030101010101" charset="-122"/>
      <p:regular r:id="rId138"/>
    </p:embeddedFont>
    <p:embeddedFont>
      <p:font typeface="Bitstream Vera Sans" panose="02010600030101010101" pitchFamily="34" charset="-122"/>
      <p:regular r:id="rId139"/>
    </p:embeddedFont>
    <p:embeddedFont>
      <p:font typeface="Times" panose="02020603050405020304" pitchFamily="18" charset="0"/>
      <p:regular r:id="rId140"/>
      <p:bold r:id="rId141"/>
      <p:italic r:id="rId142"/>
      <p:boldItalic r:id="rId143"/>
    </p:embeddedFont>
  </p:embeddedFontLst>
  <p:defaultTextStyle>
    <a:defPPr>
      <a:defRPr lang="zh-CN"/>
    </a:defPPr>
    <a:lvl1pPr algn="ctr" rtl="0" fontAlgn="base">
      <a:spcBef>
        <a:spcPct val="0"/>
      </a:spcBef>
      <a:spcAft>
        <a:spcPct val="0"/>
      </a:spcAft>
      <a:defRPr b="1" kern="1200">
        <a:solidFill>
          <a:schemeClr val="tx1"/>
        </a:solidFill>
        <a:latin typeface="Verdana" panose="020B0604030504040204" pitchFamily="34"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Verdana" panose="020B0604030504040204" pitchFamily="34"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Verdana" panose="020B0604030504040204" pitchFamily="34"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Verdana" panose="020B0604030504040204" pitchFamily="34"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557AE"/>
    <a:srgbClr val="0000FF"/>
    <a:srgbClr val="003399"/>
    <a:srgbClr val="F9FCFE"/>
    <a:srgbClr val="FF9933"/>
    <a:srgbClr val="FFFFE7"/>
    <a:srgbClr val="FFFFCC"/>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80376" autoAdjust="0"/>
  </p:normalViewPr>
  <p:slideViewPr>
    <p:cSldViewPr showGuides="1">
      <p:cViewPr varScale="1">
        <p:scale>
          <a:sx n="88" d="100"/>
          <a:sy n="88" d="100"/>
        </p:scale>
        <p:origin x="2079" y="75"/>
      </p:cViewPr>
      <p:guideLst>
        <p:guide orient="horz" pos="2118"/>
        <p:guide pos="2880"/>
      </p:guideLst>
    </p:cSldViewPr>
  </p:slideViewPr>
  <p:outlineViewPr>
    <p:cViewPr>
      <p:scale>
        <a:sx n="33" d="100"/>
        <a:sy n="33" d="100"/>
      </p:scale>
      <p:origin x="0" y="-102272"/>
    </p:cViewPr>
  </p:outlineViewPr>
  <p:notesTextViewPr>
    <p:cViewPr>
      <p:scale>
        <a:sx n="100" d="100"/>
        <a:sy n="100" d="100"/>
      </p:scale>
      <p:origin x="0" y="0"/>
    </p:cViewPr>
  </p:notesTextViewPr>
  <p:sorterViewPr>
    <p:cViewPr>
      <p:scale>
        <a:sx n="66" d="100"/>
        <a:sy n="66" d="100"/>
      </p:scale>
      <p:origin x="0" y="108"/>
    </p:cViewPr>
  </p:sorterViewPr>
  <p:notesViewPr>
    <p:cSldViewPr>
      <p:cViewPr varScale="1">
        <p:scale>
          <a:sx n="57" d="100"/>
          <a:sy n="57" d="100"/>
        </p:scale>
        <p:origin x="-1836" y="-96"/>
      </p:cViewPr>
      <p:guideLst>
        <p:guide orient="horz" pos="2823"/>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3" Type="http://schemas.openxmlformats.org/officeDocument/2006/relationships/font" Target="fonts/font38.fntdata"/><Relationship Id="rId142" Type="http://schemas.openxmlformats.org/officeDocument/2006/relationships/font" Target="fonts/font37.fntdata"/><Relationship Id="rId141" Type="http://schemas.openxmlformats.org/officeDocument/2006/relationships/font" Target="fonts/font36.fntdata"/><Relationship Id="rId140" Type="http://schemas.openxmlformats.org/officeDocument/2006/relationships/font" Target="fonts/font35.fntdata"/><Relationship Id="rId14" Type="http://schemas.openxmlformats.org/officeDocument/2006/relationships/slide" Target="slides/slide11.xml"/><Relationship Id="rId139" Type="http://schemas.openxmlformats.org/officeDocument/2006/relationships/font" Target="fonts/font34.fntdata"/><Relationship Id="rId138" Type="http://schemas.openxmlformats.org/officeDocument/2006/relationships/font" Target="fonts/font33.fntdata"/><Relationship Id="rId137" Type="http://schemas.openxmlformats.org/officeDocument/2006/relationships/font" Target="fonts/font32.fntdata"/><Relationship Id="rId136" Type="http://schemas.openxmlformats.org/officeDocument/2006/relationships/font" Target="fonts/font31.fntdata"/><Relationship Id="rId135" Type="http://schemas.openxmlformats.org/officeDocument/2006/relationships/font" Target="fonts/font30.fntdata"/><Relationship Id="rId134" Type="http://schemas.openxmlformats.org/officeDocument/2006/relationships/font" Target="fonts/font29.fntdata"/><Relationship Id="rId133" Type="http://schemas.openxmlformats.org/officeDocument/2006/relationships/font" Target="fonts/font28.fntdata"/><Relationship Id="rId132" Type="http://schemas.openxmlformats.org/officeDocument/2006/relationships/font" Target="fonts/font27.fntdata"/><Relationship Id="rId131" Type="http://schemas.openxmlformats.org/officeDocument/2006/relationships/font" Target="fonts/font26.fntdata"/><Relationship Id="rId130" Type="http://schemas.openxmlformats.org/officeDocument/2006/relationships/font" Target="fonts/font25.fntdata"/><Relationship Id="rId13" Type="http://schemas.openxmlformats.org/officeDocument/2006/relationships/slide" Target="slides/slide10.xml"/><Relationship Id="rId129" Type="http://schemas.openxmlformats.org/officeDocument/2006/relationships/font" Target="fonts/font24.fntdata"/><Relationship Id="rId128" Type="http://schemas.openxmlformats.org/officeDocument/2006/relationships/font" Target="fonts/font23.fntdata"/><Relationship Id="rId127" Type="http://schemas.openxmlformats.org/officeDocument/2006/relationships/font" Target="fonts/font22.fntdata"/><Relationship Id="rId126" Type="http://schemas.openxmlformats.org/officeDocument/2006/relationships/font" Target="fonts/font21.fntdata"/><Relationship Id="rId125" Type="http://schemas.openxmlformats.org/officeDocument/2006/relationships/font" Target="fonts/font20.fntdata"/><Relationship Id="rId124" Type="http://schemas.openxmlformats.org/officeDocument/2006/relationships/font" Target="fonts/font19.fntdata"/><Relationship Id="rId123" Type="http://schemas.openxmlformats.org/officeDocument/2006/relationships/font" Target="fonts/font18.fntdata"/><Relationship Id="rId122" Type="http://schemas.openxmlformats.org/officeDocument/2006/relationships/font" Target="fonts/font17.fntdata"/><Relationship Id="rId121" Type="http://schemas.openxmlformats.org/officeDocument/2006/relationships/font" Target="fonts/font16.fntdata"/><Relationship Id="rId120" Type="http://schemas.openxmlformats.org/officeDocument/2006/relationships/font" Target="fonts/font15.fntdata"/><Relationship Id="rId12" Type="http://schemas.openxmlformats.org/officeDocument/2006/relationships/slide" Target="slides/slide9.xml"/><Relationship Id="rId119" Type="http://schemas.openxmlformats.org/officeDocument/2006/relationships/font" Target="fonts/font14.fntdata"/><Relationship Id="rId118" Type="http://schemas.openxmlformats.org/officeDocument/2006/relationships/font" Target="fonts/font13.fntdata"/><Relationship Id="rId117" Type="http://schemas.openxmlformats.org/officeDocument/2006/relationships/font" Target="fonts/font12.fntdata"/><Relationship Id="rId116" Type="http://schemas.openxmlformats.org/officeDocument/2006/relationships/font" Target="fonts/font11.fntdata"/><Relationship Id="rId115" Type="http://schemas.openxmlformats.org/officeDocument/2006/relationships/font" Target="fonts/font10.fntdata"/><Relationship Id="rId114" Type="http://schemas.openxmlformats.org/officeDocument/2006/relationships/font" Target="fonts/font9.fntdata"/><Relationship Id="rId113" Type="http://schemas.openxmlformats.org/officeDocument/2006/relationships/font" Target="fonts/font8.fntdata"/><Relationship Id="rId112" Type="http://schemas.openxmlformats.org/officeDocument/2006/relationships/font" Target="fonts/font7.fntdata"/><Relationship Id="rId111" Type="http://schemas.openxmlformats.org/officeDocument/2006/relationships/font" Target="fonts/font6.fntdata"/><Relationship Id="rId110" Type="http://schemas.openxmlformats.org/officeDocument/2006/relationships/font" Target="fonts/font5.fntdata"/><Relationship Id="rId11" Type="http://schemas.openxmlformats.org/officeDocument/2006/relationships/slide" Target="slides/slide8.xml"/><Relationship Id="rId109" Type="http://schemas.openxmlformats.org/officeDocument/2006/relationships/font" Target="fonts/font4.fntdata"/><Relationship Id="rId108" Type="http://schemas.openxmlformats.org/officeDocument/2006/relationships/font" Target="fonts/font3.fntdata"/><Relationship Id="rId107" Type="http://schemas.openxmlformats.org/officeDocument/2006/relationships/font" Target="fonts/font2.fntdata"/><Relationship Id="rId106" Type="http://schemas.openxmlformats.org/officeDocument/2006/relationships/font" Target="fonts/font1.fntdata"/><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handoutMaster" Target="handoutMasters/handoutMaster1.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65.wmf"/><Relationship Id="rId8" Type="http://schemas.openxmlformats.org/officeDocument/2006/relationships/image" Target="../media/image64.wmf"/><Relationship Id="rId7" Type="http://schemas.openxmlformats.org/officeDocument/2006/relationships/image" Target="../media/image63.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4" Type="http://schemas.openxmlformats.org/officeDocument/2006/relationships/image" Target="../media/image70.wmf"/><Relationship Id="rId13" Type="http://schemas.openxmlformats.org/officeDocument/2006/relationships/image" Target="../media/image69.wmf"/><Relationship Id="rId12" Type="http://schemas.openxmlformats.org/officeDocument/2006/relationships/image" Target="../media/image68.wmf"/><Relationship Id="rId11" Type="http://schemas.openxmlformats.org/officeDocument/2006/relationships/image" Target="../media/image67.wmf"/><Relationship Id="rId10" Type="http://schemas.openxmlformats.org/officeDocument/2006/relationships/image" Target="../media/image66.wmf"/><Relationship Id="rId1" Type="http://schemas.openxmlformats.org/officeDocument/2006/relationships/image" Target="../media/image5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1.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5.e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104.wmf"/><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2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48.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55.emf"/><Relationship Id="rId1" Type="http://schemas.openxmlformats.org/officeDocument/2006/relationships/image" Target="../media/image14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5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atin typeface="Arial" panose="020B0604020202020204" pitchFamily="34" charset="0"/>
              </a:defRPr>
            </a:lvl1pPr>
          </a:lstStyle>
          <a:p>
            <a:pPr>
              <a:defRPr/>
            </a:pPr>
            <a:endParaRPr lang="en-US" altLang="zh-CN"/>
          </a:p>
        </p:txBody>
      </p:sp>
      <p:sp>
        <p:nvSpPr>
          <p:cNvPr id="6963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Arial" panose="020B0604020202020204" pitchFamily="34" charset="0"/>
              </a:defRPr>
            </a:lvl1pPr>
          </a:lstStyle>
          <a:p>
            <a:pPr>
              <a:defRPr/>
            </a:pPr>
            <a:endParaRPr lang="en-US" altLang="zh-CN"/>
          </a:p>
        </p:txBody>
      </p:sp>
      <p:sp>
        <p:nvSpPr>
          <p:cNvPr id="6963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b="0">
                <a:latin typeface="Arial" panose="020B0604020202020204" pitchFamily="34" charset="0"/>
              </a:defRPr>
            </a:lvl1pPr>
          </a:lstStyle>
          <a:p>
            <a:pPr>
              <a:defRPr/>
            </a:pPr>
            <a:endParaRPr lang="en-US" altLang="zh-CN"/>
          </a:p>
        </p:txBody>
      </p:sp>
      <p:sp>
        <p:nvSpPr>
          <p:cNvPr id="6963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atin typeface="Arial" panose="020B0604020202020204" pitchFamily="34" charset="0"/>
              </a:defRPr>
            </a:lvl1pPr>
          </a:lstStyle>
          <a:p>
            <a:pPr>
              <a:defRPr/>
            </a:pPr>
            <a:fld id="{4C795F8D-C088-4BBF-BAEE-785997BBC821}"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0000" units="dev"/>
        </inkml:traceFormat>
        <inkml:channelProperties>
          <inkml:channelProperty channel="X" name="resolution" value="55.09326" units="1/cm"/>
          <inkml:channelProperty channel="Y" name="resolution" value="55.10204" units="1/cm"/>
          <inkml:channelProperty channel="T" name="resolution" value="1" units="1/dev"/>
        </inkml:channelProperties>
      </inkml:inkSource>
      <inkml:timestamp xml:id="ts0" timeString="2023-11-12T05:26:50"/>
    </inkml:context>
    <inkml:brush xml:id="br0">
      <inkml:brushProperty name="width" value="0.1" units="cm"/>
      <inkml:brushProperty name="height" value="0.1" units="cm"/>
      <inkml:brushProperty name="color" value="#ed1c24"/>
      <inkml:brushProperty name="fitToCurve" value="1"/>
    </inkml:brush>
  </inkml:definitions>
  <inkml:trace contextRef="#ctx0" brushRef="#br0">0.000 228.000 0,'0.000'-30.000'62,"15.000"30.000"16,0.000 0.000 0,16.000 0.000-46,-16.000 0.000-1,15.000 0.000 0,0.000 0.000-15,-15.000 0.000 15,46.000 0.000-31,-16.000 0.000 16,91.000-30.000-1,-45.000 30.000 1,0.000 0.000-16,-46.000 0.000 15,-15.000 0.000 1,-15.000 0.000 0,16.000 0.000 31,75.000 0.000-47,-76.000 0.000 15,0.000 0.000-15,46.000-31.000 0,-46.000 31.000 16,15.000 0.000-16,-15.000 0.000 15,16.000 0.000 1,14.000 0.000-16,-45.000 0.000 0,76.000-30.000 16,-76.000 30.000-16,46.000 0.000 15,60.000-30.000-15,-31.000 30.000 16,-29.000 0.000-16,-16.000 0.000 16,46.000-30.000-16,-61.000 30.000 15,0.000 0.000-15,-14.000 0.000 16,14.000 0.000-16,-15.000 0.000 15,15.000 0.000-15,0.000 0.000 16,-15.000 0.000 0,16.000 0.000-1,-16.000 0.000-15,15.000 0.000 16,46.000-30.000-16,-46.000 30.000 16,15.000 0.000-16,16.000 0.000 15,-31.000-16.000-15,-15.000 16.000 16,15.000 0.000 31,-15.000 0.000-16</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0000" units="dev"/>
        </inkml:traceFormat>
        <inkml:channelProperties>
          <inkml:channelProperty channel="X" name="resolution" value="55.09326" units="1/cm"/>
          <inkml:channelProperty channel="Y" name="resolution" value="55.10204" units="1/cm"/>
          <inkml:channelProperty channel="T" name="resolution" value="1" units="1/dev"/>
        </inkml:channelProperties>
      </inkml:inkSource>
      <inkml:timestamp xml:id="ts0" timeString="2023-11-12T05:27:18"/>
    </inkml:context>
    <inkml:brush xml:id="br0">
      <inkml:brushProperty name="width" value="0.1" units="cm"/>
      <inkml:brushProperty name="height" value="0.1" units="cm"/>
      <inkml:brushProperty name="color" value="#ed1c24"/>
      <inkml:brushProperty name="fitToCurve" value="1"/>
    </inkml:brush>
  </inkml:definitions>
  <inkml:trace contextRef="#ctx0" brushRef="#br0">45.000 0.000 0,'0.000'31.000'109,"0.000"14.000"-109,0.000 15.000 16,0.000-29.000 0,0.000 14.000-16,0.000-15.000 15,0.000-15.000 1,-30.000-15.000-1,30.000 31.000 1,0.000-16.000 0,0.000 15.000-1,0.000 0.000-15,0.000-15.000 32,-15.000 16.000 46,15.000-47.000 156,0.000 1.000-187,0.000-15.000-31,0.000 0.000-1,0.000 15.000-15,0.000-15.000 16,0.000 14.000 15,30.000 16.000-31,-30.000-30.000 31,0.000 0.000 47,15.000 15.000-46,-15.000-15.000-1,30.000 30.000 31,-30.000-16.000-62,31.000 16.000 16,-31.000-30.000 0,15.000 0.000-1,15.000 15.000 1,-15.000 15.000 0,15.000-30.000-1,1.000 30.000 32,-16.000 0.000 0,15.000 0.000 62,-30.000 15.000 32,0.000 0.000-110,0.000 15.000-15,15.000 0.000-1,-15.000-15.000 17,30.000 16.000-1,-30.000-16.000-31,0.000 15.000 16,0.000 0.000-1,30.000-30.000 1,-30.000 15.000-1,0.000 16.000 17,0.000-16.000-1,0.000 15.000 16,16.000-30.000-16,14.000 0.000 313,-30.000 30.000-282,0.000-45.000 235</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0000" units="dev"/>
        </inkml:traceFormat>
        <inkml:channelProperties>
          <inkml:channelProperty channel="X" name="resolution" value="55.09326" units="1/cm"/>
          <inkml:channelProperty channel="Y" name="resolution" value="55.10204" units="1/cm"/>
          <inkml:channelProperty channel="T" name="resolution" value="1" units="1/dev"/>
        </inkml:channelProperties>
      </inkml:inkSource>
      <inkml:timestamp xml:id="ts0" timeString="2023-11-12T05:27:32"/>
    </inkml:context>
    <inkml:brush xml:id="br0">
      <inkml:brushProperty name="width" value="0.1" units="cm"/>
      <inkml:brushProperty name="height" value="0.1" units="cm"/>
      <inkml:brushProperty name="color" value="#ed1c24"/>
      <inkml:brushProperty name="fitToCurve" value="1"/>
    </inkml:brush>
  </inkml:definitions>
  <inkml:trace contextRef="#ctx0" brushRef="#br0">0.000 228.000 0,'0.000'-30.000'62,"15.000"30.000"16,0.000 0.000 0,16.000 0.000-46,-16.000 0.000-1,15.000 0.000 0,0.000 0.000-15,-15.000 0.000 15,46.000 0.000-31,-16.000 0.000 16,91.000-30.000-1,-45.000 30.000 1,0.000 0.000-16,-46.000 0.000 15,-15.000 0.000 1,-15.000 0.000 0,16.000 0.000 31,75.000 0.000-47,-76.000 0.000 15,0.000 0.000-15,46.000-31.000 0,-46.000 31.000 16,15.000 0.000-16,-15.000 0.000 15,16.000 0.000 1,14.000 0.000-16,-45.000 0.000 0,76.000-30.000 16,-76.000 30.000-16,46.000 0.000 15,60.000-30.000-15,-31.000 30.000 16,-29.000 0.000-16,-16.000 0.000 16,46.000-30.000-16,-61.000 30.000 15,0.000 0.000-15,-14.000 0.000 16,14.000 0.000-16,-15.000 0.000 15,15.000 0.000-15,0.000 0.000 16,-15.000 0.000 0,16.000 0.000-1,-16.000 0.000-15,15.000 0.000 16,46.000-30.000-16,-46.000 30.000 16,15.000 0.000-16,16.000 0.000 15,-31.000-16.000-15,-15.000 16.000 16,15.000 0.000 31,-15.000 0.000-16</inkml:trace>
</inkml:ink>
</file>

<file path=ppt/ink/ink4.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0000" units="dev"/>
        </inkml:traceFormat>
        <inkml:channelProperties>
          <inkml:channelProperty channel="X" name="resolution" value="55.09326" units="1/cm"/>
          <inkml:channelProperty channel="Y" name="resolution" value="55.10204" units="1/cm"/>
          <inkml:channelProperty channel="T" name="resolution" value="1" units="1/dev"/>
        </inkml:channelProperties>
      </inkml:inkSource>
      <inkml:timestamp xml:id="ts0" timeString="2023-11-12T05:27:32"/>
    </inkml:context>
    <inkml:brush xml:id="br0">
      <inkml:brushProperty name="width" value="0.1" units="cm"/>
      <inkml:brushProperty name="height" value="0.1" units="cm"/>
      <inkml:brushProperty name="color" value="#ed1c24"/>
      <inkml:brushProperty name="fitToCurve" value="1"/>
    </inkml:brush>
  </inkml:definitions>
  <inkml:trace contextRef="#ctx0" brushRef="#br0">45.000 0.000 0,'0.000'31.000'109,"0.000"14.000"-109,0.000 15.000 16,0.000-29.000 0,0.000 14.000-16,0.000-15.000 15,0.000-15.000 1,-30.000-15.000-1,30.000 31.000 1,0.000-16.000 0,0.000 15.000-1,0.000 0.000-15,0.000-15.000 32,-15.000 16.000 46,15.000-47.000 156,0.000 1.000-187,0.000-15.000-31,0.000 0.000-1,0.000 15.000-15,0.000-15.000 16,0.000 14.000 15,30.000 16.000-31,-30.000-30.000 31,0.000 0.000 47,15.000 15.000-46,-15.000-15.000-1,30.000 30.000 31,-30.000-16.000-62,31.000 16.000 16,-31.000-30.000 0,15.000 0.000-1,15.000 15.000 1,-15.000 15.000 0,15.000-30.000-1,1.000 30.000 32,-16.000 0.000 0,15.000 0.000 62,-30.000 15.000 32,0.000 0.000-110,0.000 15.000-15,15.000 0.000-1,-15.000-15.000 17,30.000 16.000-1,-30.000-16.000-31,0.000 15.000 16,0.000 0.000-1,30.000-30.000 1,-30.000 15.000-1,0.000 16.000 17,0.000-16.000-1,0.000 15.000 16,16.000-30.000-16,14.000 0.000 313,-30.000 30.000-282,0.000-45.000 235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b="0">
                <a:latin typeface="Arial" panose="020B0604020202020204" pitchFamily="34" charset="0"/>
              </a:defRPr>
            </a:lvl1pPr>
          </a:lstStyle>
          <a:p>
            <a:pPr>
              <a:defRPr/>
            </a:pPr>
            <a:endParaRPr lang="en-US" altLang="zh-CN"/>
          </a:p>
        </p:txBody>
      </p:sp>
      <p:sp>
        <p:nvSpPr>
          <p:cNvPr id="1515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atin typeface="Arial" panose="020B0604020202020204" pitchFamily="34" charset="0"/>
              </a:defRPr>
            </a:lvl1pPr>
          </a:lstStyle>
          <a:p>
            <a:pPr>
              <a:defRPr/>
            </a:pPr>
            <a:endParaRPr lang="en-US" altLang="zh-CN"/>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15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515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b="0">
                <a:latin typeface="Arial" panose="020B0604020202020204" pitchFamily="34" charset="0"/>
              </a:defRPr>
            </a:lvl1pPr>
          </a:lstStyle>
          <a:p>
            <a:pPr>
              <a:defRPr/>
            </a:pPr>
            <a:endParaRPr lang="en-US" altLang="zh-CN"/>
          </a:p>
        </p:txBody>
      </p:sp>
      <p:sp>
        <p:nvSpPr>
          <p:cNvPr id="1515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atin typeface="Arial" panose="020B0604020202020204" pitchFamily="34" charset="0"/>
              </a:defRPr>
            </a:lvl1pPr>
          </a:lstStyle>
          <a:p>
            <a:pPr>
              <a:defRPr/>
            </a:pPr>
            <a:fld id="{369135CF-D8C8-4F09-8922-9EC00465A5F6}"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idx="1"/>
          </p:nvPr>
        </p:nvSpPr>
        <p:spPr>
          <a:noFill/>
        </p:spPr>
        <p:txBody>
          <a:bodyPr/>
          <a:lstStyle/>
          <a:p>
            <a:endParaRPr lang="zh-CN" altLang="en-US" dirty="0"/>
          </a:p>
        </p:txBody>
      </p:sp>
      <p:sp>
        <p:nvSpPr>
          <p:cNvPr id="1843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2DC53871-B605-494E-AB76-30573615649F}"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en-US" altLang="zh-CN"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69135CF-D8C8-4F09-8922-9EC00465A5F6}"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dirty="0"/>
              <a:t>厄尔多斯数”是一个用来衡量数学家或科学家与匈牙利数学家保罗</a:t>
            </a:r>
            <a:r>
              <a:rPr lang="en-US" altLang="zh-CN" dirty="0"/>
              <a:t>·</a:t>
            </a:r>
            <a:r>
              <a:rPr lang="zh-CN" altLang="en-US" dirty="0"/>
              <a:t>厄尔多斯（</a:t>
            </a:r>
            <a:r>
              <a:rPr lang="en-US" altLang="zh-CN" dirty="0"/>
              <a:t>Paul </a:t>
            </a:r>
            <a:r>
              <a:rPr lang="en-US" altLang="zh-CN" dirty="0" err="1"/>
              <a:t>Erdős</a:t>
            </a:r>
            <a:r>
              <a:rPr lang="zh-CN" altLang="en-US" dirty="0"/>
              <a:t>）之间合作关系的指标。具体来说：</a:t>
            </a:r>
            <a:endParaRPr lang="zh-CN" altLang="en-US" dirty="0"/>
          </a:p>
          <a:p>
            <a:pPr>
              <a:buFont typeface="+mj-lt"/>
              <a:buAutoNum type="arabicPeriod"/>
            </a:pPr>
            <a:r>
              <a:rPr lang="zh-CN" altLang="en-US" b="1" dirty="0"/>
              <a:t>定义</a:t>
            </a:r>
            <a:r>
              <a:rPr lang="zh-CN" altLang="en-US" dirty="0"/>
              <a:t>：</a:t>
            </a:r>
            <a:endParaRPr lang="zh-CN" altLang="en-US" dirty="0"/>
          </a:p>
          <a:p>
            <a:pPr marL="742950" lvl="1" indent="-285750">
              <a:buFont typeface="+mj-lt"/>
              <a:buAutoNum type="arabicPeriod"/>
            </a:pPr>
            <a:r>
              <a:rPr lang="zh-CN" altLang="en-US" dirty="0"/>
              <a:t>如果一个人直接与厄尔多斯合作过（例如共同撰写论文），则他的厄尔多斯数为</a:t>
            </a:r>
            <a:r>
              <a:rPr lang="en-US" altLang="zh-CN" dirty="0"/>
              <a:t>1</a:t>
            </a:r>
            <a:r>
              <a:rPr lang="zh-CN" altLang="en-US" dirty="0"/>
              <a:t>。</a:t>
            </a:r>
            <a:endParaRPr lang="zh-CN" altLang="en-US" dirty="0"/>
          </a:p>
          <a:p>
            <a:pPr marL="742950" lvl="1" indent="-285750">
              <a:buFont typeface="+mj-lt"/>
              <a:buAutoNum type="arabicPeriod"/>
            </a:pPr>
            <a:r>
              <a:rPr lang="zh-CN" altLang="en-US" dirty="0"/>
              <a:t>如果一个人没有直接与厄尔多斯合作，但与一个厄尔多斯数为</a:t>
            </a:r>
            <a:r>
              <a:rPr lang="en-US" altLang="zh-CN" dirty="0"/>
              <a:t>1</a:t>
            </a:r>
            <a:r>
              <a:rPr lang="zh-CN" altLang="en-US" dirty="0"/>
              <a:t>的人合作过，则他的厄尔多斯数为</a:t>
            </a:r>
            <a:r>
              <a:rPr lang="en-US" altLang="zh-CN" dirty="0"/>
              <a:t>2</a:t>
            </a:r>
            <a:r>
              <a:rPr lang="zh-CN" altLang="en-US" dirty="0"/>
              <a:t>。</a:t>
            </a:r>
            <a:endParaRPr lang="zh-CN" altLang="en-US" dirty="0"/>
          </a:p>
          <a:p>
            <a:pPr marL="742950" lvl="1" indent="-285750">
              <a:buFont typeface="+mj-lt"/>
              <a:buAutoNum type="arabicPeriod"/>
            </a:pPr>
            <a:r>
              <a:rPr lang="zh-CN" altLang="en-US" dirty="0"/>
              <a:t>以此类推，厄尔多斯数为</a:t>
            </a:r>
            <a:r>
              <a:rPr lang="en-US" altLang="zh-CN" dirty="0"/>
              <a:t>3</a:t>
            </a:r>
            <a:r>
              <a:rPr lang="zh-CN" altLang="en-US" dirty="0"/>
              <a:t>的人与厄尔多斯数为</a:t>
            </a:r>
            <a:r>
              <a:rPr lang="en-US" altLang="zh-CN" dirty="0"/>
              <a:t>2</a:t>
            </a:r>
            <a:r>
              <a:rPr lang="zh-CN" altLang="en-US" dirty="0"/>
              <a:t>的人合作过，但没有直接与厄尔多斯合作。</a:t>
            </a:r>
            <a:endParaRPr lang="zh-CN" altLang="en-US" dirty="0"/>
          </a:p>
          <a:p>
            <a:pPr>
              <a:buFont typeface="+mj-lt"/>
              <a:buAutoNum type="arabicPeriod"/>
            </a:pPr>
            <a:r>
              <a:rPr lang="zh-CN" altLang="en-US" b="1" dirty="0"/>
              <a:t>用途</a:t>
            </a:r>
            <a:r>
              <a:rPr lang="zh-CN" altLang="en-US" dirty="0"/>
              <a:t>：</a:t>
            </a:r>
            <a:endParaRPr lang="zh-CN" altLang="en-US" dirty="0"/>
          </a:p>
          <a:p>
            <a:pPr marL="742950" lvl="1" indent="-285750">
              <a:buFont typeface="+mj-lt"/>
              <a:buAutoNum type="arabicPeriod"/>
            </a:pPr>
            <a:r>
              <a:rPr lang="zh-CN" altLang="en-US" dirty="0"/>
              <a:t>厄尔多斯数被广泛用于数学界，作为一种轻松的方式来表明数学家的合作网络和学术关系。</a:t>
            </a:r>
            <a:endParaRPr lang="zh-CN" altLang="en-US" dirty="0"/>
          </a:p>
          <a:p>
            <a:pPr marL="742950" lvl="1" indent="-285750">
              <a:buFont typeface="+mj-lt"/>
              <a:buAutoNum type="arabicPeriod"/>
            </a:pPr>
            <a:r>
              <a:rPr lang="zh-CN" altLang="en-US" dirty="0"/>
              <a:t>该概念强调了数学合作的社交网络，反映了学术界的互联性。</a:t>
            </a:r>
            <a:endParaRPr lang="zh-CN" altLang="en-US" dirty="0"/>
          </a:p>
          <a:p>
            <a:pPr>
              <a:buFont typeface="+mj-lt"/>
              <a:buAutoNum type="arabicPeriod"/>
            </a:pPr>
            <a:r>
              <a:rPr lang="zh-CN" altLang="en-US" b="1" dirty="0"/>
              <a:t>背景</a:t>
            </a:r>
            <a:r>
              <a:rPr lang="zh-CN" altLang="en-US" dirty="0"/>
              <a:t>：</a:t>
            </a:r>
            <a:endParaRPr lang="zh-CN" altLang="en-US" dirty="0"/>
          </a:p>
          <a:p>
            <a:pPr marL="742950" lvl="1" indent="-285750">
              <a:buFont typeface="+mj-lt"/>
              <a:buAutoNum type="arabicPeriod"/>
            </a:pPr>
            <a:r>
              <a:rPr lang="zh-CN" altLang="en-US" dirty="0"/>
              <a:t>保罗</a:t>
            </a:r>
            <a:r>
              <a:rPr lang="en-US" altLang="zh-CN" dirty="0"/>
              <a:t>·</a:t>
            </a:r>
            <a:r>
              <a:rPr lang="zh-CN" altLang="en-US" dirty="0"/>
              <a:t>厄尔多斯是</a:t>
            </a:r>
            <a:r>
              <a:rPr lang="en-US" altLang="zh-CN" dirty="0"/>
              <a:t>20</a:t>
            </a:r>
            <a:r>
              <a:rPr lang="zh-CN" altLang="en-US" dirty="0"/>
              <a:t>世纪最著名的数学家之一，以其广泛的合作而闻名，他与成千上万的数学家合作发表了大量论文。</a:t>
            </a:r>
            <a:endParaRPr lang="zh-CN" altLang="en-US" dirty="0"/>
          </a:p>
          <a:p>
            <a:r>
              <a:rPr lang="zh-CN" altLang="en-US" dirty="0"/>
              <a:t>总之，厄尔多斯数不仅是一个有趣的数字游戏，也在某种程度上反映了学术界的合作文化。</a:t>
            </a:r>
            <a:endParaRPr lang="zh-CN" altLang="en-US" dirty="0"/>
          </a:p>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dirty="0"/>
              <a:t>凯文</a:t>
            </a:r>
            <a:r>
              <a:rPr lang="en-US" altLang="zh-CN" dirty="0"/>
              <a:t>·</a:t>
            </a:r>
            <a:r>
              <a:rPr lang="zh-CN" altLang="en-US" dirty="0"/>
              <a:t>培根游戏（</a:t>
            </a:r>
            <a:r>
              <a:rPr lang="en-US" altLang="zh-CN" dirty="0"/>
              <a:t>The Kevin Bacon Game</a:t>
            </a:r>
            <a:r>
              <a:rPr lang="zh-CN" altLang="en-US" dirty="0"/>
              <a:t>）是一种基于电影演员之间关系的娱乐游戏，也叫“凯文</a:t>
            </a:r>
            <a:r>
              <a:rPr lang="en-US" altLang="zh-CN" dirty="0"/>
              <a:t>·</a:t>
            </a:r>
            <a:r>
              <a:rPr lang="zh-CN" altLang="en-US" dirty="0"/>
              <a:t>培根六度分隔”。它的目标是通过最少的演员连接数，将任意演员与好莱坞演员凯文</a:t>
            </a:r>
            <a:r>
              <a:rPr lang="en-US" altLang="zh-CN" dirty="0"/>
              <a:t>·</a:t>
            </a:r>
            <a:r>
              <a:rPr lang="zh-CN" altLang="en-US" dirty="0"/>
              <a:t>培根联系起来。</a:t>
            </a:r>
            <a:endParaRPr lang="zh-CN" altLang="en-US" dirty="0"/>
          </a:p>
          <a:p>
            <a:r>
              <a:rPr lang="zh-CN" altLang="en-US" b="1" dirty="0"/>
              <a:t>游戏规则：</a:t>
            </a:r>
            <a:endParaRPr lang="zh-CN" altLang="en-US" b="1" dirty="0"/>
          </a:p>
          <a:p>
            <a:pPr>
              <a:buFont typeface="+mj-lt"/>
              <a:buAutoNum type="arabicPeriod"/>
            </a:pPr>
            <a:r>
              <a:rPr lang="zh-CN" altLang="en-US" b="1" dirty="0"/>
              <a:t>凯文</a:t>
            </a:r>
            <a:r>
              <a:rPr lang="en-US" altLang="zh-CN" b="1" dirty="0"/>
              <a:t>·</a:t>
            </a:r>
            <a:r>
              <a:rPr lang="zh-CN" altLang="en-US" b="1" dirty="0"/>
              <a:t>培根数</a:t>
            </a:r>
            <a:r>
              <a:rPr lang="zh-CN" altLang="en-US" dirty="0"/>
              <a:t>：任何与凯文</a:t>
            </a:r>
            <a:r>
              <a:rPr lang="en-US" altLang="zh-CN" dirty="0"/>
              <a:t>·</a:t>
            </a:r>
            <a:r>
              <a:rPr lang="zh-CN" altLang="en-US" dirty="0"/>
              <a:t>培根合作过电影的演员，凯文</a:t>
            </a:r>
            <a:r>
              <a:rPr lang="en-US" altLang="zh-CN" dirty="0"/>
              <a:t>·</a:t>
            </a:r>
            <a:r>
              <a:rPr lang="zh-CN" altLang="en-US" dirty="0"/>
              <a:t>培根数为</a:t>
            </a:r>
            <a:r>
              <a:rPr lang="en-US" altLang="zh-CN" dirty="0"/>
              <a:t>1</a:t>
            </a:r>
            <a:r>
              <a:rPr lang="zh-CN" altLang="en-US" dirty="0"/>
              <a:t>。</a:t>
            </a:r>
            <a:endParaRPr lang="zh-CN" altLang="en-US" dirty="0"/>
          </a:p>
          <a:p>
            <a:pPr>
              <a:buFont typeface="+mj-lt"/>
              <a:buAutoNum type="arabicPeriod"/>
            </a:pPr>
            <a:r>
              <a:rPr lang="zh-CN" altLang="en-US" b="1" dirty="0"/>
              <a:t>连接路径</a:t>
            </a:r>
            <a:r>
              <a:rPr lang="zh-CN" altLang="en-US" dirty="0"/>
              <a:t>：如果一个演员没有直接与凯文</a:t>
            </a:r>
            <a:r>
              <a:rPr lang="en-US" altLang="zh-CN" dirty="0"/>
              <a:t>·</a:t>
            </a:r>
            <a:r>
              <a:rPr lang="zh-CN" altLang="en-US" dirty="0"/>
              <a:t>培根合作过，但与合作过凯文</a:t>
            </a:r>
            <a:r>
              <a:rPr lang="en-US" altLang="zh-CN" dirty="0"/>
              <a:t>·</a:t>
            </a:r>
            <a:r>
              <a:rPr lang="zh-CN" altLang="en-US" dirty="0"/>
              <a:t>培根的演员有合作关系，他的凯文</a:t>
            </a:r>
            <a:r>
              <a:rPr lang="en-US" altLang="zh-CN" dirty="0"/>
              <a:t>·</a:t>
            </a:r>
            <a:r>
              <a:rPr lang="zh-CN" altLang="en-US" dirty="0"/>
              <a:t>培根数为</a:t>
            </a:r>
            <a:r>
              <a:rPr lang="en-US" altLang="zh-CN" dirty="0"/>
              <a:t>2</a:t>
            </a:r>
            <a:r>
              <a:rPr lang="zh-CN" altLang="en-US" dirty="0"/>
              <a:t>。</a:t>
            </a:r>
            <a:endParaRPr lang="zh-CN" altLang="en-US" dirty="0"/>
          </a:p>
          <a:p>
            <a:pPr>
              <a:buFont typeface="+mj-lt"/>
              <a:buAutoNum type="arabicPeriod"/>
            </a:pPr>
            <a:r>
              <a:rPr lang="zh-CN" altLang="en-US" b="1" dirty="0"/>
              <a:t>以此类推</a:t>
            </a:r>
            <a:r>
              <a:rPr lang="zh-CN" altLang="en-US" dirty="0"/>
              <a:t>，直到通过一系列演员连接将任意演员联系到凯文</a:t>
            </a:r>
            <a:r>
              <a:rPr lang="en-US" altLang="zh-CN" dirty="0"/>
              <a:t>·</a:t>
            </a:r>
            <a:r>
              <a:rPr lang="zh-CN" altLang="en-US" dirty="0"/>
              <a:t>培根。</a:t>
            </a:r>
            <a:endParaRPr lang="zh-CN" altLang="en-US" dirty="0"/>
          </a:p>
          <a:p>
            <a:r>
              <a:rPr lang="zh-CN" altLang="en-US" b="1" dirty="0"/>
              <a:t>游戏的灵感和意义：</a:t>
            </a:r>
            <a:endParaRPr lang="zh-CN" altLang="en-US" b="1" dirty="0"/>
          </a:p>
          <a:p>
            <a:pPr>
              <a:buFont typeface="Arial" panose="020B0604020202020204" pitchFamily="34" charset="0"/>
              <a:buChar char="•"/>
            </a:pPr>
            <a:r>
              <a:rPr lang="zh-CN" altLang="en-US" dirty="0"/>
              <a:t>凯文</a:t>
            </a:r>
            <a:r>
              <a:rPr lang="en-US" altLang="zh-CN" dirty="0"/>
              <a:t>·</a:t>
            </a:r>
            <a:r>
              <a:rPr lang="zh-CN" altLang="en-US" dirty="0"/>
              <a:t>培根游戏源于“六度分隔理论”，即世界上任意两个人之间的关系链可以通过六步以内的关系连接。</a:t>
            </a:r>
            <a:endParaRPr lang="zh-CN" altLang="en-US" dirty="0"/>
          </a:p>
          <a:p>
            <a:pPr>
              <a:buFont typeface="Arial" panose="020B0604020202020204" pitchFamily="34" charset="0"/>
              <a:buChar char="•"/>
            </a:pPr>
            <a:r>
              <a:rPr lang="zh-CN" altLang="en-US" dirty="0"/>
              <a:t>这个游戏展示了电影演员之间的紧密关系，并帮助人们更直观地理解复杂网络的概念，类似于社交网络和小世界网络中的关系连接特性。</a:t>
            </a:r>
            <a:endParaRPr lang="zh-CN" altLang="en-US" dirty="0"/>
          </a:p>
          <a:p>
            <a:r>
              <a:rPr lang="zh-CN" altLang="en-US" dirty="0"/>
              <a:t>凯文</a:t>
            </a:r>
            <a:r>
              <a:rPr lang="en-US" altLang="zh-CN" dirty="0"/>
              <a:t>·</a:t>
            </a:r>
            <a:r>
              <a:rPr lang="zh-CN" altLang="en-US" dirty="0"/>
              <a:t>培根游戏不仅成为一种社交活动，还在网络科学中被用作研究人际关系网络的示例。</a:t>
            </a:r>
            <a:endParaRPr lang="zh-CN" altLang="en-US" dirty="0"/>
          </a:p>
          <a:p>
            <a:endParaRPr lang="en-US" altLang="zh-CN" dirty="0"/>
          </a:p>
          <a:p>
            <a:r>
              <a:rPr lang="zh-CN" altLang="en-US" dirty="0"/>
              <a:t>李连杰（</a:t>
            </a:r>
            <a:r>
              <a:rPr lang="en-US" altLang="zh-CN" dirty="0"/>
              <a:t>Jet Li</a:t>
            </a:r>
            <a:r>
              <a:rPr lang="zh-CN" altLang="en-US" dirty="0"/>
              <a:t>）</a:t>
            </a:r>
            <a:endParaRPr lang="en-US" altLang="zh-CN" dirty="0"/>
          </a:p>
          <a:p>
            <a:r>
              <a:rPr lang="en-US" altLang="zh-CN" dirty="0"/>
              <a:t>《</a:t>
            </a:r>
            <a:r>
              <a:rPr lang="zh-CN" altLang="en-US" dirty="0"/>
              <a:t>敢死队</a:t>
            </a:r>
            <a:r>
              <a:rPr lang="en-US" altLang="zh-CN" dirty="0"/>
              <a:t>》</a:t>
            </a:r>
            <a:r>
              <a:rPr lang="zh-CN" altLang="en-US" dirty="0"/>
              <a:t>（</a:t>
            </a:r>
            <a:r>
              <a:rPr lang="en-US" altLang="zh-CN" dirty="0"/>
              <a:t>The Expendables</a:t>
            </a:r>
            <a:r>
              <a:rPr lang="zh-CN" altLang="en-US" dirty="0"/>
              <a:t>）</a:t>
            </a:r>
            <a:endParaRPr lang="en-US" altLang="zh-CN" dirty="0"/>
          </a:p>
          <a:p>
            <a:r>
              <a:rPr lang="en-US" altLang="zh-CN" dirty="0"/>
              <a:t>David Joseph Martinez </a:t>
            </a:r>
            <a:r>
              <a:rPr lang="zh-CN" altLang="en-US" b="1" dirty="0"/>
              <a:t>大卫</a:t>
            </a:r>
            <a:r>
              <a:rPr lang="en-US" altLang="zh-CN" b="1" dirty="0"/>
              <a:t>·</a:t>
            </a:r>
            <a:r>
              <a:rPr lang="zh-CN" altLang="en-US" b="1" dirty="0"/>
              <a:t>约瑟夫</a:t>
            </a:r>
            <a:r>
              <a:rPr lang="en-US" altLang="zh-CN" b="1" dirty="0"/>
              <a:t>·</a:t>
            </a:r>
            <a:r>
              <a:rPr lang="zh-CN" altLang="en-US" b="1" dirty="0"/>
              <a:t>马丁内斯</a:t>
            </a:r>
            <a:endParaRPr lang="en-US" altLang="zh-CN" b="1" dirty="0"/>
          </a:p>
          <a:p>
            <a:r>
              <a:rPr lang="en-US" altLang="zh-CN" dirty="0"/>
              <a:t>《X</a:t>
            </a:r>
            <a:r>
              <a:rPr lang="zh-CN" altLang="en-US" dirty="0"/>
              <a:t>战警：第一战</a:t>
            </a:r>
            <a:r>
              <a:rPr lang="en-US" altLang="zh-CN" dirty="0"/>
              <a:t>》</a:t>
            </a:r>
            <a:r>
              <a:rPr lang="zh-CN" altLang="en-US" dirty="0"/>
              <a:t>（</a:t>
            </a:r>
            <a:r>
              <a:rPr lang="en-US" altLang="zh-CN" dirty="0"/>
              <a:t>X-Men: First Class</a:t>
            </a:r>
            <a:r>
              <a:rPr lang="zh-CN" altLang="en-US" dirty="0"/>
              <a:t>）</a:t>
            </a:r>
            <a:endParaRPr lang="en-US" altLang="zh-CN" dirty="0"/>
          </a:p>
          <a:p>
            <a:endParaRPr lang="en-US" altLang="zh-CN" dirty="0"/>
          </a:p>
          <a:p>
            <a:r>
              <a:rPr lang="zh-CN" altLang="en-US" dirty="0"/>
              <a:t>巩俐</a:t>
            </a:r>
            <a:endParaRPr lang="en-US" altLang="zh-CN" dirty="0"/>
          </a:p>
          <a:p>
            <a:endParaRPr lang="en-US" altLang="zh-CN" dirty="0"/>
          </a:p>
          <a:p>
            <a:r>
              <a:rPr lang="en-US" altLang="zh-CN" dirty="0"/>
              <a:t>《</a:t>
            </a:r>
            <a:r>
              <a:rPr lang="zh-CN" altLang="en-US" dirty="0"/>
              <a:t>迈阿密风云</a:t>
            </a:r>
            <a:r>
              <a:rPr lang="en-US" altLang="zh-CN" dirty="0"/>
              <a:t>》</a:t>
            </a:r>
            <a:r>
              <a:rPr lang="zh-CN" altLang="en-US" dirty="0"/>
              <a:t>（</a:t>
            </a:r>
            <a:r>
              <a:rPr lang="en-US" altLang="zh-CN" dirty="0"/>
              <a:t>Miami Vice</a:t>
            </a:r>
            <a:r>
              <a:rPr lang="zh-CN" altLang="en-US" dirty="0"/>
              <a:t>）</a:t>
            </a:r>
            <a:endParaRPr lang="en-US" altLang="zh-CN" dirty="0"/>
          </a:p>
          <a:p>
            <a:endParaRPr lang="en-US" altLang="zh-CN" dirty="0"/>
          </a:p>
          <a:p>
            <a:r>
              <a:rPr lang="en-US" altLang="zh-CN" dirty="0"/>
              <a:t>Tony Curran:</a:t>
            </a:r>
            <a:r>
              <a:rPr lang="zh-CN" altLang="en-US" dirty="0"/>
              <a:t> </a:t>
            </a:r>
            <a:r>
              <a:rPr lang="zh-CN" altLang="en-US" b="1" dirty="0"/>
              <a:t>托尼</a:t>
            </a:r>
            <a:r>
              <a:rPr lang="en-US" altLang="zh-CN" b="1" dirty="0"/>
              <a:t>·</a:t>
            </a:r>
            <a:r>
              <a:rPr lang="zh-CN" altLang="en-US" b="1" dirty="0"/>
              <a:t>库兰</a:t>
            </a:r>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dirty="0"/>
              <a:t>巴拉巴西</a:t>
            </a:r>
            <a:r>
              <a:rPr lang="en-US" altLang="zh-CN" dirty="0"/>
              <a:t>-</a:t>
            </a:r>
            <a:r>
              <a:rPr lang="zh-CN" altLang="en-US" dirty="0"/>
              <a:t>阿尔伯特（</a:t>
            </a:r>
            <a:r>
              <a:rPr lang="en-US" altLang="zh-CN" dirty="0"/>
              <a:t>BA</a:t>
            </a:r>
            <a:r>
              <a:rPr lang="zh-CN" altLang="en-US" dirty="0"/>
              <a:t>）模型是一种用于生成无标度网络的模型，由阿尔伯特</a:t>
            </a:r>
            <a:r>
              <a:rPr lang="en-US" altLang="zh-CN" dirty="0"/>
              <a:t>·</a:t>
            </a:r>
            <a:r>
              <a:rPr lang="zh-CN" altLang="en-US" dirty="0"/>
              <a:t>拉斯洛</a:t>
            </a:r>
            <a:r>
              <a:rPr lang="en-US" altLang="zh-CN" dirty="0"/>
              <a:t>·</a:t>
            </a:r>
            <a:r>
              <a:rPr lang="zh-CN" altLang="en-US" dirty="0"/>
              <a:t>巴拉巴西和罗伯特</a:t>
            </a:r>
            <a:r>
              <a:rPr lang="en-US" altLang="zh-CN" dirty="0"/>
              <a:t>·</a:t>
            </a:r>
            <a:r>
              <a:rPr lang="zh-CN" altLang="en-US" dirty="0"/>
              <a:t>阿尔伯特在</a:t>
            </a:r>
            <a:r>
              <a:rPr lang="en-US" altLang="zh-CN" dirty="0"/>
              <a:t>1999</a:t>
            </a:r>
            <a:r>
              <a:rPr lang="zh-CN" altLang="en-US" dirty="0"/>
              <a:t>年提出。这个模型特别适用于描述现实世界中许多网络的结构，如互联网、社交网络等。</a:t>
            </a:r>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b="1" dirty="0"/>
              <a:t>介数</a:t>
            </a:r>
            <a:r>
              <a:rPr lang="zh-CN" altLang="en-US" dirty="0"/>
              <a:t>（</a:t>
            </a:r>
            <a:r>
              <a:rPr lang="en-US" altLang="zh-CN" dirty="0"/>
              <a:t>Betweenness</a:t>
            </a:r>
            <a:r>
              <a:rPr lang="zh-CN" altLang="en-US" dirty="0"/>
              <a:t>）是网络分析中的一种中心性指标，用于衡量网络中节点或边在其他节点对之间充当“桥梁”或“中介”的程度。介数越高，表示该节点或边在网络中的“中介”作用越强，对信息流通或连接的影响越大。</a:t>
            </a:r>
            <a:endParaRPr lang="en-US" altLang="zh-CN" dirty="0"/>
          </a:p>
          <a:p>
            <a:r>
              <a:rPr lang="en-US" altLang="zh-CN" dirty="0"/>
              <a:t>GN</a:t>
            </a:r>
            <a:r>
              <a:rPr lang="zh-CN" altLang="en-US" dirty="0"/>
              <a:t>算法（</a:t>
            </a:r>
            <a:r>
              <a:rPr lang="en-US" altLang="zh-CN" dirty="0"/>
              <a:t>Girvan-Newman</a:t>
            </a:r>
            <a:r>
              <a:rPr lang="zh-CN" altLang="en-US" dirty="0"/>
              <a:t>算法）是一种用于网络社区检测的算法，由马克</a:t>
            </a:r>
            <a:r>
              <a:rPr lang="en-US" altLang="zh-CN" dirty="0"/>
              <a:t>·</a:t>
            </a:r>
            <a:r>
              <a:rPr lang="zh-CN" altLang="en-US" dirty="0"/>
              <a:t>吉尔凡（</a:t>
            </a:r>
            <a:r>
              <a:rPr lang="en-US" altLang="zh-CN" dirty="0"/>
              <a:t>Mark Girvan</a:t>
            </a:r>
            <a:r>
              <a:rPr lang="zh-CN" altLang="en-US" dirty="0"/>
              <a:t>）和迈克尔</a:t>
            </a:r>
            <a:r>
              <a:rPr lang="en-US" altLang="zh-CN" dirty="0"/>
              <a:t>·</a:t>
            </a:r>
            <a:r>
              <a:rPr lang="zh-CN" altLang="en-US" dirty="0"/>
              <a:t>纽曼（</a:t>
            </a:r>
            <a:r>
              <a:rPr lang="en-US" altLang="zh-CN" dirty="0"/>
              <a:t>Michael Newman</a:t>
            </a:r>
            <a:r>
              <a:rPr lang="zh-CN" altLang="en-US" dirty="0"/>
              <a:t>）在</a:t>
            </a:r>
            <a:r>
              <a:rPr lang="en-US" altLang="zh-CN" dirty="0"/>
              <a:t>2002</a:t>
            </a:r>
            <a:r>
              <a:rPr lang="zh-CN" altLang="en-US" dirty="0"/>
              <a:t>年提出。该算法旨在识别网络中的社区结构，即节点的集群。</a:t>
            </a:r>
            <a:endParaRPr lang="zh-CN" altLang="en-US" dirty="0"/>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b="1" dirty="0">
                <a:sym typeface="+mn-ea"/>
              </a:rPr>
              <a:t>比例差异</a:t>
            </a:r>
            <a:r>
              <a:rPr lang="zh-CN" altLang="en-US" dirty="0">
                <a:sym typeface="+mn-ea"/>
              </a:rPr>
              <a:t>：不同的</a:t>
            </a:r>
            <a:r>
              <a:rPr lang="en-US" altLang="zh-CN" dirty="0">
                <a:sym typeface="+mn-ea"/>
              </a:rPr>
              <a:t>motif</a:t>
            </a:r>
            <a:r>
              <a:rPr lang="zh-CN" altLang="en-US" dirty="0">
                <a:sym typeface="+mn-ea"/>
              </a:rPr>
              <a:t>实例可能有不同的边结构。例如，一个</a:t>
            </a:r>
            <a:r>
              <a:rPr lang="en-US" altLang="zh-CN" dirty="0">
                <a:sym typeface="+mn-ea"/>
              </a:rPr>
              <a:t>motif</a:t>
            </a:r>
            <a:r>
              <a:rPr lang="zh-CN" altLang="en-US" dirty="0">
                <a:sym typeface="+mn-ea"/>
              </a:rPr>
              <a:t>可能有多个边连接多个节点，其中一些边表示上下位关系，而另一些边则可能表示其他类型的关系（如并列关系或对立关系）。因此，在一些</a:t>
            </a:r>
            <a:r>
              <a:rPr lang="en-US" altLang="zh-CN" dirty="0">
                <a:sym typeface="+mn-ea"/>
              </a:rPr>
              <a:t>motif</a:t>
            </a:r>
            <a:r>
              <a:rPr lang="zh-CN" altLang="en-US" dirty="0">
                <a:sym typeface="+mn-ea"/>
              </a:rPr>
              <a:t>实例中，上下位关系的边可能占总边数的较大比例，而在其他实例中，比例可能较小。</a:t>
            </a:r>
            <a:endParaRPr lang="zh-CN" altLang="en-US" dirty="0"/>
          </a:p>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r>
              <a:rPr lang="zh-CN" altLang="en-US" dirty="0">
                <a:sym typeface="+mn-ea"/>
              </a:rPr>
              <a:t>当我们说</a:t>
            </a:r>
            <a:r>
              <a:rPr lang="en-US" altLang="zh-CN" dirty="0">
                <a:sym typeface="+mn-ea"/>
              </a:rPr>
              <a:t>Motif</a:t>
            </a:r>
            <a:r>
              <a:rPr lang="zh-CN" altLang="en-US" dirty="0">
                <a:sym typeface="+mn-ea"/>
              </a:rPr>
              <a:t>的</a:t>
            </a:r>
            <a:r>
              <a:rPr lang="en-US" altLang="zh-CN" dirty="0">
                <a:sym typeface="+mn-ea"/>
              </a:rPr>
              <a:t>HHR</a:t>
            </a:r>
            <a:r>
              <a:rPr lang="zh-CN" altLang="en-US" dirty="0">
                <a:sym typeface="+mn-ea"/>
              </a:rPr>
              <a:t>与</a:t>
            </a:r>
            <a:r>
              <a:rPr lang="en-US" altLang="zh-CN" dirty="0">
                <a:sym typeface="+mn-ea"/>
              </a:rPr>
              <a:t>Z-score</a:t>
            </a:r>
            <a:r>
              <a:rPr lang="zh-CN" altLang="en-US" dirty="0">
                <a:sym typeface="+mn-ea"/>
              </a:rPr>
              <a:t>正相关时，意味着</a:t>
            </a:r>
            <a:r>
              <a:rPr lang="en-US" altLang="zh-CN" dirty="0">
                <a:sym typeface="+mn-ea"/>
              </a:rPr>
              <a:t>HHR</a:t>
            </a:r>
            <a:r>
              <a:rPr lang="zh-CN" altLang="en-US" dirty="0">
                <a:sym typeface="+mn-ea"/>
              </a:rPr>
              <a:t>值的增加会导致</a:t>
            </a:r>
            <a:r>
              <a:rPr lang="en-US" altLang="zh-CN" dirty="0">
                <a:sym typeface="+mn-ea"/>
              </a:rPr>
              <a:t>Z-score</a:t>
            </a:r>
            <a:r>
              <a:rPr lang="zh-CN" altLang="en-US" dirty="0">
                <a:sym typeface="+mn-ea"/>
              </a:rPr>
              <a:t>的增加。这表明那些</a:t>
            </a:r>
            <a:r>
              <a:rPr lang="en-US" altLang="zh-CN" dirty="0">
                <a:sym typeface="+mn-ea"/>
              </a:rPr>
              <a:t>HHR</a:t>
            </a:r>
            <a:r>
              <a:rPr lang="zh-CN" altLang="en-US" dirty="0">
                <a:sym typeface="+mn-ea"/>
              </a:rPr>
              <a:t>较高的</a:t>
            </a:r>
            <a:r>
              <a:rPr lang="en-US" altLang="zh-CN" dirty="0">
                <a:sym typeface="+mn-ea"/>
              </a:rPr>
              <a:t>motif</a:t>
            </a:r>
            <a:r>
              <a:rPr lang="zh-CN" altLang="en-US" dirty="0">
                <a:sym typeface="+mn-ea"/>
              </a:rPr>
              <a:t>（即具有更多上下位关系边的</a:t>
            </a:r>
            <a:r>
              <a:rPr lang="en-US" altLang="zh-CN" dirty="0">
                <a:sym typeface="+mn-ea"/>
              </a:rPr>
              <a:t>motif</a:t>
            </a:r>
            <a:r>
              <a:rPr lang="zh-CN" altLang="en-US" dirty="0">
                <a:sym typeface="+mn-ea"/>
              </a:rPr>
              <a:t>）在</a:t>
            </a:r>
            <a:r>
              <a:rPr lang="en-US" altLang="zh-CN" dirty="0">
                <a:sym typeface="+mn-ea"/>
              </a:rPr>
              <a:t>Z-score</a:t>
            </a:r>
            <a:r>
              <a:rPr lang="zh-CN" altLang="en-US" dirty="0">
                <a:sym typeface="+mn-ea"/>
              </a:rPr>
              <a:t>的计算中表现得更为突出，说明它们在表示上下位关系的能力上相对其他</a:t>
            </a:r>
            <a:r>
              <a:rPr lang="en-US" altLang="zh-CN" dirty="0">
                <a:sym typeface="+mn-ea"/>
              </a:rPr>
              <a:t>motif</a:t>
            </a:r>
            <a:r>
              <a:rPr lang="zh-CN" altLang="en-US" dirty="0">
                <a:sym typeface="+mn-ea"/>
              </a:rPr>
              <a:t>更加显著</a:t>
            </a:r>
            <a:endParaRPr lang="zh-CN" altLang="en-US" dirty="0"/>
          </a:p>
          <a:p>
            <a:endParaRPr lang="zh-CN" altLang="en-US"/>
          </a:p>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a:noFill/>
        </p:spPr>
        <p:txBody>
          <a:bodyPr/>
          <a:lstStyle/>
          <a:p>
            <a:endParaRPr lang="zh-CN" altLang="en-US"/>
          </a:p>
        </p:txBody>
      </p:sp>
      <p:sp>
        <p:nvSpPr>
          <p:cNvPr id="23556" name="灯片编号占位符 3"/>
          <p:cNvSpPr>
            <a:spLocks noGrp="1"/>
          </p:cNvSpPr>
          <p:nvPr>
            <p:ph type="sldNum" sz="quarter" idx="5"/>
          </p:nvPr>
        </p:nvSpPr>
        <p:spPr>
          <a:noFill/>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E0FB5EB6-F1D6-49F6-925E-FD5422D4B13C}" type="slidenum">
              <a:rPr lang="en-US" altLang="zh-CN" b="0" smtClean="0">
                <a:latin typeface="Arial" panose="020B0604020202020204" pitchFamily="34" charset="0"/>
              </a:rPr>
            </a:fld>
            <a:endParaRPr lang="en-US" altLang="zh-CN" b="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ahoma" panose="020B0604030504040204"/>
              <a:ea typeface="黑体" panose="02010609060101010101" pitchFamily="49" charset="-122"/>
              <a:cs typeface="+mn-cs"/>
            </a:endParaRPr>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ahoma" panose="020B0604030504040204"/>
              <a:ea typeface="黑体" panose="02010609060101010101" pitchFamily="49" charset="-122"/>
              <a:cs typeface="+mn-cs"/>
            </a:endParaRPr>
          </a:p>
        </p:txBody>
      </p:sp>
      <p:pic>
        <p:nvPicPr>
          <p:cNvPr id="4" name="图片 3"/>
          <p:cNvPicPr>
            <a:picLocks noChangeAspect="1"/>
          </p:cNvPicPr>
          <p:nvPr userDrawn="1"/>
        </p:nvPicPr>
        <p:blipFill>
          <a:blip r:embed="rId2">
            <a:biLevel thresh="50000"/>
            <a:grayscl/>
            <a:extLst>
              <a:ext uri="{28A0092B-C50C-407E-A947-70E740481C1C}">
                <a14:useLocalDpi xmlns:a14="http://schemas.microsoft.com/office/drawing/2010/main" val="0"/>
              </a:ext>
            </a:extLst>
          </a:blip>
          <a:srcRect t="77927" r="53951"/>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5"/>
          <p:cNvSpPr/>
          <p:nvPr userDrawn="1"/>
        </p:nvSpPr>
        <p:spPr bwMode="auto">
          <a:xfrm>
            <a:off x="295275" y="384955"/>
            <a:ext cx="276225" cy="349904"/>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7" name="燕尾形 6"/>
          <p:cNvSpPr/>
          <p:nvPr userDrawn="1"/>
        </p:nvSpPr>
        <p:spPr bwMode="auto">
          <a:xfrm>
            <a:off x="563432" y="386389"/>
            <a:ext cx="276225" cy="349904"/>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4" descr="E:\WORK\工作\PPT\PPT新校徽\L15副本.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4288"/>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68610" name="Rectangle 2"/>
          <p:cNvSpPr>
            <a:spLocks noGrp="1" noChangeArrowheads="1"/>
          </p:cNvSpPr>
          <p:nvPr>
            <p:ph type="ctrTitle"/>
          </p:nvPr>
        </p:nvSpPr>
        <p:spPr>
          <a:xfrm>
            <a:off x="685800" y="990600"/>
            <a:ext cx="7772400" cy="1371600"/>
          </a:xfrm>
        </p:spPr>
        <p:txBody>
          <a:bodyPr/>
          <a:lstStyle>
            <a:lvl1pPr>
              <a:defRPr sz="4000" b="1"/>
            </a:lvl1pPr>
          </a:lstStyle>
          <a:p>
            <a:pPr lvl="0"/>
            <a:r>
              <a:rPr lang="zh-CN" altLang="en-US" noProof="0"/>
              <a:t>单击此处编辑母版标题样式</a:t>
            </a:r>
            <a:endParaRPr lang="zh-CN" altLang="en-US" noProof="0"/>
          </a:p>
        </p:txBody>
      </p:sp>
      <p:sp>
        <p:nvSpPr>
          <p:cNvPr id="68611"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lvl="0"/>
            <a:r>
              <a:rPr lang="zh-CN" altLang="en-US" noProof="0"/>
              <a:t>单击此处编辑母版副标题样式</a:t>
            </a:r>
            <a:endParaRPr lang="zh-CN" altLang="en-US" noProof="0"/>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871668FB-E5E3-4894-9D63-492329FA0040}" type="slidenum">
              <a:rPr lang="en-US" altLang="zh-CN"/>
            </a:fld>
            <a:endParaRPr lang="en-US" altLang="zh-CN"/>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4F3A98F6-4198-45D9-B4C5-D15C7A064CF3}" type="slidenum">
              <a:rPr lang="en-US" altLang="zh-CN"/>
            </a:fld>
            <a:endParaRPr lang="en-US" altLang="zh-CN"/>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b="1">
              <a:solidFill>
                <a:prstClr val="white"/>
              </a:solidFill>
            </a:endParaRPr>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b="1">
              <a:solidFill>
                <a:prstClr val="white"/>
              </a:solidFill>
            </a:endParaRPr>
          </a:p>
        </p:txBody>
      </p:sp>
      <p:pic>
        <p:nvPicPr>
          <p:cNvPr id="4" name="图片 3"/>
          <p:cNvPicPr>
            <a:picLocks noChangeAspect="1"/>
          </p:cNvPicPr>
          <p:nvPr userDrawn="1"/>
        </p:nvPicPr>
        <p:blipFill>
          <a:blip r:embed="rId2">
            <a:biLevel thresh="50000"/>
            <a:grayscl/>
            <a:extLst>
              <a:ext uri="{28A0092B-C50C-407E-A947-70E740481C1C}">
                <a14:useLocalDpi xmlns:a14="http://schemas.microsoft.com/office/drawing/2010/main" val="0"/>
              </a:ext>
            </a:extLst>
          </a:blip>
          <a:srcRect t="77927" r="53951"/>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5"/>
          <p:cNvSpPr/>
          <p:nvPr userDrawn="1"/>
        </p:nvSpPr>
        <p:spPr bwMode="auto">
          <a:xfrm>
            <a:off x="295275" y="384955"/>
            <a:ext cx="276225" cy="349904"/>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pPr>
            <a:endParaRPr lang="zh-CN" altLang="en-US">
              <a:solidFill>
                <a:prstClr val="black"/>
              </a:solidFill>
              <a:latin typeface="Calibri" panose="020F0502020204030204" pitchFamily="34" charset="0"/>
              <a:ea typeface="宋体" panose="02010600030101010101" pitchFamily="2" charset="-122"/>
            </a:endParaRPr>
          </a:p>
        </p:txBody>
      </p:sp>
      <p:sp>
        <p:nvSpPr>
          <p:cNvPr id="7" name="燕尾形 6"/>
          <p:cNvSpPr/>
          <p:nvPr userDrawn="1"/>
        </p:nvSpPr>
        <p:spPr bwMode="auto">
          <a:xfrm>
            <a:off x="563432" y="386389"/>
            <a:ext cx="276225" cy="349904"/>
          </a:xfrm>
          <a:prstGeom prst="chevron">
            <a:avLst>
              <a:gd name="adj" fmla="val 37480"/>
            </a:avLst>
          </a:prstGeom>
          <a:solidFill>
            <a:srgbClr val="1557A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buFont typeface="Arial" panose="020B0604020202020204" pitchFamily="34" charset="0"/>
              <a:buNone/>
            </a:pPr>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FFFFF"/>
            </a:gs>
            <a:gs pos="97000">
              <a:srgbClr val="F6FAFD"/>
            </a:gs>
            <a:gs pos="100000">
              <a:srgbClr val="F6FAFD"/>
            </a:gs>
          </a:gsLst>
          <a:lin ang="5400000" scaled="1"/>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5pPr>
      <a:lvl6pPr marL="4572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6pPr>
      <a:lvl7pPr marL="9144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7pPr>
      <a:lvl8pPr marL="13716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8pPr>
      <a:lvl9pPr marL="18288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customXml" Target="../ink/ink4.xml"/><Relationship Id="rId7" Type="http://schemas.openxmlformats.org/officeDocument/2006/relationships/customXml" Target="../ink/ink3.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 Id="rId3" Type="http://schemas.openxmlformats.org/officeDocument/2006/relationships/customXml" Target="../ink/ink1.xml"/><Relationship Id="rId2" Type="http://schemas.openxmlformats.org/officeDocument/2006/relationships/image" Target="../media/image7.wmf"/><Relationship Id="rId11" Type="http://schemas.openxmlformats.org/officeDocument/2006/relationships/notesSlide" Target="../notesSlides/notesSlide10.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hyperlink" Target="http://www.trueknowledge.com/" TargetMode="External"/><Relationship Id="rId4" Type="http://schemas.openxmlformats.org/officeDocument/2006/relationships/image" Target="../media/image26.png"/><Relationship Id="rId3" Type="http://schemas.openxmlformats.org/officeDocument/2006/relationships/image" Target="../media/image25.jpeg"/><Relationship Id="rId25" Type="http://schemas.openxmlformats.org/officeDocument/2006/relationships/notesSlide" Target="../notesSlides/notesSlide22.xml"/><Relationship Id="rId24" Type="http://schemas.openxmlformats.org/officeDocument/2006/relationships/slideLayout" Target="../slideLayouts/slideLayout1.xml"/><Relationship Id="rId23" Type="http://schemas.openxmlformats.org/officeDocument/2006/relationships/image" Target="../media/image42.png"/><Relationship Id="rId22" Type="http://schemas.openxmlformats.org/officeDocument/2006/relationships/image" Target="../media/image41.png"/><Relationship Id="rId21" Type="http://schemas.openxmlformats.org/officeDocument/2006/relationships/image" Target="../media/image40.png"/><Relationship Id="rId20" Type="http://schemas.openxmlformats.org/officeDocument/2006/relationships/image" Target="../media/image39.png"/><Relationship Id="rId2" Type="http://schemas.openxmlformats.org/officeDocument/2006/relationships/image" Target="../media/image24.jpeg"/><Relationship Id="rId19" Type="http://schemas.openxmlformats.org/officeDocument/2006/relationships/image" Target="../media/image38.png"/><Relationship Id="rId18" Type="http://schemas.openxmlformats.org/officeDocument/2006/relationships/hyperlink" Target="http://www.cmu.edu/index.shtml" TargetMode="External"/><Relationship Id="rId17" Type="http://schemas.openxmlformats.org/officeDocument/2006/relationships/image" Target="../media/image37.png"/><Relationship Id="rId16" Type="http://schemas.openxmlformats.org/officeDocument/2006/relationships/hyperlink" Target="http://sig.ma/" TargetMode="External"/><Relationship Id="rId15" Type="http://schemas.openxmlformats.org/officeDocument/2006/relationships/image" Target="../media/image36.png"/><Relationship Id="rId14" Type="http://schemas.openxmlformats.org/officeDocument/2006/relationships/image" Target="../media/image35.png"/><Relationship Id="rId13" Type="http://schemas.openxmlformats.org/officeDocument/2006/relationships/image" Target="../media/image34.png"/><Relationship Id="rId12" Type="http://schemas.openxmlformats.org/officeDocument/2006/relationships/image" Target="../media/image33.jpeg"/><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48.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50.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image" Target="../media/image55.png"/></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60.wmf"/><Relationship Id="rId7" Type="http://schemas.openxmlformats.org/officeDocument/2006/relationships/oleObject" Target="../embeddings/oleObject5.bin"/><Relationship Id="rId6" Type="http://schemas.openxmlformats.org/officeDocument/2006/relationships/image" Target="../media/image59.wmf"/><Relationship Id="rId5" Type="http://schemas.openxmlformats.org/officeDocument/2006/relationships/oleObject" Target="../embeddings/oleObject4.bin"/><Relationship Id="rId4" Type="http://schemas.openxmlformats.org/officeDocument/2006/relationships/image" Target="../media/image58.wmf"/><Relationship Id="rId31" Type="http://schemas.openxmlformats.org/officeDocument/2006/relationships/notesSlide" Target="../notesSlides/notesSlide37.xml"/><Relationship Id="rId30" Type="http://schemas.openxmlformats.org/officeDocument/2006/relationships/vmlDrawing" Target="../drawings/vmlDrawing2.vml"/><Relationship Id="rId3" Type="http://schemas.openxmlformats.org/officeDocument/2006/relationships/oleObject" Target="../embeddings/oleObject3.bin"/><Relationship Id="rId29" Type="http://schemas.openxmlformats.org/officeDocument/2006/relationships/slideLayout" Target="../slideLayouts/slideLayout1.xml"/><Relationship Id="rId28" Type="http://schemas.openxmlformats.org/officeDocument/2006/relationships/image" Target="../media/image70.wmf"/><Relationship Id="rId27" Type="http://schemas.openxmlformats.org/officeDocument/2006/relationships/oleObject" Target="../embeddings/oleObject15.bin"/><Relationship Id="rId26" Type="http://schemas.openxmlformats.org/officeDocument/2006/relationships/image" Target="../media/image69.wmf"/><Relationship Id="rId25" Type="http://schemas.openxmlformats.org/officeDocument/2006/relationships/oleObject" Target="../embeddings/oleObject14.bin"/><Relationship Id="rId24" Type="http://schemas.openxmlformats.org/officeDocument/2006/relationships/image" Target="../media/image68.wmf"/><Relationship Id="rId23" Type="http://schemas.openxmlformats.org/officeDocument/2006/relationships/oleObject" Target="../embeddings/oleObject13.bin"/><Relationship Id="rId22" Type="http://schemas.openxmlformats.org/officeDocument/2006/relationships/image" Target="../media/image67.wmf"/><Relationship Id="rId21" Type="http://schemas.openxmlformats.org/officeDocument/2006/relationships/oleObject" Target="../embeddings/oleObject12.bin"/><Relationship Id="rId20" Type="http://schemas.openxmlformats.org/officeDocument/2006/relationships/image" Target="../media/image66.wmf"/><Relationship Id="rId2" Type="http://schemas.openxmlformats.org/officeDocument/2006/relationships/image" Target="../media/image57.wmf"/><Relationship Id="rId19" Type="http://schemas.openxmlformats.org/officeDocument/2006/relationships/oleObject" Target="../embeddings/oleObject11.bin"/><Relationship Id="rId18" Type="http://schemas.openxmlformats.org/officeDocument/2006/relationships/image" Target="../media/image65.wmf"/><Relationship Id="rId17" Type="http://schemas.openxmlformats.org/officeDocument/2006/relationships/oleObject" Target="../embeddings/oleObject10.bin"/><Relationship Id="rId16" Type="http://schemas.openxmlformats.org/officeDocument/2006/relationships/image" Target="../media/image64.wmf"/><Relationship Id="rId15" Type="http://schemas.openxmlformats.org/officeDocument/2006/relationships/oleObject" Target="../embeddings/oleObject9.bin"/><Relationship Id="rId14" Type="http://schemas.openxmlformats.org/officeDocument/2006/relationships/image" Target="../media/image63.wmf"/><Relationship Id="rId13" Type="http://schemas.openxmlformats.org/officeDocument/2006/relationships/oleObject" Target="../embeddings/oleObject8.bin"/><Relationship Id="rId12" Type="http://schemas.openxmlformats.org/officeDocument/2006/relationships/image" Target="../media/image62.wmf"/><Relationship Id="rId11" Type="http://schemas.openxmlformats.org/officeDocument/2006/relationships/oleObject" Target="../embeddings/oleObject7.bin"/><Relationship Id="rId10" Type="http://schemas.openxmlformats.org/officeDocument/2006/relationships/image" Target="../media/image61.wmf"/><Relationship Id="rId1"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71.png"/><Relationship Id="rId1" Type="http://schemas.openxmlformats.org/officeDocument/2006/relationships/oleObject" Target="../embeddings/oleObject16.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76.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image" Target="../media/image78.png"/><Relationship Id="rId1" Type="http://schemas.openxmlformats.org/officeDocument/2006/relationships/image" Target="../media/image77.png"/></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80.wmf"/><Relationship Id="rId3" Type="http://schemas.openxmlformats.org/officeDocument/2006/relationships/oleObject" Target="../embeddings/oleObject18.bin"/><Relationship Id="rId2" Type="http://schemas.openxmlformats.org/officeDocument/2006/relationships/image" Target="../media/image79.wmf"/><Relationship Id="rId1" Type="http://schemas.openxmlformats.org/officeDocument/2006/relationships/oleObject" Target="../embeddings/oleObject17.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81.wmf"/></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82.wmf"/><Relationship Id="rId1" Type="http://schemas.openxmlformats.org/officeDocument/2006/relationships/oleObject" Target="../embeddings/oleObject19.bin"/></Relationships>
</file>

<file path=ppt/slides/_rels/slide56.x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oleObject" Target="../embeddings/oleObject22.bin"/><Relationship Id="rId7" Type="http://schemas.openxmlformats.org/officeDocument/2006/relationships/image" Target="../media/image87.wmf"/><Relationship Id="rId6" Type="http://schemas.openxmlformats.org/officeDocument/2006/relationships/oleObject" Target="../embeddings/oleObject21.bin"/><Relationship Id="rId5" Type="http://schemas.openxmlformats.org/officeDocument/2006/relationships/image" Target="../media/image86.wmf"/><Relationship Id="rId4" Type="http://schemas.openxmlformats.org/officeDocument/2006/relationships/oleObject" Target="../embeddings/oleObject20.bin"/><Relationship Id="rId3" Type="http://schemas.openxmlformats.org/officeDocument/2006/relationships/image" Target="../media/image85.png"/><Relationship Id="rId2" Type="http://schemas.openxmlformats.org/officeDocument/2006/relationships/image" Target="../media/image84.png"/><Relationship Id="rId14" Type="http://schemas.openxmlformats.org/officeDocument/2006/relationships/notesSlide" Target="../notesSlides/notesSlide52.xml"/><Relationship Id="rId13" Type="http://schemas.openxmlformats.org/officeDocument/2006/relationships/vmlDrawing" Target="../drawings/vmlDrawing6.vml"/><Relationship Id="rId12" Type="http://schemas.openxmlformats.org/officeDocument/2006/relationships/slideLayout" Target="../slideLayouts/slideLayout1.xml"/><Relationship Id="rId11" Type="http://schemas.openxmlformats.org/officeDocument/2006/relationships/image" Target="../media/image89.wmf"/><Relationship Id="rId10" Type="http://schemas.openxmlformats.org/officeDocument/2006/relationships/oleObject" Target="../embeddings/oleObject23.bin"/><Relationship Id="rId1" Type="http://schemas.openxmlformats.org/officeDocument/2006/relationships/image" Target="../media/image8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xml"/><Relationship Id="rId2" Type="http://schemas.openxmlformats.org/officeDocument/2006/relationships/image" Target="../media/image91.png"/><Relationship Id="rId1" Type="http://schemas.openxmlformats.org/officeDocument/2006/relationships/image" Target="../media/image90.jpe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1.xml"/><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7.vml"/><Relationship Id="rId3" Type="http://schemas.openxmlformats.org/officeDocument/2006/relationships/slideLayout" Target="../slideLayouts/slideLayout1.xml"/><Relationship Id="rId2" Type="http://schemas.openxmlformats.org/officeDocument/2006/relationships/image" Target="../media/image95.emf"/><Relationship Id="rId1" Type="http://schemas.openxmlformats.org/officeDocument/2006/relationships/oleObject" Target="../embeddings/oleObject24.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96.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97.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98.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image" Target="../media/image99.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00.png"/></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4.wmf"/><Relationship Id="rId7" Type="http://schemas.openxmlformats.org/officeDocument/2006/relationships/oleObject" Target="../embeddings/oleObject28.bin"/><Relationship Id="rId6" Type="http://schemas.openxmlformats.org/officeDocument/2006/relationships/image" Target="../media/image103.wmf"/><Relationship Id="rId5" Type="http://schemas.openxmlformats.org/officeDocument/2006/relationships/oleObject" Target="../embeddings/oleObject27.bin"/><Relationship Id="rId4" Type="http://schemas.openxmlformats.org/officeDocument/2006/relationships/image" Target="../media/image102.wmf"/><Relationship Id="rId3" Type="http://schemas.openxmlformats.org/officeDocument/2006/relationships/oleObject" Target="../embeddings/oleObject26.bin"/><Relationship Id="rId2" Type="http://schemas.openxmlformats.org/officeDocument/2006/relationships/image" Target="../media/image101.wmf"/><Relationship Id="rId11" Type="http://schemas.openxmlformats.org/officeDocument/2006/relationships/notesSlide" Target="../notesSlides/notesSlide64.xml"/><Relationship Id="rId10" Type="http://schemas.openxmlformats.org/officeDocument/2006/relationships/vmlDrawing" Target="../drawings/vmlDrawing8.vml"/><Relationship Id="rId1" Type="http://schemas.openxmlformats.org/officeDocument/2006/relationships/oleObject" Target="../embeddings/oleObject25.bin"/></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slideLayout" Target="../slideLayouts/slideLayout1.xml"/><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108.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109.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0.xml"/><Relationship Id="rId4" Type="http://schemas.openxmlformats.org/officeDocument/2006/relationships/vmlDrawing" Target="../drawings/vmlDrawing9.vml"/><Relationship Id="rId3" Type="http://schemas.openxmlformats.org/officeDocument/2006/relationships/slideLayout" Target="../slideLayouts/slideLayout1.xml"/><Relationship Id="rId2" Type="http://schemas.openxmlformats.org/officeDocument/2006/relationships/image" Target="../media/image110.wmf"/><Relationship Id="rId1" Type="http://schemas.openxmlformats.org/officeDocument/2006/relationships/oleObject" Target="../embeddings/oleObject29.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image" Target="../media/image111.png"/></Relationships>
</file>

<file path=ppt/slides/_rels/slide77.xml.rels><?xml version="1.0" encoding="UTF-8" standalone="yes"?>
<Relationships xmlns="http://schemas.openxmlformats.org/package/2006/relationships"><Relationship Id="rId6" Type="http://schemas.openxmlformats.org/officeDocument/2006/relationships/notesSlide" Target="../notesSlides/notesSlide73.xml"/><Relationship Id="rId5" Type="http://schemas.openxmlformats.org/officeDocument/2006/relationships/vmlDrawing" Target="../drawings/vmlDrawing10.vml"/><Relationship Id="rId4" Type="http://schemas.openxmlformats.org/officeDocument/2006/relationships/slideLayout" Target="../slideLayouts/slideLayout1.xml"/><Relationship Id="rId3" Type="http://schemas.openxmlformats.org/officeDocument/2006/relationships/image" Target="../media/image113.wmf"/><Relationship Id="rId2" Type="http://schemas.openxmlformats.org/officeDocument/2006/relationships/oleObject" Target="../embeddings/oleObject30.bin"/><Relationship Id="rId1" Type="http://schemas.openxmlformats.org/officeDocument/2006/relationships/image" Target="../media/image112.emf"/></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74.xml"/><Relationship Id="rId5" Type="http://schemas.openxmlformats.org/officeDocument/2006/relationships/vmlDrawing" Target="../drawings/vmlDrawing11.vml"/><Relationship Id="rId4" Type="http://schemas.openxmlformats.org/officeDocument/2006/relationships/slideLayout" Target="../slideLayouts/slideLayout1.xml"/><Relationship Id="rId3" Type="http://schemas.openxmlformats.org/officeDocument/2006/relationships/image" Target="../media/image114.wmf"/><Relationship Id="rId2" Type="http://schemas.openxmlformats.org/officeDocument/2006/relationships/oleObject" Target="../embeddings/oleObject31.bin"/><Relationship Id="rId1" Type="http://schemas.openxmlformats.org/officeDocument/2006/relationships/image" Target="../media/image112.emf"/></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75.xml"/><Relationship Id="rId4" Type="http://schemas.openxmlformats.org/officeDocument/2006/relationships/slideLayout" Target="../slideLayouts/slideLayout1.xml"/><Relationship Id="rId3" Type="http://schemas.openxmlformats.org/officeDocument/2006/relationships/image" Target="../media/image117.jpeg"/><Relationship Id="rId2" Type="http://schemas.openxmlformats.org/officeDocument/2006/relationships/image" Target="../media/image116.png"/><Relationship Id="rId1" Type="http://schemas.openxmlformats.org/officeDocument/2006/relationships/image" Target="../media/image115.png"/></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76.xml"/><Relationship Id="rId4" Type="http://schemas.openxmlformats.org/officeDocument/2006/relationships/vmlDrawing" Target="../drawings/vmlDrawing12.vml"/><Relationship Id="rId3" Type="http://schemas.openxmlformats.org/officeDocument/2006/relationships/slideLayout" Target="../slideLayouts/slideLayout1.xml"/><Relationship Id="rId2" Type="http://schemas.openxmlformats.org/officeDocument/2006/relationships/image" Target="../media/image118.wmf"/><Relationship Id="rId1" Type="http://schemas.openxmlformats.org/officeDocument/2006/relationships/oleObject" Target="../embeddings/oleObject32.bin"/></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xml"/><Relationship Id="rId1" Type="http://schemas.openxmlformats.org/officeDocument/2006/relationships/image" Target="../media/image119.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79.xml"/><Relationship Id="rId7" Type="http://schemas.openxmlformats.org/officeDocument/2006/relationships/vmlDrawing" Target="../drawings/vmlDrawing13.vml"/><Relationship Id="rId6" Type="http://schemas.openxmlformats.org/officeDocument/2006/relationships/slideLayout" Target="../slideLayouts/slideLayout1.xml"/><Relationship Id="rId5" Type="http://schemas.openxmlformats.org/officeDocument/2006/relationships/image" Target="../media/image122.png"/><Relationship Id="rId4" Type="http://schemas.openxmlformats.org/officeDocument/2006/relationships/image" Target="../media/image121.wmf"/><Relationship Id="rId3" Type="http://schemas.openxmlformats.org/officeDocument/2006/relationships/oleObject" Target="../embeddings/oleObject34.bin"/><Relationship Id="rId2" Type="http://schemas.openxmlformats.org/officeDocument/2006/relationships/image" Target="../media/image120.wmf"/><Relationship Id="rId1" Type="http://schemas.openxmlformats.org/officeDocument/2006/relationships/oleObject" Target="../embeddings/oleObject33.bin"/></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xml"/><Relationship Id="rId2" Type="http://schemas.openxmlformats.org/officeDocument/2006/relationships/image" Target="../media/image124.jpeg"/><Relationship Id="rId1" Type="http://schemas.openxmlformats.org/officeDocument/2006/relationships/image" Target="../media/image123.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xml"/><Relationship Id="rId1" Type="http://schemas.openxmlformats.org/officeDocument/2006/relationships/image" Target="../media/image125.jpe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xml"/><Relationship Id="rId1" Type="http://schemas.openxmlformats.org/officeDocument/2006/relationships/image" Target="../media/image12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xml"/><Relationship Id="rId1" Type="http://schemas.openxmlformats.org/officeDocument/2006/relationships/image" Target="../media/image127.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88.xml"/><Relationship Id="rId5" Type="http://schemas.openxmlformats.org/officeDocument/2006/relationships/vmlDrawing" Target="../drawings/vmlDrawing14.vml"/><Relationship Id="rId4" Type="http://schemas.openxmlformats.org/officeDocument/2006/relationships/slideLayout" Target="../slideLayouts/slideLayout1.xml"/><Relationship Id="rId3" Type="http://schemas.openxmlformats.org/officeDocument/2006/relationships/image" Target="../media/image129.emf"/><Relationship Id="rId2" Type="http://schemas.openxmlformats.org/officeDocument/2006/relationships/image" Target="../media/image128.wmf"/><Relationship Id="rId1" Type="http://schemas.openxmlformats.org/officeDocument/2006/relationships/oleObject" Target="../embeddings/oleObject35.bin"/></Relationships>
</file>

<file path=ppt/slides/_rels/slide93.xml.rels><?xml version="1.0" encoding="UTF-8" standalone="yes"?>
<Relationships xmlns="http://schemas.openxmlformats.org/package/2006/relationships"><Relationship Id="rId9" Type="http://schemas.openxmlformats.org/officeDocument/2006/relationships/image" Target="../media/image138.emf"/><Relationship Id="rId8" Type="http://schemas.openxmlformats.org/officeDocument/2006/relationships/image" Target="../media/image137.emf"/><Relationship Id="rId7" Type="http://schemas.openxmlformats.org/officeDocument/2006/relationships/image" Target="../media/image136.emf"/><Relationship Id="rId6" Type="http://schemas.openxmlformats.org/officeDocument/2006/relationships/image" Target="../media/image135.emf"/><Relationship Id="rId5" Type="http://schemas.openxmlformats.org/officeDocument/2006/relationships/image" Target="../media/image134.emf"/><Relationship Id="rId4" Type="http://schemas.openxmlformats.org/officeDocument/2006/relationships/image" Target="../media/image133.emf"/><Relationship Id="rId3" Type="http://schemas.openxmlformats.org/officeDocument/2006/relationships/image" Target="../media/image132.emf"/><Relationship Id="rId2" Type="http://schemas.openxmlformats.org/officeDocument/2006/relationships/image" Target="../media/image131.emf"/><Relationship Id="rId11" Type="http://schemas.openxmlformats.org/officeDocument/2006/relationships/notesSlide" Target="../notesSlides/notesSlide89.xml"/><Relationship Id="rId10" Type="http://schemas.openxmlformats.org/officeDocument/2006/relationships/slideLayout" Target="../slideLayouts/slideLayout1.xml"/><Relationship Id="rId1" Type="http://schemas.openxmlformats.org/officeDocument/2006/relationships/image" Target="../media/image130.emf"/></Relationships>
</file>

<file path=ppt/slides/_rels/slide94.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1.xml"/><Relationship Id="rId7" Type="http://schemas.openxmlformats.org/officeDocument/2006/relationships/image" Target="../media/image142.png"/><Relationship Id="rId6" Type="http://schemas.openxmlformats.org/officeDocument/2006/relationships/image" Target="../media/image141.wmf"/><Relationship Id="rId5" Type="http://schemas.openxmlformats.org/officeDocument/2006/relationships/oleObject" Target="../embeddings/oleObject38.bin"/><Relationship Id="rId4" Type="http://schemas.openxmlformats.org/officeDocument/2006/relationships/image" Target="../media/image140.wmf"/><Relationship Id="rId3" Type="http://schemas.openxmlformats.org/officeDocument/2006/relationships/oleObject" Target="../embeddings/oleObject37.bin"/><Relationship Id="rId2" Type="http://schemas.openxmlformats.org/officeDocument/2006/relationships/image" Target="../media/image139.emf"/><Relationship Id="rId10" Type="http://schemas.openxmlformats.org/officeDocument/2006/relationships/notesSlide" Target="../notesSlides/notesSlide90.xml"/><Relationship Id="rId1" Type="http://schemas.openxmlformats.org/officeDocument/2006/relationships/oleObject" Target="../embeddings/oleObject36.bin"/></Relationships>
</file>

<file path=ppt/slides/_rels/slide9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47.png"/><Relationship Id="rId7" Type="http://schemas.openxmlformats.org/officeDocument/2006/relationships/image" Target="../media/image146.wmf"/><Relationship Id="rId6" Type="http://schemas.openxmlformats.org/officeDocument/2006/relationships/oleObject" Target="../embeddings/oleObject41.bin"/><Relationship Id="rId5" Type="http://schemas.openxmlformats.org/officeDocument/2006/relationships/image" Target="../media/image145.wmf"/><Relationship Id="rId4" Type="http://schemas.openxmlformats.org/officeDocument/2006/relationships/oleObject" Target="../embeddings/oleObject40.bin"/><Relationship Id="rId3" Type="http://schemas.openxmlformats.org/officeDocument/2006/relationships/image" Target="../media/image144.wmf"/><Relationship Id="rId2" Type="http://schemas.openxmlformats.org/officeDocument/2006/relationships/oleObject" Target="../embeddings/oleObject39.bin"/><Relationship Id="rId11" Type="http://schemas.openxmlformats.org/officeDocument/2006/relationships/notesSlide" Target="../notesSlides/notesSlide91.xml"/><Relationship Id="rId10" Type="http://schemas.openxmlformats.org/officeDocument/2006/relationships/vmlDrawing" Target="../drawings/vmlDrawing16.vml"/><Relationship Id="rId1" Type="http://schemas.openxmlformats.org/officeDocument/2006/relationships/image" Target="../media/image143.png"/></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92.xml"/><Relationship Id="rId4" Type="http://schemas.openxmlformats.org/officeDocument/2006/relationships/vmlDrawing" Target="../drawings/vmlDrawing17.vml"/><Relationship Id="rId3" Type="http://schemas.openxmlformats.org/officeDocument/2006/relationships/slideLayout" Target="../slideLayouts/slideLayout1.xml"/><Relationship Id="rId2" Type="http://schemas.openxmlformats.org/officeDocument/2006/relationships/image" Target="../media/image148.emf"/><Relationship Id="rId1" Type="http://schemas.openxmlformats.org/officeDocument/2006/relationships/oleObject" Target="../embeddings/oleObject42.bin"/></Relationships>
</file>

<file path=ppt/slides/_rels/slide97.xml.rels><?xml version="1.0" encoding="UTF-8" standalone="yes"?>
<Relationships xmlns="http://schemas.openxmlformats.org/package/2006/relationships"><Relationship Id="rId9" Type="http://schemas.openxmlformats.org/officeDocument/2006/relationships/image" Target="../media/image155.emf"/><Relationship Id="rId8" Type="http://schemas.openxmlformats.org/officeDocument/2006/relationships/oleObject" Target="../embeddings/oleObject44.bin"/><Relationship Id="rId7" Type="http://schemas.openxmlformats.org/officeDocument/2006/relationships/image" Target="../media/image154.emf"/><Relationship Id="rId6" Type="http://schemas.openxmlformats.org/officeDocument/2006/relationships/image" Target="../media/image153.emf"/><Relationship Id="rId5" Type="http://schemas.openxmlformats.org/officeDocument/2006/relationships/image" Target="../media/image152.emf"/><Relationship Id="rId4" Type="http://schemas.openxmlformats.org/officeDocument/2006/relationships/image" Target="../media/image151.emf"/><Relationship Id="rId3" Type="http://schemas.openxmlformats.org/officeDocument/2006/relationships/image" Target="../media/image150.emf"/><Relationship Id="rId2" Type="http://schemas.openxmlformats.org/officeDocument/2006/relationships/image" Target="../media/image149.emf"/><Relationship Id="rId12" Type="http://schemas.openxmlformats.org/officeDocument/2006/relationships/notesSlide" Target="../notesSlides/notesSlide93.xml"/><Relationship Id="rId11" Type="http://schemas.openxmlformats.org/officeDocument/2006/relationships/vmlDrawing" Target="../drawings/vmlDrawing18.vml"/><Relationship Id="rId10" Type="http://schemas.openxmlformats.org/officeDocument/2006/relationships/slideLayout" Target="../slideLayouts/slideLayout1.xml"/><Relationship Id="rId1" Type="http://schemas.openxmlformats.org/officeDocument/2006/relationships/oleObject" Target="../embeddings/oleObject43.bin"/></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94.xml"/><Relationship Id="rId7" Type="http://schemas.openxmlformats.org/officeDocument/2006/relationships/vmlDrawing" Target="../drawings/vmlDrawing19.vml"/><Relationship Id="rId6" Type="http://schemas.openxmlformats.org/officeDocument/2006/relationships/slideLayout" Target="../slideLayouts/slideLayout1.xml"/><Relationship Id="rId5" Type="http://schemas.openxmlformats.org/officeDocument/2006/relationships/image" Target="../media/image159.wmf"/><Relationship Id="rId4" Type="http://schemas.openxmlformats.org/officeDocument/2006/relationships/oleObject" Target="../embeddings/oleObject45.bin"/><Relationship Id="rId3" Type="http://schemas.openxmlformats.org/officeDocument/2006/relationships/image" Target="../media/image158.emf"/><Relationship Id="rId2" Type="http://schemas.openxmlformats.org/officeDocument/2006/relationships/image" Target="../media/image157.emf"/><Relationship Id="rId1" Type="http://schemas.openxmlformats.org/officeDocument/2006/relationships/image" Target="../media/image15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9484" y="1412776"/>
            <a:ext cx="9123574" cy="2160240"/>
          </a:xfrm>
          <a:prstGeom prst="rect">
            <a:avLst/>
          </a:prstGeom>
          <a:solidFill>
            <a:srgbClr val="325AA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algn="ctr" eaLnBrk="1" hangingPunct="1">
              <a:lnSpc>
                <a:spcPct val="120000"/>
              </a:lnSpc>
              <a:buFont typeface="Arial" panose="020B0604020202020204" pitchFamily="34" charset="0"/>
              <a:buNone/>
            </a:pPr>
            <a:r>
              <a:rPr lang="zh-CN" altLang="en-US" sz="4800" dirty="0">
                <a:latin typeface="方正兰亭中黑_GBK" panose="02000000000000000000" pitchFamily="2" charset="-122"/>
                <a:ea typeface="方正兰亭中黑_GBK" panose="02000000000000000000" pitchFamily="2" charset="-122"/>
              </a:rPr>
              <a:t>数据挖掘    </a:t>
            </a:r>
            <a:endParaRPr lang="en-US" altLang="zh-CN" sz="4800" dirty="0">
              <a:latin typeface="方正兰亭中黑_GBK" panose="02000000000000000000" pitchFamily="2" charset="-122"/>
              <a:ea typeface="方正兰亭中黑_GBK" panose="02000000000000000000" pitchFamily="2" charset="-122"/>
            </a:endParaRPr>
          </a:p>
          <a:p>
            <a:pPr algn="ctr" eaLnBrk="1" hangingPunct="1">
              <a:lnSpc>
                <a:spcPct val="120000"/>
              </a:lnSpc>
              <a:buFont typeface="Arial" panose="020B0604020202020204" pitchFamily="34" charset="0"/>
              <a:buNone/>
            </a:pPr>
            <a:r>
              <a:rPr lang="zh-CN" altLang="en-US" sz="4400" dirty="0">
                <a:latin typeface="方正兰亭中黑_GBK" panose="02000000000000000000" pitchFamily="2" charset="-122"/>
                <a:ea typeface="方正兰亭中黑_GBK" panose="02000000000000000000" pitchFamily="2" charset="-122"/>
              </a:rPr>
              <a:t>第八章：</a:t>
            </a:r>
            <a:r>
              <a:rPr lang="en-US" altLang="zh-CN" sz="4400" dirty="0">
                <a:latin typeface="方正兰亭中黑_GBK" panose="02000000000000000000" pitchFamily="2" charset="-122"/>
                <a:ea typeface="方正兰亭中黑_GBK" panose="02000000000000000000" pitchFamily="2" charset="-122"/>
              </a:rPr>
              <a:t>Web</a:t>
            </a:r>
            <a:r>
              <a:rPr lang="zh-CN" altLang="en-US" sz="4400" dirty="0">
                <a:latin typeface="方正兰亭中黑_GBK" panose="02000000000000000000" pitchFamily="2" charset="-122"/>
                <a:ea typeface="方正兰亭中黑_GBK" panose="02000000000000000000" pitchFamily="2" charset="-122"/>
              </a:rPr>
              <a:t>数据、图数据挖掘</a:t>
            </a:r>
            <a:endParaRPr lang="zh-CN" altLang="en-US" sz="4400" dirty="0">
              <a:latin typeface="方正兰亭中黑_GBK" panose="02000000000000000000" pitchFamily="2" charset="-122"/>
              <a:ea typeface="方正兰亭中黑_GBK" panose="02000000000000000000" pitchFamily="2" charset="-122"/>
            </a:endParaRPr>
          </a:p>
        </p:txBody>
      </p:sp>
      <p:pic>
        <p:nvPicPr>
          <p:cNvPr id="6" name="图片 5"/>
          <p:cNvPicPr>
            <a:picLocks noChangeAspect="1"/>
          </p:cNvPicPr>
          <p:nvPr/>
        </p:nvPicPr>
        <p:blipFill>
          <a:blip r:embed="rId1" cstate="print">
            <a:duotone>
              <a:schemeClr val="accent5">
                <a:shade val="45000"/>
                <a:satMod val="135000"/>
              </a:schemeClr>
              <a:prstClr val="white"/>
            </a:duotone>
          </a:blip>
          <a:stretch>
            <a:fillRect/>
          </a:stretch>
        </p:blipFill>
        <p:spPr>
          <a:xfrm>
            <a:off x="179512" y="-24773"/>
            <a:ext cx="3724832" cy="1308467"/>
          </a:xfrm>
          <a:prstGeom prst="rect">
            <a:avLst/>
          </a:prstGeom>
        </p:spPr>
      </p:pic>
      <p:sp>
        <p:nvSpPr>
          <p:cNvPr id="5" name="文本框 4"/>
          <p:cNvSpPr txBox="1"/>
          <p:nvPr/>
        </p:nvSpPr>
        <p:spPr>
          <a:xfrm>
            <a:off x="4067810" y="3933190"/>
            <a:ext cx="1849120" cy="645160"/>
          </a:xfrm>
          <a:prstGeom prst="rect">
            <a:avLst/>
          </a:prstGeom>
          <a:noFill/>
        </p:spPr>
        <p:txBody>
          <a:bodyPr wrap="square" rtlCol="0">
            <a:spAutoFit/>
          </a:bodyPr>
          <a:p>
            <a:r>
              <a:rPr lang="zh-CN" altLang="en-US" sz="3600">
                <a:solidFill>
                  <a:srgbClr val="1557AE"/>
                </a:solidFill>
                <a:latin typeface="宋体" panose="02010600030101010101" pitchFamily="2" charset="-122"/>
              </a:rPr>
              <a:t>王海军</a:t>
            </a:r>
            <a:endParaRPr lang="zh-CN" altLang="en-US" sz="3600">
              <a:solidFill>
                <a:srgbClr val="1557AE"/>
              </a:solidFill>
              <a:latin typeface="宋体" panose="02010600030101010101" pitchFamily="2" charset="-122"/>
            </a:endParaRPr>
          </a:p>
        </p:txBody>
      </p:sp>
      <p:sp>
        <p:nvSpPr>
          <p:cNvPr id="7" name="文本框 6"/>
          <p:cNvSpPr txBox="1"/>
          <p:nvPr/>
        </p:nvSpPr>
        <p:spPr>
          <a:xfrm>
            <a:off x="1331595" y="4869180"/>
            <a:ext cx="6936740" cy="891540"/>
          </a:xfrm>
          <a:prstGeom prst="rect">
            <a:avLst/>
          </a:prstGeom>
          <a:noFill/>
        </p:spPr>
        <p:txBody>
          <a:bodyPr wrap="square" rtlCol="0" anchor="t">
            <a:spAutoFit/>
          </a:bodyPr>
          <a:p>
            <a:pPr algn="ctr"/>
            <a:r>
              <a:rPr lang="zh-CN" altLang="en-US" sz="2600" kern="0" dirty="0" err="1">
                <a:solidFill>
                  <a:srgbClr val="0070C0"/>
                </a:solidFill>
                <a:latin typeface="宋体" panose="02010600030101010101" pitchFamily="2" charset="-122"/>
                <a:cs typeface="Calibri" panose="020F0502020204030204" pitchFamily="34" charset="0"/>
                <a:sym typeface="+mn-ea"/>
              </a:rPr>
              <a:t>智能网络与网络安全教育部重点实验室</a:t>
            </a:r>
            <a:endParaRPr lang="zh-CN" altLang="en-US" sz="2600" kern="0" dirty="0" err="1">
              <a:solidFill>
                <a:srgbClr val="0070C0"/>
              </a:solidFill>
              <a:latin typeface="宋体" panose="02010600030101010101" pitchFamily="2" charset="-122"/>
              <a:cs typeface="Calibri" panose="020F0502020204030204" pitchFamily="34" charset="0"/>
              <a:sym typeface="+mn-ea"/>
            </a:endParaRPr>
          </a:p>
          <a:p>
            <a:pPr algn="ctr"/>
            <a:r>
              <a:rPr lang="zh-CN" altLang="en-US" sz="2600" kern="0" dirty="0" err="1">
                <a:solidFill>
                  <a:srgbClr val="0070C0"/>
                </a:solidFill>
                <a:latin typeface="宋体" panose="02010600030101010101" pitchFamily="2" charset="-122"/>
                <a:cs typeface="Calibri" panose="020F0502020204030204" pitchFamily="34" charset="0"/>
                <a:sym typeface="+mn-ea"/>
              </a:rPr>
              <a:t>西安交通大学网络空间安全学院</a:t>
            </a:r>
            <a:endParaRPr lang="zh-CN" altLang="en-US" sz="2600" kern="0" dirty="0" err="1">
              <a:solidFill>
                <a:srgbClr val="0070C0"/>
              </a:solidFill>
              <a:latin typeface="宋体" panose="02010600030101010101" pitchFamily="2" charset="-122"/>
              <a:cs typeface="Calibri" panose="020F050202020403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2250"/>
    </mc:Choice>
    <mc:Fallback>
      <p:transition spd="slow" advTm="122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3"/>
          <p:cNvSpPr txBox="1">
            <a:spLocks noChangeArrowheads="1"/>
          </p:cNvSpPr>
          <p:nvPr/>
        </p:nvSpPr>
        <p:spPr bwMode="auto">
          <a:xfrm>
            <a:off x="179512" y="1052736"/>
            <a:ext cx="8507413"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spcAft>
                <a:spcPts val="600"/>
              </a:spcAft>
              <a:buClrTx/>
              <a:buFont typeface="Wingdings" panose="05000000000000000000" pitchFamily="2" charset="2"/>
              <a:buChar char="n"/>
            </a:pPr>
            <a:r>
              <a:rPr lang="en-US" altLang="zh-CN" sz="2800" b="0" dirty="0" err="1">
                <a:latin typeface="Times New Roman" panose="02020603050405020304" pitchFamily="18" charset="0"/>
                <a:ea typeface="方正兰亭中黑_GBK" panose="02000000000000000000" pitchFamily="2" charset="-122"/>
                <a:cs typeface="Times New Roman" panose="02020603050405020304" pitchFamily="18" charset="0"/>
              </a:rPr>
              <a:t>Jaideep</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dirty="0" err="1">
                <a:latin typeface="Times New Roman" panose="02020603050405020304" pitchFamily="18" charset="0"/>
                <a:ea typeface="方正兰亭中黑_GBK" panose="02000000000000000000" pitchFamily="2" charset="-122"/>
                <a:cs typeface="Times New Roman" panose="02020603050405020304" pitchFamily="18" charset="0"/>
              </a:rPr>
              <a:t>Srivastava</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借鉴数据挖掘的定义将</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挖掘定义为“从</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文档和</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活动中抽取感兴趣的潜在的有用模式和隐藏的信息” 。</a:t>
            </a:r>
            <a:endPar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endParaRPr>
          </a:p>
          <a:p>
            <a:pPr algn="just" eaLnBrk="1" hangingPunct="1">
              <a:lnSpc>
                <a:spcPct val="120000"/>
              </a:lnSpc>
              <a:spcBef>
                <a:spcPts val="600"/>
              </a:spcBef>
              <a:spcAft>
                <a:spcPts val="600"/>
              </a:spcAft>
              <a:buClrTx/>
              <a:buFont typeface="Wingdings" panose="05000000000000000000" pitchFamily="2" charset="2"/>
              <a:buChar char="n"/>
            </a:pP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维基百科：</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 </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挖掘被定义为“利用数据挖掘技术从</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中发现模式” （</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Wikipedia</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 </a:t>
            </a:r>
            <a:endPar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lnSpc>
                <a:spcPct val="120000"/>
              </a:lnSpc>
              <a:spcBef>
                <a:spcPts val="600"/>
              </a:spcBef>
              <a:buClrTx/>
              <a:buFont typeface="Wingdings" panose="05000000000000000000" pitchFamily="2" charset="2"/>
              <a:buChar char="n"/>
              <a:defRPr/>
            </a:pP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我们的定义：利用数据挖掘、文本挖掘、机器学习等技术从</a:t>
            </a:r>
            <a:r>
              <a:rPr lang="en-US" altLang="zh-CN" sz="2800" b="0" dirty="0">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rPr>
              <a:t>页面数据、日志数据、超链接关系中发现感兴趣的、潜在的、有用的规则、模式、领域知识等</a:t>
            </a:r>
            <a:endParaRPr lang="zh-CN" altLang="en-US" sz="2800" b="0" dirty="0">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矩形 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92578" y="1114184"/>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不仅仅是页面集合，页面之间的超链接也很重要</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lnSpc>
                <a:spcPct val="120000"/>
              </a:lnSpc>
              <a:spcBef>
                <a:spcPts val="600"/>
              </a:spcBef>
              <a:buClr>
                <a:srgbClr val="FF0000"/>
              </a:buClr>
              <a:buFont typeface="Wingdings" panose="05000000000000000000" pitchFamily="2" charset="2"/>
              <a:buChar char="n"/>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页面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到页面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B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意味着：</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en-GB" altLang="zh-CN" sz="2400" i="1" dirty="0">
                <a:latin typeface="Times New Roman" panose="02020603050405020304" pitchFamily="18" charset="0"/>
                <a:ea typeface="方正兰亭中黑_GBK" panose="02000000000000000000" pitchFamily="2" charset="-122"/>
                <a:cs typeface="Times New Roman" panose="02020603050405020304" pitchFamily="18" charset="0"/>
              </a:rPr>
              <a:t>A </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与</a:t>
            </a:r>
            <a:r>
              <a:rPr lang="zh-CN" altLang="en-US" sz="2400" i="1" dirty="0">
                <a:latin typeface="Times New Roman" panose="02020603050405020304" pitchFamily="18" charset="0"/>
                <a:ea typeface="方正兰亭中黑_GBK" panose="02000000000000000000" pitchFamily="2" charset="-122"/>
                <a:cs typeface="Times New Roman" panose="02020603050405020304" pitchFamily="18" charset="0"/>
              </a:rPr>
              <a:t> </a:t>
            </a:r>
            <a:r>
              <a:rPr lang="en-GB" altLang="zh-CN" sz="2400" i="1" dirty="0">
                <a:latin typeface="Times New Roman" panose="02020603050405020304" pitchFamily="18" charset="0"/>
                <a:ea typeface="方正兰亭中黑_GBK" panose="02000000000000000000" pitchFamily="2" charset="-122"/>
                <a:cs typeface="Times New Roman" panose="02020603050405020304" pitchFamily="18" charset="0"/>
              </a:rPr>
              <a:t>B </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相关</a:t>
            </a:r>
            <a:endParaRPr lang="en-GB" altLang="zh-CN"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en-GB" altLang="zh-CN" sz="2400" i="1" dirty="0">
                <a:latin typeface="Times New Roman" panose="02020603050405020304" pitchFamily="18" charset="0"/>
                <a:ea typeface="方正兰亭中黑_GBK" panose="02000000000000000000" pitchFamily="2" charset="-122"/>
                <a:cs typeface="Times New Roman" panose="02020603050405020304" pitchFamily="18" charset="0"/>
              </a:rPr>
              <a:t>A  </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推荐、引用、或赞同</a:t>
            </a:r>
            <a:r>
              <a:rPr lang="en-GB" altLang="zh-CN" sz="2400" dirty="0">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400" i="1" dirty="0">
                <a:latin typeface="Times New Roman" panose="02020603050405020304" pitchFamily="18" charset="0"/>
                <a:ea typeface="方正兰亭中黑_GBK" panose="02000000000000000000" pitchFamily="2" charset="-122"/>
                <a:cs typeface="Times New Roman" panose="02020603050405020304" pitchFamily="18" charset="0"/>
              </a:rPr>
              <a:t>B</a:t>
            </a:r>
            <a:endParaRPr lang="en-GB" altLang="zh-CN" sz="2400" i="1" dirty="0">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lnSpc>
                <a:spcPct val="120000"/>
              </a:lnSpc>
              <a:spcBef>
                <a:spcPts val="600"/>
              </a:spcBef>
              <a:buClr>
                <a:srgbClr val="FF0000"/>
              </a:buClr>
              <a:buFont typeface="Wingdings" panose="05000000000000000000" pitchFamily="2" charset="2"/>
              <a:buChar char="n"/>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应用</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帮助结果排序 </a:t>
            </a:r>
            <a:endPar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指导网页采集</a:t>
            </a:r>
            <a:endPar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查找相关网页</a:t>
            </a:r>
            <a:endPar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3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确定</a:t>
            </a:r>
            <a:r>
              <a:rPr lang="en-US" altLang="zh-CN" sz="2400" dirty="0">
                <a:latin typeface="Times New Roman" panose="02020603050405020304" pitchFamily="18" charset="0"/>
                <a:ea typeface="方正兰亭中黑_GBK" panose="02000000000000000000" pitchFamily="2" charset="-122"/>
                <a:cs typeface="Times New Roman" panose="02020603050405020304" pitchFamily="18" charset="0"/>
              </a:rPr>
              <a:t>Web </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影响因子</a:t>
            </a:r>
            <a:endParaRPr lang="zh-CN" altLang="en-GB" sz="2400" dirty="0">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28" name="Group 4"/>
          <p:cNvGrpSpPr/>
          <p:nvPr/>
        </p:nvGrpSpPr>
        <p:grpSpPr bwMode="auto">
          <a:xfrm>
            <a:off x="4932040" y="3789040"/>
            <a:ext cx="3439886" cy="2444750"/>
            <a:chOff x="1440" y="1392"/>
            <a:chExt cx="2352" cy="1728"/>
          </a:xfrm>
        </p:grpSpPr>
        <p:sp>
          <p:nvSpPr>
            <p:cNvPr id="29" name="Oval 5"/>
            <p:cNvSpPr>
              <a:spLocks noChangeArrowheads="1"/>
            </p:cNvSpPr>
            <p:nvPr/>
          </p:nvSpPr>
          <p:spPr bwMode="auto">
            <a:xfrm>
              <a:off x="2640" y="1392"/>
              <a:ext cx="480" cy="432"/>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0" name="Line 6"/>
            <p:cNvSpPr>
              <a:spLocks noChangeShapeType="1"/>
            </p:cNvSpPr>
            <p:nvPr/>
          </p:nvSpPr>
          <p:spPr bwMode="auto">
            <a:xfrm flipH="1">
              <a:off x="2352" y="1728"/>
              <a:ext cx="336" cy="288"/>
            </a:xfrm>
            <a:prstGeom prst="line">
              <a:avLst/>
            </a:prstGeom>
            <a:ln>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31" name="Oval 7"/>
            <p:cNvSpPr>
              <a:spLocks noChangeArrowheads="1"/>
            </p:cNvSpPr>
            <p:nvPr/>
          </p:nvSpPr>
          <p:spPr bwMode="auto">
            <a:xfrm>
              <a:off x="2016" y="1968"/>
              <a:ext cx="480" cy="432"/>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2" name="Line 8"/>
            <p:cNvSpPr>
              <a:spLocks noChangeShapeType="1"/>
            </p:cNvSpPr>
            <p:nvPr/>
          </p:nvSpPr>
          <p:spPr bwMode="auto">
            <a:xfrm flipH="1">
              <a:off x="1728" y="2352"/>
              <a:ext cx="336" cy="336"/>
            </a:xfrm>
            <a:prstGeom prst="line">
              <a:avLst/>
            </a:prstGeom>
            <a:ln>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33" name="Oval 9"/>
            <p:cNvSpPr>
              <a:spLocks noChangeArrowheads="1"/>
            </p:cNvSpPr>
            <p:nvPr/>
          </p:nvSpPr>
          <p:spPr bwMode="auto">
            <a:xfrm>
              <a:off x="1440" y="2688"/>
              <a:ext cx="480" cy="432"/>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4" name="Line 10"/>
            <p:cNvSpPr>
              <a:spLocks noChangeShapeType="1"/>
            </p:cNvSpPr>
            <p:nvPr/>
          </p:nvSpPr>
          <p:spPr bwMode="auto">
            <a:xfrm>
              <a:off x="2400" y="2352"/>
              <a:ext cx="120" cy="336"/>
            </a:xfrm>
            <a:prstGeom prst="line">
              <a:avLst/>
            </a:prstGeom>
            <a:ln>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35" name="Oval 11"/>
            <p:cNvSpPr>
              <a:spLocks noChangeArrowheads="1"/>
            </p:cNvSpPr>
            <p:nvPr/>
          </p:nvSpPr>
          <p:spPr bwMode="auto">
            <a:xfrm>
              <a:off x="2400" y="2688"/>
              <a:ext cx="480" cy="432"/>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6" name="Oval 12"/>
            <p:cNvSpPr>
              <a:spLocks noChangeArrowheads="1"/>
            </p:cNvSpPr>
            <p:nvPr/>
          </p:nvSpPr>
          <p:spPr bwMode="auto">
            <a:xfrm>
              <a:off x="3312" y="1968"/>
              <a:ext cx="480" cy="432"/>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7" name="Line 13"/>
            <p:cNvSpPr>
              <a:spLocks noChangeShapeType="1"/>
            </p:cNvSpPr>
            <p:nvPr/>
          </p:nvSpPr>
          <p:spPr bwMode="auto">
            <a:xfrm>
              <a:off x="3078" y="1770"/>
              <a:ext cx="283" cy="283"/>
            </a:xfrm>
            <a:prstGeom prst="line">
              <a:avLst/>
            </a:prstGeom>
            <a:ln>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38" name="Text Box 14"/>
            <p:cNvSpPr txBox="1">
              <a:spLocks noChangeArrowheads="1"/>
            </p:cNvSpPr>
            <p:nvPr/>
          </p:nvSpPr>
          <p:spPr bwMode="auto">
            <a:xfrm>
              <a:off x="2785" y="1489"/>
              <a:ext cx="205" cy="214"/>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kumimoji="1" lang="en-US" altLang="zh-TW" sz="2000" b="1" dirty="0">
                  <a:latin typeface="Century Gothic" panose="020B0502020202020204" pitchFamily="34" charset="0"/>
                  <a:ea typeface="新細明體" panose="02020500000000000000" pitchFamily="18" charset="-120"/>
                </a:rPr>
                <a:t>A</a:t>
              </a:r>
              <a:endParaRPr kumimoji="1" lang="en-US" altLang="zh-TW" sz="2000" b="1" dirty="0">
                <a:latin typeface="Century Gothic" panose="020B0502020202020204" pitchFamily="34" charset="0"/>
                <a:ea typeface="新細明體" panose="02020500000000000000" pitchFamily="18" charset="-120"/>
              </a:endParaRPr>
            </a:p>
          </p:txBody>
        </p:sp>
        <p:sp>
          <p:nvSpPr>
            <p:cNvPr id="39" name="Text Box 15"/>
            <p:cNvSpPr txBox="1">
              <a:spLocks noChangeArrowheads="1"/>
            </p:cNvSpPr>
            <p:nvPr/>
          </p:nvSpPr>
          <p:spPr bwMode="auto">
            <a:xfrm>
              <a:off x="2145" y="2064"/>
              <a:ext cx="228" cy="283"/>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none">
              <a:spAutoFit/>
            </a:bodyPr>
            <a:lstStyle>
              <a:defPPr>
                <a:defRPr lang="zh-CN"/>
              </a:defPPr>
              <a:lvl1pPr eaLnBrk="1" hangingPunct="1">
                <a:defRPr kumimoji="1" sz="2000">
                  <a:solidFill>
                    <a:schemeClr val="tx1"/>
                  </a:solidFill>
                  <a:latin typeface="Century Gothic" panose="020B0502020202020204" pitchFamily="34" charset="0"/>
                  <a:ea typeface="新細明體" panose="02020500000000000000" pitchFamily="18" charset="-120"/>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TW" dirty="0"/>
                <a:t>B</a:t>
              </a:r>
              <a:endParaRPr lang="en-US" altLang="zh-TW" dirty="0"/>
            </a:p>
          </p:txBody>
        </p:sp>
        <p:sp>
          <p:nvSpPr>
            <p:cNvPr id="40" name="Text Box 16"/>
            <p:cNvSpPr txBox="1">
              <a:spLocks noChangeArrowheads="1"/>
            </p:cNvSpPr>
            <p:nvPr/>
          </p:nvSpPr>
          <p:spPr bwMode="auto">
            <a:xfrm>
              <a:off x="1538" y="2781"/>
              <a:ext cx="263" cy="283"/>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none">
              <a:spAutoFit/>
            </a:bodyPr>
            <a:lstStyle>
              <a:defPPr>
                <a:defRPr lang="zh-CN"/>
              </a:defPPr>
              <a:lvl1pPr eaLnBrk="1" hangingPunct="1">
                <a:defRPr kumimoji="1" sz="2000">
                  <a:solidFill>
                    <a:schemeClr val="tx1"/>
                  </a:solidFill>
                  <a:latin typeface="Century Gothic" panose="020B0502020202020204" pitchFamily="34" charset="0"/>
                  <a:ea typeface="新細明體" panose="02020500000000000000" pitchFamily="18" charset="-120"/>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TW" dirty="0"/>
                <a:t>C</a:t>
              </a:r>
              <a:endParaRPr lang="en-US" altLang="zh-TW" dirty="0"/>
            </a:p>
          </p:txBody>
        </p:sp>
        <p:sp>
          <p:nvSpPr>
            <p:cNvPr id="41" name="Text Box 17"/>
            <p:cNvSpPr txBox="1">
              <a:spLocks noChangeArrowheads="1"/>
            </p:cNvSpPr>
            <p:nvPr/>
          </p:nvSpPr>
          <p:spPr bwMode="auto">
            <a:xfrm>
              <a:off x="2520" y="2741"/>
              <a:ext cx="249" cy="283"/>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none">
              <a:spAutoFit/>
            </a:bodyPr>
            <a:lstStyle>
              <a:defPPr>
                <a:defRPr lang="zh-CN"/>
              </a:defPPr>
              <a:lvl1pPr eaLnBrk="1" hangingPunct="1">
                <a:defRPr kumimoji="1" sz="2000">
                  <a:solidFill>
                    <a:schemeClr val="tx1"/>
                  </a:solidFill>
                  <a:latin typeface="Century Gothic" panose="020B0502020202020204" pitchFamily="34" charset="0"/>
                  <a:ea typeface="新細明體" panose="02020500000000000000" pitchFamily="18" charset="-120"/>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TW" dirty="0"/>
                <a:t>D</a:t>
              </a:r>
              <a:endParaRPr lang="en-US" altLang="zh-TW" dirty="0"/>
            </a:p>
          </p:txBody>
        </p:sp>
        <p:sp>
          <p:nvSpPr>
            <p:cNvPr id="42" name="Text Box 18"/>
            <p:cNvSpPr txBox="1">
              <a:spLocks noChangeArrowheads="1"/>
            </p:cNvSpPr>
            <p:nvPr/>
          </p:nvSpPr>
          <p:spPr bwMode="auto">
            <a:xfrm>
              <a:off x="3436" y="2069"/>
              <a:ext cx="217" cy="283"/>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none">
              <a:spAutoFit/>
            </a:bodyPr>
            <a:lstStyle>
              <a:defPPr>
                <a:defRPr lang="zh-CN"/>
              </a:defPPr>
              <a:lvl1pPr eaLnBrk="1" hangingPunct="1">
                <a:defRPr kumimoji="1" sz="2000">
                  <a:solidFill>
                    <a:schemeClr val="tx1"/>
                  </a:solidFill>
                  <a:latin typeface="Century Gothic" panose="020B0502020202020204" pitchFamily="34" charset="0"/>
                  <a:ea typeface="新細明體" panose="02020500000000000000" pitchFamily="18" charset="-120"/>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TW" dirty="0"/>
                <a:t>E</a:t>
              </a:r>
              <a:endParaRPr lang="en-US" altLang="zh-TW" dirty="0"/>
            </a:p>
          </p:txBody>
        </p:sp>
        <p:cxnSp>
          <p:nvCxnSpPr>
            <p:cNvPr id="45" name="AutoShape 21"/>
            <p:cNvCxnSpPr>
              <a:cxnSpLocks noChangeShapeType="1"/>
              <a:stCxn id="33" idx="1"/>
              <a:endCxn id="31" idx="1"/>
            </p:cNvCxnSpPr>
            <p:nvPr/>
          </p:nvCxnSpPr>
          <p:spPr bwMode="auto">
            <a:xfrm rot="-5400000">
              <a:off x="1438" y="2094"/>
              <a:ext cx="720" cy="576"/>
            </a:xfrm>
            <a:prstGeom prst="curvedConnector3">
              <a:avLst>
                <a:gd name="adj1" fmla="val 127500"/>
              </a:avLst>
            </a:prstGeom>
            <a:ln>
              <a:tailEnd type="triangle" w="med" len="med"/>
            </a:ln>
          </p:spPr>
          <p:style>
            <a:lnRef idx="1">
              <a:schemeClr val="accent6"/>
            </a:lnRef>
            <a:fillRef idx="2">
              <a:schemeClr val="accent6"/>
            </a:fillRef>
            <a:effectRef idx="1">
              <a:schemeClr val="accent6"/>
            </a:effectRef>
            <a:fontRef idx="minor">
              <a:schemeClr val="dk1"/>
            </a:fontRef>
          </p:style>
        </p:cxnSp>
        <p:cxnSp>
          <p:nvCxnSpPr>
            <p:cNvPr id="46" name="AutoShape 22"/>
            <p:cNvCxnSpPr>
              <a:cxnSpLocks noChangeShapeType="1"/>
              <a:stCxn id="31" idx="0"/>
              <a:endCxn id="29" idx="1"/>
            </p:cNvCxnSpPr>
            <p:nvPr/>
          </p:nvCxnSpPr>
          <p:spPr bwMode="auto">
            <a:xfrm rot="-5400000">
              <a:off x="2226" y="1476"/>
              <a:ext cx="513" cy="454"/>
            </a:xfrm>
            <a:prstGeom prst="curvedConnector3">
              <a:avLst>
                <a:gd name="adj1" fmla="val 138597"/>
              </a:avLst>
            </a:prstGeom>
            <a:ln>
              <a:tailEnd type="triangle" w="med" len="med"/>
            </a:ln>
          </p:spPr>
          <p:style>
            <a:lnRef idx="1">
              <a:schemeClr val="accent6"/>
            </a:lnRef>
            <a:fillRef idx="2">
              <a:schemeClr val="accent6"/>
            </a:fillRef>
            <a:effectRef idx="1">
              <a:schemeClr val="accent6"/>
            </a:effectRef>
            <a:fontRef idx="minor">
              <a:schemeClr val="dk1"/>
            </a:fontRef>
          </p:style>
        </p:cxnSp>
      </p:grpSp>
      <p:sp>
        <p:nvSpPr>
          <p:cNvPr id="22" name="矩形 21"/>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79512" y="1178159"/>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超链接分析的基本假设</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1 : </a:t>
            </a:r>
            <a:r>
              <a:rPr lang="zh-CN" altLang="en-US" sz="2400" dirty="0">
                <a:latin typeface="Times New Roman" panose="02020603050405020304" pitchFamily="18" charset="0"/>
              </a:rPr>
              <a:t>从</a:t>
            </a:r>
            <a:r>
              <a:rPr lang="en-US" altLang="zh-CN" sz="2400" dirty="0">
                <a:latin typeface="Times New Roman" panose="02020603050405020304" pitchFamily="18" charset="0"/>
              </a:rPr>
              <a:t>Web </a:t>
            </a:r>
            <a:r>
              <a:rPr lang="zh-CN" altLang="en-US" sz="2400" dirty="0">
                <a:latin typeface="Times New Roman" panose="02020603050405020304" pitchFamily="18" charset="0"/>
              </a:rPr>
              <a:t>网页</a:t>
            </a:r>
            <a:r>
              <a:rPr lang="en-US" altLang="zh-CN" sz="2400" dirty="0">
                <a:latin typeface="Times New Roman" panose="02020603050405020304" pitchFamily="18" charset="0"/>
              </a:rPr>
              <a:t>A </a:t>
            </a:r>
            <a:r>
              <a:rPr lang="zh-CN" altLang="en-US" sz="2400" dirty="0">
                <a:latin typeface="Times New Roman" panose="02020603050405020304" pitchFamily="18" charset="0"/>
              </a:rPr>
              <a:t>指向网页</a:t>
            </a:r>
            <a:r>
              <a:rPr lang="en-US" altLang="zh-CN" sz="2400" dirty="0">
                <a:latin typeface="Times New Roman" panose="02020603050405020304" pitchFamily="18" charset="0"/>
              </a:rPr>
              <a:t>B </a:t>
            </a:r>
            <a:r>
              <a:rPr lang="zh-CN" altLang="en-US" sz="2400" dirty="0">
                <a:latin typeface="Times New Roman" panose="02020603050405020304" pitchFamily="18" charset="0"/>
              </a:rPr>
              <a:t>的超链接是网页</a:t>
            </a:r>
            <a:r>
              <a:rPr lang="en-US" altLang="zh-CN" sz="2400" dirty="0">
                <a:latin typeface="Times New Roman" panose="02020603050405020304" pitchFamily="18" charset="0"/>
              </a:rPr>
              <a:t>A</a:t>
            </a:r>
            <a:r>
              <a:rPr lang="zh-CN" altLang="en-US" sz="2400" dirty="0">
                <a:latin typeface="Times New Roman" panose="02020603050405020304" pitchFamily="18" charset="0"/>
              </a:rPr>
              <a:t>对网页</a:t>
            </a:r>
            <a:r>
              <a:rPr lang="en-US" altLang="zh-CN" sz="2400" dirty="0">
                <a:latin typeface="Times New Roman" panose="02020603050405020304" pitchFamily="18" charset="0"/>
              </a:rPr>
              <a:t>B </a:t>
            </a:r>
            <a:r>
              <a:rPr lang="zh-CN" altLang="en-US" sz="2400" dirty="0">
                <a:latin typeface="Times New Roman" panose="02020603050405020304" pitchFamily="18" charset="0"/>
              </a:rPr>
              <a:t>的推荐。</a:t>
            </a:r>
            <a:endParaRPr lang="zh-CN" altLang="en-US" sz="2400" dirty="0">
              <a:latin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2 : </a:t>
            </a:r>
            <a:r>
              <a:rPr lang="zh-CN" altLang="en-US" sz="2400" dirty="0">
                <a:latin typeface="Times New Roman" panose="02020603050405020304" pitchFamily="18" charset="0"/>
              </a:rPr>
              <a:t>如果一条超链接将网页</a:t>
            </a:r>
            <a:r>
              <a:rPr lang="en-US" altLang="zh-CN" sz="2400" dirty="0">
                <a:latin typeface="Times New Roman" panose="02020603050405020304" pitchFamily="18" charset="0"/>
              </a:rPr>
              <a:t>A </a:t>
            </a:r>
            <a:r>
              <a:rPr lang="zh-CN" altLang="en-US" sz="2400" dirty="0">
                <a:latin typeface="Times New Roman" panose="02020603050405020304" pitchFamily="18" charset="0"/>
              </a:rPr>
              <a:t>和网页</a:t>
            </a:r>
            <a:r>
              <a:rPr lang="en-US" altLang="zh-CN" sz="2400" dirty="0">
                <a:latin typeface="Times New Roman" panose="02020603050405020304" pitchFamily="18" charset="0"/>
              </a:rPr>
              <a:t>B </a:t>
            </a:r>
            <a:r>
              <a:rPr lang="zh-CN" altLang="en-US" sz="2400" dirty="0">
                <a:latin typeface="Times New Roman" panose="02020603050405020304" pitchFamily="18" charset="0"/>
              </a:rPr>
              <a:t>相互链接起来</a:t>
            </a:r>
            <a:r>
              <a:rPr lang="en-US" altLang="zh-CN" sz="2400" dirty="0">
                <a:latin typeface="Times New Roman" panose="02020603050405020304" pitchFamily="18" charset="0"/>
              </a:rPr>
              <a:t>, </a:t>
            </a:r>
            <a:r>
              <a:rPr lang="zh-CN" altLang="en-US" sz="2400" dirty="0">
                <a:latin typeface="Times New Roman" panose="02020603050405020304" pitchFamily="18" charset="0"/>
              </a:rPr>
              <a:t>则网页</a:t>
            </a:r>
            <a:r>
              <a:rPr lang="en-US" altLang="zh-CN" sz="2400" dirty="0">
                <a:latin typeface="Times New Roman" panose="02020603050405020304" pitchFamily="18" charset="0"/>
              </a:rPr>
              <a:t>A </a:t>
            </a:r>
            <a:r>
              <a:rPr lang="zh-CN" altLang="en-US" sz="2400" dirty="0">
                <a:latin typeface="Times New Roman" panose="02020603050405020304" pitchFamily="18" charset="0"/>
              </a:rPr>
              <a:t>和网页</a:t>
            </a:r>
            <a:r>
              <a:rPr lang="en-US" altLang="zh-CN" sz="2400" dirty="0">
                <a:latin typeface="Times New Roman" panose="02020603050405020304" pitchFamily="18" charset="0"/>
              </a:rPr>
              <a:t>B </a:t>
            </a:r>
            <a:r>
              <a:rPr lang="zh-CN" altLang="en-US" sz="2400" dirty="0">
                <a:latin typeface="Times New Roman" panose="02020603050405020304" pitchFamily="18" charset="0"/>
              </a:rPr>
              <a:t>可能有共同的主题</a:t>
            </a:r>
            <a:r>
              <a:rPr lang="en-US" altLang="zh-CN" sz="2400" dirty="0">
                <a:latin typeface="Times New Roman" panose="02020603050405020304" pitchFamily="18" charset="0"/>
              </a:rPr>
              <a:t>(Topic) </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sp>
        <p:nvSpPr>
          <p:cNvPr id="3" name="矩形 2"/>
          <p:cNvSpPr/>
          <p:nvPr/>
        </p:nvSpPr>
        <p:spPr>
          <a:xfrm>
            <a:off x="549228" y="5940897"/>
            <a:ext cx="8271244" cy="707886"/>
          </a:xfrm>
          <a:prstGeom prst="rect">
            <a:avLst/>
          </a:prstGeom>
        </p:spPr>
        <p:txBody>
          <a:bodyPr wrap="square">
            <a:spAutoFit/>
          </a:bodyPr>
          <a:lstStyle/>
          <a:p>
            <a:pPr algn="l" eaLnBrk="1" hangingPunct="1">
              <a:buFontTx/>
              <a:buNone/>
            </a:pPr>
            <a:r>
              <a:rPr lang="en-US" altLang="zh-CN" sz="2000" dirty="0" err="1">
                <a:latin typeface="Calibri" panose="020F0502020204030204" pitchFamily="34" charset="0"/>
                <a:cs typeface="Calibri" panose="020F0502020204030204" pitchFamily="34" charset="0"/>
              </a:rPr>
              <a:t>Henzinger</a:t>
            </a:r>
            <a:r>
              <a:rPr lang="en-US" altLang="zh-CN" sz="2000" dirty="0">
                <a:latin typeface="Calibri" panose="020F0502020204030204" pitchFamily="34" charset="0"/>
                <a:cs typeface="Calibri" panose="020F0502020204030204" pitchFamily="34" charset="0"/>
              </a:rPr>
              <a:t> M R.</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Hyperlink Analysis for the Web IEEE Internet Computing , 2001 , 5 (1) : 5</a:t>
            </a:r>
            <a:r>
              <a:rPr lang="zh-CN" altLang="en-US" sz="2000" dirty="0">
                <a:latin typeface="Calibri" panose="020F0502020204030204" pitchFamily="34" charset="0"/>
                <a:cs typeface="Calibri" panose="020F0502020204030204" pitchFamily="34" charset="0"/>
              </a:rPr>
              <a:t>～</a:t>
            </a:r>
            <a:r>
              <a:rPr lang="en-US" altLang="zh-CN" sz="2000" dirty="0">
                <a:latin typeface="Calibri" panose="020F0502020204030204" pitchFamily="34" charset="0"/>
                <a:cs typeface="Calibri" panose="020F0502020204030204" pitchFamily="34" charset="0"/>
              </a:rPr>
              <a:t>50</a:t>
            </a:r>
            <a:endParaRPr lang="en-US" altLang="zh-CN" sz="2000" dirty="0">
              <a:latin typeface="Calibri" panose="020F0502020204030204" pitchFamily="34" charset="0"/>
              <a:cs typeface="Calibri" panose="020F0502020204030204" pitchFamily="34" charset="0"/>
            </a:endParaRPr>
          </a:p>
        </p:txBody>
      </p:sp>
      <p:sp>
        <p:nvSpPr>
          <p:cNvPr id="6" name="矩形 5"/>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79512" y="1196752"/>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引申假设</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3 : </a:t>
            </a:r>
            <a:r>
              <a:rPr lang="zh-CN" altLang="en-US" sz="2400" dirty="0">
                <a:latin typeface="Times New Roman" panose="02020603050405020304" pitchFamily="18" charset="0"/>
              </a:rPr>
              <a:t>一个页面被多次引用</a:t>
            </a:r>
            <a:r>
              <a:rPr lang="en-US" altLang="zh-CN" sz="2400" dirty="0">
                <a:latin typeface="Times New Roman" panose="02020603050405020304" pitchFamily="18" charset="0"/>
              </a:rPr>
              <a:t>, </a:t>
            </a:r>
            <a:r>
              <a:rPr lang="zh-CN" altLang="en-US" sz="2400" dirty="0">
                <a:latin typeface="Times New Roman" panose="02020603050405020304" pitchFamily="18" charset="0"/>
              </a:rPr>
              <a:t>即很多页面有指向它的链接</a:t>
            </a:r>
            <a:r>
              <a:rPr lang="en-US" altLang="zh-CN" sz="2400" dirty="0">
                <a:latin typeface="Times New Roman" panose="02020603050405020304" pitchFamily="18" charset="0"/>
              </a:rPr>
              <a:t>, </a:t>
            </a:r>
            <a:r>
              <a:rPr lang="zh-CN" altLang="en-US" sz="2400" dirty="0">
                <a:latin typeface="Times New Roman" panose="02020603050405020304" pitchFamily="18" charset="0"/>
              </a:rPr>
              <a:t>则这个页面很重要。</a:t>
            </a:r>
            <a:endParaRPr lang="zh-CN" altLang="en-US" sz="2400" dirty="0">
              <a:latin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4 : </a:t>
            </a:r>
            <a:r>
              <a:rPr lang="zh-CN" altLang="en-US" sz="2400" dirty="0">
                <a:latin typeface="Times New Roman" panose="02020603050405020304" pitchFamily="18" charset="0"/>
              </a:rPr>
              <a:t>一个页面尽管没有被多次引用</a:t>
            </a:r>
            <a:r>
              <a:rPr lang="en-US" altLang="zh-CN" sz="2400" dirty="0">
                <a:latin typeface="Times New Roman" panose="02020603050405020304" pitchFamily="18" charset="0"/>
              </a:rPr>
              <a:t>, </a:t>
            </a:r>
            <a:r>
              <a:rPr lang="zh-CN" altLang="en-US" sz="2400" dirty="0">
                <a:latin typeface="Times New Roman" panose="02020603050405020304" pitchFamily="18" charset="0"/>
              </a:rPr>
              <a:t>但被一个重要页面引用</a:t>
            </a:r>
            <a:r>
              <a:rPr lang="en-US" altLang="zh-CN" sz="2400" dirty="0">
                <a:latin typeface="Times New Roman" panose="02020603050405020304" pitchFamily="18" charset="0"/>
              </a:rPr>
              <a:t>, </a:t>
            </a:r>
            <a:r>
              <a:rPr lang="zh-CN" altLang="en-US" sz="2400" dirty="0">
                <a:latin typeface="Times New Roman" panose="02020603050405020304" pitchFamily="18" charset="0"/>
              </a:rPr>
              <a:t>则这个页面也可能很重要。</a:t>
            </a:r>
            <a:endParaRPr lang="zh-CN" altLang="en-US" sz="2400" dirty="0">
              <a:latin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5 : </a:t>
            </a:r>
            <a:r>
              <a:rPr lang="zh-CN" altLang="en-US" sz="2400" dirty="0">
                <a:latin typeface="Times New Roman" panose="02020603050405020304" pitchFamily="18" charset="0"/>
              </a:rPr>
              <a:t>一个页面的重要性被均匀分布并传递到它所引用的页面。</a:t>
            </a:r>
            <a:endParaRPr lang="zh-CN" altLang="en-US" sz="2400" dirty="0">
              <a:latin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solidFill>
                  <a:srgbClr val="1557AE"/>
                </a:solidFill>
                <a:latin typeface="Times New Roman" panose="02020603050405020304" pitchFamily="18" charset="0"/>
              </a:rPr>
              <a:t>假设</a:t>
            </a:r>
            <a:r>
              <a:rPr lang="en-US" altLang="zh-CN" sz="2400" dirty="0">
                <a:solidFill>
                  <a:srgbClr val="1557AE"/>
                </a:solidFill>
                <a:latin typeface="Times New Roman" panose="02020603050405020304" pitchFamily="18" charset="0"/>
              </a:rPr>
              <a:t>6 : </a:t>
            </a:r>
            <a:r>
              <a:rPr lang="zh-CN" altLang="en-US" sz="2400" dirty="0">
                <a:latin typeface="Times New Roman" panose="02020603050405020304" pitchFamily="18" charset="0"/>
              </a:rPr>
              <a:t>如果页面 </a:t>
            </a:r>
            <a:r>
              <a:rPr lang="en-US" altLang="zh-CN" sz="2400" i="1" dirty="0">
                <a:latin typeface="Times New Roman" panose="02020603050405020304" pitchFamily="18" charset="0"/>
              </a:rPr>
              <a:t>p</a:t>
            </a:r>
            <a:r>
              <a:rPr lang="en-US" altLang="zh-CN" sz="2400" dirty="0">
                <a:latin typeface="Times New Roman" panose="02020603050405020304" pitchFamily="18" charset="0"/>
              </a:rPr>
              <a:t> </a:t>
            </a:r>
            <a:r>
              <a:rPr lang="zh-CN" altLang="en-US" sz="2400" dirty="0">
                <a:latin typeface="Times New Roman" panose="02020603050405020304" pitchFamily="18" charset="0"/>
              </a:rPr>
              <a:t>和 </a:t>
            </a:r>
            <a:r>
              <a:rPr lang="en-US" altLang="zh-CN" sz="2400" i="1" dirty="0">
                <a:latin typeface="Times New Roman" panose="02020603050405020304" pitchFamily="18" charset="0"/>
              </a:rPr>
              <a:t>q</a:t>
            </a:r>
            <a:r>
              <a:rPr lang="en-US" altLang="zh-CN" sz="2400" dirty="0">
                <a:latin typeface="Times New Roman" panose="02020603050405020304" pitchFamily="18" charset="0"/>
              </a:rPr>
              <a:t> </a:t>
            </a:r>
            <a:r>
              <a:rPr lang="zh-CN" altLang="en-US" sz="2400" dirty="0">
                <a:latin typeface="Times New Roman" panose="02020603050405020304" pitchFamily="18" charset="0"/>
              </a:rPr>
              <a:t>同被引</a:t>
            </a:r>
            <a:r>
              <a:rPr lang="en-US" altLang="zh-CN" sz="2400" dirty="0">
                <a:latin typeface="Times New Roman" panose="02020603050405020304" pitchFamily="18" charset="0"/>
              </a:rPr>
              <a:t>, </a:t>
            </a:r>
            <a:r>
              <a:rPr lang="zh-CN" altLang="en-US" sz="2400" dirty="0">
                <a:latin typeface="Times New Roman" panose="02020603050405020304" pitchFamily="18" charset="0"/>
              </a:rPr>
              <a:t>则它们可能是相关的</a:t>
            </a:r>
            <a:r>
              <a:rPr lang="en-US" altLang="zh-CN" sz="2400" dirty="0">
                <a:latin typeface="Times New Roman" panose="02020603050405020304" pitchFamily="18" charset="0"/>
              </a:rPr>
              <a:t>, </a:t>
            </a:r>
            <a:r>
              <a:rPr lang="zh-CN" altLang="en-US" sz="2400" dirty="0">
                <a:latin typeface="Times New Roman" panose="02020603050405020304" pitchFamily="18" charset="0"/>
              </a:rPr>
              <a:t>同被引度越大</a:t>
            </a:r>
            <a:r>
              <a:rPr lang="en-US" altLang="zh-CN" sz="2400" dirty="0">
                <a:latin typeface="Times New Roman" panose="02020603050405020304" pitchFamily="18" charset="0"/>
              </a:rPr>
              <a:t>, </a:t>
            </a:r>
            <a:r>
              <a:rPr lang="zh-CN" altLang="en-US" sz="2400" dirty="0">
                <a:latin typeface="Times New Roman" panose="02020603050405020304" pitchFamily="18" charset="0"/>
              </a:rPr>
              <a:t>相关度越大。</a:t>
            </a:r>
            <a:endParaRPr lang="zh-CN" altLang="en-US" sz="2400" dirty="0">
              <a:latin typeface="Times New Roman" panose="02020603050405020304" pitchFamily="18" charset="0"/>
            </a:endParaRPr>
          </a:p>
        </p:txBody>
      </p:sp>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79512" y="1196752"/>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典型算法</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zh-CN" sz="2400" dirty="0">
                <a:solidFill>
                  <a:srgbClr val="1557AE"/>
                </a:solidFill>
                <a:latin typeface="Times New Roman" panose="02020603050405020304" pitchFamily="18" charset="0"/>
              </a:rPr>
              <a:t>独立于查询的算法-PageRank</a:t>
            </a:r>
            <a:endParaRPr lang="en-US" altLang="zh-CN" sz="2400" dirty="0">
              <a:solidFill>
                <a:srgbClr val="1557AE"/>
              </a:solidFill>
              <a:latin typeface="Times New Roman" panose="02020603050405020304" pitchFamily="18" charset="0"/>
            </a:endParaRPr>
          </a:p>
          <a:p>
            <a:pPr lvl="1">
              <a:lnSpc>
                <a:spcPct val="120000"/>
              </a:lnSpc>
              <a:spcBef>
                <a:spcPts val="600"/>
              </a:spcBef>
              <a:buClrTx/>
              <a:buFont typeface="Arial" panose="020B0604020202020204" pitchFamily="34" charset="0"/>
              <a:buChar char="•"/>
            </a:pPr>
            <a:r>
              <a:rPr lang="zh-CN" altLang="en-US" sz="2200" dirty="0">
                <a:latin typeface="Calibri" panose="020F0502020204030204" pitchFamily="34" charset="0"/>
                <a:cs typeface="Calibri" panose="020F0502020204030204" pitchFamily="34" charset="0"/>
              </a:rPr>
              <a:t>由</a:t>
            </a:r>
            <a:r>
              <a:rPr lang="en-US" altLang="zh-CN" sz="2200" dirty="0">
                <a:latin typeface="Calibri" panose="020F0502020204030204" pitchFamily="34" charset="0"/>
                <a:cs typeface="Calibri" panose="020F0502020204030204" pitchFamily="34" charset="0"/>
              </a:rPr>
              <a:t>Google</a:t>
            </a:r>
            <a:r>
              <a:rPr lang="zh-CN" altLang="en-US" sz="2200" dirty="0">
                <a:latin typeface="Calibri" panose="020F0502020204030204" pitchFamily="34" charset="0"/>
                <a:cs typeface="Calibri" panose="020F0502020204030204" pitchFamily="34" charset="0"/>
              </a:rPr>
              <a:t>创始人</a:t>
            </a:r>
            <a:r>
              <a:rPr lang="en-US" altLang="zh-CN" sz="2200" dirty="0">
                <a:latin typeface="Calibri" panose="020F0502020204030204" pitchFamily="34" charset="0"/>
                <a:cs typeface="Calibri" panose="020F0502020204030204" pitchFamily="34" charset="0"/>
              </a:rPr>
              <a:t>Sergey </a:t>
            </a:r>
            <a:r>
              <a:rPr lang="en-US" altLang="zh-CN" sz="2200" dirty="0" err="1">
                <a:latin typeface="Calibri" panose="020F0502020204030204" pitchFamily="34" charset="0"/>
                <a:cs typeface="Calibri" panose="020F0502020204030204" pitchFamily="34" charset="0"/>
              </a:rPr>
              <a:t>Brin</a:t>
            </a:r>
            <a:r>
              <a:rPr lang="zh-CN" altLang="en-US" sz="2200" dirty="0">
                <a:latin typeface="Calibri" panose="020F0502020204030204" pitchFamily="34" charset="0"/>
                <a:cs typeface="Calibri" panose="020F0502020204030204" pitchFamily="34" charset="0"/>
              </a:rPr>
              <a:t>和</a:t>
            </a:r>
            <a:r>
              <a:rPr lang="en-US" altLang="zh-CN" sz="2200" dirty="0">
                <a:latin typeface="Calibri" panose="020F0502020204030204" pitchFamily="34" charset="0"/>
                <a:cs typeface="Calibri" panose="020F0502020204030204" pitchFamily="34" charset="0"/>
              </a:rPr>
              <a:t>Larry Page</a:t>
            </a:r>
            <a:r>
              <a:rPr lang="zh-CN" altLang="en-US" sz="2200" dirty="0">
                <a:latin typeface="Calibri" panose="020F0502020204030204" pitchFamily="34" charset="0"/>
                <a:cs typeface="Calibri" panose="020F0502020204030204" pitchFamily="34" charset="0"/>
              </a:rPr>
              <a:t>提出，它是</a:t>
            </a:r>
            <a:r>
              <a:rPr lang="en-US" altLang="zh-CN" sz="2200" dirty="0">
                <a:latin typeface="Calibri" panose="020F0502020204030204" pitchFamily="34" charset="0"/>
                <a:cs typeface="Calibri" panose="020F0502020204030204" pitchFamily="34" charset="0"/>
              </a:rPr>
              <a:t>Google</a:t>
            </a:r>
            <a:r>
              <a:rPr lang="zh-CN" altLang="en-US" sz="2200" dirty="0">
                <a:latin typeface="Calibri" panose="020F0502020204030204" pitchFamily="34" charset="0"/>
                <a:cs typeface="Calibri" panose="020F0502020204030204" pitchFamily="34" charset="0"/>
              </a:rPr>
              <a:t>排名运算法则的一部分，用于标识网页的等级</a:t>
            </a:r>
            <a:r>
              <a:rPr lang="en-US" altLang="zh-CN" sz="2200" dirty="0">
                <a:latin typeface="Calibri" panose="020F0502020204030204" pitchFamily="34" charset="0"/>
                <a:cs typeface="Calibri" panose="020F0502020204030204" pitchFamily="34" charset="0"/>
              </a:rPr>
              <a:t>/</a:t>
            </a:r>
            <a:r>
              <a:rPr lang="zh-CN" altLang="en-US" sz="2200" dirty="0">
                <a:latin typeface="Calibri" panose="020F0502020204030204" pitchFamily="34" charset="0"/>
                <a:cs typeface="Calibri" panose="020F0502020204030204" pitchFamily="34" charset="0"/>
              </a:rPr>
              <a:t>重要性</a:t>
            </a:r>
            <a:endParaRPr lang="zh-CN" altLang="en-US" sz="2200" dirty="0">
              <a:latin typeface="Calibri" panose="020F0502020204030204" pitchFamily="34" charset="0"/>
              <a:cs typeface="Calibri" panose="020F0502020204030204" pitchFamily="34" charset="0"/>
            </a:endParaRPr>
          </a:p>
          <a:p>
            <a:pPr lvl="1">
              <a:lnSpc>
                <a:spcPct val="120000"/>
              </a:lnSpc>
              <a:spcBef>
                <a:spcPts val="600"/>
              </a:spcBef>
              <a:buClrTx/>
              <a:buFont typeface="Arial" panose="020B0604020202020204" pitchFamily="34" charset="0"/>
              <a:buChar char="•"/>
            </a:pPr>
            <a:r>
              <a:rPr lang="en-US" altLang="zh-CN" sz="2200" dirty="0">
                <a:latin typeface="Calibri" panose="020F0502020204030204" pitchFamily="34" charset="0"/>
                <a:cs typeface="Calibri" panose="020F0502020204030204" pitchFamily="34" charset="0"/>
              </a:rPr>
              <a:t>Google</a:t>
            </a:r>
            <a:r>
              <a:rPr lang="zh-CN" altLang="en-US" sz="2200" dirty="0">
                <a:latin typeface="Calibri" panose="020F0502020204030204" pitchFamily="34" charset="0"/>
                <a:cs typeface="Calibri" panose="020F0502020204030204" pitchFamily="34" charset="0"/>
              </a:rPr>
              <a:t>通过</a:t>
            </a:r>
            <a:r>
              <a:rPr lang="en-US" altLang="zh-CN" sz="2200" dirty="0">
                <a:latin typeface="Calibri" panose="020F0502020204030204" pitchFamily="34" charset="0"/>
                <a:cs typeface="Calibri" panose="020F0502020204030204" pitchFamily="34" charset="0"/>
              </a:rPr>
              <a:t>PageRank</a:t>
            </a:r>
            <a:r>
              <a:rPr lang="zh-CN" altLang="en-US" sz="2200" dirty="0">
                <a:latin typeface="Calibri" panose="020F0502020204030204" pitchFamily="34" charset="0"/>
                <a:cs typeface="Calibri" panose="020F0502020204030204" pitchFamily="34" charset="0"/>
              </a:rPr>
              <a:t>来调整结果，使那些更具等级</a:t>
            </a:r>
            <a:r>
              <a:rPr lang="en-US" altLang="zh-CN" sz="2200" dirty="0">
                <a:latin typeface="Calibri" panose="020F0502020204030204" pitchFamily="34" charset="0"/>
                <a:cs typeface="Calibri" panose="020F0502020204030204" pitchFamily="34" charset="0"/>
              </a:rPr>
              <a:t>/</a:t>
            </a:r>
            <a:r>
              <a:rPr lang="zh-CN" altLang="en-US" sz="2200" dirty="0">
                <a:latin typeface="Calibri" panose="020F0502020204030204" pitchFamily="34" charset="0"/>
                <a:cs typeface="Calibri" panose="020F0502020204030204" pitchFamily="34" charset="0"/>
              </a:rPr>
              <a:t>重要性的网页在搜索结果中的排名获得提升。</a:t>
            </a:r>
            <a:r>
              <a:rPr lang="zh-CN" altLang="en-US" sz="2200" dirty="0">
                <a:solidFill>
                  <a:srgbClr val="FF0000"/>
                </a:solidFill>
                <a:latin typeface="Calibri" panose="020F0502020204030204" pitchFamily="34" charset="0"/>
                <a:cs typeface="Calibri" panose="020F0502020204030204" pitchFamily="34" charset="0"/>
              </a:rPr>
              <a:t>基本思想是被大量高质量网页引用（链接）的网页也是高质量网页</a:t>
            </a:r>
            <a:endParaRPr lang="zh-CN" altLang="en-US" sz="2200" dirty="0">
              <a:solidFill>
                <a:srgbClr val="FF0000"/>
              </a:solidFill>
              <a:latin typeface="Calibri" panose="020F0502020204030204" pitchFamily="34" charset="0"/>
              <a:cs typeface="Calibri" panose="020F0502020204030204" pitchFamily="34" charset="0"/>
            </a:endParaRPr>
          </a:p>
          <a:p>
            <a:pPr lvl="1" eaLnBrk="1" hangingPunct="1">
              <a:lnSpc>
                <a:spcPct val="120000"/>
              </a:lnSpc>
              <a:spcBef>
                <a:spcPts val="1200"/>
              </a:spcBef>
              <a:buClrTx/>
              <a:buFont typeface="Wingdings" panose="05000000000000000000" pitchFamily="2" charset="2"/>
              <a:buChar char="ü"/>
            </a:pPr>
            <a:r>
              <a:rPr lang="zh-CN" altLang="zh-CN" sz="2400" dirty="0">
                <a:solidFill>
                  <a:srgbClr val="1557AE"/>
                </a:solidFill>
                <a:latin typeface="Times New Roman" panose="02020603050405020304" pitchFamily="18" charset="0"/>
              </a:rPr>
              <a:t>查询相关算法-HITS</a:t>
            </a:r>
            <a:r>
              <a:rPr lang="en-US" altLang="zh-CN" sz="2400" dirty="0">
                <a:solidFill>
                  <a:srgbClr val="1557AE"/>
                </a:solidFill>
                <a:latin typeface="Times New Roman" panose="02020603050405020304" pitchFamily="18" charset="0"/>
              </a:rPr>
              <a:t> (Hypertext-Induced Topic Search)</a:t>
            </a:r>
            <a:endParaRPr lang="en-US" altLang="zh-CN" sz="2400" dirty="0">
              <a:solidFill>
                <a:srgbClr val="1557AE"/>
              </a:solidFill>
              <a:latin typeface="Times New Roman" panose="02020603050405020304" pitchFamily="18" charset="0"/>
            </a:endParaRPr>
          </a:p>
          <a:p>
            <a:pPr lvl="1">
              <a:lnSpc>
                <a:spcPct val="120000"/>
              </a:lnSpc>
              <a:spcBef>
                <a:spcPts val="600"/>
              </a:spcBef>
              <a:buClrTx/>
              <a:buFont typeface="Arial" panose="020B0604020202020204" pitchFamily="34" charset="0"/>
              <a:buChar char="•"/>
            </a:pPr>
            <a:r>
              <a:rPr lang="zh-CN" altLang="en-US" sz="2200" dirty="0">
                <a:latin typeface="Calibri" panose="020F0502020204030204" pitchFamily="34" charset="0"/>
                <a:cs typeface="Calibri" panose="020F0502020204030204" pitchFamily="34" charset="0"/>
              </a:rPr>
              <a:t>由</a:t>
            </a:r>
            <a:r>
              <a:rPr lang="en-US" altLang="zh-CN" sz="2200" dirty="0">
                <a:latin typeface="Calibri" panose="020F0502020204030204" pitchFamily="34" charset="0"/>
                <a:cs typeface="Calibri" panose="020F0502020204030204" pitchFamily="34" charset="0"/>
              </a:rPr>
              <a:t>Cornell University </a:t>
            </a:r>
            <a:r>
              <a:rPr lang="zh-CN" altLang="en-US" sz="2200" dirty="0">
                <a:latin typeface="Calibri" panose="020F0502020204030204" pitchFamily="34" charset="0"/>
                <a:cs typeface="Calibri" panose="020F0502020204030204" pitchFamily="34" charset="0"/>
              </a:rPr>
              <a:t>的 </a:t>
            </a:r>
            <a:r>
              <a:rPr lang="en-US" altLang="zh-CN" sz="2200" dirty="0">
                <a:latin typeface="Calibri" panose="020F0502020204030204" pitchFamily="34" charset="0"/>
                <a:cs typeface="Calibri" panose="020F0502020204030204" pitchFamily="34" charset="0"/>
              </a:rPr>
              <a:t>Jon Kleinberg</a:t>
            </a:r>
            <a:r>
              <a:rPr lang="zh-CN" altLang="en-US" sz="2200" dirty="0">
                <a:latin typeface="Calibri" panose="020F0502020204030204" pitchFamily="34" charset="0"/>
                <a:cs typeface="Calibri" panose="020F0502020204030204" pitchFamily="34" charset="0"/>
              </a:rPr>
              <a:t>（克莱因伯格）</a:t>
            </a:r>
            <a:r>
              <a:rPr lang="en-US" altLang="zh-CN" sz="2200" dirty="0">
                <a:latin typeface="Calibri" panose="020F0502020204030204" pitchFamily="34" charset="0"/>
                <a:cs typeface="Calibri" panose="020F0502020204030204" pitchFamily="34" charset="0"/>
              </a:rPr>
              <a:t> </a:t>
            </a:r>
            <a:r>
              <a:rPr lang="zh-CN" altLang="en-US" sz="2200" dirty="0">
                <a:latin typeface="Calibri" panose="020F0502020204030204" pitchFamily="34" charset="0"/>
                <a:cs typeface="Calibri" panose="020F0502020204030204" pitchFamily="34" charset="0"/>
              </a:rPr>
              <a:t>博士于 </a:t>
            </a:r>
            <a:r>
              <a:rPr lang="en-US" altLang="zh-CN" sz="2200" dirty="0">
                <a:latin typeface="Calibri" panose="020F0502020204030204" pitchFamily="34" charset="0"/>
                <a:cs typeface="Calibri" panose="020F0502020204030204" pitchFamily="34" charset="0"/>
              </a:rPr>
              <a:t>1998 </a:t>
            </a:r>
            <a:r>
              <a:rPr lang="zh-CN" altLang="en-US" sz="2200" dirty="0">
                <a:latin typeface="Calibri" panose="020F0502020204030204" pitchFamily="34" charset="0"/>
                <a:cs typeface="Calibri" panose="020F0502020204030204" pitchFamily="34" charset="0"/>
              </a:rPr>
              <a:t>年提出，</a:t>
            </a:r>
            <a:r>
              <a:rPr lang="en-US" altLang="zh-CN" sz="2200" dirty="0">
                <a:latin typeface="Calibri" panose="020F0502020204030204" pitchFamily="34" charset="0"/>
                <a:cs typeface="Calibri" panose="020F0502020204030204" pitchFamily="34" charset="0"/>
              </a:rPr>
              <a:t>IBM </a:t>
            </a:r>
            <a:r>
              <a:rPr lang="en-US" altLang="zh-CN" sz="2200" dirty="0" err="1">
                <a:latin typeface="Calibri" panose="020F0502020204030204" pitchFamily="34" charset="0"/>
                <a:cs typeface="Calibri" panose="020F0502020204030204" pitchFamily="34" charset="0"/>
              </a:rPr>
              <a:t>Almaden</a:t>
            </a:r>
            <a:r>
              <a:rPr lang="en-US" altLang="zh-CN" sz="2200" dirty="0">
                <a:latin typeface="Calibri" panose="020F0502020204030204" pitchFamily="34" charset="0"/>
                <a:cs typeface="Calibri" panose="020F0502020204030204" pitchFamily="34" charset="0"/>
              </a:rPr>
              <a:t> Research Center</a:t>
            </a:r>
            <a:r>
              <a:rPr lang="zh-CN" altLang="en-US" sz="2200" dirty="0">
                <a:latin typeface="Calibri" panose="020F0502020204030204" pitchFamily="34" charset="0"/>
                <a:cs typeface="Calibri" panose="020F0502020204030204" pitchFamily="34" charset="0"/>
              </a:rPr>
              <a:t>的</a:t>
            </a:r>
            <a:r>
              <a:rPr lang="en-US" altLang="zh-CN" sz="2200" dirty="0">
                <a:latin typeface="Calibri" panose="020F0502020204030204" pitchFamily="34" charset="0"/>
                <a:cs typeface="Calibri" panose="020F0502020204030204" pitchFamily="34" charset="0"/>
              </a:rPr>
              <a:t>CLEVER</a:t>
            </a:r>
            <a:r>
              <a:rPr lang="zh-CN" altLang="en-US" sz="2200" dirty="0">
                <a:latin typeface="Calibri" panose="020F0502020204030204" pitchFamily="34" charset="0"/>
                <a:cs typeface="Calibri" panose="020F0502020204030204" pitchFamily="34" charset="0"/>
              </a:rPr>
              <a:t>项目中的一部分</a:t>
            </a:r>
            <a:endParaRPr lang="en-US" altLang="zh-CN" sz="2200" dirty="0">
              <a:latin typeface="Calibri" panose="020F0502020204030204" pitchFamily="34" charset="0"/>
              <a:cs typeface="Calibri" panose="020F0502020204030204" pitchFamily="34" charset="0"/>
            </a:endParaRPr>
          </a:p>
        </p:txBody>
      </p:sp>
      <p:sp>
        <p:nvSpPr>
          <p:cNvPr id="4" name="矩形 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79512" y="1196752"/>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zh-CN"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利用页面之间的超链接为每个页面赋予一个质量排序的数值</a:t>
            </a:r>
            <a:endParaRPr lang="en-US" altLang="zh-CN"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每个页面都有唯一的</a:t>
            </a:r>
            <a:r>
              <a:rPr lang="en-US" altLang="zh-CN" sz="24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值，该数值独立于用户检索用的关键字</a:t>
            </a:r>
            <a:endParaRPr lang="en-US" altLang="zh-CN" sz="24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en-US" altLang="zh-CN" sz="2400" dirty="0">
                <a:latin typeface="Times New Roman" panose="02020603050405020304" pitchFamily="18" charset="0"/>
                <a:ea typeface="方正兰亭中黑_GBK" panose="02000000000000000000" pitchFamily="2" charset="-122"/>
                <a:cs typeface="Times New Roman" panose="02020603050405020304" pitchFamily="18" charset="0"/>
              </a:rPr>
              <a:t>PageRank </a:t>
            </a:r>
            <a:r>
              <a:rPr lang="zh-CN" altLang="en-US" sz="24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并不能</a:t>
            </a:r>
            <a:r>
              <a:rPr lang="zh-CN" altLang="en-US" sz="2400" dirty="0">
                <a:latin typeface="Times New Roman" panose="02020603050405020304" pitchFamily="18" charset="0"/>
                <a:ea typeface="方正兰亭中黑_GBK" panose="02000000000000000000" pitchFamily="2" charset="-122"/>
                <a:cs typeface="Times New Roman" panose="02020603050405020304" pitchFamily="18" charset="0"/>
              </a:rPr>
              <a:t>体现页面与用户查询的相关性</a:t>
            </a:r>
            <a:endParaRPr lang="en-US" altLang="zh-CN" sz="2400" dirty="0">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矩形 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idx="4294967295"/>
          </p:nvPr>
        </p:nvPicPr>
        <p:blipFill>
          <a:blip r:embed="rId1">
            <a:extLst>
              <a:ext uri="{28A0092B-C50C-407E-A947-70E740481C1C}">
                <a14:useLocalDpi xmlns:a14="http://schemas.microsoft.com/office/drawing/2010/main" val="0"/>
              </a:ext>
            </a:extLst>
          </a:blip>
          <a:stretch>
            <a:fillRect/>
          </a:stretch>
        </p:blipFill>
        <p:spPr>
          <a:prstGeom prst="rect">
            <a:avLst/>
          </a:prstGeom>
        </p:spPr>
      </p:pic>
      <p:sp>
        <p:nvSpPr>
          <p:cNvPr id="27" name="Rectangle 3"/>
          <p:cNvSpPr txBox="1">
            <a:spLocks noChangeArrowheads="1"/>
          </p:cNvSpPr>
          <p:nvPr/>
        </p:nvSpPr>
        <p:spPr bwMode="auto">
          <a:xfrm>
            <a:off x="179512" y="1205135"/>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spcBef>
                <a:spcPts val="600"/>
              </a:spcBef>
              <a:buClr>
                <a:srgbClr val="FF0000"/>
              </a:buClr>
              <a:buFont typeface="Wingdings" panose="05000000000000000000" pitchFamily="2" charset="2"/>
              <a:buChar char="n"/>
              <a:defRPr/>
            </a:pPr>
            <a:r>
              <a:rPr lang="zh-CN"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随机冲浪模型</a:t>
            </a:r>
            <a:endParaRPr lang="en-GB"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Tx/>
              <a:buFont typeface="Wingdings" panose="05000000000000000000" pitchFamily="2" charset="2"/>
              <a:buChar char="ü"/>
            </a:pPr>
            <a:r>
              <a:rPr lang="zh-CN" altLang="en-US" sz="2400" dirty="0">
                <a:latin typeface="Calibri" panose="020F0502020204030204" pitchFamily="34" charset="0"/>
                <a:cs typeface="Calibri" panose="020F0502020204030204" pitchFamily="34" charset="0"/>
              </a:rPr>
              <a:t>超链接网络上</a:t>
            </a:r>
            <a:r>
              <a:rPr lang="zh-CN" altLang="en-US" sz="2400" dirty="0">
                <a:solidFill>
                  <a:srgbClr val="1557AE"/>
                </a:solidFill>
                <a:latin typeface="Calibri" panose="020F0502020204030204" pitchFamily="34" charset="0"/>
                <a:cs typeface="Calibri" panose="020F0502020204030204" pitchFamily="34" charset="0"/>
              </a:rPr>
              <a:t>随机游走</a:t>
            </a:r>
            <a:endParaRPr lang="en-US" altLang="zh-CN" sz="2400" dirty="0">
              <a:solidFill>
                <a:srgbClr val="1557AE"/>
              </a:solidFill>
              <a:latin typeface="Calibri" panose="020F0502020204030204" pitchFamily="34" charset="0"/>
              <a:cs typeface="Calibri" panose="020F0502020204030204" pitchFamily="34" charset="0"/>
            </a:endParaRPr>
          </a:p>
          <a:p>
            <a:pPr marL="471170" lvl="1" indent="0" eaLnBrk="1" hangingPunct="1">
              <a:lnSpc>
                <a:spcPct val="120000"/>
              </a:lnSpc>
              <a:spcBef>
                <a:spcPts val="600"/>
              </a:spcBef>
              <a:buClrTx/>
              <a:buNone/>
            </a:pPr>
            <a:r>
              <a:rPr lang="en-US" altLang="zh-CN" sz="2400" dirty="0">
                <a:latin typeface="Calibri" panose="020F0502020204030204" pitchFamily="34" charset="0"/>
                <a:cs typeface="Calibri" panose="020F0502020204030204" pitchFamily="34" charset="0"/>
              </a:rPr>
              <a:t>1: </a:t>
            </a:r>
            <a:r>
              <a:rPr lang="zh-CN" altLang="en-US" sz="2400" dirty="0">
                <a:latin typeface="Calibri" panose="020F0502020204030204" pitchFamily="34" charset="0"/>
                <a:cs typeface="Calibri" panose="020F0502020204030204" pitchFamily="34" charset="0"/>
              </a:rPr>
              <a:t>给定一个随机</a:t>
            </a:r>
            <a:r>
              <a:rPr lang="en-US" altLang="zh-CN" sz="2400" dirty="0">
                <a:latin typeface="Calibri" panose="020F0502020204030204" pitchFamily="34" charset="0"/>
                <a:cs typeface="Calibri" panose="020F0502020204030204" pitchFamily="34" charset="0"/>
              </a:rPr>
              <a:t>URL; </a:t>
            </a:r>
            <a:endParaRPr lang="en-US" altLang="zh-CN" sz="2400" dirty="0">
              <a:latin typeface="Calibri" panose="020F0502020204030204" pitchFamily="34" charset="0"/>
              <a:cs typeface="Calibri" panose="020F0502020204030204" pitchFamily="34" charset="0"/>
            </a:endParaRPr>
          </a:p>
          <a:p>
            <a:pPr marL="471170" lvl="1" indent="0" eaLnBrk="1" hangingPunct="1">
              <a:lnSpc>
                <a:spcPct val="120000"/>
              </a:lnSpc>
              <a:spcBef>
                <a:spcPts val="600"/>
              </a:spcBef>
              <a:buClrTx/>
              <a:buNone/>
            </a:pPr>
            <a:r>
              <a:rPr lang="en-US" altLang="zh-CN" sz="2400" dirty="0">
                <a:latin typeface="Calibri" panose="020F0502020204030204" pitchFamily="34" charset="0"/>
                <a:cs typeface="Calibri" panose="020F0502020204030204" pitchFamily="34" charset="0"/>
              </a:rPr>
              <a:t>2: </a:t>
            </a:r>
            <a:r>
              <a:rPr lang="zh-CN" altLang="en-US" sz="2400" dirty="0">
                <a:latin typeface="Calibri" panose="020F0502020204030204" pitchFamily="34" charset="0"/>
                <a:cs typeface="Calibri" panose="020F0502020204030204" pitchFamily="34" charset="0"/>
              </a:rPr>
              <a:t>随机点击一个页面上的链接；</a:t>
            </a:r>
            <a:endParaRPr lang="en-US" altLang="zh-CN" sz="2400" dirty="0">
              <a:latin typeface="Calibri" panose="020F0502020204030204" pitchFamily="34" charset="0"/>
              <a:cs typeface="Calibri" panose="020F0502020204030204" pitchFamily="34" charset="0"/>
            </a:endParaRPr>
          </a:p>
          <a:p>
            <a:pPr marL="471170" lvl="1" indent="0" eaLnBrk="1" hangingPunct="1">
              <a:lnSpc>
                <a:spcPct val="120000"/>
              </a:lnSpc>
              <a:spcBef>
                <a:spcPts val="600"/>
              </a:spcBef>
              <a:buClrTx/>
              <a:buNone/>
            </a:pPr>
            <a:r>
              <a:rPr lang="en-US" altLang="zh-CN" sz="2400" dirty="0">
                <a:latin typeface="Calibri" panose="020F0502020204030204" pitchFamily="34" charset="0"/>
                <a:cs typeface="Calibri" panose="020F0502020204030204" pitchFamily="34" charset="0"/>
              </a:rPr>
              <a:t>3: </a:t>
            </a:r>
            <a:r>
              <a:rPr lang="zh-CN" altLang="en-US" sz="2400" dirty="0">
                <a:latin typeface="Calibri" panose="020F0502020204030204" pitchFamily="34" charset="0"/>
                <a:cs typeface="Calibri" panose="020F0502020204030204" pitchFamily="34" charset="0"/>
              </a:rPr>
              <a:t>直到因“厌烦”，点击一个新的随机</a:t>
            </a:r>
            <a:r>
              <a:rPr lang="en-US" altLang="zh-CN" sz="2400" dirty="0">
                <a:latin typeface="Calibri" panose="020F0502020204030204" pitchFamily="34" charset="0"/>
                <a:cs typeface="Calibri" panose="020F0502020204030204" pitchFamily="34" charset="0"/>
              </a:rPr>
              <a:t>URL</a:t>
            </a:r>
            <a:endParaRPr lang="en-US" altLang="zh-CN" sz="2400" dirty="0">
              <a:solidFill>
                <a:srgbClr val="0000FF"/>
              </a:solidFill>
              <a:latin typeface="Calibri" panose="020F0502020204030204" pitchFamily="34" charset="0"/>
              <a:cs typeface="Calibri" panose="020F0502020204030204" pitchFamily="34" charset="0"/>
            </a:endParaRPr>
          </a:p>
        </p:txBody>
      </p:sp>
      <p:sp>
        <p:nvSpPr>
          <p:cNvPr id="3" name="矩形 2"/>
          <p:cNvSpPr/>
          <p:nvPr/>
        </p:nvSpPr>
        <p:spPr>
          <a:xfrm>
            <a:off x="5292080" y="4149080"/>
            <a:ext cx="3294112" cy="1762904"/>
          </a:xfrm>
          <a:prstGeom prst="rect">
            <a:avLst/>
          </a:prstGeom>
          <a:solidFill>
            <a:srgbClr val="FFFFE7"/>
          </a:solidFill>
          <a:ln w="25400" cap="flat" cmpd="sng" algn="ctr">
            <a:solidFill>
              <a:srgbClr val="FF9933"/>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gn="l" eaLnBrk="0" hangingPunct="0">
              <a:lnSpc>
                <a:spcPct val="130000"/>
              </a:lnSpc>
              <a:spcBef>
                <a:spcPts val="300"/>
              </a:spcBef>
              <a:spcAft>
                <a:spcPts val="300"/>
              </a:spcAft>
              <a:buClr>
                <a:srgbClr val="CC0000"/>
              </a:buClr>
            </a:pPr>
            <a:r>
              <a:rPr lang="zh-CN" altLang="en-US" sz="2000" dirty="0">
                <a:solidFill>
                  <a:srgbClr val="1557AE"/>
                </a:solidFill>
                <a:latin typeface="Times New Roman" panose="02020603050405020304" pitchFamily="18" charset="0"/>
                <a:ea typeface="黑体" panose="02010609060101010101" pitchFamily="49" charset="-122"/>
              </a:rPr>
              <a:t>等价于：</a:t>
            </a:r>
            <a:r>
              <a:rPr lang="zh-CN" altLang="en-US" sz="2000" b="0" dirty="0">
                <a:latin typeface="Times New Roman" panose="02020603050405020304" pitchFamily="18" charset="0"/>
                <a:ea typeface="黑体" panose="02010609060101010101" pitchFamily="49" charset="-122"/>
              </a:rPr>
              <a:t>稳态情况下（足够长时间后），每个网页 </a:t>
            </a:r>
            <a:r>
              <a:rPr lang="en-US" altLang="zh-CN" sz="2000" i="1" dirty="0">
                <a:solidFill>
                  <a:srgbClr val="1557AE"/>
                </a:solidFill>
                <a:latin typeface="Times New Roman" panose="02020603050405020304" pitchFamily="18" charset="0"/>
                <a:ea typeface="黑体" panose="02010609060101010101" pitchFamily="49" charset="-122"/>
              </a:rPr>
              <a:t>v</a:t>
            </a:r>
            <a:r>
              <a:rPr lang="en-US" altLang="zh-CN" sz="2000" b="0" dirty="0">
                <a:solidFill>
                  <a:srgbClr val="1557AE"/>
                </a:solidFill>
                <a:latin typeface="Times New Roman" panose="02020603050405020304" pitchFamily="18" charset="0"/>
                <a:ea typeface="黑体" panose="02010609060101010101" pitchFamily="49" charset="-122"/>
              </a:rPr>
              <a:t> </a:t>
            </a:r>
            <a:r>
              <a:rPr lang="zh-CN" altLang="en-US" sz="2000" b="0" dirty="0">
                <a:latin typeface="Times New Roman" panose="02020603050405020304" pitchFamily="18" charset="0"/>
                <a:ea typeface="黑体" panose="02010609060101010101" pitchFamily="49" charset="-122"/>
              </a:rPr>
              <a:t>会有一个访问概率，</a:t>
            </a:r>
            <a:r>
              <a:rPr lang="en-US" altLang="zh-CN" sz="2000" i="1" dirty="0">
                <a:solidFill>
                  <a:srgbClr val="1557AE"/>
                </a:solidFill>
                <a:latin typeface="Times New Roman" panose="02020603050405020304" pitchFamily="18" charset="0"/>
                <a:ea typeface="黑体" panose="02010609060101010101" pitchFamily="49" charset="-122"/>
              </a:rPr>
              <a:t>p</a:t>
            </a:r>
            <a:r>
              <a:rPr lang="en-US" altLang="zh-CN" sz="2000" dirty="0">
                <a:solidFill>
                  <a:srgbClr val="1557AE"/>
                </a:solidFill>
                <a:latin typeface="Times New Roman" panose="02020603050405020304" pitchFamily="18" charset="0"/>
                <a:ea typeface="黑体" panose="02010609060101010101" pitchFamily="49" charset="-122"/>
              </a:rPr>
              <a:t>(</a:t>
            </a:r>
            <a:r>
              <a:rPr lang="en-US" altLang="zh-CN" sz="2000" i="1" dirty="0">
                <a:solidFill>
                  <a:srgbClr val="1557AE"/>
                </a:solidFill>
                <a:latin typeface="Times New Roman" panose="02020603050405020304" pitchFamily="18" charset="0"/>
                <a:ea typeface="黑体" panose="02010609060101010101" pitchFamily="49" charset="-122"/>
              </a:rPr>
              <a:t>v</a:t>
            </a:r>
            <a:r>
              <a:rPr lang="en-US" altLang="zh-CN" sz="2000" dirty="0">
                <a:solidFill>
                  <a:srgbClr val="1557AE"/>
                </a:solidFill>
                <a:latin typeface="Times New Roman" panose="02020603050405020304" pitchFamily="18" charset="0"/>
                <a:ea typeface="黑体" panose="02010609060101010101" pitchFamily="49" charset="-122"/>
              </a:rPr>
              <a:t>)</a:t>
            </a:r>
            <a:r>
              <a:rPr lang="zh-CN" altLang="en-US" sz="2000" b="0" dirty="0">
                <a:latin typeface="Times New Roman" panose="02020603050405020304" pitchFamily="18" charset="0"/>
                <a:ea typeface="黑体" panose="02010609060101010101" pitchFamily="49" charset="-122"/>
              </a:rPr>
              <a:t>，可作为网页的重要程度的度量</a:t>
            </a:r>
            <a:endParaRPr lang="zh-CN" altLang="en-US" sz="2000" b="0" dirty="0">
              <a:latin typeface="Times New Roman" panose="02020603050405020304" pitchFamily="18" charset="0"/>
              <a:ea typeface="黑体" panose="02010609060101010101" pitchFamily="49" charset="-122"/>
            </a:endParaRPr>
          </a:p>
        </p:txBody>
      </p:sp>
      <p:sp>
        <p:nvSpPr>
          <p:cNvPr id="6" name="矩形 5"/>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bwMode="auto">
          <a:xfrm>
            <a:off x="179512" y="1196752"/>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的大小取决于三个因素：</a:t>
            </a:r>
            <a:endPar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10000"/>
              </a:lnSpc>
              <a:spcBef>
                <a:spcPts val="600"/>
              </a:spcBef>
              <a:buClrTx/>
              <a:buFont typeface="Wingdings" panose="05000000000000000000" pitchFamily="2" charset="2"/>
              <a:buChar char="ü"/>
            </a:pPr>
            <a:r>
              <a:rPr lang="zh-CN" altLang="en-US" sz="2400" dirty="0">
                <a:solidFill>
                  <a:srgbClr val="1557AE"/>
                </a:solidFill>
                <a:latin typeface="Calibri" panose="020F0502020204030204" pitchFamily="34" charset="0"/>
                <a:cs typeface="Calibri" panose="020F0502020204030204" pitchFamily="34" charset="0"/>
              </a:rPr>
              <a:t>链入网页数</a:t>
            </a:r>
            <a:endParaRPr lang="zh-CN" altLang="en-US" sz="2400" dirty="0">
              <a:solidFill>
                <a:srgbClr val="1557AE"/>
              </a:solidFill>
              <a:latin typeface="Calibri" panose="020F0502020204030204" pitchFamily="34" charset="0"/>
              <a:cs typeface="Calibri" panose="020F0502020204030204" pitchFamily="34" charset="0"/>
            </a:endParaRPr>
          </a:p>
          <a:p>
            <a:pPr lvl="1" eaLnBrk="1" hangingPunct="1">
              <a:lnSpc>
                <a:spcPct val="110000"/>
              </a:lnSpc>
              <a:spcBef>
                <a:spcPts val="600"/>
              </a:spcBef>
              <a:buClrTx/>
              <a:buFont typeface="Wingdings" panose="05000000000000000000" pitchFamily="2" charset="2"/>
              <a:buChar char="ü"/>
            </a:pPr>
            <a:r>
              <a:rPr lang="zh-CN" altLang="en-US" sz="2400" dirty="0">
                <a:solidFill>
                  <a:srgbClr val="1557AE"/>
                </a:solidFill>
                <a:latin typeface="Calibri" panose="020F0502020204030204" pitchFamily="34" charset="0"/>
                <a:cs typeface="Calibri" panose="020F0502020204030204" pitchFamily="34" charset="0"/>
              </a:rPr>
              <a:t>链入网页的质量</a:t>
            </a:r>
            <a:endParaRPr lang="zh-CN" altLang="en-US" sz="2400" dirty="0">
              <a:solidFill>
                <a:srgbClr val="1557AE"/>
              </a:solidFill>
              <a:latin typeface="Calibri" panose="020F0502020204030204" pitchFamily="34" charset="0"/>
              <a:cs typeface="Calibri" panose="020F0502020204030204" pitchFamily="34" charset="0"/>
            </a:endParaRPr>
          </a:p>
          <a:p>
            <a:pPr lvl="1" eaLnBrk="1" hangingPunct="1">
              <a:lnSpc>
                <a:spcPct val="110000"/>
              </a:lnSpc>
              <a:spcBef>
                <a:spcPts val="600"/>
              </a:spcBef>
              <a:buClrTx/>
              <a:buFont typeface="Wingdings" panose="05000000000000000000" pitchFamily="2" charset="2"/>
              <a:buChar char="ü"/>
            </a:pPr>
            <a:r>
              <a:rPr lang="zh-CN" altLang="en-US" sz="2400" dirty="0">
                <a:solidFill>
                  <a:srgbClr val="1557AE"/>
                </a:solidFill>
                <a:latin typeface="Calibri" panose="020F0502020204030204" pitchFamily="34" charset="0"/>
                <a:cs typeface="Calibri" panose="020F0502020204030204" pitchFamily="34" charset="0"/>
              </a:rPr>
              <a:t>链入网页的链出网页数</a:t>
            </a:r>
            <a:endParaRPr lang="zh-CN" altLang="en-US" sz="2400" dirty="0">
              <a:solidFill>
                <a:srgbClr val="1557AE"/>
              </a:solidFill>
              <a:latin typeface="Calibri" panose="020F0502020204030204" pitchFamily="34" charset="0"/>
              <a:cs typeface="Calibri" panose="020F0502020204030204" pitchFamily="34" charset="0"/>
            </a:endParaRPr>
          </a:p>
        </p:txBody>
      </p:sp>
      <p:pic>
        <p:nvPicPr>
          <p:cNvPr id="4"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20" y="3356992"/>
            <a:ext cx="4320480" cy="31515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5837" y="3356992"/>
            <a:ext cx="3920964" cy="314579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ChangeArrowheads="1"/>
          </p:cNvSpPr>
          <p:nvPr/>
        </p:nvSpPr>
        <p:spPr bwMode="auto">
          <a:xfrm>
            <a:off x="659187" y="3858041"/>
            <a:ext cx="8229600"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marR="0" lvl="0" indent="-457200" algn="l" defTabSz="914400" eaLnBrk="1" latinLnBrk="0" hangingPunct="1">
              <a:lnSpc>
                <a:spcPct val="120000"/>
              </a:lnSpc>
              <a:spcBef>
                <a:spcPts val="600"/>
              </a:spcBef>
              <a:spcAft>
                <a:spcPts val="0"/>
              </a:spcAft>
              <a:buSzPct val="100000"/>
              <a:buFont typeface="Wingdings" panose="05000000000000000000" pitchFamily="2" charset="2"/>
              <a:buChar char="ü"/>
              <a:defRPr/>
            </a:pPr>
            <a:r>
              <a:rPr lang="en-US" altLang="zh-CN" sz="2400" i="1" kern="0" dirty="0">
                <a:solidFill>
                  <a:srgbClr val="1557AE"/>
                </a:solidFill>
                <a:effectLst>
                  <a:outerShdw blurRad="38100" dist="38100" dir="2700000" algn="tl">
                    <a:srgbClr val="000000">
                      <a:alpha val="43137"/>
                    </a:srgbClr>
                  </a:outerShdw>
                </a:effectLst>
                <a:latin typeface="Times New Roman" panose="02020603050405020304" pitchFamily="18" charset="0"/>
                <a:ea typeface="方正兰亭中黑_GBK" panose="02000000000000000000" pitchFamily="2" charset="-122"/>
                <a:cs typeface="Times New Roman" panose="02020603050405020304" pitchFamily="18" charset="0"/>
              </a:rPr>
              <a:t>PR</a:t>
            </a:r>
            <a:r>
              <a:rPr lang="en-US" altLang="zh-CN" sz="2400" kern="0" dirty="0">
                <a:solidFill>
                  <a:srgbClr val="1557AE"/>
                </a:solidFill>
                <a:effectLst>
                  <a:outerShdw blurRad="38100" dist="38100" dir="2700000" algn="tl">
                    <a:srgbClr val="000000">
                      <a:alpha val="43137"/>
                    </a:srgbClr>
                  </a:outerShdw>
                </a:effectLst>
                <a:latin typeface="Times New Roman" panose="02020603050405020304" pitchFamily="18" charset="0"/>
                <a:ea typeface="方正兰亭中黑_GBK" panose="02000000000000000000" pitchFamily="2" charset="-122"/>
                <a:cs typeface="Times New Roman" panose="02020603050405020304" pitchFamily="18" charset="0"/>
              </a:rPr>
              <a:t>(</a:t>
            </a:r>
            <a:r>
              <a:rPr lang="en-US" altLang="zh-CN" sz="2400" i="1" kern="0" dirty="0">
                <a:solidFill>
                  <a:srgbClr val="1557AE"/>
                </a:solidFill>
                <a:effectLst>
                  <a:outerShdw blurRad="38100" dist="38100" dir="2700000" algn="tl">
                    <a:srgbClr val="000000">
                      <a:alpha val="43137"/>
                    </a:srgbClr>
                  </a:outerShdw>
                </a:effectLst>
                <a:latin typeface="Times New Roman" panose="02020603050405020304" pitchFamily="18" charset="0"/>
                <a:ea typeface="方正兰亭中黑_GBK" panose="02000000000000000000" pitchFamily="2" charset="-122"/>
                <a:cs typeface="Times New Roman" panose="02020603050405020304" pitchFamily="18" charset="0"/>
              </a:rPr>
              <a:t>A</a:t>
            </a:r>
            <a:r>
              <a:rPr lang="en-US" altLang="zh-CN" sz="2400" kern="0" dirty="0">
                <a:solidFill>
                  <a:srgbClr val="1557AE"/>
                </a:solidFill>
                <a:effectLst>
                  <a:outerShdw blurRad="38100" dist="38100" dir="2700000" algn="tl">
                    <a:srgbClr val="000000">
                      <a:alpha val="43137"/>
                    </a:srgbClr>
                  </a:outerShdw>
                </a:effectLst>
                <a:latin typeface="Times New Roman" panose="02020603050405020304" pitchFamily="18" charset="0"/>
                <a:ea typeface="方正兰亭中黑_GBK" panose="02000000000000000000" pitchFamily="2" charset="-122"/>
                <a:cs typeface="Times New Roman" panose="02020603050405020304" pitchFamily="18" charset="0"/>
              </a:rPr>
              <a:t>)</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是网页 </a:t>
            </a:r>
            <a:r>
              <a:rPr kumimoji="0" lang="en-US" altLang="zh-CN" sz="2400" b="0" i="1"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A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的</a:t>
            </a:r>
            <a:r>
              <a:rPr kumimoji="0" lang="en-US" altLang="zh-CN"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PageRank</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值；</a:t>
            </a:r>
            <a:endPar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endParaRPr>
          </a:p>
          <a:p>
            <a:pPr marL="457200" marR="0" lvl="0" indent="-457200" algn="l" defTabSz="914400" eaLnBrk="1" latinLnBrk="0" hangingPunct="1">
              <a:lnSpc>
                <a:spcPct val="120000"/>
              </a:lnSpc>
              <a:spcBef>
                <a:spcPts val="600"/>
              </a:spcBef>
              <a:spcAft>
                <a:spcPts val="0"/>
              </a:spcAft>
              <a:buSzPct val="100000"/>
              <a:buFont typeface="Wingdings" panose="05000000000000000000" pitchFamily="2" charset="2"/>
              <a:buChar char="ü"/>
              <a:defRPr/>
            </a:pPr>
            <a:r>
              <a:rPr kumimoji="0" lang="en-US" altLang="zh-CN" sz="2400" i="1"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a:t>
            </a:r>
            <a:r>
              <a:rPr kumimoji="0" lang="en-US" altLang="zh-CN"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是一个权值，例如可以设定为</a:t>
            </a:r>
            <a:r>
              <a:rPr kumimoji="0" lang="en-US" altLang="zh-CN"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0.85</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，经过多次迭代，</a:t>
            </a:r>
            <a:r>
              <a:rPr kumimoji="0" lang="en-US" altLang="zh-CN" sz="2400" i="1"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PR</a:t>
            </a:r>
            <a:r>
              <a:rPr kumimoji="0" lang="en-US" altLang="zh-CN" sz="2400" i="0"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t>
            </a:r>
            <a:r>
              <a:rPr kumimoji="0" lang="en-US" altLang="zh-CN" sz="2400" i="1"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a:t>
            </a:r>
            <a:r>
              <a:rPr kumimoji="0" lang="en-US" altLang="zh-CN" sz="2400" i="0"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接近精确值；</a:t>
            </a:r>
            <a:endPar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endParaRPr>
          </a:p>
          <a:p>
            <a:pPr marL="457200" marR="0" lvl="0" indent="-457200" algn="l" defTabSz="914400" eaLnBrk="1" latinLnBrk="0" hangingPunct="1">
              <a:lnSpc>
                <a:spcPct val="120000"/>
              </a:lnSpc>
              <a:spcBef>
                <a:spcPts val="600"/>
              </a:spcBef>
              <a:spcAft>
                <a:spcPts val="0"/>
              </a:spcAft>
              <a:buSzPct val="100000"/>
              <a:buFont typeface="Wingdings" panose="05000000000000000000" pitchFamily="2" charset="2"/>
              <a:buChar char="ü"/>
              <a:defRPr/>
            </a:pPr>
            <a:r>
              <a:rPr kumimoji="0" lang="en-US" altLang="zh-CN" sz="2400" i="1" u="none" strike="noStrike" kern="0" cap="none" spc="0" normalizeH="0" baseline="0" noProof="0" dirty="0" err="1">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t</a:t>
            </a:r>
            <a:r>
              <a:rPr kumimoji="0" lang="en-US" altLang="zh-CN" sz="2400" i="1" u="none" strike="noStrike" kern="0" cap="none" spc="0" normalizeH="0" baseline="-25000" noProof="0" dirty="0" err="1">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i</a:t>
            </a:r>
            <a:r>
              <a:rPr kumimoji="0" lang="en-US" altLang="zh-CN" sz="2400" b="0" i="1" u="none" strike="noStrike" kern="0" cap="none" spc="0" normalizeH="0" baseline="-25000" noProof="0" dirty="0">
                <a:ln>
                  <a:noFill/>
                </a:ln>
                <a:solidFill>
                  <a:srgbClr val="1557AE"/>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表示链向页面 </a:t>
            </a:r>
            <a:r>
              <a:rPr kumimoji="0" lang="en-US" altLang="zh-CN" sz="2400" b="0" i="1"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A</a:t>
            </a:r>
            <a:r>
              <a:rPr kumimoji="0" lang="en-US" altLang="zh-CN"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的第 </a:t>
            </a:r>
            <a:r>
              <a:rPr kumimoji="0" lang="en-US" altLang="zh-CN" sz="2400" i="1" u="none" strike="noStrike" kern="0" cap="none" spc="0" normalizeH="0" baseline="0" noProof="0" dirty="0">
                <a:ln>
                  <a:noFill/>
                </a:ln>
                <a:solidFill>
                  <a:srgbClr val="1557AE"/>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i</a:t>
            </a:r>
            <a:r>
              <a:rPr kumimoji="0" lang="en-US" altLang="zh-CN" sz="2400" b="0" i="1"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个网页；</a:t>
            </a:r>
            <a:endPar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endParaRPr>
          </a:p>
          <a:p>
            <a:pPr marL="457200" marR="0" lvl="0" indent="-457200" algn="l" defTabSz="914400" eaLnBrk="1" latinLnBrk="0" hangingPunct="1">
              <a:lnSpc>
                <a:spcPct val="120000"/>
              </a:lnSpc>
              <a:spcBef>
                <a:spcPts val="600"/>
              </a:spcBef>
              <a:spcAft>
                <a:spcPts val="0"/>
              </a:spcAft>
              <a:buSzPct val="100000"/>
              <a:buFont typeface="Wingdings" panose="05000000000000000000" pitchFamily="2" charset="2"/>
              <a:buChar char="ü"/>
              <a:defRPr/>
            </a:pPr>
            <a:r>
              <a:rPr kumimoji="0" lang="en-US" altLang="zh-CN" sz="2400" i="1"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C</a:t>
            </a:r>
            <a:r>
              <a:rPr kumimoji="0" lang="en-US" altLang="zh-CN" sz="2400" i="0"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t>
            </a:r>
            <a:r>
              <a:rPr kumimoji="0" lang="en-US" altLang="zh-CN" sz="2400" i="1" u="none" strike="noStrike" kern="0" cap="none" spc="0" normalizeH="0" baseline="0" noProof="0" dirty="0" err="1">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t</a:t>
            </a:r>
            <a:r>
              <a:rPr kumimoji="0" lang="en-US" altLang="zh-CN" sz="2400" i="1" u="none" strike="noStrike" kern="0" cap="none" spc="0" normalizeH="0" baseline="-25000" noProof="0" dirty="0" err="1">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i</a:t>
            </a:r>
            <a:r>
              <a:rPr kumimoji="0" lang="en-US" altLang="zh-CN" sz="2400" i="0"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表示页面</a:t>
            </a:r>
            <a:r>
              <a:rPr kumimoji="0" lang="zh-CN" altLang="en-US" sz="2400" b="0" i="0" u="none" strike="noStrike" kern="0" cap="none" spc="0" normalizeH="0" baseline="0" noProof="0" dirty="0">
                <a:ln>
                  <a:noFill/>
                </a:ln>
                <a:solidFill>
                  <a:srgbClr val="1557AE"/>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400" i="1" kern="0" dirty="0">
                <a:solidFill>
                  <a:srgbClr val="1557AE"/>
                </a:solidFill>
                <a:effectLst>
                  <a:outerShdw blurRad="38100" dist="38100" dir="2700000" algn="tl">
                    <a:srgbClr val="000000">
                      <a:alpha val="43137"/>
                    </a:srgbClr>
                  </a:outerShdw>
                </a:effectLst>
                <a:latin typeface="Times New Roman" panose="02020603050405020304" pitchFamily="18" charset="0"/>
                <a:ea typeface="方正兰亭中黑_GBK" panose="02000000000000000000" pitchFamily="2" charset="-122"/>
                <a:cs typeface="Times New Roman" panose="02020603050405020304" pitchFamily="18" charset="0"/>
              </a:rPr>
              <a:t>i</a:t>
            </a:r>
            <a:r>
              <a:rPr kumimoji="0" lang="en-US" altLang="zh-CN" sz="2400" i="0" u="none" strike="noStrike" kern="0" cap="none" spc="0" normalizeH="0" baseline="0" noProof="0" dirty="0">
                <a:ln>
                  <a:noFill/>
                </a:ln>
                <a:solidFill>
                  <a:srgbClr val="1557AE"/>
                </a:solidFill>
                <a:effectLst>
                  <a:outerShdw blurRad="38100" dist="38100" dir="2700000" algn="tl">
                    <a:srgbClr val="000000">
                      <a:alpha val="43137"/>
                    </a:srgbClr>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400" b="0" i="0" u="none" strike="noStrike" kern="0" cap="none" spc="0" normalizeH="0" baseline="0" noProof="0" dirty="0">
                <a:ln>
                  <a:noFill/>
                </a:ln>
                <a:solidFill>
                  <a:sysClr val="windowText" lastClr="000000"/>
                </a:solidFill>
                <a:uLnTx/>
                <a:uFillTx/>
                <a:latin typeface="Times New Roman" panose="02020603050405020304" pitchFamily="18" charset="0"/>
                <a:ea typeface="方正兰亭中黑_GBK" panose="02000000000000000000" pitchFamily="2" charset="-122"/>
                <a:cs typeface="Times New Roman" panose="02020603050405020304" pitchFamily="18" charset="0"/>
              </a:rPr>
              <a:t>的链出链接数</a:t>
            </a:r>
            <a:endParaRPr kumimoji="0" lang="en-US" altLang="zh-CN" sz="2400" b="0" i="0" u="none" strike="noStrike" kern="0" cap="none" spc="0" normalizeH="0" baseline="-25000" noProof="0" dirty="0">
              <a:ln>
                <a:noFill/>
              </a:ln>
              <a:solidFill>
                <a:sysClr val="windowText" lastClr="000000"/>
              </a:solidFill>
              <a:effectLst>
                <a:outerShdw blurRad="38100" dist="38100" dir="2700000" algn="tl">
                  <a:srgbClr val="000000"/>
                </a:outerShdw>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661988" y="2852738"/>
          <a:ext cx="7897812" cy="869950"/>
        </p:xfrm>
        <a:graphic>
          <a:graphicData uri="http://schemas.openxmlformats.org/presentationml/2006/ole">
            <mc:AlternateContent xmlns:mc="http://schemas.openxmlformats.org/markup-compatibility/2006">
              <mc:Choice xmlns:v="urn:schemas-microsoft-com:vml" Requires="v">
                <p:oleObj spid="_x0000_s8412" name="Equation" r:id="rId1" imgW="4394200" imgH="444500" progId="Equation.DSMT4">
                  <p:embed/>
                </p:oleObj>
              </mc:Choice>
              <mc:Fallback>
                <p:oleObj name="Equation" r:id="rId1" imgW="4394200" imgH="4445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8" y="2852738"/>
                        <a:ext cx="7897812" cy="869950"/>
                      </a:xfrm>
                      <a:prstGeom prst="rect">
                        <a:avLst/>
                      </a:prstGeom>
                      <a:noFill/>
                      <a:ln>
                        <a:noFill/>
                      </a:ln>
                    </p:spPr>
                  </p:pic>
                </p:oleObj>
              </mc:Fallback>
            </mc:AlternateContent>
          </a:graphicData>
        </a:graphic>
      </p:graphicFrame>
      <p:sp>
        <p:nvSpPr>
          <p:cNvPr id="4" name="矩形 3"/>
          <p:cNvSpPr/>
          <p:nvPr/>
        </p:nvSpPr>
        <p:spPr>
          <a:xfrm>
            <a:off x="179512" y="1206217"/>
            <a:ext cx="8249776" cy="1532727"/>
          </a:xfrm>
          <a:prstGeom prst="rect">
            <a:avLst/>
          </a:prstGeom>
        </p:spPr>
        <p:txBody>
          <a:bodyPr wrap="square">
            <a:spAutoFit/>
          </a:bodyPr>
          <a:lstStyle/>
          <a:p>
            <a:pPr marL="457200" indent="-457200" algn="l">
              <a:lnSpc>
                <a:spcPct val="120000"/>
              </a:lnSpc>
              <a:buFont typeface="Wingdings" panose="05000000000000000000" pitchFamily="2" charset="2"/>
              <a:buChar char="n"/>
            </a:pPr>
            <a:r>
              <a:rPr lang="zh-CN" altLang="en-US" sz="2600" dirty="0">
                <a:latin typeface="Times New Roman" panose="02020603050405020304" pitchFamily="18" charset="0"/>
                <a:ea typeface="方正兰亭中黑_GBK" panose="02000000000000000000" pitchFamily="2" charset="-122"/>
                <a:cs typeface="Times New Roman" panose="02020603050405020304" pitchFamily="18" charset="0"/>
              </a:rPr>
              <a:t>将一个网页的所有链入网页的</a:t>
            </a:r>
            <a:r>
              <a:rPr lang="en-US" altLang="zh-CN"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值</a:t>
            </a:r>
            <a:r>
              <a:rPr lang="zh-CN" altLang="en-US" sz="2600" dirty="0">
                <a:latin typeface="Times New Roman" panose="02020603050405020304" pitchFamily="18" charset="0"/>
                <a:ea typeface="方正兰亭中黑_GBK" panose="02000000000000000000" pitchFamily="2" charset="-122"/>
                <a:cs typeface="Times New Roman" panose="02020603050405020304" pitchFamily="18" charset="0"/>
              </a:rPr>
              <a:t>除以该链入网页的</a:t>
            </a:r>
            <a:r>
              <a:rPr lang="zh-CN" altLang="en-US"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链出网页数</a:t>
            </a:r>
            <a:r>
              <a:rPr lang="zh-CN" altLang="en-US" sz="2600" dirty="0">
                <a:latin typeface="Times New Roman" panose="02020603050405020304" pitchFamily="18" charset="0"/>
                <a:ea typeface="方正兰亭中黑_GBK" panose="02000000000000000000" pitchFamily="2" charset="-122"/>
                <a:cs typeface="Times New Roman" panose="02020603050405020304" pitchFamily="18" charset="0"/>
              </a:rPr>
              <a:t>得到的结果进行累加，即得到该网页的</a:t>
            </a:r>
            <a:r>
              <a:rPr lang="en-US" altLang="zh-CN"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值</a:t>
            </a:r>
            <a:endParaRPr lang="zh-CN" altLang="en-US" sz="26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矩形 5"/>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632780" y="3428503"/>
              <a:ext cx="833040" cy="82440"/>
            </p14:xfrm>
          </p:contentPart>
        </mc:Choice>
        <mc:Fallback xmlns="">
          <p:pic>
            <p:nvPicPr>
              <p:cNvPr id="5" name="墨迹 4"/>
            </p:nvPicPr>
            <p:blipFill>
              <a:blip r:embed="rId4"/>
            </p:blipFill>
            <p:spPr>
              <a:xfrm>
                <a:off x="1632780" y="3428503"/>
                <a:ext cx="833040" cy="8244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4" name="墨迹 13"/>
              <p14:cNvContentPartPr/>
              <p14:nvPr/>
            </p14:nvContentPartPr>
            <p14:xfrm>
              <a:off x="1975860" y="3564943"/>
              <a:ext cx="141840" cy="147600"/>
            </p14:xfrm>
          </p:contentPart>
        </mc:Choice>
        <mc:Fallback xmlns="">
          <p:pic>
            <p:nvPicPr>
              <p:cNvPr id="14" name="墨迹 13"/>
            </p:nvPicPr>
            <p:blipFill>
              <a:blip r:embed="rId6"/>
            </p:blipFill>
            <p:spPr>
              <a:xfrm>
                <a:off x="1975860" y="3564943"/>
                <a:ext cx="141840" cy="147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7" name="墨迹 16"/>
              <p14:cNvContentPartPr/>
              <p14:nvPr/>
            </p14:nvContentPartPr>
            <p14:xfrm>
              <a:off x="6335100" y="3387283"/>
              <a:ext cx="833040" cy="82440"/>
            </p14:xfrm>
          </p:contentPart>
        </mc:Choice>
        <mc:Fallback xmlns="">
          <p:pic>
            <p:nvPicPr>
              <p:cNvPr id="17" name="墨迹 16"/>
            </p:nvPicPr>
            <p:blipFill>
              <a:blip r:embed="rId4"/>
            </p:blipFill>
            <p:spPr>
              <a:xfrm>
                <a:off x="6335100" y="3387283"/>
                <a:ext cx="833040" cy="824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8" name="墨迹 17"/>
              <p14:cNvContentPartPr/>
              <p14:nvPr/>
            </p14:nvContentPartPr>
            <p14:xfrm>
              <a:off x="6678180" y="3523723"/>
              <a:ext cx="141840" cy="147600"/>
            </p14:xfrm>
          </p:contentPart>
        </mc:Choice>
        <mc:Fallback xmlns="">
          <p:pic>
            <p:nvPicPr>
              <p:cNvPr id="18" name="墨迹 17"/>
            </p:nvPicPr>
            <p:blipFill>
              <a:blip r:embed="rId6"/>
            </p:blipFill>
            <p:spPr>
              <a:xfrm>
                <a:off x="6678180" y="3523723"/>
                <a:ext cx="141840" cy="147600"/>
              </a:xfrm>
              <a:prstGeom prst="rect"/>
            </p:spPr>
          </p:pic>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24744"/>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例子</a:t>
            </a:r>
            <a:endPar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7" name="Rectangle 3"/>
          <p:cNvSpPr>
            <a:spLocks noChangeArrowheads="1"/>
          </p:cNvSpPr>
          <p:nvPr/>
        </p:nvSpPr>
        <p:spPr bwMode="auto">
          <a:xfrm>
            <a:off x="1475656" y="2276872"/>
            <a:ext cx="1066800" cy="12954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A</a:t>
            </a:r>
            <a:endPar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p:txBody>
      </p:sp>
      <p:sp>
        <p:nvSpPr>
          <p:cNvPr id="18" name="Rectangle 4"/>
          <p:cNvSpPr>
            <a:spLocks noChangeArrowheads="1"/>
          </p:cNvSpPr>
          <p:nvPr/>
        </p:nvSpPr>
        <p:spPr bwMode="auto">
          <a:xfrm>
            <a:off x="2941373" y="43342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C</a:t>
            </a:r>
            <a:endParaRPr lang="en-US" altLang="zh-CN" sz="2400" kern="0" dirty="0">
              <a:solidFill>
                <a:srgbClr val="FF0000"/>
              </a:solidFill>
              <a:latin typeface="Calibri" panose="020F0502020204030204" pitchFamily="34" charset="0"/>
              <a:cs typeface="Calibri" panose="020F0502020204030204" pitchFamily="34" charset="0"/>
            </a:endParaRPr>
          </a:p>
        </p:txBody>
      </p:sp>
      <p:sp>
        <p:nvSpPr>
          <p:cNvPr id="19" name="Rectangle 5"/>
          <p:cNvSpPr>
            <a:spLocks noChangeArrowheads="1"/>
          </p:cNvSpPr>
          <p:nvPr/>
        </p:nvSpPr>
        <p:spPr bwMode="auto">
          <a:xfrm>
            <a:off x="5133256" y="23530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B</a:t>
            </a:r>
            <a:endParaRPr lang="en-US" altLang="zh-CN" sz="2400" kern="0" dirty="0">
              <a:solidFill>
                <a:srgbClr val="FF0000"/>
              </a:solidFill>
              <a:latin typeface="Calibri" panose="020F0502020204030204" pitchFamily="34" charset="0"/>
              <a:cs typeface="Calibri" panose="020F0502020204030204" pitchFamily="34" charset="0"/>
            </a:endParaRPr>
          </a:p>
        </p:txBody>
      </p:sp>
      <p:sp>
        <p:nvSpPr>
          <p:cNvPr id="20" name="Rectangle 6"/>
          <p:cNvSpPr>
            <a:spLocks noChangeArrowheads="1"/>
          </p:cNvSpPr>
          <p:nvPr/>
        </p:nvSpPr>
        <p:spPr bwMode="auto">
          <a:xfrm>
            <a:off x="6047656" y="44866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D</a:t>
            </a:r>
            <a:endParaRPr lang="en-US" altLang="zh-CN" sz="2400" kern="0" dirty="0">
              <a:solidFill>
                <a:srgbClr val="FF0000"/>
              </a:solidFill>
              <a:latin typeface="Calibri" panose="020F0502020204030204" pitchFamily="34" charset="0"/>
              <a:cs typeface="Calibri" panose="020F0502020204030204" pitchFamily="34" charset="0"/>
            </a:endParaRPr>
          </a:p>
        </p:txBody>
      </p:sp>
      <p:sp>
        <p:nvSpPr>
          <p:cNvPr id="21" name="Line 7"/>
          <p:cNvSpPr>
            <a:spLocks noChangeShapeType="1"/>
          </p:cNvSpPr>
          <p:nvPr/>
        </p:nvSpPr>
        <p:spPr bwMode="auto">
          <a:xfrm>
            <a:off x="2542456" y="2886472"/>
            <a:ext cx="2590800" cy="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kern="0">
              <a:solidFill>
                <a:sysClr val="windowText" lastClr="000000"/>
              </a:solidFill>
              <a:latin typeface="Calibri" panose="020F0502020204030204" pitchFamily="34" charset="0"/>
              <a:cs typeface="Calibri" panose="020F0502020204030204" pitchFamily="34" charset="0"/>
            </a:endParaRPr>
          </a:p>
        </p:txBody>
      </p:sp>
      <p:sp>
        <p:nvSpPr>
          <p:cNvPr id="22" name="Line 8"/>
          <p:cNvSpPr>
            <a:spLocks noChangeShapeType="1"/>
          </p:cNvSpPr>
          <p:nvPr/>
        </p:nvSpPr>
        <p:spPr bwMode="auto">
          <a:xfrm flipH="1">
            <a:off x="3990256" y="3648472"/>
            <a:ext cx="1524000" cy="1143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kern="0">
              <a:solidFill>
                <a:sysClr val="windowText" lastClr="000000"/>
              </a:solidFill>
              <a:latin typeface="Calibri" panose="020F0502020204030204" pitchFamily="34" charset="0"/>
              <a:cs typeface="Calibri" panose="020F0502020204030204" pitchFamily="34" charset="0"/>
            </a:endParaRPr>
          </a:p>
        </p:txBody>
      </p:sp>
      <p:sp>
        <p:nvSpPr>
          <p:cNvPr id="23" name="Line 9"/>
          <p:cNvSpPr>
            <a:spLocks noChangeShapeType="1"/>
          </p:cNvSpPr>
          <p:nvPr/>
        </p:nvSpPr>
        <p:spPr bwMode="auto">
          <a:xfrm flipH="1" flipV="1">
            <a:off x="3990256" y="5020072"/>
            <a:ext cx="2057400" cy="1524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kern="0">
              <a:solidFill>
                <a:sysClr val="windowText" lastClr="000000"/>
              </a:solidFill>
              <a:latin typeface="Calibri" panose="020F0502020204030204" pitchFamily="34" charset="0"/>
              <a:cs typeface="Calibri" panose="020F0502020204030204" pitchFamily="34" charset="0"/>
            </a:endParaRPr>
          </a:p>
        </p:txBody>
      </p:sp>
      <p:sp>
        <p:nvSpPr>
          <p:cNvPr id="24" name="Line 10"/>
          <p:cNvSpPr>
            <a:spLocks noChangeShapeType="1"/>
          </p:cNvSpPr>
          <p:nvPr/>
        </p:nvSpPr>
        <p:spPr bwMode="auto">
          <a:xfrm>
            <a:off x="2390056" y="3572272"/>
            <a:ext cx="914400" cy="762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kern="0">
              <a:solidFill>
                <a:sysClr val="windowText" lastClr="000000"/>
              </a:solidFill>
              <a:latin typeface="Calibri" panose="020F0502020204030204" pitchFamily="34" charset="0"/>
              <a:cs typeface="Calibri" panose="020F0502020204030204" pitchFamily="34" charset="0"/>
            </a:endParaRPr>
          </a:p>
        </p:txBody>
      </p:sp>
      <p:sp>
        <p:nvSpPr>
          <p:cNvPr id="25" name="Line 11"/>
          <p:cNvSpPr>
            <a:spLocks noChangeShapeType="1"/>
          </p:cNvSpPr>
          <p:nvPr/>
        </p:nvSpPr>
        <p:spPr bwMode="auto">
          <a:xfrm flipH="1" flipV="1">
            <a:off x="1932856" y="3572272"/>
            <a:ext cx="990600" cy="762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180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3" name="矩形 1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85193"/>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例子</a:t>
            </a:r>
            <a:endPar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6" name="Rectangle 3"/>
          <p:cNvSpPr>
            <a:spLocks noChangeArrowheads="1"/>
          </p:cNvSpPr>
          <p:nvPr/>
        </p:nvSpPr>
        <p:spPr bwMode="auto">
          <a:xfrm>
            <a:off x="1488232" y="22768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A </a:t>
            </a:r>
            <a:endParaRPr lang="en-US" altLang="zh-CN" sz="2400" kern="0" dirty="0">
              <a:solidFill>
                <a:srgbClr val="FF0000"/>
              </a:solidFill>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1</a:t>
            </a:r>
            <a:endPar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7" name="Rectangle 4"/>
          <p:cNvSpPr>
            <a:spLocks noChangeArrowheads="1"/>
          </p:cNvSpPr>
          <p:nvPr/>
        </p:nvSpPr>
        <p:spPr bwMode="auto">
          <a:xfrm>
            <a:off x="2936032" y="43342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C</a:t>
            </a:r>
            <a:endParaRPr lang="en-US" altLang="zh-CN" sz="2400" kern="0" dirty="0">
              <a:solidFill>
                <a:srgbClr val="FF0000"/>
              </a:solidFill>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1</a:t>
            </a:r>
            <a:endPar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8" name="Rectangle 5"/>
          <p:cNvSpPr>
            <a:spLocks noChangeArrowheads="1"/>
          </p:cNvSpPr>
          <p:nvPr/>
        </p:nvSpPr>
        <p:spPr bwMode="auto">
          <a:xfrm>
            <a:off x="5145832" y="23530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B</a:t>
            </a:r>
            <a:endParaRPr lang="en-US" altLang="zh-CN" sz="2400" kern="0" dirty="0">
              <a:solidFill>
                <a:srgbClr val="FF0000"/>
              </a:solidFill>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1</a:t>
            </a:r>
            <a:endPar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9" name="Rectangle 6"/>
          <p:cNvSpPr>
            <a:spLocks noChangeArrowheads="1"/>
          </p:cNvSpPr>
          <p:nvPr/>
        </p:nvSpPr>
        <p:spPr bwMode="auto">
          <a:xfrm>
            <a:off x="6060232" y="4486672"/>
            <a:ext cx="1066800" cy="1295400"/>
          </a:xfrm>
          <a:prstGeom prst="rect">
            <a:avLst/>
          </a:prstGeom>
          <a:solidFill>
            <a:srgbClr val="EDFAD2"/>
          </a:solidFill>
          <a:ln w="9525">
            <a:solidFill>
              <a:srgbClr val="006699"/>
            </a:solidFill>
            <a:miter lim="800000"/>
          </a:ln>
        </p:spPr>
        <p:txBody>
          <a:bodyPr wrap="none" anchor="ctr"/>
          <a:lstStyle/>
          <a:p>
            <a:pPr>
              <a:spcBef>
                <a:spcPts val="0"/>
              </a:spcBef>
              <a:spcAft>
                <a:spcPts val="0"/>
              </a:spcAft>
              <a:defRPr/>
            </a:pPr>
            <a:r>
              <a:rPr lang="en-US" altLang="zh-CN" sz="2400" kern="0" dirty="0">
                <a:solidFill>
                  <a:srgbClr val="FF0000"/>
                </a:solidFill>
                <a:latin typeface="Calibri" panose="020F0502020204030204" pitchFamily="34" charset="0"/>
                <a:cs typeface="Calibri" panose="020F0502020204030204" pitchFamily="34" charset="0"/>
              </a:rPr>
              <a:t>Page D</a:t>
            </a:r>
            <a:endParaRPr lang="en-US" altLang="zh-CN" sz="2400" kern="0" dirty="0">
              <a:solidFill>
                <a:srgbClr val="FF0000"/>
              </a:solidFill>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1</a:t>
            </a:r>
            <a:endPar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40" name="Line 7"/>
          <p:cNvSpPr>
            <a:spLocks noChangeShapeType="1"/>
          </p:cNvSpPr>
          <p:nvPr/>
        </p:nvSpPr>
        <p:spPr bwMode="auto">
          <a:xfrm>
            <a:off x="2478832" y="2886472"/>
            <a:ext cx="2667000" cy="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1" name="Line 8"/>
          <p:cNvSpPr>
            <a:spLocks noChangeShapeType="1"/>
          </p:cNvSpPr>
          <p:nvPr/>
        </p:nvSpPr>
        <p:spPr bwMode="auto">
          <a:xfrm flipH="1">
            <a:off x="3958072" y="3680859"/>
            <a:ext cx="1524000" cy="1143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2" name="Line 9"/>
          <p:cNvSpPr>
            <a:spLocks noChangeShapeType="1"/>
          </p:cNvSpPr>
          <p:nvPr/>
        </p:nvSpPr>
        <p:spPr bwMode="auto">
          <a:xfrm flipH="1" flipV="1">
            <a:off x="4002832" y="5046712"/>
            <a:ext cx="2057400" cy="1524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3" name="Line 10"/>
          <p:cNvSpPr>
            <a:spLocks noChangeShapeType="1"/>
          </p:cNvSpPr>
          <p:nvPr/>
        </p:nvSpPr>
        <p:spPr bwMode="auto">
          <a:xfrm>
            <a:off x="2402632" y="3572272"/>
            <a:ext cx="914400" cy="762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4" name="Line 11"/>
          <p:cNvSpPr>
            <a:spLocks noChangeShapeType="1"/>
          </p:cNvSpPr>
          <p:nvPr/>
        </p:nvSpPr>
        <p:spPr bwMode="auto">
          <a:xfrm flipH="1" flipV="1">
            <a:off x="1945432" y="3572272"/>
            <a:ext cx="990600" cy="76200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45" name="Text Box 12"/>
          <p:cNvSpPr txBox="1">
            <a:spLocks noChangeArrowheads="1"/>
          </p:cNvSpPr>
          <p:nvPr/>
        </p:nvSpPr>
        <p:spPr bwMode="auto">
          <a:xfrm>
            <a:off x="2949352" y="2505473"/>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solidFill>
                  <a:srgbClr val="1557AE"/>
                </a:solidFill>
                <a:latin typeface="Calibri" panose="020F0502020204030204" pitchFamily="34" charset="0"/>
                <a:cs typeface="Calibri" panose="020F0502020204030204" pitchFamily="34" charset="0"/>
              </a:rPr>
              <a:t>1*0.85/2</a:t>
            </a:r>
            <a:endParaRPr lang="en-US" altLang="zh-CN" sz="2400" dirty="0">
              <a:solidFill>
                <a:srgbClr val="1557AE"/>
              </a:solidFill>
              <a:latin typeface="Calibri" panose="020F0502020204030204" pitchFamily="34" charset="0"/>
              <a:cs typeface="Calibri" panose="020F0502020204030204" pitchFamily="34" charset="0"/>
            </a:endParaRPr>
          </a:p>
        </p:txBody>
      </p:sp>
      <p:sp>
        <p:nvSpPr>
          <p:cNvPr id="46" name="Text Box 13"/>
          <p:cNvSpPr txBox="1">
            <a:spLocks noChangeArrowheads="1"/>
          </p:cNvSpPr>
          <p:nvPr/>
        </p:nvSpPr>
        <p:spPr bwMode="auto">
          <a:xfrm>
            <a:off x="2631232" y="3496072"/>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solidFill>
                  <a:srgbClr val="1557AE"/>
                </a:solidFill>
                <a:latin typeface="Calibri" panose="020F0502020204030204" pitchFamily="34" charset="0"/>
                <a:cs typeface="Calibri" panose="020F0502020204030204" pitchFamily="34" charset="0"/>
              </a:rPr>
              <a:t>1*0.85/2</a:t>
            </a:r>
            <a:endParaRPr lang="en-US" altLang="zh-CN" sz="2400" dirty="0">
              <a:solidFill>
                <a:srgbClr val="1557AE"/>
              </a:solidFill>
              <a:latin typeface="Calibri" panose="020F0502020204030204" pitchFamily="34" charset="0"/>
              <a:cs typeface="Calibri" panose="020F0502020204030204" pitchFamily="34" charset="0"/>
            </a:endParaRPr>
          </a:p>
        </p:txBody>
      </p:sp>
      <p:sp>
        <p:nvSpPr>
          <p:cNvPr id="47" name="Text Box 14"/>
          <p:cNvSpPr txBox="1">
            <a:spLocks noChangeArrowheads="1"/>
          </p:cNvSpPr>
          <p:nvPr/>
        </p:nvSpPr>
        <p:spPr bwMode="auto">
          <a:xfrm>
            <a:off x="3735760" y="3805808"/>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solidFill>
                  <a:srgbClr val="1557AE"/>
                </a:solidFill>
                <a:latin typeface="Calibri" panose="020F0502020204030204" pitchFamily="34" charset="0"/>
                <a:cs typeface="Calibri" panose="020F0502020204030204" pitchFamily="34" charset="0"/>
              </a:rPr>
              <a:t>1*0.85</a:t>
            </a:r>
            <a:endParaRPr lang="en-US" altLang="zh-CN" sz="2400" dirty="0">
              <a:solidFill>
                <a:srgbClr val="1557AE"/>
              </a:solidFill>
              <a:latin typeface="Calibri" panose="020F0502020204030204" pitchFamily="34" charset="0"/>
              <a:cs typeface="Calibri" panose="020F0502020204030204" pitchFamily="34" charset="0"/>
            </a:endParaRPr>
          </a:p>
        </p:txBody>
      </p:sp>
      <p:sp>
        <p:nvSpPr>
          <p:cNvPr id="48" name="Text Box 15"/>
          <p:cNvSpPr txBox="1">
            <a:spLocks noChangeArrowheads="1"/>
          </p:cNvSpPr>
          <p:nvPr/>
        </p:nvSpPr>
        <p:spPr bwMode="auto">
          <a:xfrm>
            <a:off x="4475272" y="4677172"/>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solidFill>
                  <a:srgbClr val="1557AE"/>
                </a:solidFill>
                <a:latin typeface="Calibri" panose="020F0502020204030204" pitchFamily="34" charset="0"/>
                <a:cs typeface="Calibri" panose="020F0502020204030204" pitchFamily="34" charset="0"/>
              </a:rPr>
              <a:t>1*0.85</a:t>
            </a:r>
            <a:endParaRPr lang="en-US" altLang="zh-CN" sz="2400" dirty="0">
              <a:solidFill>
                <a:srgbClr val="1557AE"/>
              </a:solidFill>
              <a:latin typeface="Calibri" panose="020F0502020204030204" pitchFamily="34" charset="0"/>
              <a:cs typeface="Calibri" panose="020F0502020204030204" pitchFamily="34" charset="0"/>
            </a:endParaRPr>
          </a:p>
        </p:txBody>
      </p:sp>
      <p:sp>
        <p:nvSpPr>
          <p:cNvPr id="49" name="Text Box 16"/>
          <p:cNvSpPr txBox="1">
            <a:spLocks noChangeArrowheads="1"/>
          </p:cNvSpPr>
          <p:nvPr/>
        </p:nvSpPr>
        <p:spPr bwMode="auto">
          <a:xfrm>
            <a:off x="1259632" y="4044712"/>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solidFill>
                  <a:srgbClr val="1557AE"/>
                </a:solidFill>
                <a:latin typeface="Calibri" panose="020F0502020204030204" pitchFamily="34" charset="0"/>
                <a:cs typeface="Calibri" panose="020F0502020204030204" pitchFamily="34" charset="0"/>
              </a:rPr>
              <a:t>1*0.85</a:t>
            </a:r>
            <a:endParaRPr lang="en-US" altLang="zh-CN" sz="2400" dirty="0">
              <a:solidFill>
                <a:srgbClr val="1557AE"/>
              </a:solidFill>
              <a:latin typeface="Calibri" panose="020F0502020204030204" pitchFamily="34" charset="0"/>
              <a:cs typeface="Calibri" panose="020F0502020204030204" pitchFamily="34" charset="0"/>
            </a:endParaRPr>
          </a:p>
        </p:txBody>
      </p:sp>
      <p:sp>
        <p:nvSpPr>
          <p:cNvPr id="18" name="矩形 17"/>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89106"/>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例子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A</a:t>
            </a:r>
            <a:r>
              <a:rPr lang="en-US" altLang="zh-CN" sz="2000" dirty="0">
                <a:latin typeface="Calibri" panose="020F0502020204030204" pitchFamily="34" charset="0"/>
                <a:cs typeface="Calibri" panose="020F0502020204030204" pitchFamily="34" charset="0"/>
              </a:rPr>
              <a:t>: 0.85 (from Page C) + 0.15 /4(not transferred) = </a:t>
            </a:r>
            <a:r>
              <a:rPr lang="zh-CN" altLang="en-US"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B</a:t>
            </a:r>
            <a:r>
              <a:rPr lang="en-US" altLang="zh-CN" sz="2000" dirty="0">
                <a:latin typeface="Calibri" panose="020F0502020204030204" pitchFamily="34" charset="0"/>
                <a:cs typeface="Calibri" panose="020F0502020204030204" pitchFamily="34" charset="0"/>
              </a:rPr>
              <a:t>: 0.425 (from Page A) + 0.15/4 (not transferred) =</a:t>
            </a:r>
            <a:r>
              <a:rPr lang="zh-CN" altLang="en-US"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C</a:t>
            </a:r>
            <a:r>
              <a:rPr lang="en-US" altLang="zh-CN" sz="2000" dirty="0">
                <a:latin typeface="Calibri" panose="020F0502020204030204" pitchFamily="34" charset="0"/>
                <a:cs typeface="Calibri" panose="020F0502020204030204" pitchFamily="34" charset="0"/>
              </a:rPr>
              <a:t>: 0.85 (from Page D) + 0.85 (from Page B) + 0.425 (from Page A) +</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0.15/4 (not transferred) = </a:t>
            </a:r>
            <a:r>
              <a:rPr lang="zh-CN" altLang="en-US"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D</a:t>
            </a:r>
            <a:r>
              <a:rPr lang="en-US" altLang="zh-CN" sz="2000" dirty="0">
                <a:latin typeface="Calibri" panose="020F0502020204030204" pitchFamily="34" charset="0"/>
                <a:cs typeface="Calibri" panose="020F0502020204030204" pitchFamily="34" charset="0"/>
              </a:rPr>
              <a:t>: 0.15 = </a:t>
            </a:r>
            <a:r>
              <a:rPr lang="zh-CN" altLang="en-US"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a:p>
            <a:pPr marL="469900" lvl="1" indent="-469900" eaLnBrk="1" hangingPunct="1">
              <a:lnSpc>
                <a:spcPct val="120000"/>
              </a:lnSpc>
              <a:spcBef>
                <a:spcPts val="600"/>
              </a:spcBef>
              <a:defRPr/>
            </a:pPr>
            <a:endParaRPr lang="zh-CN" altLang="en-US" sz="2800" dirty="0">
              <a:solidFill>
                <a:srgbClr val="C00000"/>
              </a:solidFill>
              <a:latin typeface="Times New Roman" panose="02020603050405020304" pitchFamily="18" charset="0"/>
              <a:cs typeface="Times New Roman" panose="02020603050405020304" pitchFamily="18" charset="0"/>
            </a:endParaRPr>
          </a:p>
        </p:txBody>
      </p:sp>
      <p:sp>
        <p:nvSpPr>
          <p:cNvPr id="27" name="Rectangle 3"/>
          <p:cNvSpPr>
            <a:spLocks noChangeArrowheads="1"/>
          </p:cNvSpPr>
          <p:nvPr/>
        </p:nvSpPr>
        <p:spPr bwMode="auto">
          <a:xfrm>
            <a:off x="1400026" y="4022527"/>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Page A </a:t>
            </a:r>
            <a:endPar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1</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28" name="Rectangle 4"/>
          <p:cNvSpPr>
            <a:spLocks noChangeArrowheads="1"/>
          </p:cNvSpPr>
          <p:nvPr/>
        </p:nvSpPr>
        <p:spPr bwMode="auto">
          <a:xfrm>
            <a:off x="2675736" y="5589191"/>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Page C</a:t>
            </a:r>
            <a:endPar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2.275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29" name="Rectangle 5"/>
          <p:cNvSpPr>
            <a:spLocks noChangeArrowheads="1"/>
          </p:cNvSpPr>
          <p:nvPr/>
        </p:nvSpPr>
        <p:spPr bwMode="auto">
          <a:xfrm>
            <a:off x="5089376" y="4005064"/>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Page B</a:t>
            </a:r>
            <a:endPar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0.575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0" name="Rectangle 6"/>
          <p:cNvSpPr>
            <a:spLocks noChangeArrowheads="1"/>
          </p:cNvSpPr>
          <p:nvPr/>
        </p:nvSpPr>
        <p:spPr bwMode="auto">
          <a:xfrm>
            <a:off x="5799936" y="5741591"/>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Page D</a:t>
            </a:r>
            <a:endPar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0.15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1" name="Line 7"/>
          <p:cNvSpPr>
            <a:spLocks noChangeShapeType="1"/>
          </p:cNvSpPr>
          <p:nvPr/>
        </p:nvSpPr>
        <p:spPr bwMode="auto">
          <a:xfrm>
            <a:off x="2466826" y="4356671"/>
            <a:ext cx="2622550" cy="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200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32" name="Line 8"/>
          <p:cNvSpPr>
            <a:spLocks noChangeShapeType="1"/>
          </p:cNvSpPr>
          <p:nvPr/>
        </p:nvSpPr>
        <p:spPr bwMode="auto">
          <a:xfrm flipH="1">
            <a:off x="3742536" y="4867531"/>
            <a:ext cx="1346840" cy="874059"/>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3" name="Line 9"/>
          <p:cNvSpPr>
            <a:spLocks noChangeShapeType="1"/>
          </p:cNvSpPr>
          <p:nvPr/>
        </p:nvSpPr>
        <p:spPr bwMode="auto">
          <a:xfrm flipH="1" flipV="1">
            <a:off x="3742536" y="6006049"/>
            <a:ext cx="2057400" cy="116541"/>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4" name="Line 10"/>
          <p:cNvSpPr>
            <a:spLocks noChangeShapeType="1"/>
          </p:cNvSpPr>
          <p:nvPr/>
        </p:nvSpPr>
        <p:spPr bwMode="auto">
          <a:xfrm>
            <a:off x="2289448" y="4998101"/>
            <a:ext cx="914400" cy="582706"/>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5" name="Line 11"/>
          <p:cNvSpPr>
            <a:spLocks noChangeShapeType="1"/>
          </p:cNvSpPr>
          <p:nvPr/>
        </p:nvSpPr>
        <p:spPr bwMode="auto">
          <a:xfrm flipH="1" flipV="1">
            <a:off x="1925216" y="4998101"/>
            <a:ext cx="990600" cy="582706"/>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13" name="矩形 1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97539"/>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例子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A</a:t>
            </a:r>
            <a:r>
              <a:rPr lang="en-US" altLang="zh-CN" sz="2000" dirty="0">
                <a:latin typeface="Calibri" panose="020F0502020204030204" pitchFamily="34" charset="0"/>
                <a:cs typeface="Calibri" panose="020F0502020204030204" pitchFamily="34" charset="0"/>
              </a:rPr>
              <a:t>: 2.275*0.85 (from Page C) + 0.15 (not transferred)=2.08375</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solidFill>
                  <a:srgbClr val="1557AE"/>
                </a:solidFill>
                <a:latin typeface="Calibri" panose="020F0502020204030204" pitchFamily="34" charset="0"/>
                <a:cs typeface="Calibri" panose="020F0502020204030204" pitchFamily="34" charset="0"/>
              </a:rPr>
              <a:t>        Page B</a:t>
            </a:r>
            <a:r>
              <a:rPr lang="en-US" altLang="zh-CN" sz="2000" dirty="0">
                <a:latin typeface="Calibri" panose="020F0502020204030204" pitchFamily="34" charset="0"/>
                <a:cs typeface="Calibri" panose="020F0502020204030204" pitchFamily="34" charset="0"/>
              </a:rPr>
              <a:t>: 1*0.85/2 (from Page A) + 0.15 (not transferred) = 0.575</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C</a:t>
            </a:r>
            <a:r>
              <a:rPr lang="en-US" altLang="zh-CN" sz="2000" dirty="0">
                <a:latin typeface="Calibri" panose="020F0502020204030204" pitchFamily="34" charset="0"/>
                <a:cs typeface="Calibri" panose="020F0502020204030204" pitchFamily="34" charset="0"/>
              </a:rPr>
              <a:t>: 0.15*0.85 (from Page D) + 0.575*0.85(from Page B) +   	1*0.85/2 (from Page A) +0.15 (not transferred) = 1.19125</a:t>
            </a:r>
            <a:endParaRPr lang="en-US" altLang="zh-CN" sz="2000" dirty="0">
              <a:latin typeface="Calibri" panose="020F0502020204030204" pitchFamily="34" charset="0"/>
              <a:cs typeface="Calibri" panose="020F0502020204030204" pitchFamily="34" charset="0"/>
            </a:endParaRPr>
          </a:p>
          <a:p>
            <a:pPr eaLnBrk="1" hangingPunct="1">
              <a:spcBef>
                <a:spcPts val="600"/>
              </a:spcBef>
              <a:buFontTx/>
              <a:buNone/>
            </a:pPr>
            <a:r>
              <a:rPr lang="en-US" altLang="zh-CN" sz="2000" dirty="0">
                <a:latin typeface="Calibri" panose="020F0502020204030204" pitchFamily="34" charset="0"/>
                <a:cs typeface="Calibri" panose="020F0502020204030204" pitchFamily="34" charset="0"/>
              </a:rPr>
              <a:t>	</a:t>
            </a:r>
            <a:r>
              <a:rPr lang="en-US" altLang="zh-CN" sz="2000" dirty="0">
                <a:solidFill>
                  <a:srgbClr val="1557AE"/>
                </a:solidFill>
                <a:latin typeface="Calibri" panose="020F0502020204030204" pitchFamily="34" charset="0"/>
                <a:cs typeface="Calibri" panose="020F0502020204030204" pitchFamily="34" charset="0"/>
              </a:rPr>
              <a:t>Page D</a:t>
            </a:r>
            <a:r>
              <a:rPr lang="en-US" altLang="zh-CN" sz="2000" dirty="0">
                <a:latin typeface="Calibri" panose="020F0502020204030204" pitchFamily="34" charset="0"/>
                <a:cs typeface="Calibri" panose="020F0502020204030204" pitchFamily="34" charset="0"/>
              </a:rPr>
              <a:t>: 0.15 = 0.15</a:t>
            </a:r>
            <a:endParaRPr lang="en-US" altLang="zh-CN" sz="2000" dirty="0">
              <a:latin typeface="Calibri" panose="020F0502020204030204" pitchFamily="34" charset="0"/>
              <a:cs typeface="Calibri" panose="020F0502020204030204" pitchFamily="34" charset="0"/>
            </a:endParaRPr>
          </a:p>
          <a:p>
            <a:pPr marL="469900" lvl="1" indent="-469900" eaLnBrk="1" hangingPunct="1">
              <a:lnSpc>
                <a:spcPct val="120000"/>
              </a:lnSpc>
              <a:spcBef>
                <a:spcPts val="600"/>
              </a:spcBef>
              <a:defRPr/>
            </a:pPr>
            <a:endParaRPr lang="zh-CN" altLang="en-US" sz="2800" dirty="0">
              <a:solidFill>
                <a:srgbClr val="C00000"/>
              </a:solidFill>
              <a:latin typeface="Times New Roman" panose="02020603050405020304" pitchFamily="18" charset="0"/>
              <a:cs typeface="Times New Roman" panose="02020603050405020304" pitchFamily="18" charset="0"/>
            </a:endParaRPr>
          </a:p>
        </p:txBody>
      </p:sp>
      <p:sp>
        <p:nvSpPr>
          <p:cNvPr id="27" name="Rectangle 3"/>
          <p:cNvSpPr>
            <a:spLocks noChangeArrowheads="1"/>
          </p:cNvSpPr>
          <p:nvPr/>
        </p:nvSpPr>
        <p:spPr bwMode="auto">
          <a:xfrm>
            <a:off x="1400026" y="3734495"/>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A</a:t>
            </a:r>
            <a:r>
              <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endParaRPr kumimoji="0" lang="en-US" altLang="zh-CN" sz="2000" i="0" u="none" strike="noStrike" kern="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lvl="0">
              <a:spcBef>
                <a:spcPts val="0"/>
              </a:spcBef>
              <a:spcAft>
                <a:spcPts val="0"/>
              </a:spcAft>
            </a:pPr>
            <a:r>
              <a:rPr lang="en-US" altLang="zh-CN" sz="2000" kern="0" dirty="0">
                <a:solidFill>
                  <a:srgbClr val="1557AE"/>
                </a:solidFill>
                <a:latin typeface="Calibri" panose="020F0502020204030204" pitchFamily="34" charset="0"/>
                <a:cs typeface="Calibri" panose="020F0502020204030204" pitchFamily="34" charset="0"/>
              </a:rPr>
              <a:t>2.08375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28" name="Rectangle 4"/>
          <p:cNvSpPr>
            <a:spLocks noChangeArrowheads="1"/>
          </p:cNvSpPr>
          <p:nvPr/>
        </p:nvSpPr>
        <p:spPr bwMode="auto">
          <a:xfrm>
            <a:off x="2675736" y="5301159"/>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C</a:t>
            </a:r>
            <a:endPar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lvl="0">
              <a:spcBef>
                <a:spcPts val="0"/>
              </a:spcBef>
              <a:spcAft>
                <a:spcPts val="0"/>
              </a:spcAft>
            </a:pPr>
            <a:r>
              <a:rPr lang="en-US" altLang="zh-CN" sz="2000" kern="0" dirty="0">
                <a:solidFill>
                  <a:srgbClr val="1557AE"/>
                </a:solidFill>
                <a:latin typeface="Calibri" panose="020F0502020204030204" pitchFamily="34" charset="0"/>
                <a:cs typeface="Calibri" panose="020F0502020204030204" pitchFamily="34" charset="0"/>
              </a:rPr>
              <a:t>1.19125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29" name="Rectangle 5"/>
          <p:cNvSpPr>
            <a:spLocks noChangeArrowheads="1"/>
          </p:cNvSpPr>
          <p:nvPr/>
        </p:nvSpPr>
        <p:spPr bwMode="auto">
          <a:xfrm>
            <a:off x="5089376" y="3717032"/>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B</a:t>
            </a:r>
            <a:endPar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0.575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0" name="Rectangle 6"/>
          <p:cNvSpPr>
            <a:spLocks noChangeArrowheads="1"/>
          </p:cNvSpPr>
          <p:nvPr/>
        </p:nvSpPr>
        <p:spPr bwMode="auto">
          <a:xfrm>
            <a:off x="5799936" y="5453559"/>
            <a:ext cx="1066800" cy="990600"/>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D</a:t>
            </a:r>
            <a:endParaRPr kumimoji="0" lang="en-US" altLang="zh-CN" sz="20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0.15</a:t>
            </a:r>
            <a:endParaRPr kumimoji="0" lang="en-US" altLang="zh-CN" sz="20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31" name="Line 7"/>
          <p:cNvSpPr>
            <a:spLocks noChangeShapeType="1"/>
          </p:cNvSpPr>
          <p:nvPr/>
        </p:nvSpPr>
        <p:spPr bwMode="auto">
          <a:xfrm>
            <a:off x="2466826" y="4068639"/>
            <a:ext cx="2622550" cy="0"/>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200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32" name="Line 8"/>
          <p:cNvSpPr>
            <a:spLocks noChangeShapeType="1"/>
          </p:cNvSpPr>
          <p:nvPr/>
        </p:nvSpPr>
        <p:spPr bwMode="auto">
          <a:xfrm flipH="1">
            <a:off x="3742536" y="4579499"/>
            <a:ext cx="1346840" cy="874059"/>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3" name="Line 9"/>
          <p:cNvSpPr>
            <a:spLocks noChangeShapeType="1"/>
          </p:cNvSpPr>
          <p:nvPr/>
        </p:nvSpPr>
        <p:spPr bwMode="auto">
          <a:xfrm flipH="1" flipV="1">
            <a:off x="3742536" y="5718017"/>
            <a:ext cx="2057400" cy="116541"/>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4" name="Line 10"/>
          <p:cNvSpPr>
            <a:spLocks noChangeShapeType="1"/>
          </p:cNvSpPr>
          <p:nvPr/>
        </p:nvSpPr>
        <p:spPr bwMode="auto">
          <a:xfrm>
            <a:off x="2289448" y="4710069"/>
            <a:ext cx="914400" cy="582706"/>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35" name="Line 11"/>
          <p:cNvSpPr>
            <a:spLocks noChangeShapeType="1"/>
          </p:cNvSpPr>
          <p:nvPr/>
        </p:nvSpPr>
        <p:spPr bwMode="auto">
          <a:xfrm flipH="1" flipV="1">
            <a:off x="1925216" y="4710069"/>
            <a:ext cx="990600" cy="582706"/>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sz="2000" kern="0">
              <a:solidFill>
                <a:sysClr val="windowText" lastClr="000000"/>
              </a:solidFill>
              <a:latin typeface="Calibri" panose="020F0502020204030204" pitchFamily="34" charset="0"/>
              <a:cs typeface="Calibri" panose="020F0502020204030204" pitchFamily="34" charset="0"/>
            </a:endParaRPr>
          </a:p>
        </p:txBody>
      </p:sp>
      <p:sp>
        <p:nvSpPr>
          <p:cNvPr id="13" name="矩形 1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92453"/>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例子（</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20</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次迭代以后）</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Font typeface="Wingdings" panose="05000000000000000000" pitchFamily="2" charset="2"/>
              <a:buChar char="ü"/>
            </a:pP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Page C </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具有最高的 </a:t>
            </a:r>
            <a:r>
              <a:rPr lang="en-US" altLang="zh-CN" sz="2200" dirty="0" err="1">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a:t>
            </a:r>
            <a:endPar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Font typeface="Wingdings" panose="05000000000000000000" pitchFamily="2" charset="2"/>
              <a:buChar char="ü"/>
            </a:pP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Page A </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具有次高的 </a:t>
            </a:r>
            <a:r>
              <a:rPr lang="en-US" altLang="zh-CN" sz="2200" dirty="0" err="1">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a:t>
            </a:r>
            <a:endPar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Font typeface="Wingdings" panose="05000000000000000000" pitchFamily="2" charset="2"/>
              <a:buChar char="ü"/>
            </a:pP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多次迭代会导致</a:t>
            </a:r>
            <a:r>
              <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200" dirty="0" err="1">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收敛。</a:t>
            </a:r>
            <a:endPar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6" name="Rectangle 3"/>
          <p:cNvSpPr>
            <a:spLocks noChangeArrowheads="1"/>
          </p:cNvSpPr>
          <p:nvPr/>
        </p:nvSpPr>
        <p:spPr bwMode="auto">
          <a:xfrm>
            <a:off x="1691640" y="3501008"/>
            <a:ext cx="1066800" cy="1022177"/>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A</a:t>
            </a:r>
            <a:r>
              <a:rPr kumimoji="0" lang="en-US" altLang="zh-CN" sz="24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endParaRPr kumimoji="0" lang="en-US" altLang="zh-CN" sz="24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a:p>
            <a:pPr lvl="0">
              <a:spcBef>
                <a:spcPts val="0"/>
              </a:spcBef>
              <a:spcAft>
                <a:spcPts val="0"/>
              </a:spcAft>
            </a:pPr>
            <a:r>
              <a:rPr lang="en-US" altLang="zh-CN" sz="2400" kern="0" dirty="0">
                <a:solidFill>
                  <a:srgbClr val="1557AE"/>
                </a:solidFill>
                <a:latin typeface="Calibri" panose="020F0502020204030204" pitchFamily="34" charset="0"/>
                <a:cs typeface="Calibri" panose="020F0502020204030204" pitchFamily="34" charset="0"/>
              </a:rPr>
              <a:t>1.490</a:t>
            </a:r>
            <a:endParaRPr lang="en-US" altLang="zh-CN" sz="2400" kern="0" dirty="0">
              <a:solidFill>
                <a:srgbClr val="1557AE"/>
              </a:solidFill>
              <a:latin typeface="Calibri" panose="020F0502020204030204" pitchFamily="34" charset="0"/>
              <a:cs typeface="Calibri" panose="020F0502020204030204" pitchFamily="34" charset="0"/>
            </a:endParaRPr>
          </a:p>
        </p:txBody>
      </p:sp>
      <p:sp>
        <p:nvSpPr>
          <p:cNvPr id="37" name="Rectangle 4"/>
          <p:cNvSpPr>
            <a:spLocks noChangeArrowheads="1"/>
          </p:cNvSpPr>
          <p:nvPr/>
        </p:nvSpPr>
        <p:spPr bwMode="auto">
          <a:xfrm>
            <a:off x="2987824" y="5194920"/>
            <a:ext cx="1066800" cy="1022177"/>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C</a:t>
            </a:r>
            <a:endPar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lvl="0">
              <a:spcBef>
                <a:spcPts val="0"/>
              </a:spcBef>
              <a:spcAft>
                <a:spcPts val="0"/>
              </a:spcAft>
            </a:pPr>
            <a:r>
              <a:rPr lang="en-US" altLang="zh-CN" sz="2400" kern="0" dirty="0">
                <a:solidFill>
                  <a:srgbClr val="1557AE"/>
                </a:solidFill>
                <a:latin typeface="Calibri" panose="020F0502020204030204" pitchFamily="34" charset="0"/>
                <a:cs typeface="Calibri" panose="020F0502020204030204" pitchFamily="34" charset="0"/>
              </a:rPr>
              <a:t>1.577</a:t>
            </a:r>
            <a:endParaRPr lang="en-US" altLang="zh-CN" sz="2400" kern="0" dirty="0">
              <a:solidFill>
                <a:srgbClr val="1557AE"/>
              </a:solidFill>
              <a:latin typeface="Calibri" panose="020F0502020204030204" pitchFamily="34" charset="0"/>
              <a:cs typeface="Calibri" panose="020F0502020204030204" pitchFamily="34" charset="0"/>
            </a:endParaRPr>
          </a:p>
        </p:txBody>
      </p:sp>
      <p:sp>
        <p:nvSpPr>
          <p:cNvPr id="38" name="Rectangle 5"/>
          <p:cNvSpPr>
            <a:spLocks noChangeArrowheads="1"/>
          </p:cNvSpPr>
          <p:nvPr/>
        </p:nvSpPr>
        <p:spPr bwMode="auto">
          <a:xfrm>
            <a:off x="5349240" y="3577208"/>
            <a:ext cx="1066800" cy="1022177"/>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B</a:t>
            </a:r>
            <a:endPar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lvl="0">
              <a:spcBef>
                <a:spcPts val="0"/>
              </a:spcBef>
              <a:spcAft>
                <a:spcPts val="0"/>
              </a:spcAft>
            </a:pPr>
            <a:r>
              <a:rPr lang="en-US" altLang="zh-CN" sz="2400" kern="0" dirty="0">
                <a:solidFill>
                  <a:srgbClr val="1557AE"/>
                </a:solidFill>
                <a:latin typeface="Calibri" panose="020F0502020204030204" pitchFamily="34" charset="0"/>
                <a:cs typeface="Calibri" panose="020F0502020204030204" pitchFamily="34" charset="0"/>
              </a:rPr>
              <a:t>0.783</a:t>
            </a:r>
            <a:endParaRPr lang="en-US" altLang="zh-CN" sz="2400" kern="0" dirty="0">
              <a:solidFill>
                <a:srgbClr val="1557AE"/>
              </a:solidFill>
              <a:latin typeface="Calibri" panose="020F0502020204030204" pitchFamily="34" charset="0"/>
              <a:cs typeface="Calibri" panose="020F0502020204030204" pitchFamily="34" charset="0"/>
            </a:endParaRPr>
          </a:p>
        </p:txBody>
      </p:sp>
      <p:sp>
        <p:nvSpPr>
          <p:cNvPr id="39" name="Rectangle 6"/>
          <p:cNvSpPr>
            <a:spLocks noChangeArrowheads="1"/>
          </p:cNvSpPr>
          <p:nvPr/>
        </p:nvSpPr>
        <p:spPr bwMode="auto">
          <a:xfrm>
            <a:off x="6112024" y="5347320"/>
            <a:ext cx="1066800" cy="1022177"/>
          </a:xfrm>
          <a:prstGeom prst="rect">
            <a:avLst/>
          </a:prstGeom>
          <a:solidFill>
            <a:srgbClr val="EDFAD2"/>
          </a:solidFill>
          <a:ln w="9525">
            <a:solidFill>
              <a:srgbClr val="006699"/>
            </a:solidFill>
            <a:miter lim="800000"/>
          </a:ln>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Page D</a:t>
            </a:r>
            <a:endParaRPr kumimoji="0" lang="en-US" altLang="zh-CN" sz="2400" i="0" u="none" strike="noStrike" kern="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a:p>
            <a:pPr marL="0" marR="0" lvl="0" indent="0" algn="ctr" defTabSz="914400" eaLnBrk="1" latinLnBrk="0" hangingPunct="1">
              <a:spcBef>
                <a:spcPts val="0"/>
              </a:spcBef>
              <a:spcAft>
                <a:spcPts val="0"/>
              </a:spcAft>
              <a:buClrTx/>
              <a:buSzTx/>
              <a:buFontTx/>
              <a:buNone/>
              <a:defRPr/>
            </a:pPr>
            <a:r>
              <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rPr>
              <a:t>0.15</a:t>
            </a:r>
            <a:endParaRPr kumimoji="0" lang="en-US" altLang="zh-CN" sz="2400" i="0" u="none" strike="noStrike" kern="0" cap="none" spc="0" normalizeH="0" baseline="0" noProof="0" dirty="0">
              <a:ln>
                <a:noFill/>
              </a:ln>
              <a:solidFill>
                <a:srgbClr val="1557AE"/>
              </a:solidFill>
              <a:effectLst/>
              <a:uLnTx/>
              <a:uFillTx/>
              <a:latin typeface="Calibri" panose="020F0502020204030204" pitchFamily="34" charset="0"/>
              <a:cs typeface="Calibri" panose="020F0502020204030204" pitchFamily="34" charset="0"/>
            </a:endParaRPr>
          </a:p>
        </p:txBody>
      </p:sp>
      <p:sp>
        <p:nvSpPr>
          <p:cNvPr id="40" name="Line 7"/>
          <p:cNvSpPr>
            <a:spLocks noChangeShapeType="1"/>
          </p:cNvSpPr>
          <p:nvPr/>
        </p:nvSpPr>
        <p:spPr bwMode="auto">
          <a:xfrm>
            <a:off x="2758440" y="4088296"/>
            <a:ext cx="2590800" cy="22312"/>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1" name="Line 8"/>
          <p:cNvSpPr>
            <a:spLocks noChangeShapeType="1"/>
          </p:cNvSpPr>
          <p:nvPr/>
        </p:nvSpPr>
        <p:spPr bwMode="auto">
          <a:xfrm flipH="1">
            <a:off x="4054624" y="4509120"/>
            <a:ext cx="1294616" cy="901921"/>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2" name="Line 9"/>
          <p:cNvSpPr>
            <a:spLocks noChangeShapeType="1"/>
          </p:cNvSpPr>
          <p:nvPr/>
        </p:nvSpPr>
        <p:spPr bwMode="auto">
          <a:xfrm flipH="1" flipV="1">
            <a:off x="4054624" y="5907360"/>
            <a:ext cx="2057400" cy="120256"/>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3" name="Line 10"/>
          <p:cNvSpPr>
            <a:spLocks noChangeShapeType="1"/>
          </p:cNvSpPr>
          <p:nvPr/>
        </p:nvSpPr>
        <p:spPr bwMode="auto">
          <a:xfrm>
            <a:off x="2606040" y="4523186"/>
            <a:ext cx="914400" cy="659224"/>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a:spcBef>
                <a:spcPts val="0"/>
              </a:spcBef>
              <a:spcAft>
                <a:spcPts val="0"/>
              </a:spcAft>
            </a:pPr>
            <a:endParaRPr lang="zh-CN" altLang="en-US" b="0" kern="0">
              <a:solidFill>
                <a:sysClr val="windowText" lastClr="000000"/>
              </a:solidFill>
              <a:latin typeface="Calibri" panose="020F0502020204030204" pitchFamily="34" charset="0"/>
              <a:cs typeface="Calibri" panose="020F0502020204030204" pitchFamily="34" charset="0"/>
            </a:endParaRPr>
          </a:p>
        </p:txBody>
      </p:sp>
      <p:sp>
        <p:nvSpPr>
          <p:cNvPr id="44" name="Line 11"/>
          <p:cNvSpPr>
            <a:spLocks noChangeShapeType="1"/>
          </p:cNvSpPr>
          <p:nvPr/>
        </p:nvSpPr>
        <p:spPr bwMode="auto">
          <a:xfrm flipH="1" flipV="1">
            <a:off x="2148840" y="4581128"/>
            <a:ext cx="990600" cy="601281"/>
          </a:xfrm>
          <a:prstGeom prst="line">
            <a:avLst/>
          </a:prstGeom>
          <a:noFill/>
          <a:ln w="9525">
            <a:solidFill>
              <a:srgbClr val="006699"/>
            </a:solidFill>
            <a:round/>
            <a:headEnd w="lg" len="lg"/>
            <a:tailEnd type="triangle" w="lg" len="lg"/>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3" name="矩形 1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86373"/>
            <a:ext cx="82296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中的矩阵运算</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23061" y="3930306"/>
            <a:ext cx="2979678" cy="2209992"/>
          </a:xfrm>
          <a:prstGeom prst="rect">
            <a:avLst/>
          </a:prstGeom>
        </p:spPr>
      </p:pic>
      <p:pic>
        <p:nvPicPr>
          <p:cNvPr id="4" name="图片 3"/>
          <p:cNvPicPr>
            <a:picLocks noChangeAspect="1"/>
          </p:cNvPicPr>
          <p:nvPr/>
        </p:nvPicPr>
        <p:blipFill>
          <a:blip r:embed="rId2"/>
          <a:stretch>
            <a:fillRect/>
          </a:stretch>
        </p:blipFill>
        <p:spPr>
          <a:xfrm>
            <a:off x="3514881" y="3930306"/>
            <a:ext cx="3177815" cy="2141406"/>
          </a:xfrm>
          <a:prstGeom prst="rect">
            <a:avLst/>
          </a:prstGeom>
        </p:spPr>
      </p:pic>
      <p:sp>
        <p:nvSpPr>
          <p:cNvPr id="8" name="矩形 7"/>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354119" y="2029991"/>
            <a:ext cx="6245476" cy="1537567"/>
          </a:xfrm>
          <a:prstGeom prst="rect">
            <a:avLst/>
          </a:prstGeom>
        </p:spPr>
      </p:pic>
      <p:pic>
        <p:nvPicPr>
          <p:cNvPr id="5" name="图片 4"/>
          <p:cNvPicPr>
            <a:picLocks noChangeAspect="1"/>
          </p:cNvPicPr>
          <p:nvPr/>
        </p:nvPicPr>
        <p:blipFill>
          <a:blip r:embed="rId4"/>
          <a:stretch>
            <a:fillRect/>
          </a:stretch>
        </p:blipFill>
        <p:spPr>
          <a:xfrm>
            <a:off x="6692696" y="2297835"/>
            <a:ext cx="2347258" cy="1001878"/>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3"/>
              <p:cNvSpPr txBox="1">
                <a:spLocks noChangeArrowheads="1"/>
              </p:cNvSpPr>
              <p:nvPr/>
            </p:nvSpPr>
            <p:spPr bwMode="auto">
              <a:xfrm>
                <a:off x="323061" y="980728"/>
                <a:ext cx="8229600" cy="511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的迭代算法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zh-CN" altLang="en-US" sz="2400" b="0" dirty="0">
                    <a:latin typeface="+mn-ea"/>
                    <a:cs typeface="Times New Roman" panose="02020603050405020304" pitchFamily="18" charset="0"/>
                  </a:rPr>
                  <a:t>输入：含有</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𝑁</m:t>
                    </m:r>
                  </m:oMath>
                </a14:m>
                <a:r>
                  <a:rPr lang="zh-CN" altLang="en-US" sz="2400" b="0" dirty="0">
                    <a:latin typeface="+mn-ea"/>
                    <a:cs typeface="Times New Roman" panose="02020603050405020304" pitchFamily="18" charset="0"/>
                  </a:rPr>
                  <a:t>个节点的有向图，转移矩阵为</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𝑀</m:t>
                    </m:r>
                  </m:oMath>
                </a14:m>
                <a:r>
                  <a:rPr lang="zh-CN" altLang="en-US" sz="2400" b="0" dirty="0">
                    <a:latin typeface="+mn-ea"/>
                    <a:cs typeface="Times New Roman" panose="02020603050405020304" pitchFamily="18" charset="0"/>
                  </a:rPr>
                  <a:t>，阻尼因子为</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𝑑</m:t>
                    </m:r>
                  </m:oMath>
                </a14:m>
                <a:r>
                  <a:rPr lang="zh-CN" altLang="en-US" sz="2400" b="0" dirty="0">
                    <a:latin typeface="+mn-ea"/>
                    <a:cs typeface="Times New Roman" panose="02020603050405020304" pitchFamily="18" charset="0"/>
                  </a:rPr>
                  <a:t>，初始向量</a:t>
                </a:r>
                <a14:m>
                  <m:oMath xmlns:m="http://schemas.openxmlformats.org/officeDocument/2006/math">
                    <m:sSub>
                      <m:sSubPr>
                        <m:ctrlPr>
                          <a:rPr lang="en-US" altLang="zh-CN" sz="2400" b="0" i="1" dirty="0" smtClean="0">
                            <a:latin typeface="Cambria Math" panose="02040503050406030204" pitchFamily="18" charset="0"/>
                            <a:cs typeface="Times New Roman" panose="02020603050405020304" pitchFamily="18" charset="0"/>
                          </a:rPr>
                        </m:ctrlPr>
                      </m:sSubPr>
                      <m:e>
                        <m:r>
                          <a:rPr lang="en-US" altLang="zh-CN" sz="2400" b="0" i="1" dirty="0" smtClean="0">
                            <a:latin typeface="Cambria Math" panose="02040503050406030204" pitchFamily="18" charset="0"/>
                            <a:cs typeface="Times New Roman" panose="02020603050405020304" pitchFamily="18" charset="0"/>
                          </a:rPr>
                          <m:t>𝑅</m:t>
                        </m:r>
                      </m:e>
                      <m:sub>
                        <m:r>
                          <a:rPr lang="en-US" altLang="zh-CN" sz="2400" b="0" i="1" dirty="0" smtClean="0">
                            <a:latin typeface="Cambria Math" panose="02040503050406030204" pitchFamily="18" charset="0"/>
                            <a:cs typeface="Times New Roman" panose="02020603050405020304" pitchFamily="18" charset="0"/>
                          </a:rPr>
                          <m:t>0</m:t>
                        </m:r>
                      </m:sub>
                    </m:sSub>
                  </m:oMath>
                </a14:m>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zh-CN" altLang="en-US" sz="2400" b="0" dirty="0">
                    <a:latin typeface="+mn-ea"/>
                    <a:cs typeface="Times New Roman" panose="02020603050405020304" pitchFamily="18" charset="0"/>
                  </a:rPr>
                  <a:t>输出：有向图的</a:t>
                </a:r>
                <a:r>
                  <a:rPr lang="en-US" altLang="zh-CN" sz="2400" b="0" dirty="0">
                    <a:latin typeface="Times New Roman" panose="02020603050405020304" pitchFamily="18" charset="0"/>
                    <a:cs typeface="Times New Roman" panose="02020603050405020304" pitchFamily="18" charset="0"/>
                  </a:rPr>
                  <a:t>PageRank</a:t>
                </a:r>
                <a:r>
                  <a:rPr lang="zh-CN" altLang="en-US" sz="2400" b="0" dirty="0">
                    <a:latin typeface="+mn-ea"/>
                    <a:cs typeface="Times New Roman" panose="02020603050405020304" pitchFamily="18" charset="0"/>
                  </a:rPr>
                  <a:t>向量</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𝑅</m:t>
                    </m:r>
                  </m:oMath>
                </a14:m>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en-US" altLang="zh-CN" sz="2400" b="0" dirty="0">
                    <a:latin typeface="+mn-ea"/>
                    <a:cs typeface="Times New Roman" panose="02020603050405020304" pitchFamily="18" charset="0"/>
                  </a:rPr>
                  <a:t>(1)</a:t>
                </a:r>
                <a:r>
                  <a:rPr lang="zh-CN" altLang="en-US" sz="2400" b="0" dirty="0">
                    <a:latin typeface="+mn-ea"/>
                    <a:cs typeface="Times New Roman" panose="02020603050405020304" pitchFamily="18" charset="0"/>
                  </a:rPr>
                  <a:t>令</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𝑡</m:t>
                    </m:r>
                    <m:r>
                      <a:rPr lang="en-US" altLang="zh-CN" sz="2400" b="0" i="1" dirty="0" smtClean="0">
                        <a:latin typeface="Cambria Math" panose="02040503050406030204" pitchFamily="18" charset="0"/>
                        <a:cs typeface="Times New Roman" panose="02020603050405020304" pitchFamily="18" charset="0"/>
                      </a:rPr>
                      <m:t>=</m:t>
                    </m:r>
                    <m:r>
                      <a:rPr lang="en-US" altLang="zh-CN" sz="2400" b="0" i="1" dirty="0" smtClean="0">
                        <a:latin typeface="Cambria Math" panose="02040503050406030204" pitchFamily="18" charset="0"/>
                        <a:cs typeface="Times New Roman" panose="02020603050405020304" pitchFamily="18" charset="0"/>
                      </a:rPr>
                      <m:t>0</m:t>
                    </m:r>
                  </m:oMath>
                </a14:m>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en-US" altLang="zh-CN" sz="2400" b="0" dirty="0">
                    <a:latin typeface="+mn-ea"/>
                    <a:cs typeface="Times New Roman" panose="02020603050405020304" pitchFamily="18" charset="0"/>
                  </a:rPr>
                  <a:t>(2)</a:t>
                </a:r>
                <a:r>
                  <a:rPr lang="zh-CN" altLang="en-US" sz="2400" b="0" dirty="0">
                    <a:latin typeface="+mn-ea"/>
                    <a:cs typeface="Times New Roman" panose="02020603050405020304" pitchFamily="18" charset="0"/>
                  </a:rPr>
                  <a:t>计算</a:t>
                </a:r>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en-US" altLang="zh-CN" sz="2400" b="0" dirty="0">
                    <a:latin typeface="+mn-ea"/>
                    <a:cs typeface="Times New Roman" panose="02020603050405020304" pitchFamily="18" charset="0"/>
                  </a:rPr>
                  <a:t>(3)</a:t>
                </a:r>
                <a:r>
                  <a:rPr lang="zh-CN" altLang="en-US" sz="2400" b="0" dirty="0">
                    <a:latin typeface="+mn-ea"/>
                    <a:cs typeface="Times New Roman" panose="02020603050405020304" pitchFamily="18" charset="0"/>
                  </a:rPr>
                  <a:t>如果</a:t>
                </a:r>
                <a14:m>
                  <m:oMath xmlns:m="http://schemas.openxmlformats.org/officeDocument/2006/math">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𝑡</m:t>
                        </m:r>
                        <m:r>
                          <a:rPr lang="en-US" altLang="zh-CN" sz="2400" b="0" i="1">
                            <a:latin typeface="Cambria Math" panose="02040503050406030204" pitchFamily="18" charset="0"/>
                          </a:rPr>
                          <m:t>+</m:t>
                        </m:r>
                        <m:r>
                          <a:rPr lang="en-US" altLang="zh-CN" sz="2400" b="0" i="1">
                            <a:latin typeface="Cambria Math" panose="02040503050406030204" pitchFamily="18" charset="0"/>
                          </a:rPr>
                          <m:t>1</m:t>
                        </m:r>
                      </m:sub>
                    </m:sSub>
                  </m:oMath>
                </a14:m>
                <a:r>
                  <a:rPr lang="zh-CN" altLang="en-US" sz="2400" b="0" dirty="0">
                    <a:latin typeface="+mn-ea"/>
                    <a:cs typeface="Times New Roman" panose="02020603050405020304" pitchFamily="18" charset="0"/>
                  </a:rPr>
                  <a:t>与</a:t>
                </a:r>
                <a14:m>
                  <m:oMath xmlns:m="http://schemas.openxmlformats.org/officeDocument/2006/math">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𝑡</m:t>
                        </m:r>
                      </m:sub>
                    </m:sSub>
                  </m:oMath>
                </a14:m>
                <a:r>
                  <a:rPr lang="zh-CN" altLang="en-US" sz="2400" b="0" dirty="0">
                    <a:latin typeface="+mn-ea"/>
                    <a:cs typeface="Times New Roman" panose="02020603050405020304" pitchFamily="18" charset="0"/>
                  </a:rPr>
                  <a:t>充分接近，令</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𝑅</m:t>
                    </m:r>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𝑅</m:t>
                        </m:r>
                      </m:e>
                      <m:sub>
                        <m:r>
                          <a:rPr lang="en-US" altLang="zh-CN" sz="2400" b="0" i="1" smtClean="0">
                            <a:latin typeface="Cambria Math" panose="02040503050406030204" pitchFamily="18" charset="0"/>
                            <a:cs typeface="Times New Roman" panose="02020603050405020304" pitchFamily="18" charset="0"/>
                          </a:rPr>
                          <m:t>𝑡</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1</m:t>
                        </m:r>
                      </m:sub>
                    </m:sSub>
                  </m:oMath>
                </a14:m>
                <a:r>
                  <a:rPr lang="zh-CN" altLang="en-US" sz="2400" b="0" dirty="0">
                    <a:latin typeface="+mn-ea"/>
                    <a:cs typeface="Times New Roman" panose="02020603050405020304" pitchFamily="18" charset="0"/>
                  </a:rPr>
                  <a:t>，停止迭代</a:t>
                </a:r>
                <a:endParaRPr lang="en-US" altLang="zh-CN" sz="24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en-US" altLang="zh-CN" sz="2400" b="0" dirty="0">
                    <a:latin typeface="+mn-ea"/>
                    <a:cs typeface="Times New Roman" panose="02020603050405020304" pitchFamily="18" charset="0"/>
                  </a:rPr>
                  <a:t>(4)</a:t>
                </a:r>
                <a:r>
                  <a:rPr lang="zh-CN" altLang="en-US" sz="2400" b="0" dirty="0">
                    <a:latin typeface="+mn-ea"/>
                    <a:cs typeface="Times New Roman" panose="02020603050405020304" pitchFamily="18" charset="0"/>
                  </a:rPr>
                  <a:t>否则，令</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𝑡</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𝑡</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1</m:t>
                    </m:r>
                  </m:oMath>
                </a14:m>
                <a:r>
                  <a:rPr lang="zh-CN" altLang="en-US" sz="2400" b="0" dirty="0">
                    <a:latin typeface="+mn-ea"/>
                    <a:cs typeface="Times New Roman" panose="02020603050405020304" pitchFamily="18" charset="0"/>
                  </a:rPr>
                  <a:t>，执行步骤</a:t>
                </a:r>
                <a:r>
                  <a:rPr lang="en-US" altLang="zh-CN" sz="2400" b="0" dirty="0">
                    <a:latin typeface="+mn-ea"/>
                    <a:cs typeface="Times New Roman" panose="02020603050405020304" pitchFamily="18" charset="0"/>
                  </a:rPr>
                  <a:t>(2)</a:t>
                </a:r>
                <a:endParaRPr lang="en-US" altLang="zh-CN" sz="2400" b="0" dirty="0">
                  <a:latin typeface="+mn-ea"/>
                  <a:cs typeface="Times New Roman" panose="02020603050405020304" pitchFamily="18" charset="0"/>
                </a:endParaRPr>
              </a:p>
              <a:p>
                <a:pPr marL="0" lvl="1" indent="0" eaLnBrk="1" hangingPunct="1">
                  <a:lnSpc>
                    <a:spcPct val="120000"/>
                  </a:lnSpc>
                  <a:spcBef>
                    <a:spcPts val="600"/>
                  </a:spcBef>
                  <a:buClr>
                    <a:srgbClr val="FF0000"/>
                  </a:buClr>
                  <a:buNone/>
                  <a:defRPr/>
                </a:pP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mc:Choice>
        <mc:Fallback>
          <p:sp>
            <p:nvSpPr>
              <p:cNvPr id="2" name="Rectangle 3"/>
              <p:cNvSpPr txBox="1">
                <a:spLocks noRot="1" noChangeAspect="1" noMove="1" noResize="1" noEditPoints="1" noAdjustHandles="1" noChangeArrowheads="1" noChangeShapeType="1" noTextEdit="1"/>
              </p:cNvSpPr>
              <p:nvPr/>
            </p:nvSpPr>
            <p:spPr bwMode="auto">
              <a:xfrm>
                <a:off x="323061" y="980728"/>
                <a:ext cx="8229600" cy="5112567"/>
              </a:xfrm>
              <a:prstGeom prst="rect">
                <a:avLst/>
              </a:prstGeom>
              <a:blipFill rotWithShape="1">
                <a:blip r:embed="rId1"/>
                <a:stretch>
                  <a:fillRect l="-6" t="-6" r="6" b="-149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文本框 5"/>
              <p:cNvSpPr txBox="1"/>
              <p:nvPr/>
            </p:nvSpPr>
            <p:spPr>
              <a:xfrm>
                <a:off x="2435346" y="3643497"/>
                <a:ext cx="3504806" cy="79361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𝑑𝑀</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𝑑</m:t>
                          </m:r>
                        </m:num>
                        <m:den>
                          <m:r>
                            <a:rPr lang="en-US" altLang="zh-CN" sz="2400" b="0" i="1" smtClean="0">
                              <a:latin typeface="Cambria Math" panose="02040503050406030204" pitchFamily="18" charset="0"/>
                            </a:rPr>
                            <m:t>𝑛</m:t>
                          </m:r>
                        </m:den>
                      </m:f>
                      <m:r>
                        <a:rPr lang="en-US" altLang="zh-CN" sz="2400" b="1" i="1" smtClean="0">
                          <a:latin typeface="Cambria Math" panose="02040503050406030204" pitchFamily="18" charset="0"/>
                        </a:rPr>
                        <m:t>𝟏</m:t>
                      </m:r>
                    </m:oMath>
                  </m:oMathPara>
                </a14:m>
                <a:endParaRPr lang="zh-CN" altLang="en-US" sz="2400" dirty="0"/>
              </a:p>
            </p:txBody>
          </p:sp>
        </mc:Choice>
        <mc:Fallback>
          <p:sp>
            <p:nvSpPr>
              <p:cNvPr id="6" name="文本框 5"/>
              <p:cNvSpPr txBox="1">
                <a:spLocks noRot="1" noChangeAspect="1" noMove="1" noResize="1" noEditPoints="1" noAdjustHandles="1" noChangeArrowheads="1" noChangeShapeType="1" noTextEdit="1"/>
              </p:cNvSpPr>
              <p:nvPr/>
            </p:nvSpPr>
            <p:spPr>
              <a:xfrm>
                <a:off x="2435346" y="3643497"/>
                <a:ext cx="3504806" cy="793615"/>
              </a:xfrm>
              <a:prstGeom prst="rect">
                <a:avLst/>
              </a:prstGeom>
              <a:blipFill rotWithShape="1">
                <a:blip r:embed="rId2"/>
                <a:stretch>
                  <a:fillRect l="-3" t="-63" r="10" b="46"/>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40" name="组合 39"/>
          <p:cNvGrpSpPr/>
          <p:nvPr/>
        </p:nvGrpSpPr>
        <p:grpSpPr>
          <a:xfrm>
            <a:off x="683568" y="1196752"/>
            <a:ext cx="1524868" cy="1321078"/>
            <a:chOff x="755576" y="1037094"/>
            <a:chExt cx="1524868" cy="1321078"/>
          </a:xfrm>
        </p:grpSpPr>
        <p:grpSp>
          <p:nvGrpSpPr>
            <p:cNvPr id="7" name="组合 6"/>
            <p:cNvGrpSpPr/>
            <p:nvPr/>
          </p:nvGrpSpPr>
          <p:grpSpPr>
            <a:xfrm>
              <a:off x="755576" y="1043444"/>
              <a:ext cx="360040" cy="369332"/>
              <a:chOff x="755576" y="1043444"/>
              <a:chExt cx="360040" cy="369332"/>
            </a:xfrm>
          </p:grpSpPr>
          <p:sp>
            <p:nvSpPr>
              <p:cNvPr id="5" name="流程图: 接点 4"/>
              <p:cNvSpPr/>
              <p:nvPr/>
            </p:nvSpPr>
            <p:spPr bwMode="auto">
              <a:xfrm>
                <a:off x="755576" y="1052736"/>
                <a:ext cx="360040" cy="360040"/>
              </a:xfrm>
              <a:prstGeom prst="flowChart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bg1"/>
                  </a:solidFill>
                  <a:effectLst/>
                  <a:latin typeface="黑体" panose="02010609060101010101" pitchFamily="49" charset="-122"/>
                  <a:ea typeface="宋体" panose="02010600030101010101" pitchFamily="2" charset="-122"/>
                </a:endParaRPr>
              </a:p>
            </p:txBody>
          </p:sp>
          <p:sp>
            <p:nvSpPr>
              <p:cNvPr id="6" name="文本框 5"/>
              <p:cNvSpPr txBox="1"/>
              <p:nvPr/>
            </p:nvSpPr>
            <p:spPr>
              <a:xfrm>
                <a:off x="791580" y="1043444"/>
                <a:ext cx="288032" cy="369332"/>
              </a:xfrm>
              <a:prstGeom prst="rect">
                <a:avLst/>
              </a:prstGeom>
              <a:noFill/>
            </p:spPr>
            <p:txBody>
              <a:bodyPr wrap="square" rtlCol="0">
                <a:spAutoFit/>
              </a:bodyPr>
              <a:lstStyle/>
              <a:p>
                <a:r>
                  <a:rPr lang="en-US" altLang="zh-CN" b="0" dirty="0">
                    <a:solidFill>
                      <a:schemeClr val="bg1"/>
                    </a:solidFill>
                  </a:rPr>
                  <a:t>A</a:t>
                </a:r>
                <a:endParaRPr lang="zh-CN" altLang="en-US" b="0" dirty="0">
                  <a:solidFill>
                    <a:schemeClr val="bg1"/>
                  </a:solidFill>
                </a:endParaRPr>
              </a:p>
            </p:txBody>
          </p:sp>
        </p:grpSp>
        <p:grpSp>
          <p:nvGrpSpPr>
            <p:cNvPr id="8" name="组合 7"/>
            <p:cNvGrpSpPr/>
            <p:nvPr/>
          </p:nvGrpSpPr>
          <p:grpSpPr>
            <a:xfrm>
              <a:off x="1907704" y="1043444"/>
              <a:ext cx="360040" cy="369332"/>
              <a:chOff x="755576" y="1043444"/>
              <a:chExt cx="360040" cy="369332"/>
            </a:xfrm>
          </p:grpSpPr>
          <p:sp>
            <p:nvSpPr>
              <p:cNvPr id="9" name="流程图: 接点 8"/>
              <p:cNvSpPr/>
              <p:nvPr/>
            </p:nvSpPr>
            <p:spPr bwMode="auto">
              <a:xfrm>
                <a:off x="755576" y="1052736"/>
                <a:ext cx="360040" cy="360040"/>
              </a:xfrm>
              <a:prstGeom prst="flowChart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bg1"/>
                  </a:solidFill>
                  <a:effectLst/>
                  <a:latin typeface="黑体" panose="02010609060101010101" pitchFamily="49" charset="-122"/>
                  <a:ea typeface="宋体" panose="02010600030101010101" pitchFamily="2" charset="-122"/>
                </a:endParaRPr>
              </a:p>
            </p:txBody>
          </p:sp>
          <p:sp>
            <p:nvSpPr>
              <p:cNvPr id="10" name="文本框 9"/>
              <p:cNvSpPr txBox="1"/>
              <p:nvPr/>
            </p:nvSpPr>
            <p:spPr>
              <a:xfrm>
                <a:off x="791580" y="1043444"/>
                <a:ext cx="288032" cy="369332"/>
              </a:xfrm>
              <a:prstGeom prst="rect">
                <a:avLst/>
              </a:prstGeom>
              <a:noFill/>
            </p:spPr>
            <p:txBody>
              <a:bodyPr wrap="square" rtlCol="0">
                <a:spAutoFit/>
              </a:bodyPr>
              <a:lstStyle/>
              <a:p>
                <a:r>
                  <a:rPr lang="en-US" altLang="zh-CN" b="0" dirty="0">
                    <a:solidFill>
                      <a:schemeClr val="bg1"/>
                    </a:solidFill>
                  </a:rPr>
                  <a:t>B</a:t>
                </a:r>
                <a:endParaRPr lang="zh-CN" altLang="en-US" b="0" dirty="0">
                  <a:solidFill>
                    <a:schemeClr val="bg1"/>
                  </a:solidFill>
                </a:endParaRPr>
              </a:p>
            </p:txBody>
          </p:sp>
        </p:grpSp>
        <p:grpSp>
          <p:nvGrpSpPr>
            <p:cNvPr id="11" name="组合 10"/>
            <p:cNvGrpSpPr/>
            <p:nvPr/>
          </p:nvGrpSpPr>
          <p:grpSpPr>
            <a:xfrm>
              <a:off x="755576" y="1988840"/>
              <a:ext cx="360040" cy="369332"/>
              <a:chOff x="755576" y="1043444"/>
              <a:chExt cx="360040" cy="369332"/>
            </a:xfrm>
          </p:grpSpPr>
          <p:sp>
            <p:nvSpPr>
              <p:cNvPr id="12" name="流程图: 接点 11"/>
              <p:cNvSpPr/>
              <p:nvPr/>
            </p:nvSpPr>
            <p:spPr bwMode="auto">
              <a:xfrm>
                <a:off x="755576" y="1052736"/>
                <a:ext cx="360040" cy="360040"/>
              </a:xfrm>
              <a:prstGeom prst="flowChart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bg1"/>
                  </a:solidFill>
                  <a:effectLst/>
                  <a:latin typeface="黑体" panose="02010609060101010101" pitchFamily="49" charset="-122"/>
                  <a:ea typeface="宋体" panose="02010600030101010101" pitchFamily="2" charset="-122"/>
                </a:endParaRPr>
              </a:p>
            </p:txBody>
          </p:sp>
          <p:sp>
            <p:nvSpPr>
              <p:cNvPr id="13" name="文本框 12"/>
              <p:cNvSpPr txBox="1"/>
              <p:nvPr/>
            </p:nvSpPr>
            <p:spPr>
              <a:xfrm>
                <a:off x="791580" y="1043444"/>
                <a:ext cx="288032" cy="369332"/>
              </a:xfrm>
              <a:prstGeom prst="rect">
                <a:avLst/>
              </a:prstGeom>
              <a:noFill/>
            </p:spPr>
            <p:txBody>
              <a:bodyPr wrap="square" rtlCol="0">
                <a:spAutoFit/>
              </a:bodyPr>
              <a:lstStyle/>
              <a:p>
                <a:r>
                  <a:rPr lang="en-US" altLang="zh-CN" b="0" dirty="0">
                    <a:solidFill>
                      <a:schemeClr val="bg1"/>
                    </a:solidFill>
                  </a:rPr>
                  <a:t>C</a:t>
                </a:r>
                <a:endParaRPr lang="zh-CN" altLang="en-US" b="0" dirty="0">
                  <a:solidFill>
                    <a:schemeClr val="bg1"/>
                  </a:solidFill>
                </a:endParaRPr>
              </a:p>
            </p:txBody>
          </p:sp>
        </p:grpSp>
        <p:grpSp>
          <p:nvGrpSpPr>
            <p:cNvPr id="14" name="组合 13"/>
            <p:cNvGrpSpPr/>
            <p:nvPr/>
          </p:nvGrpSpPr>
          <p:grpSpPr>
            <a:xfrm>
              <a:off x="1907704" y="1988840"/>
              <a:ext cx="360040" cy="369332"/>
              <a:chOff x="755576" y="1043444"/>
              <a:chExt cx="360040" cy="369332"/>
            </a:xfrm>
          </p:grpSpPr>
          <p:sp>
            <p:nvSpPr>
              <p:cNvPr id="15" name="流程图: 接点 14"/>
              <p:cNvSpPr/>
              <p:nvPr/>
            </p:nvSpPr>
            <p:spPr bwMode="auto">
              <a:xfrm>
                <a:off x="755576" y="1052736"/>
                <a:ext cx="360040" cy="360040"/>
              </a:xfrm>
              <a:prstGeom prst="flowChart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bg1"/>
                  </a:solidFill>
                  <a:effectLst/>
                  <a:latin typeface="黑体" panose="02010609060101010101" pitchFamily="49" charset="-122"/>
                  <a:ea typeface="宋体" panose="02010600030101010101" pitchFamily="2" charset="-122"/>
                </a:endParaRPr>
              </a:p>
            </p:txBody>
          </p:sp>
          <p:sp>
            <p:nvSpPr>
              <p:cNvPr id="16" name="文本框 15"/>
              <p:cNvSpPr txBox="1"/>
              <p:nvPr/>
            </p:nvSpPr>
            <p:spPr>
              <a:xfrm>
                <a:off x="791580" y="1043444"/>
                <a:ext cx="288032" cy="369332"/>
              </a:xfrm>
              <a:prstGeom prst="rect">
                <a:avLst/>
              </a:prstGeom>
              <a:noFill/>
            </p:spPr>
            <p:txBody>
              <a:bodyPr wrap="square" rtlCol="0">
                <a:spAutoFit/>
              </a:bodyPr>
              <a:lstStyle/>
              <a:p>
                <a:r>
                  <a:rPr lang="en-US" altLang="zh-CN" b="0" dirty="0">
                    <a:solidFill>
                      <a:schemeClr val="bg1"/>
                    </a:solidFill>
                  </a:rPr>
                  <a:t>D</a:t>
                </a:r>
                <a:endParaRPr lang="zh-CN" altLang="en-US" b="0" dirty="0">
                  <a:solidFill>
                    <a:schemeClr val="bg1"/>
                  </a:solidFill>
                </a:endParaRPr>
              </a:p>
            </p:txBody>
          </p:sp>
        </p:grpSp>
        <p:cxnSp>
          <p:nvCxnSpPr>
            <p:cNvPr id="18" name="直接箭头连接符 17"/>
            <p:cNvCxnSpPr>
              <a:stCxn id="5" idx="6"/>
              <a:endCxn id="9" idx="2"/>
            </p:cNvCxnSpPr>
            <p:nvPr/>
          </p:nvCxnSpPr>
          <p:spPr bwMode="auto">
            <a:xfrm>
              <a:off x="1115616" y="1232756"/>
              <a:ext cx="792088" cy="0"/>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19" name="直接箭头连接符 18"/>
            <p:cNvCxnSpPr>
              <a:stCxn id="5" idx="5"/>
              <a:endCxn id="15" idx="1"/>
            </p:cNvCxnSpPr>
            <p:nvPr/>
          </p:nvCxnSpPr>
          <p:spPr bwMode="auto">
            <a:xfrm>
              <a:off x="1062889" y="1360049"/>
              <a:ext cx="897542" cy="690810"/>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22" name="直接箭头连接符 21"/>
            <p:cNvCxnSpPr>
              <a:stCxn id="6" idx="2"/>
              <a:endCxn id="13" idx="0"/>
            </p:cNvCxnSpPr>
            <p:nvPr/>
          </p:nvCxnSpPr>
          <p:spPr bwMode="auto">
            <a:xfrm>
              <a:off x="935596" y="1412776"/>
              <a:ext cx="0" cy="576064"/>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25" name="直接箭头连接符 24"/>
            <p:cNvCxnSpPr>
              <a:stCxn id="16" idx="0"/>
              <a:endCxn id="10" idx="2"/>
            </p:cNvCxnSpPr>
            <p:nvPr/>
          </p:nvCxnSpPr>
          <p:spPr bwMode="auto">
            <a:xfrm flipV="1">
              <a:off x="2087724" y="1412776"/>
              <a:ext cx="0" cy="576064"/>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28" name="直接箭头连接符 27"/>
            <p:cNvCxnSpPr>
              <a:stCxn id="15" idx="2"/>
              <a:endCxn id="12" idx="6"/>
            </p:cNvCxnSpPr>
            <p:nvPr/>
          </p:nvCxnSpPr>
          <p:spPr bwMode="auto">
            <a:xfrm flipH="1">
              <a:off x="1115616" y="2178152"/>
              <a:ext cx="792088" cy="0"/>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32" name="连接符: 曲线 31"/>
            <p:cNvCxnSpPr>
              <a:stCxn id="10" idx="0"/>
              <a:endCxn id="6" idx="0"/>
            </p:cNvCxnSpPr>
            <p:nvPr/>
          </p:nvCxnSpPr>
          <p:spPr bwMode="auto">
            <a:xfrm rot="16200000" flipV="1">
              <a:off x="1511660" y="467380"/>
              <a:ext cx="12700" cy="1152128"/>
            </a:xfrm>
            <a:prstGeom prst="curvedConnector3">
              <a:avLst>
                <a:gd name="adj1" fmla="val 1800000"/>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33" name="连接符: 曲线 32"/>
            <p:cNvCxnSpPr>
              <a:stCxn id="9" idx="6"/>
              <a:endCxn id="15" idx="6"/>
            </p:cNvCxnSpPr>
            <p:nvPr/>
          </p:nvCxnSpPr>
          <p:spPr bwMode="auto">
            <a:xfrm>
              <a:off x="2267744" y="1232756"/>
              <a:ext cx="12700" cy="945396"/>
            </a:xfrm>
            <a:prstGeom prst="curvedConnector3">
              <a:avLst>
                <a:gd name="adj1" fmla="val 1800000"/>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36" name="连接符: 曲线 35"/>
            <p:cNvCxnSpPr>
              <a:stCxn id="13" idx="2"/>
              <a:endCxn id="12" idx="2"/>
            </p:cNvCxnSpPr>
            <p:nvPr/>
          </p:nvCxnSpPr>
          <p:spPr bwMode="auto">
            <a:xfrm rot="5400000" flipH="1">
              <a:off x="755576" y="2178152"/>
              <a:ext cx="180020" cy="180020"/>
            </a:xfrm>
            <a:prstGeom prst="curvedConnector4">
              <a:avLst>
                <a:gd name="adj1" fmla="val -126986"/>
                <a:gd name="adj2" fmla="val 226986"/>
              </a:avLst>
            </a:prstGeom>
            <a:solidFill>
              <a:schemeClr val="accent1"/>
            </a:solidFill>
            <a:ln w="9525" cap="flat" cmpd="sng" algn="ctr">
              <a:solidFill>
                <a:schemeClr val="tx1"/>
              </a:solidFill>
              <a:prstDash val="solid"/>
              <a:round/>
              <a:headEnd type="none" w="med" len="med"/>
              <a:tailEnd type="triangle" w="med" len="lg"/>
            </a:ln>
            <a:effectLst/>
          </p:spPr>
        </p:cxnSp>
      </p:grpSp>
      <mc:AlternateContent xmlns:mc="http://schemas.openxmlformats.org/markup-compatibility/2006">
        <mc:Choice xmlns:a14="http://schemas.microsoft.com/office/drawing/2010/main" Requires="a14">
          <p:sp>
            <p:nvSpPr>
              <p:cNvPr id="41" name="文本框 40"/>
              <p:cNvSpPr txBox="1"/>
              <p:nvPr/>
            </p:nvSpPr>
            <p:spPr>
              <a:xfrm>
                <a:off x="2680510" y="1227632"/>
                <a:ext cx="5599901" cy="1185902"/>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rPr>
                      <m:t>𝑀</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4"/>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mr>
                          <m:m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mr>
                          <m:m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e>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
                      </m:e>
                    </m:d>
                  </m:oMath>
                </a14:m>
                <a:r>
                  <a:rPr lang="zh-CN" altLang="en-US" b="0" dirty="0"/>
                  <a:t>     </a:t>
                </a:r>
                <a14:m>
                  <m:oMath xmlns:m="http://schemas.openxmlformats.org/officeDocument/2006/math">
                    <m:r>
                      <a:rPr lang="en-US" altLang="zh-CN" b="0" i="1" dirty="0" smtClean="0">
                        <a:latin typeface="Cambria Math" panose="02040503050406030204" pitchFamily="18" charset="0"/>
                      </a:rPr>
                      <m:t>𝑑</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0</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8</m:t>
                    </m:r>
                  </m:oMath>
                </a14:m>
                <a:r>
                  <a:rPr lang="zh-CN" altLang="en-US" b="0"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m>
                          <m:mPr>
                            <m:mcs>
                              <m:mc>
                                <m:mcPr>
                                  <m:count m:val="1"/>
                                  <m:mcJc m:val="center"/>
                                </m:mcPr>
                              </m:mc>
                            </m:mcs>
                            <m:ctrlPr>
                              <a:rPr lang="en-US" altLang="zh-CN" b="0" i="1" dirty="0" smtClean="0">
                                <a:latin typeface="Cambria Math" panose="02040503050406030204" pitchFamily="18" charset="0"/>
                              </a:rPr>
                            </m:ctrlPr>
                          </m:mPr>
                          <m:mr>
                            <m:e>
                              <m:r>
                                <m:rPr>
                                  <m:brk m:alnAt="7"/>
                                </m:rP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4</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4</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4</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4</m:t>
                              </m:r>
                            </m:e>
                          </m:mr>
                        </m:m>
                      </m:e>
                    </m:d>
                  </m:oMath>
                </a14:m>
                <a:endParaRPr lang="zh-CN" altLang="en-US" b="0" dirty="0"/>
              </a:p>
            </p:txBody>
          </p:sp>
        </mc:Choice>
        <mc:Fallback>
          <p:sp>
            <p:nvSpPr>
              <p:cNvPr id="41" name="文本框 40"/>
              <p:cNvSpPr txBox="1">
                <a:spLocks noRot="1" noChangeAspect="1" noMove="1" noResize="1" noEditPoints="1" noAdjustHandles="1" noChangeArrowheads="1" noChangeShapeType="1" noTextEdit="1"/>
              </p:cNvSpPr>
              <p:nvPr/>
            </p:nvSpPr>
            <p:spPr>
              <a:xfrm>
                <a:off x="2680510" y="1227632"/>
                <a:ext cx="5599901" cy="1185902"/>
              </a:xfrm>
              <a:prstGeom prst="rect">
                <a:avLst/>
              </a:prstGeom>
              <a:blipFill rotWithShape="1">
                <a:blip r:embed="rId1"/>
                <a:stretch>
                  <a:fillRect l="-3" t="-15"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251520" y="2996952"/>
                <a:ext cx="4392488" cy="1710212"/>
              </a:xfrm>
              <a:prstGeom prst="rect">
                <a:avLst/>
              </a:prstGeom>
              <a:noFill/>
            </p:spPr>
            <p:txBody>
              <a:bodyPr wrap="square" rtlCol="0">
                <a:spAutoFit/>
              </a:bodyPr>
              <a:lstStyle/>
              <a:p>
                <a:pPr marL="285750" indent="-285750" algn="just">
                  <a:buFont typeface="Wingdings" panose="05000000000000000000" pitchFamily="2" charset="2"/>
                  <a:buChar char="Ø"/>
                </a:pPr>
                <a:r>
                  <a:rPr lang="zh-CN" altLang="en-US" sz="2400" b="0" dirty="0">
                    <a:solidFill>
                      <a:srgbClr val="1557AE"/>
                    </a:solidFill>
                    <a:latin typeface="黑体" panose="02010609060101010101" pitchFamily="49" charset="-122"/>
                    <a:ea typeface="黑体" panose="02010609060101010101" pitchFamily="49" charset="-122"/>
                  </a:rPr>
                  <a:t>计算</a:t>
                </a:r>
                <a14:m>
                  <m:oMath xmlns:m="http://schemas.openxmlformats.org/officeDocument/2006/math">
                    <m:r>
                      <a:rPr lang="en-US" altLang="zh-CN" sz="2400" b="0" i="1" smtClean="0">
                        <a:solidFill>
                          <a:srgbClr val="1557AE"/>
                        </a:solidFill>
                        <a:latin typeface="Cambria Math" panose="02040503050406030204" pitchFamily="18" charset="0"/>
                      </a:rPr>
                      <m:t>𝑑𝑀</m:t>
                    </m:r>
                    <m:r>
                      <a:rPr lang="zh-CN" altLang="en-US" sz="2400" i="1">
                        <a:solidFill>
                          <a:srgbClr val="1557AE"/>
                        </a:solidFill>
                        <a:latin typeface="Cambria Math" panose="02040503050406030204" pitchFamily="18" charset="0"/>
                      </a:rPr>
                      <m:t>和</m:t>
                    </m:r>
                    <m:f>
                      <m:fPr>
                        <m:ctrlPr>
                          <a:rPr lang="en-US" altLang="zh-CN" sz="2400" b="0" i="1" smtClean="0">
                            <a:solidFill>
                              <a:srgbClr val="1557AE"/>
                            </a:solidFill>
                            <a:latin typeface="Cambria Math" panose="02040503050406030204" pitchFamily="18" charset="0"/>
                          </a:rPr>
                        </m:ctrlPr>
                      </m:fPr>
                      <m:num>
                        <m:r>
                          <a:rPr lang="en-US" altLang="zh-CN" sz="2400" b="0" i="1" smtClean="0">
                            <a:solidFill>
                              <a:srgbClr val="1557AE"/>
                            </a:solidFill>
                            <a:latin typeface="Cambria Math" panose="02040503050406030204" pitchFamily="18" charset="0"/>
                          </a:rPr>
                          <m:t>1</m:t>
                        </m:r>
                        <m:r>
                          <a:rPr lang="en-US" altLang="zh-CN" sz="2400" b="0" i="1" smtClean="0">
                            <a:solidFill>
                              <a:srgbClr val="1557AE"/>
                            </a:solidFill>
                            <a:latin typeface="Cambria Math" panose="02040503050406030204" pitchFamily="18" charset="0"/>
                          </a:rPr>
                          <m:t>−</m:t>
                        </m:r>
                        <m:r>
                          <a:rPr lang="en-US" altLang="zh-CN" sz="2400" b="0" i="1" smtClean="0">
                            <a:solidFill>
                              <a:srgbClr val="1557AE"/>
                            </a:solidFill>
                            <a:latin typeface="Cambria Math" panose="02040503050406030204" pitchFamily="18" charset="0"/>
                          </a:rPr>
                          <m:t>𝑑</m:t>
                        </m:r>
                      </m:num>
                      <m:den>
                        <m:r>
                          <a:rPr lang="en-US" altLang="zh-CN" sz="2400" b="0" i="1" smtClean="0">
                            <a:solidFill>
                              <a:srgbClr val="1557AE"/>
                            </a:solidFill>
                            <a:latin typeface="Cambria Math" panose="02040503050406030204" pitchFamily="18" charset="0"/>
                          </a:rPr>
                          <m:t>𝑛</m:t>
                        </m:r>
                      </m:den>
                    </m:f>
                    <m:r>
                      <a:rPr lang="en-US" altLang="zh-CN" sz="2400" b="1" i="1" smtClean="0">
                        <a:solidFill>
                          <a:srgbClr val="1557AE"/>
                        </a:solidFill>
                        <a:latin typeface="Cambria Math" panose="02040503050406030204" pitchFamily="18" charset="0"/>
                      </a:rPr>
                      <m:t>𝟏</m:t>
                    </m:r>
                  </m:oMath>
                </a14:m>
                <a:endParaRPr lang="en-US" altLang="zh-CN" sz="2400" dirty="0">
                  <a:solidFill>
                    <a:srgbClr val="1557AE"/>
                  </a:solidFill>
                </a:endParaRPr>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endParaRPr lang="en-US" altLang="zh-CN" dirty="0"/>
              </a:p>
              <a:p>
                <a:pPr marL="285750" indent="-285750" algn="just">
                  <a:buFont typeface="Wingdings" panose="05000000000000000000" pitchFamily="2" charset="2"/>
                  <a:buChar char="Ø"/>
                </a:pPr>
                <a:r>
                  <a:rPr lang="zh-CN" altLang="en-US" sz="2400" b="0" dirty="0">
                    <a:solidFill>
                      <a:srgbClr val="1557AE"/>
                    </a:solidFill>
                    <a:latin typeface="黑体" panose="02010609060101010101" pitchFamily="49" charset="-122"/>
                    <a:ea typeface="黑体" panose="02010609060101010101" pitchFamily="49" charset="-122"/>
                  </a:rPr>
                  <a:t>计算</a:t>
                </a:r>
                <a14:m>
                  <m:oMath xmlns:m="http://schemas.openxmlformats.org/officeDocument/2006/math">
                    <m:sSub>
                      <m:sSubPr>
                        <m:ctrlPr>
                          <a:rPr lang="en-US" altLang="zh-CN" sz="2400" b="0" i="1">
                            <a:solidFill>
                              <a:srgbClr val="1557AE"/>
                            </a:solidFill>
                            <a:latin typeface="Cambria Math" panose="02040503050406030204" pitchFamily="18" charset="0"/>
                          </a:rPr>
                        </m:ctrlPr>
                      </m:sSubPr>
                      <m:e>
                        <m:r>
                          <a:rPr lang="en-US" altLang="zh-CN" sz="2400" b="0" i="1">
                            <a:solidFill>
                              <a:srgbClr val="1557AE"/>
                            </a:solidFill>
                            <a:latin typeface="Cambria Math" panose="02040503050406030204" pitchFamily="18" charset="0"/>
                          </a:rPr>
                          <m:t>𝑅</m:t>
                        </m:r>
                      </m:e>
                      <m:sub>
                        <m:r>
                          <a:rPr lang="en-US" altLang="zh-CN" sz="2400" b="0" i="1">
                            <a:solidFill>
                              <a:srgbClr val="1557AE"/>
                            </a:solidFill>
                            <a:latin typeface="Cambria Math" panose="02040503050406030204" pitchFamily="18" charset="0"/>
                          </a:rPr>
                          <m:t>𝑡</m:t>
                        </m:r>
                        <m:r>
                          <a:rPr lang="en-US" altLang="zh-CN" sz="2400" b="0" i="1">
                            <a:solidFill>
                              <a:srgbClr val="1557AE"/>
                            </a:solidFill>
                            <a:latin typeface="Cambria Math" panose="02040503050406030204" pitchFamily="18" charset="0"/>
                          </a:rPr>
                          <m:t>+</m:t>
                        </m:r>
                        <m:r>
                          <a:rPr lang="en-US" altLang="zh-CN" sz="2400" b="0" i="1">
                            <a:solidFill>
                              <a:srgbClr val="1557AE"/>
                            </a:solidFill>
                            <a:latin typeface="Cambria Math" panose="02040503050406030204" pitchFamily="18" charset="0"/>
                          </a:rPr>
                          <m:t>1</m:t>
                        </m:r>
                      </m:sub>
                    </m:sSub>
                    <m:r>
                      <a:rPr lang="en-US" altLang="zh-CN" sz="2400" b="0" i="1">
                        <a:solidFill>
                          <a:srgbClr val="1557AE"/>
                        </a:solidFill>
                        <a:latin typeface="Cambria Math" panose="02040503050406030204" pitchFamily="18" charset="0"/>
                      </a:rPr>
                      <m:t>=</m:t>
                    </m:r>
                    <m:r>
                      <a:rPr lang="en-US" altLang="zh-CN" sz="2400" b="0" i="1">
                        <a:solidFill>
                          <a:srgbClr val="1557AE"/>
                        </a:solidFill>
                        <a:latin typeface="Cambria Math" panose="02040503050406030204" pitchFamily="18" charset="0"/>
                      </a:rPr>
                      <m:t>𝑑𝑀</m:t>
                    </m:r>
                    <m:sSub>
                      <m:sSubPr>
                        <m:ctrlPr>
                          <a:rPr lang="en-US" altLang="zh-CN" sz="2400" b="0" i="1">
                            <a:solidFill>
                              <a:srgbClr val="1557AE"/>
                            </a:solidFill>
                            <a:latin typeface="Cambria Math" panose="02040503050406030204" pitchFamily="18" charset="0"/>
                          </a:rPr>
                        </m:ctrlPr>
                      </m:sSubPr>
                      <m:e>
                        <m:r>
                          <a:rPr lang="en-US" altLang="zh-CN" sz="2400" b="0" i="1">
                            <a:solidFill>
                              <a:srgbClr val="1557AE"/>
                            </a:solidFill>
                            <a:latin typeface="Cambria Math" panose="02040503050406030204" pitchFamily="18" charset="0"/>
                          </a:rPr>
                          <m:t>𝑅</m:t>
                        </m:r>
                      </m:e>
                      <m:sub>
                        <m:r>
                          <a:rPr lang="en-US" altLang="zh-CN" sz="2400" b="0" i="1">
                            <a:solidFill>
                              <a:srgbClr val="1557AE"/>
                            </a:solidFill>
                            <a:latin typeface="Cambria Math" panose="02040503050406030204" pitchFamily="18" charset="0"/>
                          </a:rPr>
                          <m:t>𝑡</m:t>
                        </m:r>
                      </m:sub>
                    </m:sSub>
                    <m:r>
                      <a:rPr lang="en-US" altLang="zh-CN" sz="2400" b="0" i="1">
                        <a:solidFill>
                          <a:srgbClr val="1557AE"/>
                        </a:solidFill>
                        <a:latin typeface="Cambria Math" panose="02040503050406030204" pitchFamily="18" charset="0"/>
                      </a:rPr>
                      <m:t>+</m:t>
                    </m:r>
                    <m:f>
                      <m:fPr>
                        <m:ctrlPr>
                          <a:rPr lang="en-US" altLang="zh-CN" sz="2400" b="0" i="1">
                            <a:solidFill>
                              <a:srgbClr val="1557AE"/>
                            </a:solidFill>
                            <a:latin typeface="Cambria Math" panose="02040503050406030204" pitchFamily="18" charset="0"/>
                          </a:rPr>
                        </m:ctrlPr>
                      </m:fPr>
                      <m:num>
                        <m:r>
                          <a:rPr lang="en-US" altLang="zh-CN" sz="2400" b="0" i="1">
                            <a:solidFill>
                              <a:srgbClr val="1557AE"/>
                            </a:solidFill>
                            <a:latin typeface="Cambria Math" panose="02040503050406030204" pitchFamily="18" charset="0"/>
                          </a:rPr>
                          <m:t>1</m:t>
                        </m:r>
                        <m:r>
                          <a:rPr lang="en-US" altLang="zh-CN" sz="2400" b="0" i="1">
                            <a:solidFill>
                              <a:srgbClr val="1557AE"/>
                            </a:solidFill>
                            <a:latin typeface="Cambria Math" panose="02040503050406030204" pitchFamily="18" charset="0"/>
                          </a:rPr>
                          <m:t>−</m:t>
                        </m:r>
                        <m:r>
                          <a:rPr lang="en-US" altLang="zh-CN" sz="2400" b="0" i="1">
                            <a:solidFill>
                              <a:srgbClr val="1557AE"/>
                            </a:solidFill>
                            <a:latin typeface="Cambria Math" panose="02040503050406030204" pitchFamily="18" charset="0"/>
                          </a:rPr>
                          <m:t>𝑑</m:t>
                        </m:r>
                      </m:num>
                      <m:den>
                        <m:r>
                          <a:rPr lang="en-US" altLang="zh-CN" sz="2400" b="0" i="1">
                            <a:solidFill>
                              <a:srgbClr val="1557AE"/>
                            </a:solidFill>
                            <a:latin typeface="Cambria Math" panose="02040503050406030204" pitchFamily="18" charset="0"/>
                          </a:rPr>
                          <m:t>𝑛</m:t>
                        </m:r>
                      </m:den>
                    </m:f>
                    <m:r>
                      <a:rPr lang="en-US" altLang="zh-CN" sz="2400" i="1">
                        <a:solidFill>
                          <a:srgbClr val="1557AE"/>
                        </a:solidFill>
                        <a:latin typeface="Cambria Math" panose="02040503050406030204" pitchFamily="18" charset="0"/>
                      </a:rPr>
                      <m:t>𝟏</m:t>
                    </m:r>
                  </m:oMath>
                </a14:m>
                <a:endParaRPr lang="zh-CN" altLang="en-US" sz="2400" dirty="0">
                  <a:solidFill>
                    <a:srgbClr val="1557AE"/>
                  </a:solidFill>
                </a:endParaRPr>
              </a:p>
            </p:txBody>
          </p:sp>
        </mc:Choice>
        <mc:Fallback>
          <p:sp>
            <p:nvSpPr>
              <p:cNvPr id="42" name="文本框 41"/>
              <p:cNvSpPr txBox="1">
                <a:spLocks noRot="1" noChangeAspect="1" noMove="1" noResize="1" noEditPoints="1" noAdjustHandles="1" noChangeArrowheads="1" noChangeShapeType="1" noTextEdit="1"/>
              </p:cNvSpPr>
              <p:nvPr/>
            </p:nvSpPr>
            <p:spPr>
              <a:xfrm>
                <a:off x="251520" y="2996952"/>
                <a:ext cx="4392488" cy="1710212"/>
              </a:xfrm>
              <a:prstGeom prst="rect">
                <a:avLst/>
              </a:prstGeom>
              <a:blipFill rotWithShape="1">
                <a:blip r:embed="rId2"/>
                <a:stretch>
                  <a:fillRect l="-1" t="-23" r="6"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2716515" y="2636912"/>
                <a:ext cx="5599901" cy="1185902"/>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rPr>
                      <m:t>𝑑𝑀</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4"/>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0</m:t>
                              </m:r>
                            </m:e>
                            <m:e>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4</m:t>
                              </m:r>
                              <m:r>
                                <a:rPr lang="en-US" altLang="zh-CN" b="0" i="1" smtClean="0">
                                  <a:latin typeface="Cambria Math" panose="02040503050406030204" pitchFamily="18" charset="0"/>
                                </a:rPr>
                                <m:t>/</m:t>
                              </m:r>
                              <m:r>
                                <a:rPr lang="en-US" altLang="zh-CN" b="0" i="1" smtClean="0">
                                  <a:latin typeface="Cambria Math" panose="02040503050406030204" pitchFamily="18" charset="0"/>
                                </a:rPr>
                                <m:t>15</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
                              <m:r>
                                <a:rPr lang="en-US" altLang="zh-CN" b="0" i="1">
                                  <a:latin typeface="Cambria Math" panose="02040503050406030204" pitchFamily="18" charset="0"/>
                                </a:rPr>
                                <m:t>2</m:t>
                              </m:r>
                              <m:r>
                                <a:rPr lang="en-US" altLang="zh-CN" b="0" i="1">
                                  <a:latin typeface="Cambria Math" panose="02040503050406030204" pitchFamily="18" charset="0"/>
                                </a:rPr>
                                <m:t>/</m:t>
                              </m:r>
                              <m:r>
                                <a:rPr lang="en-US" altLang="zh-CN" b="0" i="1">
                                  <a:latin typeface="Cambria Math" panose="02040503050406030204" pitchFamily="18" charset="0"/>
                                </a:rPr>
                                <m:t>5</m:t>
                              </m:r>
                            </m:e>
                          </m:mr>
                          <m:mr>
                            <m:e>
                              <m:r>
                                <a:rPr lang="en-US" altLang="zh-CN" b="0" i="1">
                                  <a:latin typeface="Cambria Math" panose="02040503050406030204" pitchFamily="18" charset="0"/>
                                </a:rPr>
                                <m:t>4</m:t>
                              </m:r>
                              <m:r>
                                <a:rPr lang="en-US" altLang="zh-CN" b="0" i="1">
                                  <a:latin typeface="Cambria Math" panose="02040503050406030204" pitchFamily="18" charset="0"/>
                                </a:rPr>
                                <m:t>/</m:t>
                              </m:r>
                              <m:r>
                                <a:rPr lang="en-US" altLang="zh-CN" b="0" i="1">
                                  <a:latin typeface="Cambria Math" panose="02040503050406030204" pitchFamily="18" charset="0"/>
                                </a:rPr>
                                <m:t>15</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4</m:t>
                              </m:r>
                              <m:r>
                                <a:rPr lang="en-US" altLang="zh-CN" b="0" i="1">
                                  <a:latin typeface="Cambria Math" panose="02040503050406030204" pitchFamily="18" charset="0"/>
                                </a:rPr>
                                <m:t>/</m:t>
                              </m:r>
                              <m:r>
                                <a:rPr lang="en-US" altLang="zh-CN" b="0" i="1">
                                  <a:latin typeface="Cambria Math" panose="02040503050406030204" pitchFamily="18" charset="0"/>
                                </a:rPr>
                                <m:t>5</m:t>
                              </m:r>
                            </m:e>
                            <m:e>
                              <m:r>
                                <a:rPr lang="en-US" altLang="zh-CN" b="0" i="1">
                                  <a:latin typeface="Cambria Math" panose="02040503050406030204" pitchFamily="18" charset="0"/>
                                </a:rPr>
                                <m:t>2</m:t>
                              </m:r>
                              <m:r>
                                <a:rPr lang="en-US" altLang="zh-CN" b="0" i="1">
                                  <a:latin typeface="Cambria Math" panose="02040503050406030204" pitchFamily="18" charset="0"/>
                                </a:rPr>
                                <m:t>/</m:t>
                              </m:r>
                              <m:r>
                                <a:rPr lang="en-US" altLang="zh-CN" b="0" i="1">
                                  <a:latin typeface="Cambria Math" panose="02040503050406030204" pitchFamily="18" charset="0"/>
                                </a:rPr>
                                <m:t>5</m:t>
                              </m:r>
                            </m:e>
                          </m:mr>
                          <m:mr>
                            <m:e>
                              <m:r>
                                <a:rPr lang="en-US" altLang="zh-CN" b="0" i="1">
                                  <a:latin typeface="Cambria Math" panose="02040503050406030204" pitchFamily="18" charset="0"/>
                                </a:rPr>
                                <m:t>4</m:t>
                              </m:r>
                              <m:r>
                                <a:rPr lang="en-US" altLang="zh-CN" b="0" i="1">
                                  <a:latin typeface="Cambria Math" panose="02040503050406030204" pitchFamily="18" charset="0"/>
                                </a:rPr>
                                <m:t>/</m:t>
                              </m:r>
                              <m:r>
                                <a:rPr lang="en-US" altLang="zh-CN" b="0" i="1">
                                  <a:latin typeface="Cambria Math" panose="02040503050406030204" pitchFamily="18" charset="0"/>
                                </a:rPr>
                                <m:t>15</m:t>
                              </m:r>
                            </m:e>
                            <m:e>
                              <m:r>
                                <a:rPr lang="en-US" altLang="zh-CN" b="0" i="1">
                                  <a:latin typeface="Cambria Math" panose="02040503050406030204" pitchFamily="18" charset="0"/>
                                </a:rPr>
                                <m:t>2</m:t>
                              </m:r>
                              <m:r>
                                <a:rPr lang="en-US" altLang="zh-CN" b="0" i="1">
                                  <a:latin typeface="Cambria Math" panose="02040503050406030204" pitchFamily="18" charset="0"/>
                                </a:rPr>
                                <m:t>/</m:t>
                              </m:r>
                              <m:r>
                                <a:rPr lang="en-US" altLang="zh-CN" b="0" i="1">
                                  <a:latin typeface="Cambria Math" panose="02040503050406030204" pitchFamily="18" charset="0"/>
                                </a:rPr>
                                <m:t>5</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
                      </m:e>
                    </m:d>
                  </m:oMath>
                </a14:m>
                <a:r>
                  <a:rPr lang="zh-CN" altLang="en-US" b="0" dirty="0"/>
                  <a:t>     </a:t>
                </a:r>
                <a14:m>
                  <m:oMath xmlns:m="http://schemas.openxmlformats.org/officeDocument/2006/math">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𝑑</m:t>
                        </m:r>
                      </m:num>
                      <m:den>
                        <m:r>
                          <a:rPr lang="en-US" altLang="zh-CN" b="0" i="1" dirty="0" smtClean="0">
                            <a:latin typeface="Cambria Math" panose="02040503050406030204" pitchFamily="18" charset="0"/>
                          </a:rPr>
                          <m:t>𝑛</m:t>
                        </m:r>
                      </m:den>
                    </m:f>
                    <m:r>
                      <a:rPr lang="en-US" altLang="zh-CN" b="1" i="1" dirty="0" smtClean="0">
                        <a:latin typeface="Cambria Math" panose="02040503050406030204" pitchFamily="18" charset="0"/>
                      </a:rPr>
                      <m:t>𝟏</m:t>
                    </m:r>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m>
                          <m:mPr>
                            <m:mcs>
                              <m:mc>
                                <m:mcPr>
                                  <m:count m:val="1"/>
                                  <m:mcJc m:val="center"/>
                                </m:mcPr>
                              </m:mc>
                            </m:mcs>
                            <m:ctrlPr>
                              <a:rPr lang="en-US" altLang="zh-CN" b="0" i="1" dirty="0" smtClean="0">
                                <a:latin typeface="Cambria Math" panose="02040503050406030204" pitchFamily="18" charset="0"/>
                              </a:rPr>
                            </m:ctrlPr>
                          </m:mPr>
                          <m:mr>
                            <m:e>
                              <m:r>
                                <m:rPr>
                                  <m:brk m:alnAt="7"/>
                                </m:rP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20</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20</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20</m:t>
                              </m:r>
                            </m:e>
                          </m:mr>
                          <m:mr>
                            <m:e>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20</m:t>
                              </m:r>
                            </m:e>
                          </m:mr>
                        </m:m>
                      </m:e>
                    </m:d>
                  </m:oMath>
                </a14:m>
                <a:endParaRPr lang="zh-CN" altLang="en-US" b="0" dirty="0"/>
              </a:p>
            </p:txBody>
          </p:sp>
        </mc:Choice>
        <mc:Fallback>
          <p:sp>
            <p:nvSpPr>
              <p:cNvPr id="43" name="文本框 42"/>
              <p:cNvSpPr txBox="1">
                <a:spLocks noRot="1" noChangeAspect="1" noMove="1" noResize="1" noEditPoints="1" noAdjustHandles="1" noChangeArrowheads="1" noChangeShapeType="1" noTextEdit="1"/>
              </p:cNvSpPr>
              <p:nvPr/>
            </p:nvSpPr>
            <p:spPr>
              <a:xfrm>
                <a:off x="2716515" y="2636912"/>
                <a:ext cx="5599901" cy="1185902"/>
              </a:xfrm>
              <a:prstGeom prst="rect">
                <a:avLst/>
              </a:prstGeom>
              <a:blipFill rotWithShape="1">
                <a:blip r:embed="rId3"/>
                <a:stretch>
                  <a:fillRect l="-11" t="-33" r="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矩形 43"/>
              <p:cNvSpPr/>
              <p:nvPr/>
            </p:nvSpPr>
            <p:spPr>
              <a:xfrm>
                <a:off x="724299" y="4684407"/>
                <a:ext cx="7695402" cy="1564595"/>
              </a:xfrm>
              <a:prstGeom prst="rect">
                <a:avLst/>
              </a:prstGeom>
            </p:spPr>
            <p:txBody>
              <a:bodyPr wrap="square">
                <a:spAutoFit/>
              </a:bodyPr>
              <a:lstStyle/>
              <a:p>
                <a:pPr algn="just"/>
                <a14:m>
                  <m:oMath xmlns:m="http://schemas.openxmlformats.org/officeDocument/2006/math">
                    <m:d>
                      <m:dPr>
                        <m:begChr m:val="["/>
                        <m:endChr m:val="]"/>
                        <m:ctrlPr>
                          <a:rPr lang="en-US" altLang="zh-CN" b="0" i="1" dirty="0" smtClean="0">
                            <a:latin typeface="Cambria Math" panose="02040503050406030204" pitchFamily="18" charset="0"/>
                          </a:rPr>
                        </m:ctrlPr>
                      </m:dPr>
                      <m:e>
                        <m:eqArr>
                          <m:eqArrPr>
                            <m:ctrlPr>
                              <a:rPr lang="en-US" altLang="zh-CN" b="0" i="1" dirty="0" smtClean="0">
                                <a:latin typeface="Cambria Math" panose="02040503050406030204" pitchFamily="18" charset="0"/>
                              </a:rPr>
                            </m:ctrlPr>
                          </m:eqArrPr>
                          <m:e>
                            <m:r>
                              <a:rPr lang="en-US" altLang="zh-CN" b="0" i="1" dirty="0" smtClean="0">
                                <a:latin typeface="Cambria Math" panose="02040503050406030204" pitchFamily="18" charset="0"/>
                              </a:rPr>
                              <m:t>𝑃𝑅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𝐴</m:t>
                            </m:r>
                            <m:r>
                              <a:rPr lang="en-US" altLang="zh-CN" b="0" i="1" dirty="0" smtClean="0">
                                <a:latin typeface="Cambria Math" panose="02040503050406030204" pitchFamily="18" charset="0"/>
                              </a:rPr>
                              <m:t>)</m:t>
                            </m:r>
                          </m:e>
                          <m:e>
                            <m:r>
                              <a:rPr lang="en-US" altLang="zh-CN" b="0" i="1" dirty="0" smtClean="0">
                                <a:latin typeface="Cambria Math" panose="02040503050406030204" pitchFamily="18" charset="0"/>
                              </a:rPr>
                              <m:t>𝑃𝑅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e>
                          <m:e>
                            <m:r>
                              <a:rPr lang="en-US" altLang="zh-CN" b="0" i="1" dirty="0" smtClean="0">
                                <a:latin typeface="Cambria Math" panose="02040503050406030204" pitchFamily="18" charset="0"/>
                              </a:rPr>
                              <m:t>𝑃𝑅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r>
                              <a:rPr lang="en-US" altLang="zh-CN" b="0" i="1" dirty="0" smtClean="0">
                                <a:latin typeface="Cambria Math" panose="02040503050406030204" pitchFamily="18" charset="0"/>
                              </a:rPr>
                              <m:t>)</m:t>
                            </m:r>
                          </m:e>
                          <m:e>
                            <m:r>
                              <a:rPr lang="en-US" altLang="zh-CN" b="0" i="1" dirty="0" smtClean="0">
                                <a:latin typeface="Cambria Math" panose="02040503050406030204" pitchFamily="18" charset="0"/>
                              </a:rPr>
                              <m:t>𝑃𝑅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r>
                              <a:rPr lang="en-US" altLang="zh-CN" b="0" i="1" dirty="0" smtClean="0">
                                <a:latin typeface="Cambria Math" panose="02040503050406030204" pitchFamily="18" charset="0"/>
                              </a:rPr>
                              <m:t>)</m:t>
                            </m:r>
                          </m:e>
                        </m:eqArr>
                      </m:e>
                    </m:d>
                    <m:r>
                      <a:rPr lang="en-US" altLang="zh-CN" b="0" i="1" dirty="0">
                        <a:latin typeface="Cambria Math" panose="02040503050406030204" pitchFamily="18" charset="0"/>
                      </a:rPr>
                      <m:t>=</m:t>
                    </m:r>
                    <m:d>
                      <m:dPr>
                        <m:begChr m:val="["/>
                        <m:endChr m:val="]"/>
                        <m:ctrlPr>
                          <a:rPr lang="en-US" altLang="zh-CN" b="0" i="1" dirty="0">
                            <a:latin typeface="Cambria Math" panose="02040503050406030204" pitchFamily="18" charset="0"/>
                          </a:rPr>
                        </m:ctrlPr>
                      </m:dPr>
                      <m:e>
                        <m:m>
                          <m:mPr>
                            <m:mcs>
                              <m:mc>
                                <m:mcPr>
                                  <m:count m:val="1"/>
                                  <m:mcJc m:val="center"/>
                                </m:mcPr>
                              </m:mc>
                            </m:mcs>
                            <m:ctrlPr>
                              <a:rPr lang="en-US" altLang="zh-CN" b="0" i="1" dirty="0">
                                <a:latin typeface="Cambria Math" panose="02040503050406030204" pitchFamily="18" charset="0"/>
                              </a:rPr>
                            </m:ctrlPr>
                          </m:mPr>
                          <m:mr>
                            <m:e>
                              <m:r>
                                <m:rPr>
                                  <m:brk m:alnAt="7"/>
                                </m:rPr>
                                <a:rPr lang="en-US" altLang="zh-CN" b="0" i="1" dirty="0">
                                  <a:latin typeface="Cambria Math" panose="02040503050406030204" pitchFamily="18" charset="0"/>
                                </a:rPr>
                                <m:t>1</m:t>
                              </m:r>
                              <m:r>
                                <a:rPr lang="en-US" altLang="zh-CN" b="0" i="1" dirty="0">
                                  <a:latin typeface="Cambria Math" panose="02040503050406030204" pitchFamily="18" charset="0"/>
                                </a:rPr>
                                <m:t>/</m:t>
                              </m:r>
                              <m:r>
                                <a:rPr lang="en-US" altLang="zh-CN" b="0" i="1" dirty="0">
                                  <a:latin typeface="Cambria Math" panose="02040503050406030204" pitchFamily="18" charset="0"/>
                                </a:rPr>
                                <m:t>4</m:t>
                              </m:r>
                            </m:e>
                          </m:mr>
                          <m:mr>
                            <m:e>
                              <m:r>
                                <a:rPr lang="en-US" altLang="zh-CN" b="0" i="1" dirty="0">
                                  <a:latin typeface="Cambria Math" panose="02040503050406030204" pitchFamily="18" charset="0"/>
                                </a:rPr>
                                <m:t>1</m:t>
                              </m:r>
                              <m:r>
                                <a:rPr lang="en-US" altLang="zh-CN" b="0" i="1" dirty="0">
                                  <a:latin typeface="Cambria Math" panose="02040503050406030204" pitchFamily="18" charset="0"/>
                                </a:rPr>
                                <m:t>/</m:t>
                              </m:r>
                              <m:r>
                                <a:rPr lang="en-US" altLang="zh-CN" b="0" i="1" dirty="0">
                                  <a:latin typeface="Cambria Math" panose="02040503050406030204" pitchFamily="18" charset="0"/>
                                </a:rPr>
                                <m:t>4</m:t>
                              </m:r>
                            </m:e>
                          </m:mr>
                          <m:mr>
                            <m:e>
                              <m:r>
                                <a:rPr lang="en-US" altLang="zh-CN" b="0" i="1" dirty="0">
                                  <a:latin typeface="Cambria Math" panose="02040503050406030204" pitchFamily="18" charset="0"/>
                                </a:rPr>
                                <m:t>1</m:t>
                              </m:r>
                              <m:r>
                                <a:rPr lang="en-US" altLang="zh-CN" b="0" i="1" dirty="0">
                                  <a:latin typeface="Cambria Math" panose="02040503050406030204" pitchFamily="18" charset="0"/>
                                </a:rPr>
                                <m:t>/</m:t>
                              </m:r>
                              <m:r>
                                <a:rPr lang="en-US" altLang="zh-CN" b="0" i="1" dirty="0">
                                  <a:latin typeface="Cambria Math" panose="02040503050406030204" pitchFamily="18" charset="0"/>
                                </a:rPr>
                                <m:t>4</m:t>
                              </m:r>
                            </m:e>
                          </m:mr>
                          <m:mr>
                            <m:e>
                              <m:r>
                                <a:rPr lang="en-US" altLang="zh-CN" b="0" i="1" dirty="0">
                                  <a:latin typeface="Cambria Math" panose="02040503050406030204" pitchFamily="18" charset="0"/>
                                </a:rPr>
                                <m:t>1</m:t>
                              </m:r>
                              <m:r>
                                <a:rPr lang="en-US" altLang="zh-CN" b="0" i="1" dirty="0">
                                  <a:latin typeface="Cambria Math" panose="02040503050406030204" pitchFamily="18" charset="0"/>
                                </a:rPr>
                                <m:t>/</m:t>
                              </m:r>
                              <m:r>
                                <a:rPr lang="en-US" altLang="zh-CN" b="0" i="1" dirty="0">
                                  <a:latin typeface="Cambria Math" panose="02040503050406030204" pitchFamily="18" charset="0"/>
                                </a:rPr>
                                <m:t>4</m:t>
                              </m:r>
                            </m:e>
                          </m:mr>
                        </m:m>
                      </m:e>
                    </m:d>
                  </m:oMath>
                </a14:m>
                <a:r>
                  <a:rPr lang="zh-CN" altLang="en-US" b="0" dirty="0"/>
                  <a:t>，</a:t>
                </a:r>
                <a:r>
                  <a:rPr lang="en-US" altLang="zh-CN" b="0" dirty="0"/>
                  <a:t> </a:t>
                </a:r>
                <a14:m>
                  <m:oMath xmlns:m="http://schemas.openxmlformats.org/officeDocument/2006/math">
                    <m:d>
                      <m:dPr>
                        <m:begChr m:val="["/>
                        <m:endChr m:val="]"/>
                        <m:ctrlPr>
                          <a:rPr lang="en-US" altLang="zh-CN" b="0" i="1" dirty="0">
                            <a:latin typeface="Cambria Math" panose="02040503050406030204" pitchFamily="18" charset="0"/>
                          </a:rPr>
                        </m:ctrlPr>
                      </m:dPr>
                      <m:e>
                        <m:m>
                          <m:mPr>
                            <m:mcs>
                              <m:mc>
                                <m:mcPr>
                                  <m:count m:val="1"/>
                                  <m:mcJc m:val="center"/>
                                </m:mcPr>
                              </m:mc>
                            </m:mcs>
                            <m:ctrlPr>
                              <a:rPr lang="en-US" altLang="zh-CN" b="0" i="1" dirty="0">
                                <a:latin typeface="Cambria Math" panose="02040503050406030204" pitchFamily="18" charset="0"/>
                              </a:rPr>
                            </m:ctrlPr>
                          </m:mPr>
                          <m:mr>
                            <m:e>
                              <m:r>
                                <a:rPr lang="en-US" altLang="zh-CN" b="0" i="1" dirty="0" smtClean="0">
                                  <a:latin typeface="Cambria Math" panose="02040503050406030204" pitchFamily="18" charset="0"/>
                                </a:rPr>
                                <m:t>9</m:t>
                              </m:r>
                              <m:r>
                                <a:rPr lang="en-US" altLang="zh-CN" b="0" i="1" dirty="0">
                                  <a:latin typeface="Cambria Math" panose="02040503050406030204" pitchFamily="18" charset="0"/>
                                </a:rPr>
                                <m:t>/</m:t>
                              </m:r>
                              <m:r>
                                <a:rPr lang="en-US" altLang="zh-CN" b="0" i="1" dirty="0" smtClean="0">
                                  <a:latin typeface="Cambria Math" panose="02040503050406030204" pitchFamily="18" charset="0"/>
                                </a:rPr>
                                <m:t>60</m:t>
                              </m:r>
                            </m:e>
                          </m:mr>
                          <m:mr>
                            <m:e>
                              <m:r>
                                <a:rPr lang="en-US" altLang="zh-CN" b="0" i="1" dirty="0" smtClean="0">
                                  <a:latin typeface="Cambria Math" panose="02040503050406030204" pitchFamily="18" charset="0"/>
                                </a:rPr>
                                <m:t>13</m:t>
                              </m:r>
                              <m:r>
                                <a:rPr lang="en-US" altLang="zh-CN" b="0" i="1" dirty="0">
                                  <a:latin typeface="Cambria Math" panose="02040503050406030204" pitchFamily="18" charset="0"/>
                                </a:rPr>
                                <m:t>/</m:t>
                              </m:r>
                              <m:r>
                                <a:rPr lang="en-US" altLang="zh-CN" b="0" i="1" dirty="0">
                                  <a:latin typeface="Cambria Math" panose="02040503050406030204" pitchFamily="18" charset="0"/>
                                </a:rPr>
                                <m:t>60</m:t>
                              </m:r>
                            </m:e>
                          </m:mr>
                          <m:mr>
                            <m:e>
                              <m:r>
                                <a:rPr lang="en-US" altLang="zh-CN" b="0" i="1" dirty="0" smtClean="0">
                                  <a:latin typeface="Cambria Math" panose="02040503050406030204" pitchFamily="18" charset="0"/>
                                </a:rPr>
                                <m:t>25</m:t>
                              </m:r>
                              <m:r>
                                <a:rPr lang="en-US" altLang="zh-CN" b="0" i="1" dirty="0">
                                  <a:latin typeface="Cambria Math" panose="02040503050406030204" pitchFamily="18" charset="0"/>
                                </a:rPr>
                                <m:t>/</m:t>
                              </m:r>
                              <m:r>
                                <a:rPr lang="en-US" altLang="zh-CN" b="0" i="1" dirty="0">
                                  <a:latin typeface="Cambria Math" panose="02040503050406030204" pitchFamily="18" charset="0"/>
                                </a:rPr>
                                <m:t>60</m:t>
                              </m:r>
                            </m:e>
                          </m:mr>
                          <m:mr>
                            <m:e>
                              <m:r>
                                <a:rPr lang="en-US" altLang="zh-CN" b="0" i="1" dirty="0" smtClean="0">
                                  <a:latin typeface="Cambria Math" panose="02040503050406030204" pitchFamily="18" charset="0"/>
                                </a:rPr>
                                <m:t>13</m:t>
                              </m:r>
                              <m:r>
                                <a:rPr lang="en-US" altLang="zh-CN" b="0" i="1" dirty="0" smtClean="0">
                                  <a:latin typeface="Cambria Math" panose="02040503050406030204" pitchFamily="18" charset="0"/>
                                </a:rPr>
                                <m:t>/</m:t>
                              </m:r>
                              <m:r>
                                <a:rPr lang="en-US" altLang="zh-CN" b="0" i="1" dirty="0">
                                  <a:latin typeface="Cambria Math" panose="02040503050406030204" pitchFamily="18" charset="0"/>
                                </a:rPr>
                                <m:t>60</m:t>
                              </m:r>
                            </m:e>
                          </m:mr>
                        </m:m>
                      </m:e>
                    </m:d>
                  </m:oMath>
                </a14:m>
                <a:r>
                  <a:rPr lang="zh-CN" altLang="en-US" b="0" dirty="0"/>
                  <a:t>，</a:t>
                </a:r>
                <a:r>
                  <a:rPr lang="en-US" altLang="zh-CN" b="0" dirty="0"/>
                  <a:t> </a:t>
                </a:r>
                <a14:m>
                  <m:oMath xmlns:m="http://schemas.openxmlformats.org/officeDocument/2006/math">
                    <m:d>
                      <m:dPr>
                        <m:begChr m:val="["/>
                        <m:endChr m:val="]"/>
                        <m:ctrlPr>
                          <a:rPr lang="en-US" altLang="zh-CN" b="0" i="1" dirty="0">
                            <a:latin typeface="Cambria Math" panose="02040503050406030204" pitchFamily="18" charset="0"/>
                          </a:rPr>
                        </m:ctrlPr>
                      </m:dPr>
                      <m:e>
                        <m:m>
                          <m:mPr>
                            <m:mcs>
                              <m:mc>
                                <m:mcPr>
                                  <m:count m:val="1"/>
                                  <m:mcJc m:val="center"/>
                                </m:mcPr>
                              </m:mc>
                            </m:mcs>
                            <m:ctrlPr>
                              <a:rPr lang="en-US" altLang="zh-CN" b="0" i="1" dirty="0">
                                <a:latin typeface="Cambria Math" panose="02040503050406030204" pitchFamily="18" charset="0"/>
                              </a:rPr>
                            </m:ctrlPr>
                          </m:mPr>
                          <m:mr>
                            <m:e>
                              <m:r>
                                <m:rPr>
                                  <m:brk m:alnAt="7"/>
                                </m:rPr>
                                <a:rPr lang="en-US" altLang="zh-CN" b="0" i="1" dirty="0" smtClean="0">
                                  <a:latin typeface="Cambria Math" panose="02040503050406030204" pitchFamily="18" charset="0"/>
                                </a:rPr>
                                <m:t>4</m:t>
                              </m:r>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r>
                                <a:rPr lang="en-US" altLang="zh-CN" b="0" i="1" dirty="0">
                                  <a:latin typeface="Cambria Math" panose="02040503050406030204" pitchFamily="18" charset="0"/>
                                </a:rPr>
                                <m:t>3</m:t>
                              </m:r>
                              <m:r>
                                <a:rPr lang="en-US" altLang="zh-CN" b="0" i="1" dirty="0" smtClean="0">
                                  <a:latin typeface="Cambria Math" panose="02040503050406030204" pitchFamily="18" charset="0"/>
                                </a:rPr>
                                <m:t>00</m:t>
                              </m:r>
                            </m:e>
                          </m:mr>
                          <m:mr>
                            <m:e>
                              <m:r>
                                <a:rPr lang="en-US" altLang="zh-CN" b="0" i="1" dirty="0" smtClean="0">
                                  <a:latin typeface="Cambria Math" panose="02040503050406030204" pitchFamily="18" charset="0"/>
                                </a:rPr>
                                <m:t>53</m:t>
                              </m:r>
                              <m:r>
                                <a:rPr lang="en-US" altLang="zh-CN" b="0" i="1" dirty="0">
                                  <a:latin typeface="Cambria Math" panose="02040503050406030204" pitchFamily="18" charset="0"/>
                                </a:rPr>
                                <m:t>/</m:t>
                              </m:r>
                              <m:r>
                                <a:rPr lang="en-US" altLang="zh-CN" b="0" i="1" dirty="0">
                                  <a:latin typeface="Cambria Math" panose="02040503050406030204" pitchFamily="18" charset="0"/>
                                </a:rPr>
                                <m:t>300</m:t>
                              </m:r>
                            </m:e>
                          </m:mr>
                          <m:mr>
                            <m:e>
                              <m:r>
                                <a:rPr lang="en-US" altLang="zh-CN" b="0" i="1" dirty="0" smtClean="0">
                                  <a:latin typeface="Cambria Math" panose="02040503050406030204" pitchFamily="18" charset="0"/>
                                </a:rPr>
                                <m:t>153</m:t>
                              </m:r>
                              <m:r>
                                <a:rPr lang="en-US" altLang="zh-CN" b="0" i="1" dirty="0">
                                  <a:latin typeface="Cambria Math" panose="02040503050406030204" pitchFamily="18" charset="0"/>
                                </a:rPr>
                                <m:t>/</m:t>
                              </m:r>
                              <m:r>
                                <a:rPr lang="en-US" altLang="zh-CN" b="0" i="1" dirty="0">
                                  <a:latin typeface="Cambria Math" panose="02040503050406030204" pitchFamily="18" charset="0"/>
                                </a:rPr>
                                <m:t>300</m:t>
                              </m:r>
                            </m:e>
                          </m:mr>
                          <m:mr>
                            <m:e>
                              <m:r>
                                <a:rPr lang="en-US" altLang="zh-CN" b="0" i="1" dirty="0" smtClean="0">
                                  <a:latin typeface="Cambria Math" panose="02040503050406030204" pitchFamily="18" charset="0"/>
                                </a:rPr>
                                <m:t>53</m:t>
                              </m:r>
                              <m:r>
                                <a:rPr lang="en-US" altLang="zh-CN" b="0" i="1" dirty="0">
                                  <a:latin typeface="Cambria Math" panose="02040503050406030204" pitchFamily="18" charset="0"/>
                                </a:rPr>
                                <m:t>/</m:t>
                              </m:r>
                              <m:r>
                                <a:rPr lang="en-US" altLang="zh-CN" b="0" i="1" dirty="0">
                                  <a:latin typeface="Cambria Math" panose="02040503050406030204" pitchFamily="18" charset="0"/>
                                </a:rPr>
                                <m:t>300</m:t>
                              </m:r>
                            </m:e>
                          </m:mr>
                        </m:m>
                      </m:e>
                    </m:d>
                  </m:oMath>
                </a14:m>
                <a:r>
                  <a:rPr lang="zh-CN" altLang="en-US" b="0" dirty="0"/>
                  <a:t>，</a:t>
                </a:r>
                <a:r>
                  <a:rPr lang="en-US" altLang="zh-CN" b="0" dirty="0"/>
                  <a:t> </a:t>
                </a:r>
                <a14:m>
                  <m:oMath xmlns:m="http://schemas.openxmlformats.org/officeDocument/2006/math">
                    <m:d>
                      <m:dPr>
                        <m:begChr m:val="["/>
                        <m:endChr m:val="]"/>
                        <m:ctrlPr>
                          <a:rPr lang="en-US" altLang="zh-CN" b="0" i="1" dirty="0">
                            <a:latin typeface="Cambria Math" panose="02040503050406030204" pitchFamily="18" charset="0"/>
                          </a:rPr>
                        </m:ctrlPr>
                      </m:dPr>
                      <m:e>
                        <m:m>
                          <m:mPr>
                            <m:mcs>
                              <m:mc>
                                <m:mcPr>
                                  <m:count m:val="1"/>
                                  <m:mcJc m:val="center"/>
                                </m:mcPr>
                              </m:mc>
                            </m:mcs>
                            <m:ctrlPr>
                              <a:rPr lang="en-US" altLang="zh-CN" b="0" i="1" dirty="0">
                                <a:latin typeface="Cambria Math" panose="02040503050406030204" pitchFamily="18" charset="0"/>
                              </a:rPr>
                            </m:ctrlPr>
                          </m:mPr>
                          <m:mr>
                            <m:e>
                              <m:r>
                                <m:rPr>
                                  <m:brk m:alnAt="7"/>
                                </m:rPr>
                                <a:rPr lang="en-US" altLang="zh-CN" b="0" i="1" dirty="0" smtClean="0">
                                  <a:latin typeface="Cambria Math" panose="02040503050406030204" pitchFamily="18" charset="0"/>
                                </a:rPr>
                                <m:t>5</m:t>
                              </m:r>
                              <m:r>
                                <a:rPr lang="en-US" altLang="zh-CN" b="0" i="1" dirty="0" smtClean="0">
                                  <a:latin typeface="Cambria Math" panose="02040503050406030204" pitchFamily="18" charset="0"/>
                                </a:rPr>
                                <m:t>43</m:t>
                              </m:r>
                              <m:r>
                                <a:rPr lang="en-US" altLang="zh-CN" b="0" i="1" dirty="0">
                                  <a:latin typeface="Cambria Math" panose="02040503050406030204" pitchFamily="18" charset="0"/>
                                </a:rPr>
                                <m:t>/</m:t>
                              </m:r>
                              <m:r>
                                <a:rPr lang="en-US" altLang="zh-CN" b="0" i="1" dirty="0">
                                  <a:latin typeface="Cambria Math" panose="02040503050406030204" pitchFamily="18" charset="0"/>
                                </a:rPr>
                                <m:t>4</m:t>
                              </m:r>
                              <m:r>
                                <a:rPr lang="en-US" altLang="zh-CN" b="0" i="1" dirty="0" smtClean="0">
                                  <a:latin typeface="Cambria Math" panose="02040503050406030204" pitchFamily="18" charset="0"/>
                                </a:rPr>
                                <m:t>500</m:t>
                              </m:r>
                            </m:e>
                          </m:mr>
                          <m:mr>
                            <m:e>
                              <m:r>
                                <a:rPr lang="en-US" altLang="zh-CN" b="0" i="1" dirty="0" smtClean="0">
                                  <a:latin typeface="Cambria Math" panose="02040503050406030204" pitchFamily="18" charset="0"/>
                                </a:rPr>
                                <m:t>707</m:t>
                              </m:r>
                              <m:r>
                                <a:rPr lang="en-US" altLang="zh-CN" b="0" i="1" dirty="0">
                                  <a:latin typeface="Cambria Math" panose="02040503050406030204" pitchFamily="18" charset="0"/>
                                </a:rPr>
                                <m:t>/</m:t>
                              </m:r>
                              <m:r>
                                <a:rPr lang="en-US" altLang="zh-CN" b="0" i="1" dirty="0">
                                  <a:latin typeface="Cambria Math" panose="02040503050406030204" pitchFamily="18" charset="0"/>
                                </a:rPr>
                                <m:t>4500</m:t>
                              </m:r>
                            </m:e>
                          </m:mr>
                          <m:mr>
                            <m:e>
                              <m:r>
                                <a:rPr lang="en-US" altLang="zh-CN" b="0" i="1" dirty="0" smtClean="0">
                                  <a:latin typeface="Cambria Math" panose="02040503050406030204" pitchFamily="18" charset="0"/>
                                </a:rPr>
                                <m:t>2</m:t>
                              </m:r>
                              <m:r>
                                <m:rPr>
                                  <m:brk m:alnAt="7"/>
                                </m:rPr>
                                <a:rPr lang="en-US" altLang="zh-CN" b="0" i="1" dirty="0">
                                  <a:latin typeface="Cambria Math" panose="02040503050406030204" pitchFamily="18" charset="0"/>
                                </a:rPr>
                                <m:t>5</m:t>
                              </m:r>
                              <m:r>
                                <a:rPr lang="en-US" altLang="zh-CN" b="0" i="1" dirty="0">
                                  <a:latin typeface="Cambria Math" panose="02040503050406030204" pitchFamily="18" charset="0"/>
                                </a:rPr>
                                <m:t>43</m:t>
                              </m:r>
                              <m:r>
                                <a:rPr lang="en-US" altLang="zh-CN" b="0" i="1" dirty="0">
                                  <a:latin typeface="Cambria Math" panose="02040503050406030204" pitchFamily="18" charset="0"/>
                                </a:rPr>
                                <m:t>/</m:t>
                              </m:r>
                              <m:r>
                                <a:rPr lang="en-US" altLang="zh-CN" b="0" i="1" dirty="0">
                                  <a:latin typeface="Cambria Math" panose="02040503050406030204" pitchFamily="18" charset="0"/>
                                </a:rPr>
                                <m:t>4500</m:t>
                              </m:r>
                            </m:e>
                          </m:mr>
                          <m:mr>
                            <m:e>
                              <m:r>
                                <a:rPr lang="en-US" altLang="zh-CN" b="0" i="1" dirty="0" smtClean="0">
                                  <a:latin typeface="Cambria Math" panose="02040503050406030204" pitchFamily="18" charset="0"/>
                                </a:rPr>
                                <m:t>707</m:t>
                              </m:r>
                              <m:r>
                                <a:rPr lang="en-US" altLang="zh-CN" b="0" i="1" dirty="0">
                                  <a:latin typeface="Cambria Math" panose="02040503050406030204" pitchFamily="18" charset="0"/>
                                </a:rPr>
                                <m:t>/</m:t>
                              </m:r>
                              <m:r>
                                <a:rPr lang="en-US" altLang="zh-CN" b="0" i="1" dirty="0">
                                  <a:latin typeface="Cambria Math" panose="02040503050406030204" pitchFamily="18" charset="0"/>
                                </a:rPr>
                                <m:t>4500</m:t>
                              </m:r>
                            </m:e>
                          </m:mr>
                        </m:m>
                      </m:e>
                    </m:d>
                  </m:oMath>
                </a14:m>
                <a:r>
                  <a:rPr lang="zh-CN" altLang="en-US" b="0" dirty="0"/>
                  <a:t>，</a:t>
                </a:r>
                <a:r>
                  <a:rPr lang="en-US" altLang="zh-CN" b="0" dirty="0"/>
                  <a:t>…</a:t>
                </a:r>
                <a:r>
                  <a:rPr lang="zh-CN" altLang="en-US" b="0" dirty="0"/>
                  <a:t>，</a:t>
                </a:r>
                <a:r>
                  <a:rPr lang="en-US" altLang="zh-CN" b="0" dirty="0"/>
                  <a:t> </a:t>
                </a:r>
                <a14:m>
                  <m:oMath xmlns:m="http://schemas.openxmlformats.org/officeDocument/2006/math">
                    <m:d>
                      <m:dPr>
                        <m:begChr m:val="["/>
                        <m:endChr m:val="]"/>
                        <m:ctrlPr>
                          <a:rPr lang="en-US" altLang="zh-CN" b="0" i="1" dirty="0">
                            <a:latin typeface="Cambria Math" panose="02040503050406030204" pitchFamily="18" charset="0"/>
                          </a:rPr>
                        </m:ctrlPr>
                      </m:dPr>
                      <m:e>
                        <m:m>
                          <m:mPr>
                            <m:mcs>
                              <m:mc>
                                <m:mcPr>
                                  <m:count m:val="1"/>
                                  <m:mcJc m:val="center"/>
                                </m:mcPr>
                              </m:mc>
                            </m:mcs>
                            <m:ctrlPr>
                              <a:rPr lang="en-US" altLang="zh-CN" b="0" i="1" dirty="0">
                                <a:latin typeface="Cambria Math" panose="02040503050406030204" pitchFamily="18" charset="0"/>
                              </a:rPr>
                            </m:ctrlPr>
                          </m:mPr>
                          <m:mr>
                            <m:e>
                              <m:r>
                                <m:rPr>
                                  <m:brk m:alnAt="7"/>
                                </m:rPr>
                                <a:rPr lang="en-US" altLang="zh-CN" b="0" i="1" dirty="0">
                                  <a:latin typeface="Cambria Math" panose="02040503050406030204" pitchFamily="18" charset="0"/>
                                </a:rPr>
                                <m:t>1</m:t>
                              </m:r>
                              <m:r>
                                <a:rPr lang="en-US" altLang="zh-CN" b="0" i="1" dirty="0" smtClean="0">
                                  <a:latin typeface="Cambria Math" panose="02040503050406030204" pitchFamily="18" charset="0"/>
                                </a:rPr>
                                <m:t>5</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148</m:t>
                              </m:r>
                            </m:e>
                          </m:mr>
                          <m:mr>
                            <m:e>
                              <m:r>
                                <a:rPr lang="en-US" altLang="zh-CN" b="0" i="1" dirty="0">
                                  <a:latin typeface="Cambria Math" panose="02040503050406030204" pitchFamily="18" charset="0"/>
                                </a:rPr>
                                <m:t>1</m:t>
                              </m:r>
                              <m:r>
                                <a:rPr lang="en-US" altLang="zh-CN" b="0" i="1" dirty="0" smtClean="0">
                                  <a:latin typeface="Cambria Math" panose="02040503050406030204" pitchFamily="18" charset="0"/>
                                </a:rPr>
                                <m:t>9</m:t>
                              </m:r>
                              <m:r>
                                <a:rPr lang="en-US" altLang="zh-CN" b="0" i="1" dirty="0">
                                  <a:latin typeface="Cambria Math" panose="02040503050406030204" pitchFamily="18" charset="0"/>
                                </a:rPr>
                                <m:t>/</m:t>
                              </m:r>
                              <m:r>
                                <a:rPr lang="en-US" altLang="zh-CN" b="0" i="1" dirty="0" smtClean="0">
                                  <a:latin typeface="Cambria Math" panose="02040503050406030204" pitchFamily="18" charset="0"/>
                                </a:rPr>
                                <m:t>1</m:t>
                              </m:r>
                              <m:r>
                                <a:rPr lang="en-US" altLang="zh-CN" b="0" i="1" dirty="0">
                                  <a:latin typeface="Cambria Math" panose="02040503050406030204" pitchFamily="18" charset="0"/>
                                </a:rPr>
                                <m:t>4</m:t>
                              </m:r>
                              <m:r>
                                <a:rPr lang="en-US" altLang="zh-CN" b="0" i="1" dirty="0" smtClean="0">
                                  <a:latin typeface="Cambria Math" panose="02040503050406030204" pitchFamily="18" charset="0"/>
                                </a:rPr>
                                <m:t>8</m:t>
                              </m:r>
                            </m:e>
                          </m:mr>
                          <m:mr>
                            <m:e>
                              <m:r>
                                <a:rPr lang="en-US" altLang="zh-CN" b="0" i="1" dirty="0" smtClean="0">
                                  <a:solidFill>
                                    <a:srgbClr val="FF0000"/>
                                  </a:solidFill>
                                  <a:latin typeface="Cambria Math" panose="02040503050406030204" pitchFamily="18" charset="0"/>
                                </a:rPr>
                                <m:t>95</m:t>
                              </m:r>
                              <m:r>
                                <a:rPr lang="en-US" altLang="zh-CN" b="0" i="1" dirty="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rPr>
                                <m:t>1</m:t>
                              </m:r>
                              <m:r>
                                <a:rPr lang="en-US" altLang="zh-CN" b="0" i="1" dirty="0">
                                  <a:solidFill>
                                    <a:srgbClr val="FF0000"/>
                                  </a:solidFill>
                                  <a:latin typeface="Cambria Math" panose="02040503050406030204" pitchFamily="18" charset="0"/>
                                </a:rPr>
                                <m:t>4</m:t>
                              </m:r>
                              <m:r>
                                <a:rPr lang="en-US" altLang="zh-CN" b="0" i="1" dirty="0" smtClean="0">
                                  <a:solidFill>
                                    <a:srgbClr val="FF0000"/>
                                  </a:solidFill>
                                  <a:latin typeface="Cambria Math" panose="02040503050406030204" pitchFamily="18" charset="0"/>
                                </a:rPr>
                                <m:t>8</m:t>
                              </m:r>
                            </m:e>
                          </m:mr>
                          <m:mr>
                            <m:e>
                              <m:r>
                                <a:rPr lang="en-US" altLang="zh-CN" b="0" i="1" dirty="0">
                                  <a:latin typeface="Cambria Math" panose="02040503050406030204" pitchFamily="18" charset="0"/>
                                </a:rPr>
                                <m:t>1</m:t>
                              </m:r>
                              <m:r>
                                <a:rPr lang="en-US" altLang="zh-CN" b="0" i="1" dirty="0" smtClean="0">
                                  <a:latin typeface="Cambria Math" panose="02040503050406030204" pitchFamily="18" charset="0"/>
                                </a:rPr>
                                <m:t>9</m:t>
                              </m:r>
                              <m:r>
                                <a:rPr lang="en-US" altLang="zh-CN" b="0" i="1" dirty="0">
                                  <a:latin typeface="Cambria Math" panose="02040503050406030204" pitchFamily="18" charset="0"/>
                                </a:rPr>
                                <m:t>/</m:t>
                              </m:r>
                              <m:r>
                                <a:rPr lang="en-US" altLang="zh-CN" b="0" i="1" dirty="0" smtClean="0">
                                  <a:latin typeface="Cambria Math" panose="02040503050406030204" pitchFamily="18" charset="0"/>
                                </a:rPr>
                                <m:t>1</m:t>
                              </m:r>
                              <m:r>
                                <a:rPr lang="en-US" altLang="zh-CN" b="0" i="1" dirty="0">
                                  <a:latin typeface="Cambria Math" panose="02040503050406030204" pitchFamily="18" charset="0"/>
                                </a:rPr>
                                <m:t>4</m:t>
                              </m:r>
                              <m:r>
                                <a:rPr lang="en-US" altLang="zh-CN" b="0" i="1" dirty="0" smtClean="0">
                                  <a:latin typeface="Cambria Math" panose="02040503050406030204" pitchFamily="18" charset="0"/>
                                </a:rPr>
                                <m:t>8</m:t>
                              </m:r>
                            </m:e>
                          </m:mr>
                        </m:m>
                      </m:e>
                    </m:d>
                  </m:oMath>
                </a14:m>
                <a:endParaRPr lang="en-US" altLang="zh-CN" b="0" dirty="0"/>
              </a:p>
              <a:p>
                <a:pPr algn="just">
                  <a:lnSpc>
                    <a:spcPct val="150000"/>
                  </a:lnSpc>
                </a:pPr>
                <a:r>
                  <a:rPr lang="en-US" altLang="zh-CN" b="0" dirty="0"/>
                  <a:t>                </a:t>
                </a:r>
                <a14:m>
                  <m:oMath xmlns:m="http://schemas.openxmlformats.org/officeDocument/2006/math">
                    <m:sSub>
                      <m:sSubPr>
                        <m:ctrlPr>
                          <a:rPr lang="en-US" altLang="zh-CN" b="0" i="1" dirty="0">
                            <a:latin typeface="Cambria Math" panose="02040503050406030204" pitchFamily="18" charset="0"/>
                          </a:rPr>
                        </m:ctrlPr>
                      </m:sSubPr>
                      <m:e>
                        <m:r>
                          <a:rPr lang="en-US" altLang="zh-CN" b="0" i="1" dirty="0">
                            <a:latin typeface="Cambria Math" panose="02040503050406030204" pitchFamily="18" charset="0"/>
                          </a:rPr>
                          <m:t>𝑅</m:t>
                        </m:r>
                      </m:e>
                      <m:sub>
                        <m:r>
                          <a:rPr lang="en-US" altLang="zh-CN" b="0" i="1" dirty="0">
                            <a:latin typeface="Cambria Math" panose="02040503050406030204" pitchFamily="18" charset="0"/>
                          </a:rPr>
                          <m:t>0</m:t>
                        </m:r>
                      </m:sub>
                    </m:sSub>
                  </m:oMath>
                </a14:m>
                <a:r>
                  <a:rPr lang="zh-CN" altLang="en-US" b="0"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1</m:t>
                        </m:r>
                      </m:sub>
                    </m:sSub>
                  </m:oMath>
                </a14:m>
                <a:r>
                  <a:rPr lang="zh-CN" altLang="en-US" b="0"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2</m:t>
                        </m:r>
                      </m:sub>
                    </m:sSub>
                  </m:oMath>
                </a14:m>
                <a:r>
                  <a:rPr lang="zh-CN" altLang="en-US" b="0"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3</m:t>
                        </m:r>
                      </m:sub>
                    </m:sSub>
                  </m:oMath>
                </a14:m>
                <a:r>
                  <a:rPr lang="zh-CN" altLang="en-US" b="0" dirty="0"/>
                  <a:t>          </a:t>
                </a:r>
                <a:r>
                  <a:rPr lang="en-US" altLang="zh-CN" b="0" dirty="0"/>
                  <a:t>…</a:t>
                </a:r>
                <a:r>
                  <a:rPr lang="zh-CN" altLang="en-US" b="0"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ea typeface="Cambria Math" panose="02040503050406030204" pitchFamily="18" charset="0"/>
                          </a:rPr>
                          <m:t>∞</m:t>
                        </m:r>
                      </m:sub>
                    </m:sSub>
                  </m:oMath>
                </a14:m>
                <a:endParaRPr lang="zh-CN" altLang="en-US" b="0" dirty="0"/>
              </a:p>
            </p:txBody>
          </p:sp>
        </mc:Choice>
        <mc:Fallback>
          <p:sp>
            <p:nvSpPr>
              <p:cNvPr id="44" name="矩形 43"/>
              <p:cNvSpPr>
                <a:spLocks noRot="1" noChangeAspect="1" noMove="1" noResize="1" noEditPoints="1" noAdjustHandles="1" noChangeArrowheads="1" noChangeShapeType="1" noTextEdit="1"/>
              </p:cNvSpPr>
              <p:nvPr/>
            </p:nvSpPr>
            <p:spPr>
              <a:xfrm>
                <a:off x="724299" y="4684407"/>
                <a:ext cx="7695402" cy="1564595"/>
              </a:xfrm>
              <a:prstGeom prst="rect">
                <a:avLst/>
              </a:prstGeom>
              <a:blipFill rotWithShape="1">
                <a:blip r:embed="rId4"/>
                <a:stretch>
                  <a:fillRect l="-5" t="-1" r="3" b="38"/>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Group 49"/>
          <p:cNvGraphicFramePr>
            <a:graphicFrameLocks noGrp="1"/>
          </p:cNvGraphicFramePr>
          <p:nvPr>
            <p:ph idx="4294967295"/>
          </p:nvPr>
        </p:nvGraphicFramePr>
        <p:xfrm>
          <a:off x="5218113" y="3927475"/>
          <a:ext cx="3926788" cy="2466528"/>
        </p:xfrm>
        <a:graphic>
          <a:graphicData uri="http://schemas.openxmlformats.org/drawingml/2006/table">
            <a:tbl>
              <a:tblPr/>
              <a:tblGrid>
                <a:gridCol w="1645334"/>
                <a:gridCol w="2281454"/>
              </a:tblGrid>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1" i="0" u="none" strike="noStrike" cap="none" normalizeH="0" baseline="0" dirty="0">
                          <a:ln>
                            <a:noFill/>
                          </a:ln>
                          <a:solidFill>
                            <a:schemeClr val="bg1"/>
                          </a:solidFill>
                          <a:effectLst/>
                          <a:latin typeface="Calibri" panose="020F0502020204030204" pitchFamily="34" charset="0"/>
                          <a:ea typeface="宋体" panose="02010600030101010101" pitchFamily="2" charset="-122"/>
                          <a:cs typeface="Calibri" panose="020F0502020204030204" pitchFamily="34" charset="0"/>
                        </a:rPr>
                        <a:t>Size</a:t>
                      </a:r>
                      <a:endParaRPr kumimoji="0" lang="en-US" altLang="zh-CN" sz="2000" b="1" i="0" u="none" strike="noStrike" cap="none" normalizeH="0" baseline="0" dirty="0">
                        <a:ln>
                          <a:noFill/>
                        </a:ln>
                        <a:solidFill>
                          <a:schemeClr val="bg1"/>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00000"/>
                    </a:solid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1" i="0" u="none" strike="noStrike" cap="none" normalizeH="0" baseline="0" dirty="0">
                          <a:ln>
                            <a:noFill/>
                          </a:ln>
                          <a:solidFill>
                            <a:schemeClr val="bg1"/>
                          </a:solidFill>
                          <a:effectLst/>
                          <a:latin typeface="Calibri" panose="020F0502020204030204" pitchFamily="34" charset="0"/>
                          <a:ea typeface="宋体" panose="02010600030101010101" pitchFamily="2" charset="-122"/>
                          <a:cs typeface="Calibri" panose="020F0502020204030204" pitchFamily="34" charset="0"/>
                        </a:rPr>
                        <a:t>Iterations</a:t>
                      </a:r>
                      <a:endParaRPr kumimoji="0" lang="en-US" altLang="zh-CN" sz="2000" b="1" i="0" u="none" strike="noStrike" cap="none" normalizeH="0" baseline="0" dirty="0">
                        <a:ln>
                          <a:noFill/>
                        </a:ln>
                        <a:solidFill>
                          <a:schemeClr val="bg1"/>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C00000"/>
                    </a:solidFill>
                  </a:tcPr>
                </a:tc>
              </a:tr>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1000</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4</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r>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2000</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5</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r>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4000</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5</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r>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8000</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5</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noFill/>
                  </a:tcPr>
                </a:tc>
              </a:tr>
              <a:tr h="411088">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16000</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Verdana" panose="020B0604030504040204"/>
                          <a:ea typeface="宋体" panose="02010600030101010101" pitchFamily="2" charset="-122"/>
                        </a:defRPr>
                      </a:lvl1pPr>
                      <a:lvl2pPr marL="457200" algn="l" defTabSz="914400" rtl="0" eaLnBrk="1" latinLnBrk="0" hangingPunct="1">
                        <a:defRPr sz="1800" kern="1200">
                          <a:solidFill>
                            <a:schemeClr val="tx1"/>
                          </a:solidFill>
                          <a:latin typeface="Verdana" panose="020B0604030504040204"/>
                          <a:ea typeface="宋体" panose="02010600030101010101" pitchFamily="2" charset="-122"/>
                        </a:defRPr>
                      </a:lvl2pPr>
                      <a:lvl3pPr marL="914400" algn="l" defTabSz="914400" rtl="0" eaLnBrk="1" latinLnBrk="0" hangingPunct="1">
                        <a:defRPr sz="1800" kern="1200">
                          <a:solidFill>
                            <a:schemeClr val="tx1"/>
                          </a:solidFill>
                          <a:latin typeface="Verdana" panose="020B0604030504040204"/>
                          <a:ea typeface="宋体" panose="02010600030101010101" pitchFamily="2" charset="-122"/>
                        </a:defRPr>
                      </a:lvl3pPr>
                      <a:lvl4pPr marL="1371600" algn="l" defTabSz="914400" rtl="0" eaLnBrk="1" latinLnBrk="0" hangingPunct="1">
                        <a:defRPr sz="1800" kern="1200">
                          <a:solidFill>
                            <a:schemeClr val="tx1"/>
                          </a:solidFill>
                          <a:latin typeface="Verdana" panose="020B0604030504040204"/>
                          <a:ea typeface="宋体" panose="02010600030101010101" pitchFamily="2" charset="-122"/>
                        </a:defRPr>
                      </a:lvl4pPr>
                      <a:lvl5pPr marL="1828800" algn="l" defTabSz="914400" rtl="0" eaLnBrk="1" latinLnBrk="0" hangingPunct="1">
                        <a:defRPr sz="1800" kern="1200">
                          <a:solidFill>
                            <a:schemeClr val="tx1"/>
                          </a:solidFill>
                          <a:latin typeface="Verdana" panose="020B0604030504040204"/>
                          <a:ea typeface="宋体" panose="02010600030101010101" pitchFamily="2" charset="-122"/>
                        </a:defRPr>
                      </a:lvl5pPr>
                      <a:lvl6pPr marL="2286000" algn="l" defTabSz="914400" rtl="0" eaLnBrk="1" latinLnBrk="0" hangingPunct="1">
                        <a:defRPr sz="1800" kern="1200">
                          <a:solidFill>
                            <a:schemeClr val="tx1"/>
                          </a:solidFill>
                          <a:latin typeface="Verdana" panose="020B0604030504040204"/>
                          <a:ea typeface="宋体" panose="02010600030101010101" pitchFamily="2" charset="-122"/>
                        </a:defRPr>
                      </a:lvl6pPr>
                      <a:lvl7pPr marL="2743200" algn="l" defTabSz="914400" rtl="0" eaLnBrk="1" latinLnBrk="0" hangingPunct="1">
                        <a:defRPr sz="1800" kern="1200">
                          <a:solidFill>
                            <a:schemeClr val="tx1"/>
                          </a:solidFill>
                          <a:latin typeface="Verdana" panose="020B0604030504040204"/>
                          <a:ea typeface="宋体" panose="02010600030101010101" pitchFamily="2" charset="-122"/>
                        </a:defRPr>
                      </a:lvl7pPr>
                      <a:lvl8pPr marL="3200400" algn="l" defTabSz="914400" rtl="0" eaLnBrk="1" latinLnBrk="0" hangingPunct="1">
                        <a:defRPr sz="1800" kern="1200">
                          <a:solidFill>
                            <a:schemeClr val="tx1"/>
                          </a:solidFill>
                          <a:latin typeface="Verdana" panose="020B0604030504040204"/>
                          <a:ea typeface="宋体" panose="02010600030101010101" pitchFamily="2" charset="-122"/>
                        </a:defRPr>
                      </a:lvl8pPr>
                      <a:lvl9pPr marL="3657600" algn="l" defTabSz="914400" rtl="0" eaLnBrk="1" latinLnBrk="0" hangingPunct="1">
                        <a:defRPr sz="1800" kern="1200">
                          <a:solidFill>
                            <a:schemeClr val="tx1"/>
                          </a:solidFill>
                          <a:latin typeface="Verdana" panose="020B0604030504040204"/>
                          <a:ea typeface="宋体" panose="02010600030101010101" pitchFamily="2" charset="-122"/>
                        </a:defRPr>
                      </a:lvl9pPr>
                    </a:lstStyle>
                    <a:p>
                      <a:pPr marL="0" marR="0" lvl="0" indent="0" algn="ctr" defTabSz="914400" rtl="0" eaLnBrk="1" fontAlgn="base" latinLnBrk="0" hangingPunct="1">
                        <a:spcBef>
                          <a:spcPct val="20000"/>
                        </a:spcBef>
                        <a:spcAft>
                          <a:spcPct val="0"/>
                        </a:spcAft>
                        <a:buClrTx/>
                        <a:buSzTx/>
                        <a:buFontTx/>
                        <a:buNone/>
                      </a:pPr>
                      <a:r>
                        <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rPr>
                        <a:t>6</a:t>
                      </a:r>
                      <a:endParaRPr kumimoji="0" lang="en-US" altLang="zh-CN" sz="2000" b="0" i="0" u="none" strike="noStrike" cap="none" normalizeH="0" baseline="0" dirty="0">
                        <a:ln>
                          <a:noFill/>
                        </a:ln>
                        <a:solidFill>
                          <a:srgbClr val="C00000"/>
                        </a:solidFill>
                        <a:effectLst/>
                        <a:latin typeface="Calibri" panose="020F0502020204030204" pitchFamily="34" charset="0"/>
                        <a:ea typeface="宋体" panose="02010600030101010101" pitchFamily="2" charset="-122"/>
                        <a:cs typeface="Calibri" panose="020F0502020204030204" pitchFamily="34" charset="0"/>
                      </a:endParaRPr>
                    </a:p>
                  </a:txBody>
                  <a:tcP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
        <p:nvSpPr>
          <p:cNvPr id="6" name="Rectangle 3"/>
          <p:cNvSpPr txBox="1">
            <a:spLocks noChangeArrowheads="1"/>
          </p:cNvSpPr>
          <p:nvPr/>
        </p:nvSpPr>
        <p:spPr bwMode="auto">
          <a:xfrm>
            <a:off x="179512" y="1223726"/>
            <a:ext cx="8483416"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收敛</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0000FF"/>
              </a:buClr>
              <a:buFont typeface="Wingdings" panose="05000000000000000000" pitchFamily="2" charset="2"/>
              <a:buChar char="ü"/>
              <a:defRPr/>
            </a:pP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|Rank</a:t>
            </a:r>
            <a:r>
              <a:rPr lang="en-US" altLang="zh-CN" sz="2200" baseline="-250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i+1</a:t>
            </a: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 </a:t>
            </a:r>
            <a:r>
              <a:rPr lang="en-US" altLang="zh-CN" sz="2200" dirty="0" err="1">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Rank</a:t>
            </a:r>
            <a:r>
              <a:rPr lang="en-US" altLang="zh-CN" sz="2200" baseline="-25000" dirty="0" err="1">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i</a:t>
            </a: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&lt; THRESHOLD </a:t>
            </a:r>
            <a:endPar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0000FF"/>
              </a:buClr>
              <a:buFont typeface="Wingdings" panose="05000000000000000000" pitchFamily="2" charset="2"/>
              <a:buChar char="ü"/>
              <a:defRPr/>
            </a:pP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约迭代</a:t>
            </a:r>
            <a:r>
              <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O(</a:t>
            </a:r>
            <a:r>
              <a:rPr lang="en-US" altLang="zh-CN" sz="2200" dirty="0" err="1">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Log|E</a:t>
            </a:r>
            <a:r>
              <a:rPr lang="en-US" altLang="zh-CN" sz="220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次后结果收敛</a:t>
            </a:r>
            <a:endPar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0000FF"/>
              </a:buClr>
              <a:buFont typeface="Wingdings" panose="05000000000000000000" pitchFamily="2" charset="2"/>
              <a:buChar char="ü"/>
              <a:defRPr/>
            </a:pP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收敛后，页面的</a:t>
            </a:r>
            <a:r>
              <a:rPr lang="en-US" altLang="zh-CN" sz="2200" dirty="0" err="1">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200" dirty="0">
                <a:latin typeface="Times New Roman" panose="02020603050405020304" pitchFamily="18" charset="0"/>
                <a:ea typeface="方正兰亭中黑_GBK" panose="02000000000000000000" pitchFamily="2" charset="-122"/>
                <a:cs typeface="Times New Roman" panose="02020603050405020304" pitchFamily="18" charset="0"/>
              </a:rPr>
              <a:t>对应超链接网络上随机游走（足够长时间后）的极限概率分布</a:t>
            </a:r>
            <a:endParaRPr lang="en-US" altLang="zh-CN" sz="2200" dirty="0">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1024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7900" y="3789040"/>
            <a:ext cx="3924059" cy="2943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pic>
        <p:nvPicPr>
          <p:cNvPr id="36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6425" y="1772816"/>
            <a:ext cx="8010525" cy="482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24744"/>
            <a:ext cx="7849244" cy="2311402"/>
          </a:xfrm>
          <a:prstGeom prst="rect">
            <a:avLst/>
          </a:prstGeom>
        </p:spPr>
        <p:txBody>
          <a:bodyPr wrap="square">
            <a:spAutoFit/>
          </a:bodyPr>
          <a:lstStyle/>
          <a:p>
            <a:pPr marL="469900" lvl="1" indent="-469900" algn="l">
              <a:lnSpc>
                <a:spcPct val="120000"/>
              </a:lnSpc>
              <a:spcBef>
                <a:spcPts val="600"/>
              </a:spcBef>
              <a:buClr>
                <a:srgbClr val="FF0000"/>
              </a:buClr>
              <a:buFont typeface="Wingdings" panose="05000000000000000000" pitchFamily="2" charset="2"/>
              <a:buChar char="n"/>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的特点</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zh-CN" altLang="en-US" sz="2400" b="0" dirty="0">
                <a:latin typeface="+mn-ea"/>
                <a:ea typeface="+mn-ea"/>
                <a:cs typeface="Arial Unicode MS" panose="020B0604020202020204" charset="-122"/>
              </a:rPr>
              <a:t>基于超链接拓扑的全局排序算法</a:t>
            </a:r>
            <a:endParaRPr lang="en-US" altLang="zh-CN" sz="2400" b="0" dirty="0">
              <a:latin typeface="+mn-ea"/>
              <a:ea typeface="+mn-ea"/>
              <a:cs typeface="Arial Unicode MS" panose="020B0604020202020204" charset="-122"/>
            </a:endParaRPr>
          </a:p>
          <a:p>
            <a:pPr marL="742950" lvl="1" indent="-285750" algn="l">
              <a:lnSpc>
                <a:spcPct val="150000"/>
              </a:lnSpc>
              <a:buClr>
                <a:schemeClr val="tx1"/>
              </a:buClr>
              <a:buFont typeface="Wingdings" panose="05000000000000000000" pitchFamily="2" charset="2"/>
              <a:buChar char="ü"/>
              <a:defRPr/>
            </a:pPr>
            <a:r>
              <a:rPr lang="zh-CN" altLang="en-US" sz="2400" b="0" dirty="0">
                <a:latin typeface="+mn-ea"/>
                <a:ea typeface="+mn-ea"/>
                <a:cs typeface="Arial Unicode MS" panose="020B0604020202020204" charset="-122"/>
              </a:rPr>
              <a:t>查询无关</a:t>
            </a:r>
            <a:endParaRPr lang="en-US" altLang="zh-CN" sz="2400" b="0" dirty="0">
              <a:latin typeface="+mn-ea"/>
              <a:ea typeface="+mn-ea"/>
              <a:cs typeface="Arial Unicode MS" panose="020B0604020202020204" charset="-122"/>
            </a:endParaRPr>
          </a:p>
          <a:p>
            <a:pPr marL="469900" lvl="1" indent="-469900" algn="l">
              <a:lnSpc>
                <a:spcPct val="120000"/>
              </a:lnSpc>
              <a:spcBef>
                <a:spcPts val="600"/>
              </a:spcBef>
              <a:buClr>
                <a:schemeClr val="accent2"/>
              </a:buClr>
              <a:buFont typeface="Wingdings" panose="05000000000000000000" pitchFamily="2" charset="2"/>
              <a:buChar char="n"/>
              <a:defRPr/>
            </a:pPr>
            <a:endParaRPr lang="zh-CN" altLang="en-US" sz="2800" dirty="0">
              <a:solidFill>
                <a:srgbClr val="C00000"/>
              </a:solidFill>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179512" y="2780928"/>
            <a:ext cx="7849244" cy="3973395"/>
          </a:xfrm>
          <a:prstGeom prst="rect">
            <a:avLst/>
          </a:prstGeom>
        </p:spPr>
        <p:txBody>
          <a:bodyPr wrap="square">
            <a:spAutoFit/>
          </a:bodyPr>
          <a:lstStyle/>
          <a:p>
            <a:pPr marL="469900" lvl="1" indent="-469900" algn="l">
              <a:lnSpc>
                <a:spcPct val="120000"/>
              </a:lnSpc>
              <a:spcBef>
                <a:spcPts val="600"/>
              </a:spcBef>
              <a:buClr>
                <a:srgbClr val="FF0000"/>
              </a:buClr>
              <a:buFont typeface="Wingdings" panose="05000000000000000000" pitchFamily="2" charset="2"/>
              <a:buChar char="n"/>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存在的问题</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zh-CN" altLang="en-US" sz="2400" b="0" dirty="0">
                <a:latin typeface="+mn-ea"/>
                <a:ea typeface="+mn-ea"/>
                <a:cs typeface="Arial Unicode MS" panose="020B0604020202020204" charset="-122"/>
              </a:rPr>
              <a:t>有些链接具有注释性，也有些链接是起导航或广告作用。有注释性的链接才用于权威判断。</a:t>
            </a:r>
            <a:endParaRPr lang="zh-CN" altLang="en-US" sz="2400" b="0" dirty="0">
              <a:latin typeface="+mn-ea"/>
              <a:ea typeface="+mn-ea"/>
              <a:cs typeface="Arial Unicode MS" panose="020B0604020202020204" charset="-122"/>
            </a:endParaRPr>
          </a:p>
          <a:p>
            <a:pPr marL="742950" lvl="1" indent="-285750" algn="l">
              <a:lnSpc>
                <a:spcPct val="150000"/>
              </a:lnSpc>
              <a:buClr>
                <a:schemeClr val="tx1"/>
              </a:buClr>
              <a:buFont typeface="Wingdings" panose="05000000000000000000" pitchFamily="2" charset="2"/>
              <a:buChar char="ü"/>
              <a:defRPr/>
            </a:pPr>
            <a:r>
              <a:rPr lang="zh-CN" altLang="en-US" sz="2400" b="0" dirty="0">
                <a:latin typeface="+mn-ea"/>
                <a:ea typeface="+mn-ea"/>
                <a:cs typeface="Arial Unicode MS" panose="020B0604020202020204" charset="-122"/>
              </a:rPr>
              <a:t>基于商业或竞争因素考虑，很少有</a:t>
            </a:r>
            <a:r>
              <a:rPr lang="en-US" altLang="zh-CN" sz="2400" b="0" dirty="0">
                <a:latin typeface="+mn-ea"/>
                <a:ea typeface="+mn-ea"/>
                <a:cs typeface="Arial Unicode MS" panose="020B0604020202020204" charset="-122"/>
              </a:rPr>
              <a:t>WEB</a:t>
            </a:r>
            <a:r>
              <a:rPr lang="zh-CN" altLang="en-US" sz="2400" b="0" dirty="0">
                <a:latin typeface="+mn-ea"/>
                <a:ea typeface="+mn-ea"/>
                <a:cs typeface="Arial Unicode MS" panose="020B0604020202020204" charset="-122"/>
              </a:rPr>
              <a:t>网页指向其竞争领域的权威网页。</a:t>
            </a:r>
            <a:endParaRPr lang="en-US" altLang="zh-CN" sz="2400" b="0" dirty="0">
              <a:latin typeface="+mn-ea"/>
              <a:ea typeface="+mn-ea"/>
              <a:cs typeface="Arial Unicode MS" panose="020B0604020202020204" charset="-122"/>
            </a:endParaRPr>
          </a:p>
          <a:p>
            <a:pPr marL="742950" lvl="1" indent="-285750" algn="l">
              <a:lnSpc>
                <a:spcPct val="150000"/>
              </a:lnSpc>
              <a:buClr>
                <a:schemeClr val="tx1"/>
              </a:buClr>
              <a:buFont typeface="Wingdings" panose="05000000000000000000" pitchFamily="2" charset="2"/>
              <a:buChar char="ü"/>
              <a:defRPr/>
            </a:pPr>
            <a:r>
              <a:rPr lang="en-GB" altLang="zh-CN" sz="2400" dirty="0">
                <a:solidFill>
                  <a:srgbClr val="1557AE"/>
                </a:solidFill>
                <a:latin typeface="Arial Unicode MS" panose="020B0604020202020204" charset="-122"/>
                <a:ea typeface="Arial Unicode MS" panose="020B0604020202020204" charset="-122"/>
                <a:cs typeface="Arial Unicode MS" panose="020B0604020202020204" charset="-122"/>
              </a:rPr>
              <a:t>The Largest Matrix Computation in the World</a:t>
            </a:r>
            <a:endParaRPr lang="zh-CN" altLang="en-US" sz="2400" dirty="0">
              <a:solidFill>
                <a:srgbClr val="1557AE"/>
              </a:solidFill>
              <a:latin typeface="Arial Unicode MS" panose="020B0604020202020204" charset="-122"/>
              <a:ea typeface="Arial Unicode MS" panose="020B0604020202020204" charset="-122"/>
              <a:cs typeface="Arial Unicode MS" panose="020B0604020202020204" charset="-122"/>
            </a:endParaRPr>
          </a:p>
          <a:p>
            <a:pPr marL="469900" lvl="1" indent="-469900" algn="l">
              <a:lnSpc>
                <a:spcPct val="120000"/>
              </a:lnSpc>
              <a:spcBef>
                <a:spcPts val="600"/>
              </a:spcBef>
              <a:buClr>
                <a:schemeClr val="accent2"/>
              </a:buClr>
              <a:buFont typeface="Wingdings" panose="05000000000000000000" pitchFamily="2" charset="2"/>
              <a:buChar char="n"/>
              <a:defRPr/>
            </a:pPr>
            <a:endParaRPr lang="zh-CN" altLang="en-US" sz="2800" dirty="0">
              <a:solidFill>
                <a:srgbClr val="C00000"/>
              </a:solidFill>
              <a:latin typeface="Times New Roman" panose="02020603050405020304" pitchFamily="18" charset="0"/>
              <a:ea typeface="+mn-ea"/>
              <a:cs typeface="Times New Roman" panose="02020603050405020304" pitchFamily="18" charset="0"/>
            </a:endParaRPr>
          </a:p>
        </p:txBody>
      </p:sp>
      <p:sp>
        <p:nvSpPr>
          <p:cNvPr id="8" name="矩形 7"/>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7" name="矩形 6"/>
          <p:cNvSpPr/>
          <p:nvPr/>
        </p:nvSpPr>
        <p:spPr>
          <a:xfrm>
            <a:off x="179512" y="1124744"/>
            <a:ext cx="7849244" cy="1757404"/>
          </a:xfrm>
          <a:prstGeom prst="rect">
            <a:avLst/>
          </a:prstGeom>
        </p:spPr>
        <p:txBody>
          <a:bodyPr wrap="square">
            <a:spAutoFit/>
          </a:bodyPr>
          <a:lstStyle/>
          <a:p>
            <a:pPr marL="469900" lvl="1" indent="-469900" algn="l">
              <a:lnSpc>
                <a:spcPct val="120000"/>
              </a:lnSpc>
              <a:spcBef>
                <a:spcPts val="600"/>
              </a:spcBef>
              <a:buClr>
                <a:srgbClr val="FF0000"/>
              </a:buClr>
              <a:buFont typeface="Wingdings" panose="05000000000000000000" pitchFamily="2" charset="2"/>
              <a:buChar char="n"/>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存在的问题</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en-GB" altLang="zh-CN" sz="2400" dirty="0">
                <a:solidFill>
                  <a:srgbClr val="1557AE"/>
                </a:solidFill>
                <a:latin typeface="Arial Unicode MS" panose="020B0604020202020204" charset="-122"/>
                <a:ea typeface="Arial Unicode MS" panose="020B0604020202020204" charset="-122"/>
                <a:cs typeface="Arial Unicode MS" panose="020B0604020202020204" charset="-122"/>
              </a:rPr>
              <a:t>The Largest Matrix Computation in the World</a:t>
            </a:r>
            <a:endParaRPr lang="zh-CN" altLang="en-US" sz="2400" dirty="0">
              <a:solidFill>
                <a:srgbClr val="1557AE"/>
              </a:solidFill>
              <a:latin typeface="Arial Unicode MS" panose="020B0604020202020204" charset="-122"/>
              <a:ea typeface="Arial Unicode MS" panose="020B0604020202020204" charset="-122"/>
              <a:cs typeface="Arial Unicode MS" panose="020B0604020202020204" charset="-122"/>
            </a:endParaRPr>
          </a:p>
          <a:p>
            <a:pPr marL="469900" lvl="1" indent="-469900" algn="l">
              <a:lnSpc>
                <a:spcPct val="120000"/>
              </a:lnSpc>
              <a:spcBef>
                <a:spcPts val="600"/>
              </a:spcBef>
              <a:buClr>
                <a:schemeClr val="accent2"/>
              </a:buClr>
              <a:buFont typeface="Wingdings" panose="05000000000000000000" pitchFamily="2" charset="2"/>
              <a:buChar char="n"/>
              <a:defRPr/>
            </a:pPr>
            <a:endParaRPr lang="zh-CN" altLang="en-US" sz="2800" dirty="0">
              <a:solidFill>
                <a:srgbClr val="C00000"/>
              </a:solidFill>
              <a:latin typeface="Times New Roman" panose="02020603050405020304" pitchFamily="18" charset="0"/>
              <a:ea typeface="+mn-ea"/>
              <a:cs typeface="Times New Roman" panose="02020603050405020304" pitchFamily="18" charset="0"/>
            </a:endParaRPr>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69394" y="2780928"/>
            <a:ext cx="3690838" cy="3626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91796" y="3948046"/>
            <a:ext cx="2232248" cy="646331"/>
          </a:xfrm>
          <a:prstGeom prst="rect">
            <a:avLst/>
          </a:prstGeom>
        </p:spPr>
        <p:txBody>
          <a:bodyPr wrap="square">
            <a:spAutoFit/>
          </a:bodyPr>
          <a:lstStyle/>
          <a:p>
            <a:r>
              <a:rPr lang="en-US" altLang="zh-CN" dirty="0"/>
              <a:t>Block Structure of Web</a:t>
            </a:r>
            <a:endParaRPr lang="zh-CN" altLang="en-US" dirty="0"/>
          </a:p>
        </p:txBody>
      </p:sp>
      <p:sp>
        <p:nvSpPr>
          <p:cNvPr id="9" name="矩形 8"/>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7" name="矩形 6"/>
          <p:cNvSpPr/>
          <p:nvPr/>
        </p:nvSpPr>
        <p:spPr>
          <a:xfrm>
            <a:off x="179512" y="1196752"/>
            <a:ext cx="7849244" cy="1649682"/>
          </a:xfrm>
          <a:prstGeom prst="rect">
            <a:avLst/>
          </a:prstGeom>
        </p:spPr>
        <p:txBody>
          <a:bodyPr wrap="square">
            <a:spAutoFit/>
          </a:bodyPr>
          <a:lstStyle/>
          <a:p>
            <a:pPr lvl="1" indent="-457200" algn="l">
              <a:lnSpc>
                <a:spcPct val="120000"/>
              </a:lnSpc>
              <a:spcBef>
                <a:spcPts val="600"/>
              </a:spcBef>
              <a:buClr>
                <a:srgbClr val="FF0000"/>
              </a:buClr>
              <a:buFont typeface="Wingdings" panose="05000000000000000000" pitchFamily="2" charset="2"/>
              <a:buChar char="n"/>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的扩展应用</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927100" lvl="2" indent="-469900" algn="l">
              <a:lnSpc>
                <a:spcPct val="120000"/>
              </a:lnSpc>
              <a:spcBef>
                <a:spcPts val="600"/>
              </a:spcBef>
              <a:buClr>
                <a:srgbClr val="FF0000"/>
              </a:buClr>
              <a:buFont typeface="Wingdings" panose="05000000000000000000" pitchFamily="2" charset="2"/>
              <a:buChar char="ü"/>
              <a:defRPr/>
            </a:pPr>
            <a:r>
              <a:rPr lang="zh-CN" altLang="en-US" sz="2400" dirty="0">
                <a:solidFill>
                  <a:srgbClr val="FF0000"/>
                </a:solidFill>
                <a:latin typeface="Times New Roman" panose="02020603050405020304" pitchFamily="18" charset="0"/>
                <a:ea typeface="+mn-ea"/>
                <a:cs typeface="Times New Roman" panose="02020603050405020304" pitchFamily="18" charset="0"/>
              </a:rPr>
              <a:t>文档摘要与中心句识别</a:t>
            </a:r>
            <a:endParaRPr lang="en-US" altLang="zh-CN" sz="2400" dirty="0">
              <a:solidFill>
                <a:srgbClr val="FF0000"/>
              </a:solidFill>
              <a:latin typeface="Times New Roman" panose="02020603050405020304" pitchFamily="18" charset="0"/>
              <a:ea typeface="+mn-ea"/>
              <a:cs typeface="Times New Roman" panose="02020603050405020304" pitchFamily="18" charset="0"/>
            </a:endParaRPr>
          </a:p>
          <a:p>
            <a:pPr marL="927100" lvl="2" indent="-469900" algn="l">
              <a:lnSpc>
                <a:spcPct val="120000"/>
              </a:lnSpc>
              <a:spcBef>
                <a:spcPts val="600"/>
              </a:spcBef>
              <a:buClr>
                <a:srgbClr val="FF0000"/>
              </a:buClr>
              <a:buFont typeface="Wingdings" panose="05000000000000000000" pitchFamily="2" charset="2"/>
              <a:buChar char="ü"/>
              <a:defRPr/>
            </a:pPr>
            <a:r>
              <a:rPr lang="zh-CN" altLang="en-US" sz="2400" dirty="0">
                <a:solidFill>
                  <a:srgbClr val="FF0000"/>
                </a:solidFill>
                <a:latin typeface="Times New Roman" panose="02020603050405020304" pitchFamily="18" charset="0"/>
                <a:ea typeface="+mn-ea"/>
                <a:cs typeface="Times New Roman" panose="02020603050405020304" pitchFamily="18" charset="0"/>
              </a:rPr>
              <a:t>意见领袖</a:t>
            </a:r>
            <a:endParaRPr lang="zh-CN" altLang="en-US" sz="2400" dirty="0">
              <a:solidFill>
                <a:srgbClr val="FF0000"/>
              </a:solidFill>
              <a:latin typeface="Times New Roman" panose="02020603050405020304" pitchFamily="18" charset="0"/>
              <a:ea typeface="+mn-ea"/>
              <a:cs typeface="Times New Roman" panose="02020603050405020304" pitchFamily="18" charset="0"/>
            </a:endParaRPr>
          </a:p>
        </p:txBody>
      </p:sp>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5" name="矩形 4"/>
          <p:cNvSpPr/>
          <p:nvPr/>
        </p:nvSpPr>
        <p:spPr>
          <a:xfrm>
            <a:off x="899592" y="188640"/>
            <a:ext cx="6274475"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  </a:t>
            </a: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数据源可信性识别</a:t>
            </a:r>
            <a:endPar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6" name="Picture 3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5536" y="1175355"/>
            <a:ext cx="7920880" cy="5223122"/>
          </a:xfrm>
          <a:prstGeom prst="rect">
            <a:avLst/>
          </a:prstGeom>
        </p:spPr>
      </p:pic>
      <p:sp>
        <p:nvSpPr>
          <p:cNvPr id="8" name="Ellipse 39"/>
          <p:cNvSpPr>
            <a:spLocks noChangeArrowheads="1"/>
          </p:cNvSpPr>
          <p:nvPr/>
        </p:nvSpPr>
        <p:spPr bwMode="auto">
          <a:xfrm>
            <a:off x="107504" y="1633696"/>
            <a:ext cx="1764952" cy="1578992"/>
          </a:xfrm>
          <a:prstGeom prst="ellipse">
            <a:avLst/>
          </a:prstGeom>
          <a:solidFill>
            <a:srgbClr val="FFFFCC"/>
          </a:solidFill>
          <a:ln w="9525" algn="ctr">
            <a:noFill/>
            <a:round/>
          </a:ln>
        </p:spPr>
        <p:txBody>
          <a:bodyPr/>
          <a:lstStyle/>
          <a:p>
            <a:pPr>
              <a:spcBef>
                <a:spcPct val="0"/>
              </a:spcBef>
              <a:buClrTx/>
              <a:buFontTx/>
              <a:buNone/>
            </a:pPr>
            <a:endParaRPr lang="en-US" sz="2200">
              <a:solidFill>
                <a:srgbClr val="000000"/>
              </a:solidFill>
              <a:latin typeface="Arial" panose="020B0604020202020204" pitchFamily="34" charset="0"/>
              <a:ea typeface="+mn-ea"/>
            </a:endParaRPr>
          </a:p>
        </p:txBody>
      </p:sp>
      <p:sp>
        <p:nvSpPr>
          <p:cNvPr id="9" name="Ellipse 39"/>
          <p:cNvSpPr>
            <a:spLocks noChangeArrowheads="1"/>
          </p:cNvSpPr>
          <p:nvPr/>
        </p:nvSpPr>
        <p:spPr bwMode="auto">
          <a:xfrm>
            <a:off x="2555776" y="2975555"/>
            <a:ext cx="3311525" cy="1871662"/>
          </a:xfrm>
          <a:prstGeom prst="ellipse">
            <a:avLst/>
          </a:prstGeom>
          <a:solidFill>
            <a:srgbClr val="FFFFCC"/>
          </a:solidFill>
          <a:ln w="9525" algn="ctr">
            <a:noFill/>
            <a:round/>
          </a:ln>
        </p:spPr>
        <p:txBody>
          <a:bodyPr/>
          <a:lstStyle/>
          <a:p>
            <a:pPr>
              <a:spcBef>
                <a:spcPct val="0"/>
              </a:spcBef>
              <a:buClrTx/>
              <a:buFontTx/>
              <a:buNone/>
            </a:pPr>
            <a:endParaRPr lang="en-US" sz="2200">
              <a:solidFill>
                <a:srgbClr val="000000"/>
              </a:solidFill>
              <a:latin typeface="Arial" panose="020B0604020202020204" pitchFamily="34" charset="0"/>
              <a:ea typeface="+mn-ea"/>
            </a:endParaRPr>
          </a:p>
        </p:txBody>
      </p:sp>
      <p:grpSp>
        <p:nvGrpSpPr>
          <p:cNvPr id="10" name="Gruppieren 72"/>
          <p:cNvGrpSpPr/>
          <p:nvPr/>
        </p:nvGrpSpPr>
        <p:grpSpPr>
          <a:xfrm>
            <a:off x="0" y="1319371"/>
            <a:ext cx="9144000" cy="5059998"/>
            <a:chOff x="0" y="1319371"/>
            <a:chExt cx="9144000" cy="5059998"/>
          </a:xfrm>
        </p:grpSpPr>
        <p:pic>
          <p:nvPicPr>
            <p:cNvPr id="11" name="Picture 110" descr="freebase"/>
            <p:cNvPicPr>
              <a:picLocks noChangeAspect="1" noChangeArrowheads="1"/>
            </p:cNvPicPr>
            <p:nvPr/>
          </p:nvPicPr>
          <p:blipFill>
            <a:blip r:embed="rId2" cstate="print"/>
            <a:srcRect/>
            <a:stretch>
              <a:fillRect/>
            </a:stretch>
          </p:blipFill>
          <p:spPr bwMode="auto">
            <a:xfrm>
              <a:off x="4283968" y="4149080"/>
              <a:ext cx="1211262" cy="312737"/>
            </a:xfrm>
            <a:prstGeom prst="rect">
              <a:avLst/>
            </a:prstGeom>
            <a:solidFill>
              <a:srgbClr val="FFFF99"/>
            </a:solidFill>
            <a:ln w="9525">
              <a:noFill/>
              <a:miter lim="800000"/>
              <a:headEnd/>
              <a:tailEnd/>
            </a:ln>
          </p:spPr>
        </p:pic>
        <p:pic>
          <p:nvPicPr>
            <p:cNvPr id="12" name="Picture 113" descr="dbpedia"/>
            <p:cNvPicPr>
              <a:picLocks noChangeAspect="1" noChangeArrowheads="1"/>
            </p:cNvPicPr>
            <p:nvPr/>
          </p:nvPicPr>
          <p:blipFill>
            <a:blip r:embed="rId3" cstate="print"/>
            <a:srcRect/>
            <a:stretch>
              <a:fillRect/>
            </a:stretch>
          </p:blipFill>
          <p:spPr bwMode="auto">
            <a:xfrm>
              <a:off x="4354413" y="3191455"/>
              <a:ext cx="1011238" cy="509587"/>
            </a:xfrm>
            <a:prstGeom prst="rect">
              <a:avLst/>
            </a:prstGeom>
            <a:solidFill>
              <a:srgbClr val="FFFF99"/>
            </a:solidFill>
            <a:ln w="9525">
              <a:noFill/>
              <a:miter lim="800000"/>
              <a:headEnd/>
              <a:tailEnd/>
            </a:ln>
          </p:spPr>
        </p:pic>
        <p:grpSp>
          <p:nvGrpSpPr>
            <p:cNvPr id="13" name="Group 179"/>
            <p:cNvGrpSpPr/>
            <p:nvPr/>
          </p:nvGrpSpPr>
          <p:grpSpPr bwMode="auto">
            <a:xfrm>
              <a:off x="1476375" y="3047588"/>
              <a:ext cx="792163" cy="1079500"/>
              <a:chOff x="1249219" y="5328665"/>
              <a:chExt cx="714375" cy="983795"/>
            </a:xfrm>
          </p:grpSpPr>
          <p:pic>
            <p:nvPicPr>
              <p:cNvPr id="37" name="Picture 8" descr="Cycorp logo"/>
              <p:cNvPicPr>
                <a:picLocks noChangeAspect="1" noChangeArrowheads="1"/>
              </p:cNvPicPr>
              <p:nvPr/>
            </p:nvPicPr>
            <p:blipFill>
              <a:blip r:embed="rId4" cstate="print"/>
              <a:srcRect/>
              <a:stretch>
                <a:fillRect/>
              </a:stretch>
            </p:blipFill>
            <p:spPr bwMode="auto">
              <a:xfrm>
                <a:off x="1249219" y="5328665"/>
                <a:ext cx="714375" cy="676276"/>
              </a:xfrm>
              <a:prstGeom prst="rect">
                <a:avLst/>
              </a:prstGeom>
              <a:noFill/>
              <a:ln w="9525">
                <a:noFill/>
                <a:miter lim="800000"/>
                <a:headEnd/>
                <a:tailEnd/>
              </a:ln>
            </p:spPr>
          </p:pic>
          <p:sp>
            <p:nvSpPr>
              <p:cNvPr id="38" name="TextBox 171"/>
              <p:cNvSpPr txBox="1">
                <a:spLocks noChangeArrowheads="1"/>
              </p:cNvSpPr>
              <p:nvPr/>
            </p:nvSpPr>
            <p:spPr bwMode="auto">
              <a:xfrm>
                <a:off x="1320657" y="5971607"/>
                <a:ext cx="500579" cy="340853"/>
              </a:xfrm>
              <a:prstGeom prst="rect">
                <a:avLst/>
              </a:prstGeom>
              <a:noFill/>
              <a:ln w="9525">
                <a:noFill/>
                <a:miter lim="800000"/>
              </a:ln>
            </p:spPr>
            <p:txBody>
              <a:bodyPr wrap="none">
                <a:spAutoFit/>
              </a:bodyPr>
              <a:lstStyle/>
              <a:p>
                <a:pPr>
                  <a:spcBef>
                    <a:spcPct val="0"/>
                  </a:spcBef>
                  <a:buClrTx/>
                  <a:buFontTx/>
                  <a:buNone/>
                </a:pPr>
                <a:r>
                  <a:rPr lang="de-DE" sz="2000">
                    <a:solidFill>
                      <a:srgbClr val="000000"/>
                    </a:solidFill>
                    <a:latin typeface="Arial" panose="020B0604020202020204" pitchFamily="34" charset="0"/>
                    <a:ea typeface="+mn-ea"/>
                  </a:rPr>
                  <a:t>Cyc</a:t>
                </a:r>
                <a:endParaRPr lang="en-US" sz="2000">
                  <a:solidFill>
                    <a:srgbClr val="000000"/>
                  </a:solidFill>
                  <a:latin typeface="Arial" panose="020B0604020202020204" pitchFamily="34" charset="0"/>
                  <a:ea typeface="+mn-ea"/>
                </a:endParaRPr>
              </a:p>
            </p:txBody>
          </p:sp>
        </p:grpSp>
        <p:pic>
          <p:nvPicPr>
            <p:cNvPr id="14" name="Picture 10" descr="True Knowledge — The Internet Answer Engine">
              <a:hlinkClick r:id="rId5"/>
            </p:cNvPr>
            <p:cNvPicPr>
              <a:picLocks noChangeAspect="1" noChangeArrowheads="1"/>
            </p:cNvPicPr>
            <p:nvPr/>
          </p:nvPicPr>
          <p:blipFill>
            <a:blip r:embed="rId6" cstate="print"/>
            <a:srcRect/>
            <a:stretch>
              <a:fillRect/>
            </a:stretch>
          </p:blipFill>
          <p:spPr bwMode="auto">
            <a:xfrm>
              <a:off x="12167" y="1323910"/>
              <a:ext cx="2051050" cy="331788"/>
            </a:xfrm>
            <a:prstGeom prst="rect">
              <a:avLst/>
            </a:prstGeom>
            <a:noFill/>
            <a:ln w="9525">
              <a:noFill/>
              <a:miter lim="800000"/>
              <a:headEnd/>
              <a:tailEnd/>
            </a:ln>
          </p:spPr>
        </p:pic>
        <p:grpSp>
          <p:nvGrpSpPr>
            <p:cNvPr id="15" name="Group 182"/>
            <p:cNvGrpSpPr/>
            <p:nvPr/>
          </p:nvGrpSpPr>
          <p:grpSpPr bwMode="auto">
            <a:xfrm>
              <a:off x="0" y="4631739"/>
              <a:ext cx="1514475" cy="1265237"/>
              <a:chOff x="7608428" y="5780550"/>
              <a:chExt cx="1514045" cy="1265147"/>
            </a:xfrm>
          </p:grpSpPr>
          <p:pic>
            <p:nvPicPr>
              <p:cNvPr id="35" name="Picture 12"/>
              <p:cNvPicPr>
                <a:picLocks noChangeAspect="1" noChangeArrowheads="1"/>
              </p:cNvPicPr>
              <p:nvPr/>
            </p:nvPicPr>
            <p:blipFill>
              <a:blip r:embed="rId7" cstate="print"/>
              <a:srcRect/>
              <a:stretch>
                <a:fillRect/>
              </a:stretch>
            </p:blipFill>
            <p:spPr bwMode="auto">
              <a:xfrm>
                <a:off x="7844427" y="5780550"/>
                <a:ext cx="621488" cy="690541"/>
              </a:xfrm>
              <a:prstGeom prst="rect">
                <a:avLst/>
              </a:prstGeom>
              <a:noFill/>
              <a:ln w="9525">
                <a:noFill/>
                <a:miter lim="800000"/>
                <a:headEnd/>
                <a:tailEnd/>
              </a:ln>
            </p:spPr>
          </p:pic>
          <p:sp>
            <p:nvSpPr>
              <p:cNvPr id="36" name="TextBox 176"/>
              <p:cNvSpPr txBox="1">
                <a:spLocks noChangeArrowheads="1"/>
              </p:cNvSpPr>
              <p:nvPr/>
            </p:nvSpPr>
            <p:spPr bwMode="auto">
              <a:xfrm>
                <a:off x="7608428" y="6399677"/>
                <a:ext cx="1514045" cy="646020"/>
              </a:xfrm>
              <a:prstGeom prst="rect">
                <a:avLst/>
              </a:prstGeom>
              <a:noFill/>
              <a:ln w="9525">
                <a:noFill/>
                <a:miter lim="800000"/>
              </a:ln>
            </p:spPr>
            <p:txBody>
              <a:bodyPr wrap="none">
                <a:spAutoFit/>
              </a:bodyPr>
              <a:lstStyle/>
              <a:p>
                <a:pPr>
                  <a:spcBef>
                    <a:spcPct val="0"/>
                  </a:spcBef>
                  <a:buClrTx/>
                  <a:buFontTx/>
                  <a:buNone/>
                </a:pPr>
                <a:r>
                  <a:rPr lang="de-DE" sz="1800" dirty="0" err="1">
                    <a:solidFill>
                      <a:srgbClr val="000000"/>
                    </a:solidFill>
                    <a:latin typeface="Arial" panose="020B0604020202020204" pitchFamily="34" charset="0"/>
                    <a:ea typeface="+mn-ea"/>
                  </a:rPr>
                  <a:t>TextRunner</a:t>
                </a:r>
                <a:r>
                  <a:rPr lang="de-DE" sz="1800" dirty="0">
                    <a:solidFill>
                      <a:srgbClr val="000000"/>
                    </a:solidFill>
                    <a:latin typeface="Arial" panose="020B0604020202020204" pitchFamily="34" charset="0"/>
                    <a:ea typeface="+mn-ea"/>
                  </a:rPr>
                  <a:t>/</a:t>
                </a:r>
                <a:endParaRPr lang="de-DE" sz="1800" dirty="0">
                  <a:solidFill>
                    <a:srgbClr val="000000"/>
                  </a:solidFill>
                  <a:latin typeface="Arial" panose="020B0604020202020204" pitchFamily="34" charset="0"/>
                  <a:ea typeface="+mn-ea"/>
                </a:endParaRPr>
              </a:p>
              <a:p>
                <a:pPr>
                  <a:spcBef>
                    <a:spcPct val="0"/>
                  </a:spcBef>
                  <a:buClrTx/>
                  <a:buFontTx/>
                  <a:buNone/>
                </a:pPr>
                <a:r>
                  <a:rPr lang="de-DE" sz="1800" dirty="0" err="1">
                    <a:solidFill>
                      <a:srgbClr val="000000"/>
                    </a:solidFill>
                    <a:latin typeface="Arial" panose="020B0604020202020204" pitchFamily="34" charset="0"/>
                    <a:ea typeface="+mn-ea"/>
                  </a:rPr>
                  <a:t>ReVerb</a:t>
                </a:r>
                <a:endParaRPr lang="en-US" sz="1800" dirty="0">
                  <a:solidFill>
                    <a:srgbClr val="000000"/>
                  </a:solidFill>
                  <a:latin typeface="Arial" panose="020B0604020202020204" pitchFamily="34" charset="0"/>
                  <a:ea typeface="+mn-ea"/>
                </a:endParaRPr>
              </a:p>
            </p:txBody>
          </p:sp>
        </p:grpSp>
        <p:sp>
          <p:nvSpPr>
            <p:cNvPr id="16" name="Textfeld 19"/>
            <p:cNvSpPr txBox="1">
              <a:spLocks noChangeArrowheads="1"/>
            </p:cNvSpPr>
            <p:nvPr/>
          </p:nvSpPr>
          <p:spPr bwMode="auto">
            <a:xfrm>
              <a:off x="5436096" y="5733256"/>
              <a:ext cx="1857375" cy="646113"/>
            </a:xfrm>
            <a:prstGeom prst="rect">
              <a:avLst/>
            </a:prstGeom>
            <a:noFill/>
            <a:ln w="9525">
              <a:noFill/>
              <a:miter lim="800000"/>
            </a:ln>
          </p:spPr>
          <p:txBody>
            <a:bodyPr wrap="none">
              <a:spAutoFit/>
            </a:bodyPr>
            <a:lstStyle/>
            <a:p>
              <a:pPr>
                <a:spcBef>
                  <a:spcPct val="0"/>
                </a:spcBef>
                <a:buClrTx/>
                <a:buFontTx/>
                <a:buNone/>
              </a:pPr>
              <a:r>
                <a:rPr lang="de-DE" sz="1800" dirty="0" err="1">
                  <a:solidFill>
                    <a:srgbClr val="CC6600"/>
                  </a:solidFill>
                  <a:latin typeface="Arial" panose="020B0604020202020204" pitchFamily="34" charset="0"/>
                  <a:ea typeface="+mn-ea"/>
                </a:rPr>
                <a:t>WikiTaxonomy</a:t>
              </a:r>
              <a:r>
                <a:rPr lang="de-DE" sz="1800" dirty="0">
                  <a:solidFill>
                    <a:srgbClr val="CC6600"/>
                  </a:solidFill>
                  <a:latin typeface="Arial" panose="020B0604020202020204" pitchFamily="34" charset="0"/>
                  <a:ea typeface="+mn-ea"/>
                </a:rPr>
                <a:t>/</a:t>
              </a:r>
              <a:endParaRPr lang="de-DE" sz="1800" dirty="0">
                <a:solidFill>
                  <a:srgbClr val="CC6600"/>
                </a:solidFill>
                <a:latin typeface="Arial" panose="020B0604020202020204" pitchFamily="34" charset="0"/>
                <a:ea typeface="+mn-ea"/>
              </a:endParaRPr>
            </a:p>
            <a:p>
              <a:pPr>
                <a:spcBef>
                  <a:spcPct val="0"/>
                </a:spcBef>
                <a:buClrTx/>
                <a:buFontTx/>
                <a:buNone/>
              </a:pPr>
              <a:r>
                <a:rPr lang="de-DE" sz="1800" dirty="0" err="1">
                  <a:solidFill>
                    <a:srgbClr val="CC6600"/>
                  </a:solidFill>
                  <a:latin typeface="Arial" panose="020B0604020202020204" pitchFamily="34" charset="0"/>
                  <a:ea typeface="+mn-ea"/>
                </a:rPr>
                <a:t>WikiNet</a:t>
              </a:r>
              <a:endParaRPr lang="de-DE" sz="1800" dirty="0">
                <a:solidFill>
                  <a:srgbClr val="CC6600"/>
                </a:solidFill>
                <a:latin typeface="Arial" panose="020B0604020202020204" pitchFamily="34" charset="0"/>
                <a:ea typeface="+mn-ea"/>
              </a:endParaRPr>
            </a:p>
          </p:txBody>
        </p:sp>
        <p:sp>
          <p:nvSpPr>
            <p:cNvPr id="17" name="Textfeld 20"/>
            <p:cNvSpPr txBox="1">
              <a:spLocks noChangeArrowheads="1"/>
            </p:cNvSpPr>
            <p:nvPr/>
          </p:nvSpPr>
          <p:spPr bwMode="auto">
            <a:xfrm>
              <a:off x="0" y="3623627"/>
              <a:ext cx="877888" cy="369888"/>
            </a:xfrm>
            <a:prstGeom prst="rect">
              <a:avLst/>
            </a:prstGeom>
            <a:noFill/>
            <a:ln w="9525">
              <a:noFill/>
              <a:miter lim="800000"/>
            </a:ln>
          </p:spPr>
          <p:txBody>
            <a:bodyPr wrap="none">
              <a:spAutoFit/>
            </a:bodyPr>
            <a:lstStyle/>
            <a:p>
              <a:pPr>
                <a:spcBef>
                  <a:spcPct val="0"/>
                </a:spcBef>
                <a:buClrTx/>
                <a:buFontTx/>
                <a:buNone/>
              </a:pPr>
              <a:r>
                <a:rPr lang="de-DE" sz="1800" dirty="0">
                  <a:solidFill>
                    <a:srgbClr val="0000FF"/>
                  </a:solidFill>
                  <a:latin typeface="Arial" panose="020B0604020202020204" pitchFamily="34" charset="0"/>
                  <a:ea typeface="+mn-ea"/>
                </a:rPr>
                <a:t>SUMO</a:t>
              </a:r>
              <a:endParaRPr lang="de-DE" sz="1800" dirty="0">
                <a:solidFill>
                  <a:srgbClr val="0000FF"/>
                </a:solidFill>
                <a:latin typeface="Arial" panose="020B0604020202020204" pitchFamily="34" charset="0"/>
                <a:ea typeface="+mn-ea"/>
              </a:endParaRPr>
            </a:p>
          </p:txBody>
        </p:sp>
        <p:pic>
          <p:nvPicPr>
            <p:cNvPr id="18" name="Picture 2"/>
            <p:cNvPicPr>
              <a:picLocks noChangeAspect="1" noChangeArrowheads="1"/>
            </p:cNvPicPr>
            <p:nvPr/>
          </p:nvPicPr>
          <p:blipFill>
            <a:blip r:embed="rId8" cstate="print"/>
            <a:srcRect/>
            <a:stretch>
              <a:fillRect/>
            </a:stretch>
          </p:blipFill>
          <p:spPr bwMode="auto">
            <a:xfrm>
              <a:off x="3131840" y="5063787"/>
              <a:ext cx="1403350" cy="247650"/>
            </a:xfrm>
            <a:prstGeom prst="rect">
              <a:avLst/>
            </a:prstGeom>
            <a:noFill/>
            <a:ln w="9525">
              <a:noFill/>
              <a:miter lim="800000"/>
              <a:headEnd/>
              <a:tailEnd/>
            </a:ln>
          </p:spPr>
        </p:pic>
        <p:pic>
          <p:nvPicPr>
            <p:cNvPr id="19" name="Picture 37"/>
            <p:cNvPicPr>
              <a:picLocks noChangeAspect="1" noChangeArrowheads="1"/>
            </p:cNvPicPr>
            <p:nvPr/>
          </p:nvPicPr>
          <p:blipFill>
            <a:blip r:embed="rId9" cstate="print"/>
            <a:srcRect/>
            <a:stretch>
              <a:fillRect/>
            </a:stretch>
          </p:blipFill>
          <p:spPr bwMode="auto">
            <a:xfrm>
              <a:off x="4427538" y="2039526"/>
              <a:ext cx="936625" cy="615950"/>
            </a:xfrm>
            <a:prstGeom prst="rect">
              <a:avLst/>
            </a:prstGeom>
            <a:solidFill>
              <a:schemeClr val="bg1"/>
            </a:solidFill>
            <a:ln w="9525">
              <a:noFill/>
              <a:miter lim="800000"/>
              <a:headEnd/>
              <a:tailEnd/>
            </a:ln>
          </p:spPr>
        </p:pic>
        <p:pic>
          <p:nvPicPr>
            <p:cNvPr id="20" name="Picture 38"/>
            <p:cNvPicPr>
              <a:picLocks noChangeAspect="1" noChangeArrowheads="1"/>
            </p:cNvPicPr>
            <p:nvPr/>
          </p:nvPicPr>
          <p:blipFill>
            <a:blip r:embed="rId10" cstate="print"/>
            <a:srcRect/>
            <a:stretch>
              <a:fillRect/>
            </a:stretch>
          </p:blipFill>
          <p:spPr bwMode="auto">
            <a:xfrm>
              <a:off x="6011714" y="4344923"/>
              <a:ext cx="1104900" cy="503237"/>
            </a:xfrm>
            <a:prstGeom prst="rect">
              <a:avLst/>
            </a:prstGeom>
            <a:solidFill>
              <a:schemeClr val="bg1"/>
            </a:solidFill>
            <a:ln w="9525">
              <a:noFill/>
              <a:miter lim="800000"/>
              <a:headEnd/>
              <a:tailEnd/>
            </a:ln>
          </p:spPr>
        </p:pic>
        <p:pic>
          <p:nvPicPr>
            <p:cNvPr id="21" name="Picture 39"/>
            <p:cNvPicPr>
              <a:picLocks noChangeAspect="1" noChangeArrowheads="1"/>
            </p:cNvPicPr>
            <p:nvPr/>
          </p:nvPicPr>
          <p:blipFill>
            <a:blip r:embed="rId11" cstate="print"/>
            <a:srcRect/>
            <a:stretch>
              <a:fillRect/>
            </a:stretch>
          </p:blipFill>
          <p:spPr bwMode="auto">
            <a:xfrm>
              <a:off x="2987675" y="1607726"/>
              <a:ext cx="1655763" cy="288925"/>
            </a:xfrm>
            <a:prstGeom prst="rect">
              <a:avLst/>
            </a:prstGeom>
            <a:noFill/>
            <a:ln w="9525">
              <a:noFill/>
              <a:miter lim="800000"/>
              <a:headEnd/>
              <a:tailEnd/>
            </a:ln>
          </p:spPr>
        </p:pic>
        <p:pic>
          <p:nvPicPr>
            <p:cNvPr id="22" name="Picture 4"/>
            <p:cNvPicPr>
              <a:picLocks noChangeAspect="1" noChangeArrowheads="1"/>
            </p:cNvPicPr>
            <p:nvPr/>
          </p:nvPicPr>
          <p:blipFill>
            <a:blip r:embed="rId12" cstate="print"/>
            <a:srcRect/>
            <a:stretch>
              <a:fillRect/>
            </a:stretch>
          </p:blipFill>
          <p:spPr bwMode="auto">
            <a:xfrm>
              <a:off x="693778" y="1823626"/>
              <a:ext cx="799446" cy="1151929"/>
            </a:xfrm>
            <a:prstGeom prst="rect">
              <a:avLst/>
            </a:prstGeom>
            <a:noFill/>
            <a:ln w="9525">
              <a:noFill/>
              <a:miter lim="800000"/>
              <a:headEnd/>
              <a:tailEnd/>
            </a:ln>
          </p:spPr>
        </p:pic>
        <p:pic>
          <p:nvPicPr>
            <p:cNvPr id="23" name="Grafik 832" descr="pubmed.png"/>
            <p:cNvPicPr>
              <a:picLocks noChangeAspect="1"/>
            </p:cNvPicPr>
            <p:nvPr/>
          </p:nvPicPr>
          <p:blipFill>
            <a:blip r:embed="rId13" cstate="print"/>
            <a:srcRect/>
            <a:stretch>
              <a:fillRect/>
            </a:stretch>
          </p:blipFill>
          <p:spPr bwMode="auto">
            <a:xfrm>
              <a:off x="6156176" y="3695635"/>
              <a:ext cx="1012825" cy="360363"/>
            </a:xfrm>
            <a:prstGeom prst="rect">
              <a:avLst/>
            </a:prstGeom>
            <a:solidFill>
              <a:schemeClr val="bg1"/>
            </a:solidFill>
            <a:ln w="9525">
              <a:noFill/>
              <a:miter lim="800000"/>
              <a:headEnd/>
              <a:tailEnd/>
            </a:ln>
          </p:spPr>
        </p:pic>
        <p:pic>
          <p:nvPicPr>
            <p:cNvPr id="24" name="Picture 40"/>
            <p:cNvPicPr>
              <a:picLocks noChangeAspect="1" noChangeArrowheads="1"/>
            </p:cNvPicPr>
            <p:nvPr/>
          </p:nvPicPr>
          <p:blipFill>
            <a:blip r:embed="rId14" cstate="print"/>
            <a:srcRect/>
            <a:stretch>
              <a:fillRect/>
            </a:stretch>
          </p:blipFill>
          <p:spPr bwMode="auto">
            <a:xfrm>
              <a:off x="6227763" y="2831688"/>
              <a:ext cx="1081087" cy="381000"/>
            </a:xfrm>
            <a:prstGeom prst="rect">
              <a:avLst/>
            </a:prstGeom>
            <a:noFill/>
            <a:ln w="9525">
              <a:noFill/>
              <a:miter lim="800000"/>
              <a:headEnd/>
              <a:tailEnd/>
            </a:ln>
          </p:spPr>
        </p:pic>
        <p:sp>
          <p:nvSpPr>
            <p:cNvPr id="25" name="Textfeld 61"/>
            <p:cNvSpPr txBox="1"/>
            <p:nvPr/>
          </p:nvSpPr>
          <p:spPr bwMode="auto">
            <a:xfrm>
              <a:off x="1835696" y="5639851"/>
              <a:ext cx="1671638" cy="369888"/>
            </a:xfrm>
            <a:prstGeom prst="rect">
              <a:avLst/>
            </a:prstGeom>
            <a:noFill/>
            <a:ln w="9525">
              <a:noFill/>
              <a:miter lim="800000"/>
            </a:ln>
          </p:spPr>
          <p:txBody>
            <a:bodyPr wrap="none">
              <a:spAutoFit/>
            </a:bodyPr>
            <a:lstStyle/>
            <a:p>
              <a:pPr eaLnBrk="0" hangingPunct="0">
                <a:spcBef>
                  <a:spcPct val="0"/>
                </a:spcBef>
                <a:buClrTx/>
                <a:buFontTx/>
                <a:buNone/>
                <a:defRPr/>
              </a:pPr>
              <a:r>
                <a:rPr lang="de-DE" sz="1800" dirty="0" err="1">
                  <a:solidFill>
                    <a:srgbClr val="000000"/>
                  </a:solidFill>
                  <a:latin typeface="Arial" panose="020B0604020202020204" pitchFamily="34" charset="0"/>
                  <a:ea typeface="+mn-ea"/>
                </a:rPr>
                <a:t>ConceptNet</a:t>
              </a:r>
              <a:r>
                <a:rPr lang="de-DE" sz="1800" dirty="0">
                  <a:solidFill>
                    <a:srgbClr val="000000"/>
                  </a:solidFill>
                  <a:latin typeface="Arial" panose="020B0604020202020204" pitchFamily="34" charset="0"/>
                  <a:ea typeface="+mn-ea"/>
                </a:rPr>
                <a:t> </a:t>
              </a:r>
              <a:r>
                <a:rPr lang="de-DE" sz="1800" dirty="0">
                  <a:solidFill>
                    <a:srgbClr val="000000">
                      <a:lumMod val="65000"/>
                      <a:lumOff val="35000"/>
                    </a:srgbClr>
                  </a:solidFill>
                  <a:latin typeface="Arial" panose="020B0604020202020204" pitchFamily="34" charset="0"/>
                  <a:ea typeface="+mn-ea"/>
                </a:rPr>
                <a:t>5</a:t>
              </a:r>
              <a:endParaRPr lang="de-DE" sz="1800" dirty="0">
                <a:solidFill>
                  <a:srgbClr val="000000">
                    <a:lumMod val="65000"/>
                    <a:lumOff val="35000"/>
                  </a:srgbClr>
                </a:solidFill>
                <a:latin typeface="Arial" panose="020B0604020202020204" pitchFamily="34" charset="0"/>
                <a:ea typeface="+mn-ea"/>
              </a:endParaRPr>
            </a:p>
          </p:txBody>
        </p:sp>
        <p:sp>
          <p:nvSpPr>
            <p:cNvPr id="26" name="Rechteck 43"/>
            <p:cNvSpPr>
              <a:spLocks noChangeArrowheads="1"/>
            </p:cNvSpPr>
            <p:nvPr/>
          </p:nvSpPr>
          <p:spPr bwMode="auto">
            <a:xfrm>
              <a:off x="7959725" y="4344576"/>
              <a:ext cx="1184275" cy="368300"/>
            </a:xfrm>
            <a:prstGeom prst="rect">
              <a:avLst/>
            </a:prstGeom>
            <a:noFill/>
            <a:ln w="9525">
              <a:noFill/>
              <a:miter lim="800000"/>
            </a:ln>
          </p:spPr>
          <p:txBody>
            <a:bodyPr wrap="none">
              <a:spAutoFit/>
            </a:bodyPr>
            <a:lstStyle/>
            <a:p>
              <a:pPr>
                <a:spcBef>
                  <a:spcPct val="0"/>
                </a:spcBef>
                <a:buClrTx/>
                <a:buFontTx/>
                <a:buNone/>
              </a:pPr>
              <a:r>
                <a:rPr lang="de-DE" sz="1800">
                  <a:solidFill>
                    <a:srgbClr val="FF0000"/>
                  </a:solidFill>
                  <a:latin typeface="Arial" panose="020B0604020202020204" pitchFamily="34" charset="0"/>
                  <a:ea typeface="+mn-ea"/>
                </a:rPr>
                <a:t>BabelNet</a:t>
              </a:r>
              <a:endParaRPr lang="de-DE" sz="1800">
                <a:solidFill>
                  <a:srgbClr val="FF0000"/>
                </a:solidFill>
                <a:latin typeface="Arial" panose="020B0604020202020204" pitchFamily="34" charset="0"/>
                <a:ea typeface="+mn-ea"/>
              </a:endParaRPr>
            </a:p>
          </p:txBody>
        </p:sp>
        <p:pic>
          <p:nvPicPr>
            <p:cNvPr id="27" name="Picture 13"/>
            <p:cNvPicPr>
              <a:picLocks noChangeAspect="1" noChangeArrowheads="1"/>
            </p:cNvPicPr>
            <p:nvPr/>
          </p:nvPicPr>
          <p:blipFill>
            <a:blip r:embed="rId15" cstate="print"/>
            <a:srcRect/>
            <a:stretch>
              <a:fillRect/>
            </a:stretch>
          </p:blipFill>
          <p:spPr bwMode="auto">
            <a:xfrm>
              <a:off x="6659563" y="1319371"/>
              <a:ext cx="2484437" cy="314325"/>
            </a:xfrm>
            <a:prstGeom prst="rect">
              <a:avLst/>
            </a:prstGeom>
            <a:noFill/>
            <a:ln w="9525">
              <a:noFill/>
              <a:miter lim="800000"/>
              <a:headEnd/>
              <a:tailEnd/>
            </a:ln>
          </p:spPr>
        </p:pic>
        <p:pic>
          <p:nvPicPr>
            <p:cNvPr id="28" name="Picture 15" descr="Sindice">
              <a:hlinkClick r:id="rId16"/>
            </p:cNvPr>
            <p:cNvPicPr>
              <a:picLocks noChangeAspect="1" noChangeArrowheads="1"/>
            </p:cNvPicPr>
            <p:nvPr/>
          </p:nvPicPr>
          <p:blipFill>
            <a:blip r:embed="rId17" cstate="print"/>
            <a:srcRect/>
            <a:stretch>
              <a:fillRect/>
            </a:stretch>
          </p:blipFill>
          <p:spPr bwMode="auto">
            <a:xfrm>
              <a:off x="7429500" y="2183988"/>
              <a:ext cx="1714500" cy="398463"/>
            </a:xfrm>
            <a:prstGeom prst="rect">
              <a:avLst/>
            </a:prstGeom>
            <a:noFill/>
            <a:ln w="9525">
              <a:noFill/>
              <a:miter lim="800000"/>
              <a:headEnd/>
              <a:tailEnd/>
            </a:ln>
          </p:spPr>
        </p:pic>
        <p:grpSp>
          <p:nvGrpSpPr>
            <p:cNvPr id="29" name="Group 185"/>
            <p:cNvGrpSpPr/>
            <p:nvPr/>
          </p:nvGrpSpPr>
          <p:grpSpPr bwMode="auto">
            <a:xfrm>
              <a:off x="7666038" y="3192051"/>
              <a:ext cx="1477962" cy="623887"/>
              <a:chOff x="7666223" y="5857892"/>
              <a:chExt cx="1477777" cy="624306"/>
            </a:xfrm>
          </p:grpSpPr>
          <p:pic>
            <p:nvPicPr>
              <p:cNvPr id="33" name="Picture 17" descr="Carnegie Mellon University">
                <a:hlinkClick r:id="rId18"/>
              </p:cNvPr>
              <p:cNvPicPr>
                <a:picLocks noChangeAspect="1" noChangeArrowheads="1"/>
              </p:cNvPicPr>
              <p:nvPr/>
            </p:nvPicPr>
            <p:blipFill>
              <a:blip r:embed="rId19" cstate="print"/>
              <a:srcRect/>
              <a:stretch>
                <a:fillRect/>
              </a:stretch>
            </p:blipFill>
            <p:spPr bwMode="auto">
              <a:xfrm>
                <a:off x="7858148" y="5857892"/>
                <a:ext cx="1071570" cy="306163"/>
              </a:xfrm>
              <a:prstGeom prst="rect">
                <a:avLst/>
              </a:prstGeom>
              <a:noFill/>
              <a:ln w="9525">
                <a:noFill/>
                <a:miter lim="800000"/>
                <a:headEnd/>
                <a:tailEnd/>
              </a:ln>
            </p:spPr>
          </p:pic>
          <p:sp>
            <p:nvSpPr>
              <p:cNvPr id="34" name="TextBox 184"/>
              <p:cNvSpPr txBox="1">
                <a:spLocks noChangeArrowheads="1"/>
              </p:cNvSpPr>
              <p:nvPr/>
            </p:nvSpPr>
            <p:spPr bwMode="auto">
              <a:xfrm>
                <a:off x="7666223" y="6143644"/>
                <a:ext cx="1477777" cy="338554"/>
              </a:xfrm>
              <a:prstGeom prst="rect">
                <a:avLst/>
              </a:prstGeom>
              <a:noFill/>
              <a:ln w="9525">
                <a:noFill/>
                <a:miter lim="800000"/>
              </a:ln>
            </p:spPr>
            <p:txBody>
              <a:bodyPr wrap="none">
                <a:spAutoFit/>
              </a:bodyPr>
              <a:lstStyle/>
              <a:p>
                <a:pPr>
                  <a:spcBef>
                    <a:spcPct val="0"/>
                  </a:spcBef>
                  <a:buClrTx/>
                  <a:buFontTx/>
                  <a:buNone/>
                </a:pPr>
                <a:r>
                  <a:rPr lang="de-DE" sz="1600">
                    <a:solidFill>
                      <a:srgbClr val="000000"/>
                    </a:solidFill>
                    <a:latin typeface="Arial" panose="020B0604020202020204" pitchFamily="34" charset="0"/>
                    <a:ea typeface="+mn-ea"/>
                  </a:rPr>
                  <a:t>ReadTheWeb</a:t>
                </a:r>
                <a:endParaRPr lang="en-US" sz="1600">
                  <a:solidFill>
                    <a:srgbClr val="000000"/>
                  </a:solidFill>
                  <a:latin typeface="Arial" panose="020B0604020202020204" pitchFamily="34" charset="0"/>
                  <a:ea typeface="+mn-ea"/>
                </a:endParaRPr>
              </a:p>
            </p:txBody>
          </p:sp>
        </p:grpSp>
        <p:pic>
          <p:nvPicPr>
            <p:cNvPr id="30" name="Picture 41"/>
            <p:cNvPicPr>
              <a:picLocks noChangeAspect="1" noChangeArrowheads="1"/>
            </p:cNvPicPr>
            <p:nvPr/>
          </p:nvPicPr>
          <p:blipFill>
            <a:blip r:embed="rId20" cstate="print"/>
            <a:srcRect/>
            <a:stretch>
              <a:fillRect/>
            </a:stretch>
          </p:blipFill>
          <p:spPr bwMode="auto">
            <a:xfrm>
              <a:off x="1763713" y="2183988"/>
              <a:ext cx="1584325" cy="269875"/>
            </a:xfrm>
            <a:prstGeom prst="rect">
              <a:avLst/>
            </a:prstGeom>
            <a:noFill/>
            <a:ln w="9525">
              <a:noFill/>
              <a:miter lim="800000"/>
              <a:headEnd/>
              <a:tailEnd/>
            </a:ln>
          </p:spPr>
        </p:pic>
        <p:pic>
          <p:nvPicPr>
            <p:cNvPr id="31" name="Picture 42"/>
            <p:cNvPicPr>
              <a:picLocks noChangeAspect="1" noChangeArrowheads="1"/>
            </p:cNvPicPr>
            <p:nvPr/>
          </p:nvPicPr>
          <p:blipFill>
            <a:blip r:embed="rId21" cstate="print"/>
            <a:srcRect/>
            <a:stretch>
              <a:fillRect/>
            </a:stretch>
          </p:blipFill>
          <p:spPr bwMode="auto">
            <a:xfrm>
              <a:off x="6227763" y="2255426"/>
              <a:ext cx="792162" cy="498475"/>
            </a:xfrm>
            <a:prstGeom prst="rect">
              <a:avLst/>
            </a:prstGeom>
            <a:noFill/>
            <a:ln w="9525">
              <a:noFill/>
              <a:miter lim="800000"/>
              <a:headEnd/>
              <a:tailEnd/>
            </a:ln>
          </p:spPr>
        </p:pic>
        <p:pic>
          <p:nvPicPr>
            <p:cNvPr id="32" name="Picture 37" descr="Europeana Think Culture"/>
            <p:cNvPicPr>
              <a:picLocks noChangeAspect="1" noChangeArrowheads="1"/>
            </p:cNvPicPr>
            <p:nvPr/>
          </p:nvPicPr>
          <p:blipFill>
            <a:blip r:embed="rId22" cstate="print"/>
            <a:srcRect/>
            <a:stretch>
              <a:fillRect/>
            </a:stretch>
          </p:blipFill>
          <p:spPr bwMode="auto">
            <a:xfrm>
              <a:off x="5580063" y="1607726"/>
              <a:ext cx="912812" cy="544512"/>
            </a:xfrm>
            <a:prstGeom prst="rect">
              <a:avLst/>
            </a:prstGeom>
            <a:solidFill>
              <a:schemeClr val="bg1"/>
            </a:solidFill>
            <a:ln w="9525">
              <a:noFill/>
              <a:miter lim="800000"/>
              <a:headEnd/>
              <a:tailEnd/>
            </a:ln>
          </p:spPr>
        </p:pic>
      </p:grpSp>
      <p:pic>
        <p:nvPicPr>
          <p:cNvPr id="39" name="Picture 2" descr="http://www.mpi-inf.mpg.de/yago-naga/yago/img/yago_logo_mainpage.png"/>
          <p:cNvPicPr>
            <a:picLocks noChangeAspect="1" noChangeArrowheads="1"/>
          </p:cNvPicPr>
          <p:nvPr/>
        </p:nvPicPr>
        <p:blipFill>
          <a:blip r:embed="rId23" cstate="print"/>
          <a:srcRect/>
          <a:stretch>
            <a:fillRect/>
          </a:stretch>
        </p:blipFill>
        <p:spPr bwMode="auto">
          <a:xfrm>
            <a:off x="2915816" y="3789040"/>
            <a:ext cx="1075961" cy="5326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5" name="矩形 4"/>
          <p:cNvSpPr/>
          <p:nvPr/>
        </p:nvSpPr>
        <p:spPr>
          <a:xfrm>
            <a:off x="899592" y="188640"/>
            <a:ext cx="6274475"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  </a:t>
            </a: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数据源可信性识别</a:t>
            </a:r>
            <a:endPar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1556792"/>
            <a:ext cx="6624736" cy="425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5" name="矩形 4"/>
          <p:cNvSpPr/>
          <p:nvPr/>
        </p:nvSpPr>
        <p:spPr>
          <a:xfrm>
            <a:off x="899592" y="188640"/>
            <a:ext cx="6274475"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  </a:t>
            </a: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数据源可信性识别</a:t>
            </a:r>
            <a:endPar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6" name="组合 5"/>
          <p:cNvGrpSpPr/>
          <p:nvPr/>
        </p:nvGrpSpPr>
        <p:grpSpPr>
          <a:xfrm>
            <a:off x="771761" y="1245164"/>
            <a:ext cx="7581087" cy="5040560"/>
            <a:chOff x="2106510" y="1947034"/>
            <a:chExt cx="7294700" cy="4608398"/>
          </a:xfrm>
        </p:grpSpPr>
        <p:pic>
          <p:nvPicPr>
            <p:cNvPr id="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06510" y="1947034"/>
              <a:ext cx="7294700" cy="4608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弧形 7"/>
            <p:cNvSpPr/>
            <p:nvPr/>
          </p:nvSpPr>
          <p:spPr bwMode="auto">
            <a:xfrm>
              <a:off x="7056276" y="3769928"/>
              <a:ext cx="1620180" cy="2179352"/>
            </a:xfrm>
            <a:prstGeom prst="arc">
              <a:avLst>
                <a:gd name="adj1" fmla="val 15815528"/>
                <a:gd name="adj2" fmla="val 3417468"/>
              </a:avLst>
            </a:prstGeom>
            <a:noFill/>
            <a:ln w="38100" cap="flat" cmpd="sng" algn="ctr">
              <a:solidFill>
                <a:srgbClr val="FF0000"/>
              </a:solidFill>
              <a:prstDash val="solid"/>
              <a:round/>
              <a:headEnd type="triangle" w="med" len="med"/>
              <a:tailEnd type="triangle" w="med" len="med"/>
            </a:ln>
            <a:effectLst/>
          </p:spPr>
          <p:txBody>
            <a:bodyPr rtlCol="0" anchor="ctr"/>
            <a:lstStyle/>
            <a:p>
              <a:pPr algn="ctr" fontAlgn="base">
                <a:spcBef>
                  <a:spcPct val="20000"/>
                </a:spcBef>
                <a:spcAft>
                  <a:spcPct val="0"/>
                </a:spcAft>
                <a:buClr>
                  <a:srgbClr val="3366FF"/>
                </a:buClr>
                <a:buFont typeface="Wingdings" panose="05000000000000000000" pitchFamily="2" charset="2"/>
                <a:buChar char="l"/>
              </a:pPr>
              <a:endParaRPr lang="zh-CN" altLang="en-US" sz="2800" b="1">
                <a:solidFill>
                  <a:srgbClr val="808080"/>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5" name="矩形 4"/>
          <p:cNvSpPr/>
          <p:nvPr/>
        </p:nvSpPr>
        <p:spPr>
          <a:xfrm>
            <a:off x="899592" y="188640"/>
            <a:ext cx="6274475"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  </a:t>
            </a: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数据源可信性识别</a:t>
            </a:r>
            <a:endPar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9" name="组合 8"/>
          <p:cNvGrpSpPr/>
          <p:nvPr/>
        </p:nvGrpSpPr>
        <p:grpSpPr>
          <a:xfrm>
            <a:off x="143508" y="2161919"/>
            <a:ext cx="2556284" cy="2909311"/>
            <a:chOff x="287524" y="2658733"/>
            <a:chExt cx="2556284" cy="2909311"/>
          </a:xfrm>
        </p:grpSpPr>
        <p:pic>
          <p:nvPicPr>
            <p:cNvPr id="10" name="图片 9"/>
            <p:cNvPicPr>
              <a:picLocks noChangeAspect="1"/>
            </p:cNvPicPr>
            <p:nvPr/>
          </p:nvPicPr>
          <p:blipFill rotWithShape="1">
            <a:blip r:embed="rId1" cstate="print">
              <a:extLst>
                <a:ext uri="{28A0092B-C50C-407E-A947-70E740481C1C}">
                  <a14:useLocalDpi xmlns:a14="http://schemas.microsoft.com/office/drawing/2010/main" val="0"/>
                </a:ext>
              </a:extLst>
            </a:blip>
            <a:srcRect l="17453" t="-626" r="12580" b="6838"/>
            <a:stretch>
              <a:fillRect/>
            </a:stretch>
          </p:blipFill>
          <p:spPr>
            <a:xfrm>
              <a:off x="287524" y="2658733"/>
              <a:ext cx="2376264" cy="2276575"/>
            </a:xfrm>
            <a:prstGeom prst="rect">
              <a:avLst/>
            </a:prstGeom>
          </p:spPr>
        </p:pic>
        <p:sp>
          <p:nvSpPr>
            <p:cNvPr id="11" name="TextBox 44"/>
            <p:cNvSpPr txBox="1"/>
            <p:nvPr/>
          </p:nvSpPr>
          <p:spPr>
            <a:xfrm>
              <a:off x="287524" y="5106379"/>
              <a:ext cx="2556284" cy="461665"/>
            </a:xfrm>
            <a:prstGeom prst="rect">
              <a:avLst/>
            </a:prstGeom>
            <a:noFill/>
          </p:spPr>
          <p:txBody>
            <a:bodyPr wrap="square" rtlCol="0">
              <a:spAutoFit/>
            </a:bodyPr>
            <a:lstStyle/>
            <a:p>
              <a:pPr algn="ctr" fontAlgn="base">
                <a:spcBef>
                  <a:spcPct val="20000"/>
                </a:spcBef>
                <a:spcAft>
                  <a:spcPct val="0"/>
                </a:spcAft>
                <a:buClr>
                  <a:srgbClr val="3366FF"/>
                </a:buClr>
                <a:buFont typeface="Wingdings" panose="05000000000000000000" pitchFamily="2" charset="2"/>
                <a:buNone/>
              </a:pPr>
              <a:r>
                <a:rPr lang="en-US" altLang="zh-CN" sz="2400" b="1" dirty="0">
                  <a:solidFill>
                    <a:srgbClr val="808080"/>
                  </a:solidFill>
                  <a:latin typeface="Times New Roman" panose="02020603050405020304" pitchFamily="18" charset="0"/>
                  <a:ea typeface="宋体" panose="02010600030101010101" pitchFamily="2" charset="-122"/>
                  <a:cs typeface="Times New Roman" panose="02020603050405020304" pitchFamily="18" charset="0"/>
                </a:rPr>
                <a:t>New Publisher</a:t>
              </a:r>
              <a:endParaRPr lang="zh-CN" altLang="en-US" sz="2400" b="1" dirty="0">
                <a:solidFill>
                  <a:srgbClr val="80808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2" name="组合 11"/>
          <p:cNvGrpSpPr/>
          <p:nvPr/>
        </p:nvGrpSpPr>
        <p:grpSpPr>
          <a:xfrm>
            <a:off x="3321566" y="1267267"/>
            <a:ext cx="5678418" cy="3744416"/>
            <a:chOff x="3465582" y="1764081"/>
            <a:chExt cx="5678418" cy="3744416"/>
          </a:xfrm>
        </p:grpSpPr>
        <p:pic>
          <p:nvPicPr>
            <p:cNvPr id="13" name="Picture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65582" y="1764081"/>
              <a:ext cx="5678418" cy="3744416"/>
            </a:xfrm>
            <a:prstGeom prst="rect">
              <a:avLst/>
            </a:prstGeom>
          </p:spPr>
        </p:pic>
        <p:sp>
          <p:nvSpPr>
            <p:cNvPr id="14" name="TextBox 5"/>
            <p:cNvSpPr txBox="1">
              <a:spLocks noChangeArrowheads="1"/>
            </p:cNvSpPr>
            <p:nvPr/>
          </p:nvSpPr>
          <p:spPr bwMode="auto">
            <a:xfrm>
              <a:off x="5451003" y="3176972"/>
              <a:ext cx="3674276" cy="369332"/>
            </a:xfrm>
            <a:prstGeom prst="rect">
              <a:avLst/>
            </a:prstGeom>
            <a:solidFill>
              <a:srgbClr val="66FFFF"/>
            </a:solidFill>
            <a:ln w="9525">
              <a:noFill/>
              <a:miter lim="800000"/>
            </a:ln>
          </p:spPr>
          <p:txBody>
            <a:bodyPr wrap="none">
              <a:spAutoFit/>
            </a:bodyPr>
            <a:lstStyle/>
            <a:p>
              <a:pPr fontAlgn="base">
                <a:spcBef>
                  <a:spcPct val="20000"/>
                </a:spcBef>
                <a:spcAft>
                  <a:spcPct val="0"/>
                </a:spcAft>
                <a:buClr>
                  <a:srgbClr val="3366FF"/>
                </a:buClr>
                <a:buFont typeface="Wingdings" panose="05000000000000000000" pitchFamily="2" charset="2"/>
                <a:buNone/>
              </a:pPr>
              <a:r>
                <a:rPr lang="de-DE" sz="1400" b="1" dirty="0">
                  <a:solidFill>
                    <a:srgbClr val="808080"/>
                  </a:solidFill>
                  <a:latin typeface="Times New Roman" panose="02020603050405020304" pitchFamily="18" charset="0"/>
                  <a:ea typeface="宋体" panose="02010600030101010101" pitchFamily="2" charset="-122"/>
                </a:rPr>
                <a:t>dbpedia.org/resource/</a:t>
              </a:r>
              <a:r>
                <a:rPr lang="de-DE" b="1" dirty="0">
                  <a:solidFill>
                    <a:srgbClr val="808080"/>
                  </a:solidFill>
                  <a:latin typeface="Times New Roman" panose="02020603050405020304" pitchFamily="18" charset="0"/>
                  <a:ea typeface="宋体" panose="02010600030101010101" pitchFamily="2" charset="-122"/>
                </a:rPr>
                <a:t>Statue of Liberty</a:t>
              </a:r>
              <a:endParaRPr lang="en-US" b="1" dirty="0">
                <a:solidFill>
                  <a:srgbClr val="808080"/>
                </a:solidFill>
                <a:latin typeface="Times New Roman" panose="02020603050405020304" pitchFamily="18" charset="0"/>
                <a:ea typeface="宋体" panose="02010600030101010101" pitchFamily="2" charset="-122"/>
              </a:endParaRPr>
            </a:p>
          </p:txBody>
        </p:sp>
        <p:sp>
          <p:nvSpPr>
            <p:cNvPr id="15" name="TextBox 11"/>
            <p:cNvSpPr txBox="1">
              <a:spLocks noChangeArrowheads="1"/>
            </p:cNvSpPr>
            <p:nvPr/>
          </p:nvSpPr>
          <p:spPr bwMode="auto">
            <a:xfrm>
              <a:off x="4103948" y="4369750"/>
              <a:ext cx="3898760" cy="369332"/>
            </a:xfrm>
            <a:prstGeom prst="rect">
              <a:avLst/>
            </a:prstGeom>
            <a:solidFill>
              <a:srgbClr val="66FFFF"/>
            </a:solidFill>
            <a:ln w="9525">
              <a:noFill/>
              <a:miter lim="800000"/>
            </a:ln>
          </p:spPr>
          <p:txBody>
            <a:bodyPr wrap="none">
              <a:spAutoFit/>
            </a:bodyPr>
            <a:lstStyle/>
            <a:p>
              <a:pPr fontAlgn="base">
                <a:spcBef>
                  <a:spcPct val="20000"/>
                </a:spcBef>
                <a:spcAft>
                  <a:spcPct val="0"/>
                </a:spcAft>
                <a:buClr>
                  <a:srgbClr val="3366FF"/>
                </a:buClr>
                <a:buFont typeface="Wingdings" panose="05000000000000000000" pitchFamily="2" charset="2"/>
                <a:buNone/>
              </a:pPr>
              <a:r>
                <a:rPr lang="en-US" sz="1400" b="1" dirty="0">
                  <a:solidFill>
                    <a:srgbClr val="808080"/>
                  </a:solidFill>
                  <a:latin typeface="Times New Roman" panose="02020603050405020304" pitchFamily="18" charset="0"/>
                  <a:ea typeface="宋体" panose="02010600030101010101" pitchFamily="2" charset="-122"/>
                </a:rPr>
                <a:t>rdf.freebase.com/ns/</a:t>
              </a:r>
              <a:r>
                <a:rPr lang="en-US" b="1" dirty="0">
                  <a:solidFill>
                    <a:srgbClr val="808080"/>
                  </a:solidFill>
                  <a:latin typeface="Times New Roman" panose="02020603050405020304" pitchFamily="18" charset="0"/>
                  <a:ea typeface="宋体" panose="02010600030101010101" pitchFamily="2" charset="-122"/>
                </a:rPr>
                <a:t>en. Statue of Liberty</a:t>
              </a:r>
              <a:endParaRPr lang="en-US" b="1" dirty="0">
                <a:solidFill>
                  <a:srgbClr val="808080"/>
                </a:solidFill>
                <a:latin typeface="Times New Roman" panose="02020603050405020304" pitchFamily="18" charset="0"/>
                <a:ea typeface="宋体" panose="02010600030101010101" pitchFamily="2" charset="-122"/>
              </a:endParaRPr>
            </a:p>
          </p:txBody>
        </p:sp>
        <p:sp>
          <p:nvSpPr>
            <p:cNvPr id="16" name="TextBox 28"/>
            <p:cNvSpPr txBox="1">
              <a:spLocks noChangeArrowheads="1"/>
            </p:cNvSpPr>
            <p:nvPr/>
          </p:nvSpPr>
          <p:spPr bwMode="auto">
            <a:xfrm>
              <a:off x="3887924" y="2278425"/>
              <a:ext cx="2595582" cy="369332"/>
            </a:xfrm>
            <a:prstGeom prst="rect">
              <a:avLst/>
            </a:prstGeom>
            <a:solidFill>
              <a:srgbClr val="66FFFF"/>
            </a:solidFill>
            <a:ln w="9525">
              <a:noFill/>
              <a:miter lim="800000"/>
            </a:ln>
          </p:spPr>
          <p:txBody>
            <a:bodyPr wrap="none">
              <a:spAutoFit/>
            </a:bodyPr>
            <a:lstStyle/>
            <a:p>
              <a:pPr fontAlgn="base">
                <a:spcBef>
                  <a:spcPct val="20000"/>
                </a:spcBef>
                <a:spcAft>
                  <a:spcPct val="0"/>
                </a:spcAft>
                <a:buClr>
                  <a:srgbClr val="3366FF"/>
                </a:buClr>
                <a:buFont typeface="Wingdings" panose="05000000000000000000" pitchFamily="2" charset="2"/>
                <a:buNone/>
              </a:pPr>
              <a:r>
                <a:rPr lang="de-DE" sz="1400" b="1" dirty="0" err="1">
                  <a:solidFill>
                    <a:srgbClr val="808080"/>
                  </a:solidFill>
                  <a:latin typeface="Times New Roman" panose="02020603050405020304" pitchFamily="18" charset="0"/>
                  <a:ea typeface="宋体" panose="02010600030101010101" pitchFamily="2" charset="-122"/>
                </a:rPr>
                <a:t>yago</a:t>
              </a:r>
              <a:r>
                <a:rPr lang="de-DE" sz="1400" b="1" dirty="0">
                  <a:solidFill>
                    <a:srgbClr val="808080"/>
                  </a:solidFill>
                  <a:latin typeface="Times New Roman" panose="02020603050405020304" pitchFamily="18" charset="0"/>
                  <a:ea typeface="宋体" panose="02010600030101010101" pitchFamily="2" charset="-122"/>
                </a:rPr>
                <a:t>/wordnet:Actor109765278</a:t>
              </a:r>
              <a:r>
                <a:rPr lang="en-US" b="1" dirty="0">
                  <a:solidFill>
                    <a:srgbClr val="808080"/>
                  </a:solidFill>
                  <a:latin typeface="Times New Roman" panose="02020603050405020304" pitchFamily="18" charset="0"/>
                  <a:ea typeface="宋体" panose="02010600030101010101" pitchFamily="2" charset="-122"/>
                </a:rPr>
                <a:t> </a:t>
              </a:r>
              <a:endParaRPr lang="en-US" b="1" dirty="0">
                <a:solidFill>
                  <a:srgbClr val="808080"/>
                </a:solidFill>
                <a:latin typeface="Times New Roman" panose="02020603050405020304" pitchFamily="18" charset="0"/>
                <a:ea typeface="宋体" panose="02010600030101010101" pitchFamily="2" charset="-122"/>
              </a:endParaRPr>
            </a:p>
          </p:txBody>
        </p:sp>
      </p:grpSp>
      <p:cxnSp>
        <p:nvCxnSpPr>
          <p:cNvPr id="17" name="直接箭头连接符 16"/>
          <p:cNvCxnSpPr/>
          <p:nvPr/>
        </p:nvCxnSpPr>
        <p:spPr bwMode="auto">
          <a:xfrm flipV="1">
            <a:off x="2519772" y="2864825"/>
            <a:ext cx="2787215" cy="274650"/>
          </a:xfrm>
          <a:prstGeom prst="straightConnector1">
            <a:avLst/>
          </a:prstGeom>
          <a:solidFill>
            <a:schemeClr val="accent1"/>
          </a:solidFill>
          <a:ln w="38100" cap="flat" cmpd="sng" algn="ctr">
            <a:solidFill>
              <a:srgbClr val="00B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a:stCxn id="10" idx="3"/>
            <a:endCxn id="15" idx="1"/>
          </p:cNvCxnSpPr>
          <p:nvPr/>
        </p:nvCxnSpPr>
        <p:spPr bwMode="auto">
          <a:xfrm>
            <a:off x="2519772" y="3300207"/>
            <a:ext cx="1440160" cy="757395"/>
          </a:xfrm>
          <a:prstGeom prst="straightConnector1">
            <a:avLst/>
          </a:prstGeom>
          <a:solidFill>
            <a:schemeClr val="accent1"/>
          </a:solidFill>
          <a:ln w="38100" cap="flat" cmpd="sng" algn="ctr">
            <a:solidFill>
              <a:srgbClr val="00B05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矩形 18"/>
          <p:cNvSpPr/>
          <p:nvPr/>
        </p:nvSpPr>
        <p:spPr>
          <a:xfrm rot="21330865">
            <a:off x="2869729" y="2613820"/>
            <a:ext cx="1608133" cy="400110"/>
          </a:xfrm>
          <a:prstGeom prst="rect">
            <a:avLst/>
          </a:prstGeom>
        </p:spPr>
        <p:txBody>
          <a:bodyPr wrap="none">
            <a:spAutoFit/>
          </a:bodyPr>
          <a:lstStyle/>
          <a:p>
            <a:pPr fontAlgn="base">
              <a:spcBef>
                <a:spcPct val="20000"/>
              </a:spcBef>
              <a:spcAft>
                <a:spcPct val="0"/>
              </a:spcAft>
              <a:buClr>
                <a:srgbClr val="3366FF"/>
              </a:buClr>
              <a:buFont typeface="Wingdings" panose="05000000000000000000" pitchFamily="2" charset="2"/>
              <a:buNone/>
            </a:pPr>
            <a:r>
              <a:rPr lang="en-US" altLang="zh-CN" sz="2000" b="1" dirty="0" err="1">
                <a:solidFill>
                  <a:srgbClr val="C00000"/>
                </a:solidFill>
                <a:latin typeface="Times New Roman" panose="02020603050405020304" pitchFamily="18" charset="0"/>
                <a:ea typeface="宋体" panose="02010600030101010101" pitchFamily="2" charset="-122"/>
              </a:rPr>
              <a:t>Owl:SameAs</a:t>
            </a:r>
            <a:endParaRPr lang="zh-CN" altLang="en-US" sz="2000" b="1" dirty="0">
              <a:solidFill>
                <a:srgbClr val="C00000"/>
              </a:solidFill>
              <a:latin typeface="Times New Roman" panose="02020603050405020304" pitchFamily="18" charset="0"/>
              <a:ea typeface="宋体" panose="02010600030101010101" pitchFamily="2" charset="-122"/>
            </a:endParaRPr>
          </a:p>
        </p:txBody>
      </p:sp>
      <p:sp>
        <p:nvSpPr>
          <p:cNvPr id="20" name="矩形 19"/>
          <p:cNvSpPr/>
          <p:nvPr/>
        </p:nvSpPr>
        <p:spPr>
          <a:xfrm rot="1529712">
            <a:off x="2383568" y="3753630"/>
            <a:ext cx="1608133" cy="400110"/>
          </a:xfrm>
          <a:prstGeom prst="rect">
            <a:avLst/>
          </a:prstGeom>
        </p:spPr>
        <p:txBody>
          <a:bodyPr wrap="none">
            <a:spAutoFit/>
          </a:bodyPr>
          <a:lstStyle/>
          <a:p>
            <a:pPr fontAlgn="base">
              <a:spcBef>
                <a:spcPct val="20000"/>
              </a:spcBef>
              <a:spcAft>
                <a:spcPct val="0"/>
              </a:spcAft>
              <a:buClr>
                <a:srgbClr val="3366FF"/>
              </a:buClr>
              <a:buFont typeface="Wingdings" panose="05000000000000000000" pitchFamily="2" charset="2"/>
              <a:buNone/>
            </a:pPr>
            <a:r>
              <a:rPr lang="en-US" altLang="zh-CN" sz="2000" b="1" dirty="0" err="1">
                <a:solidFill>
                  <a:srgbClr val="C00000"/>
                </a:solidFill>
                <a:latin typeface="Times New Roman" panose="02020603050405020304" pitchFamily="18" charset="0"/>
                <a:ea typeface="宋体" panose="02010600030101010101" pitchFamily="2" charset="-122"/>
              </a:rPr>
              <a:t>Owl:SameAs</a:t>
            </a:r>
            <a:endParaRPr lang="zh-CN" altLang="en-US" sz="2000" b="1" dirty="0">
              <a:solidFill>
                <a:srgbClr val="C00000"/>
              </a:solidFill>
              <a:latin typeface="Times New Roman" panose="02020603050405020304" pitchFamily="18" charset="0"/>
              <a:ea typeface="宋体" panose="02010600030101010101" pitchFamily="2" charset="-122"/>
            </a:endParaRPr>
          </a:p>
        </p:txBody>
      </p:sp>
      <p:sp>
        <p:nvSpPr>
          <p:cNvPr id="21" name="椭圆形标注 20"/>
          <p:cNvSpPr/>
          <p:nvPr/>
        </p:nvSpPr>
        <p:spPr bwMode="auto">
          <a:xfrm>
            <a:off x="863588" y="1334285"/>
            <a:ext cx="2261468" cy="894652"/>
          </a:xfrm>
          <a:prstGeom prst="wedgeEllipseCallout">
            <a:avLst>
              <a:gd name="adj1" fmla="val -20833"/>
              <a:gd name="adj2" fmla="val 7527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algn="ctr" fontAlgn="base">
              <a:spcBef>
                <a:spcPct val="0"/>
              </a:spcBef>
              <a:spcAft>
                <a:spcPct val="0"/>
              </a:spcAft>
              <a:buFont typeface="Wingdings" panose="05000000000000000000" pitchFamily="2" charset="2"/>
              <a:buNone/>
            </a:pPr>
            <a:r>
              <a:rPr lang="en-US" altLang="zh-CN" sz="2200" dirty="0">
                <a:solidFill>
                  <a:srgbClr val="000000"/>
                </a:solidFill>
                <a:latin typeface="Times New Roman" panose="02020603050405020304" pitchFamily="18" charset="0"/>
                <a:ea typeface="宋体" panose="02010600030101010101" pitchFamily="2" charset="-122"/>
              </a:rPr>
              <a:t>I trust these sources</a:t>
            </a:r>
            <a:endParaRPr lang="zh-CN" altLang="en-US" sz="2200" dirty="0">
              <a:solidFill>
                <a:srgbClr val="000000"/>
              </a:solidFill>
              <a:ea typeface="宋体" panose="02010600030101010101" pitchFamily="2" charset="-122"/>
            </a:endParaRPr>
          </a:p>
        </p:txBody>
      </p:sp>
      <p:sp>
        <p:nvSpPr>
          <p:cNvPr id="22" name="AutoShape 168"/>
          <p:cNvSpPr>
            <a:spLocks noChangeArrowheads="1"/>
          </p:cNvSpPr>
          <p:nvPr/>
        </p:nvSpPr>
        <p:spPr bwMode="auto">
          <a:xfrm>
            <a:off x="323528" y="5085185"/>
            <a:ext cx="8509471" cy="1210780"/>
          </a:xfrm>
          <a:prstGeom prst="roundRect">
            <a:avLst>
              <a:gd name="adj" fmla="val 16667"/>
            </a:avLst>
          </a:prstGeom>
          <a:solidFill>
            <a:srgbClr val="FFFF99"/>
          </a:solidFill>
          <a:ln w="9525">
            <a:solidFill>
              <a:srgbClr val="FBFD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TextBox 52"/>
          <p:cNvSpPr txBox="1"/>
          <p:nvPr/>
        </p:nvSpPr>
        <p:spPr>
          <a:xfrm>
            <a:off x="473807" y="5324960"/>
            <a:ext cx="8208912" cy="892552"/>
          </a:xfrm>
          <a:prstGeom prst="rect">
            <a:avLst/>
          </a:prstGeom>
          <a:noFill/>
        </p:spPr>
        <p:txBody>
          <a:bodyPr wrap="square" rtlCol="0">
            <a:spAutoFit/>
          </a:bodyPr>
          <a:lstStyle/>
          <a:p>
            <a:pPr>
              <a:spcBef>
                <a:spcPct val="20000"/>
              </a:spcBef>
              <a:buClr>
                <a:srgbClr val="3366FF"/>
              </a:buClr>
            </a:pPr>
            <a:r>
              <a:rPr lang="en-US" altLang="zh-CN" sz="2800" dirty="0" err="1">
                <a:solidFill>
                  <a:srgbClr val="0000FF"/>
                </a:solidFill>
                <a:latin typeface="TimesNewRomanPSMT"/>
              </a:rPr>
              <a:t>owl:sameAs</a:t>
            </a:r>
            <a:r>
              <a:rPr lang="zh-CN" altLang="en-US" sz="2800" dirty="0">
                <a:solidFill>
                  <a:srgbClr val="0000FF"/>
                </a:solidFill>
                <a:latin typeface="黑体" panose="02010609060101010101" pitchFamily="49" charset="-122"/>
                <a:ea typeface="黑体" panose="02010609060101010101" pitchFamily="49" charset="-122"/>
              </a:rPr>
              <a:t>： </a:t>
            </a:r>
            <a:r>
              <a:rPr lang="zh-CN" altLang="en-US" sz="2400" b="0" dirty="0">
                <a:solidFill>
                  <a:srgbClr val="000000"/>
                </a:solidFill>
                <a:latin typeface="黑体" panose="02010609060101010101" pitchFamily="49" charset="-122"/>
                <a:ea typeface="黑体" panose="02010609060101010101" pitchFamily="49" charset="-122"/>
              </a:rPr>
              <a:t>用来</a:t>
            </a:r>
            <a:r>
              <a:rPr lang="zh-CN" altLang="en-US" sz="2400" b="0" dirty="0">
                <a:solidFill>
                  <a:srgbClr val="C00000"/>
                </a:solidFill>
                <a:latin typeface="黑体" panose="02010609060101010101" pitchFamily="49" charset="-122"/>
                <a:ea typeface="黑体" panose="02010609060101010101" pitchFamily="49" charset="-122"/>
              </a:rPr>
              <a:t>链接</a:t>
            </a:r>
            <a:r>
              <a:rPr lang="zh-CN" altLang="en-US" sz="2400" b="0" dirty="0">
                <a:solidFill>
                  <a:srgbClr val="000000"/>
                </a:solidFill>
                <a:latin typeface="黑体" panose="02010609060101010101" pitchFamily="49" charset="-122"/>
                <a:ea typeface="黑体" panose="02010609060101010101" pitchFamily="49" charset="-122"/>
              </a:rPr>
              <a:t>不同</a:t>
            </a:r>
            <a:r>
              <a:rPr lang="zh-CN" altLang="en-US" sz="2400" b="0" dirty="0">
                <a:solidFill>
                  <a:srgbClr val="C00000"/>
                </a:solidFill>
                <a:latin typeface="黑体" panose="02010609060101010101" pitchFamily="49" charset="-122"/>
                <a:ea typeface="黑体" panose="02010609060101010101" pitchFamily="49" charset="-122"/>
              </a:rPr>
              <a:t>数据源</a:t>
            </a:r>
            <a:r>
              <a:rPr lang="zh-CN" altLang="en-US" sz="2400" b="0" dirty="0">
                <a:solidFill>
                  <a:srgbClr val="000000"/>
                </a:solidFill>
                <a:latin typeface="黑体" panose="02010609060101010101" pitchFamily="49" charset="-122"/>
                <a:ea typeface="黑体" panose="02010609060101010101" pitchFamily="49" charset="-122"/>
              </a:rPr>
              <a:t>中指代相同实体的</a:t>
            </a:r>
            <a:r>
              <a:rPr lang="zh-CN" altLang="en-US" sz="2400" b="0" dirty="0">
                <a:solidFill>
                  <a:srgbClr val="C00000"/>
                </a:solidFill>
                <a:latin typeface="黑体" panose="02010609060101010101" pitchFamily="49" charset="-122"/>
                <a:ea typeface="黑体" panose="02010609060101010101" pitchFamily="49" charset="-122"/>
              </a:rPr>
              <a:t>标识符</a:t>
            </a:r>
            <a:r>
              <a:rPr lang="zh-CN" altLang="en-US" sz="2400" b="0" dirty="0">
                <a:solidFill>
                  <a:srgbClr val="000000"/>
                </a:solidFill>
                <a:latin typeface="黑体" panose="02010609060101010101" pitchFamily="49" charset="-122"/>
                <a:ea typeface="黑体" panose="02010609060101010101" pitchFamily="49" charset="-122"/>
              </a:rPr>
              <a:t>，防止不同的关联数据源</a:t>
            </a:r>
            <a:r>
              <a:rPr lang="zh-CN" altLang="en-US" sz="2400" b="0" dirty="0">
                <a:solidFill>
                  <a:srgbClr val="C00000"/>
                </a:solidFill>
                <a:latin typeface="黑体" panose="02010609060101010101" pitchFamily="49" charset="-122"/>
                <a:ea typeface="黑体" panose="02010609060101010101" pitchFamily="49" charset="-122"/>
              </a:rPr>
              <a:t>相互孤立 </a:t>
            </a:r>
            <a:r>
              <a:rPr lang="en-US" altLang="zh-CN" sz="2000" b="0" dirty="0">
                <a:solidFill>
                  <a:srgbClr val="000000"/>
                </a:solidFill>
                <a:latin typeface="TimesNewRomanPSMT"/>
              </a:rPr>
              <a:t>[Berners-Lee, 2006]</a:t>
            </a:r>
            <a:endParaRPr lang="zh-CN" altLang="en-US" sz="2400" b="1" dirty="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22" grpId="0" animBg="1"/>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5" name="矩形 4"/>
          <p:cNvSpPr/>
          <p:nvPr/>
        </p:nvSpPr>
        <p:spPr>
          <a:xfrm>
            <a:off x="899592" y="188640"/>
            <a:ext cx="6274475"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  </a:t>
            </a: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数据源可信性识别</a:t>
            </a:r>
            <a:endParaRPr kumimoji="0" lang="zh-CN" altLang="en-US" sz="28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115616" y="2132856"/>
            <a:ext cx="7156300" cy="4336595"/>
          </a:xfrm>
          <a:prstGeom prst="rect">
            <a:avLst/>
          </a:prstGeom>
        </p:spPr>
      </p:pic>
      <p:sp>
        <p:nvSpPr>
          <p:cNvPr id="24" name="矩形 23"/>
          <p:cNvSpPr/>
          <p:nvPr/>
        </p:nvSpPr>
        <p:spPr>
          <a:xfrm>
            <a:off x="697729" y="980728"/>
            <a:ext cx="7992074" cy="1323439"/>
          </a:xfrm>
          <a:prstGeom prst="rect">
            <a:avLst/>
          </a:prstGeom>
        </p:spPr>
        <p:txBody>
          <a:bodyPr wrap="square">
            <a:spAutoFit/>
          </a:bodyPr>
          <a:lstStyle/>
          <a:p>
            <a:pPr marL="285750" indent="-285750" algn="l">
              <a:lnSpc>
                <a:spcPct val="120000"/>
              </a:lnSpc>
              <a:spcBef>
                <a:spcPct val="20000"/>
              </a:spcBef>
              <a:buFont typeface="Wingdings" panose="05000000000000000000" pitchFamily="2" charset="2"/>
              <a:buChar char="l"/>
            </a:pPr>
            <a:r>
              <a:rPr lang="en-US" altLang="zh-CN" sz="2000" dirty="0">
                <a:solidFill>
                  <a:srgbClr val="000000"/>
                </a:solidFill>
                <a:latin typeface="Arial" panose="020B0604020202020204"/>
              </a:rPr>
              <a:t>18millions SameASTriples from BTC2012</a:t>
            </a:r>
            <a:endParaRPr lang="en-US" altLang="zh-CN" sz="2000" dirty="0">
              <a:solidFill>
                <a:srgbClr val="000000"/>
              </a:solidFill>
              <a:latin typeface="Arial" panose="020B0604020202020204"/>
            </a:endParaRPr>
          </a:p>
          <a:p>
            <a:pPr marL="285750" indent="-285750" algn="l">
              <a:lnSpc>
                <a:spcPct val="120000"/>
              </a:lnSpc>
              <a:spcBef>
                <a:spcPct val="20000"/>
              </a:spcBef>
              <a:buFont typeface="Wingdings" panose="05000000000000000000" pitchFamily="2" charset="2"/>
              <a:buChar char="l"/>
            </a:pPr>
            <a:r>
              <a:rPr lang="en-US" altLang="zh-CN" sz="2000" dirty="0">
                <a:solidFill>
                  <a:srgbClr val="000000"/>
                </a:solidFill>
                <a:latin typeface="Arial" panose="020B0604020202020204"/>
              </a:rPr>
              <a:t>1402 RDF Datasets</a:t>
            </a:r>
            <a:endParaRPr lang="en-US" altLang="zh-CN" sz="2000" dirty="0">
              <a:solidFill>
                <a:srgbClr val="000000"/>
              </a:solidFill>
              <a:latin typeface="Arial" panose="020B0604020202020204"/>
            </a:endParaRPr>
          </a:p>
          <a:p>
            <a:pPr marL="285750" indent="-285750" algn="l">
              <a:lnSpc>
                <a:spcPct val="120000"/>
              </a:lnSpc>
              <a:spcBef>
                <a:spcPct val="20000"/>
              </a:spcBef>
              <a:buFont typeface="Wingdings" panose="05000000000000000000" pitchFamily="2" charset="2"/>
              <a:buChar char="l"/>
            </a:pPr>
            <a:r>
              <a:rPr lang="en-US" altLang="zh-CN" sz="2000" dirty="0">
                <a:solidFill>
                  <a:srgbClr val="000000"/>
                </a:solidFill>
                <a:latin typeface="Arial" panose="020B0604020202020204"/>
              </a:rPr>
              <a:t>14 Iterations</a:t>
            </a:r>
            <a:endParaRPr lang="en-US" altLang="zh-CN" sz="2000" dirty="0">
              <a:solidFill>
                <a:srgbClr val="000000"/>
              </a:solidFill>
              <a:latin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9675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spcAft>
                <a:spcPts val="600"/>
              </a:spcAft>
              <a:buClr>
                <a:srgbClr val="1557AE"/>
              </a:buClr>
              <a:buFont typeface="Wingdings" panose="05000000000000000000" pitchFamily="2" charset="2"/>
              <a:buChar char="ü"/>
              <a:defRPr/>
            </a:pPr>
            <a:r>
              <a:rPr lang="en-US" altLang="zh-CN" sz="2400" dirty="0">
                <a:solidFill>
                  <a:srgbClr val="1557AE"/>
                </a:solidFill>
                <a:latin typeface="Calibri" panose="020F0502020204030204" pitchFamily="34" charset="0"/>
                <a:cs typeface="Calibri" panose="020F0502020204030204" pitchFamily="34" charset="0"/>
              </a:rPr>
              <a:t>HITS(Hyperlink - Induced Topic Search) </a:t>
            </a:r>
            <a:r>
              <a:rPr lang="zh-CN" altLang="en-US" sz="2400" dirty="0">
                <a:solidFill>
                  <a:srgbClr val="1557AE"/>
                </a:solidFill>
                <a:latin typeface="Calibri" panose="020F0502020204030204" pitchFamily="34" charset="0"/>
                <a:cs typeface="Calibri" panose="020F0502020204030204" pitchFamily="34" charset="0"/>
              </a:rPr>
              <a:t> </a:t>
            </a:r>
            <a:r>
              <a:rPr lang="zh-CN" altLang="en-US" sz="2400" dirty="0">
                <a:latin typeface="Calibri" panose="020F0502020204030204" pitchFamily="34" charset="0"/>
                <a:cs typeface="Calibri" panose="020F0502020204030204" pitchFamily="34" charset="0"/>
              </a:rPr>
              <a:t>算法是由</a:t>
            </a:r>
            <a:r>
              <a:rPr lang="en-US" altLang="zh-CN" sz="2400" dirty="0">
                <a:latin typeface="Calibri" panose="020F0502020204030204" pitchFamily="34" charset="0"/>
                <a:cs typeface="Calibri" panose="020F0502020204030204" pitchFamily="34" charset="0"/>
              </a:rPr>
              <a:t>Cornell University </a:t>
            </a:r>
            <a:r>
              <a:rPr lang="zh-CN" altLang="en-US" sz="2400" dirty="0">
                <a:latin typeface="Calibri" panose="020F0502020204030204" pitchFamily="34" charset="0"/>
                <a:cs typeface="Calibri" panose="020F0502020204030204" pitchFamily="34" charset="0"/>
              </a:rPr>
              <a:t>的</a:t>
            </a:r>
            <a:r>
              <a:rPr lang="en-US" altLang="zh-CN" sz="2400" dirty="0">
                <a:latin typeface="Calibri" panose="020F0502020204030204" pitchFamily="34" charset="0"/>
                <a:cs typeface="Calibri" panose="020F0502020204030204" pitchFamily="34" charset="0"/>
              </a:rPr>
              <a:t>Jon Kleinberg</a:t>
            </a:r>
            <a:r>
              <a:rPr lang="zh-CN" altLang="en-US" sz="2400" dirty="0">
                <a:latin typeface="Calibri" panose="020F0502020204030204" pitchFamily="34" charset="0"/>
                <a:cs typeface="Calibri" panose="020F0502020204030204" pitchFamily="34" charset="0"/>
                <a:sym typeface="+mn-ea"/>
              </a:rPr>
              <a:t>（克莱因伯格）</a:t>
            </a:r>
            <a:r>
              <a:rPr lang="en-US" altLang="zh-CN" sz="2400" dirty="0">
                <a:latin typeface="Calibri" panose="020F0502020204030204" pitchFamily="34" charset="0"/>
                <a:cs typeface="Calibri" panose="020F0502020204030204" pitchFamily="34" charset="0"/>
              </a:rPr>
              <a:t> </a:t>
            </a:r>
            <a:r>
              <a:rPr lang="zh-CN" altLang="en-US" sz="2400" dirty="0">
                <a:latin typeface="Calibri" panose="020F0502020204030204" pitchFamily="34" charset="0"/>
                <a:cs typeface="Calibri" panose="020F0502020204030204" pitchFamily="34" charset="0"/>
              </a:rPr>
              <a:t>于</a:t>
            </a:r>
            <a:r>
              <a:rPr lang="en-US" altLang="zh-CN" sz="2400" dirty="0">
                <a:latin typeface="Calibri" panose="020F0502020204030204" pitchFamily="34" charset="0"/>
                <a:cs typeface="Calibri" panose="020F0502020204030204" pitchFamily="34" charset="0"/>
              </a:rPr>
              <a:t>1997 </a:t>
            </a:r>
            <a:r>
              <a:rPr lang="zh-CN" altLang="en-US" sz="2400" dirty="0">
                <a:latin typeface="Calibri" panose="020F0502020204030204" pitchFamily="34" charset="0"/>
                <a:cs typeface="Calibri" panose="020F0502020204030204" pitchFamily="34" charset="0"/>
              </a:rPr>
              <a:t>年首先提出的</a:t>
            </a:r>
            <a:r>
              <a:rPr lang="en-US" altLang="zh-CN" sz="2400" dirty="0">
                <a:latin typeface="Calibri" panose="020F0502020204030204" pitchFamily="34" charset="0"/>
                <a:cs typeface="Calibri" panose="020F0502020204030204" pitchFamily="34" charset="0"/>
              </a:rPr>
              <a:t>,</a:t>
            </a:r>
            <a:r>
              <a:rPr lang="zh-CN" altLang="en-US" sz="2400" dirty="0">
                <a:latin typeface="Calibri" panose="020F0502020204030204" pitchFamily="34" charset="0"/>
                <a:cs typeface="Calibri" panose="020F0502020204030204" pitchFamily="34" charset="0"/>
              </a:rPr>
              <a:t>为</a:t>
            </a:r>
            <a:r>
              <a:rPr lang="en-US" altLang="zh-CN" sz="2400" dirty="0">
                <a:latin typeface="Calibri" panose="020F0502020204030204" pitchFamily="34" charset="0"/>
                <a:cs typeface="Calibri" panose="020F0502020204030204" pitchFamily="34" charset="0"/>
              </a:rPr>
              <a:t>IBM </a:t>
            </a:r>
            <a:r>
              <a:rPr lang="en-US" altLang="zh-CN" sz="2400" dirty="0" err="1">
                <a:latin typeface="Calibri" panose="020F0502020204030204" pitchFamily="34" charset="0"/>
                <a:cs typeface="Calibri" panose="020F0502020204030204" pitchFamily="34" charset="0"/>
              </a:rPr>
              <a:t>Almaden</a:t>
            </a:r>
            <a:r>
              <a:rPr lang="en-US" altLang="zh-CN" sz="2400" dirty="0">
                <a:latin typeface="Calibri" panose="020F0502020204030204" pitchFamily="34" charset="0"/>
                <a:cs typeface="Calibri" panose="020F0502020204030204" pitchFamily="34" charset="0"/>
              </a:rPr>
              <a:t> Research Center</a:t>
            </a:r>
            <a:r>
              <a:rPr lang="zh-CN" altLang="en-US" sz="2400" dirty="0">
                <a:latin typeface="Calibri" panose="020F0502020204030204" pitchFamily="34" charset="0"/>
                <a:cs typeface="Calibri" panose="020F0502020204030204" pitchFamily="34" charset="0"/>
              </a:rPr>
              <a:t>的 “</a:t>
            </a:r>
            <a:r>
              <a:rPr lang="en-US" altLang="zh-CN" sz="2400" dirty="0">
                <a:latin typeface="Calibri" panose="020F0502020204030204" pitchFamily="34" charset="0"/>
                <a:cs typeface="Calibri" panose="020F0502020204030204" pitchFamily="34" charset="0"/>
              </a:rPr>
              <a:t>CLEVER”</a:t>
            </a:r>
            <a:r>
              <a:rPr lang="zh-CN" altLang="en-US" sz="2400" dirty="0">
                <a:latin typeface="Calibri" panose="020F0502020204030204" pitchFamily="34" charset="0"/>
                <a:cs typeface="Calibri" panose="020F0502020204030204" pitchFamily="34" charset="0"/>
              </a:rPr>
              <a:t> 项目中的一部分。</a:t>
            </a:r>
            <a:endParaRPr lang="en-US" altLang="zh-CN" sz="2400" dirty="0">
              <a:latin typeface="Calibri" panose="020F0502020204030204" pitchFamily="34" charset="0"/>
              <a:cs typeface="Calibri" panose="020F0502020204030204" pitchFamily="34" charset="0"/>
            </a:endParaRPr>
          </a:p>
          <a:p>
            <a:pPr lvl="1" eaLnBrk="1" hangingPunct="1">
              <a:lnSpc>
                <a:spcPct val="120000"/>
              </a:lnSpc>
              <a:spcBef>
                <a:spcPts val="600"/>
              </a:spcBef>
              <a:spcAft>
                <a:spcPts val="600"/>
              </a:spcAft>
              <a:buClr>
                <a:srgbClr val="1557AE"/>
              </a:buClr>
              <a:buFont typeface="Wingdings" panose="05000000000000000000" pitchFamily="2" charset="2"/>
              <a:buChar char="ü"/>
              <a:defRPr/>
            </a:pPr>
            <a:r>
              <a:rPr lang="zh-CN" altLang="en-US" sz="2400" dirty="0">
                <a:latin typeface="Calibri" panose="020F0502020204030204" pitchFamily="34" charset="0"/>
                <a:cs typeface="Calibri" panose="020F0502020204030204" pitchFamily="34" charset="0"/>
              </a:rPr>
              <a:t>不同于</a:t>
            </a:r>
            <a:r>
              <a:rPr lang="en-US" altLang="ja-JP" sz="2400" dirty="0">
                <a:latin typeface="Calibri" panose="020F0502020204030204" pitchFamily="34" charset="0"/>
                <a:cs typeface="Calibri" panose="020F0502020204030204" pitchFamily="34" charset="0"/>
              </a:rPr>
              <a:t>PageRank </a:t>
            </a:r>
            <a:r>
              <a:rPr lang="zh-CN" altLang="en-US" sz="2400" dirty="0">
                <a:latin typeface="Calibri" panose="020F0502020204030204" pitchFamily="34" charset="0"/>
                <a:cs typeface="Calibri" panose="020F0502020204030204" pitchFamily="34" charset="0"/>
              </a:rPr>
              <a:t>，</a:t>
            </a:r>
            <a:r>
              <a:rPr lang="en-US" altLang="ja-JP" sz="2400" dirty="0">
                <a:latin typeface="Calibri" panose="020F0502020204030204" pitchFamily="34" charset="0"/>
                <a:cs typeface="Calibri" panose="020F0502020204030204" pitchFamily="34" charset="0"/>
              </a:rPr>
              <a:t> </a:t>
            </a:r>
            <a:r>
              <a:rPr lang="en-US" altLang="ja-JP" sz="2400" dirty="0">
                <a:solidFill>
                  <a:srgbClr val="1557AE"/>
                </a:solidFill>
                <a:latin typeface="Calibri" panose="020F0502020204030204" pitchFamily="34" charset="0"/>
                <a:cs typeface="Calibri" panose="020F0502020204030204" pitchFamily="34" charset="0"/>
              </a:rPr>
              <a:t>HITS</a:t>
            </a:r>
            <a:r>
              <a:rPr lang="zh-CN" altLang="en-US" sz="2400" dirty="0">
                <a:solidFill>
                  <a:srgbClr val="1557AE"/>
                </a:solidFill>
                <a:latin typeface="Calibri" panose="020F0502020204030204" pitchFamily="34" charset="0"/>
                <a:cs typeface="Calibri" panose="020F0502020204030204" pitchFamily="34" charset="0"/>
              </a:rPr>
              <a:t>是查询相关的</a:t>
            </a:r>
            <a:r>
              <a:rPr lang="en-US" altLang="ja-JP" sz="2400" dirty="0">
                <a:solidFill>
                  <a:srgbClr val="1557AE"/>
                </a:solidFill>
                <a:latin typeface="Calibri" panose="020F0502020204030204" pitchFamily="34" charset="0"/>
                <a:cs typeface="Calibri" panose="020F0502020204030204" pitchFamily="34" charset="0"/>
              </a:rPr>
              <a:t>. </a:t>
            </a:r>
            <a:endParaRPr lang="en-US" altLang="ja-JP" sz="2400" dirty="0">
              <a:solidFill>
                <a:srgbClr val="1557AE"/>
              </a:solidFill>
              <a:latin typeface="Calibri" panose="020F0502020204030204" pitchFamily="34" charset="0"/>
              <a:cs typeface="Calibri" panose="020F0502020204030204" pitchFamily="34" charset="0"/>
            </a:endParaRPr>
          </a:p>
          <a:p>
            <a:pPr lvl="1" eaLnBrk="1" hangingPunct="1">
              <a:lnSpc>
                <a:spcPct val="120000"/>
              </a:lnSpc>
              <a:spcBef>
                <a:spcPts val="600"/>
              </a:spcBef>
              <a:buClr>
                <a:srgbClr val="0000FF"/>
              </a:buClr>
              <a:buFont typeface="Wingdings" panose="05000000000000000000" pitchFamily="2" charset="2"/>
              <a:buChar char="ü"/>
              <a:defRPr/>
            </a:pPr>
            <a:endParaRPr lang="en-US" altLang="zh-CN" sz="2200" dirty="0">
              <a:solidFill>
                <a:srgbClr val="0000FF"/>
              </a:solidFill>
              <a:latin typeface="Calibri" panose="020F0502020204030204" pitchFamily="34" charset="0"/>
              <a:cs typeface="Calibri" panose="020F0502020204030204" pitchFamily="34" charset="0"/>
            </a:endParaRPr>
          </a:p>
        </p:txBody>
      </p:sp>
      <p:sp>
        <p:nvSpPr>
          <p:cNvPr id="4" name="矩形 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1968" y="1176385"/>
            <a:ext cx="7331288"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Font typeface="Wingdings" panose="05000000000000000000" pitchFamily="2" charset="2"/>
              <a:buChar char="ü"/>
              <a:defRPr/>
            </a:pPr>
            <a:r>
              <a:rPr lang="en-US" altLang="zh-CN" sz="2400" dirty="0">
                <a:solidFill>
                  <a:srgbClr val="1557AE"/>
                </a:solidFill>
                <a:latin typeface="Calibri" panose="020F0502020204030204" pitchFamily="34" charset="0"/>
                <a:cs typeface="Calibri" panose="020F0502020204030204" pitchFamily="34" charset="0"/>
              </a:rPr>
              <a:t>Hub</a:t>
            </a:r>
            <a:r>
              <a:rPr lang="zh-CN" altLang="en-US" sz="2400" dirty="0">
                <a:solidFill>
                  <a:srgbClr val="1557AE"/>
                </a:solidFill>
                <a:latin typeface="Calibri" panose="020F0502020204030204" pitchFamily="34" charset="0"/>
                <a:cs typeface="Calibri" panose="020F0502020204030204" pitchFamily="34" charset="0"/>
              </a:rPr>
              <a:t>页面（枢纽页面）和</a:t>
            </a:r>
            <a:r>
              <a:rPr lang="en-US" altLang="zh-CN" sz="2400" dirty="0">
                <a:solidFill>
                  <a:srgbClr val="1557AE"/>
                </a:solidFill>
                <a:latin typeface="Calibri" panose="020F0502020204030204" pitchFamily="34" charset="0"/>
                <a:cs typeface="Calibri" panose="020F0502020204030204" pitchFamily="34" charset="0"/>
              </a:rPr>
              <a:t>Authority</a:t>
            </a:r>
            <a:r>
              <a:rPr lang="zh-CN" altLang="en-US" sz="2400" dirty="0">
                <a:solidFill>
                  <a:srgbClr val="1557AE"/>
                </a:solidFill>
                <a:latin typeface="Calibri" panose="020F0502020204030204" pitchFamily="34" charset="0"/>
                <a:cs typeface="Calibri" panose="020F0502020204030204" pitchFamily="34" charset="0"/>
              </a:rPr>
              <a:t>页面（权威页面）是</a:t>
            </a:r>
            <a:r>
              <a:rPr lang="en-US" altLang="zh-CN" sz="2400" dirty="0">
                <a:solidFill>
                  <a:srgbClr val="1557AE"/>
                </a:solidFill>
                <a:latin typeface="Calibri" panose="020F0502020204030204" pitchFamily="34" charset="0"/>
                <a:cs typeface="Calibri" panose="020F0502020204030204" pitchFamily="34" charset="0"/>
              </a:rPr>
              <a:t>HITS</a:t>
            </a:r>
            <a:r>
              <a:rPr lang="zh-CN" altLang="en-US" sz="2400" dirty="0">
                <a:solidFill>
                  <a:srgbClr val="1557AE"/>
                </a:solidFill>
                <a:latin typeface="Calibri" panose="020F0502020204030204" pitchFamily="34" charset="0"/>
                <a:cs typeface="Calibri" panose="020F0502020204030204" pitchFamily="34" charset="0"/>
              </a:rPr>
              <a:t>算法最基本的两个定义。</a:t>
            </a:r>
            <a:endParaRPr lang="zh-CN" altLang="en-US" sz="2400" dirty="0">
              <a:solidFill>
                <a:srgbClr val="1557AE"/>
              </a:solidFill>
              <a:latin typeface="Calibri" panose="020F0502020204030204" pitchFamily="34" charset="0"/>
              <a:cs typeface="Calibri" panose="020F0502020204030204" pitchFamily="34" charset="0"/>
            </a:endParaRPr>
          </a:p>
          <a:p>
            <a:pPr lvl="2">
              <a:lnSpc>
                <a:spcPct val="120000"/>
              </a:lnSpc>
              <a:spcBef>
                <a:spcPts val="600"/>
              </a:spcBef>
              <a:buClrTx/>
              <a:buFont typeface="Wingdings" panose="05000000000000000000" pitchFamily="2" charset="2"/>
              <a:buChar char=""/>
            </a:pPr>
            <a:r>
              <a:rPr lang="en-US" altLang="zh-CN" sz="2000" dirty="0">
                <a:solidFill>
                  <a:srgbClr val="1557AE"/>
                </a:solidFill>
                <a:latin typeface="Calibri" panose="020F0502020204030204" pitchFamily="34" charset="0"/>
                <a:cs typeface="Calibri" panose="020F0502020204030204" pitchFamily="34" charset="0"/>
              </a:rPr>
              <a:t>Authority</a:t>
            </a:r>
            <a:r>
              <a:rPr lang="zh-CN" altLang="en-US" sz="2000" dirty="0">
                <a:solidFill>
                  <a:srgbClr val="1557AE"/>
                </a:solidFill>
                <a:latin typeface="Calibri" panose="020F0502020204030204" pitchFamily="34" charset="0"/>
                <a:cs typeface="Calibri" panose="020F0502020204030204" pitchFamily="34" charset="0"/>
              </a:rPr>
              <a:t>页面，</a:t>
            </a:r>
            <a:r>
              <a:rPr lang="zh-CN" altLang="en-US" sz="2000" b="0" dirty="0">
                <a:latin typeface="Calibri" panose="020F0502020204030204" pitchFamily="34" charset="0"/>
                <a:cs typeface="Calibri" panose="020F0502020204030204" pitchFamily="34" charset="0"/>
              </a:rPr>
              <a:t>是指与某个领域或者某个话题相关的高质量网页。</a:t>
            </a:r>
            <a:endParaRPr lang="zh-CN" altLang="en-US" sz="2000" b="0" dirty="0">
              <a:latin typeface="Calibri" panose="020F0502020204030204" pitchFamily="34" charset="0"/>
              <a:cs typeface="Calibri" panose="020F0502020204030204" pitchFamily="34" charset="0"/>
            </a:endParaRPr>
          </a:p>
          <a:p>
            <a:pPr lvl="2">
              <a:lnSpc>
                <a:spcPct val="120000"/>
              </a:lnSpc>
              <a:spcBef>
                <a:spcPts val="600"/>
              </a:spcBef>
              <a:buClrTx/>
              <a:buFont typeface="Wingdings" panose="05000000000000000000" pitchFamily="2" charset="2"/>
              <a:buChar char=""/>
            </a:pPr>
            <a:r>
              <a:rPr lang="en-US" altLang="zh-CN" sz="2000" dirty="0">
                <a:solidFill>
                  <a:srgbClr val="1557AE"/>
                </a:solidFill>
                <a:latin typeface="Calibri" panose="020F0502020204030204" pitchFamily="34" charset="0"/>
                <a:cs typeface="Calibri" panose="020F0502020204030204" pitchFamily="34" charset="0"/>
              </a:rPr>
              <a:t>Hub</a:t>
            </a:r>
            <a:r>
              <a:rPr lang="zh-CN" altLang="en-US" sz="2000" dirty="0">
                <a:solidFill>
                  <a:srgbClr val="1557AE"/>
                </a:solidFill>
                <a:latin typeface="Calibri" panose="020F0502020204030204" pitchFamily="34" charset="0"/>
                <a:cs typeface="Calibri" panose="020F0502020204030204" pitchFamily="34" charset="0"/>
              </a:rPr>
              <a:t>页面，</a:t>
            </a:r>
            <a:r>
              <a:rPr lang="zh-CN" altLang="en-US" sz="2000" b="0" dirty="0">
                <a:latin typeface="Calibri" panose="020F0502020204030204" pitchFamily="34" charset="0"/>
                <a:cs typeface="Calibri" panose="020F0502020204030204" pitchFamily="34" charset="0"/>
              </a:rPr>
              <a:t>指的是包含了很多指向高质量</a:t>
            </a:r>
            <a:r>
              <a:rPr lang="en-US" altLang="zh-CN" sz="2000" b="0" dirty="0">
                <a:latin typeface="Calibri" panose="020F0502020204030204" pitchFamily="34" charset="0"/>
                <a:cs typeface="Calibri" panose="020F0502020204030204" pitchFamily="34" charset="0"/>
              </a:rPr>
              <a:t>Authority</a:t>
            </a:r>
            <a:r>
              <a:rPr lang="zh-CN" altLang="en-US" sz="2000" b="0" dirty="0">
                <a:latin typeface="Calibri" panose="020F0502020204030204" pitchFamily="34" charset="0"/>
                <a:cs typeface="Calibri" panose="020F0502020204030204" pitchFamily="34" charset="0"/>
              </a:rPr>
              <a:t>页面链接的网页。</a:t>
            </a:r>
            <a:endParaRPr lang="zh-CN" altLang="en-US" sz="2000" b="0" dirty="0">
              <a:latin typeface="Calibri" panose="020F0502020204030204" pitchFamily="34" charset="0"/>
              <a:cs typeface="Calibri" panose="020F0502020204030204" pitchFamily="34" charset="0"/>
            </a:endParaRPr>
          </a:p>
          <a:p>
            <a:pPr lvl="1" eaLnBrk="1" hangingPunct="1">
              <a:lnSpc>
                <a:spcPct val="120000"/>
              </a:lnSpc>
              <a:spcBef>
                <a:spcPts val="600"/>
              </a:spcBef>
              <a:buClr>
                <a:srgbClr val="0000FF"/>
              </a:buClr>
              <a:buFont typeface="Wingdings" panose="05000000000000000000" pitchFamily="2" charset="2"/>
              <a:buChar char="ü"/>
              <a:defRPr/>
            </a:pPr>
            <a:endParaRPr lang="en-US" altLang="zh-CN" sz="2200" dirty="0">
              <a:solidFill>
                <a:srgbClr val="0000FF"/>
              </a:solidFill>
              <a:latin typeface="Calibri" panose="020F0502020204030204" pitchFamily="34" charset="0"/>
              <a:cs typeface="Calibri" panose="020F0502020204030204" pitchFamily="34" charset="0"/>
            </a:endParaRPr>
          </a:p>
        </p:txBody>
      </p:sp>
      <p:grpSp>
        <p:nvGrpSpPr>
          <p:cNvPr id="4" name="Group 2"/>
          <p:cNvGrpSpPr/>
          <p:nvPr/>
        </p:nvGrpSpPr>
        <p:grpSpPr bwMode="auto">
          <a:xfrm>
            <a:off x="7813028" y="2446019"/>
            <a:ext cx="878211" cy="930275"/>
            <a:chOff x="1330" y="3287"/>
            <a:chExt cx="691" cy="698"/>
          </a:xfrm>
        </p:grpSpPr>
        <p:sp>
          <p:nvSpPr>
            <p:cNvPr id="5" name="Rectangle 3"/>
            <p:cNvSpPr>
              <a:spLocks noChangeArrowheads="1"/>
            </p:cNvSpPr>
            <p:nvPr/>
          </p:nvSpPr>
          <p:spPr bwMode="auto">
            <a:xfrm>
              <a:off x="1759" y="3447"/>
              <a:ext cx="262" cy="410"/>
            </a:xfrm>
            <a:prstGeom prst="rect">
              <a:avLst/>
            </a:prstGeom>
            <a:solidFill>
              <a:srgbClr val="CC0000"/>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sp>
          <p:nvSpPr>
            <p:cNvPr id="7" name="Line 4"/>
            <p:cNvSpPr>
              <a:spLocks noChangeShapeType="1"/>
            </p:cNvSpPr>
            <p:nvPr/>
          </p:nvSpPr>
          <p:spPr bwMode="auto">
            <a:xfrm>
              <a:off x="1454" y="3427"/>
              <a:ext cx="339" cy="83"/>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Line 5"/>
            <p:cNvSpPr>
              <a:spLocks noChangeShapeType="1"/>
            </p:cNvSpPr>
            <p:nvPr/>
          </p:nvSpPr>
          <p:spPr bwMode="auto">
            <a:xfrm>
              <a:off x="1452" y="3639"/>
              <a:ext cx="345" cy="6"/>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 name="Line 6"/>
            <p:cNvSpPr>
              <a:spLocks noChangeShapeType="1"/>
            </p:cNvSpPr>
            <p:nvPr/>
          </p:nvSpPr>
          <p:spPr bwMode="auto">
            <a:xfrm flipV="1">
              <a:off x="1440" y="3747"/>
              <a:ext cx="364" cy="96"/>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 name="Rectangle 7"/>
            <p:cNvSpPr>
              <a:spLocks noChangeArrowheads="1"/>
            </p:cNvSpPr>
            <p:nvPr/>
          </p:nvSpPr>
          <p:spPr bwMode="auto">
            <a:xfrm>
              <a:off x="1331" y="3287"/>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sp>
          <p:nvSpPr>
            <p:cNvPr id="11" name="Rectangle 8"/>
            <p:cNvSpPr>
              <a:spLocks noChangeArrowheads="1"/>
            </p:cNvSpPr>
            <p:nvPr/>
          </p:nvSpPr>
          <p:spPr bwMode="auto">
            <a:xfrm>
              <a:off x="1331" y="3524"/>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sp>
          <p:nvSpPr>
            <p:cNvPr id="12" name="Rectangle 9"/>
            <p:cNvSpPr>
              <a:spLocks noChangeArrowheads="1"/>
            </p:cNvSpPr>
            <p:nvPr/>
          </p:nvSpPr>
          <p:spPr bwMode="auto">
            <a:xfrm>
              <a:off x="1330" y="3761"/>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grpSp>
      <p:grpSp>
        <p:nvGrpSpPr>
          <p:cNvPr id="13" name="Group 10"/>
          <p:cNvGrpSpPr/>
          <p:nvPr/>
        </p:nvGrpSpPr>
        <p:grpSpPr bwMode="auto">
          <a:xfrm>
            <a:off x="7782867" y="3885881"/>
            <a:ext cx="905386" cy="930275"/>
            <a:chOff x="4127" y="3222"/>
            <a:chExt cx="712" cy="698"/>
          </a:xfrm>
        </p:grpSpPr>
        <p:sp>
          <p:nvSpPr>
            <p:cNvPr id="14" name="Rectangle 11"/>
            <p:cNvSpPr>
              <a:spLocks noChangeArrowheads="1"/>
            </p:cNvSpPr>
            <p:nvPr/>
          </p:nvSpPr>
          <p:spPr bwMode="auto">
            <a:xfrm>
              <a:off x="4127" y="3331"/>
              <a:ext cx="262" cy="410"/>
            </a:xfrm>
            <a:prstGeom prst="rect">
              <a:avLst/>
            </a:prstGeom>
            <a:solidFill>
              <a:srgbClr val="33CC33"/>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rgbClr val="009900"/>
                </a:solidFill>
                <a:effectLst/>
                <a:uLnTx/>
                <a:uFillTx/>
                <a:latin typeface="Arial" panose="020B0604020202020204" pitchFamily="34" charset="0"/>
              </a:endParaRPr>
            </a:p>
          </p:txBody>
        </p:sp>
        <p:sp>
          <p:nvSpPr>
            <p:cNvPr id="15" name="Line 12"/>
            <p:cNvSpPr>
              <a:spLocks noChangeShapeType="1"/>
            </p:cNvSpPr>
            <p:nvPr/>
          </p:nvSpPr>
          <p:spPr bwMode="auto">
            <a:xfrm>
              <a:off x="4353" y="3651"/>
              <a:ext cx="339" cy="83"/>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Line 13"/>
            <p:cNvSpPr>
              <a:spLocks noChangeShapeType="1"/>
            </p:cNvSpPr>
            <p:nvPr/>
          </p:nvSpPr>
          <p:spPr bwMode="auto">
            <a:xfrm>
              <a:off x="4351" y="3510"/>
              <a:ext cx="345" cy="6"/>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Line 14"/>
            <p:cNvSpPr>
              <a:spLocks noChangeShapeType="1"/>
            </p:cNvSpPr>
            <p:nvPr/>
          </p:nvSpPr>
          <p:spPr bwMode="auto">
            <a:xfrm flipV="1">
              <a:off x="4339" y="3312"/>
              <a:ext cx="364" cy="96"/>
            </a:xfrm>
            <a:prstGeom prst="line">
              <a:avLst/>
            </a:prstGeom>
            <a:noFill/>
            <a:ln w="28575">
              <a:solidFill>
                <a:srgbClr val="000066"/>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 name="Rectangle 15"/>
            <p:cNvSpPr>
              <a:spLocks noChangeArrowheads="1"/>
            </p:cNvSpPr>
            <p:nvPr/>
          </p:nvSpPr>
          <p:spPr bwMode="auto">
            <a:xfrm>
              <a:off x="4698" y="3222"/>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sp>
          <p:nvSpPr>
            <p:cNvPr id="19" name="Rectangle 16"/>
            <p:cNvSpPr>
              <a:spLocks noChangeArrowheads="1"/>
            </p:cNvSpPr>
            <p:nvPr/>
          </p:nvSpPr>
          <p:spPr bwMode="auto">
            <a:xfrm>
              <a:off x="4698" y="3459"/>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sp>
          <p:nvSpPr>
            <p:cNvPr id="20" name="Rectangle 17"/>
            <p:cNvSpPr>
              <a:spLocks noChangeArrowheads="1"/>
            </p:cNvSpPr>
            <p:nvPr/>
          </p:nvSpPr>
          <p:spPr bwMode="auto">
            <a:xfrm>
              <a:off x="4697" y="3696"/>
              <a:ext cx="141" cy="224"/>
            </a:xfrm>
            <a:prstGeom prst="rect">
              <a:avLst/>
            </a:prstGeom>
            <a:solidFill>
              <a:srgbClr val="FFFFCC"/>
            </a:solidFill>
            <a:ln w="12700">
              <a:solidFill>
                <a:srgbClr val="000000"/>
              </a:solidFill>
              <a:miter lim="800000"/>
              <a:headEnd type="none" w="sm" len="sm"/>
              <a:tailEnd type="none" w="sm" len="sm"/>
            </a:ln>
          </p:spPr>
          <p:txBody>
            <a:bodyPr wrap="none" anchor="ctr"/>
            <a:lstStyle/>
            <a:p>
              <a:pPr marL="0" marR="0" lvl="0" indent="0" algn="ctr" defTabSz="914400" eaLnBrk="0" latinLnBrk="0" hangingPunct="0">
                <a:lnSpc>
                  <a:spcPct val="90000"/>
                </a:lnSpc>
                <a:spcBef>
                  <a:spcPct val="50000"/>
                </a:spcBef>
                <a:spcAft>
                  <a:spcPts val="0"/>
                </a:spcAft>
                <a:buClrTx/>
                <a:buSzTx/>
                <a:buFontTx/>
                <a:buNone/>
                <a:defRPr/>
              </a:pPr>
              <a:endParaRPr kumimoji="0" lang="zh-CN" altLang="zh-CN" sz="3200" b="1" i="0" u="none" strike="noStrike" kern="0" cap="none" spc="0" normalizeH="0" baseline="0" noProof="0">
                <a:ln>
                  <a:noFill/>
                </a:ln>
                <a:solidFill>
                  <a:sysClr val="windowText" lastClr="000000"/>
                </a:solidFill>
                <a:effectLst/>
                <a:uLnTx/>
                <a:uFillTx/>
                <a:latin typeface="Arial" panose="020B0604020202020204" pitchFamily="34" charset="0"/>
              </a:endParaRPr>
            </a:p>
          </p:txBody>
        </p:sp>
      </p:grpSp>
      <p:pic>
        <p:nvPicPr>
          <p:cNvPr id="12292" name="Picture 4" descr="http://img.my.csdn.net/uploads/201209/24/1348482442_862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5284" y="4450573"/>
            <a:ext cx="5904656" cy="204229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2" name="Rectangle 3"/>
          <p:cNvSpPr txBox="1">
            <a:spLocks noChangeArrowheads="1"/>
          </p:cNvSpPr>
          <p:nvPr/>
        </p:nvSpPr>
        <p:spPr bwMode="auto">
          <a:xfrm>
            <a:off x="427832" y="5104502"/>
            <a:ext cx="8367712" cy="1512168"/>
          </a:xfrm>
          <a:prstGeom prst="rect">
            <a:avLst/>
          </a:prstGeom>
          <a:solidFill>
            <a:srgbClr val="FFFFCC"/>
          </a:solidFill>
          <a:ln>
            <a:solidFill>
              <a:srgbClr val="FF9933"/>
            </a:solidFill>
          </a:ln>
          <a:effectLst/>
        </p:spPr>
        <p:txBody>
          <a:bodyPr vert="horz" wrap="square" lIns="72000" tIns="36000" rIns="72000" bIns="36000" numCol="1" anchor="ctr" anchorCtr="1"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266700" lvl="1" indent="0" eaLnBrk="1" hangingPunct="1">
              <a:lnSpc>
                <a:spcPct val="120000"/>
              </a:lnSpc>
              <a:spcBef>
                <a:spcPts val="600"/>
              </a:spcBef>
              <a:buClr>
                <a:srgbClr val="0000FF"/>
              </a:buClr>
              <a:buNone/>
              <a:defRPr/>
            </a:pPr>
            <a:r>
              <a:rPr lang="en-US" altLang="zh-CN" sz="2400" dirty="0">
                <a:solidFill>
                  <a:srgbClr val="1557AE"/>
                </a:solidFill>
                <a:latin typeface="Calibri" panose="020F0502020204030204" pitchFamily="34" charset="0"/>
                <a:cs typeface="Calibri" panose="020F0502020204030204" pitchFamily="34" charset="0"/>
              </a:rPr>
              <a:t>HITS</a:t>
            </a:r>
            <a:r>
              <a:rPr lang="zh-CN" altLang="en-US" sz="2400" dirty="0">
                <a:solidFill>
                  <a:srgbClr val="1557AE"/>
                </a:solidFill>
                <a:latin typeface="Calibri" panose="020F0502020204030204" pitchFamily="34" charset="0"/>
                <a:cs typeface="Calibri" panose="020F0502020204030204" pitchFamily="34" charset="0"/>
              </a:rPr>
              <a:t>算法旨在</a:t>
            </a:r>
            <a:r>
              <a:rPr lang="zh-CN" altLang="en-US" sz="2400" dirty="0">
                <a:latin typeface="Calibri" panose="020F0502020204030204" pitchFamily="34" charset="0"/>
                <a:cs typeface="Calibri" panose="020F0502020204030204" pitchFamily="34" charset="0"/>
              </a:rPr>
              <a:t>在海量网页中找到与用户查询主题相关的高质量</a:t>
            </a:r>
            <a:r>
              <a:rPr lang="en-US" altLang="zh-CN" sz="2400" dirty="0">
                <a:latin typeface="Calibri" panose="020F0502020204030204" pitchFamily="34" charset="0"/>
                <a:cs typeface="Calibri" panose="020F0502020204030204" pitchFamily="34" charset="0"/>
              </a:rPr>
              <a:t>Authority</a:t>
            </a:r>
            <a:r>
              <a:rPr lang="zh-CN" altLang="en-US" sz="2400" dirty="0">
                <a:latin typeface="Calibri" panose="020F0502020204030204" pitchFamily="34" charset="0"/>
                <a:cs typeface="Calibri" panose="020F0502020204030204" pitchFamily="34" charset="0"/>
              </a:rPr>
              <a:t>页面和</a:t>
            </a:r>
            <a:r>
              <a:rPr lang="en-US" altLang="zh-CN" sz="2400" dirty="0">
                <a:latin typeface="Calibri" panose="020F0502020204030204" pitchFamily="34" charset="0"/>
                <a:cs typeface="Calibri" panose="020F0502020204030204" pitchFamily="34" charset="0"/>
              </a:rPr>
              <a:t>Hub</a:t>
            </a:r>
            <a:r>
              <a:rPr lang="zh-CN" altLang="en-US" sz="2400" dirty="0">
                <a:latin typeface="Calibri" panose="020F0502020204030204" pitchFamily="34" charset="0"/>
                <a:cs typeface="Calibri" panose="020F0502020204030204" pitchFamily="34" charset="0"/>
              </a:rPr>
              <a:t>页面，尤其是</a:t>
            </a:r>
            <a:r>
              <a:rPr lang="en-US" altLang="zh-CN" sz="2400" dirty="0">
                <a:latin typeface="Calibri" panose="020F0502020204030204" pitchFamily="34" charset="0"/>
                <a:cs typeface="Calibri" panose="020F0502020204030204" pitchFamily="34" charset="0"/>
              </a:rPr>
              <a:t>Authority</a:t>
            </a:r>
            <a:r>
              <a:rPr lang="zh-CN" altLang="en-US" sz="2400" dirty="0">
                <a:latin typeface="Calibri" panose="020F0502020204030204" pitchFamily="34" charset="0"/>
                <a:cs typeface="Calibri" panose="020F0502020204030204" pitchFamily="34" charset="0"/>
              </a:rPr>
              <a:t>页面，因为这些页面代表了能够满足用户查询的高质量内容。</a:t>
            </a:r>
            <a:endParaRPr lang="en-US" altLang="zh-CN" sz="2400" dirty="0">
              <a:latin typeface="Calibri" panose="020F0502020204030204" pitchFamily="34" charset="0"/>
              <a:cs typeface="Calibri" panose="020F0502020204030204" pitchFamily="34" charset="0"/>
            </a:endParaRPr>
          </a:p>
        </p:txBody>
      </p:sp>
      <p:sp>
        <p:nvSpPr>
          <p:cNvPr id="23" name="矩形 2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96752"/>
            <a:ext cx="869944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Font typeface="Wingdings" panose="05000000000000000000" pitchFamily="2" charset="2"/>
              <a:buChar char="ü"/>
              <a:defRPr/>
            </a:pPr>
            <a:r>
              <a:rPr lang="zh-CN" altLang="en-US" sz="2400" dirty="0">
                <a:solidFill>
                  <a:srgbClr val="1557AE"/>
                </a:solidFill>
                <a:latin typeface="Calibri" panose="020F0502020204030204" pitchFamily="34" charset="0"/>
                <a:cs typeface="Calibri" panose="020F0502020204030204" pitchFamily="34" charset="0"/>
              </a:rPr>
              <a:t>假设</a:t>
            </a:r>
            <a:r>
              <a:rPr lang="en-US" altLang="zh-CN" sz="2400" dirty="0">
                <a:solidFill>
                  <a:srgbClr val="1557AE"/>
                </a:solidFill>
                <a:latin typeface="Calibri" panose="020F0502020204030204" pitchFamily="34" charset="0"/>
                <a:cs typeface="Calibri" panose="020F0502020204030204" pitchFamily="34" charset="0"/>
              </a:rPr>
              <a:t>1</a:t>
            </a:r>
            <a:r>
              <a:rPr lang="zh-CN" altLang="en-US" sz="2400" dirty="0">
                <a:solidFill>
                  <a:srgbClr val="1557AE"/>
                </a:solidFill>
                <a:latin typeface="Calibri" panose="020F0502020204030204" pitchFamily="34" charset="0"/>
                <a:cs typeface="Calibri" panose="020F0502020204030204" pitchFamily="34" charset="0"/>
              </a:rPr>
              <a:t>：</a:t>
            </a:r>
            <a:r>
              <a:rPr lang="zh-CN" altLang="en-US" sz="2400" dirty="0">
                <a:latin typeface="Calibri" panose="020F0502020204030204" pitchFamily="34" charset="0"/>
                <a:cs typeface="Calibri" panose="020F0502020204030204" pitchFamily="34" charset="0"/>
              </a:rPr>
              <a:t>一个好的</a:t>
            </a:r>
            <a:r>
              <a:rPr lang="en-US" altLang="zh-CN" sz="2400" dirty="0">
                <a:latin typeface="Calibri" panose="020F0502020204030204" pitchFamily="34" charset="0"/>
                <a:cs typeface="Calibri" panose="020F0502020204030204" pitchFamily="34" charset="0"/>
              </a:rPr>
              <a:t>Authority</a:t>
            </a:r>
            <a:r>
              <a:rPr lang="zh-CN" altLang="en-US" sz="2400" dirty="0">
                <a:latin typeface="Calibri" panose="020F0502020204030204" pitchFamily="34" charset="0"/>
                <a:cs typeface="Calibri" panose="020F0502020204030204" pitchFamily="34" charset="0"/>
              </a:rPr>
              <a:t>页面被很多好的</a:t>
            </a:r>
            <a:r>
              <a:rPr lang="en-US" altLang="zh-CN" sz="2400" dirty="0">
                <a:latin typeface="Calibri" panose="020F0502020204030204" pitchFamily="34" charset="0"/>
                <a:cs typeface="Calibri" panose="020F0502020204030204" pitchFamily="34" charset="0"/>
              </a:rPr>
              <a:t>Hub</a:t>
            </a:r>
            <a:r>
              <a:rPr lang="zh-CN" altLang="en-US" sz="2400" dirty="0">
                <a:latin typeface="Calibri" panose="020F0502020204030204" pitchFamily="34" charset="0"/>
                <a:cs typeface="Calibri" panose="020F0502020204030204" pitchFamily="34" charset="0"/>
              </a:rPr>
              <a:t>页面指向</a:t>
            </a:r>
            <a:endParaRPr lang="zh-CN" altLang="en-US" sz="2400" dirty="0">
              <a:latin typeface="Calibri" panose="020F0502020204030204" pitchFamily="34" charset="0"/>
              <a:cs typeface="Calibri" panose="020F0502020204030204" pitchFamily="34" charset="0"/>
            </a:endParaRPr>
          </a:p>
          <a:p>
            <a:pPr lvl="1" eaLnBrk="1" hangingPunct="1">
              <a:lnSpc>
                <a:spcPct val="120000"/>
              </a:lnSpc>
              <a:spcBef>
                <a:spcPts val="600"/>
              </a:spcBef>
              <a:buClr>
                <a:srgbClr val="1557AE"/>
              </a:buClr>
              <a:buFont typeface="Wingdings" panose="05000000000000000000" pitchFamily="2" charset="2"/>
              <a:buChar char="ü"/>
              <a:defRPr/>
            </a:pPr>
            <a:r>
              <a:rPr lang="zh-CN" altLang="en-US" sz="2400" dirty="0">
                <a:solidFill>
                  <a:srgbClr val="1557AE"/>
                </a:solidFill>
                <a:latin typeface="Calibri" panose="020F0502020204030204" pitchFamily="34" charset="0"/>
                <a:cs typeface="Calibri" panose="020F0502020204030204" pitchFamily="34" charset="0"/>
              </a:rPr>
              <a:t>假设</a:t>
            </a:r>
            <a:r>
              <a:rPr lang="en-US" altLang="zh-CN" sz="2400" dirty="0">
                <a:solidFill>
                  <a:srgbClr val="1557AE"/>
                </a:solidFill>
                <a:latin typeface="Calibri" panose="020F0502020204030204" pitchFamily="34" charset="0"/>
                <a:cs typeface="Calibri" panose="020F0502020204030204" pitchFamily="34" charset="0"/>
              </a:rPr>
              <a:t>2</a:t>
            </a:r>
            <a:r>
              <a:rPr lang="zh-CN" altLang="en-US" sz="2400" dirty="0">
                <a:solidFill>
                  <a:srgbClr val="1557AE"/>
                </a:solidFill>
                <a:latin typeface="Calibri" panose="020F0502020204030204" pitchFamily="34" charset="0"/>
                <a:cs typeface="Calibri" panose="020F0502020204030204" pitchFamily="34" charset="0"/>
              </a:rPr>
              <a:t>：</a:t>
            </a:r>
            <a:r>
              <a:rPr lang="zh-CN" altLang="en-US" sz="2400" dirty="0">
                <a:latin typeface="Calibri" panose="020F0502020204030204" pitchFamily="34" charset="0"/>
                <a:cs typeface="Calibri" panose="020F0502020204030204" pitchFamily="34" charset="0"/>
              </a:rPr>
              <a:t>一个好的</a:t>
            </a:r>
            <a:r>
              <a:rPr lang="en-US" altLang="zh-CN" sz="2400" dirty="0">
                <a:latin typeface="Calibri" panose="020F0502020204030204" pitchFamily="34" charset="0"/>
                <a:cs typeface="Calibri" panose="020F0502020204030204" pitchFamily="34" charset="0"/>
              </a:rPr>
              <a:t>Hub</a:t>
            </a:r>
            <a:r>
              <a:rPr lang="zh-CN" altLang="en-US" sz="2400" dirty="0">
                <a:latin typeface="Calibri" panose="020F0502020204030204" pitchFamily="34" charset="0"/>
                <a:cs typeface="Calibri" panose="020F0502020204030204" pitchFamily="34" charset="0"/>
              </a:rPr>
              <a:t>页面指向很多好的</a:t>
            </a:r>
            <a:r>
              <a:rPr lang="en-US" altLang="zh-CN" sz="2400" dirty="0">
                <a:latin typeface="Calibri" panose="020F0502020204030204" pitchFamily="34" charset="0"/>
                <a:cs typeface="Calibri" panose="020F0502020204030204" pitchFamily="34" charset="0"/>
              </a:rPr>
              <a:t>Authority</a:t>
            </a:r>
            <a:r>
              <a:rPr lang="zh-CN" altLang="en-US" sz="2400" dirty="0">
                <a:latin typeface="Calibri" panose="020F0502020204030204" pitchFamily="34" charset="0"/>
                <a:cs typeface="Calibri" panose="020F0502020204030204" pitchFamily="34" charset="0"/>
              </a:rPr>
              <a:t>页面</a:t>
            </a:r>
            <a:endParaRPr lang="en-US" altLang="zh-CN" sz="2400" dirty="0">
              <a:latin typeface="Calibri" panose="020F0502020204030204" pitchFamily="34" charset="0"/>
              <a:cs typeface="Calibri" panose="020F0502020204030204" pitchFamily="34" charset="0"/>
            </a:endParaRPr>
          </a:p>
          <a:p>
            <a:pPr lvl="1" eaLnBrk="1" hangingPunct="1">
              <a:lnSpc>
                <a:spcPct val="120000"/>
              </a:lnSpc>
              <a:spcBef>
                <a:spcPts val="600"/>
              </a:spcBef>
              <a:buClr>
                <a:srgbClr val="1557AE"/>
              </a:buClr>
              <a:buFont typeface="Wingdings" panose="05000000000000000000" pitchFamily="2" charset="2"/>
              <a:buChar char="ü"/>
              <a:defRPr/>
            </a:pPr>
            <a:r>
              <a:rPr lang="zh-CN" altLang="en-US" sz="2400" dirty="0">
                <a:solidFill>
                  <a:srgbClr val="1557AE"/>
                </a:solidFill>
                <a:latin typeface="Calibri" panose="020F0502020204030204" pitchFamily="34" charset="0"/>
                <a:cs typeface="Calibri" panose="020F0502020204030204" pitchFamily="34" charset="0"/>
              </a:rPr>
              <a:t>思路：</a:t>
            </a:r>
            <a:r>
              <a:rPr lang="zh-CN" altLang="en-US" sz="2400" dirty="0">
                <a:latin typeface="Calibri" panose="020F0502020204030204" pitchFamily="34" charset="0"/>
                <a:cs typeface="Calibri" panose="020F0502020204030204" pitchFamily="34" charset="0"/>
              </a:rPr>
              <a:t>利用上面的假设，以及相互增强关系等原则进行多轮迭代计算，每轮迭代计算更新每个页面的两个权值，直到权值稳定不再发生明显的变化为止。</a:t>
            </a:r>
            <a:endParaRPr lang="en-US" altLang="zh-CN" sz="2400" dirty="0">
              <a:latin typeface="Calibri" panose="020F0502020204030204" pitchFamily="34" charset="0"/>
              <a:cs typeface="Calibri" panose="020F0502020204030204" pitchFamily="34" charset="0"/>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824" y="4509120"/>
            <a:ext cx="3888432" cy="2230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8306" y="1149883"/>
            <a:ext cx="869944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20000"/>
              </a:lnSpc>
              <a:spcBef>
                <a:spcPts val="600"/>
              </a:spcBef>
              <a:buClr>
                <a:srgbClr val="1557AE"/>
              </a:buClr>
              <a:buSzPct val="80000"/>
              <a:buFont typeface="Wingdings" panose="05000000000000000000" pitchFamily="2" charset="2"/>
              <a:buChar char="ü"/>
              <a:defRPr/>
            </a:pPr>
            <a:r>
              <a:rPr lang="en-US" altLang="zh-CN" sz="2400" dirty="0">
                <a:solidFill>
                  <a:srgbClr val="1557AE"/>
                </a:solidFill>
                <a:latin typeface="Calibri" panose="020F0502020204030204" pitchFamily="34" charset="0"/>
                <a:cs typeface="Calibri" panose="020F0502020204030204" pitchFamily="34" charset="0"/>
              </a:rPr>
              <a:t>HITS</a:t>
            </a:r>
            <a:r>
              <a:rPr lang="zh-CN" altLang="en-US" sz="2400" dirty="0">
                <a:solidFill>
                  <a:srgbClr val="1557AE"/>
                </a:solidFill>
                <a:latin typeface="Calibri" panose="020F0502020204030204" pitchFamily="34" charset="0"/>
                <a:cs typeface="Calibri" panose="020F0502020204030204" pitchFamily="34" charset="0"/>
              </a:rPr>
              <a:t>算法的求解过程如下：</a:t>
            </a:r>
            <a:endParaRPr lang="zh-CN" altLang="en-US" sz="2400" dirty="0">
              <a:solidFill>
                <a:srgbClr val="1557AE"/>
              </a:solidFill>
              <a:latin typeface="Calibri" panose="020F0502020204030204" pitchFamily="34" charset="0"/>
              <a:cs typeface="Calibri" panose="020F0502020204030204" pitchFamily="34" charset="0"/>
            </a:endParaRPr>
          </a:p>
          <a:p>
            <a:pPr marL="1177925" lvl="2" indent="-342900">
              <a:buClr>
                <a:schemeClr val="accent1"/>
              </a:buClr>
              <a:buSzPct val="80000"/>
              <a:buNone/>
            </a:pP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、得出根集页面</a:t>
            </a:r>
            <a:endParaRPr kumimoji="1" lang="zh-CN" altLang="en-US" sz="2400" dirty="0">
              <a:latin typeface="Times New Roman" panose="02020603050405020304" pitchFamily="18" charset="0"/>
            </a:endParaRPr>
          </a:p>
          <a:p>
            <a:pPr marL="1177925" lvl="2" indent="-342900">
              <a:buClr>
                <a:schemeClr val="accent1"/>
              </a:buClr>
              <a:buSzPct val="80000"/>
              <a:buNone/>
            </a:pP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、扩展根集页面</a:t>
            </a:r>
            <a:endParaRPr kumimoji="1" lang="en-US" altLang="zh-CN" sz="2400" dirty="0">
              <a:latin typeface="Times New Roman" panose="02020603050405020304" pitchFamily="18" charset="0"/>
            </a:endParaRPr>
          </a:p>
          <a:p>
            <a:pPr marL="1177925" lvl="2" indent="-342900">
              <a:buClr>
                <a:schemeClr val="accent1"/>
              </a:buClr>
              <a:buSzPct val="80000"/>
              <a:buNone/>
            </a:pPr>
            <a:r>
              <a:rPr kumimoji="1" lang="en-US" altLang="zh-CN" sz="2400" dirty="0">
                <a:latin typeface="Times New Roman" panose="02020603050405020304" pitchFamily="18" charset="0"/>
              </a:rPr>
              <a:t>3</a:t>
            </a:r>
            <a:r>
              <a:rPr kumimoji="1" lang="zh-CN" altLang="en-US" sz="2400" dirty="0">
                <a:latin typeface="Times New Roman" panose="02020603050405020304" pitchFamily="18" charset="0"/>
              </a:rPr>
              <a:t>、将所有页面（根集页面）的</a:t>
            </a:r>
            <a:r>
              <a:rPr kumimoji="1" lang="en-US" altLang="zh-CN" sz="2400" dirty="0">
                <a:latin typeface="Times New Roman" panose="02020603050405020304" pitchFamily="18" charset="0"/>
              </a:rPr>
              <a:t>A</a:t>
            </a:r>
            <a:r>
              <a:rPr kumimoji="1" lang="zh-CN" altLang="en-US" sz="2400" dirty="0">
                <a:latin typeface="Times New Roman" panose="02020603050405020304" pitchFamily="18" charset="0"/>
              </a:rPr>
              <a:t>和</a:t>
            </a:r>
            <a:r>
              <a:rPr kumimoji="1" lang="en-US" altLang="zh-CN" sz="2400" dirty="0">
                <a:latin typeface="Times New Roman" panose="02020603050405020304" pitchFamily="18" charset="0"/>
              </a:rPr>
              <a:t>H</a:t>
            </a:r>
            <a:r>
              <a:rPr kumimoji="1" lang="zh-CN" altLang="en-US" sz="2400" dirty="0">
                <a:latin typeface="Times New Roman" panose="02020603050405020304" pitchFamily="18" charset="0"/>
              </a:rPr>
              <a:t>赋予初值</a:t>
            </a:r>
            <a:endParaRPr kumimoji="1" lang="zh-CN" altLang="en-US" sz="2400" dirty="0">
              <a:latin typeface="Times New Roman" panose="02020603050405020304" pitchFamily="18" charset="0"/>
            </a:endParaRPr>
          </a:p>
          <a:p>
            <a:pPr marL="1177925" lvl="2" indent="-342900">
              <a:buClr>
                <a:schemeClr val="accent1"/>
              </a:buClr>
              <a:buSzPct val="80000"/>
              <a:buNone/>
            </a:pPr>
            <a:r>
              <a:rPr kumimoji="1" lang="en-US" altLang="zh-CN" sz="2400" dirty="0">
                <a:latin typeface="Times New Roman" panose="02020603050405020304" pitchFamily="18" charset="0"/>
              </a:rPr>
              <a:t>4</a:t>
            </a:r>
            <a:r>
              <a:rPr kumimoji="1" lang="zh-CN" altLang="en-US" sz="2400" dirty="0">
                <a:latin typeface="Times New Roman" panose="02020603050405020304" pitchFamily="18" charset="0"/>
              </a:rPr>
              <a:t>、计算新一轮的</a:t>
            </a:r>
            <a:r>
              <a:rPr kumimoji="1" lang="en-US" altLang="zh-CN" sz="2400" dirty="0">
                <a:latin typeface="Times New Roman" panose="02020603050405020304" pitchFamily="18" charset="0"/>
              </a:rPr>
              <a:t>H</a:t>
            </a:r>
            <a:r>
              <a:rPr kumimoji="1" lang="zh-CN" altLang="en-US" sz="2400" dirty="0">
                <a:latin typeface="Times New Roman" panose="02020603050405020304" pitchFamily="18" charset="0"/>
              </a:rPr>
              <a:t>和</a:t>
            </a:r>
            <a:r>
              <a:rPr kumimoji="1" lang="en-US" altLang="zh-CN" sz="2400" dirty="0">
                <a:latin typeface="Times New Roman" panose="02020603050405020304" pitchFamily="18" charset="0"/>
              </a:rPr>
              <a:t>A</a:t>
            </a:r>
            <a:r>
              <a:rPr kumimoji="1" lang="zh-CN" altLang="en-US" sz="2400" dirty="0">
                <a:latin typeface="Times New Roman" panose="02020603050405020304" pitchFamily="18" charset="0"/>
              </a:rPr>
              <a:t>的值</a:t>
            </a:r>
            <a:endParaRPr kumimoji="1" lang="zh-CN" altLang="en-US" sz="2400" dirty="0">
              <a:latin typeface="Times New Roman" panose="02020603050405020304" pitchFamily="18" charset="0"/>
            </a:endParaRPr>
          </a:p>
          <a:p>
            <a:pPr marL="1177925" lvl="2" indent="-342900">
              <a:buClr>
                <a:schemeClr val="accent1"/>
              </a:buClr>
              <a:buSzPct val="80000"/>
              <a:buNone/>
            </a:pPr>
            <a:r>
              <a:rPr kumimoji="1" lang="en-US" altLang="zh-CN" sz="2400" dirty="0">
                <a:latin typeface="Times New Roman" panose="02020603050405020304" pitchFamily="18" charset="0"/>
              </a:rPr>
              <a:t>5</a:t>
            </a:r>
            <a:r>
              <a:rPr kumimoji="1" lang="zh-CN" altLang="en-US" sz="2400" dirty="0">
                <a:latin typeface="Times New Roman" panose="02020603050405020304" pitchFamily="18" charset="0"/>
              </a:rPr>
              <a:t>、规范化结果</a:t>
            </a:r>
            <a:endParaRPr kumimoji="1" lang="zh-CN" altLang="en-US" sz="2400" dirty="0">
              <a:latin typeface="Times New Roman" panose="02020603050405020304" pitchFamily="18" charset="0"/>
            </a:endParaRPr>
          </a:p>
          <a:p>
            <a:pPr marL="1177925" lvl="2" indent="-342900">
              <a:buClr>
                <a:schemeClr val="accent1"/>
              </a:buClr>
              <a:buSzPct val="80000"/>
              <a:buNone/>
            </a:pPr>
            <a:r>
              <a:rPr kumimoji="1" lang="en-US" altLang="zh-CN" sz="2400" dirty="0">
                <a:latin typeface="Times New Roman" panose="02020603050405020304" pitchFamily="18" charset="0"/>
              </a:rPr>
              <a:t>6</a:t>
            </a:r>
            <a:r>
              <a:rPr kumimoji="1" lang="zh-CN" altLang="en-US" sz="2400" dirty="0">
                <a:latin typeface="Times New Roman" panose="02020603050405020304" pitchFamily="18" charset="0"/>
              </a:rPr>
              <a:t>、重复</a:t>
            </a:r>
            <a:r>
              <a:rPr kumimoji="1" lang="en-US" altLang="zh-CN" sz="2400" dirty="0">
                <a:latin typeface="Times New Roman" panose="02020603050405020304" pitchFamily="18" charset="0"/>
              </a:rPr>
              <a:t>3</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4,  </a:t>
            </a:r>
            <a:r>
              <a:rPr kumimoji="1" lang="zh-CN" altLang="en-US" sz="2400" dirty="0">
                <a:latin typeface="Times New Roman" panose="02020603050405020304" pitchFamily="18" charset="0"/>
              </a:rPr>
              <a:t>直到结果收敛</a:t>
            </a:r>
            <a:endParaRPr kumimoji="1" lang="zh-CN" altLang="en-US" sz="2400" dirty="0">
              <a:latin typeface="Times New Roman" panose="02020603050405020304" pitchFamily="18" charset="0"/>
            </a:endParaRPr>
          </a:p>
        </p:txBody>
      </p:sp>
      <p:sp>
        <p:nvSpPr>
          <p:cNvPr id="5" name="AutoShape 0"/>
          <p:cNvSpPr>
            <a:spLocks noChangeArrowheads="1"/>
          </p:cNvSpPr>
          <p:nvPr/>
        </p:nvSpPr>
        <p:spPr bwMode="auto">
          <a:xfrm>
            <a:off x="5899596" y="4509120"/>
            <a:ext cx="1938337" cy="1865313"/>
          </a:xfrm>
          <a:prstGeom prst="flowChartDocument">
            <a:avLst/>
          </a:prstGeom>
          <a:solidFill>
            <a:srgbClr val="FFFFCC"/>
          </a:solidFill>
          <a:ln w="12700">
            <a:solidFill>
              <a:schemeClr val="tx1"/>
            </a:solidFill>
            <a:miter lim="800000"/>
            <a:headEnd type="none" w="sm" len="sm"/>
            <a:tailEnd type="none" w="sm" len="sm"/>
          </a:ln>
        </p:spPr>
        <p:txBody>
          <a:bodyPr wrap="none" anchor="ctr"/>
          <a:lstStyle/>
          <a:p>
            <a:endParaRPr lang="zh-CN" altLang="en-US">
              <a:latin typeface="Calibri" panose="020F0502020204030204" pitchFamily="34" charset="0"/>
              <a:cs typeface="Calibri" panose="020F0502020204030204" pitchFamily="34" charset="0"/>
            </a:endParaRPr>
          </a:p>
        </p:txBody>
      </p:sp>
      <p:sp>
        <p:nvSpPr>
          <p:cNvPr id="7" name="Rectangle 1"/>
          <p:cNvSpPr>
            <a:spLocks noChangeArrowheads="1"/>
          </p:cNvSpPr>
          <p:nvPr/>
        </p:nvSpPr>
        <p:spPr bwMode="auto">
          <a:xfrm>
            <a:off x="4777233" y="4925045"/>
            <a:ext cx="400050" cy="296863"/>
          </a:xfrm>
          <a:prstGeom prst="rect">
            <a:avLst/>
          </a:prstGeom>
          <a:solidFill>
            <a:srgbClr val="66FF33"/>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w</a:t>
            </a:r>
            <a:r>
              <a:rPr lang="en-US" altLang="zh-CN" baseline="-25000">
                <a:solidFill>
                  <a:srgbClr val="000000"/>
                </a:solidFill>
                <a:latin typeface="Calibri" panose="020F0502020204030204" pitchFamily="34" charset="0"/>
                <a:cs typeface="Calibri" panose="020F0502020204030204" pitchFamily="34" charset="0"/>
              </a:rPr>
              <a:t>1</a:t>
            </a:r>
            <a:endParaRPr lang="en-US" altLang="zh-CN">
              <a:solidFill>
                <a:srgbClr val="000000"/>
              </a:solidFill>
              <a:latin typeface="Calibri" panose="020F0502020204030204" pitchFamily="34" charset="0"/>
              <a:cs typeface="Calibri" panose="020F0502020204030204" pitchFamily="34" charset="0"/>
            </a:endParaRPr>
          </a:p>
        </p:txBody>
      </p:sp>
      <p:sp>
        <p:nvSpPr>
          <p:cNvPr id="8" name="Line 2"/>
          <p:cNvSpPr>
            <a:spLocks noChangeShapeType="1"/>
          </p:cNvSpPr>
          <p:nvPr/>
        </p:nvSpPr>
        <p:spPr bwMode="auto">
          <a:xfrm flipH="1">
            <a:off x="5177283" y="5575920"/>
            <a:ext cx="1204913" cy="0"/>
          </a:xfrm>
          <a:prstGeom prst="line">
            <a:avLst/>
          </a:prstGeom>
          <a:noFill/>
          <a:ln w="19050" cap="sq">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9" name="Line 3"/>
          <p:cNvSpPr>
            <a:spLocks noChangeShapeType="1"/>
          </p:cNvSpPr>
          <p:nvPr/>
        </p:nvSpPr>
        <p:spPr bwMode="auto">
          <a:xfrm flipH="1">
            <a:off x="5031233" y="5739433"/>
            <a:ext cx="1300163" cy="569912"/>
          </a:xfrm>
          <a:prstGeom prst="line">
            <a:avLst/>
          </a:prstGeom>
          <a:noFill/>
          <a:ln w="19050" cap="sq">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0" name="Line 4"/>
          <p:cNvSpPr>
            <a:spLocks noChangeShapeType="1"/>
          </p:cNvSpPr>
          <p:nvPr/>
        </p:nvSpPr>
        <p:spPr bwMode="auto">
          <a:xfrm flipH="1" flipV="1">
            <a:off x="5177283" y="5086970"/>
            <a:ext cx="1092200" cy="325438"/>
          </a:xfrm>
          <a:prstGeom prst="line">
            <a:avLst/>
          </a:prstGeom>
          <a:noFill/>
          <a:ln w="19050" cap="sq">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 name="Rectangle 5"/>
          <p:cNvSpPr>
            <a:spLocks noChangeArrowheads="1"/>
          </p:cNvSpPr>
          <p:nvPr/>
        </p:nvSpPr>
        <p:spPr bwMode="auto">
          <a:xfrm>
            <a:off x="4805808" y="6145833"/>
            <a:ext cx="398463" cy="298450"/>
          </a:xfrm>
          <a:prstGeom prst="rect">
            <a:avLst/>
          </a:prstGeom>
          <a:solidFill>
            <a:srgbClr val="66FF33"/>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w</a:t>
            </a:r>
            <a:r>
              <a:rPr lang="en-US" altLang="zh-CN" baseline="-25000">
                <a:solidFill>
                  <a:srgbClr val="000000"/>
                </a:solidFill>
                <a:latin typeface="Calibri" panose="020F0502020204030204" pitchFamily="34" charset="0"/>
                <a:cs typeface="Calibri" panose="020F0502020204030204" pitchFamily="34" charset="0"/>
              </a:rPr>
              <a:t>k</a:t>
            </a:r>
            <a:endParaRPr lang="en-US" altLang="zh-CN">
              <a:solidFill>
                <a:srgbClr val="000000"/>
              </a:solidFill>
              <a:latin typeface="Calibri" panose="020F0502020204030204" pitchFamily="34" charset="0"/>
              <a:cs typeface="Calibri" panose="020F0502020204030204" pitchFamily="34" charset="0"/>
            </a:endParaRPr>
          </a:p>
        </p:txBody>
      </p:sp>
      <p:sp>
        <p:nvSpPr>
          <p:cNvPr id="12" name="Text Box 6"/>
          <p:cNvSpPr txBox="1">
            <a:spLocks noChangeArrowheads="1"/>
          </p:cNvSpPr>
          <p:nvPr/>
        </p:nvSpPr>
        <p:spPr bwMode="auto">
          <a:xfrm flipH="1">
            <a:off x="4712146" y="5658470"/>
            <a:ext cx="650875" cy="369332"/>
          </a:xfrm>
          <a:prstGeom prst="rect">
            <a:avLst/>
          </a:prstGeom>
          <a:noFill/>
          <a:ln w="12700" cap="sq">
            <a:noFill/>
            <a:miter lim="800000"/>
            <a:headEnd type="none" w="sm" len="sm"/>
            <a:tailEnd type="none" w="sm" len="sm"/>
          </a:ln>
          <a:effectLst/>
        </p:spPr>
        <p:txBody>
          <a:bodyPr>
            <a:spAutoFit/>
          </a:bodyPr>
          <a:lstStyle/>
          <a:p>
            <a:pPr eaLnBrk="0" hangingPunct="0">
              <a:defRPr/>
            </a:pPr>
            <a:r>
              <a:rPr lang="en-US" altLang="zh-CN">
                <a:solidFill>
                  <a:srgbClr val="000000"/>
                </a:solidFill>
                <a:effectLst>
                  <a:outerShdw blurRad="38100" dist="38100" dir="2700000" algn="tl">
                    <a:srgbClr val="C0C0C0"/>
                  </a:outerShdw>
                </a:effectLst>
                <a:latin typeface="Calibri" panose="020F0502020204030204" pitchFamily="34" charset="0"/>
                <a:cs typeface="Calibri" panose="020F0502020204030204" pitchFamily="34" charset="0"/>
              </a:rPr>
              <a:t>...</a:t>
            </a:r>
            <a:endParaRPr lang="en-US" altLang="zh-CN">
              <a:solidFill>
                <a:srgbClr val="000000"/>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sp>
        <p:nvSpPr>
          <p:cNvPr id="13" name="Rectangle 7"/>
          <p:cNvSpPr>
            <a:spLocks noChangeArrowheads="1"/>
          </p:cNvSpPr>
          <p:nvPr/>
        </p:nvSpPr>
        <p:spPr bwMode="auto">
          <a:xfrm>
            <a:off x="6355208" y="5398120"/>
            <a:ext cx="398463" cy="296863"/>
          </a:xfrm>
          <a:prstGeom prst="rect">
            <a:avLst/>
          </a:prstGeom>
          <a:solidFill>
            <a:srgbClr val="FF0000"/>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A</a:t>
            </a:r>
            <a:endParaRPr lang="en-US" altLang="zh-CN">
              <a:solidFill>
                <a:srgbClr val="000000"/>
              </a:solidFill>
              <a:latin typeface="Calibri" panose="020F0502020204030204" pitchFamily="34" charset="0"/>
              <a:cs typeface="Calibri" panose="020F0502020204030204" pitchFamily="34" charset="0"/>
            </a:endParaRPr>
          </a:p>
        </p:txBody>
      </p:sp>
      <p:sp>
        <p:nvSpPr>
          <p:cNvPr id="14" name="Rectangle 8"/>
          <p:cNvSpPr>
            <a:spLocks noChangeArrowheads="1"/>
          </p:cNvSpPr>
          <p:nvPr/>
        </p:nvSpPr>
        <p:spPr bwMode="auto">
          <a:xfrm>
            <a:off x="4777233" y="5412408"/>
            <a:ext cx="400050" cy="296862"/>
          </a:xfrm>
          <a:prstGeom prst="rect">
            <a:avLst/>
          </a:prstGeom>
          <a:solidFill>
            <a:srgbClr val="66FF33"/>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w</a:t>
            </a:r>
            <a:r>
              <a:rPr lang="en-US" altLang="zh-CN" baseline="-25000">
                <a:solidFill>
                  <a:srgbClr val="000000"/>
                </a:solidFill>
                <a:latin typeface="Calibri" panose="020F0502020204030204" pitchFamily="34" charset="0"/>
                <a:cs typeface="Calibri" panose="020F0502020204030204" pitchFamily="34" charset="0"/>
              </a:rPr>
              <a:t>2</a:t>
            </a:r>
            <a:endParaRPr lang="en-US" altLang="zh-CN">
              <a:solidFill>
                <a:srgbClr val="000000"/>
              </a:solidFill>
              <a:latin typeface="Calibri" panose="020F0502020204030204" pitchFamily="34" charset="0"/>
              <a:cs typeface="Calibri" panose="020F0502020204030204" pitchFamily="34" charset="0"/>
            </a:endParaRPr>
          </a:p>
        </p:txBody>
      </p:sp>
      <p:sp>
        <p:nvSpPr>
          <p:cNvPr id="15" name="Rectangle 9"/>
          <p:cNvSpPr>
            <a:spLocks noChangeArrowheads="1"/>
          </p:cNvSpPr>
          <p:nvPr/>
        </p:nvSpPr>
        <p:spPr bwMode="auto">
          <a:xfrm flipH="1">
            <a:off x="8469758" y="4999658"/>
            <a:ext cx="398463" cy="296862"/>
          </a:xfrm>
          <a:prstGeom prst="rect">
            <a:avLst/>
          </a:prstGeom>
          <a:solidFill>
            <a:srgbClr val="FF0000"/>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u</a:t>
            </a:r>
            <a:r>
              <a:rPr lang="en-US" altLang="zh-CN" baseline="-25000">
                <a:solidFill>
                  <a:srgbClr val="000000"/>
                </a:solidFill>
                <a:latin typeface="Calibri" panose="020F0502020204030204" pitchFamily="34" charset="0"/>
                <a:cs typeface="Calibri" panose="020F0502020204030204" pitchFamily="34" charset="0"/>
              </a:rPr>
              <a:t>1</a:t>
            </a:r>
            <a:endParaRPr lang="en-US" altLang="zh-CN">
              <a:solidFill>
                <a:srgbClr val="000000"/>
              </a:solidFill>
              <a:latin typeface="Calibri" panose="020F0502020204030204" pitchFamily="34" charset="0"/>
              <a:cs typeface="Calibri" panose="020F0502020204030204" pitchFamily="34" charset="0"/>
            </a:endParaRPr>
          </a:p>
        </p:txBody>
      </p:sp>
      <p:sp>
        <p:nvSpPr>
          <p:cNvPr id="16" name="Line 10"/>
          <p:cNvSpPr>
            <a:spLocks noChangeShapeType="1"/>
          </p:cNvSpPr>
          <p:nvPr/>
        </p:nvSpPr>
        <p:spPr bwMode="auto">
          <a:xfrm>
            <a:off x="7272783" y="5666408"/>
            <a:ext cx="1206500" cy="569912"/>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7" name="Line 11"/>
          <p:cNvSpPr>
            <a:spLocks noChangeShapeType="1"/>
          </p:cNvSpPr>
          <p:nvPr/>
        </p:nvSpPr>
        <p:spPr bwMode="auto">
          <a:xfrm flipV="1">
            <a:off x="7272783" y="5096495"/>
            <a:ext cx="1206500" cy="39370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8" name="Rectangle 12"/>
          <p:cNvSpPr>
            <a:spLocks noChangeArrowheads="1"/>
          </p:cNvSpPr>
          <p:nvPr/>
        </p:nvSpPr>
        <p:spPr bwMode="auto">
          <a:xfrm flipH="1">
            <a:off x="8479283" y="6155358"/>
            <a:ext cx="398463" cy="296862"/>
          </a:xfrm>
          <a:prstGeom prst="rect">
            <a:avLst/>
          </a:prstGeom>
          <a:solidFill>
            <a:srgbClr val="FF0000"/>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u</a:t>
            </a:r>
            <a:r>
              <a:rPr lang="en-US" altLang="zh-CN" baseline="-25000">
                <a:solidFill>
                  <a:srgbClr val="000000"/>
                </a:solidFill>
                <a:latin typeface="Calibri" panose="020F0502020204030204" pitchFamily="34" charset="0"/>
                <a:cs typeface="Calibri" panose="020F0502020204030204" pitchFamily="34" charset="0"/>
              </a:rPr>
              <a:t>k</a:t>
            </a:r>
            <a:endParaRPr lang="en-US" altLang="zh-CN">
              <a:solidFill>
                <a:srgbClr val="000000"/>
              </a:solidFill>
              <a:latin typeface="Calibri" panose="020F0502020204030204" pitchFamily="34" charset="0"/>
              <a:cs typeface="Calibri" panose="020F0502020204030204" pitchFamily="34" charset="0"/>
            </a:endParaRPr>
          </a:p>
        </p:txBody>
      </p:sp>
      <p:sp>
        <p:nvSpPr>
          <p:cNvPr id="19" name="Rectangle 13"/>
          <p:cNvSpPr>
            <a:spLocks noChangeArrowheads="1"/>
          </p:cNvSpPr>
          <p:nvPr/>
        </p:nvSpPr>
        <p:spPr bwMode="auto">
          <a:xfrm flipH="1">
            <a:off x="8479283" y="5421933"/>
            <a:ext cx="398463" cy="296862"/>
          </a:xfrm>
          <a:prstGeom prst="rect">
            <a:avLst/>
          </a:prstGeom>
          <a:solidFill>
            <a:srgbClr val="FF0000"/>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u</a:t>
            </a:r>
            <a:r>
              <a:rPr lang="en-US" altLang="zh-CN" baseline="-25000">
                <a:solidFill>
                  <a:srgbClr val="000000"/>
                </a:solidFill>
                <a:latin typeface="Calibri" panose="020F0502020204030204" pitchFamily="34" charset="0"/>
                <a:cs typeface="Calibri" panose="020F0502020204030204" pitchFamily="34" charset="0"/>
              </a:rPr>
              <a:t>2</a:t>
            </a:r>
            <a:endParaRPr lang="en-US" altLang="zh-CN">
              <a:solidFill>
                <a:srgbClr val="000000"/>
              </a:solidFill>
              <a:latin typeface="Calibri" panose="020F0502020204030204" pitchFamily="34" charset="0"/>
              <a:cs typeface="Calibri" panose="020F0502020204030204" pitchFamily="34" charset="0"/>
            </a:endParaRPr>
          </a:p>
        </p:txBody>
      </p:sp>
      <p:sp>
        <p:nvSpPr>
          <p:cNvPr id="20" name="Text Box 14"/>
          <p:cNvSpPr txBox="1">
            <a:spLocks noChangeArrowheads="1"/>
          </p:cNvSpPr>
          <p:nvPr/>
        </p:nvSpPr>
        <p:spPr bwMode="auto">
          <a:xfrm>
            <a:off x="8385621" y="5667995"/>
            <a:ext cx="650875" cy="369332"/>
          </a:xfrm>
          <a:prstGeom prst="rect">
            <a:avLst/>
          </a:prstGeom>
          <a:noFill/>
          <a:ln w="12700" cap="sq">
            <a:noFill/>
            <a:miter lim="800000"/>
            <a:headEnd type="none" w="sm" len="sm"/>
            <a:tailEnd type="none" w="sm" len="sm"/>
          </a:ln>
          <a:effectLst/>
        </p:spPr>
        <p:txBody>
          <a:bodyPr>
            <a:spAutoFit/>
          </a:bodyPr>
          <a:lstStyle/>
          <a:p>
            <a:pPr eaLnBrk="0" hangingPunct="0">
              <a:defRPr/>
            </a:pPr>
            <a:r>
              <a:rPr lang="en-US" altLang="zh-CN">
                <a:solidFill>
                  <a:srgbClr val="000000"/>
                </a:solidFill>
                <a:effectLst>
                  <a:outerShdw blurRad="38100" dist="38100" dir="2700000" algn="tl">
                    <a:srgbClr val="C0C0C0"/>
                  </a:outerShdw>
                </a:effectLst>
                <a:latin typeface="Calibri" panose="020F0502020204030204" pitchFamily="34" charset="0"/>
                <a:cs typeface="Calibri" panose="020F0502020204030204" pitchFamily="34" charset="0"/>
              </a:rPr>
              <a:t>...</a:t>
            </a:r>
            <a:endParaRPr lang="en-US" altLang="zh-CN">
              <a:solidFill>
                <a:srgbClr val="000000"/>
              </a:solidFill>
              <a:latin typeface="Calibri" panose="020F0502020204030204" pitchFamily="34" charset="0"/>
              <a:cs typeface="Calibri" panose="020F0502020204030204" pitchFamily="34" charset="0"/>
            </a:endParaRPr>
          </a:p>
        </p:txBody>
      </p:sp>
      <p:sp>
        <p:nvSpPr>
          <p:cNvPr id="21" name="Rectangle 15"/>
          <p:cNvSpPr>
            <a:spLocks noChangeArrowheads="1"/>
          </p:cNvSpPr>
          <p:nvPr/>
        </p:nvSpPr>
        <p:spPr bwMode="auto">
          <a:xfrm flipH="1">
            <a:off x="6901308" y="5406058"/>
            <a:ext cx="400050" cy="296862"/>
          </a:xfrm>
          <a:prstGeom prst="rect">
            <a:avLst/>
          </a:prstGeom>
          <a:solidFill>
            <a:srgbClr val="66FF33"/>
          </a:solidFill>
          <a:ln w="12700" cap="sq">
            <a:solidFill>
              <a:schemeClr val="bg2"/>
            </a:solidFill>
            <a:miter lim="800000"/>
            <a:headEnd type="none" w="sm" len="sm"/>
            <a:tailEnd type="none" w="sm" len="sm"/>
          </a:ln>
        </p:spPr>
        <p:txBody>
          <a:bodyPr wrap="none" anchor="ctr"/>
          <a:lstStyle/>
          <a:p>
            <a:pPr algn="ctr" eaLnBrk="0" hangingPunct="0"/>
            <a:r>
              <a:rPr lang="en-US" altLang="zh-CN">
                <a:solidFill>
                  <a:srgbClr val="000000"/>
                </a:solidFill>
                <a:latin typeface="Calibri" panose="020F0502020204030204" pitchFamily="34" charset="0"/>
                <a:cs typeface="Calibri" panose="020F0502020204030204" pitchFamily="34" charset="0"/>
              </a:rPr>
              <a:t>H</a:t>
            </a:r>
            <a:endParaRPr lang="en-US" altLang="zh-CN">
              <a:solidFill>
                <a:srgbClr val="000000"/>
              </a:solidFill>
              <a:latin typeface="Calibri" panose="020F0502020204030204" pitchFamily="34" charset="0"/>
              <a:cs typeface="Calibri" panose="020F0502020204030204" pitchFamily="34" charset="0"/>
            </a:endParaRPr>
          </a:p>
        </p:txBody>
      </p:sp>
      <p:sp>
        <p:nvSpPr>
          <p:cNvPr id="22" name="Line 16"/>
          <p:cNvSpPr>
            <a:spLocks noChangeShapeType="1"/>
          </p:cNvSpPr>
          <p:nvPr/>
        </p:nvSpPr>
        <p:spPr bwMode="auto">
          <a:xfrm flipV="1">
            <a:off x="7272783" y="5583858"/>
            <a:ext cx="1206500" cy="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23" name="矩形 2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196752"/>
            <a:ext cx="869944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57200" lvl="1" indent="-4572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得出根集页面</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eaLnBrk="1" hangingPunct="1">
              <a:lnSpc>
                <a:spcPct val="150000"/>
              </a:lnSpc>
              <a:spcBef>
                <a:spcPts val="600"/>
              </a:spcBef>
              <a:buClr>
                <a:srgbClr val="1557AE"/>
              </a:buClr>
              <a:buSzPct val="80000"/>
              <a:buFont typeface="Wingdings" panose="05000000000000000000" pitchFamily="2" charset="2"/>
              <a:buChar char="ü"/>
              <a:defRPr/>
            </a:pPr>
            <a:r>
              <a:rPr lang="zh-CN" altLang="en-US" sz="2400" dirty="0">
                <a:latin typeface="Calibri" panose="020F0502020204030204" pitchFamily="34" charset="0"/>
                <a:cs typeface="Calibri" panose="020F0502020204030204" pitchFamily="34" charset="0"/>
              </a:rPr>
              <a:t>将查询</a:t>
            </a:r>
            <a:r>
              <a:rPr lang="en-US" altLang="zh-CN" sz="2400" dirty="0">
                <a:latin typeface="Calibri" panose="020F0502020204030204" pitchFamily="34" charset="0"/>
                <a:cs typeface="Calibri" panose="020F0502020204030204" pitchFamily="34" charset="0"/>
              </a:rPr>
              <a:t>q</a:t>
            </a:r>
            <a:r>
              <a:rPr lang="zh-CN" altLang="en-US" sz="2400" dirty="0">
                <a:latin typeface="Calibri" panose="020F0502020204030204" pitchFamily="34" charset="0"/>
                <a:cs typeface="Calibri" panose="020F0502020204030204" pitchFamily="34" charset="0"/>
              </a:rPr>
              <a:t>提交给传统的基于关键字匹配的搜索引擎．搜索引擎返回很多网页，从中取前</a:t>
            </a:r>
            <a:r>
              <a:rPr lang="en-US" altLang="zh-CN" sz="2400" dirty="0">
                <a:latin typeface="Calibri" panose="020F0502020204030204" pitchFamily="34" charset="0"/>
                <a:cs typeface="Calibri" panose="020F0502020204030204" pitchFamily="34" charset="0"/>
              </a:rPr>
              <a:t>n</a:t>
            </a:r>
            <a:r>
              <a:rPr lang="zh-CN" altLang="en-US" sz="2400" dirty="0">
                <a:latin typeface="Calibri" panose="020F0502020204030204" pitchFamily="34" charset="0"/>
                <a:cs typeface="Calibri" panose="020F0502020204030204" pitchFamily="34" charset="0"/>
              </a:rPr>
              <a:t>个网页作为</a:t>
            </a:r>
            <a:r>
              <a:rPr lang="zh-CN" altLang="en-US" sz="2400" dirty="0">
                <a:solidFill>
                  <a:srgbClr val="1557AE"/>
                </a:solidFill>
                <a:latin typeface="Calibri" panose="020F0502020204030204" pitchFamily="34" charset="0"/>
                <a:cs typeface="Calibri" panose="020F0502020204030204" pitchFamily="34" charset="0"/>
              </a:rPr>
              <a:t>根集</a:t>
            </a:r>
            <a:r>
              <a:rPr lang="en-US" altLang="zh-CN" sz="2400" dirty="0">
                <a:solidFill>
                  <a:srgbClr val="1557AE"/>
                </a:solidFill>
                <a:latin typeface="Calibri" panose="020F0502020204030204" pitchFamily="34" charset="0"/>
                <a:cs typeface="Calibri" panose="020F0502020204030204" pitchFamily="34" charset="0"/>
              </a:rPr>
              <a:t>(root set)</a:t>
            </a:r>
            <a:r>
              <a:rPr lang="zh-CN" altLang="en-US" sz="2400" dirty="0">
                <a:latin typeface="Calibri" panose="020F0502020204030204" pitchFamily="34" charset="0"/>
                <a:cs typeface="Calibri" panose="020F0502020204030204" pitchFamily="34" charset="0"/>
              </a:rPr>
              <a:t>，用</a:t>
            </a:r>
            <a:r>
              <a:rPr lang="en-US" altLang="zh-CN" sz="2400" dirty="0">
                <a:latin typeface="Calibri" panose="020F0502020204030204" pitchFamily="34" charset="0"/>
                <a:cs typeface="Calibri" panose="020F0502020204030204" pitchFamily="34" charset="0"/>
              </a:rPr>
              <a:t>S</a:t>
            </a:r>
            <a:r>
              <a:rPr lang="zh-CN" altLang="en-US" sz="2400" dirty="0">
                <a:latin typeface="Calibri" panose="020F0502020204030204" pitchFamily="34" charset="0"/>
                <a:cs typeface="Calibri" panose="020F0502020204030204" pitchFamily="34" charset="0"/>
              </a:rPr>
              <a:t>表示。</a:t>
            </a:r>
            <a:r>
              <a:rPr lang="en-US" altLang="zh-CN" sz="2400" dirty="0">
                <a:solidFill>
                  <a:srgbClr val="1557AE"/>
                </a:solidFill>
                <a:latin typeface="Calibri" panose="020F0502020204030204" pitchFamily="34" charset="0"/>
                <a:cs typeface="Calibri" panose="020F0502020204030204" pitchFamily="34" charset="0"/>
              </a:rPr>
              <a:t>S</a:t>
            </a:r>
            <a:r>
              <a:rPr lang="zh-CN" altLang="en-US" sz="2400" dirty="0">
                <a:solidFill>
                  <a:srgbClr val="1557AE"/>
                </a:solidFill>
                <a:latin typeface="Calibri" panose="020F0502020204030204" pitchFamily="34" charset="0"/>
                <a:cs typeface="Calibri" panose="020F0502020204030204" pitchFamily="34" charset="0"/>
              </a:rPr>
              <a:t>满足如下</a:t>
            </a:r>
            <a:r>
              <a:rPr lang="en-US" altLang="zh-CN" sz="2400" dirty="0">
                <a:solidFill>
                  <a:srgbClr val="1557AE"/>
                </a:solidFill>
                <a:latin typeface="Calibri" panose="020F0502020204030204" pitchFamily="34" charset="0"/>
                <a:cs typeface="Calibri" panose="020F0502020204030204" pitchFamily="34" charset="0"/>
              </a:rPr>
              <a:t>3</a:t>
            </a:r>
            <a:r>
              <a:rPr lang="zh-CN" altLang="en-US" sz="2400" dirty="0">
                <a:solidFill>
                  <a:srgbClr val="1557AE"/>
                </a:solidFill>
                <a:latin typeface="Calibri" panose="020F0502020204030204" pitchFamily="34" charset="0"/>
                <a:cs typeface="Calibri" panose="020F0502020204030204" pitchFamily="34" charset="0"/>
              </a:rPr>
              <a:t>个条件：</a:t>
            </a:r>
            <a:endParaRPr lang="zh-CN" altLang="en-US" sz="2400" dirty="0">
              <a:solidFill>
                <a:srgbClr val="1557AE"/>
              </a:solidFill>
              <a:latin typeface="Calibri" panose="020F0502020204030204" pitchFamily="34" charset="0"/>
              <a:cs typeface="Calibri" panose="020F0502020204030204" pitchFamily="34" charset="0"/>
            </a:endParaRPr>
          </a:p>
          <a:p>
            <a:pPr marL="909320" lvl="2" indent="0" eaLnBrk="1" hangingPunct="1">
              <a:lnSpc>
                <a:spcPct val="150000"/>
              </a:lnSpc>
              <a:spcBef>
                <a:spcPts val="600"/>
              </a:spcBef>
              <a:buClrTx/>
              <a:buNone/>
            </a:pPr>
            <a:r>
              <a:rPr lang="en-US" altLang="zh-CN" sz="2000" dirty="0">
                <a:latin typeface="Calibri" panose="020F0502020204030204" pitchFamily="34" charset="0"/>
                <a:cs typeface="Calibri" panose="020F0502020204030204" pitchFamily="34" charset="0"/>
              </a:rPr>
              <a:t>1</a:t>
            </a:r>
            <a:r>
              <a:rPr lang="zh-CN" altLang="en-US" sz="2000" dirty="0">
                <a:latin typeface="Calibri" panose="020F0502020204030204" pitchFamily="34" charset="0"/>
                <a:cs typeface="Calibri" panose="020F0502020204030204" pitchFamily="34" charset="0"/>
              </a:rPr>
              <a:t>．</a:t>
            </a:r>
            <a:r>
              <a:rPr lang="en-US" altLang="zh-CN" sz="2000" dirty="0">
                <a:latin typeface="Calibri" panose="020F0502020204030204" pitchFamily="34" charset="0"/>
                <a:cs typeface="Calibri" panose="020F0502020204030204" pitchFamily="34" charset="0"/>
              </a:rPr>
              <a:t>S</a:t>
            </a:r>
            <a:r>
              <a:rPr lang="zh-CN" altLang="en-US" sz="2000" dirty="0">
                <a:latin typeface="Calibri" panose="020F0502020204030204" pitchFamily="34" charset="0"/>
                <a:cs typeface="Calibri" panose="020F0502020204030204" pitchFamily="34" charset="0"/>
              </a:rPr>
              <a:t>中网页数量相对较小</a:t>
            </a:r>
            <a:br>
              <a:rPr lang="zh-CN" altLang="en-US" sz="2000" dirty="0">
                <a:latin typeface="Calibri" panose="020F0502020204030204" pitchFamily="34" charset="0"/>
                <a:cs typeface="Calibri" panose="020F0502020204030204" pitchFamily="34" charset="0"/>
              </a:rPr>
            </a:br>
            <a:r>
              <a:rPr lang="en-US" altLang="zh-CN" sz="2000" dirty="0">
                <a:latin typeface="Calibri" panose="020F0502020204030204" pitchFamily="34" charset="0"/>
                <a:cs typeface="Calibri" panose="020F0502020204030204" pitchFamily="34" charset="0"/>
              </a:rPr>
              <a:t>2</a:t>
            </a:r>
            <a:r>
              <a:rPr lang="zh-CN" altLang="en-US" sz="2000" dirty="0">
                <a:latin typeface="Calibri" panose="020F0502020204030204" pitchFamily="34" charset="0"/>
                <a:cs typeface="Calibri" panose="020F0502020204030204" pitchFamily="34" charset="0"/>
              </a:rPr>
              <a:t>．</a:t>
            </a:r>
            <a:r>
              <a:rPr lang="en-US" altLang="zh-CN" sz="2000" dirty="0">
                <a:latin typeface="Calibri" panose="020F0502020204030204" pitchFamily="34" charset="0"/>
                <a:cs typeface="Calibri" panose="020F0502020204030204" pitchFamily="34" charset="0"/>
              </a:rPr>
              <a:t>S</a:t>
            </a:r>
            <a:r>
              <a:rPr lang="zh-CN" altLang="en-US" sz="2000" dirty="0">
                <a:latin typeface="Calibri" panose="020F0502020204030204" pitchFamily="34" charset="0"/>
                <a:cs typeface="Calibri" panose="020F0502020204030204" pitchFamily="34" charset="0"/>
              </a:rPr>
              <a:t>中网页大多数是与查询</a:t>
            </a:r>
            <a:r>
              <a:rPr lang="en-US" altLang="zh-CN" sz="2000" dirty="0">
                <a:latin typeface="Calibri" panose="020F0502020204030204" pitchFamily="34" charset="0"/>
                <a:cs typeface="Calibri" panose="020F0502020204030204" pitchFamily="34" charset="0"/>
              </a:rPr>
              <a:t>q</a:t>
            </a:r>
            <a:r>
              <a:rPr lang="zh-CN" altLang="en-US" sz="2000" dirty="0">
                <a:latin typeface="Calibri" panose="020F0502020204030204" pitchFamily="34" charset="0"/>
                <a:cs typeface="Calibri" panose="020F0502020204030204" pitchFamily="34" charset="0"/>
              </a:rPr>
              <a:t>相关的网页</a:t>
            </a:r>
            <a:br>
              <a:rPr lang="zh-CN" altLang="en-US" sz="2000" dirty="0">
                <a:latin typeface="Calibri" panose="020F0502020204030204" pitchFamily="34" charset="0"/>
                <a:cs typeface="Calibri" panose="020F0502020204030204" pitchFamily="34" charset="0"/>
              </a:rPr>
            </a:br>
            <a:r>
              <a:rPr lang="en-US" altLang="zh-CN" sz="2000" dirty="0">
                <a:latin typeface="Calibri" panose="020F0502020204030204" pitchFamily="34" charset="0"/>
                <a:cs typeface="Calibri" panose="020F0502020204030204" pitchFamily="34" charset="0"/>
              </a:rPr>
              <a:t>3</a:t>
            </a:r>
            <a:r>
              <a:rPr lang="zh-CN" altLang="en-US" sz="2000" dirty="0">
                <a:latin typeface="Calibri" panose="020F0502020204030204" pitchFamily="34" charset="0"/>
                <a:cs typeface="Calibri" panose="020F0502020204030204" pitchFamily="34" charset="0"/>
              </a:rPr>
              <a:t>．</a:t>
            </a:r>
            <a:r>
              <a:rPr lang="en-US" altLang="zh-CN" sz="2000" dirty="0">
                <a:latin typeface="Calibri" panose="020F0502020204030204" pitchFamily="34" charset="0"/>
                <a:cs typeface="Calibri" panose="020F0502020204030204" pitchFamily="34" charset="0"/>
              </a:rPr>
              <a:t>S</a:t>
            </a:r>
            <a:r>
              <a:rPr lang="zh-CN" altLang="en-US" sz="2000" dirty="0">
                <a:latin typeface="Calibri" panose="020F0502020204030204" pitchFamily="34" charset="0"/>
                <a:cs typeface="Calibri" panose="020F0502020204030204" pitchFamily="34" charset="0"/>
              </a:rPr>
              <a:t>中网页包含较多的权威网页。</a:t>
            </a:r>
            <a:endParaRPr lang="zh-CN" altLang="en-US" sz="2000" dirty="0">
              <a:latin typeface="Calibri" panose="020F0502020204030204" pitchFamily="34" charset="0"/>
              <a:cs typeface="Calibri" panose="020F0502020204030204" pitchFamily="34" charset="0"/>
            </a:endParaRPr>
          </a:p>
        </p:txBody>
      </p:sp>
      <p:sp>
        <p:nvSpPr>
          <p:cNvPr id="4" name="矩形 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Grp="1" noChangeAspect="1" noChangeArrowheads="1"/>
          </p:cNvPicPr>
          <p:nvPr>
            <p:ph idx="4294967295"/>
          </p:nvPr>
        </p:nvPicPr>
        <p:blipFill>
          <a:blip r:embed="rId1">
            <a:extLst>
              <a:ext uri="{28A0092B-C50C-407E-A947-70E740481C1C}">
                <a14:useLocalDpi xmlns:a14="http://schemas.microsoft.com/office/drawing/2010/main" val="0"/>
              </a:ext>
            </a:extLst>
          </a:blip>
          <a:stretch>
            <a:fillRect/>
          </a:stretch>
        </p:blipFill>
        <p:spPr>
          <a:noFill/>
        </p:spPr>
      </p:pic>
      <p:sp>
        <p:nvSpPr>
          <p:cNvPr id="6" name="Rectangle 3"/>
          <p:cNvSpPr txBox="1">
            <a:spLocks noChangeArrowheads="1"/>
          </p:cNvSpPr>
          <p:nvPr/>
        </p:nvSpPr>
        <p:spPr bwMode="auto">
          <a:xfrm>
            <a:off x="179512" y="1196752"/>
            <a:ext cx="8712968"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扩展根集页面</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lvl="1" algn="just" eaLnBrk="1" hangingPunct="1">
              <a:lnSpc>
                <a:spcPct val="120000"/>
              </a:lnSpc>
              <a:spcBef>
                <a:spcPts val="600"/>
              </a:spcBef>
              <a:buClr>
                <a:srgbClr val="1557AE"/>
              </a:buClr>
              <a:buSzPct val="100000"/>
              <a:buFont typeface="Wingdings" panose="05000000000000000000" pitchFamily="2" charset="2"/>
              <a:buChar char="ü"/>
              <a:defRPr/>
            </a:pPr>
            <a:r>
              <a:rPr lang="zh-CN" altLang="en-US" sz="2200" b="0" dirty="0">
                <a:latin typeface="Calibri" panose="020F0502020204030204" pitchFamily="34" charset="0"/>
                <a:cs typeface="Calibri" panose="020F0502020204030204" pitchFamily="34" charset="0"/>
              </a:rPr>
              <a:t>在</a:t>
            </a:r>
            <a:r>
              <a:rPr lang="zh-CN" altLang="en-US" sz="2200" dirty="0">
                <a:solidFill>
                  <a:srgbClr val="1557AE"/>
                </a:solidFill>
                <a:latin typeface="Calibri" panose="020F0502020204030204" pitchFamily="34" charset="0"/>
                <a:cs typeface="Calibri" panose="020F0502020204030204" pitchFamily="34" charset="0"/>
              </a:rPr>
              <a:t>根集</a:t>
            </a:r>
            <a:r>
              <a:rPr lang="en-US" altLang="zh-CN" sz="2200" dirty="0">
                <a:solidFill>
                  <a:srgbClr val="1557AE"/>
                </a:solidFill>
                <a:latin typeface="Calibri" panose="020F0502020204030204" pitchFamily="34" charset="0"/>
                <a:cs typeface="Calibri" panose="020F0502020204030204" pitchFamily="34" charset="0"/>
              </a:rPr>
              <a:t>root</a:t>
            </a:r>
            <a:r>
              <a:rPr lang="zh-CN" altLang="en-US" sz="2200" b="0" dirty="0">
                <a:latin typeface="Calibri" panose="020F0502020204030204" pitchFamily="34" charset="0"/>
                <a:cs typeface="Calibri" panose="020F0502020204030204" pitchFamily="34" charset="0"/>
              </a:rPr>
              <a:t>的基础上，扩充</a:t>
            </a:r>
            <a:r>
              <a:rPr lang="zh-CN" altLang="en-US" sz="2200" dirty="0">
                <a:solidFill>
                  <a:srgbClr val="1557AE"/>
                </a:solidFill>
                <a:latin typeface="Calibri" panose="020F0502020204030204" pitchFamily="34" charset="0"/>
                <a:cs typeface="Calibri" panose="020F0502020204030204" pitchFamily="34" charset="0"/>
              </a:rPr>
              <a:t>集合</a:t>
            </a:r>
            <a:r>
              <a:rPr lang="en-US" altLang="zh-CN" sz="2200" dirty="0">
                <a:solidFill>
                  <a:srgbClr val="1557AE"/>
                </a:solidFill>
                <a:latin typeface="Calibri" panose="020F0502020204030204" pitchFamily="34" charset="0"/>
                <a:cs typeface="Calibri" panose="020F0502020204030204" pitchFamily="34" charset="0"/>
              </a:rPr>
              <a:t>base</a:t>
            </a:r>
            <a:r>
              <a:rPr lang="zh-CN" altLang="en-US" sz="2200" b="0" dirty="0">
                <a:latin typeface="Calibri" panose="020F0502020204030204" pitchFamily="34" charset="0"/>
                <a:cs typeface="Calibri" panose="020F0502020204030204" pitchFamily="34" charset="0"/>
              </a:rPr>
              <a:t>，扩充原则是：凡是与根集内网页有直接链接关系的网页都被扩充到</a:t>
            </a:r>
            <a:r>
              <a:rPr lang="zh-CN" altLang="en-US" sz="2200" dirty="0">
                <a:solidFill>
                  <a:srgbClr val="1557AE"/>
                </a:solidFill>
                <a:latin typeface="Calibri" panose="020F0502020204030204" pitchFamily="34" charset="0"/>
                <a:cs typeface="Calibri" panose="020F0502020204030204" pitchFamily="34" charset="0"/>
              </a:rPr>
              <a:t>集合</a:t>
            </a:r>
            <a:r>
              <a:rPr lang="en-US" altLang="zh-CN" sz="2200" dirty="0">
                <a:solidFill>
                  <a:srgbClr val="1557AE"/>
                </a:solidFill>
                <a:latin typeface="Calibri" panose="020F0502020204030204" pitchFamily="34" charset="0"/>
                <a:cs typeface="Calibri" panose="020F0502020204030204" pitchFamily="34" charset="0"/>
              </a:rPr>
              <a:t>base</a:t>
            </a:r>
            <a:r>
              <a:rPr lang="zh-CN" altLang="en-US" sz="2200" b="0" dirty="0">
                <a:latin typeface="Calibri" panose="020F0502020204030204" pitchFamily="34" charset="0"/>
                <a:cs typeface="Calibri" panose="020F0502020204030204" pitchFamily="34" charset="0"/>
              </a:rPr>
              <a:t>，无论是有链接指向根集内页面，或者是根集页面有链接指向的页面，都被扩充进入扩展网页</a:t>
            </a:r>
            <a:r>
              <a:rPr lang="zh-CN" altLang="en-US" sz="2200" dirty="0">
                <a:solidFill>
                  <a:srgbClr val="1557AE"/>
                </a:solidFill>
                <a:latin typeface="Calibri" panose="020F0502020204030204" pitchFamily="34" charset="0"/>
                <a:cs typeface="Calibri" panose="020F0502020204030204" pitchFamily="34" charset="0"/>
              </a:rPr>
              <a:t>集合</a:t>
            </a:r>
            <a:r>
              <a:rPr lang="en-US" altLang="zh-CN" sz="2200" dirty="0">
                <a:solidFill>
                  <a:srgbClr val="1557AE"/>
                </a:solidFill>
                <a:latin typeface="Calibri" panose="020F0502020204030204" pitchFamily="34" charset="0"/>
                <a:cs typeface="Calibri" panose="020F0502020204030204" pitchFamily="34" charset="0"/>
              </a:rPr>
              <a:t>base</a:t>
            </a:r>
            <a:r>
              <a:rPr lang="zh-CN" altLang="en-US" sz="2200" b="0" dirty="0">
                <a:latin typeface="Calibri" panose="020F0502020204030204" pitchFamily="34" charset="0"/>
                <a:cs typeface="Calibri" panose="020F0502020204030204" pitchFamily="34" charset="0"/>
              </a:rPr>
              <a:t>。</a:t>
            </a:r>
            <a:endParaRPr lang="en-US" altLang="zh-CN" sz="2200" b="0" dirty="0">
              <a:latin typeface="Calibri" panose="020F0502020204030204" pitchFamily="34" charset="0"/>
              <a:cs typeface="Calibri" panose="020F0502020204030204" pitchFamily="34" charset="0"/>
            </a:endParaRPr>
          </a:p>
          <a:p>
            <a:pPr lvl="1" eaLnBrk="1" hangingPunct="1">
              <a:lnSpc>
                <a:spcPct val="120000"/>
              </a:lnSpc>
              <a:spcBef>
                <a:spcPts val="600"/>
              </a:spcBef>
              <a:buClr>
                <a:srgbClr val="1557AE"/>
              </a:buClr>
              <a:buSzPct val="100000"/>
              <a:buFont typeface="Wingdings" panose="05000000000000000000" pitchFamily="2" charset="2"/>
              <a:buChar char="ü"/>
              <a:defRPr/>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算法在</a:t>
            </a:r>
            <a:r>
              <a:rPr lang="zh-CN" altLang="en-US" sz="2200" dirty="0">
                <a:solidFill>
                  <a:srgbClr val="1557AE"/>
                </a:solidFill>
                <a:latin typeface="Calibri" panose="020F0502020204030204" pitchFamily="34" charset="0"/>
                <a:cs typeface="Calibri" panose="020F0502020204030204" pitchFamily="34" charset="0"/>
              </a:rPr>
              <a:t>集合</a:t>
            </a:r>
            <a:r>
              <a:rPr lang="en-US" altLang="zh-CN" sz="2200" dirty="0">
                <a:solidFill>
                  <a:srgbClr val="1557AE"/>
                </a:solidFill>
                <a:latin typeface="Calibri" panose="020F0502020204030204" pitchFamily="34" charset="0"/>
                <a:cs typeface="Calibri" panose="020F0502020204030204" pitchFamily="34" charset="0"/>
              </a:rPr>
              <a:t>base</a:t>
            </a:r>
            <a:r>
              <a:rPr lang="zh-CN" altLang="en-US" sz="2200" b="0" dirty="0">
                <a:latin typeface="Calibri" panose="020F0502020204030204" pitchFamily="34" charset="0"/>
                <a:cs typeface="Calibri" panose="020F0502020204030204" pitchFamily="34" charset="0"/>
              </a:rPr>
              <a:t>内寻找好的</a:t>
            </a:r>
            <a:r>
              <a:rPr lang="en-US" altLang="zh-CN" sz="2200" dirty="0">
                <a:solidFill>
                  <a:srgbClr val="1557AE"/>
                </a:solidFill>
                <a:latin typeface="Calibri" panose="020F0502020204030204" pitchFamily="34" charset="0"/>
                <a:cs typeface="Calibri" panose="020F0502020204030204" pitchFamily="34" charset="0"/>
              </a:rPr>
              <a:t>Hub</a:t>
            </a:r>
            <a:r>
              <a:rPr lang="zh-CN" altLang="en-US" sz="2200" dirty="0">
                <a:solidFill>
                  <a:srgbClr val="1557AE"/>
                </a:solidFill>
                <a:latin typeface="Calibri" panose="020F0502020204030204" pitchFamily="34" charset="0"/>
                <a:cs typeface="Calibri" panose="020F0502020204030204" pitchFamily="34" charset="0"/>
              </a:rPr>
              <a:t>页面</a:t>
            </a:r>
            <a:r>
              <a:rPr lang="zh-CN" altLang="en-US" sz="2200" b="0" dirty="0">
                <a:latin typeface="Calibri" panose="020F0502020204030204" pitchFamily="34" charset="0"/>
                <a:cs typeface="Calibri" panose="020F0502020204030204" pitchFamily="34" charset="0"/>
              </a:rPr>
              <a:t>与好的</a:t>
            </a:r>
            <a:r>
              <a:rPr lang="en-US" altLang="zh-CN" sz="2200" dirty="0">
                <a:solidFill>
                  <a:srgbClr val="1557AE"/>
                </a:solidFill>
                <a:latin typeface="Calibri" panose="020F0502020204030204" pitchFamily="34" charset="0"/>
                <a:cs typeface="Calibri" panose="020F0502020204030204" pitchFamily="34" charset="0"/>
              </a:rPr>
              <a:t>Authority</a:t>
            </a:r>
            <a:r>
              <a:rPr lang="zh-CN" altLang="en-US" sz="2200" dirty="0">
                <a:solidFill>
                  <a:srgbClr val="1557AE"/>
                </a:solidFill>
                <a:latin typeface="Calibri" panose="020F0502020204030204" pitchFamily="34" charset="0"/>
                <a:cs typeface="Calibri" panose="020F0502020204030204" pitchFamily="34" charset="0"/>
              </a:rPr>
              <a:t>页面</a:t>
            </a:r>
            <a:r>
              <a:rPr lang="zh-CN" altLang="en-US" sz="2200" b="0" dirty="0">
                <a:latin typeface="Calibri" panose="020F0502020204030204" pitchFamily="34" charset="0"/>
                <a:cs typeface="Calibri" panose="020F0502020204030204" pitchFamily="34" charset="0"/>
              </a:rPr>
              <a:t>。</a:t>
            </a:r>
            <a:endParaRPr lang="en-US" altLang="zh-CN" sz="2200" b="0" dirty="0">
              <a:latin typeface="Calibri" panose="020F0502020204030204" pitchFamily="34" charset="0"/>
              <a:cs typeface="Calibri" panose="020F0502020204030204" pitchFamily="34" charset="0"/>
            </a:endParaRPr>
          </a:p>
          <a:p>
            <a:pPr lvl="1" eaLnBrk="1" hangingPunct="1">
              <a:lnSpc>
                <a:spcPct val="120000"/>
              </a:lnSpc>
              <a:spcBef>
                <a:spcPts val="600"/>
              </a:spcBef>
              <a:buClr>
                <a:srgbClr val="1557AE"/>
              </a:buClr>
              <a:buSzPct val="100000"/>
              <a:buFont typeface="Wingdings" panose="05000000000000000000" pitchFamily="2" charset="2"/>
              <a:buChar char="ü"/>
              <a:defRPr/>
            </a:pPr>
            <a:r>
              <a:rPr lang="zh-CN" altLang="en-US" sz="2200" b="0" dirty="0">
                <a:latin typeface="Calibri" panose="020F0502020204030204" pitchFamily="34" charset="0"/>
                <a:cs typeface="Calibri" panose="020F0502020204030204" pitchFamily="34" charset="0"/>
              </a:rPr>
              <a:t>集合</a:t>
            </a:r>
            <a:r>
              <a:rPr lang="en-US" altLang="zh-CN" sz="2200" b="0" dirty="0">
                <a:latin typeface="Calibri" panose="020F0502020204030204" pitchFamily="34" charset="0"/>
                <a:cs typeface="Calibri" panose="020F0502020204030204" pitchFamily="34" charset="0"/>
              </a:rPr>
              <a:t>base</a:t>
            </a:r>
            <a:r>
              <a:rPr lang="zh-CN" altLang="en-US" sz="2200" b="0" dirty="0">
                <a:latin typeface="Calibri" panose="020F0502020204030204" pitchFamily="34" charset="0"/>
                <a:cs typeface="Calibri" panose="020F0502020204030204" pitchFamily="34" charset="0"/>
              </a:rPr>
              <a:t>大概包含</a:t>
            </a:r>
            <a:r>
              <a:rPr lang="en-US" altLang="zh-CN" sz="2200" dirty="0">
                <a:solidFill>
                  <a:srgbClr val="1557AE"/>
                </a:solidFill>
                <a:latin typeface="Calibri" panose="020F0502020204030204" pitchFamily="34" charset="0"/>
                <a:cs typeface="Calibri" panose="020F0502020204030204" pitchFamily="34" charset="0"/>
              </a:rPr>
              <a:t>1000-5000</a:t>
            </a:r>
            <a:r>
              <a:rPr lang="zh-CN" altLang="en-US" sz="2200" dirty="0">
                <a:solidFill>
                  <a:srgbClr val="1557AE"/>
                </a:solidFill>
                <a:latin typeface="Calibri" panose="020F0502020204030204" pitchFamily="34" charset="0"/>
                <a:cs typeface="Calibri" panose="020F0502020204030204" pitchFamily="34" charset="0"/>
              </a:rPr>
              <a:t>页面</a:t>
            </a:r>
            <a:endParaRPr lang="zh-CN" altLang="en-US" sz="2200" dirty="0">
              <a:solidFill>
                <a:srgbClr val="1557AE"/>
              </a:solidFill>
              <a:latin typeface="Calibri" panose="020F0502020204030204" pitchFamily="34" charset="0"/>
              <a:cs typeface="Calibri" panose="020F0502020204030204" pitchFamily="34" charset="0"/>
            </a:endParaRPr>
          </a:p>
        </p:txBody>
      </p:sp>
      <p:sp>
        <p:nvSpPr>
          <p:cNvPr id="5" name="矩形 4"/>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5278562" y="4005064"/>
            <a:ext cx="3613918" cy="244744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3"/>
              <p:cNvSpPr txBox="1">
                <a:spLocks noChangeArrowheads="1"/>
              </p:cNvSpPr>
              <p:nvPr/>
            </p:nvSpPr>
            <p:spPr bwMode="auto">
              <a:xfrm>
                <a:off x="193040" y="1181234"/>
                <a:ext cx="8950960" cy="520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计算</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Hub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值和</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Authority</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值</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928370" lvl="1" indent="-457200" eaLnBrk="1" hangingPunct="1">
                  <a:lnSpc>
                    <a:spcPct val="120000"/>
                  </a:lnSpc>
                  <a:spcBef>
                    <a:spcPts val="600"/>
                  </a:spcBef>
                  <a:buClr>
                    <a:srgbClr val="1557AE"/>
                  </a:buClr>
                  <a:buSzPct val="100000"/>
                  <a:buFont typeface="+mj-lt"/>
                  <a:buAutoNum type="arabicPeriod"/>
                  <a:defRPr/>
                </a:pPr>
                <a:r>
                  <a:rPr lang="zh-CN" altLang="en-US" sz="2200" b="0" dirty="0">
                    <a:latin typeface="Calibri" panose="020F0502020204030204" pitchFamily="34" charset="0"/>
                    <a:cs typeface="Calibri" panose="020F0502020204030204" pitchFamily="34" charset="0"/>
                  </a:rPr>
                  <a:t> </a:t>
                </a:r>
                <a14:m>
                  <m:oMath xmlns:m="http://schemas.openxmlformats.org/officeDocument/2006/math">
                    <m:r>
                      <a:rPr lang="en-US" altLang="zh-CN" sz="2200" b="0" i="1" smtClean="0">
                        <a:latin typeface="Cambria Math" panose="02040503050406030204" pitchFamily="18" charset="0"/>
                        <a:cs typeface="Calibri" panose="020F0502020204030204" pitchFamily="34" charset="0"/>
                      </a:rPr>
                      <m:t>𝑎</m:t>
                    </m:r>
                    <m:r>
                      <a:rPr lang="en-US" altLang="zh-CN" sz="2200" b="0" i="1" smtClean="0">
                        <a:latin typeface="Cambria Math" panose="02040503050406030204" pitchFamily="18" charset="0"/>
                        <a:cs typeface="Calibri" panose="020F0502020204030204" pitchFamily="34" charset="0"/>
                      </a:rPr>
                      <m:t>(</m:t>
                    </m:r>
                    <m:r>
                      <a:rPr lang="en-US" altLang="zh-CN" sz="2200" b="0" i="1" smtClean="0">
                        <a:latin typeface="Cambria Math" panose="02040503050406030204" pitchFamily="18" charset="0"/>
                        <a:cs typeface="Calibri" panose="020F0502020204030204" pitchFamily="34" charset="0"/>
                      </a:rPr>
                      <m:t>𝑖</m:t>
                    </m:r>
                    <m:r>
                      <a:rPr lang="en-US" altLang="zh-CN" sz="2200" b="0" i="1" smtClean="0">
                        <a:latin typeface="Cambria Math" panose="02040503050406030204" pitchFamily="18" charset="0"/>
                        <a:cs typeface="Calibri" panose="020F0502020204030204" pitchFamily="34" charset="0"/>
                      </a:rPr>
                      <m:t>)</m:t>
                    </m:r>
                  </m:oMath>
                </a14:m>
                <a:r>
                  <a:rPr lang="zh-CN" altLang="en-US" sz="2200" b="0" dirty="0">
                    <a:latin typeface="Calibri" panose="020F0502020204030204" pitchFamily="34" charset="0"/>
                    <a:cs typeface="Calibri" panose="020F0502020204030204" pitchFamily="34" charset="0"/>
                  </a:rPr>
                  <a:t>  </a:t>
                </a:r>
                <a:r>
                  <a:rPr lang="en-US" altLang="zh-CN" sz="2200" b="0" dirty="0">
                    <a:latin typeface="Calibri" panose="020F0502020204030204" pitchFamily="34" charset="0"/>
                    <a:cs typeface="Calibri" panose="020F0502020204030204" pitchFamily="34" charset="0"/>
                  </a:rPr>
                  <a:t>, </a:t>
                </a:r>
                <a:r>
                  <a:rPr lang="zh-CN" altLang="en-US" sz="2200" b="0" dirty="0">
                    <a:latin typeface="Calibri" panose="020F0502020204030204" pitchFamily="34" charset="0"/>
                    <a:cs typeface="Calibri" panose="020F0502020204030204" pitchFamily="34" charset="0"/>
                  </a:rPr>
                  <a:t> </a:t>
                </a:r>
                <a14:m>
                  <m:oMath xmlns:m="http://schemas.openxmlformats.org/officeDocument/2006/math">
                    <m:r>
                      <a:rPr lang="en-US" altLang="zh-CN" sz="2200" b="0" i="1" smtClean="0">
                        <a:latin typeface="Cambria Math" panose="02040503050406030204" pitchFamily="18" charset="0"/>
                        <a:cs typeface="Calibri" panose="020F0502020204030204" pitchFamily="34" charset="0"/>
                      </a:rPr>
                      <m:t>ℎ</m:t>
                    </m:r>
                    <m:r>
                      <a:rPr lang="en-US" altLang="zh-CN" sz="2200" b="0" i="1" smtClean="0">
                        <a:latin typeface="Cambria Math" panose="02040503050406030204" pitchFamily="18" charset="0"/>
                        <a:cs typeface="Calibri" panose="020F0502020204030204" pitchFamily="34" charset="0"/>
                      </a:rPr>
                      <m:t>(</m:t>
                    </m:r>
                    <m:r>
                      <a:rPr lang="en-US" altLang="zh-CN" sz="2200" b="0" i="1" smtClean="0">
                        <a:latin typeface="Cambria Math" panose="02040503050406030204" pitchFamily="18" charset="0"/>
                        <a:cs typeface="Calibri" panose="020F0502020204030204" pitchFamily="34" charset="0"/>
                      </a:rPr>
                      <m:t>𝑖</m:t>
                    </m:r>
                    <m:r>
                      <a:rPr lang="en-US" altLang="zh-CN" sz="2200" b="0" i="1" smtClean="0">
                        <a:latin typeface="Cambria Math" panose="02040503050406030204" pitchFamily="18" charset="0"/>
                        <a:cs typeface="Calibri" panose="020F0502020204030204" pitchFamily="34" charset="0"/>
                      </a:rPr>
                      <m:t>)</m:t>
                    </m:r>
                  </m:oMath>
                </a14:m>
                <a:r>
                  <a:rPr lang="zh-CN" altLang="en-US" sz="2200" b="0" dirty="0">
                    <a:latin typeface="Calibri" panose="020F0502020204030204" pitchFamily="34" charset="0"/>
                    <a:cs typeface="Calibri" panose="020F0502020204030204" pitchFamily="34" charset="0"/>
                  </a:rPr>
                  <a:t> 分别表示网页结点 </a:t>
                </a:r>
                <a:r>
                  <a:rPr lang="en-US" altLang="zh-CN" sz="2200" b="0" dirty="0">
                    <a:latin typeface="Calibri" panose="020F0502020204030204" pitchFamily="34" charset="0"/>
                    <a:cs typeface="Calibri" panose="020F0502020204030204" pitchFamily="34" charset="0"/>
                  </a:rPr>
                  <a:t>i </a:t>
                </a:r>
                <a:r>
                  <a:rPr lang="zh-CN" altLang="en-US" sz="2200" b="0" dirty="0">
                    <a:latin typeface="Calibri" panose="020F0502020204030204" pitchFamily="34" charset="0"/>
                    <a:cs typeface="Calibri" panose="020F0502020204030204" pitchFamily="34" charset="0"/>
                  </a:rPr>
                  <a:t>的</a:t>
                </a:r>
                <a:r>
                  <a:rPr lang="en-US" altLang="zh-CN" sz="2200" b="0" dirty="0">
                    <a:latin typeface="Calibri" panose="020F0502020204030204" pitchFamily="34" charset="0"/>
                    <a:cs typeface="Calibri" panose="020F0502020204030204" pitchFamily="34" charset="0"/>
                  </a:rPr>
                  <a:t>Authority</a:t>
                </a:r>
                <a:r>
                  <a:rPr lang="zh-CN" altLang="en-US" sz="2200" b="0" dirty="0">
                    <a:latin typeface="Calibri" panose="020F0502020204030204" pitchFamily="34" charset="0"/>
                    <a:cs typeface="Calibri" panose="020F0502020204030204" pitchFamily="34" charset="0"/>
                  </a:rPr>
                  <a:t>值和</a:t>
                </a:r>
                <a:r>
                  <a:rPr lang="en-US" altLang="zh-CN" sz="2200" b="0" dirty="0">
                    <a:latin typeface="Calibri" panose="020F0502020204030204" pitchFamily="34" charset="0"/>
                    <a:cs typeface="Calibri" panose="020F0502020204030204" pitchFamily="34" charset="0"/>
                  </a:rPr>
                  <a:t>Hub</a:t>
                </a:r>
                <a:r>
                  <a:rPr lang="zh-CN" altLang="en-US" sz="2200" b="0" dirty="0">
                    <a:latin typeface="Calibri" panose="020F0502020204030204" pitchFamily="34" charset="0"/>
                    <a:cs typeface="Calibri" panose="020F0502020204030204" pitchFamily="34" charset="0"/>
                  </a:rPr>
                  <a:t>值。</a:t>
                </a:r>
                <a:endParaRPr lang="zh-CN" altLang="en-US" sz="2200" b="0" dirty="0">
                  <a:latin typeface="Calibri" panose="020F0502020204030204" pitchFamily="34" charset="0"/>
                  <a:cs typeface="Calibri" panose="020F0502020204030204" pitchFamily="34" charset="0"/>
                </a:endParaRPr>
              </a:p>
              <a:p>
                <a:pPr marL="928370" lvl="1" indent="-457200" eaLnBrk="1" hangingPunct="1">
                  <a:lnSpc>
                    <a:spcPct val="120000"/>
                  </a:lnSpc>
                  <a:spcBef>
                    <a:spcPts val="600"/>
                  </a:spcBef>
                  <a:buClr>
                    <a:srgbClr val="1557AE"/>
                  </a:buClr>
                  <a:buSzPct val="100000"/>
                  <a:buFont typeface="+mj-lt"/>
                  <a:buAutoNum type="arabicPeriod"/>
                  <a:defRPr/>
                </a:pPr>
                <a:r>
                  <a:rPr lang="zh-CN" altLang="en-US" sz="2200" b="0" dirty="0">
                    <a:latin typeface="Calibri" panose="020F0502020204030204" pitchFamily="34" charset="0"/>
                    <a:cs typeface="Calibri" panose="020F0502020204030204" pitchFamily="34" charset="0"/>
                  </a:rPr>
                  <a:t>在初始情况下，在没有更多可利用信息前，每个页面的这两个权值都是相同的，可以都设置为</a:t>
                </a:r>
                <a:r>
                  <a:rPr lang="en-US" altLang="zh-CN" sz="2200" b="0" dirty="0">
                    <a:latin typeface="Calibri" panose="020F0502020204030204" pitchFamily="34" charset="0"/>
                    <a:cs typeface="Calibri" panose="020F0502020204030204" pitchFamily="34" charset="0"/>
                  </a:rPr>
                  <a:t>1</a:t>
                </a:r>
                <a:r>
                  <a:rPr lang="zh-CN" altLang="en-US" sz="2200" b="0" dirty="0">
                    <a:latin typeface="Calibri" panose="020F0502020204030204" pitchFamily="34" charset="0"/>
                    <a:cs typeface="Calibri" panose="020F0502020204030204" pitchFamily="34" charset="0"/>
                  </a:rPr>
                  <a:t>，即：</a:t>
                </a:r>
                <a14:m>
                  <m:oMath xmlns:m="http://schemas.openxmlformats.org/officeDocument/2006/math">
                    <m:sSub>
                      <m:sSubPr>
                        <m:ctrlPr>
                          <a:rPr lang="en-US" altLang="zh-CN" sz="2200" b="0" i="1" smtClean="0">
                            <a:latin typeface="Cambria Math" panose="02040503050406030204" pitchFamily="18" charset="0"/>
                            <a:cs typeface="Calibri" panose="020F0502020204030204" pitchFamily="34" charset="0"/>
                          </a:rPr>
                        </m:ctrlPr>
                      </m:sSubPr>
                      <m:e>
                        <m:r>
                          <a:rPr lang="en-US" altLang="zh-CN" sz="2200" b="0" i="1" smtClean="0">
                            <a:latin typeface="Cambria Math" panose="02040503050406030204" pitchFamily="18" charset="0"/>
                            <a:cs typeface="Calibri" panose="020F0502020204030204" pitchFamily="34" charset="0"/>
                          </a:rPr>
                          <m:t>𝑎</m:t>
                        </m:r>
                      </m:e>
                      <m:sub>
                        <m:r>
                          <a:rPr lang="en-US" altLang="zh-CN" sz="2200" b="0" i="1" smtClean="0">
                            <a:latin typeface="Cambria Math" panose="02040503050406030204" pitchFamily="18" charset="0"/>
                            <a:cs typeface="Calibri" panose="020F0502020204030204" pitchFamily="34" charset="0"/>
                          </a:rPr>
                          <m:t>0</m:t>
                        </m:r>
                      </m:sub>
                    </m:sSub>
                    <m:r>
                      <a:rPr lang="en-US" altLang="zh-CN" sz="2200" b="0" i="1" smtClean="0">
                        <a:latin typeface="Cambria Math" panose="02040503050406030204" pitchFamily="18" charset="0"/>
                        <a:cs typeface="Calibri" panose="020F0502020204030204" pitchFamily="34" charset="0"/>
                      </a:rPr>
                      <m:t>=</m:t>
                    </m:r>
                    <m:r>
                      <a:rPr lang="en-US" altLang="zh-CN" sz="2200" b="0" i="1" smtClean="0">
                        <a:latin typeface="Cambria Math" panose="02040503050406030204" pitchFamily="18" charset="0"/>
                        <a:cs typeface="Calibri" panose="020F0502020204030204" pitchFamily="34" charset="0"/>
                      </a:rPr>
                      <m:t>1</m:t>
                    </m:r>
                    <m:r>
                      <a:rPr lang="en-US" altLang="zh-CN" sz="2200" b="0" i="1" smtClean="0">
                        <a:latin typeface="Cambria Math" panose="02040503050406030204" pitchFamily="18" charset="0"/>
                        <a:cs typeface="Calibri" panose="020F0502020204030204" pitchFamily="34" charset="0"/>
                      </a:rPr>
                      <m:t>,  </m:t>
                    </m:r>
                    <m:sSub>
                      <m:sSubPr>
                        <m:ctrlPr>
                          <a:rPr lang="en-US" altLang="zh-CN" sz="2200" b="0" i="1" smtClean="0">
                            <a:latin typeface="Cambria Math" panose="02040503050406030204" pitchFamily="18" charset="0"/>
                            <a:cs typeface="Calibri" panose="020F0502020204030204" pitchFamily="34" charset="0"/>
                          </a:rPr>
                        </m:ctrlPr>
                      </m:sSubPr>
                      <m:e>
                        <m:r>
                          <a:rPr lang="en-US" altLang="zh-CN" sz="2200" b="0" i="1" smtClean="0">
                            <a:latin typeface="Cambria Math" panose="02040503050406030204" pitchFamily="18" charset="0"/>
                            <a:cs typeface="Calibri" panose="020F0502020204030204" pitchFamily="34" charset="0"/>
                          </a:rPr>
                          <m:t>ℎ</m:t>
                        </m:r>
                      </m:e>
                      <m:sub>
                        <m:r>
                          <a:rPr lang="en-US" altLang="zh-CN" sz="2200" b="0" i="1" smtClean="0">
                            <a:latin typeface="Cambria Math" panose="02040503050406030204" pitchFamily="18" charset="0"/>
                            <a:cs typeface="Calibri" panose="020F0502020204030204" pitchFamily="34" charset="0"/>
                          </a:rPr>
                          <m:t>0</m:t>
                        </m:r>
                      </m:sub>
                    </m:sSub>
                    <m:r>
                      <a:rPr lang="en-US" altLang="zh-CN" sz="2200" b="0" i="1" smtClean="0">
                        <a:latin typeface="Cambria Math" panose="02040503050406030204" pitchFamily="18" charset="0"/>
                        <a:cs typeface="Calibri" panose="020F0502020204030204" pitchFamily="34" charset="0"/>
                      </a:rPr>
                      <m:t>=</m:t>
                    </m:r>
                    <m:r>
                      <a:rPr lang="en-US" altLang="zh-CN" sz="2200" b="0" i="1" smtClean="0">
                        <a:latin typeface="Cambria Math" panose="02040503050406030204" pitchFamily="18" charset="0"/>
                        <a:cs typeface="Calibri" panose="020F0502020204030204" pitchFamily="34" charset="0"/>
                      </a:rPr>
                      <m:t>1</m:t>
                    </m:r>
                  </m:oMath>
                </a14:m>
                <a:endParaRPr lang="en-US" altLang="zh-CN" sz="2200" b="0" dirty="0">
                  <a:latin typeface="Calibri" panose="020F0502020204030204" pitchFamily="34" charset="0"/>
                  <a:cs typeface="Calibri" panose="020F0502020204030204" pitchFamily="34" charset="0"/>
                </a:endParaRPr>
              </a:p>
              <a:p>
                <a:pPr marL="928370" lvl="1" indent="-457200" eaLnBrk="1" hangingPunct="1">
                  <a:lnSpc>
                    <a:spcPct val="120000"/>
                  </a:lnSpc>
                  <a:spcBef>
                    <a:spcPts val="600"/>
                  </a:spcBef>
                  <a:buClr>
                    <a:srgbClr val="1557AE"/>
                  </a:buClr>
                  <a:buSzPct val="100000"/>
                  <a:buFont typeface="+mj-lt"/>
                  <a:buAutoNum type="arabicPeriod"/>
                  <a:defRPr/>
                </a:pPr>
                <a:r>
                  <a:rPr lang="zh-CN" altLang="en-US" sz="2200" b="0" dirty="0">
                    <a:latin typeface="Calibri" panose="020F0502020204030204" pitchFamily="34" charset="0"/>
                    <a:cs typeface="Calibri" panose="020F0502020204030204" pitchFamily="34" charset="0"/>
                  </a:rPr>
                  <a:t>每次迭代计算</a:t>
                </a:r>
                <a:r>
                  <a:rPr lang="en-US" altLang="zh-CN" sz="2200" b="0" dirty="0">
                    <a:latin typeface="Calibri" panose="020F0502020204030204" pitchFamily="34" charset="0"/>
                    <a:cs typeface="Calibri" panose="020F0502020204030204" pitchFamily="34" charset="0"/>
                  </a:rPr>
                  <a:t>Hub</a:t>
                </a:r>
                <a:r>
                  <a:rPr lang="zh-CN" altLang="en-US" sz="2200" b="0" dirty="0">
                    <a:latin typeface="Calibri" panose="020F0502020204030204" pitchFamily="34" charset="0"/>
                    <a:cs typeface="Calibri" panose="020F0502020204030204" pitchFamily="34" charset="0"/>
                  </a:rPr>
                  <a:t>权值和</a:t>
                </a:r>
                <a:r>
                  <a:rPr lang="en-US" altLang="zh-CN" sz="2200" b="0" dirty="0">
                    <a:latin typeface="Calibri" panose="020F0502020204030204" pitchFamily="34" charset="0"/>
                    <a:cs typeface="Calibri" panose="020F0502020204030204" pitchFamily="34" charset="0"/>
                  </a:rPr>
                  <a:t>Authority</a:t>
                </a:r>
                <a:r>
                  <a:rPr lang="zh-CN" altLang="en-US" sz="2200" b="0" dirty="0">
                    <a:latin typeface="Calibri" panose="020F0502020204030204" pitchFamily="34" charset="0"/>
                    <a:cs typeface="Calibri" panose="020F0502020204030204" pitchFamily="34" charset="0"/>
                  </a:rPr>
                  <a:t>权值：</a:t>
                </a:r>
                <a:endParaRPr lang="en-US" altLang="zh-CN" sz="2200" b="0" dirty="0">
                  <a:latin typeface="Calibri" panose="020F0502020204030204" pitchFamily="34" charset="0"/>
                  <a:cs typeface="Calibri" panose="020F0502020204030204" pitchFamily="34" charset="0"/>
                </a:endParaRPr>
              </a:p>
              <a:p>
                <a:pPr lvl="2">
                  <a:buFont typeface="Wingdings" panose="05000000000000000000" pitchFamily="2" charset="2"/>
                  <a:buChar char="ü"/>
                </a:pPr>
                <a:r>
                  <a:rPr lang="zh-CN" altLang="en-US" sz="2000" b="0" dirty="0">
                    <a:latin typeface="Calibri" panose="020F0502020204030204" pitchFamily="34" charset="0"/>
                    <a:cs typeface="Calibri" panose="020F0502020204030204" pitchFamily="34" charset="0"/>
                  </a:rPr>
                  <a:t>网页</a:t>
                </a:r>
                <a:r>
                  <a:rPr lang="en-US" altLang="zh-CN" sz="2000" b="0" dirty="0" err="1">
                    <a:latin typeface="Calibri" panose="020F0502020204030204" pitchFamily="34" charset="0"/>
                    <a:cs typeface="Calibri" panose="020F0502020204030204" pitchFamily="34" charset="0"/>
                  </a:rPr>
                  <a:t>i</a:t>
                </a:r>
                <a:r>
                  <a:rPr lang="zh-CN" altLang="en-US" sz="2000" b="0" dirty="0">
                    <a:latin typeface="Calibri" panose="020F0502020204030204" pitchFamily="34" charset="0"/>
                    <a:cs typeface="Calibri" panose="020F0502020204030204" pitchFamily="34" charset="0"/>
                  </a:rPr>
                  <a:t>在此轮迭代中的</a:t>
                </a:r>
                <a:r>
                  <a:rPr lang="en-US" altLang="zh-CN" sz="2000" b="0" dirty="0">
                    <a:latin typeface="Calibri" panose="020F0502020204030204" pitchFamily="34" charset="0"/>
                    <a:cs typeface="Calibri" panose="020F0502020204030204" pitchFamily="34" charset="0"/>
                  </a:rPr>
                  <a:t>Authority</a:t>
                </a:r>
                <a:r>
                  <a:rPr lang="zh-CN" altLang="en-US" sz="2000" b="0" dirty="0">
                    <a:latin typeface="Calibri" panose="020F0502020204030204" pitchFamily="34" charset="0"/>
                    <a:cs typeface="Calibri" panose="020F0502020204030204" pitchFamily="34" charset="0"/>
                  </a:rPr>
                  <a:t>权值即为所有指向页面的</a:t>
                </a:r>
                <a:r>
                  <a:rPr lang="en-US" altLang="zh-CN" sz="2000" b="0" dirty="0">
                    <a:latin typeface="Calibri" panose="020F0502020204030204" pitchFamily="34" charset="0"/>
                    <a:cs typeface="Calibri" panose="020F0502020204030204" pitchFamily="34" charset="0"/>
                  </a:rPr>
                  <a:t>Hub</a:t>
                </a:r>
                <a:r>
                  <a:rPr lang="zh-CN" altLang="en-US" sz="2000" b="0" dirty="0">
                    <a:latin typeface="Calibri" panose="020F0502020204030204" pitchFamily="34" charset="0"/>
                    <a:cs typeface="Calibri" panose="020F0502020204030204" pitchFamily="34" charset="0"/>
                  </a:rPr>
                  <a:t>值之和：</a:t>
                </a:r>
                <a14:m>
                  <m:oMath xmlns:m="http://schemas.openxmlformats.org/officeDocument/2006/math">
                    <m:r>
                      <a:rPr lang="en-US" altLang="zh-CN" sz="2000" b="0" i="1" dirty="0" smtClean="0">
                        <a:latin typeface="Cambria Math" panose="02040503050406030204" pitchFamily="18" charset="0"/>
                        <a:cs typeface="Calibri" panose="020F0502020204030204" pitchFamily="34" charset="0"/>
                      </a:rPr>
                      <m:t>𝑎</m:t>
                    </m:r>
                    <m:d>
                      <m:dPr>
                        <m:ctrlPr>
                          <a:rPr lang="en-US" altLang="zh-CN" sz="2000" b="0" i="1" dirty="0" smtClean="0">
                            <a:latin typeface="Cambria Math" panose="02040503050406030204" pitchFamily="18" charset="0"/>
                            <a:cs typeface="Calibri" panose="020F0502020204030204" pitchFamily="34" charset="0"/>
                          </a:rPr>
                        </m:ctrlPr>
                      </m:dPr>
                      <m:e>
                        <m:r>
                          <a:rPr lang="en-US" altLang="zh-CN" sz="2000" b="0" i="1" dirty="0" smtClean="0">
                            <a:latin typeface="Cambria Math" panose="02040503050406030204" pitchFamily="18" charset="0"/>
                            <a:cs typeface="Calibri" panose="020F0502020204030204" pitchFamily="34" charset="0"/>
                          </a:rPr>
                          <m:t>𝑖</m:t>
                        </m:r>
                      </m:e>
                    </m:d>
                    <m:r>
                      <a:rPr lang="en-US" altLang="zh-CN" sz="2000" b="0" i="1" dirty="0" smtClean="0">
                        <a:latin typeface="Cambria Math" panose="02040503050406030204" pitchFamily="18" charset="0"/>
                        <a:cs typeface="Calibri" panose="020F0502020204030204" pitchFamily="34" charset="0"/>
                      </a:rPr>
                      <m:t>= </m:t>
                    </m:r>
                    <m:r>
                      <m:rPr>
                        <m:sty m:val="p"/>
                      </m:rPr>
                      <a:rPr lang="el-GR" altLang="zh-CN" sz="2000" b="0" i="0" dirty="0">
                        <a:latin typeface="Cambria Math" panose="02040503050406030204" pitchFamily="18" charset="0"/>
                        <a:cs typeface="Calibri" panose="020F0502020204030204" pitchFamily="34" charset="0"/>
                      </a:rPr>
                      <m:t>Σ</m:t>
                    </m:r>
                    <m:r>
                      <a:rPr lang="en-US" altLang="zh-CN" sz="2000" b="0" i="1" dirty="0">
                        <a:latin typeface="Cambria Math" panose="02040503050406030204" pitchFamily="18" charset="0"/>
                        <a:cs typeface="Calibri" panose="020F0502020204030204" pitchFamily="34" charset="0"/>
                      </a:rPr>
                      <m:t>ℎ</m:t>
                    </m:r>
                    <m:d>
                      <m:dPr>
                        <m:ctrlPr>
                          <a:rPr lang="en-US" altLang="zh-CN" sz="2000" b="0" i="1" dirty="0">
                            <a:latin typeface="Cambria Math" panose="02040503050406030204" pitchFamily="18" charset="0"/>
                            <a:cs typeface="Calibri" panose="020F0502020204030204" pitchFamily="34" charset="0"/>
                          </a:rPr>
                        </m:ctrlPr>
                      </m:dPr>
                      <m:e>
                        <m:r>
                          <a:rPr lang="en-US" altLang="zh-CN" sz="2000" b="0" i="1" dirty="0">
                            <a:latin typeface="Cambria Math" panose="02040503050406030204" pitchFamily="18" charset="0"/>
                            <a:cs typeface="Calibri" panose="020F0502020204030204" pitchFamily="34" charset="0"/>
                          </a:rPr>
                          <m:t>𝑗</m:t>
                        </m:r>
                      </m:e>
                    </m:d>
                    <m:r>
                      <a:rPr lang="en-US" altLang="zh-CN" sz="2000" b="0" i="1" dirty="0" smtClean="0">
                        <a:latin typeface="Cambria Math" panose="02040503050406030204" pitchFamily="18" charset="0"/>
                        <a:cs typeface="Calibri" panose="020F0502020204030204" pitchFamily="34" charset="0"/>
                      </a:rPr>
                      <m:t>, </m:t>
                    </m:r>
                    <m:r>
                      <a:rPr lang="en-US" altLang="zh-CN" sz="2000" b="0" i="1" dirty="0" smtClean="0">
                        <a:latin typeface="Cambria Math" panose="02040503050406030204" pitchFamily="18" charset="0"/>
                        <a:cs typeface="Calibri" panose="020F0502020204030204" pitchFamily="34" charset="0"/>
                      </a:rPr>
                      <m:t>𝑗</m:t>
                    </m:r>
                    <m:r>
                      <a:rPr lang="zh-CN" altLang="en-US" sz="2000" b="0" i="1" dirty="0">
                        <a:latin typeface="Cambria Math" panose="02040503050406030204" pitchFamily="18" charset="0"/>
                        <a:cs typeface="Calibri" panose="020F0502020204030204" pitchFamily="34" charset="0"/>
                      </a:rPr>
                      <m:t>为指向</m:t>
                    </m:r>
                    <m:r>
                      <a:rPr lang="en-US" altLang="zh-CN" sz="2000" b="0" i="1" dirty="0" smtClean="0">
                        <a:latin typeface="Cambria Math" panose="02040503050406030204" pitchFamily="18" charset="0"/>
                        <a:cs typeface="Calibri" panose="020F0502020204030204" pitchFamily="34" charset="0"/>
                      </a:rPr>
                      <m:t>𝑖</m:t>
                    </m:r>
                    <m:r>
                      <a:rPr lang="zh-CN" altLang="en-US" sz="2000" b="0" i="1" dirty="0">
                        <a:latin typeface="Cambria Math" panose="02040503050406030204" pitchFamily="18" charset="0"/>
                        <a:cs typeface="Calibri" panose="020F0502020204030204" pitchFamily="34" charset="0"/>
                      </a:rPr>
                      <m:t>的</m:t>
                    </m:r>
                    <m:r>
                      <a:rPr lang="zh-CN" altLang="en-US" sz="2000" b="0" i="1" dirty="0" smtClean="0">
                        <a:latin typeface="Cambria Math" panose="02040503050406030204" pitchFamily="18" charset="0"/>
                        <a:cs typeface="Calibri" panose="020F0502020204030204" pitchFamily="34" charset="0"/>
                      </a:rPr>
                      <m:t>页面</m:t>
                    </m:r>
                    <m:r>
                      <a:rPr lang="en-US" altLang="zh-CN" sz="2000" b="0" i="1" dirty="0">
                        <a:latin typeface="Cambria Math" panose="02040503050406030204" pitchFamily="18" charset="0"/>
                        <a:cs typeface="Calibri" panose="020F0502020204030204" pitchFamily="34" charset="0"/>
                      </a:rPr>
                      <m:t>;</m:t>
                    </m:r>
                  </m:oMath>
                </a14:m>
                <a:endParaRPr lang="en-US" altLang="zh-CN" sz="2000" b="0" dirty="0">
                  <a:latin typeface="Calibri" panose="020F0502020204030204" pitchFamily="34" charset="0"/>
                  <a:cs typeface="Calibri" panose="020F0502020204030204" pitchFamily="34" charset="0"/>
                </a:endParaRPr>
              </a:p>
              <a:p>
                <a:pPr lvl="2">
                  <a:buFont typeface="Wingdings" panose="05000000000000000000" pitchFamily="2" charset="2"/>
                  <a:buChar char="ü"/>
                </a:pPr>
                <a:r>
                  <a:rPr lang="zh-CN" altLang="en-US" sz="2000" b="0" dirty="0">
                    <a:latin typeface="Calibri" panose="020F0502020204030204" pitchFamily="34" charset="0"/>
                    <a:cs typeface="Calibri" panose="020F0502020204030204" pitchFamily="34" charset="0"/>
                  </a:rPr>
                  <a:t>网页</a:t>
                </a:r>
                <a:r>
                  <a:rPr lang="en-US" altLang="zh-CN" sz="2000" b="0" dirty="0" err="1">
                    <a:latin typeface="Calibri" panose="020F0502020204030204" pitchFamily="34" charset="0"/>
                    <a:cs typeface="Calibri" panose="020F0502020204030204" pitchFamily="34" charset="0"/>
                  </a:rPr>
                  <a:t>i</a:t>
                </a:r>
                <a:r>
                  <a:rPr lang="zh-CN" altLang="en-US" sz="2000" b="0" dirty="0">
                    <a:latin typeface="Calibri" panose="020F0502020204030204" pitchFamily="34" charset="0"/>
                    <a:cs typeface="Calibri" panose="020F0502020204030204" pitchFamily="34" charset="0"/>
                  </a:rPr>
                  <a:t>的</a:t>
                </a:r>
                <a:r>
                  <a:rPr lang="en-US" altLang="zh-CN" sz="2000" b="0" dirty="0">
                    <a:latin typeface="Calibri" panose="020F0502020204030204" pitchFamily="34" charset="0"/>
                    <a:cs typeface="Calibri" panose="020F0502020204030204" pitchFamily="34" charset="0"/>
                  </a:rPr>
                  <a:t>Hub</a:t>
                </a:r>
                <a:r>
                  <a:rPr lang="zh-CN" altLang="en-US" sz="2000" b="0" dirty="0">
                    <a:latin typeface="Calibri" panose="020F0502020204030204" pitchFamily="34" charset="0"/>
                    <a:cs typeface="Calibri" panose="020F0502020204030204" pitchFamily="34" charset="0"/>
                  </a:rPr>
                  <a:t>分值为所指向的页面的</a:t>
                </a:r>
                <a:r>
                  <a:rPr lang="en-US" altLang="zh-CN" sz="2000" b="0" dirty="0">
                    <a:latin typeface="Calibri" panose="020F0502020204030204" pitchFamily="34" charset="0"/>
                    <a:cs typeface="Calibri" panose="020F0502020204030204" pitchFamily="34" charset="0"/>
                  </a:rPr>
                  <a:t>Authority</a:t>
                </a:r>
                <a:r>
                  <a:rPr lang="zh-CN" altLang="en-US" sz="2000" b="0" dirty="0">
                    <a:latin typeface="Calibri" panose="020F0502020204030204" pitchFamily="34" charset="0"/>
                    <a:cs typeface="Calibri" panose="020F0502020204030204" pitchFamily="34" charset="0"/>
                  </a:rPr>
                  <a:t>值之和：</a:t>
                </a:r>
                <a14:m>
                  <m:oMath xmlns:m="http://schemas.openxmlformats.org/officeDocument/2006/math">
                    <m:r>
                      <a:rPr lang="en-US" altLang="zh-CN" sz="2000" b="0" i="1" dirty="0" smtClean="0">
                        <a:latin typeface="Cambria Math" panose="02040503050406030204" pitchFamily="18" charset="0"/>
                        <a:cs typeface="Calibri" panose="020F0502020204030204" pitchFamily="34" charset="0"/>
                      </a:rPr>
                      <m:t>ℎ</m:t>
                    </m:r>
                    <m:r>
                      <a:rPr lang="en-US" altLang="zh-CN" sz="2000" b="0" i="1" dirty="0" smtClean="0">
                        <a:latin typeface="Cambria Math" panose="02040503050406030204" pitchFamily="18" charset="0"/>
                        <a:cs typeface="Calibri" panose="020F0502020204030204" pitchFamily="34" charset="0"/>
                      </a:rPr>
                      <m:t>(</m:t>
                    </m:r>
                    <m:r>
                      <a:rPr lang="en-US" altLang="zh-CN" sz="2000" b="0" i="1" dirty="0" smtClean="0">
                        <a:latin typeface="Cambria Math" panose="02040503050406030204" pitchFamily="18" charset="0"/>
                        <a:cs typeface="Calibri" panose="020F0502020204030204" pitchFamily="34" charset="0"/>
                      </a:rPr>
                      <m:t>𝑖</m:t>
                    </m:r>
                    <m:r>
                      <a:rPr lang="en-US" altLang="zh-CN" sz="2000" b="0" i="1" dirty="0" smtClean="0">
                        <a:latin typeface="Cambria Math" panose="02040503050406030204" pitchFamily="18" charset="0"/>
                        <a:cs typeface="Calibri" panose="020F0502020204030204" pitchFamily="34" charset="0"/>
                      </a:rPr>
                      <m:t>) = </m:t>
                    </m:r>
                    <m:r>
                      <m:rPr>
                        <m:sty m:val="p"/>
                      </m:rPr>
                      <a:rPr lang="el-GR" altLang="zh-CN" sz="2000" b="0" i="0" dirty="0">
                        <a:latin typeface="Cambria Math" panose="02040503050406030204" pitchFamily="18" charset="0"/>
                        <a:cs typeface="Calibri" panose="020F0502020204030204" pitchFamily="34" charset="0"/>
                      </a:rPr>
                      <m:t>Σ</m:t>
                    </m:r>
                    <m:r>
                      <a:rPr lang="en-US" altLang="zh-CN" sz="2000" b="0" i="1" dirty="0">
                        <a:latin typeface="Cambria Math" panose="02040503050406030204" pitchFamily="18" charset="0"/>
                        <a:cs typeface="Calibri" panose="020F0502020204030204" pitchFamily="34" charset="0"/>
                      </a:rPr>
                      <m:t>𝑎</m:t>
                    </m:r>
                    <m:r>
                      <a:rPr lang="en-US" altLang="zh-CN" sz="2000" b="0" i="1" dirty="0">
                        <a:latin typeface="Cambria Math" panose="02040503050406030204" pitchFamily="18" charset="0"/>
                        <a:cs typeface="Calibri" panose="020F0502020204030204" pitchFamily="34" charset="0"/>
                      </a:rPr>
                      <m:t>(</m:t>
                    </m:r>
                    <m:r>
                      <a:rPr lang="en-US" altLang="zh-CN" sz="2000" b="0" i="1" dirty="0">
                        <a:latin typeface="Cambria Math" panose="02040503050406030204" pitchFamily="18" charset="0"/>
                        <a:cs typeface="Calibri" panose="020F0502020204030204" pitchFamily="34" charset="0"/>
                      </a:rPr>
                      <m:t>𝑗</m:t>
                    </m:r>
                    <m:r>
                      <a:rPr lang="en-US" altLang="zh-CN" sz="2000" b="0" i="1" dirty="0">
                        <a:latin typeface="Cambria Math" panose="02040503050406030204" pitchFamily="18" charset="0"/>
                        <a:cs typeface="Calibri" panose="020F0502020204030204" pitchFamily="34" charset="0"/>
                      </a:rPr>
                      <m:t>)</m:t>
                    </m:r>
                    <m:r>
                      <a:rPr lang="zh-CN" altLang="en-US" sz="2000" b="0" i="1" dirty="0">
                        <a:latin typeface="Cambria Math" panose="02040503050406030204" pitchFamily="18" charset="0"/>
                        <a:cs typeface="Calibri" panose="020F0502020204030204" pitchFamily="34" charset="0"/>
                      </a:rPr>
                      <m:t>，</m:t>
                    </m:r>
                    <m:r>
                      <a:rPr lang="en-US" altLang="zh-CN" sz="2000" b="0" i="1" dirty="0">
                        <a:latin typeface="Cambria Math" panose="02040503050406030204" pitchFamily="18" charset="0"/>
                        <a:cs typeface="Calibri" panose="020F0502020204030204" pitchFamily="34" charset="0"/>
                      </a:rPr>
                      <m:t>𝑗</m:t>
                    </m:r>
                    <m:r>
                      <a:rPr lang="zh-CN" altLang="en-US" sz="2000" b="0" i="1" dirty="0">
                        <a:latin typeface="Cambria Math" panose="02040503050406030204" pitchFamily="18" charset="0"/>
                        <a:cs typeface="Calibri" panose="020F0502020204030204" pitchFamily="34" charset="0"/>
                      </a:rPr>
                      <m:t>为</m:t>
                    </m:r>
                    <m:r>
                      <a:rPr lang="en-US" altLang="zh-CN" sz="2000" b="0" i="1" dirty="0">
                        <a:latin typeface="Cambria Math" panose="02040503050406030204" pitchFamily="18" charset="0"/>
                        <a:cs typeface="Calibri" panose="020F0502020204030204" pitchFamily="34" charset="0"/>
                      </a:rPr>
                      <m:t>𝑖</m:t>
                    </m:r>
                    <m:r>
                      <a:rPr lang="zh-CN" altLang="en-US" sz="2000" b="0" i="1" dirty="0">
                        <a:latin typeface="Cambria Math" panose="02040503050406030204" pitchFamily="18" charset="0"/>
                        <a:cs typeface="Calibri" panose="020F0502020204030204" pitchFamily="34" charset="0"/>
                      </a:rPr>
                      <m:t>指向的页面</m:t>
                    </m:r>
                    <m:r>
                      <a:rPr lang="en-US" altLang="zh-CN" sz="2000" b="0" i="1" dirty="0">
                        <a:latin typeface="Cambria Math" panose="02040503050406030204" pitchFamily="18" charset="0"/>
                        <a:cs typeface="Calibri" panose="020F0502020204030204" pitchFamily="34" charset="0"/>
                      </a:rPr>
                      <m:t> </m:t>
                    </m:r>
                  </m:oMath>
                </a14:m>
                <a:endParaRPr lang="zh-CN" altLang="en-US" sz="2000" b="0" dirty="0">
                  <a:latin typeface="Calibri" panose="020F0502020204030204" pitchFamily="34" charset="0"/>
                  <a:cs typeface="Calibri" panose="020F0502020204030204" pitchFamily="34" charset="0"/>
                </a:endParaRPr>
              </a:p>
              <a:p>
                <a:pPr lvl="2">
                  <a:buFont typeface="Wingdings" panose="05000000000000000000" pitchFamily="2" charset="2"/>
                  <a:buChar char="ü"/>
                </a:pPr>
                <a:r>
                  <a:rPr lang="zh-CN" altLang="en-US" sz="2000" b="0" dirty="0">
                    <a:latin typeface="Calibri" panose="020F0502020204030204" pitchFamily="34" charset="0"/>
                    <a:cs typeface="Calibri" panose="020F0502020204030204" pitchFamily="34" charset="0"/>
                  </a:rPr>
                  <a:t>对</a:t>
                </a:r>
                <a14:m>
                  <m:oMath xmlns:m="http://schemas.openxmlformats.org/officeDocument/2006/math">
                    <m:r>
                      <a:rPr lang="en-US" altLang="zh-CN" sz="2000" b="0" i="1" dirty="0">
                        <a:latin typeface="Cambria Math" panose="02040503050406030204" pitchFamily="18" charset="0"/>
                        <a:cs typeface="Calibri" panose="020F0502020204030204" pitchFamily="34" charset="0"/>
                      </a:rPr>
                      <m:t>𝑎</m:t>
                    </m:r>
                    <m:d>
                      <m:dPr>
                        <m:ctrlPr>
                          <a:rPr lang="en-US" altLang="zh-CN" sz="2000" b="0" i="1" dirty="0">
                            <a:latin typeface="Cambria Math" panose="02040503050406030204" pitchFamily="18" charset="0"/>
                            <a:cs typeface="Calibri" panose="020F0502020204030204" pitchFamily="34" charset="0"/>
                          </a:rPr>
                        </m:ctrlPr>
                      </m:dPr>
                      <m:e>
                        <m:r>
                          <a:rPr lang="en-US" altLang="zh-CN" sz="2000" b="0" i="1" dirty="0">
                            <a:latin typeface="Cambria Math" panose="02040503050406030204" pitchFamily="18" charset="0"/>
                            <a:cs typeface="Calibri" panose="020F0502020204030204" pitchFamily="34" charset="0"/>
                          </a:rPr>
                          <m:t>𝑖</m:t>
                        </m:r>
                      </m:e>
                    </m:d>
                    <m:r>
                      <a:rPr lang="en-US" altLang="zh-CN" sz="2000" b="0" i="1" dirty="0">
                        <a:latin typeface="Cambria Math" panose="02040503050406030204" pitchFamily="18" charset="0"/>
                        <a:cs typeface="Calibri" panose="020F0502020204030204" pitchFamily="34" charset="0"/>
                      </a:rPr>
                      <m:t> </m:t>
                    </m:r>
                  </m:oMath>
                </a14:m>
                <a:r>
                  <a:rPr lang="zh-CN" altLang="en-US" sz="2000" b="0" dirty="0">
                    <a:latin typeface="Calibri" panose="020F0502020204030204" pitchFamily="34" charset="0"/>
                    <a:cs typeface="Calibri" panose="020F0502020204030204" pitchFamily="34" charset="0"/>
                  </a:rPr>
                  <a:t>、</a:t>
                </a:r>
                <a:r>
                  <a:rPr lang="en-US" altLang="zh-CN" sz="2000" b="0" dirty="0">
                    <a:cs typeface="Calibri" panose="020F0502020204030204" pitchFamily="34" charset="0"/>
                  </a:rPr>
                  <a:t> </a:t>
                </a:r>
                <a14:m>
                  <m:oMath xmlns:m="http://schemas.openxmlformats.org/officeDocument/2006/math">
                    <m:r>
                      <a:rPr lang="en-US" altLang="zh-CN" sz="2000" b="0" i="1" dirty="0">
                        <a:latin typeface="Cambria Math" panose="02040503050406030204" pitchFamily="18" charset="0"/>
                        <a:cs typeface="Calibri" panose="020F0502020204030204" pitchFamily="34" charset="0"/>
                      </a:rPr>
                      <m:t>ℎ</m:t>
                    </m:r>
                    <m:r>
                      <a:rPr lang="en-US" altLang="zh-CN" sz="2000" b="0" i="1" dirty="0">
                        <a:latin typeface="Cambria Math" panose="02040503050406030204" pitchFamily="18" charset="0"/>
                        <a:cs typeface="Calibri" panose="020F0502020204030204" pitchFamily="34" charset="0"/>
                      </a:rPr>
                      <m:t>(</m:t>
                    </m:r>
                    <m:r>
                      <a:rPr lang="en-US" altLang="zh-CN" sz="2000" b="0" i="1" dirty="0">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m:t>
                    </m:r>
                  </m:oMath>
                </a14:m>
                <a:r>
                  <a:rPr lang="zh-CN" altLang="en-US" sz="2000" b="0" dirty="0">
                    <a:latin typeface="Calibri" panose="020F0502020204030204" pitchFamily="34" charset="0"/>
                    <a:cs typeface="Calibri" panose="020F0502020204030204" pitchFamily="34" charset="0"/>
                  </a:rPr>
                  <a:t>进行规范化处理</a:t>
                </a:r>
                <a:r>
                  <a:rPr lang="en-US" altLang="zh-CN" sz="2000" b="0" dirty="0">
                    <a:latin typeface="Calibri" panose="020F0502020204030204" pitchFamily="34" charset="0"/>
                    <a:cs typeface="Calibri" panose="020F0502020204030204" pitchFamily="34" charset="0"/>
                  </a:rPr>
                  <a:t>:</a:t>
                </a:r>
                <a:endParaRPr lang="en-US" altLang="zh-CN" sz="2000" b="0" dirty="0">
                  <a:latin typeface="Calibri" panose="020F0502020204030204" pitchFamily="34" charset="0"/>
                  <a:cs typeface="Calibri" panose="020F0502020204030204" pitchFamily="34" charset="0"/>
                </a:endParaRPr>
              </a:p>
              <a:p>
                <a:pPr marL="909320" lvl="2" indent="0">
                  <a:buNone/>
                </a:pPr>
                <a:r>
                  <a:rPr lang="en-US" altLang="zh-CN" sz="2000" b="0" dirty="0">
                    <a:latin typeface="Calibri" panose="020F0502020204030204" pitchFamily="34" charset="0"/>
                    <a:cs typeface="Calibri" panose="020F0502020204030204" pitchFamily="34" charset="0"/>
                  </a:rPr>
                  <a:t>      </a:t>
                </a:r>
                <a:r>
                  <a:rPr lang="zh-CN" altLang="en-US" sz="2000" b="0" dirty="0">
                    <a:latin typeface="Calibri" panose="020F0502020204030204" pitchFamily="34" charset="0"/>
                    <a:cs typeface="Calibri" panose="020F0502020204030204" pitchFamily="34" charset="0"/>
                  </a:rPr>
                  <a:t>        </a:t>
                </a:r>
                <a14:m>
                  <m:oMath xmlns:m="http://schemas.openxmlformats.org/officeDocument/2006/math">
                    <m:r>
                      <a:rPr lang="zh-CN" altLang="en-US" sz="2000" b="0" i="1" dirty="0" smtClean="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𝑎</m:t>
                    </m:r>
                    <m:r>
                      <a:rPr lang="en-US" altLang="zh-CN" sz="2000" b="0" i="1" dirty="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 = </m:t>
                    </m:r>
                    <m:r>
                      <a:rPr lang="en-US" altLang="zh-CN" sz="2000" b="0" i="1" dirty="0">
                        <a:latin typeface="Cambria Math" panose="02040503050406030204" pitchFamily="18" charset="0"/>
                        <a:cs typeface="Calibri" panose="020F0502020204030204" pitchFamily="34" charset="0"/>
                      </a:rPr>
                      <m:t>𝑎</m:t>
                    </m:r>
                    <m:r>
                      <a:rPr lang="en-US" altLang="zh-CN" sz="2000" b="0" i="1" dirty="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m:t>
                    </m:r>
                    <m:d>
                      <m:dPr>
                        <m:begChr m:val="‖"/>
                        <m:endChr m:val="‖"/>
                        <m:ctrlPr>
                          <a:rPr lang="en-US" altLang="zh-CN" sz="2000" b="0" i="1" dirty="0" smtClean="0">
                            <a:latin typeface="Cambria Math" panose="02040503050406030204" pitchFamily="18" charset="0"/>
                            <a:cs typeface="Calibri" panose="020F0502020204030204" pitchFamily="34" charset="0"/>
                          </a:rPr>
                        </m:ctrlPr>
                      </m:dPr>
                      <m:e>
                        <m:r>
                          <a:rPr lang="en-US" altLang="zh-CN" sz="2000" b="0" i="1" dirty="0" smtClean="0">
                            <a:latin typeface="Cambria Math" panose="02040503050406030204" pitchFamily="18" charset="0"/>
                            <a:cs typeface="Calibri" panose="020F0502020204030204" pitchFamily="34" charset="0"/>
                          </a:rPr>
                          <m:t>𝑎</m:t>
                        </m:r>
                        <m:r>
                          <a:rPr lang="en-US" altLang="zh-CN" sz="2000" b="0" i="1" dirty="0" smtClean="0">
                            <a:latin typeface="Cambria Math" panose="02040503050406030204" pitchFamily="18" charset="0"/>
                            <a:cs typeface="Calibri" panose="020F0502020204030204" pitchFamily="34" charset="0"/>
                          </a:rPr>
                          <m:t>(</m:t>
                        </m:r>
                        <m:r>
                          <a:rPr lang="en-US" altLang="zh-CN" sz="2000" b="0" i="1" dirty="0" smtClean="0">
                            <a:latin typeface="Cambria Math" panose="02040503050406030204" pitchFamily="18" charset="0"/>
                            <a:cs typeface="Calibri" panose="020F0502020204030204" pitchFamily="34" charset="0"/>
                          </a:rPr>
                          <m:t>𝑖</m:t>
                        </m:r>
                        <m:r>
                          <a:rPr lang="en-US" altLang="zh-CN" sz="2000" b="0" i="1" dirty="0" smtClean="0">
                            <a:latin typeface="Cambria Math" panose="02040503050406030204" pitchFamily="18" charset="0"/>
                            <a:cs typeface="Calibri" panose="020F0502020204030204" pitchFamily="34" charset="0"/>
                          </a:rPr>
                          <m:t>)</m:t>
                        </m:r>
                      </m:e>
                    </m:d>
                  </m:oMath>
                </a14:m>
                <a:r>
                  <a:rPr lang="en-US" altLang="zh-CN" sz="2000" b="0" baseline="-25000" dirty="0">
                    <a:latin typeface="Calibri" panose="020F0502020204030204" pitchFamily="34" charset="0"/>
                    <a:cs typeface="Calibri" panose="020F0502020204030204" pitchFamily="34" charset="0"/>
                  </a:rPr>
                  <a:t>1</a:t>
                </a:r>
                <a:endParaRPr lang="zh-CN" altLang="en-US" sz="2000" b="0" baseline="-25000" dirty="0">
                  <a:latin typeface="Calibri" panose="020F0502020204030204" pitchFamily="34" charset="0"/>
                  <a:cs typeface="Calibri" panose="020F0502020204030204" pitchFamily="34" charset="0"/>
                </a:endParaRPr>
              </a:p>
              <a:p>
                <a:pPr marL="909320" lvl="2" indent="0">
                  <a:buNone/>
                </a:pPr>
                <a:r>
                  <a:rPr lang="zh-CN" altLang="en-US" sz="2000" b="0" dirty="0">
                    <a:latin typeface="Calibri" panose="020F0502020204030204" pitchFamily="34" charset="0"/>
                    <a:cs typeface="Calibri" panose="020F0502020204030204" pitchFamily="34" charset="0"/>
                  </a:rPr>
                  <a:t>              </a:t>
                </a:r>
                <a14:m>
                  <m:oMath xmlns:m="http://schemas.openxmlformats.org/officeDocument/2006/math">
                    <m:r>
                      <a:rPr lang="zh-CN" altLang="en-US" sz="2000" b="0" i="1" dirty="0" smtClean="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ℎ</m:t>
                    </m:r>
                    <m:r>
                      <a:rPr lang="en-US" altLang="zh-CN" sz="2000" b="0" i="1" dirty="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 = </m:t>
                    </m:r>
                    <m:r>
                      <a:rPr lang="en-US" altLang="zh-CN" sz="2000" b="0" i="1" dirty="0">
                        <a:latin typeface="Cambria Math" panose="02040503050406030204" pitchFamily="18" charset="0"/>
                        <a:cs typeface="Calibri" panose="020F0502020204030204" pitchFamily="34" charset="0"/>
                      </a:rPr>
                      <m:t>ℎ</m:t>
                    </m:r>
                    <m:r>
                      <a:rPr lang="en-US" altLang="zh-CN" sz="2000" b="0" i="1" dirty="0">
                        <a:latin typeface="Cambria Math" panose="02040503050406030204" pitchFamily="18" charset="0"/>
                        <a:cs typeface="Calibri" panose="020F0502020204030204" pitchFamily="34" charset="0"/>
                      </a:rPr>
                      <m:t> (</m:t>
                    </m:r>
                    <m:r>
                      <a:rPr lang="en-US" altLang="zh-CN" sz="2000" b="0" i="1" dirty="0">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m:t>
                    </m:r>
                    <m:d>
                      <m:dPr>
                        <m:begChr m:val="‖"/>
                        <m:endChr m:val="‖"/>
                        <m:ctrlPr>
                          <a:rPr lang="en-US" altLang="zh-CN" sz="2000" b="0" i="1" dirty="0" smtClean="0">
                            <a:latin typeface="Cambria Math" panose="02040503050406030204" pitchFamily="18" charset="0"/>
                            <a:cs typeface="Calibri" panose="020F0502020204030204" pitchFamily="34" charset="0"/>
                          </a:rPr>
                        </m:ctrlPr>
                      </m:dPr>
                      <m:e>
                        <m:r>
                          <a:rPr lang="en-US" altLang="zh-CN" sz="2000" b="0" i="1" dirty="0">
                            <a:latin typeface="Cambria Math" panose="02040503050406030204" pitchFamily="18" charset="0"/>
                            <a:cs typeface="Calibri" panose="020F0502020204030204" pitchFamily="34" charset="0"/>
                          </a:rPr>
                          <m:t>ℎ</m:t>
                        </m:r>
                        <m:r>
                          <a:rPr lang="en-US" altLang="zh-CN" sz="2000" b="0" i="1" dirty="0">
                            <a:latin typeface="Cambria Math" panose="02040503050406030204" pitchFamily="18" charset="0"/>
                            <a:cs typeface="Calibri" panose="020F0502020204030204" pitchFamily="34" charset="0"/>
                          </a:rPr>
                          <m:t>(</m:t>
                        </m:r>
                        <m:r>
                          <a:rPr lang="en-US" altLang="zh-CN" sz="2000" b="0" i="1" dirty="0" err="1">
                            <a:latin typeface="Cambria Math" panose="02040503050406030204" pitchFamily="18" charset="0"/>
                            <a:cs typeface="Calibri" panose="020F0502020204030204" pitchFamily="34" charset="0"/>
                          </a:rPr>
                          <m:t>𝑖</m:t>
                        </m:r>
                        <m:r>
                          <a:rPr lang="en-US" altLang="zh-CN" sz="2000" b="0" i="1" dirty="0">
                            <a:latin typeface="Cambria Math" panose="02040503050406030204" pitchFamily="18" charset="0"/>
                            <a:cs typeface="Calibri" panose="020F0502020204030204" pitchFamily="34" charset="0"/>
                          </a:rPr>
                          <m:t>)</m:t>
                        </m:r>
                        <m:r>
                          <a:rPr lang="zh-CN" altLang="en-US" sz="2400" b="0" i="1" baseline="-25000" dirty="0">
                            <a:latin typeface="Cambria Math" panose="02040503050406030204" pitchFamily="18" charset="0"/>
                            <a:cs typeface="Calibri" panose="020F0502020204030204" pitchFamily="34" charset="0"/>
                          </a:rPr>
                          <m:t>⁡</m:t>
                        </m:r>
                      </m:e>
                    </m:d>
                    <m:r>
                      <a:rPr lang="en-US" altLang="zh-CN" sz="2400" b="0" i="1" baseline="-25000" dirty="0" smtClean="0">
                        <a:latin typeface="Cambria Math" panose="02040503050406030204" pitchFamily="18" charset="0"/>
                        <a:cs typeface="Calibri" panose="020F0502020204030204" pitchFamily="34" charset="0"/>
                      </a:rPr>
                      <m:t>1</m:t>
                    </m:r>
                  </m:oMath>
                </a14:m>
                <a:endParaRPr lang="zh-CN" altLang="en-US" b="0" baseline="-25000" dirty="0">
                  <a:latin typeface="Calibri" panose="020F0502020204030204" pitchFamily="34" charset="0"/>
                  <a:cs typeface="Calibri" panose="020F0502020204030204" pitchFamily="34" charset="0"/>
                </a:endParaRPr>
              </a:p>
            </p:txBody>
          </p:sp>
        </mc:Choice>
        <mc:Fallback>
          <p:sp>
            <p:nvSpPr>
              <p:cNvPr id="6" name="Rectangle 3"/>
              <p:cNvSpPr txBox="1">
                <a:spLocks noRot="1" noChangeAspect="1" noMove="1" noResize="1" noEditPoints="1" noAdjustHandles="1" noChangeArrowheads="1" noChangeShapeType="1" noTextEdit="1"/>
              </p:cNvSpPr>
              <p:nvPr/>
            </p:nvSpPr>
            <p:spPr bwMode="auto">
              <a:xfrm>
                <a:off x="193040" y="1181234"/>
                <a:ext cx="8950960" cy="5200093"/>
              </a:xfrm>
              <a:prstGeom prst="rect">
                <a:avLst/>
              </a:prstGeom>
              <a:blipFill rotWithShape="1">
                <a:blip r:embed="rId1"/>
                <a:stretch>
                  <a:fillRect t="-3"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Rectangle 1"/>
          <p:cNvSpPr>
            <a:spLocks noChangeArrowheads="1"/>
          </p:cNvSpPr>
          <p:nvPr/>
        </p:nvSpPr>
        <p:spPr bwMode="auto">
          <a:xfrm>
            <a:off x="0" y="-184666"/>
            <a:ext cx="4138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3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743" y="4969675"/>
            <a:ext cx="6671554" cy="1788693"/>
          </a:xfrm>
          <a:prstGeom prst="rect">
            <a:avLst/>
          </a:prstGeom>
          <a:solidFill>
            <a:srgbClr val="FFFFCC"/>
          </a:solidFill>
          <a:ln>
            <a:solidFill>
              <a:srgbClr val="FF9933"/>
            </a:solidFill>
          </a:ln>
          <a:effectLst/>
        </p:spPr>
      </p:pic>
      <p:sp>
        <p:nvSpPr>
          <p:cNvPr id="9" name="矩形 8"/>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3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Rectangle 3"/>
              <p:cNvSpPr txBox="1">
                <a:spLocks noChangeArrowheads="1"/>
              </p:cNvSpPr>
              <p:nvPr/>
            </p:nvSpPr>
            <p:spPr bwMode="auto">
              <a:xfrm>
                <a:off x="193040" y="1181235"/>
                <a:ext cx="8950960" cy="383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矩阵运算</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zh-CN" altLang="en-US" sz="2000" b="0" dirty="0">
                    <a:latin typeface="+mn-ea"/>
                    <a:cs typeface="Times New Roman" panose="02020603050405020304" pitchFamily="18" charset="0"/>
                  </a:rPr>
                  <a:t>用矩阵</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𝐿</m:t>
                    </m:r>
                  </m:oMath>
                </a14:m>
                <a:r>
                  <a:rPr lang="zh-CN" altLang="en-US" sz="2000" b="0" dirty="0">
                    <a:latin typeface="+mn-ea"/>
                    <a:cs typeface="Times New Roman" panose="02020603050405020304" pitchFamily="18" charset="0"/>
                  </a:rPr>
                  <a:t>表示所有节点的邻接矩阵，</a:t>
                </a:r>
                <a14:m>
                  <m:oMath xmlns:m="http://schemas.openxmlformats.org/officeDocument/2006/math">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𝑙</m:t>
                        </m:r>
                      </m:e>
                      <m:sub>
                        <m:r>
                          <a:rPr lang="en-US" altLang="zh-CN" sz="2000" b="0" i="1" smtClean="0">
                            <a:latin typeface="Cambria Math" panose="02040503050406030204" pitchFamily="18" charset="0"/>
                            <a:cs typeface="Times New Roman" panose="02020603050405020304" pitchFamily="18" charset="0"/>
                          </a:rPr>
                          <m:t>𝑖𝑗</m:t>
                        </m:r>
                      </m:sub>
                    </m:sSub>
                    <m:r>
                      <a:rPr lang="en-US" altLang="zh-CN" sz="2000" b="0" i="0" smtClean="0">
                        <a:latin typeface="Cambria Math" panose="02040503050406030204" pitchFamily="18" charset="0"/>
                        <a:cs typeface="Times New Roman" panose="02020603050405020304" pitchFamily="18" charset="0"/>
                      </a:rPr>
                      <m:t>=</m:t>
                    </m:r>
                    <m:r>
                      <a:rPr lang="en-US" altLang="zh-CN" sz="2000" b="0" i="0" smtClean="0">
                        <a:latin typeface="Cambria Math" panose="02040503050406030204" pitchFamily="18" charset="0"/>
                        <a:cs typeface="Times New Roman" panose="02020603050405020304" pitchFamily="18" charset="0"/>
                      </a:rPr>
                      <m:t>1</m:t>
                    </m:r>
                  </m:oMath>
                </a14:m>
                <a:r>
                  <a:rPr lang="zh-CN" altLang="en-US" sz="2000" b="0" dirty="0">
                    <a:latin typeface="+mn-ea"/>
                    <a:cs typeface="Times New Roman" panose="02020603050405020304" pitchFamily="18" charset="0"/>
                  </a:rPr>
                  <a:t>代表页面</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𝑖</m:t>
                    </m:r>
                  </m:oMath>
                </a14:m>
                <a:r>
                  <a:rPr lang="zh-CN" altLang="en-US" sz="2000" b="0" dirty="0">
                    <a:latin typeface="+mn-ea"/>
                    <a:cs typeface="Times New Roman" panose="02020603050405020304" pitchFamily="18" charset="0"/>
                  </a:rPr>
                  <a:t>指向页面</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𝑗</m:t>
                    </m:r>
                  </m:oMath>
                </a14:m>
                <a:r>
                  <a:rPr lang="zh-CN" altLang="en-US" sz="2000" b="0" dirty="0">
                    <a:latin typeface="+mn-ea"/>
                    <a:cs typeface="Times New Roman" panose="02020603050405020304" pitchFamily="18" charset="0"/>
                  </a:rPr>
                  <a:t>，否则为</a:t>
                </a:r>
                <a:r>
                  <a:rPr lang="en-US" altLang="zh-CN" sz="2000" b="0" dirty="0">
                    <a:latin typeface="+mn-ea"/>
                    <a:cs typeface="Times New Roman" panose="02020603050405020304" pitchFamily="18" charset="0"/>
                  </a:rPr>
                  <a:t>0</a:t>
                </a:r>
                <a:endParaRPr lang="en-US" altLang="zh-CN" sz="20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𝐿</m:t>
                    </m:r>
                    <m:r>
                      <a:rPr lang="en-US" altLang="zh-CN" sz="2000" b="0" i="1" smtClean="0">
                        <a:latin typeface="Cambria Math" panose="02040503050406030204" pitchFamily="18" charset="0"/>
                        <a:cs typeface="Times New Roman" panose="02020603050405020304" pitchFamily="18" charset="0"/>
                      </a:rPr>
                      <m:t>=</m:t>
                    </m:r>
                    <m:d>
                      <m:dPr>
                        <m:begChr m:val="["/>
                        <m:endChr m:val="]"/>
                        <m:ctrlPr>
                          <a:rPr lang="en-US" altLang="zh-CN" sz="2000" b="0" i="1" smtClean="0">
                            <a:latin typeface="Cambria Math" panose="02040503050406030204" pitchFamily="18" charset="0"/>
                            <a:cs typeface="Times New Roman" panose="02020603050405020304" pitchFamily="18" charset="0"/>
                          </a:rPr>
                        </m:ctrlPr>
                      </m:dPr>
                      <m:e>
                        <m:m>
                          <m:mPr>
                            <m:mcs>
                              <m:mc>
                                <m:mcPr>
                                  <m:count m:val="3"/>
                                  <m:mcJc m:val="center"/>
                                </m:mcPr>
                              </m:mc>
                            </m:mcs>
                            <m:ctrlPr>
                              <a:rPr lang="en-US" altLang="zh-CN" sz="2000" b="0" i="1">
                                <a:latin typeface="Cambria Math" panose="02040503050406030204" pitchFamily="18" charset="0"/>
                                <a:cs typeface="Times New Roman" panose="02020603050405020304" pitchFamily="18" charset="0"/>
                              </a:rPr>
                            </m:ctrlPr>
                          </m:mPr>
                          <m:mr>
                            <m:e>
                              <m:sSub>
                                <m:sSubPr>
                                  <m:ctrlPr>
                                    <a:rPr lang="en-US" altLang="zh-CN" sz="2000" b="0" i="1">
                                      <a:latin typeface="Cambria Math" panose="02040503050406030204" pitchFamily="18" charset="0"/>
                                      <a:cs typeface="Times New Roman" panose="02020603050405020304" pitchFamily="18" charset="0"/>
                                    </a:rPr>
                                  </m:ctrlPr>
                                </m:sSubPr>
                                <m:e>
                                  <m:r>
                                    <m:rPr>
                                      <m:brk m:alnAt="7"/>
                                    </m:rPr>
                                    <a:rPr lang="en-US" altLang="zh-CN" sz="2000" b="0" i="1">
                                      <a:latin typeface="Cambria Math" panose="02040503050406030204" pitchFamily="18" charset="0"/>
                                      <a:cs typeface="Times New Roman" panose="02020603050405020304" pitchFamily="18" charset="0"/>
                                    </a:rPr>
                                    <m:t>𝑙</m:t>
                                  </m:r>
                                </m:e>
                                <m:sub>
                                  <m:r>
                                    <m:rPr>
                                      <m:brk m:alnAt="7"/>
                                    </m:rPr>
                                    <a:rPr lang="en-US" altLang="zh-CN" sz="2000" b="0" i="1">
                                      <a:latin typeface="Cambria Math" panose="02040503050406030204" pitchFamily="18" charset="0"/>
                                      <a:cs typeface="Times New Roman" panose="02020603050405020304" pitchFamily="18" charset="0"/>
                                    </a:rPr>
                                    <m:t>1</m:t>
                                  </m:r>
                                  <m:r>
                                    <a:rPr lang="en-US" altLang="zh-CN" sz="2000" b="0" i="1">
                                      <a:latin typeface="Cambria Math" panose="02040503050406030204" pitchFamily="18" charset="0"/>
                                      <a:cs typeface="Times New Roman" panose="02020603050405020304" pitchFamily="18" charset="0"/>
                                    </a:rPr>
                                    <m:t>1</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12</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13</m:t>
                                  </m:r>
                                </m:sub>
                              </m:sSub>
                            </m:e>
                          </m:mr>
                          <m:mr>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21</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22</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23</m:t>
                                  </m:r>
                                </m:sub>
                              </m:sSub>
                            </m:e>
                          </m:mr>
                          <m:mr>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31</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32</m:t>
                                  </m:r>
                                </m:sub>
                              </m:sSub>
                            </m:e>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33</m:t>
                                  </m:r>
                                </m:sub>
                              </m:sSub>
                            </m:e>
                          </m:mr>
                        </m:m>
                      </m:e>
                    </m:d>
                  </m:oMath>
                </a14:m>
                <a:r>
                  <a:rPr lang="zh-CN" altLang="en-US" sz="2000" b="0" dirty="0">
                    <a:latin typeface="+mn-ea"/>
                    <a:cs typeface="Times New Roman" panose="02020603050405020304" pitchFamily="18" charset="0"/>
                  </a:rPr>
                  <a:t>，行为链出情况，列为链入情况</a:t>
                </a:r>
                <a:endParaRPr lang="en-US" altLang="zh-CN" sz="20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r>
                  <a:rPr lang="zh-CN" altLang="en-US" sz="2000" b="0" dirty="0">
                    <a:latin typeface="+mn-ea"/>
                    <a:cs typeface="Times New Roman" panose="02020603050405020304" pitchFamily="18" charset="0"/>
                  </a:rPr>
                  <a:t>使用列向量</a:t>
                </a:r>
                <a14:m>
                  <m:oMath xmlns:m="http://schemas.openxmlformats.org/officeDocument/2006/math">
                    <m:r>
                      <a:rPr lang="en-US" altLang="zh-CN" sz="2000" b="0" i="1" dirty="0" smtClean="0">
                        <a:latin typeface="Cambria Math" panose="02040503050406030204" pitchFamily="18" charset="0"/>
                        <a:cs typeface="Times New Roman" panose="02020603050405020304" pitchFamily="18" charset="0"/>
                      </a:rPr>
                      <m:t>𝐴</m:t>
                    </m:r>
                    <m:r>
                      <a:rPr lang="en-US" altLang="zh-CN" sz="2000" b="0" i="1" dirty="0" smtClean="0">
                        <a:latin typeface="Cambria Math" panose="02040503050406030204" pitchFamily="18" charset="0"/>
                        <a:cs typeface="Times New Roman" panose="02020603050405020304" pitchFamily="18" charset="0"/>
                      </a:rPr>
                      <m:t>=</m:t>
                    </m:r>
                    <m:d>
                      <m:dPr>
                        <m:begChr m:val="["/>
                        <m:endChr m:val="]"/>
                        <m:ctrlPr>
                          <a:rPr lang="en-US" altLang="zh-CN" sz="2000" b="0" i="1" dirty="0" smtClean="0">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sz="2000" b="0" i="1" dirty="0" smtClean="0">
                                <a:latin typeface="Cambria Math" panose="02040503050406030204" pitchFamily="18" charset="0"/>
                                <a:cs typeface="Times New Roman" panose="02020603050405020304" pitchFamily="18" charset="0"/>
                              </a:rPr>
                            </m:ctrlPr>
                          </m:mPr>
                          <m:mr>
                            <m:e>
                              <m:sSub>
                                <m:sSubPr>
                                  <m:ctrlPr>
                                    <a:rPr lang="en-US" altLang="zh-CN" sz="2000" b="0" i="1" dirty="0" smtClean="0">
                                      <a:latin typeface="Cambria Math" panose="02040503050406030204" pitchFamily="18" charset="0"/>
                                      <a:cs typeface="Times New Roman" panose="02020603050405020304" pitchFamily="18" charset="0"/>
                                    </a:rPr>
                                  </m:ctrlPr>
                                </m:sSubPr>
                                <m:e>
                                  <m:r>
                                    <m:rPr>
                                      <m:brk m:alnAt="7"/>
                                    </m:rPr>
                                    <a:rPr lang="en-US" altLang="zh-CN" sz="2000" b="0" i="1" dirty="0" smtClean="0">
                                      <a:latin typeface="Cambria Math" panose="02040503050406030204" pitchFamily="18" charset="0"/>
                                      <a:cs typeface="Times New Roman" panose="02020603050405020304" pitchFamily="18" charset="0"/>
                                    </a:rPr>
                                    <m:t>𝑎</m:t>
                                  </m:r>
                                </m:e>
                                <m:sub>
                                  <m:r>
                                    <m:rPr>
                                      <m:brk m:alnAt="7"/>
                                    </m:rPr>
                                    <a:rPr lang="en-US" altLang="zh-CN" sz="2000" b="0" i="1" dirty="0" smtClean="0">
                                      <a:latin typeface="Cambria Math" panose="02040503050406030204" pitchFamily="18" charset="0"/>
                                      <a:cs typeface="Times New Roman" panose="02020603050405020304" pitchFamily="18" charset="0"/>
                                    </a:rPr>
                                    <m:t>1</m:t>
                                  </m:r>
                                </m:sub>
                              </m:sSub>
                            </m:e>
                          </m:mr>
                          <m:mr>
                            <m:e>
                              <m:sSub>
                                <m:sSubPr>
                                  <m:ctrlPr>
                                    <a:rPr lang="en-US" altLang="zh-CN" sz="2000" b="0" i="1" dirty="0" smtClean="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𝑎</m:t>
                                  </m:r>
                                </m:e>
                                <m:sub>
                                  <m:r>
                                    <a:rPr lang="en-US" altLang="zh-CN" sz="2000" b="0" i="1" dirty="0" smtClean="0">
                                      <a:latin typeface="Cambria Math" panose="02040503050406030204" pitchFamily="18" charset="0"/>
                                      <a:cs typeface="Times New Roman" panose="02020603050405020304" pitchFamily="18" charset="0"/>
                                    </a:rPr>
                                    <m:t>2</m:t>
                                  </m:r>
                                </m:sub>
                              </m:sSub>
                            </m:e>
                          </m:mr>
                          <m:mr>
                            <m:e>
                              <m:sSub>
                                <m:sSubPr>
                                  <m:ctrlPr>
                                    <a:rPr lang="en-US" altLang="zh-CN" sz="2000" b="0" i="1" dirty="0" smtClean="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𝑎</m:t>
                                  </m:r>
                                </m:e>
                                <m:sub>
                                  <m:r>
                                    <a:rPr lang="en-US" altLang="zh-CN" sz="2000" b="0" i="1" dirty="0" smtClean="0">
                                      <a:latin typeface="Cambria Math" panose="02040503050406030204" pitchFamily="18" charset="0"/>
                                      <a:cs typeface="Times New Roman" panose="02020603050405020304" pitchFamily="18" charset="0"/>
                                    </a:rPr>
                                    <m:t>3</m:t>
                                  </m:r>
                                </m:sub>
                              </m:sSub>
                            </m:e>
                          </m:mr>
                        </m:m>
                      </m:e>
                    </m:d>
                    <m:r>
                      <a:rPr lang="zh-CN" altLang="en-US" sz="2000" b="0" i="1" dirty="0">
                        <a:latin typeface="Cambria Math" panose="02040503050406030204" pitchFamily="18" charset="0"/>
                        <a:cs typeface="Times New Roman" panose="02020603050405020304" pitchFamily="18" charset="0"/>
                      </a:rPr>
                      <m:t>和</m:t>
                    </m:r>
                    <m:r>
                      <a:rPr lang="en-US" altLang="zh-CN" sz="2000" b="0" i="1" dirty="0" smtClean="0">
                        <a:latin typeface="Cambria Math" panose="02040503050406030204" pitchFamily="18" charset="0"/>
                        <a:cs typeface="Times New Roman" panose="02020603050405020304" pitchFamily="18" charset="0"/>
                      </a:rPr>
                      <m:t>𝐻</m:t>
                    </m:r>
                    <m:r>
                      <a:rPr lang="en-US" altLang="zh-CN" sz="2000" b="0" i="1" dirty="0">
                        <a:latin typeface="Cambria Math" panose="02040503050406030204" pitchFamily="18" charset="0"/>
                        <a:cs typeface="Times New Roman" panose="02020603050405020304" pitchFamily="18" charset="0"/>
                      </a:rPr>
                      <m:t>=</m:t>
                    </m:r>
                    <m:d>
                      <m:dPr>
                        <m:begChr m:val="["/>
                        <m:endChr m:val="]"/>
                        <m:ctrlPr>
                          <a:rPr lang="en-US" altLang="zh-CN" sz="2000" b="0" i="1" dirty="0">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sz="2000" b="0" i="1" dirty="0">
                                <a:latin typeface="Cambria Math" panose="02040503050406030204" pitchFamily="18" charset="0"/>
                                <a:cs typeface="Times New Roman" panose="02020603050405020304" pitchFamily="18" charset="0"/>
                              </a:rPr>
                            </m:ctrlPr>
                          </m:mPr>
                          <m:mr>
                            <m:e>
                              <m:sSub>
                                <m:sSubPr>
                                  <m:ctrlPr>
                                    <a:rPr lang="en-US" altLang="zh-CN" sz="2000" b="0" i="1" dirty="0" smtClean="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ℎ</m:t>
                                  </m:r>
                                </m:e>
                                <m:sub>
                                  <m:r>
                                    <a:rPr lang="en-US" altLang="zh-CN" sz="2000" b="0" i="1" dirty="0" smtClean="0">
                                      <a:latin typeface="Cambria Math" panose="02040503050406030204" pitchFamily="18" charset="0"/>
                                      <a:cs typeface="Times New Roman" panose="02020603050405020304" pitchFamily="18" charset="0"/>
                                    </a:rPr>
                                    <m:t>1</m:t>
                                  </m:r>
                                </m:sub>
                              </m:sSub>
                            </m:e>
                          </m:mr>
                          <m:mr>
                            <m:e>
                              <m:sSub>
                                <m:sSubPr>
                                  <m:ctrlPr>
                                    <a:rPr lang="en-US" altLang="zh-CN" sz="2000" b="0" i="1" dirty="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ℎ</m:t>
                                  </m:r>
                                </m:e>
                                <m:sub>
                                  <m:r>
                                    <a:rPr lang="en-US" altLang="zh-CN" sz="2000" b="0" i="1" dirty="0">
                                      <a:latin typeface="Cambria Math" panose="02040503050406030204" pitchFamily="18" charset="0"/>
                                      <a:cs typeface="Times New Roman" panose="02020603050405020304" pitchFamily="18" charset="0"/>
                                    </a:rPr>
                                    <m:t>2</m:t>
                                  </m:r>
                                </m:sub>
                              </m:sSub>
                            </m:e>
                          </m:mr>
                          <m:mr>
                            <m:e>
                              <m:sSub>
                                <m:sSubPr>
                                  <m:ctrlPr>
                                    <a:rPr lang="en-US" altLang="zh-CN" sz="2000" b="0" i="1" dirty="0">
                                      <a:latin typeface="Cambria Math" panose="02040503050406030204" pitchFamily="18" charset="0"/>
                                      <a:cs typeface="Times New Roman" panose="02020603050405020304" pitchFamily="18" charset="0"/>
                                    </a:rPr>
                                  </m:ctrlPr>
                                </m:sSubPr>
                                <m:e>
                                  <m:r>
                                    <a:rPr lang="en-US" altLang="zh-CN" sz="2000" b="0" i="1" dirty="0" smtClean="0">
                                      <a:latin typeface="Cambria Math" panose="02040503050406030204" pitchFamily="18" charset="0"/>
                                      <a:cs typeface="Times New Roman" panose="02020603050405020304" pitchFamily="18" charset="0"/>
                                    </a:rPr>
                                    <m:t>ℎ</m:t>
                                  </m:r>
                                </m:e>
                                <m:sub>
                                  <m:r>
                                    <a:rPr lang="en-US" altLang="zh-CN" sz="2000" b="0" i="1" dirty="0">
                                      <a:latin typeface="Cambria Math" panose="02040503050406030204" pitchFamily="18" charset="0"/>
                                      <a:cs typeface="Times New Roman" panose="02020603050405020304" pitchFamily="18" charset="0"/>
                                    </a:rPr>
                                    <m:t>3</m:t>
                                  </m:r>
                                </m:sub>
                              </m:sSub>
                            </m:e>
                          </m:mr>
                        </m:m>
                      </m:e>
                    </m:d>
                  </m:oMath>
                </a14:m>
                <a:r>
                  <a:rPr lang="zh-CN" altLang="en-US" sz="2000" b="0" dirty="0">
                    <a:latin typeface="+mn-ea"/>
                    <a:cs typeface="Times New Roman" panose="02020603050405020304" pitchFamily="18" charset="0"/>
                  </a:rPr>
                  <a:t>代表所有网页的</a:t>
                </a:r>
                <a:r>
                  <a:rPr lang="en-US" altLang="zh-CN" sz="2000" b="0" dirty="0">
                    <a:latin typeface="+mn-ea"/>
                    <a:cs typeface="Times New Roman" panose="02020603050405020304" pitchFamily="18" charset="0"/>
                  </a:rPr>
                  <a:t>authority</a:t>
                </a:r>
                <a:r>
                  <a:rPr lang="zh-CN" altLang="en-US" sz="2000" b="0" dirty="0">
                    <a:latin typeface="+mn-ea"/>
                    <a:cs typeface="Times New Roman" panose="02020603050405020304" pitchFamily="18" charset="0"/>
                  </a:rPr>
                  <a:t>值和</a:t>
                </a:r>
                <a:r>
                  <a:rPr lang="en-US" altLang="zh-CN" sz="2000" b="0" dirty="0">
                    <a:latin typeface="+mn-ea"/>
                    <a:cs typeface="Times New Roman" panose="02020603050405020304" pitchFamily="18" charset="0"/>
                  </a:rPr>
                  <a:t>hub</a:t>
                </a:r>
                <a:r>
                  <a:rPr lang="zh-CN" altLang="en-US" sz="2000" b="0" dirty="0">
                    <a:latin typeface="+mn-ea"/>
                    <a:cs typeface="Times New Roman" panose="02020603050405020304" pitchFamily="18" charset="0"/>
                  </a:rPr>
                  <a:t>值</a:t>
                </a:r>
                <a:endParaRPr lang="en-US" altLang="zh-CN" sz="2000" b="0" dirty="0">
                  <a:latin typeface="+mn-ea"/>
                  <a:cs typeface="Times New Roman" panose="02020603050405020304" pitchFamily="18" charset="0"/>
                </a:endParaRPr>
              </a:p>
              <a:p>
                <a:pPr marL="469900" lvl="1" indent="-469900" eaLnBrk="1" hangingPunct="1">
                  <a:lnSpc>
                    <a:spcPct val="120000"/>
                  </a:lnSpc>
                  <a:spcBef>
                    <a:spcPts val="600"/>
                  </a:spcBef>
                  <a:buClr>
                    <a:srgbClr val="FF0000"/>
                  </a:buClr>
                  <a:buFont typeface="Wingdings" panose="05000000000000000000" pitchFamily="2" charset="2"/>
                  <a:buChar char="Ø"/>
                  <a:defRPr/>
                </a:pPr>
                <a14:m>
                  <m:oMath xmlns:m="http://schemas.openxmlformats.org/officeDocument/2006/math">
                    <m:r>
                      <a:rPr lang="en-US" altLang="zh-CN" sz="2000" b="0" i="1" smtClean="0">
                        <a:solidFill>
                          <a:srgbClr val="FF0000"/>
                        </a:solidFill>
                        <a:latin typeface="Cambria Math" panose="02040503050406030204" pitchFamily="18" charset="0"/>
                        <a:cs typeface="Times New Roman" panose="02020603050405020304" pitchFamily="18" charset="0"/>
                      </a:rPr>
                      <m:t>𝐻</m:t>
                    </m:r>
                    <m:r>
                      <a:rPr lang="en-US" altLang="zh-CN" sz="2000" b="0" i="1" smtClean="0">
                        <a:latin typeface="Cambria Math" panose="02040503050406030204" pitchFamily="18" charset="0"/>
                        <a:cs typeface="Times New Roman" panose="02020603050405020304" pitchFamily="18" charset="0"/>
                      </a:rPr>
                      <m:t>=</m:t>
                    </m:r>
                    <m:d>
                      <m:dPr>
                        <m:begChr m:val="["/>
                        <m:endChr m:val="]"/>
                        <m:ctrlPr>
                          <a:rPr lang="en-US" altLang="zh-CN" sz="2000" b="0" i="1" smtClean="0">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sz="2000" b="0" i="1" smtClean="0">
                                <a:latin typeface="Cambria Math" panose="02040503050406030204" pitchFamily="18" charset="0"/>
                                <a:cs typeface="Times New Roman" panose="02020603050405020304" pitchFamily="18" charset="0"/>
                              </a:rPr>
                            </m:ctrlPr>
                          </m:mPr>
                          <m:mr>
                            <m:e>
                              <m:sSub>
                                <m:sSubPr>
                                  <m:ctrlPr>
                                    <a:rPr lang="en-US" altLang="zh-CN" sz="2000" b="0" i="1" smtClean="0">
                                      <a:latin typeface="Cambria Math" panose="02040503050406030204" pitchFamily="18" charset="0"/>
                                      <a:cs typeface="Times New Roman" panose="02020603050405020304" pitchFamily="18" charset="0"/>
                                    </a:rPr>
                                  </m:ctrlPr>
                                </m:sSubPr>
                                <m:e>
                                  <m:r>
                                    <m:rPr>
                                      <m:brk m:alnAt="7"/>
                                    </m:rPr>
                                    <a:rPr lang="en-US" altLang="zh-CN" sz="2000" b="0" i="1" smtClean="0">
                                      <a:latin typeface="Cambria Math" panose="02040503050406030204" pitchFamily="18" charset="0"/>
                                      <a:cs typeface="Times New Roman" panose="02020603050405020304" pitchFamily="18" charset="0"/>
                                    </a:rPr>
                                    <m:t>ℎ</m:t>
                                  </m:r>
                                </m:e>
                                <m:sub>
                                  <m:r>
                                    <m:rPr>
                                      <m:brk m:alnAt="7"/>
                                    </m:rPr>
                                    <a:rPr lang="en-US" altLang="zh-CN" sz="2000" b="0" i="1" smtClean="0">
                                      <a:latin typeface="Cambria Math" panose="02040503050406030204" pitchFamily="18" charset="0"/>
                                      <a:cs typeface="Times New Roman" panose="02020603050405020304" pitchFamily="18" charset="0"/>
                                    </a:rPr>
                                    <m:t>1</m:t>
                                  </m:r>
                                </m:sub>
                              </m:sSub>
                              <m:r>
                                <m:rPr>
                                  <m:brk m:alnAt="7"/>
                                </m:rP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smtClean="0">
                                      <a:latin typeface="Cambria Math" panose="02040503050406030204" pitchFamily="18" charset="0"/>
                                      <a:cs typeface="Times New Roman" panose="02020603050405020304" pitchFamily="18" charset="0"/>
                                    </a:rPr>
                                  </m:ctrlPr>
                                </m:naryPr>
                                <m:sub>
                                  <m:r>
                                    <m:rPr>
                                      <m:brk m:alnAt="23"/>
                                    </m:rPr>
                                    <a:rPr lang="en-US" altLang="zh-CN" sz="2000" b="0" i="1" smtClean="0">
                                      <a:latin typeface="Cambria Math" panose="02040503050406030204" pitchFamily="18" charset="0"/>
                                      <a:cs typeface="Times New Roman" panose="02020603050405020304" pitchFamily="18" charset="0"/>
                                    </a:rPr>
                                    <m:t>𝑗</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1</m:t>
                                  </m:r>
                                </m:sub>
                                <m:sup>
                                  <m:r>
                                    <a:rPr lang="en-US" altLang="zh-CN" sz="2000" b="0" i="1" smtClean="0">
                                      <a:latin typeface="Cambria Math" panose="02040503050406030204" pitchFamily="18" charset="0"/>
                                      <a:cs typeface="Times New Roman" panose="02020603050405020304" pitchFamily="18" charset="0"/>
                                    </a:rPr>
                                    <m:t>3</m:t>
                                  </m:r>
                                </m:sup>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𝑙</m:t>
                                      </m:r>
                                    </m:e>
                                    <m:sub>
                                      <m:r>
                                        <a:rPr lang="en-US" altLang="zh-CN" sz="2000" b="0" i="1" smtClean="0">
                                          <a:latin typeface="Cambria Math" panose="02040503050406030204" pitchFamily="18" charset="0"/>
                                          <a:cs typeface="Times New Roman" panose="02020603050405020304" pitchFamily="18" charset="0"/>
                                        </a:rPr>
                                        <m:t>1</m:t>
                                      </m:r>
                                      <m:r>
                                        <a:rPr lang="en-US" altLang="zh-CN" sz="2000" b="0" i="1" smtClean="0">
                                          <a:latin typeface="Cambria Math" panose="02040503050406030204" pitchFamily="18" charset="0"/>
                                          <a:cs typeface="Times New Roman" panose="02020603050405020304" pitchFamily="18" charset="0"/>
                                        </a:rPr>
                                        <m:t>𝑗</m:t>
                                      </m:r>
                                    </m:sub>
                                  </m:sSub>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𝑗</m:t>
                                      </m:r>
                                    </m:sub>
                                  </m:sSub>
                                </m:e>
                              </m:nary>
                            </m:e>
                          </m:mr>
                          <m:m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ℎ</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a:latin typeface="Cambria Math" panose="02040503050406030204" pitchFamily="18" charset="0"/>
                                      <a:cs typeface="Times New Roman" panose="02020603050405020304" pitchFamily="18" charset="0"/>
                                    </a:rPr>
                                  </m:ctrlPr>
                                </m:naryPr>
                                <m:sub>
                                  <m:r>
                                    <m:rPr>
                                      <m:brk m:alnAt="23"/>
                                    </m:rPr>
                                    <a:rPr lang="en-US" altLang="zh-CN" sz="2000" b="0" i="1">
                                      <a:latin typeface="Cambria Math" panose="02040503050406030204" pitchFamily="18" charset="0"/>
                                      <a:cs typeface="Times New Roman" panose="02020603050405020304" pitchFamily="18" charset="0"/>
                                    </a:rPr>
                                    <m:t>𝑗</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1</m:t>
                                  </m:r>
                                </m:sub>
                                <m:sup>
                                  <m:r>
                                    <a:rPr lang="en-US" altLang="zh-CN" sz="2000" b="0" i="1">
                                      <a:latin typeface="Cambria Math" panose="02040503050406030204" pitchFamily="18" charset="0"/>
                                      <a:cs typeface="Times New Roman" panose="02020603050405020304" pitchFamily="18" charset="0"/>
                                    </a:rPr>
                                    <m:t>3</m:t>
                                  </m:r>
                                </m:sup>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smtClean="0">
                                          <a:latin typeface="Cambria Math" panose="02040503050406030204" pitchFamily="18" charset="0"/>
                                          <a:cs typeface="Times New Roman" panose="02020603050405020304" pitchFamily="18" charset="0"/>
                                        </a:rPr>
                                        <m:t>2</m:t>
                                      </m:r>
                                      <m:r>
                                        <a:rPr lang="en-US" altLang="zh-CN" sz="2000" b="0" i="1">
                                          <a:latin typeface="Cambria Math" panose="02040503050406030204" pitchFamily="18" charset="0"/>
                                          <a:cs typeface="Times New Roman" panose="02020603050405020304" pitchFamily="18" charset="0"/>
                                        </a:rPr>
                                        <m:t>𝑗</m:t>
                                      </m:r>
                                    </m:sub>
                                  </m:sSub>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𝑗</m:t>
                                      </m:r>
                                    </m:sub>
                                  </m:sSub>
                                </m:e>
                              </m:nary>
                            </m:e>
                          </m:mr>
                          <m:m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ℎ</m:t>
                                  </m:r>
                                </m:e>
                                <m:sub>
                                  <m:r>
                                    <a:rPr lang="en-US" altLang="zh-CN" sz="2000" b="0" i="1" smtClean="0">
                                      <a:latin typeface="Cambria Math" panose="02040503050406030204" pitchFamily="18" charset="0"/>
                                      <a:cs typeface="Times New Roman" panose="02020603050405020304" pitchFamily="18" charset="0"/>
                                    </a:rPr>
                                    <m:t>3</m:t>
                                  </m:r>
                                </m:sub>
                              </m:sSub>
                              <m: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a:latin typeface="Cambria Math" panose="02040503050406030204" pitchFamily="18" charset="0"/>
                                      <a:cs typeface="Times New Roman" panose="02020603050405020304" pitchFamily="18" charset="0"/>
                                    </a:rPr>
                                  </m:ctrlPr>
                                </m:naryPr>
                                <m:sub>
                                  <m:r>
                                    <m:rPr>
                                      <m:brk m:alnAt="23"/>
                                    </m:rPr>
                                    <a:rPr lang="en-US" altLang="zh-CN" sz="2000" b="0" i="1">
                                      <a:latin typeface="Cambria Math" panose="02040503050406030204" pitchFamily="18" charset="0"/>
                                      <a:cs typeface="Times New Roman" panose="02020603050405020304" pitchFamily="18" charset="0"/>
                                    </a:rPr>
                                    <m:t>𝑗</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1</m:t>
                                  </m:r>
                                </m:sub>
                                <m:sup>
                                  <m:r>
                                    <a:rPr lang="en-US" altLang="zh-CN" sz="2000" b="0" i="1">
                                      <a:latin typeface="Cambria Math" panose="02040503050406030204" pitchFamily="18" charset="0"/>
                                      <a:cs typeface="Times New Roman" panose="02020603050405020304" pitchFamily="18" charset="0"/>
                                    </a:rPr>
                                    <m:t>3</m:t>
                                  </m:r>
                                </m:sup>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smtClean="0">
                                          <a:latin typeface="Cambria Math" panose="02040503050406030204" pitchFamily="18" charset="0"/>
                                          <a:cs typeface="Times New Roman" panose="02020603050405020304" pitchFamily="18" charset="0"/>
                                        </a:rPr>
                                        <m:t>3</m:t>
                                      </m:r>
                                      <m:r>
                                        <a:rPr lang="en-US" altLang="zh-CN" sz="2000" b="0" i="1">
                                          <a:latin typeface="Cambria Math" panose="02040503050406030204" pitchFamily="18" charset="0"/>
                                          <a:cs typeface="Times New Roman" panose="02020603050405020304" pitchFamily="18" charset="0"/>
                                        </a:rPr>
                                        <m:t>𝑗</m:t>
                                      </m:r>
                                    </m:sub>
                                  </m:sSub>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𝑗</m:t>
                                      </m:r>
                                    </m:sub>
                                  </m:sSub>
                                </m:e>
                              </m:nary>
                            </m:e>
                          </m:mr>
                        </m:m>
                      </m:e>
                    </m:d>
                    <m:r>
                      <a:rPr lang="en-US" altLang="zh-CN" sz="2000" b="0" i="0" smtClean="0">
                        <a:latin typeface="Cambria Math" panose="02040503050406030204" pitchFamily="18" charset="0"/>
                        <a:cs typeface="Times New Roman" panose="02020603050405020304" pitchFamily="18" charset="0"/>
                      </a:rPr>
                      <m:t>=</m:t>
                    </m:r>
                    <m:r>
                      <a:rPr lang="en-US" altLang="zh-CN" sz="2000" b="0" i="1" smtClean="0">
                        <a:solidFill>
                          <a:srgbClr val="FF0000"/>
                        </a:solidFill>
                        <a:latin typeface="Cambria Math" panose="02040503050406030204" pitchFamily="18" charset="0"/>
                        <a:cs typeface="Times New Roman" panose="02020603050405020304" pitchFamily="18" charset="0"/>
                      </a:rPr>
                      <m:t>𝐿</m:t>
                    </m:r>
                    <m:r>
                      <a:rPr lang="en-US" altLang="zh-CN" sz="2000" b="0" i="1" smtClean="0">
                        <a:solidFill>
                          <a:srgbClr val="FF0000"/>
                        </a:solidFill>
                        <a:latin typeface="Cambria Math" panose="02040503050406030204" pitchFamily="18" charset="0"/>
                        <a:cs typeface="Times New Roman" panose="02020603050405020304" pitchFamily="18" charset="0"/>
                      </a:rPr>
                      <m:t>∗</m:t>
                    </m:r>
                    <m:r>
                      <a:rPr lang="en-US" altLang="zh-CN" sz="2000" b="0" i="1" smtClean="0">
                        <a:solidFill>
                          <a:srgbClr val="FF0000"/>
                        </a:solidFill>
                        <a:latin typeface="Cambria Math" panose="02040503050406030204" pitchFamily="18" charset="0"/>
                        <a:cs typeface="Times New Roman" panose="02020603050405020304" pitchFamily="18" charset="0"/>
                      </a:rPr>
                      <m:t>𝐴</m:t>
                    </m:r>
                    <m:r>
                      <a:rPr lang="en-US" altLang="zh-CN" sz="2000" b="0" i="1" smtClean="0">
                        <a:latin typeface="Cambria Math" panose="02040503050406030204" pitchFamily="18" charset="0"/>
                        <a:cs typeface="Times New Roman" panose="02020603050405020304" pitchFamily="18" charset="0"/>
                      </a:rPr>
                      <m:t>           </m:t>
                    </m:r>
                    <m:r>
                      <a:rPr lang="en-US" altLang="zh-CN" sz="2000" b="0" i="1" smtClean="0">
                        <a:solidFill>
                          <a:srgbClr val="FF0000"/>
                        </a:solidFill>
                        <a:latin typeface="Cambria Math" panose="02040503050406030204" pitchFamily="18" charset="0"/>
                        <a:cs typeface="Times New Roman" panose="02020603050405020304" pitchFamily="18" charset="0"/>
                      </a:rPr>
                      <m:t>𝐴</m:t>
                    </m:r>
                    <m:r>
                      <a:rPr lang="en-US" altLang="zh-CN" sz="2000" b="0" i="1" smtClean="0">
                        <a:latin typeface="Cambria Math" panose="02040503050406030204" pitchFamily="18" charset="0"/>
                        <a:cs typeface="Times New Roman" panose="02020603050405020304" pitchFamily="18" charset="0"/>
                      </a:rPr>
                      <m:t>=</m:t>
                    </m:r>
                  </m:oMath>
                </a14:m>
                <a:r>
                  <a:rPr lang="en-US" altLang="zh-CN" sz="2000" b="0" dirty="0">
                    <a:cs typeface="Times New Roman" panose="02020603050405020304" pitchFamily="18" charset="0"/>
                  </a:rPr>
                  <a:t> </a:t>
                </a:r>
                <a14:m>
                  <m:oMath xmlns:m="http://schemas.openxmlformats.org/officeDocument/2006/math">
                    <m:d>
                      <m:dPr>
                        <m:begChr m:val="["/>
                        <m:endChr m:val="]"/>
                        <m:ctrlPr>
                          <a:rPr lang="en-US" altLang="zh-CN" sz="2000" b="0" i="1">
                            <a:latin typeface="Cambria Math" panose="02040503050406030204" pitchFamily="18" charset="0"/>
                            <a:cs typeface="Times New Roman" panose="02020603050405020304" pitchFamily="18" charset="0"/>
                          </a:rPr>
                        </m:ctrlPr>
                      </m:dPr>
                      <m:e>
                        <m:m>
                          <m:mPr>
                            <m:mcs>
                              <m:mc>
                                <m:mcPr>
                                  <m:count m:val="1"/>
                                  <m:mcJc m:val="center"/>
                                </m:mcPr>
                              </m:mc>
                            </m:mcs>
                            <m:ctrlPr>
                              <a:rPr lang="en-US" altLang="zh-CN" sz="2000" b="0" i="1">
                                <a:latin typeface="Cambria Math" panose="02040503050406030204" pitchFamily="18" charset="0"/>
                                <a:cs typeface="Times New Roman" panose="02020603050405020304" pitchFamily="18" charset="0"/>
                              </a:rPr>
                            </m:ctrlPr>
                          </m:mPr>
                          <m:mr>
                            <m:e>
                              <m:sSub>
                                <m:sSubPr>
                                  <m:ctrlPr>
                                    <a:rPr lang="en-US" altLang="zh-CN" sz="2000" b="0" i="1" smtClean="0">
                                      <a:latin typeface="Cambria Math" panose="02040503050406030204" pitchFamily="18" charset="0"/>
                                      <a:cs typeface="Times New Roman" panose="02020603050405020304" pitchFamily="18" charset="0"/>
                                    </a:rPr>
                                  </m:ctrlPr>
                                </m:sSubPr>
                                <m:e>
                                  <m:r>
                                    <m:rPr>
                                      <m:brk m:alnAt="7"/>
                                    </m:rPr>
                                    <a:rPr lang="en-US" altLang="zh-CN" sz="2000" b="0" i="1" smtClean="0">
                                      <a:latin typeface="Cambria Math" panose="02040503050406030204" pitchFamily="18" charset="0"/>
                                      <a:cs typeface="Times New Roman" panose="02020603050405020304" pitchFamily="18" charset="0"/>
                                    </a:rPr>
                                    <m:t>𝑎</m:t>
                                  </m:r>
                                </m:e>
                                <m:sub>
                                  <m:r>
                                    <m:rPr>
                                      <m:brk m:alnAt="7"/>
                                    </m:rPr>
                                    <a:rPr lang="en-US" altLang="zh-CN" sz="2000" b="0" i="1" smtClean="0">
                                      <a:latin typeface="Cambria Math" panose="02040503050406030204" pitchFamily="18" charset="0"/>
                                      <a:cs typeface="Times New Roman" panose="02020603050405020304" pitchFamily="18" charset="0"/>
                                    </a:rPr>
                                    <m:t>1</m:t>
                                  </m:r>
                                </m:sub>
                              </m:sSub>
                              <m:r>
                                <m:rPr>
                                  <m:brk m:alnAt="7"/>
                                </m:rP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a:latin typeface="Cambria Math" panose="02040503050406030204" pitchFamily="18" charset="0"/>
                                      <a:cs typeface="Times New Roman" panose="02020603050405020304" pitchFamily="18" charset="0"/>
                                    </a:rPr>
                                  </m:ctrlPr>
                                </m:naryPr>
                                <m:sub>
                                  <m:r>
                                    <a:rPr lang="en-US" altLang="zh-CN" sz="2000" b="0" i="1" smtClean="0">
                                      <a:latin typeface="Cambria Math" panose="02040503050406030204" pitchFamily="18" charset="0"/>
                                      <a:cs typeface="Times New Roman" panose="02020603050405020304" pitchFamily="18" charset="0"/>
                                    </a:rPr>
                                    <m:t>𝑖</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1</m:t>
                                  </m:r>
                                </m:sub>
                                <m:sup>
                                  <m:r>
                                    <a:rPr lang="en-US" altLang="zh-CN" sz="2000" b="0" i="1">
                                      <a:latin typeface="Cambria Math" panose="02040503050406030204" pitchFamily="18" charset="0"/>
                                      <a:cs typeface="Times New Roman" panose="02020603050405020304" pitchFamily="18" charset="0"/>
                                    </a:rPr>
                                    <m:t>3</m:t>
                                  </m:r>
                                </m:sup>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smtClean="0">
                                          <a:latin typeface="Cambria Math" panose="02040503050406030204" pitchFamily="18" charset="0"/>
                                          <a:cs typeface="Times New Roman" panose="02020603050405020304" pitchFamily="18" charset="0"/>
                                        </a:rPr>
                                        <m:t>𝑖</m:t>
                                      </m:r>
                                      <m:r>
                                        <a:rPr lang="en-US" altLang="zh-CN" sz="2000" b="0" i="1" smtClean="0">
                                          <a:latin typeface="Cambria Math" panose="02040503050406030204" pitchFamily="18" charset="0"/>
                                          <a:cs typeface="Times New Roman" panose="02020603050405020304" pitchFamily="18" charset="0"/>
                                        </a:rPr>
                                        <m:t>1</m:t>
                                      </m:r>
                                    </m:sub>
                                  </m:sSub>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ℎ</m:t>
                                      </m:r>
                                    </m:e>
                                    <m:sub>
                                      <m:r>
                                        <a:rPr lang="en-US" altLang="zh-CN" sz="2000" b="0" i="1" smtClean="0">
                                          <a:latin typeface="Cambria Math" panose="02040503050406030204" pitchFamily="18" charset="0"/>
                                          <a:cs typeface="Times New Roman" panose="02020603050405020304" pitchFamily="18" charset="0"/>
                                        </a:rPr>
                                        <m:t>𝑖</m:t>
                                      </m:r>
                                    </m:sub>
                                  </m:sSub>
                                </m:e>
                              </m:nary>
                            </m:e>
                          </m:mr>
                          <m:m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a:latin typeface="Cambria Math" panose="02040503050406030204" pitchFamily="18" charset="0"/>
                                      <a:cs typeface="Times New Roman" panose="02020603050405020304" pitchFamily="18" charset="0"/>
                                    </a:rPr>
                                  </m:ctrlPr>
                                </m:naryPr>
                                <m:sub>
                                  <m:r>
                                    <a:rPr lang="en-US" altLang="zh-CN" sz="2000" b="0" i="1">
                                      <a:latin typeface="Cambria Math" panose="02040503050406030204" pitchFamily="18" charset="0"/>
                                      <a:cs typeface="Times New Roman" panose="02020603050405020304" pitchFamily="18" charset="0"/>
                                    </a:rPr>
                                    <m:t>𝑖</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1</m:t>
                                  </m:r>
                                </m:sub>
                                <m:sup>
                                  <m:r>
                                    <a:rPr lang="en-US" altLang="zh-CN" sz="2000" b="0" i="1">
                                      <a:latin typeface="Cambria Math" panose="02040503050406030204" pitchFamily="18" charset="0"/>
                                      <a:cs typeface="Times New Roman" panose="02020603050405020304" pitchFamily="18" charset="0"/>
                                    </a:rPr>
                                    <m:t>3</m:t>
                                  </m:r>
                                </m:sup>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𝑖</m:t>
                                      </m:r>
                                      <m:r>
                                        <a:rPr lang="en-US" altLang="zh-CN" sz="2000" b="0" i="1" smtClean="0">
                                          <a:latin typeface="Cambria Math" panose="02040503050406030204" pitchFamily="18" charset="0"/>
                                          <a:cs typeface="Times New Roman" panose="02020603050405020304" pitchFamily="18" charset="0"/>
                                        </a:rPr>
                                        <m:t>2</m:t>
                                      </m:r>
                                    </m:sub>
                                  </m:sSub>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ℎ</m:t>
                                      </m:r>
                                    </m:e>
                                    <m:sub>
                                      <m:r>
                                        <a:rPr lang="en-US" altLang="zh-CN" sz="2000" b="0" i="1">
                                          <a:latin typeface="Cambria Math" panose="02040503050406030204" pitchFamily="18" charset="0"/>
                                          <a:cs typeface="Times New Roman" panose="02020603050405020304" pitchFamily="18" charset="0"/>
                                        </a:rPr>
                                        <m:t>𝑖</m:t>
                                      </m:r>
                                    </m:sub>
                                  </m:sSub>
                                </m:e>
                              </m:nary>
                            </m:e>
                          </m:mr>
                          <m:m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𝑎</m:t>
                                  </m:r>
                                </m:e>
                                <m:sub>
                                  <m:r>
                                    <a:rPr lang="en-US" altLang="zh-CN" sz="2000" b="0" i="1" smtClean="0">
                                      <a:latin typeface="Cambria Math" panose="02040503050406030204" pitchFamily="18" charset="0"/>
                                      <a:cs typeface="Times New Roman" panose="02020603050405020304" pitchFamily="18" charset="0"/>
                                    </a:rPr>
                                    <m:t>3</m:t>
                                  </m:r>
                                </m:sub>
                              </m:sSub>
                              <m:r>
                                <a:rPr lang="en-US" altLang="zh-CN" sz="2000" b="0" i="1" smtClean="0">
                                  <a:latin typeface="Cambria Math" panose="02040503050406030204" pitchFamily="18" charset="0"/>
                                  <a:cs typeface="Times New Roman" panose="02020603050405020304" pitchFamily="18" charset="0"/>
                                </a:rPr>
                                <m:t>=</m:t>
                              </m:r>
                              <m:nary>
                                <m:naryPr>
                                  <m:chr m:val="∑"/>
                                  <m:ctrlPr>
                                    <a:rPr lang="en-US" altLang="zh-CN" sz="2000" b="0" i="1">
                                      <a:latin typeface="Cambria Math" panose="02040503050406030204" pitchFamily="18" charset="0"/>
                                      <a:cs typeface="Times New Roman" panose="02020603050405020304" pitchFamily="18" charset="0"/>
                                    </a:rPr>
                                  </m:ctrlPr>
                                </m:naryPr>
                                <m:sub>
                                  <m:r>
                                    <a:rPr lang="en-US" altLang="zh-CN" sz="2000" b="0" i="1">
                                      <a:latin typeface="Cambria Math" panose="02040503050406030204" pitchFamily="18" charset="0"/>
                                      <a:cs typeface="Times New Roman" panose="02020603050405020304" pitchFamily="18" charset="0"/>
                                    </a:rPr>
                                    <m:t>𝑖</m:t>
                                  </m:r>
                                  <m:r>
                                    <a:rPr lang="en-US" altLang="zh-CN" sz="2000" b="0" i="1">
                                      <a:latin typeface="Cambria Math" panose="02040503050406030204" pitchFamily="18" charset="0"/>
                                      <a:cs typeface="Times New Roman" panose="02020603050405020304" pitchFamily="18" charset="0"/>
                                    </a:rPr>
                                    <m:t>=</m:t>
                                  </m:r>
                                  <m:r>
                                    <a:rPr lang="en-US" altLang="zh-CN" sz="2000" b="0" i="1">
                                      <a:latin typeface="Cambria Math" panose="02040503050406030204" pitchFamily="18" charset="0"/>
                                      <a:cs typeface="Times New Roman" panose="02020603050405020304" pitchFamily="18" charset="0"/>
                                    </a:rPr>
                                    <m:t>1</m:t>
                                  </m:r>
                                </m:sub>
                                <m:sup>
                                  <m:r>
                                    <a:rPr lang="en-US" altLang="zh-CN" sz="2000" b="0" i="1">
                                      <a:latin typeface="Cambria Math" panose="02040503050406030204" pitchFamily="18" charset="0"/>
                                      <a:cs typeface="Times New Roman" panose="02020603050405020304" pitchFamily="18" charset="0"/>
                                    </a:rPr>
                                    <m:t>3</m:t>
                                  </m:r>
                                </m:sup>
                                <m:e>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𝑙</m:t>
                                      </m:r>
                                    </m:e>
                                    <m:sub>
                                      <m:r>
                                        <a:rPr lang="en-US" altLang="zh-CN" sz="2000" b="0" i="1">
                                          <a:latin typeface="Cambria Math" panose="02040503050406030204" pitchFamily="18" charset="0"/>
                                          <a:cs typeface="Times New Roman" panose="02020603050405020304" pitchFamily="18" charset="0"/>
                                        </a:rPr>
                                        <m:t>𝑖</m:t>
                                      </m:r>
                                      <m:r>
                                        <a:rPr lang="en-US" altLang="zh-CN" sz="2000" b="0" i="1" smtClean="0">
                                          <a:latin typeface="Cambria Math" panose="02040503050406030204" pitchFamily="18" charset="0"/>
                                          <a:cs typeface="Times New Roman" panose="02020603050405020304" pitchFamily="18" charset="0"/>
                                        </a:rPr>
                                        <m:t>3</m:t>
                                      </m:r>
                                    </m:sub>
                                  </m:sSub>
                                  <m:sSub>
                                    <m:sSubPr>
                                      <m:ctrlPr>
                                        <a:rPr lang="en-US" altLang="zh-CN" sz="2000" b="0" i="1">
                                          <a:latin typeface="Cambria Math" panose="02040503050406030204" pitchFamily="18" charset="0"/>
                                          <a:cs typeface="Times New Roman" panose="02020603050405020304" pitchFamily="18" charset="0"/>
                                        </a:rPr>
                                      </m:ctrlPr>
                                    </m:sSubPr>
                                    <m:e>
                                      <m:r>
                                        <a:rPr lang="en-US" altLang="zh-CN" sz="2000" b="0" i="1">
                                          <a:latin typeface="Cambria Math" panose="02040503050406030204" pitchFamily="18" charset="0"/>
                                          <a:cs typeface="Times New Roman" panose="02020603050405020304" pitchFamily="18" charset="0"/>
                                        </a:rPr>
                                        <m:t>ℎ</m:t>
                                      </m:r>
                                    </m:e>
                                    <m:sub>
                                      <m:r>
                                        <a:rPr lang="en-US" altLang="zh-CN" sz="2000" b="0" i="1">
                                          <a:latin typeface="Cambria Math" panose="02040503050406030204" pitchFamily="18" charset="0"/>
                                          <a:cs typeface="Times New Roman" panose="02020603050405020304" pitchFamily="18" charset="0"/>
                                        </a:rPr>
                                        <m:t>𝑖</m:t>
                                      </m:r>
                                    </m:sub>
                                  </m:sSub>
                                </m:e>
                              </m:nary>
                            </m:e>
                          </m:mr>
                        </m:m>
                      </m:e>
                    </m:d>
                    <m:r>
                      <a:rPr lang="en-US" altLang="zh-CN" sz="2000" b="0" i="1">
                        <a:latin typeface="Cambria Math" panose="02040503050406030204" pitchFamily="18" charset="0"/>
                        <a:cs typeface="Times New Roman" panose="02020603050405020304" pitchFamily="18" charset="0"/>
                      </a:rPr>
                      <m:t>=</m:t>
                    </m:r>
                    <m:sSup>
                      <m:sSupPr>
                        <m:ctrlPr>
                          <a:rPr lang="en-US" altLang="zh-CN" sz="2000" b="0" i="1" smtClean="0">
                            <a:solidFill>
                              <a:srgbClr val="FF0000"/>
                            </a:solidFill>
                            <a:latin typeface="Cambria Math" panose="02040503050406030204" pitchFamily="18" charset="0"/>
                            <a:cs typeface="Times New Roman" panose="02020603050405020304" pitchFamily="18" charset="0"/>
                          </a:rPr>
                        </m:ctrlPr>
                      </m:sSupPr>
                      <m:e>
                        <m:r>
                          <a:rPr lang="en-US" altLang="zh-CN" sz="2000" b="0" i="1">
                            <a:solidFill>
                              <a:srgbClr val="FF0000"/>
                            </a:solidFill>
                            <a:latin typeface="Cambria Math" panose="02040503050406030204" pitchFamily="18" charset="0"/>
                            <a:cs typeface="Times New Roman" panose="02020603050405020304" pitchFamily="18" charset="0"/>
                          </a:rPr>
                          <m:t>𝐿</m:t>
                        </m:r>
                      </m:e>
                      <m:sup>
                        <m:r>
                          <a:rPr lang="en-US" altLang="zh-CN" sz="2000" b="0" i="1">
                            <a:solidFill>
                              <a:srgbClr val="FF0000"/>
                            </a:solidFill>
                            <a:latin typeface="Cambria Math" panose="02040503050406030204" pitchFamily="18" charset="0"/>
                            <a:cs typeface="Times New Roman" panose="02020603050405020304" pitchFamily="18" charset="0"/>
                          </a:rPr>
                          <m:t>𝑇</m:t>
                        </m:r>
                      </m:sup>
                    </m:sSup>
                    <m:r>
                      <a:rPr lang="en-US" altLang="zh-CN" sz="2000" b="0" i="1">
                        <a:solidFill>
                          <a:srgbClr val="FF0000"/>
                        </a:solidFill>
                        <a:latin typeface="Cambria Math" panose="02040503050406030204" pitchFamily="18" charset="0"/>
                        <a:cs typeface="Times New Roman" panose="02020603050405020304" pitchFamily="18" charset="0"/>
                      </a:rPr>
                      <m:t>∗</m:t>
                    </m:r>
                    <m:r>
                      <a:rPr lang="en-US" altLang="zh-CN" sz="2000" b="0" i="1">
                        <a:solidFill>
                          <a:srgbClr val="FF0000"/>
                        </a:solidFill>
                        <a:latin typeface="Cambria Math" panose="02040503050406030204" pitchFamily="18" charset="0"/>
                        <a:cs typeface="Times New Roman" panose="02020603050405020304" pitchFamily="18" charset="0"/>
                      </a:rPr>
                      <m:t>𝐻</m:t>
                    </m:r>
                  </m:oMath>
                </a14:m>
                <a:endParaRPr lang="en-US" altLang="zh-CN" sz="2000" b="0" i="1" dirty="0">
                  <a:latin typeface="+mn-ea"/>
                  <a:cs typeface="Times New Roman" panose="02020603050405020304" pitchFamily="18" charset="0"/>
                </a:endParaRPr>
              </a:p>
            </p:txBody>
          </p:sp>
        </mc:Choice>
        <mc:Fallback>
          <p:sp>
            <p:nvSpPr>
              <p:cNvPr id="3" name="Rectangle 3"/>
              <p:cNvSpPr txBox="1">
                <a:spLocks noRot="1" noChangeAspect="1" noMove="1" noResize="1" noEditPoints="1" noAdjustHandles="1" noChangeArrowheads="1" noChangeShapeType="1" noTextEdit="1"/>
              </p:cNvSpPr>
              <p:nvPr/>
            </p:nvSpPr>
            <p:spPr bwMode="auto">
              <a:xfrm>
                <a:off x="193040" y="1181235"/>
                <a:ext cx="8950960" cy="3831941"/>
              </a:xfrm>
              <a:prstGeom prst="rect">
                <a:avLst/>
              </a:prstGeom>
              <a:blipFill rotWithShape="1">
                <a:blip r:embed="rId1"/>
                <a:stretch>
                  <a:fillRect t="-4" b="-293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9" name="Rectangle 4"/>
          <p:cNvSpPr>
            <a:spLocks noChangeArrowheads="1"/>
          </p:cNvSpPr>
          <p:nvPr/>
        </p:nvSpPr>
        <p:spPr bwMode="auto">
          <a:xfrm>
            <a:off x="3398838" y="2343150"/>
            <a:ext cx="225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900" i="1">
                <a:solidFill>
                  <a:srgbClr val="FF9900"/>
                </a:solidFill>
                <a:latin typeface="Times New Roman" panose="02020603050405020304" pitchFamily="18" charset="0"/>
                <a:cs typeface="Arial" panose="020B0604020202020204" pitchFamily="34" charset="0"/>
              </a:rPr>
              <a:t>A</a:t>
            </a:r>
            <a:endParaRPr lang="en-US" altLang="zh-CN" sz="2900" i="1">
              <a:solidFill>
                <a:srgbClr val="FF9900"/>
              </a:solidFill>
              <a:latin typeface="Times New Roman" panose="02020603050405020304" pitchFamily="18" charset="0"/>
              <a:cs typeface="Arial" panose="020B0604020202020204" pitchFamily="34" charset="0"/>
            </a:endParaRPr>
          </a:p>
        </p:txBody>
      </p:sp>
      <p:sp>
        <p:nvSpPr>
          <p:cNvPr id="10" name="Rectangle 5"/>
          <p:cNvSpPr>
            <a:spLocks noChangeArrowheads="1"/>
          </p:cNvSpPr>
          <p:nvPr/>
        </p:nvSpPr>
        <p:spPr bwMode="auto">
          <a:xfrm>
            <a:off x="2687330" y="2343150"/>
            <a:ext cx="2276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900" i="1" dirty="0">
                <a:solidFill>
                  <a:srgbClr val="FF9900"/>
                </a:solidFill>
                <a:latin typeface="Times New Roman" panose="02020603050405020304" pitchFamily="18" charset="0"/>
                <a:cs typeface="Arial" panose="020B0604020202020204" pitchFamily="34" charset="0"/>
              </a:rPr>
              <a:t>L</a:t>
            </a:r>
            <a:endParaRPr lang="en-US" altLang="zh-CN" sz="2900" i="1" dirty="0">
              <a:solidFill>
                <a:srgbClr val="FF9900"/>
              </a:solidFill>
              <a:latin typeface="Times New Roman" panose="02020603050405020304" pitchFamily="18" charset="0"/>
              <a:cs typeface="Arial" panose="020B0604020202020204" pitchFamily="34" charset="0"/>
            </a:endParaRPr>
          </a:p>
        </p:txBody>
      </p:sp>
      <p:sp>
        <p:nvSpPr>
          <p:cNvPr id="11" name="Rectangle 6"/>
          <p:cNvSpPr>
            <a:spLocks noChangeArrowheads="1"/>
          </p:cNvSpPr>
          <p:nvPr/>
        </p:nvSpPr>
        <p:spPr bwMode="auto">
          <a:xfrm>
            <a:off x="1841500" y="2343150"/>
            <a:ext cx="2667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900" i="1">
                <a:solidFill>
                  <a:srgbClr val="FF9900"/>
                </a:solidFill>
                <a:latin typeface="Times New Roman" panose="02020603050405020304" pitchFamily="18" charset="0"/>
                <a:cs typeface="Arial" panose="020B0604020202020204" pitchFamily="34" charset="0"/>
              </a:rPr>
              <a:t>H</a:t>
            </a:r>
            <a:endParaRPr lang="en-US" altLang="zh-CN" sz="2900" i="1">
              <a:solidFill>
                <a:srgbClr val="FF9900"/>
              </a:solidFill>
              <a:latin typeface="Times New Roman" panose="02020603050405020304" pitchFamily="18" charset="0"/>
              <a:cs typeface="Arial" panose="020B0604020202020204" pitchFamily="34" charset="0"/>
            </a:endParaRPr>
          </a:p>
        </p:txBody>
      </p:sp>
      <p:sp>
        <p:nvSpPr>
          <p:cNvPr id="12" name="Rectangle 7"/>
          <p:cNvSpPr>
            <a:spLocks noChangeArrowheads="1"/>
          </p:cNvSpPr>
          <p:nvPr/>
        </p:nvSpPr>
        <p:spPr bwMode="auto">
          <a:xfrm>
            <a:off x="3616325" y="247491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i="1">
                <a:solidFill>
                  <a:srgbClr val="FF9900"/>
                </a:solidFill>
                <a:latin typeface="Times New Roman" panose="02020603050405020304" pitchFamily="18" charset="0"/>
                <a:cs typeface="Arial" panose="020B0604020202020204" pitchFamily="34" charset="0"/>
              </a:rPr>
              <a:t>i</a:t>
            </a:r>
            <a:endParaRPr lang="en-US" altLang="zh-CN" sz="1900" i="1">
              <a:solidFill>
                <a:srgbClr val="FF9900"/>
              </a:solidFill>
              <a:latin typeface="Times New Roman" panose="02020603050405020304" pitchFamily="18" charset="0"/>
              <a:cs typeface="Arial" panose="020B0604020202020204" pitchFamily="34" charset="0"/>
            </a:endParaRPr>
          </a:p>
        </p:txBody>
      </p:sp>
      <p:sp>
        <p:nvSpPr>
          <p:cNvPr id="13" name="Rectangle 8"/>
          <p:cNvSpPr>
            <a:spLocks noChangeArrowheads="1"/>
          </p:cNvSpPr>
          <p:nvPr/>
        </p:nvSpPr>
        <p:spPr bwMode="auto">
          <a:xfrm>
            <a:off x="2157413" y="247491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i="1">
                <a:solidFill>
                  <a:srgbClr val="FF9900"/>
                </a:solidFill>
                <a:latin typeface="Times New Roman" panose="02020603050405020304" pitchFamily="18" charset="0"/>
                <a:cs typeface="Arial" panose="020B0604020202020204" pitchFamily="34" charset="0"/>
              </a:rPr>
              <a:t>i</a:t>
            </a:r>
            <a:endParaRPr lang="en-US" altLang="zh-CN" sz="1900" i="1">
              <a:solidFill>
                <a:srgbClr val="FF9900"/>
              </a:solidFill>
              <a:latin typeface="Times New Roman" panose="02020603050405020304" pitchFamily="18" charset="0"/>
              <a:cs typeface="Arial" panose="020B0604020202020204" pitchFamily="34" charset="0"/>
            </a:endParaRPr>
          </a:p>
        </p:txBody>
      </p:sp>
      <p:sp>
        <p:nvSpPr>
          <p:cNvPr id="14" name="Rectangle 9"/>
          <p:cNvSpPr>
            <a:spLocks noChangeArrowheads="1"/>
          </p:cNvSpPr>
          <p:nvPr/>
        </p:nvSpPr>
        <p:spPr bwMode="auto">
          <a:xfrm>
            <a:off x="3059113" y="2420938"/>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900">
                <a:solidFill>
                  <a:srgbClr val="FF9900"/>
                </a:solidFill>
                <a:latin typeface="Times New Roman" panose="02020603050405020304" pitchFamily="18" charset="0"/>
                <a:cs typeface="Arial" panose="020B0604020202020204" pitchFamily="34" charset="0"/>
              </a:rPr>
              <a:t>*</a:t>
            </a:r>
            <a:endParaRPr lang="en-US" altLang="zh-CN" sz="2900">
              <a:solidFill>
                <a:srgbClr val="FF9900"/>
              </a:solidFill>
              <a:latin typeface="Times New Roman" panose="02020603050405020304" pitchFamily="18" charset="0"/>
              <a:cs typeface="Arial" panose="020B0604020202020204" pitchFamily="34" charset="0"/>
            </a:endParaRPr>
          </a:p>
        </p:txBody>
      </p:sp>
      <p:sp>
        <p:nvSpPr>
          <p:cNvPr id="15" name="Rectangle 10"/>
          <p:cNvSpPr>
            <a:spLocks noChangeArrowheads="1"/>
          </p:cNvSpPr>
          <p:nvPr/>
        </p:nvSpPr>
        <p:spPr bwMode="auto">
          <a:xfrm>
            <a:off x="3863975" y="2474913"/>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FF9900"/>
                </a:solidFill>
                <a:latin typeface="Times New Roman" panose="02020603050405020304" pitchFamily="18" charset="0"/>
                <a:cs typeface="Arial" panose="020B0604020202020204" pitchFamily="34" charset="0"/>
              </a:rPr>
              <a:t>1</a:t>
            </a:r>
            <a:endParaRPr lang="en-US" altLang="zh-CN" sz="1900">
              <a:solidFill>
                <a:srgbClr val="FF9900"/>
              </a:solidFill>
              <a:latin typeface="Times New Roman" panose="02020603050405020304" pitchFamily="18" charset="0"/>
              <a:cs typeface="Arial" panose="020B0604020202020204" pitchFamily="34" charset="0"/>
            </a:endParaRPr>
          </a:p>
        </p:txBody>
      </p:sp>
      <p:sp>
        <p:nvSpPr>
          <p:cNvPr id="16" name="Rectangle 11"/>
          <p:cNvSpPr>
            <a:spLocks noChangeArrowheads="1"/>
          </p:cNvSpPr>
          <p:nvPr/>
        </p:nvSpPr>
        <p:spPr bwMode="auto">
          <a:xfrm>
            <a:off x="3708400" y="2420938"/>
            <a:ext cx="1317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900">
                <a:solidFill>
                  <a:srgbClr val="FF9900"/>
                </a:solidFill>
                <a:latin typeface="Symbol" panose="05050102010706020507" pitchFamily="18" charset="2"/>
                <a:cs typeface="Arial" panose="020B0604020202020204" pitchFamily="34" charset="0"/>
              </a:rPr>
              <a:t>-</a:t>
            </a:r>
            <a:endParaRPr lang="en-US" altLang="zh-CN" sz="2000">
              <a:solidFill>
                <a:srgbClr val="FF9900"/>
              </a:solidFill>
              <a:latin typeface="Tahoma" panose="020B0604030504040204" pitchFamily="34" charset="0"/>
              <a:cs typeface="Arial" panose="020B0604020202020204" pitchFamily="34" charset="0"/>
            </a:endParaRPr>
          </a:p>
        </p:txBody>
      </p:sp>
      <p:sp>
        <p:nvSpPr>
          <p:cNvPr id="17" name="Rectangle 12"/>
          <p:cNvSpPr>
            <a:spLocks noChangeArrowheads="1"/>
          </p:cNvSpPr>
          <p:nvPr/>
        </p:nvSpPr>
        <p:spPr bwMode="auto">
          <a:xfrm>
            <a:off x="2338388" y="2328863"/>
            <a:ext cx="20161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900">
                <a:solidFill>
                  <a:srgbClr val="FF9900"/>
                </a:solidFill>
                <a:latin typeface="Symbol" panose="05050102010706020507" pitchFamily="18" charset="2"/>
                <a:cs typeface="Arial" panose="020B0604020202020204" pitchFamily="34" charset="0"/>
              </a:rPr>
              <a:t>=</a:t>
            </a:r>
            <a:endParaRPr lang="en-US" altLang="zh-CN" sz="2900">
              <a:solidFill>
                <a:srgbClr val="FF9900"/>
              </a:solidFill>
              <a:latin typeface="Symbol" panose="05050102010706020507" pitchFamily="18" charset="2"/>
              <a:cs typeface="Arial" panose="020B0604020202020204" pitchFamily="34" charset="0"/>
            </a:endParaRPr>
          </a:p>
        </p:txBody>
      </p:sp>
      <p:sp>
        <p:nvSpPr>
          <p:cNvPr id="18" name="Rectangle 13"/>
          <p:cNvSpPr>
            <a:spLocks noChangeArrowheads="1"/>
          </p:cNvSpPr>
          <p:nvPr/>
        </p:nvSpPr>
        <p:spPr bwMode="auto">
          <a:xfrm>
            <a:off x="3295650" y="3114675"/>
            <a:ext cx="29368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a:solidFill>
                  <a:srgbClr val="FF9900"/>
                </a:solidFill>
                <a:latin typeface="Times New Roman" panose="02020603050405020304" pitchFamily="18" charset="0"/>
                <a:cs typeface="Arial" panose="020B0604020202020204" pitchFamily="34" charset="0"/>
              </a:rPr>
              <a:t>H</a:t>
            </a:r>
            <a:endParaRPr lang="en-US" altLang="zh-CN" sz="3200" i="1">
              <a:solidFill>
                <a:srgbClr val="FF9900"/>
              </a:solidFill>
              <a:latin typeface="Times New Roman" panose="02020603050405020304" pitchFamily="18" charset="0"/>
              <a:cs typeface="Arial" panose="020B0604020202020204" pitchFamily="34" charset="0"/>
            </a:endParaRPr>
          </a:p>
        </p:txBody>
      </p:sp>
      <p:sp>
        <p:nvSpPr>
          <p:cNvPr id="19" name="Rectangle 14"/>
          <p:cNvSpPr>
            <a:spLocks noChangeArrowheads="1"/>
          </p:cNvSpPr>
          <p:nvPr/>
        </p:nvSpPr>
        <p:spPr bwMode="auto">
          <a:xfrm>
            <a:off x="2472910" y="3114675"/>
            <a:ext cx="2500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dirty="0">
                <a:solidFill>
                  <a:srgbClr val="FF9900"/>
                </a:solidFill>
                <a:latin typeface="Times New Roman" panose="02020603050405020304" pitchFamily="18" charset="0"/>
                <a:cs typeface="Arial" panose="020B0604020202020204" pitchFamily="34" charset="0"/>
              </a:rPr>
              <a:t>L</a:t>
            </a:r>
            <a:endParaRPr lang="en-US" altLang="zh-CN" sz="2000" dirty="0">
              <a:solidFill>
                <a:srgbClr val="FF9900"/>
              </a:solidFill>
              <a:latin typeface="Tahoma" panose="020B0604030504040204" pitchFamily="34" charset="0"/>
              <a:cs typeface="Arial" panose="020B0604020202020204" pitchFamily="34" charset="0"/>
            </a:endParaRPr>
          </a:p>
        </p:txBody>
      </p:sp>
      <p:sp>
        <p:nvSpPr>
          <p:cNvPr id="20" name="Rectangle 15"/>
          <p:cNvSpPr>
            <a:spLocks noChangeArrowheads="1"/>
          </p:cNvSpPr>
          <p:nvPr/>
        </p:nvSpPr>
        <p:spPr bwMode="auto">
          <a:xfrm>
            <a:off x="1638300" y="3114675"/>
            <a:ext cx="2476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a:solidFill>
                  <a:srgbClr val="FF9900"/>
                </a:solidFill>
                <a:latin typeface="Times New Roman" panose="02020603050405020304" pitchFamily="18" charset="0"/>
                <a:cs typeface="Arial" panose="020B0604020202020204" pitchFamily="34" charset="0"/>
              </a:rPr>
              <a:t>A</a:t>
            </a:r>
            <a:endParaRPr lang="en-US" altLang="zh-CN" sz="3200" i="1">
              <a:solidFill>
                <a:srgbClr val="FF9900"/>
              </a:solidFill>
              <a:latin typeface="Times New Roman" panose="02020603050405020304" pitchFamily="18" charset="0"/>
              <a:cs typeface="Arial" panose="020B0604020202020204" pitchFamily="34" charset="0"/>
            </a:endParaRPr>
          </a:p>
        </p:txBody>
      </p:sp>
      <p:sp>
        <p:nvSpPr>
          <p:cNvPr id="21" name="Rectangle 16"/>
          <p:cNvSpPr>
            <a:spLocks noChangeArrowheads="1"/>
          </p:cNvSpPr>
          <p:nvPr/>
        </p:nvSpPr>
        <p:spPr bwMode="auto">
          <a:xfrm>
            <a:off x="3625850" y="3262313"/>
            <a:ext cx="746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i</a:t>
            </a:r>
            <a:endParaRPr lang="en-US" altLang="zh-CN" sz="2100" i="1">
              <a:solidFill>
                <a:srgbClr val="FF9900"/>
              </a:solidFill>
              <a:latin typeface="Times New Roman" panose="02020603050405020304" pitchFamily="18" charset="0"/>
              <a:cs typeface="Arial" panose="020B0604020202020204" pitchFamily="34" charset="0"/>
            </a:endParaRPr>
          </a:p>
        </p:txBody>
      </p:sp>
      <p:sp>
        <p:nvSpPr>
          <p:cNvPr id="22" name="Rectangle 17"/>
          <p:cNvSpPr>
            <a:spLocks noChangeArrowheads="1"/>
          </p:cNvSpPr>
          <p:nvPr/>
        </p:nvSpPr>
        <p:spPr bwMode="auto">
          <a:xfrm>
            <a:off x="2830513" y="3032125"/>
            <a:ext cx="1476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T</a:t>
            </a:r>
            <a:endParaRPr lang="en-US" altLang="zh-CN" sz="2100" i="1">
              <a:solidFill>
                <a:srgbClr val="FF9900"/>
              </a:solidFill>
              <a:latin typeface="Times New Roman" panose="02020603050405020304" pitchFamily="18" charset="0"/>
              <a:cs typeface="Arial" panose="020B0604020202020204" pitchFamily="34" charset="0"/>
            </a:endParaRPr>
          </a:p>
        </p:txBody>
      </p:sp>
      <p:sp>
        <p:nvSpPr>
          <p:cNvPr id="23" name="Rectangle 18"/>
          <p:cNvSpPr>
            <a:spLocks noChangeArrowheads="1"/>
          </p:cNvSpPr>
          <p:nvPr/>
        </p:nvSpPr>
        <p:spPr bwMode="auto">
          <a:xfrm>
            <a:off x="1881188" y="3262313"/>
            <a:ext cx="7461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i</a:t>
            </a:r>
            <a:endParaRPr lang="en-US" altLang="zh-CN" sz="2100" i="1">
              <a:solidFill>
                <a:srgbClr val="FF9900"/>
              </a:solidFill>
              <a:latin typeface="Times New Roman" panose="02020603050405020304" pitchFamily="18" charset="0"/>
              <a:cs typeface="Arial" panose="020B0604020202020204" pitchFamily="34" charset="0"/>
            </a:endParaRPr>
          </a:p>
        </p:txBody>
      </p:sp>
      <p:sp>
        <p:nvSpPr>
          <p:cNvPr id="24" name="Rectangle 19"/>
          <p:cNvSpPr>
            <a:spLocks noChangeArrowheads="1"/>
          </p:cNvSpPr>
          <p:nvPr/>
        </p:nvSpPr>
        <p:spPr bwMode="auto">
          <a:xfrm>
            <a:off x="3057525" y="3213100"/>
            <a:ext cx="203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a:solidFill>
                  <a:srgbClr val="FF9900"/>
                </a:solidFill>
                <a:latin typeface="Times New Roman" panose="02020603050405020304" pitchFamily="18" charset="0"/>
                <a:cs typeface="Arial" panose="020B0604020202020204" pitchFamily="34" charset="0"/>
              </a:rPr>
              <a:t>*</a:t>
            </a:r>
            <a:endParaRPr lang="en-US" altLang="zh-CN" sz="3200">
              <a:solidFill>
                <a:srgbClr val="FF9900"/>
              </a:solidFill>
              <a:latin typeface="Times New Roman" panose="02020603050405020304" pitchFamily="18" charset="0"/>
              <a:cs typeface="Arial" panose="020B0604020202020204" pitchFamily="34" charset="0"/>
            </a:endParaRPr>
          </a:p>
        </p:txBody>
      </p:sp>
      <p:sp>
        <p:nvSpPr>
          <p:cNvPr id="25" name="Rectangle 20"/>
          <p:cNvSpPr>
            <a:spLocks noChangeArrowheads="1"/>
          </p:cNvSpPr>
          <p:nvPr/>
        </p:nvSpPr>
        <p:spPr bwMode="auto">
          <a:xfrm>
            <a:off x="3852863" y="3262313"/>
            <a:ext cx="1333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FF9900"/>
                </a:solidFill>
                <a:latin typeface="Times New Roman" panose="02020603050405020304" pitchFamily="18" charset="0"/>
                <a:cs typeface="Arial" panose="020B0604020202020204" pitchFamily="34" charset="0"/>
              </a:rPr>
              <a:t>1</a:t>
            </a:r>
            <a:endParaRPr lang="en-US" altLang="zh-CN" sz="2100">
              <a:solidFill>
                <a:srgbClr val="FF9900"/>
              </a:solidFill>
              <a:latin typeface="Times New Roman" panose="02020603050405020304" pitchFamily="18" charset="0"/>
              <a:cs typeface="Arial" panose="020B0604020202020204" pitchFamily="34" charset="0"/>
            </a:endParaRPr>
          </a:p>
        </p:txBody>
      </p:sp>
      <p:sp>
        <p:nvSpPr>
          <p:cNvPr id="26" name="Rectangle 21"/>
          <p:cNvSpPr>
            <a:spLocks noChangeArrowheads="1"/>
          </p:cNvSpPr>
          <p:nvPr/>
        </p:nvSpPr>
        <p:spPr bwMode="auto">
          <a:xfrm>
            <a:off x="3706813" y="3230563"/>
            <a:ext cx="1460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FF9900"/>
                </a:solidFill>
                <a:latin typeface="Symbol" panose="05050102010706020507" pitchFamily="18" charset="2"/>
                <a:cs typeface="Arial" panose="020B0604020202020204" pitchFamily="34" charset="0"/>
              </a:rPr>
              <a:t>-</a:t>
            </a:r>
            <a:endParaRPr lang="en-US" altLang="zh-CN" sz="2100">
              <a:solidFill>
                <a:srgbClr val="FF9900"/>
              </a:solidFill>
              <a:latin typeface="Symbol" panose="05050102010706020507" pitchFamily="18" charset="2"/>
              <a:cs typeface="Arial" panose="020B0604020202020204" pitchFamily="34" charset="0"/>
            </a:endParaRPr>
          </a:p>
        </p:txBody>
      </p:sp>
      <p:sp>
        <p:nvSpPr>
          <p:cNvPr id="27" name="Rectangle 22"/>
          <p:cNvSpPr>
            <a:spLocks noChangeArrowheads="1"/>
          </p:cNvSpPr>
          <p:nvPr/>
        </p:nvSpPr>
        <p:spPr bwMode="auto">
          <a:xfrm>
            <a:off x="2084388" y="3090863"/>
            <a:ext cx="22383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a:solidFill>
                  <a:srgbClr val="FF9900"/>
                </a:solidFill>
                <a:latin typeface="Symbol" panose="05050102010706020507" pitchFamily="18" charset="2"/>
                <a:cs typeface="Arial" panose="020B0604020202020204" pitchFamily="34" charset="0"/>
              </a:rPr>
              <a:t>=</a:t>
            </a:r>
            <a:endParaRPr lang="en-US" altLang="zh-CN" sz="3200">
              <a:solidFill>
                <a:srgbClr val="FF9900"/>
              </a:solidFill>
              <a:latin typeface="Symbol" panose="05050102010706020507" pitchFamily="18" charset="2"/>
              <a:cs typeface="Arial" panose="020B0604020202020204" pitchFamily="34" charset="0"/>
            </a:endParaRPr>
          </a:p>
        </p:txBody>
      </p:sp>
      <p:grpSp>
        <p:nvGrpSpPr>
          <p:cNvPr id="28" name="Group 23"/>
          <p:cNvGrpSpPr/>
          <p:nvPr/>
        </p:nvGrpSpPr>
        <p:grpSpPr bwMode="auto">
          <a:xfrm>
            <a:off x="4157663" y="2395538"/>
            <a:ext cx="3489325" cy="1258887"/>
            <a:chOff x="3408" y="2730"/>
            <a:chExt cx="2198" cy="793"/>
          </a:xfrm>
        </p:grpSpPr>
        <p:sp>
          <p:nvSpPr>
            <p:cNvPr id="29" name="Line 24"/>
            <p:cNvSpPr>
              <a:spLocks noChangeShapeType="1"/>
            </p:cNvSpPr>
            <p:nvPr/>
          </p:nvSpPr>
          <p:spPr bwMode="auto">
            <a:xfrm>
              <a:off x="3408" y="2880"/>
              <a:ext cx="19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5"/>
            <p:cNvSpPr>
              <a:spLocks noChangeShapeType="1"/>
            </p:cNvSpPr>
            <p:nvPr/>
          </p:nvSpPr>
          <p:spPr bwMode="auto">
            <a:xfrm>
              <a:off x="3408" y="3360"/>
              <a:ext cx="19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 name="Rectangle 26"/>
            <p:cNvSpPr>
              <a:spLocks noChangeArrowheads="1"/>
            </p:cNvSpPr>
            <p:nvPr/>
          </p:nvSpPr>
          <p:spPr bwMode="auto">
            <a:xfrm>
              <a:off x="4949" y="2745"/>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i="1">
                  <a:solidFill>
                    <a:srgbClr val="FF9900"/>
                  </a:solidFill>
                  <a:latin typeface="Times New Roman" panose="02020603050405020304" pitchFamily="18" charset="0"/>
                  <a:cs typeface="Arial" panose="020B0604020202020204" pitchFamily="34" charset="0"/>
                </a:rPr>
                <a:t>H</a:t>
              </a:r>
              <a:endParaRPr lang="en-US" altLang="zh-CN" sz="2800" i="1">
                <a:solidFill>
                  <a:srgbClr val="FF9900"/>
                </a:solidFill>
                <a:latin typeface="Times New Roman" panose="02020603050405020304" pitchFamily="18" charset="0"/>
                <a:cs typeface="Arial" panose="020B0604020202020204" pitchFamily="34" charset="0"/>
              </a:endParaRPr>
            </a:p>
          </p:txBody>
        </p:sp>
        <p:sp>
          <p:nvSpPr>
            <p:cNvPr id="32" name="Rectangle 27"/>
            <p:cNvSpPr>
              <a:spLocks noChangeArrowheads="1"/>
            </p:cNvSpPr>
            <p:nvPr/>
          </p:nvSpPr>
          <p:spPr bwMode="auto">
            <a:xfrm>
              <a:off x="4644" y="2774"/>
              <a:ext cx="1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i="1" dirty="0">
                  <a:solidFill>
                    <a:srgbClr val="FF9900"/>
                  </a:solidFill>
                  <a:latin typeface="Times New Roman" panose="02020603050405020304" pitchFamily="18" charset="0"/>
                  <a:cs typeface="Arial" panose="020B0604020202020204" pitchFamily="34" charset="0"/>
                </a:rPr>
                <a:t>L</a:t>
              </a:r>
              <a:endParaRPr lang="en-US" altLang="zh-CN" sz="2800" i="1" dirty="0">
                <a:solidFill>
                  <a:srgbClr val="FF9900"/>
                </a:solidFill>
                <a:latin typeface="Times New Roman" panose="02020603050405020304" pitchFamily="18" charset="0"/>
                <a:cs typeface="Arial" panose="020B0604020202020204" pitchFamily="34" charset="0"/>
              </a:endParaRPr>
            </a:p>
          </p:txBody>
        </p:sp>
        <p:sp>
          <p:nvSpPr>
            <p:cNvPr id="33" name="Rectangle 28"/>
            <p:cNvSpPr>
              <a:spLocks noChangeArrowheads="1"/>
            </p:cNvSpPr>
            <p:nvPr/>
          </p:nvSpPr>
          <p:spPr bwMode="auto">
            <a:xfrm>
              <a:off x="4245" y="2747"/>
              <a:ext cx="1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i="1" dirty="0">
                  <a:solidFill>
                    <a:srgbClr val="FF9900"/>
                  </a:solidFill>
                  <a:latin typeface="Times New Roman" panose="02020603050405020304" pitchFamily="18" charset="0"/>
                  <a:cs typeface="Arial" panose="020B0604020202020204" pitchFamily="34" charset="0"/>
                </a:rPr>
                <a:t>L</a:t>
              </a:r>
              <a:endParaRPr lang="en-US" altLang="zh-CN" sz="2800" i="1" dirty="0">
                <a:solidFill>
                  <a:srgbClr val="FF9900"/>
                </a:solidFill>
                <a:latin typeface="Times New Roman" panose="02020603050405020304" pitchFamily="18" charset="0"/>
                <a:cs typeface="Arial" panose="020B0604020202020204" pitchFamily="34" charset="0"/>
              </a:endParaRPr>
            </a:p>
          </p:txBody>
        </p:sp>
        <p:sp>
          <p:nvSpPr>
            <p:cNvPr id="34" name="Rectangle 29"/>
            <p:cNvSpPr>
              <a:spLocks noChangeArrowheads="1"/>
            </p:cNvSpPr>
            <p:nvPr/>
          </p:nvSpPr>
          <p:spPr bwMode="auto">
            <a:xfrm>
              <a:off x="3803" y="2747"/>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i="1">
                  <a:solidFill>
                    <a:srgbClr val="FF9900"/>
                  </a:solidFill>
                  <a:latin typeface="Times New Roman" panose="02020603050405020304" pitchFamily="18" charset="0"/>
                  <a:cs typeface="Arial" panose="020B0604020202020204" pitchFamily="34" charset="0"/>
                </a:rPr>
                <a:t>H</a:t>
              </a:r>
              <a:endParaRPr lang="en-US" altLang="zh-CN" sz="2800" i="1">
                <a:solidFill>
                  <a:srgbClr val="FF9900"/>
                </a:solidFill>
                <a:latin typeface="Times New Roman" panose="02020603050405020304" pitchFamily="18" charset="0"/>
                <a:cs typeface="Arial" panose="020B0604020202020204" pitchFamily="34" charset="0"/>
              </a:endParaRPr>
            </a:p>
          </p:txBody>
        </p:sp>
        <p:sp>
          <p:nvSpPr>
            <p:cNvPr id="35" name="Rectangle 30"/>
            <p:cNvSpPr>
              <a:spLocks noChangeArrowheads="1"/>
            </p:cNvSpPr>
            <p:nvPr/>
          </p:nvSpPr>
          <p:spPr bwMode="auto">
            <a:xfrm>
              <a:off x="4833" y="273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i="1">
                  <a:solidFill>
                    <a:srgbClr val="FF9900"/>
                  </a:solidFill>
                  <a:latin typeface="Times New Roman" panose="02020603050405020304" pitchFamily="18" charset="0"/>
                  <a:cs typeface="Arial" panose="020B0604020202020204" pitchFamily="34" charset="0"/>
                </a:rPr>
                <a:t>T</a:t>
              </a:r>
              <a:endParaRPr lang="en-US" altLang="zh-CN" i="1">
                <a:solidFill>
                  <a:srgbClr val="FF9900"/>
                </a:solidFill>
                <a:latin typeface="Times New Roman" panose="02020603050405020304" pitchFamily="18" charset="0"/>
                <a:cs typeface="Arial" panose="020B0604020202020204" pitchFamily="34" charset="0"/>
              </a:endParaRPr>
            </a:p>
          </p:txBody>
        </p:sp>
        <p:sp>
          <p:nvSpPr>
            <p:cNvPr id="36" name="Rectangle 31"/>
            <p:cNvSpPr>
              <a:spLocks noChangeArrowheads="1"/>
            </p:cNvSpPr>
            <p:nvPr/>
          </p:nvSpPr>
          <p:spPr bwMode="auto">
            <a:xfrm>
              <a:off x="5135" y="2855"/>
              <a:ext cx="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i="1">
                  <a:solidFill>
                    <a:srgbClr val="FF9900"/>
                  </a:solidFill>
                  <a:latin typeface="Times New Roman" panose="02020603050405020304" pitchFamily="18" charset="0"/>
                  <a:cs typeface="Arial" panose="020B0604020202020204" pitchFamily="34" charset="0"/>
                </a:rPr>
                <a:t>i</a:t>
              </a:r>
              <a:endParaRPr lang="en-US" altLang="zh-CN" i="1">
                <a:solidFill>
                  <a:srgbClr val="FF9900"/>
                </a:solidFill>
                <a:latin typeface="Times New Roman" panose="02020603050405020304" pitchFamily="18" charset="0"/>
                <a:cs typeface="Arial" panose="020B0604020202020204" pitchFamily="34" charset="0"/>
              </a:endParaRPr>
            </a:p>
          </p:txBody>
        </p:sp>
        <p:sp>
          <p:nvSpPr>
            <p:cNvPr id="37" name="Rectangle 32"/>
            <p:cNvSpPr>
              <a:spLocks noChangeArrowheads="1"/>
            </p:cNvSpPr>
            <p:nvPr/>
          </p:nvSpPr>
          <p:spPr bwMode="auto">
            <a:xfrm>
              <a:off x="3989" y="2828"/>
              <a:ext cx="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i="1">
                  <a:solidFill>
                    <a:srgbClr val="FF9900"/>
                  </a:solidFill>
                  <a:latin typeface="Times New Roman" panose="02020603050405020304" pitchFamily="18" charset="0"/>
                  <a:cs typeface="Arial" panose="020B0604020202020204" pitchFamily="34" charset="0"/>
                </a:rPr>
                <a:t>i</a:t>
              </a:r>
              <a:endParaRPr lang="en-US" altLang="zh-CN" i="1">
                <a:solidFill>
                  <a:srgbClr val="FF9900"/>
                </a:solidFill>
                <a:latin typeface="Times New Roman" panose="02020603050405020304" pitchFamily="18" charset="0"/>
                <a:cs typeface="Arial" panose="020B0604020202020204" pitchFamily="34" charset="0"/>
              </a:endParaRPr>
            </a:p>
          </p:txBody>
        </p:sp>
        <p:sp>
          <p:nvSpPr>
            <p:cNvPr id="38" name="Rectangle 33"/>
            <p:cNvSpPr>
              <a:spLocks noChangeArrowheads="1"/>
            </p:cNvSpPr>
            <p:nvPr/>
          </p:nvSpPr>
          <p:spPr bwMode="auto">
            <a:xfrm>
              <a:off x="4464" y="2803"/>
              <a:ext cx="1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a:solidFill>
                    <a:srgbClr val="FF9900"/>
                  </a:solidFill>
                  <a:latin typeface="Times New Roman" panose="02020603050405020304" pitchFamily="18" charset="0"/>
                  <a:cs typeface="Arial" panose="020B0604020202020204" pitchFamily="34" charset="0"/>
                </a:rPr>
                <a:t>*</a:t>
              </a:r>
              <a:endParaRPr lang="en-US" altLang="zh-CN" sz="2800">
                <a:solidFill>
                  <a:srgbClr val="FF9900"/>
                </a:solidFill>
                <a:latin typeface="Times New Roman" panose="02020603050405020304" pitchFamily="18" charset="0"/>
                <a:cs typeface="Arial" panose="020B0604020202020204" pitchFamily="34" charset="0"/>
              </a:endParaRPr>
            </a:p>
          </p:txBody>
        </p:sp>
        <p:sp>
          <p:nvSpPr>
            <p:cNvPr id="39" name="Rectangle 34"/>
            <p:cNvSpPr>
              <a:spLocks noChangeArrowheads="1"/>
            </p:cNvSpPr>
            <p:nvPr/>
          </p:nvSpPr>
          <p:spPr bwMode="auto">
            <a:xfrm>
              <a:off x="5257" y="2855"/>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a:solidFill>
                    <a:srgbClr val="FF9900"/>
                  </a:solidFill>
                  <a:latin typeface="Times New Roman" panose="02020603050405020304" pitchFamily="18" charset="0"/>
                  <a:cs typeface="Arial" panose="020B0604020202020204" pitchFamily="34" charset="0"/>
                </a:rPr>
                <a:t>1</a:t>
              </a:r>
              <a:endParaRPr lang="en-US" altLang="zh-CN">
                <a:solidFill>
                  <a:srgbClr val="FF9900"/>
                </a:solidFill>
                <a:latin typeface="Times New Roman" panose="02020603050405020304" pitchFamily="18" charset="0"/>
                <a:cs typeface="Arial" panose="020B0604020202020204" pitchFamily="34" charset="0"/>
              </a:endParaRPr>
            </a:p>
          </p:txBody>
        </p:sp>
        <p:sp>
          <p:nvSpPr>
            <p:cNvPr id="40" name="Rectangle 35"/>
            <p:cNvSpPr>
              <a:spLocks noChangeArrowheads="1"/>
            </p:cNvSpPr>
            <p:nvPr/>
          </p:nvSpPr>
          <p:spPr bwMode="auto">
            <a:xfrm>
              <a:off x="5185" y="2838"/>
              <a:ext cx="7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a:solidFill>
                    <a:srgbClr val="FF9900"/>
                  </a:solidFill>
                  <a:latin typeface="Symbol" panose="05050102010706020507" pitchFamily="18" charset="2"/>
                  <a:cs typeface="Arial" panose="020B0604020202020204" pitchFamily="34" charset="0"/>
                </a:rPr>
                <a:t>-</a:t>
              </a:r>
              <a:endParaRPr lang="en-US" altLang="zh-CN" sz="2000">
                <a:solidFill>
                  <a:srgbClr val="FF9900"/>
                </a:solidFill>
                <a:latin typeface="Tahoma" panose="020B0604030504040204" pitchFamily="34" charset="0"/>
                <a:cs typeface="Arial" panose="020B0604020202020204" pitchFamily="34" charset="0"/>
              </a:endParaRPr>
            </a:p>
          </p:txBody>
        </p:sp>
        <p:sp>
          <p:nvSpPr>
            <p:cNvPr id="41" name="Rectangle 36"/>
            <p:cNvSpPr>
              <a:spLocks noChangeArrowheads="1"/>
            </p:cNvSpPr>
            <p:nvPr/>
          </p:nvSpPr>
          <p:spPr bwMode="auto">
            <a:xfrm>
              <a:off x="4066" y="2736"/>
              <a:ext cx="12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800">
                  <a:solidFill>
                    <a:srgbClr val="FF9900"/>
                  </a:solidFill>
                  <a:latin typeface="Symbol" panose="05050102010706020507" pitchFamily="18" charset="2"/>
                  <a:cs typeface="Arial" panose="020B0604020202020204" pitchFamily="34" charset="0"/>
                </a:rPr>
                <a:t>=</a:t>
              </a:r>
              <a:endParaRPr lang="en-US" altLang="zh-CN" sz="2800">
                <a:solidFill>
                  <a:srgbClr val="FF9900"/>
                </a:solidFill>
                <a:latin typeface="Symbol" panose="05050102010706020507" pitchFamily="18" charset="2"/>
                <a:cs typeface="Arial" panose="020B0604020202020204" pitchFamily="34" charset="0"/>
              </a:endParaRPr>
            </a:p>
          </p:txBody>
        </p:sp>
        <p:sp>
          <p:nvSpPr>
            <p:cNvPr id="42" name="Rectangle 37"/>
            <p:cNvSpPr>
              <a:spLocks noChangeArrowheads="1"/>
            </p:cNvSpPr>
            <p:nvPr/>
          </p:nvSpPr>
          <p:spPr bwMode="auto">
            <a:xfrm>
              <a:off x="5197" y="3182"/>
              <a:ext cx="1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a:solidFill>
                    <a:srgbClr val="FF9900"/>
                  </a:solidFill>
                  <a:latin typeface="Times New Roman" panose="02020603050405020304" pitchFamily="18" charset="0"/>
                  <a:cs typeface="Arial" panose="020B0604020202020204" pitchFamily="34" charset="0"/>
                </a:rPr>
                <a:t>A</a:t>
              </a:r>
              <a:endParaRPr lang="en-US" altLang="zh-CN" sz="3200" i="1">
                <a:solidFill>
                  <a:srgbClr val="FF9900"/>
                </a:solidFill>
                <a:latin typeface="Times New Roman" panose="02020603050405020304" pitchFamily="18" charset="0"/>
                <a:cs typeface="Arial" panose="020B0604020202020204" pitchFamily="34" charset="0"/>
              </a:endParaRPr>
            </a:p>
          </p:txBody>
        </p:sp>
        <p:sp>
          <p:nvSpPr>
            <p:cNvPr id="43" name="Rectangle 38"/>
            <p:cNvSpPr>
              <a:spLocks noChangeArrowheads="1"/>
            </p:cNvSpPr>
            <p:nvPr/>
          </p:nvSpPr>
          <p:spPr bwMode="auto">
            <a:xfrm>
              <a:off x="4799" y="3182"/>
              <a:ext cx="15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dirty="0">
                  <a:solidFill>
                    <a:srgbClr val="FF9900"/>
                  </a:solidFill>
                  <a:latin typeface="Times New Roman" panose="02020603050405020304" pitchFamily="18" charset="0"/>
                  <a:cs typeface="Arial" panose="020B0604020202020204" pitchFamily="34" charset="0"/>
                </a:rPr>
                <a:t>L</a:t>
              </a:r>
              <a:endParaRPr lang="en-US" altLang="zh-CN" sz="3200" i="1" dirty="0">
                <a:solidFill>
                  <a:srgbClr val="FF9900"/>
                </a:solidFill>
                <a:latin typeface="Times New Roman" panose="02020603050405020304" pitchFamily="18" charset="0"/>
                <a:cs typeface="Arial" panose="020B0604020202020204" pitchFamily="34" charset="0"/>
              </a:endParaRPr>
            </a:p>
          </p:txBody>
        </p:sp>
        <p:sp>
          <p:nvSpPr>
            <p:cNvPr id="44" name="Rectangle 39"/>
            <p:cNvSpPr>
              <a:spLocks noChangeArrowheads="1"/>
            </p:cNvSpPr>
            <p:nvPr/>
          </p:nvSpPr>
          <p:spPr bwMode="auto">
            <a:xfrm>
              <a:off x="4262" y="3182"/>
              <a:ext cx="15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dirty="0">
                  <a:solidFill>
                    <a:srgbClr val="FF9900"/>
                  </a:solidFill>
                  <a:latin typeface="Times New Roman" panose="02020603050405020304" pitchFamily="18" charset="0"/>
                  <a:cs typeface="Arial" panose="020B0604020202020204" pitchFamily="34" charset="0"/>
                </a:rPr>
                <a:t>L</a:t>
              </a:r>
              <a:endParaRPr lang="en-US" altLang="zh-CN" sz="3200" i="1" dirty="0">
                <a:solidFill>
                  <a:srgbClr val="FF9900"/>
                </a:solidFill>
                <a:latin typeface="Times New Roman" panose="02020603050405020304" pitchFamily="18" charset="0"/>
                <a:cs typeface="Arial" panose="020B0604020202020204" pitchFamily="34" charset="0"/>
              </a:endParaRPr>
            </a:p>
          </p:txBody>
        </p:sp>
        <p:sp>
          <p:nvSpPr>
            <p:cNvPr id="45" name="Rectangle 40"/>
            <p:cNvSpPr>
              <a:spLocks noChangeArrowheads="1"/>
            </p:cNvSpPr>
            <p:nvPr/>
          </p:nvSpPr>
          <p:spPr bwMode="auto">
            <a:xfrm>
              <a:off x="3740" y="3182"/>
              <a:ext cx="1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i="1">
                  <a:solidFill>
                    <a:srgbClr val="FF9900"/>
                  </a:solidFill>
                  <a:latin typeface="Times New Roman" panose="02020603050405020304" pitchFamily="18" charset="0"/>
                  <a:cs typeface="Arial" panose="020B0604020202020204" pitchFamily="34" charset="0"/>
                </a:rPr>
                <a:t>A</a:t>
              </a:r>
              <a:endParaRPr lang="en-US" altLang="zh-CN" sz="2000">
                <a:solidFill>
                  <a:srgbClr val="FF9900"/>
                </a:solidFill>
                <a:latin typeface="Tahoma" panose="020B0604030504040204" pitchFamily="34" charset="0"/>
                <a:cs typeface="Arial" panose="020B0604020202020204" pitchFamily="34" charset="0"/>
              </a:endParaRPr>
            </a:p>
          </p:txBody>
        </p:sp>
        <p:sp>
          <p:nvSpPr>
            <p:cNvPr id="46" name="Rectangle 41"/>
            <p:cNvSpPr>
              <a:spLocks noChangeArrowheads="1"/>
            </p:cNvSpPr>
            <p:nvPr/>
          </p:nvSpPr>
          <p:spPr bwMode="auto">
            <a:xfrm>
              <a:off x="5350" y="3274"/>
              <a:ext cx="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i</a:t>
              </a:r>
              <a:endParaRPr lang="en-US" altLang="zh-CN" sz="2100" i="1">
                <a:solidFill>
                  <a:srgbClr val="FF9900"/>
                </a:solidFill>
                <a:latin typeface="Times New Roman" panose="02020603050405020304" pitchFamily="18" charset="0"/>
                <a:cs typeface="Arial" panose="020B0604020202020204" pitchFamily="34" charset="0"/>
              </a:endParaRPr>
            </a:p>
          </p:txBody>
        </p:sp>
        <p:sp>
          <p:nvSpPr>
            <p:cNvPr id="47" name="Rectangle 42"/>
            <p:cNvSpPr>
              <a:spLocks noChangeArrowheads="1"/>
            </p:cNvSpPr>
            <p:nvPr/>
          </p:nvSpPr>
          <p:spPr bwMode="auto">
            <a:xfrm>
              <a:off x="4484" y="3130"/>
              <a:ext cx="9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T</a:t>
              </a:r>
              <a:endParaRPr lang="en-US" altLang="zh-CN" sz="2000">
                <a:solidFill>
                  <a:srgbClr val="FF9900"/>
                </a:solidFill>
                <a:latin typeface="Tahoma" panose="020B0604030504040204" pitchFamily="34" charset="0"/>
                <a:cs typeface="Arial" panose="020B0604020202020204" pitchFamily="34" charset="0"/>
              </a:endParaRPr>
            </a:p>
          </p:txBody>
        </p:sp>
        <p:sp>
          <p:nvSpPr>
            <p:cNvPr id="48" name="Rectangle 43"/>
            <p:cNvSpPr>
              <a:spLocks noChangeArrowheads="1"/>
            </p:cNvSpPr>
            <p:nvPr/>
          </p:nvSpPr>
          <p:spPr bwMode="auto">
            <a:xfrm>
              <a:off x="3892" y="3274"/>
              <a:ext cx="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i="1">
                  <a:solidFill>
                    <a:srgbClr val="FF9900"/>
                  </a:solidFill>
                  <a:latin typeface="Times New Roman" panose="02020603050405020304" pitchFamily="18" charset="0"/>
                  <a:cs typeface="Arial" panose="020B0604020202020204" pitchFamily="34" charset="0"/>
                </a:rPr>
                <a:t>i</a:t>
              </a:r>
              <a:endParaRPr lang="en-US" altLang="zh-CN" sz="2100" i="1">
                <a:solidFill>
                  <a:srgbClr val="FF9900"/>
                </a:solidFill>
                <a:latin typeface="Times New Roman" panose="02020603050405020304" pitchFamily="18" charset="0"/>
                <a:cs typeface="Arial" panose="020B0604020202020204" pitchFamily="34" charset="0"/>
              </a:endParaRPr>
            </a:p>
          </p:txBody>
        </p:sp>
        <p:sp>
          <p:nvSpPr>
            <p:cNvPr id="49" name="Rectangle 44"/>
            <p:cNvSpPr>
              <a:spLocks noChangeArrowheads="1"/>
            </p:cNvSpPr>
            <p:nvPr/>
          </p:nvSpPr>
          <p:spPr bwMode="auto">
            <a:xfrm>
              <a:off x="5036" y="32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a:solidFill>
                    <a:srgbClr val="FF9900"/>
                  </a:solidFill>
                  <a:latin typeface="Times New Roman" panose="02020603050405020304" pitchFamily="18" charset="0"/>
                  <a:cs typeface="Arial" panose="020B0604020202020204" pitchFamily="34" charset="0"/>
                </a:rPr>
                <a:t>*</a:t>
              </a:r>
              <a:endParaRPr lang="en-US" altLang="zh-CN" sz="3200">
                <a:solidFill>
                  <a:srgbClr val="FF9900"/>
                </a:solidFill>
                <a:latin typeface="Times New Roman" panose="02020603050405020304" pitchFamily="18" charset="0"/>
                <a:cs typeface="Arial" panose="020B0604020202020204" pitchFamily="34" charset="0"/>
              </a:endParaRPr>
            </a:p>
          </p:txBody>
        </p:sp>
        <p:sp>
          <p:nvSpPr>
            <p:cNvPr id="50" name="Rectangle 45"/>
            <p:cNvSpPr>
              <a:spLocks noChangeArrowheads="1"/>
            </p:cNvSpPr>
            <p:nvPr/>
          </p:nvSpPr>
          <p:spPr bwMode="auto">
            <a:xfrm>
              <a:off x="4626" y="32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a:solidFill>
                    <a:srgbClr val="FF9900"/>
                  </a:solidFill>
                  <a:latin typeface="Times New Roman" panose="02020603050405020304" pitchFamily="18" charset="0"/>
                  <a:cs typeface="Arial" panose="020B0604020202020204" pitchFamily="34" charset="0"/>
                </a:rPr>
                <a:t>*</a:t>
              </a:r>
              <a:endParaRPr lang="en-US" altLang="zh-CN" sz="3200">
                <a:solidFill>
                  <a:srgbClr val="FF9900"/>
                </a:solidFill>
                <a:latin typeface="Times New Roman" panose="02020603050405020304" pitchFamily="18" charset="0"/>
                <a:cs typeface="Arial" panose="020B0604020202020204" pitchFamily="34" charset="0"/>
              </a:endParaRPr>
            </a:p>
          </p:txBody>
        </p:sp>
        <p:sp>
          <p:nvSpPr>
            <p:cNvPr id="51" name="Rectangle 46"/>
            <p:cNvSpPr>
              <a:spLocks noChangeArrowheads="1"/>
            </p:cNvSpPr>
            <p:nvPr/>
          </p:nvSpPr>
          <p:spPr bwMode="auto">
            <a:xfrm>
              <a:off x="5522" y="3274"/>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FF9900"/>
                  </a:solidFill>
                  <a:latin typeface="Times New Roman" panose="02020603050405020304" pitchFamily="18" charset="0"/>
                  <a:cs typeface="Arial" panose="020B0604020202020204" pitchFamily="34" charset="0"/>
                </a:rPr>
                <a:t>1</a:t>
              </a:r>
              <a:endParaRPr lang="en-US" altLang="zh-CN" sz="2100">
                <a:solidFill>
                  <a:srgbClr val="FF9900"/>
                </a:solidFill>
                <a:latin typeface="Times New Roman" panose="02020603050405020304" pitchFamily="18" charset="0"/>
                <a:cs typeface="Arial" panose="020B0604020202020204" pitchFamily="34" charset="0"/>
              </a:endParaRPr>
            </a:p>
          </p:txBody>
        </p:sp>
        <p:sp>
          <p:nvSpPr>
            <p:cNvPr id="52" name="Rectangle 47"/>
            <p:cNvSpPr>
              <a:spLocks noChangeArrowheads="1"/>
            </p:cNvSpPr>
            <p:nvPr/>
          </p:nvSpPr>
          <p:spPr bwMode="auto">
            <a:xfrm>
              <a:off x="5424" y="3255"/>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FF9900"/>
                  </a:solidFill>
                  <a:latin typeface="Symbol" panose="05050102010706020507" pitchFamily="18" charset="2"/>
                  <a:cs typeface="Arial" panose="020B0604020202020204" pitchFamily="34" charset="0"/>
                </a:rPr>
                <a:t>-</a:t>
              </a:r>
              <a:endParaRPr lang="en-US" altLang="zh-CN" sz="2000">
                <a:solidFill>
                  <a:srgbClr val="FF9900"/>
                </a:solidFill>
                <a:latin typeface="Tahoma" panose="020B0604030504040204" pitchFamily="34" charset="0"/>
                <a:cs typeface="Arial" panose="020B0604020202020204" pitchFamily="34" charset="0"/>
              </a:endParaRPr>
            </a:p>
          </p:txBody>
        </p:sp>
        <p:sp>
          <p:nvSpPr>
            <p:cNvPr id="53" name="Rectangle 48"/>
            <p:cNvSpPr>
              <a:spLocks noChangeArrowheads="1"/>
            </p:cNvSpPr>
            <p:nvPr/>
          </p:nvSpPr>
          <p:spPr bwMode="auto">
            <a:xfrm>
              <a:off x="4018" y="3168"/>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3200">
                  <a:solidFill>
                    <a:srgbClr val="FF9900"/>
                  </a:solidFill>
                  <a:latin typeface="Symbol" panose="05050102010706020507" pitchFamily="18" charset="2"/>
                  <a:cs typeface="Arial" panose="020B0604020202020204" pitchFamily="34" charset="0"/>
                </a:rPr>
                <a:t>=</a:t>
              </a:r>
              <a:endParaRPr lang="en-US" altLang="zh-CN" sz="3200">
                <a:solidFill>
                  <a:srgbClr val="FF9900"/>
                </a:solidFill>
                <a:latin typeface="Symbol" panose="05050102010706020507" pitchFamily="18" charset="2"/>
                <a:cs typeface="Arial" panose="020B0604020202020204" pitchFamily="34" charset="0"/>
              </a:endParaRPr>
            </a:p>
          </p:txBody>
        </p:sp>
      </p:grpSp>
      <p:grpSp>
        <p:nvGrpSpPr>
          <p:cNvPr id="54" name="Group 49"/>
          <p:cNvGrpSpPr/>
          <p:nvPr/>
        </p:nvGrpSpPr>
        <p:grpSpPr bwMode="auto">
          <a:xfrm>
            <a:off x="1490663" y="2252663"/>
            <a:ext cx="2514600" cy="1447800"/>
            <a:chOff x="1728" y="2640"/>
            <a:chExt cx="1584" cy="912"/>
          </a:xfrm>
        </p:grpSpPr>
        <p:sp>
          <p:nvSpPr>
            <p:cNvPr id="55" name="Oval 50"/>
            <p:cNvSpPr>
              <a:spLocks noChangeArrowheads="1"/>
            </p:cNvSpPr>
            <p:nvPr/>
          </p:nvSpPr>
          <p:spPr bwMode="auto">
            <a:xfrm>
              <a:off x="1728" y="3168"/>
              <a:ext cx="336" cy="384"/>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Oval 51"/>
            <p:cNvSpPr>
              <a:spLocks noChangeArrowheads="1"/>
            </p:cNvSpPr>
            <p:nvPr/>
          </p:nvSpPr>
          <p:spPr bwMode="auto">
            <a:xfrm>
              <a:off x="2880" y="2688"/>
              <a:ext cx="432" cy="384"/>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Line 52"/>
            <p:cNvSpPr>
              <a:spLocks noChangeShapeType="1"/>
            </p:cNvSpPr>
            <p:nvPr/>
          </p:nvSpPr>
          <p:spPr bwMode="auto">
            <a:xfrm flipV="1">
              <a:off x="2016" y="2976"/>
              <a:ext cx="912" cy="240"/>
            </a:xfrm>
            <a:prstGeom prst="line">
              <a:avLst/>
            </a:prstGeom>
            <a:noFill/>
            <a:ln w="9525">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Oval 53"/>
            <p:cNvSpPr>
              <a:spLocks noChangeArrowheads="1"/>
            </p:cNvSpPr>
            <p:nvPr/>
          </p:nvSpPr>
          <p:spPr bwMode="auto">
            <a:xfrm>
              <a:off x="1872" y="2640"/>
              <a:ext cx="384" cy="432"/>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 name="Oval 54"/>
            <p:cNvSpPr>
              <a:spLocks noChangeArrowheads="1"/>
            </p:cNvSpPr>
            <p:nvPr/>
          </p:nvSpPr>
          <p:spPr bwMode="auto">
            <a:xfrm>
              <a:off x="2832" y="3168"/>
              <a:ext cx="480" cy="384"/>
            </a:xfrm>
            <a:prstGeom prst="ellipse">
              <a:avLst/>
            </a:pr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Line 55"/>
            <p:cNvSpPr>
              <a:spLocks noChangeShapeType="1"/>
            </p:cNvSpPr>
            <p:nvPr/>
          </p:nvSpPr>
          <p:spPr bwMode="auto">
            <a:xfrm>
              <a:off x="2208" y="2976"/>
              <a:ext cx="672" cy="240"/>
            </a:xfrm>
            <a:prstGeom prst="line">
              <a:avLst/>
            </a:prstGeom>
            <a:noFill/>
            <a:ln w="9525">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 name="矩形 60"/>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2" name="Rectangle 3"/>
          <p:cNvSpPr txBox="1">
            <a:spLocks noChangeArrowheads="1"/>
          </p:cNvSpPr>
          <p:nvPr/>
        </p:nvSpPr>
        <p:spPr bwMode="auto">
          <a:xfrm>
            <a:off x="193040" y="1181236"/>
            <a:ext cx="8950960" cy="76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矩阵运算</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3"/>
              <p:cNvSpPr txBox="1">
                <a:spLocks noChangeArrowheads="1"/>
              </p:cNvSpPr>
              <p:nvPr/>
            </p:nvSpPr>
            <p:spPr bwMode="auto">
              <a:xfrm>
                <a:off x="193040" y="1196752"/>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928370" lvl="1" indent="-457200" eaLnBrk="1" hangingPunct="1">
                  <a:lnSpc>
                    <a:spcPct val="120000"/>
                  </a:lnSpc>
                  <a:spcBef>
                    <a:spcPts val="600"/>
                  </a:spcBef>
                  <a:buClr>
                    <a:srgbClr val="1557AE"/>
                  </a:buClr>
                  <a:buSzPct val="100000"/>
                  <a:buFont typeface="+mj-lt"/>
                  <a:buAutoNum type="arabicPeriod" startAt="4"/>
                  <a:defRPr/>
                </a:pPr>
                <a:r>
                  <a:rPr lang="zh-CN" altLang="en-US" sz="2400" b="0" dirty="0">
                    <a:solidFill>
                      <a:srgbClr val="1557AE"/>
                    </a:solidFill>
                    <a:latin typeface="Calibri" panose="020F0502020204030204" pitchFamily="34" charset="0"/>
                    <a:cs typeface="Calibri" panose="020F0502020204030204" pitchFamily="34" charset="0"/>
                  </a:rPr>
                  <a:t>重复步骤</a:t>
                </a:r>
                <a:r>
                  <a:rPr lang="en-US" altLang="zh-CN" sz="2400" b="0" dirty="0">
                    <a:solidFill>
                      <a:srgbClr val="1557AE"/>
                    </a:solidFill>
                    <a:latin typeface="Calibri" panose="020F0502020204030204" pitchFamily="34" charset="0"/>
                    <a:cs typeface="Calibri" panose="020F0502020204030204" pitchFamily="34" charset="0"/>
                  </a:rPr>
                  <a:t>3</a:t>
                </a:r>
                <a:r>
                  <a:rPr lang="zh-CN" altLang="en-US" sz="2400" b="0" dirty="0">
                    <a:solidFill>
                      <a:srgbClr val="1557AE"/>
                    </a:solidFill>
                    <a:latin typeface="Calibri" panose="020F0502020204030204" pitchFamily="34" charset="0"/>
                    <a:cs typeface="Calibri" panose="020F0502020204030204" pitchFamily="34" charset="0"/>
                  </a:rPr>
                  <a:t>：</a:t>
                </a:r>
                <a:r>
                  <a:rPr lang="zh-CN" altLang="en-US" sz="2400" b="0" dirty="0">
                    <a:latin typeface="Calibri" panose="020F0502020204030204" pitchFamily="34" charset="0"/>
                    <a:cs typeface="Calibri" panose="020F0502020204030204" pitchFamily="34" charset="0"/>
                  </a:rPr>
                  <a:t>上一轮迭代计算中的权值和本轮迭代之后权值的差异，如果发现总体来说权值变化小于阈值，说明系统已进入稳定状态，则可以结束计算，即</a:t>
                </a:r>
                <a14:m>
                  <m:oMath xmlns:m="http://schemas.openxmlformats.org/officeDocument/2006/math">
                    <m:r>
                      <a:rPr lang="en-US" altLang="zh-CN" sz="2400" b="0" i="1" dirty="0" smtClean="0">
                        <a:latin typeface="Cambria Math" panose="02040503050406030204" pitchFamily="18" charset="0"/>
                        <a:cs typeface="Calibri" panose="020F0502020204030204" pitchFamily="34" charset="0"/>
                      </a:rPr>
                      <m:t>𝑎</m:t>
                    </m:r>
                    <m:r>
                      <a:rPr lang="en-US" altLang="zh-CN" sz="2400" b="0" i="1" dirty="0" smtClean="0">
                        <a:latin typeface="Cambria Math" panose="02040503050406030204" pitchFamily="18" charset="0"/>
                        <a:cs typeface="Calibri" panose="020F0502020204030204" pitchFamily="34" charset="0"/>
                      </a:rPr>
                      <m:t>(</m:t>
                    </m:r>
                    <m:r>
                      <a:rPr lang="en-US" altLang="zh-CN" sz="2400" b="0" i="1" dirty="0" smtClean="0">
                        <a:latin typeface="Cambria Math" panose="02040503050406030204" pitchFamily="18" charset="0"/>
                        <a:cs typeface="Calibri" panose="020F0502020204030204" pitchFamily="34" charset="0"/>
                      </a:rPr>
                      <m:t>𝑢</m:t>
                    </m:r>
                    <m:r>
                      <a:rPr lang="en-US" altLang="zh-CN" sz="2400" b="0" i="1" dirty="0" smtClean="0">
                        <a:latin typeface="Cambria Math" panose="02040503050406030204" pitchFamily="18" charset="0"/>
                        <a:cs typeface="Calibri" panose="020F0502020204030204" pitchFamily="34" charset="0"/>
                      </a:rPr>
                      <m:t>),</m:t>
                    </m:r>
                    <m:r>
                      <a:rPr lang="en-US" altLang="zh-CN" sz="2400" b="0" i="1" dirty="0" smtClean="0">
                        <a:latin typeface="Cambria Math" panose="02040503050406030204" pitchFamily="18" charset="0"/>
                        <a:cs typeface="Calibri" panose="020F0502020204030204" pitchFamily="34" charset="0"/>
                      </a:rPr>
                      <m:t>ℎ</m:t>
                    </m:r>
                    <m:r>
                      <a:rPr lang="en-US" altLang="zh-CN" sz="2400" b="0" i="1" dirty="0" smtClean="0">
                        <a:latin typeface="Cambria Math" panose="02040503050406030204" pitchFamily="18" charset="0"/>
                        <a:cs typeface="Calibri" panose="020F0502020204030204" pitchFamily="34" charset="0"/>
                      </a:rPr>
                      <m:t>(</m:t>
                    </m:r>
                    <m:r>
                      <a:rPr lang="en-US" altLang="zh-CN" sz="2400" b="0" i="1" dirty="0" smtClean="0">
                        <a:latin typeface="Cambria Math" panose="02040503050406030204" pitchFamily="18" charset="0"/>
                        <a:cs typeface="Calibri" panose="020F0502020204030204" pitchFamily="34" charset="0"/>
                      </a:rPr>
                      <m:t>𝑣</m:t>
                    </m:r>
                    <m:r>
                      <a:rPr lang="en-US" altLang="zh-CN" sz="2400" b="0" i="1" dirty="0" smtClean="0">
                        <a:latin typeface="Cambria Math" panose="02040503050406030204" pitchFamily="18" charset="0"/>
                        <a:cs typeface="Calibri" panose="020F0502020204030204" pitchFamily="34" charset="0"/>
                      </a:rPr>
                      <m:t>)</m:t>
                    </m:r>
                  </m:oMath>
                </a14:m>
                <a:r>
                  <a:rPr lang="zh-CN" altLang="en-US" sz="2400" b="0" dirty="0">
                    <a:latin typeface="Calibri" panose="020F0502020204030204" pitchFamily="34" charset="0"/>
                    <a:cs typeface="Calibri" panose="020F0502020204030204" pitchFamily="34" charset="0"/>
                  </a:rPr>
                  <a:t>收敛</a:t>
                </a:r>
                <a:endParaRPr lang="zh-CN" altLang="en-US" sz="2400" b="0" dirty="0">
                  <a:latin typeface="Calibri" panose="020F0502020204030204" pitchFamily="34" charset="0"/>
                  <a:cs typeface="Calibri" panose="020F0502020204030204" pitchFamily="34" charset="0"/>
                </a:endParaRPr>
              </a:p>
            </p:txBody>
          </p:sp>
        </mc:Choice>
        <mc:Fallback>
          <p:sp>
            <p:nvSpPr>
              <p:cNvPr id="6" name="Rectangle 3"/>
              <p:cNvSpPr txBox="1">
                <a:spLocks noRot="1" noChangeAspect="1" noMove="1" noResize="1" noEditPoints="1" noAdjustHandles="1" noChangeArrowheads="1" noChangeShapeType="1" noTextEdit="1"/>
              </p:cNvSpPr>
              <p:nvPr/>
            </p:nvSpPr>
            <p:spPr bwMode="auto">
              <a:xfrm>
                <a:off x="193040" y="1196752"/>
                <a:ext cx="8950960" cy="2646040"/>
              </a:xfrm>
              <a:prstGeom prst="rect">
                <a:avLst/>
              </a:prstGeom>
              <a:blipFill rotWithShape="1">
                <a:blip r:embed="rId1"/>
                <a:stretch>
                  <a:fillRect t="-16" b="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6272" y="3212976"/>
            <a:ext cx="4464496" cy="331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3040" y="1208571"/>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1" name="Rectangle 4"/>
          <p:cNvSpPr>
            <a:spLocks noChangeArrowheads="1"/>
          </p:cNvSpPr>
          <p:nvPr/>
        </p:nvSpPr>
        <p:spPr bwMode="auto">
          <a:xfrm>
            <a:off x="0" y="2332038"/>
            <a:ext cx="9144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200">
                <a:latin typeface="Times New Roman" panose="02020603050405020304" pitchFamily="18" charset="0"/>
                <a:cs typeface="Times New Roman" panose="02020603050405020304" pitchFamily="18" charset="0"/>
              </a:rPr>
              <a:t>      </a:t>
            </a:r>
            <a:endParaRPr lang="en-US" altLang="zh-CN" sz="1200">
              <a:latin typeface="Times New Roman" panose="02020603050405020304" pitchFamily="18" charset="0"/>
              <a:cs typeface="Times New Roman" panose="02020603050405020304" pitchFamily="18" charset="0"/>
            </a:endParaRPr>
          </a:p>
          <a:p>
            <a:pPr eaLnBrk="0" hangingPunct="0"/>
            <a:r>
              <a:rPr lang="en-US" altLang="zh-CN" sz="2200">
                <a:latin typeface="Times New Roman" panose="02020603050405020304" pitchFamily="18" charset="0"/>
                <a:cs typeface="Times New Roman" panose="02020603050405020304" pitchFamily="18" charset="0"/>
              </a:rPr>
              <a:t> </a:t>
            </a:r>
            <a:endParaRPr lang="en-US" altLang="zh-CN" sz="1200">
              <a:latin typeface="Times New Roman" panose="02020603050405020304" pitchFamily="18" charset="0"/>
              <a:cs typeface="Times New Roman" panose="02020603050405020304" pitchFamily="18" charset="0"/>
            </a:endParaRPr>
          </a:p>
          <a:p>
            <a:pPr eaLnBrk="0" hangingPunct="0"/>
            <a:endParaRPr lang="en-US" altLang="zh-CN" sz="2400">
              <a:latin typeface="Times New Roman" panose="02020603050405020304" pitchFamily="18" charset="0"/>
              <a:cs typeface="Arial" panose="020B0604020202020204" pitchFamily="34" charset="0"/>
            </a:endParaRPr>
          </a:p>
        </p:txBody>
      </p:sp>
      <p:graphicFrame>
        <p:nvGraphicFramePr>
          <p:cNvPr id="132" name="Object 5"/>
          <p:cNvGraphicFramePr>
            <a:graphicFrameLocks noChangeAspect="1"/>
          </p:cNvGraphicFramePr>
          <p:nvPr/>
        </p:nvGraphicFramePr>
        <p:xfrm>
          <a:off x="790575" y="2146176"/>
          <a:ext cx="1362075" cy="1066800"/>
        </p:xfrm>
        <a:graphic>
          <a:graphicData uri="http://schemas.openxmlformats.org/presentationml/2006/ole">
            <mc:AlternateContent xmlns:mc="http://schemas.openxmlformats.org/markup-compatibility/2006">
              <mc:Choice xmlns:v="urn:schemas-microsoft-com:vml" Requires="v">
                <p:oleObj spid="_x0000_s65650" name="Equation" r:id="rId1" imgW="1358900" imgH="1066800" progId="Equation.DSMT4">
                  <p:embed/>
                </p:oleObj>
              </mc:Choice>
              <mc:Fallback>
                <p:oleObj name="Equation" r:id="rId1" imgW="1358900" imgH="1066800" progId="Equation.DSMT4">
                  <p:embed/>
                  <p:pic>
                    <p:nvPicPr>
                      <p:cNvPr id="0" name="图片 321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75" y="2146176"/>
                        <a:ext cx="136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 name="Object 6"/>
          <p:cNvGraphicFramePr>
            <a:graphicFrameLocks noChangeAspect="1"/>
          </p:cNvGraphicFramePr>
          <p:nvPr/>
        </p:nvGraphicFramePr>
        <p:xfrm>
          <a:off x="2397125" y="2069976"/>
          <a:ext cx="1406525" cy="1066800"/>
        </p:xfrm>
        <a:graphic>
          <a:graphicData uri="http://schemas.openxmlformats.org/presentationml/2006/ole">
            <mc:AlternateContent xmlns:mc="http://schemas.openxmlformats.org/markup-compatibility/2006">
              <mc:Choice xmlns:v="urn:schemas-microsoft-com:vml" Requires="v">
                <p:oleObj spid="_x0000_s65651" name="Equation" r:id="rId3" imgW="1409700" imgH="1066800" progId="Equation.3">
                  <p:embed/>
                </p:oleObj>
              </mc:Choice>
              <mc:Fallback>
                <p:oleObj name="Equation" r:id="rId3" imgW="1409700" imgH="1066800" progId="Equation.3">
                  <p:embed/>
                  <p:pic>
                    <p:nvPicPr>
                      <p:cNvPr id="0" name="图片 321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125" y="2069976"/>
                        <a:ext cx="14065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4" name="Object 7"/>
          <p:cNvGraphicFramePr>
            <a:graphicFrameLocks noChangeAspect="1"/>
          </p:cNvGraphicFramePr>
          <p:nvPr/>
        </p:nvGraphicFramePr>
        <p:xfrm>
          <a:off x="6378575" y="2070100"/>
          <a:ext cx="1749425" cy="1066800"/>
        </p:xfrm>
        <a:graphic>
          <a:graphicData uri="http://schemas.openxmlformats.org/presentationml/2006/ole">
            <mc:AlternateContent xmlns:mc="http://schemas.openxmlformats.org/markup-compatibility/2006">
              <mc:Choice xmlns:v="urn:schemas-microsoft-com:vml" Requires="v">
                <p:oleObj spid="_x0000_s65652" name="公式" r:id="rId5" imgW="42062400" imgH="25603200" progId="Equation.3">
                  <p:embed/>
                </p:oleObj>
              </mc:Choice>
              <mc:Fallback>
                <p:oleObj name="公式" r:id="rId5" imgW="42062400" imgH="25603200" progId="Equation.3">
                  <p:embed/>
                  <p:pic>
                    <p:nvPicPr>
                      <p:cNvPr id="0" name="图片 32183"/>
                      <p:cNvPicPr>
                        <a:picLocks noChangeAspect="1" noChangeArrowheads="1"/>
                      </p:cNvPicPr>
                      <p:nvPr/>
                    </p:nvPicPr>
                    <p:blipFill>
                      <a:blip r:embed="rId6"/>
                      <a:srcRect/>
                      <a:stretch>
                        <a:fillRect/>
                      </a:stretch>
                    </p:blipFill>
                    <p:spPr bwMode="auto">
                      <a:xfrm>
                        <a:off x="6378575" y="2070100"/>
                        <a:ext cx="1749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 name="Object 8"/>
          <p:cNvGraphicFramePr>
            <a:graphicFrameLocks noChangeAspect="1"/>
          </p:cNvGraphicFramePr>
          <p:nvPr/>
        </p:nvGraphicFramePr>
        <p:xfrm>
          <a:off x="4445000" y="2070100"/>
          <a:ext cx="1749425" cy="1066800"/>
        </p:xfrm>
        <a:graphic>
          <a:graphicData uri="http://schemas.openxmlformats.org/presentationml/2006/ole">
            <mc:AlternateContent xmlns:mc="http://schemas.openxmlformats.org/markup-compatibility/2006">
              <mc:Choice xmlns:v="urn:schemas-microsoft-com:vml" Requires="v">
                <p:oleObj spid="_x0000_s65653" name="公式" r:id="rId7" imgW="42062400" imgH="25603200" progId="Equation.3">
                  <p:embed/>
                </p:oleObj>
              </mc:Choice>
              <mc:Fallback>
                <p:oleObj name="公式" r:id="rId7" imgW="42062400" imgH="25603200" progId="Equation.3">
                  <p:embed/>
                  <p:pic>
                    <p:nvPicPr>
                      <p:cNvPr id="0" name="图片 32184"/>
                      <p:cNvPicPr>
                        <a:picLocks noChangeAspect="1" noChangeArrowheads="1"/>
                      </p:cNvPicPr>
                      <p:nvPr/>
                    </p:nvPicPr>
                    <p:blipFill>
                      <a:blip r:embed="rId8"/>
                      <a:srcRect/>
                      <a:stretch>
                        <a:fillRect/>
                      </a:stretch>
                    </p:blipFill>
                    <p:spPr bwMode="auto">
                      <a:xfrm>
                        <a:off x="4445000" y="2070100"/>
                        <a:ext cx="1749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6" name="Object 9"/>
          <p:cNvGraphicFramePr>
            <a:graphicFrameLocks noChangeAspect="1"/>
          </p:cNvGraphicFramePr>
          <p:nvPr/>
        </p:nvGraphicFramePr>
        <p:xfrm>
          <a:off x="2987675" y="3789363"/>
          <a:ext cx="815975" cy="1143000"/>
        </p:xfrm>
        <a:graphic>
          <a:graphicData uri="http://schemas.openxmlformats.org/presentationml/2006/ole">
            <mc:AlternateContent xmlns:mc="http://schemas.openxmlformats.org/markup-compatibility/2006">
              <mc:Choice xmlns:v="urn:schemas-microsoft-com:vml" Requires="v">
                <p:oleObj spid="_x0000_s65654" name="Equation" r:id="rId9" imgW="508000" imgH="711200" progId="Equation.3">
                  <p:embed/>
                </p:oleObj>
              </mc:Choice>
              <mc:Fallback>
                <p:oleObj name="Equation" r:id="rId9" imgW="508000" imgH="711200" progId="Equation.3">
                  <p:embed/>
                  <p:pic>
                    <p:nvPicPr>
                      <p:cNvPr id="0" name="图片 321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675" y="3789363"/>
                        <a:ext cx="8159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 name="Object 10"/>
          <p:cNvGraphicFramePr>
            <a:graphicFrameLocks noChangeAspect="1"/>
          </p:cNvGraphicFramePr>
          <p:nvPr/>
        </p:nvGraphicFramePr>
        <p:xfrm>
          <a:off x="3033713" y="4953000"/>
          <a:ext cx="776287" cy="1143000"/>
        </p:xfrm>
        <a:graphic>
          <a:graphicData uri="http://schemas.openxmlformats.org/presentationml/2006/ole">
            <mc:AlternateContent xmlns:mc="http://schemas.openxmlformats.org/markup-compatibility/2006">
              <mc:Choice xmlns:v="urn:schemas-microsoft-com:vml" Requires="v">
                <p:oleObj spid="_x0000_s65655" name="Equation" r:id="rId11" imgW="482600" imgH="711200" progId="Equation.3">
                  <p:embed/>
                </p:oleObj>
              </mc:Choice>
              <mc:Fallback>
                <p:oleObj name="Equation" r:id="rId11" imgW="482600" imgH="711200" progId="Equation.3">
                  <p:embed/>
                  <p:pic>
                    <p:nvPicPr>
                      <p:cNvPr id="0" name="图片 3218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3713" y="4953000"/>
                        <a:ext cx="77628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8" name="Group 11"/>
          <p:cNvGrpSpPr/>
          <p:nvPr/>
        </p:nvGrpSpPr>
        <p:grpSpPr bwMode="auto">
          <a:xfrm>
            <a:off x="3779838" y="3789363"/>
            <a:ext cx="636587" cy="2286000"/>
            <a:chOff x="2388" y="2400"/>
            <a:chExt cx="401" cy="1440"/>
          </a:xfrm>
        </p:grpSpPr>
        <p:graphicFrame>
          <p:nvGraphicFramePr>
            <p:cNvPr id="139" name="Object 12"/>
            <p:cNvGraphicFramePr>
              <a:graphicFrameLocks noChangeAspect="1"/>
            </p:cNvGraphicFramePr>
            <p:nvPr/>
          </p:nvGraphicFramePr>
          <p:xfrm>
            <a:off x="2532" y="3120"/>
            <a:ext cx="257" cy="720"/>
          </p:xfrm>
          <a:graphic>
            <a:graphicData uri="http://schemas.openxmlformats.org/presentationml/2006/ole">
              <mc:AlternateContent xmlns:mc="http://schemas.openxmlformats.org/markup-compatibility/2006">
                <mc:Choice xmlns:v="urn:schemas-microsoft-com:vml" Requires="v">
                  <p:oleObj spid="_x0000_s65656" name="Equation" r:id="rId13" imgW="254000" imgH="711200" progId="Equation.3">
                    <p:embed/>
                  </p:oleObj>
                </mc:Choice>
                <mc:Fallback>
                  <p:oleObj name="Equation" r:id="rId13" imgW="254000" imgH="711200" progId="Equation.3">
                    <p:embed/>
                    <p:pic>
                      <p:nvPicPr>
                        <p:cNvPr id="0" name="图片 321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32" y="3120"/>
                          <a:ext cx="257"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0" name="Group 13"/>
            <p:cNvGrpSpPr/>
            <p:nvPr/>
          </p:nvGrpSpPr>
          <p:grpSpPr bwMode="auto">
            <a:xfrm>
              <a:off x="2388" y="2400"/>
              <a:ext cx="401" cy="720"/>
              <a:chOff x="2388" y="2400"/>
              <a:chExt cx="401" cy="720"/>
            </a:xfrm>
          </p:grpSpPr>
          <p:graphicFrame>
            <p:nvGraphicFramePr>
              <p:cNvPr id="142" name="Object 14"/>
              <p:cNvGraphicFramePr>
                <a:graphicFrameLocks noChangeAspect="1"/>
              </p:cNvGraphicFramePr>
              <p:nvPr/>
            </p:nvGraphicFramePr>
            <p:xfrm>
              <a:off x="2532" y="2400"/>
              <a:ext cx="257" cy="720"/>
            </p:xfrm>
            <a:graphic>
              <a:graphicData uri="http://schemas.openxmlformats.org/presentationml/2006/ole">
                <mc:AlternateContent xmlns:mc="http://schemas.openxmlformats.org/markup-compatibility/2006">
                  <mc:Choice xmlns:v="urn:schemas-microsoft-com:vml" Requires="v">
                    <p:oleObj spid="_x0000_s65657" name="Equation" r:id="rId15" imgW="254000" imgH="711200" progId="Equation.3">
                      <p:embed/>
                    </p:oleObj>
                  </mc:Choice>
                  <mc:Fallback>
                    <p:oleObj name="Equation" r:id="rId15" imgW="254000" imgH="711200" progId="Equation.3">
                      <p:embed/>
                      <p:pic>
                        <p:nvPicPr>
                          <p:cNvPr id="0" name="图片 3218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32" y="2400"/>
                            <a:ext cx="257"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 name="Line 15"/>
              <p:cNvSpPr>
                <a:spLocks noChangeShapeType="1"/>
              </p:cNvSpPr>
              <p:nvPr/>
            </p:nvSpPr>
            <p:spPr bwMode="auto">
              <a:xfrm>
                <a:off x="2388" y="273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41" name="Line 16"/>
            <p:cNvSpPr>
              <a:spLocks noChangeShapeType="1"/>
            </p:cNvSpPr>
            <p:nvPr/>
          </p:nvSpPr>
          <p:spPr bwMode="auto">
            <a:xfrm>
              <a:off x="2388" y="345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44" name="Group 17"/>
          <p:cNvGrpSpPr/>
          <p:nvPr/>
        </p:nvGrpSpPr>
        <p:grpSpPr bwMode="auto">
          <a:xfrm>
            <a:off x="4400550" y="3810000"/>
            <a:ext cx="758825" cy="2286000"/>
            <a:chOff x="2772" y="2400"/>
            <a:chExt cx="478" cy="1440"/>
          </a:xfrm>
        </p:grpSpPr>
        <p:graphicFrame>
          <p:nvGraphicFramePr>
            <p:cNvPr id="145" name="Object 18"/>
            <p:cNvGraphicFramePr>
              <a:graphicFrameLocks noChangeAspect="1"/>
            </p:cNvGraphicFramePr>
            <p:nvPr/>
          </p:nvGraphicFramePr>
          <p:xfrm>
            <a:off x="2916" y="3120"/>
            <a:ext cx="334" cy="720"/>
          </p:xfrm>
          <a:graphic>
            <a:graphicData uri="http://schemas.openxmlformats.org/presentationml/2006/ole">
              <mc:AlternateContent xmlns:mc="http://schemas.openxmlformats.org/markup-compatibility/2006">
                <mc:Choice xmlns:v="urn:schemas-microsoft-com:vml" Requires="v">
                  <p:oleObj spid="_x0000_s65658" name="Equation" r:id="rId17" imgW="330200" imgH="711200" progId="Equation.3">
                    <p:embed/>
                  </p:oleObj>
                </mc:Choice>
                <mc:Fallback>
                  <p:oleObj name="Equation" r:id="rId17" imgW="330200" imgH="711200" progId="Equation.3">
                    <p:embed/>
                    <p:pic>
                      <p:nvPicPr>
                        <p:cNvPr id="0" name="图片 3218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6" y="3120"/>
                          <a:ext cx="334"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6" name="Group 19"/>
            <p:cNvGrpSpPr/>
            <p:nvPr/>
          </p:nvGrpSpPr>
          <p:grpSpPr bwMode="auto">
            <a:xfrm>
              <a:off x="2772" y="2400"/>
              <a:ext cx="478" cy="720"/>
              <a:chOff x="2772" y="2400"/>
              <a:chExt cx="478" cy="720"/>
            </a:xfrm>
          </p:grpSpPr>
          <p:graphicFrame>
            <p:nvGraphicFramePr>
              <p:cNvPr id="148" name="Object 20"/>
              <p:cNvGraphicFramePr>
                <a:graphicFrameLocks noChangeAspect="1"/>
              </p:cNvGraphicFramePr>
              <p:nvPr/>
            </p:nvGraphicFramePr>
            <p:xfrm>
              <a:off x="2916" y="2400"/>
              <a:ext cx="334" cy="720"/>
            </p:xfrm>
            <a:graphic>
              <a:graphicData uri="http://schemas.openxmlformats.org/presentationml/2006/ole">
                <mc:AlternateContent xmlns:mc="http://schemas.openxmlformats.org/markup-compatibility/2006">
                  <mc:Choice xmlns:v="urn:schemas-microsoft-com:vml" Requires="v">
                    <p:oleObj spid="_x0000_s65659" name="Equation" r:id="rId19" imgW="330200" imgH="711200" progId="Equation.3">
                      <p:embed/>
                    </p:oleObj>
                  </mc:Choice>
                  <mc:Fallback>
                    <p:oleObj name="Equation" r:id="rId19" imgW="330200" imgH="711200" progId="Equation.3">
                      <p:embed/>
                      <p:pic>
                        <p:nvPicPr>
                          <p:cNvPr id="0" name="图片 3219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6" y="2400"/>
                            <a:ext cx="334"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9" name="Line 21"/>
              <p:cNvSpPr>
                <a:spLocks noChangeShapeType="1"/>
              </p:cNvSpPr>
              <p:nvPr/>
            </p:nvSpPr>
            <p:spPr bwMode="auto">
              <a:xfrm>
                <a:off x="2772" y="273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47" name="Line 22"/>
            <p:cNvSpPr>
              <a:spLocks noChangeShapeType="1"/>
            </p:cNvSpPr>
            <p:nvPr/>
          </p:nvSpPr>
          <p:spPr bwMode="auto">
            <a:xfrm>
              <a:off x="2772" y="345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50" name="Group 23"/>
          <p:cNvGrpSpPr/>
          <p:nvPr/>
        </p:nvGrpSpPr>
        <p:grpSpPr bwMode="auto">
          <a:xfrm>
            <a:off x="5162550" y="3810000"/>
            <a:ext cx="862013" cy="2286000"/>
            <a:chOff x="3252" y="2400"/>
            <a:chExt cx="543" cy="1440"/>
          </a:xfrm>
        </p:grpSpPr>
        <p:graphicFrame>
          <p:nvGraphicFramePr>
            <p:cNvPr id="151" name="Object 24"/>
            <p:cNvGraphicFramePr>
              <a:graphicFrameLocks noChangeAspect="1"/>
            </p:cNvGraphicFramePr>
            <p:nvPr/>
          </p:nvGraphicFramePr>
          <p:xfrm>
            <a:off x="3396" y="3120"/>
            <a:ext cx="399" cy="720"/>
          </p:xfrm>
          <a:graphic>
            <a:graphicData uri="http://schemas.openxmlformats.org/presentationml/2006/ole">
              <mc:AlternateContent xmlns:mc="http://schemas.openxmlformats.org/markup-compatibility/2006">
                <mc:Choice xmlns:v="urn:schemas-microsoft-com:vml" Requires="v">
                  <p:oleObj spid="_x0000_s65660" name="Equation" r:id="rId21" imgW="393700" imgH="711200" progId="Equation.3">
                    <p:embed/>
                  </p:oleObj>
                </mc:Choice>
                <mc:Fallback>
                  <p:oleObj name="Equation" r:id="rId21" imgW="393700" imgH="711200" progId="Equation.3">
                    <p:embed/>
                    <p:pic>
                      <p:nvPicPr>
                        <p:cNvPr id="0" name="图片 3219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96" y="3120"/>
                          <a:ext cx="399"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2" name="Object 25"/>
            <p:cNvGraphicFramePr>
              <a:graphicFrameLocks noChangeAspect="1"/>
            </p:cNvGraphicFramePr>
            <p:nvPr/>
          </p:nvGraphicFramePr>
          <p:xfrm>
            <a:off x="3396" y="2400"/>
            <a:ext cx="399" cy="720"/>
          </p:xfrm>
          <a:graphic>
            <a:graphicData uri="http://schemas.openxmlformats.org/presentationml/2006/ole">
              <mc:AlternateContent xmlns:mc="http://schemas.openxmlformats.org/markup-compatibility/2006">
                <mc:Choice xmlns:v="urn:schemas-microsoft-com:vml" Requires="v">
                  <p:oleObj spid="_x0000_s65661" name="Equation" r:id="rId23" imgW="393700" imgH="711200" progId="Equation.3">
                    <p:embed/>
                  </p:oleObj>
                </mc:Choice>
                <mc:Fallback>
                  <p:oleObj name="Equation" r:id="rId23" imgW="393700" imgH="711200" progId="Equation.3">
                    <p:embed/>
                    <p:pic>
                      <p:nvPicPr>
                        <p:cNvPr id="0" name="图片 3219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96" y="2400"/>
                          <a:ext cx="399"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 name="Line 26"/>
            <p:cNvSpPr>
              <a:spLocks noChangeShapeType="1"/>
            </p:cNvSpPr>
            <p:nvPr/>
          </p:nvSpPr>
          <p:spPr bwMode="auto">
            <a:xfrm>
              <a:off x="3252" y="273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4" name="Line 27"/>
            <p:cNvSpPr>
              <a:spLocks noChangeShapeType="1"/>
            </p:cNvSpPr>
            <p:nvPr/>
          </p:nvSpPr>
          <p:spPr bwMode="auto">
            <a:xfrm>
              <a:off x="3252" y="3456"/>
              <a:ext cx="144"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155" name="Group 28"/>
          <p:cNvGrpSpPr/>
          <p:nvPr/>
        </p:nvGrpSpPr>
        <p:grpSpPr bwMode="auto">
          <a:xfrm>
            <a:off x="6000750" y="3810000"/>
            <a:ext cx="1257300" cy="2286000"/>
            <a:chOff x="3780" y="2400"/>
            <a:chExt cx="792" cy="1440"/>
          </a:xfrm>
        </p:grpSpPr>
        <p:graphicFrame>
          <p:nvGraphicFramePr>
            <p:cNvPr id="156" name="Object 29"/>
            <p:cNvGraphicFramePr>
              <a:graphicFrameLocks noChangeAspect="1"/>
            </p:cNvGraphicFramePr>
            <p:nvPr/>
          </p:nvGraphicFramePr>
          <p:xfrm>
            <a:off x="4068" y="3152"/>
            <a:ext cx="493" cy="688"/>
          </p:xfrm>
          <a:graphic>
            <a:graphicData uri="http://schemas.openxmlformats.org/presentationml/2006/ole">
              <mc:AlternateContent xmlns:mc="http://schemas.openxmlformats.org/markup-compatibility/2006">
                <mc:Choice xmlns:v="urn:schemas-microsoft-com:vml" Requires="v">
                  <p:oleObj spid="_x0000_s65662" name="Equation" r:id="rId25" imgW="546100" imgH="761365" progId="Equation.DSMT4">
                    <p:embed/>
                  </p:oleObj>
                </mc:Choice>
                <mc:Fallback>
                  <p:oleObj name="Equation" r:id="rId25" imgW="546100" imgH="761365" progId="Equation.DSMT4">
                    <p:embed/>
                    <p:pic>
                      <p:nvPicPr>
                        <p:cNvPr id="0" name="图片 3219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068" y="3152"/>
                          <a:ext cx="493" cy="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 name="Object 30"/>
            <p:cNvGraphicFramePr>
              <a:graphicFrameLocks noChangeAspect="1"/>
            </p:cNvGraphicFramePr>
            <p:nvPr/>
          </p:nvGraphicFramePr>
          <p:xfrm>
            <a:off x="4068" y="2400"/>
            <a:ext cx="504" cy="672"/>
          </p:xfrm>
          <a:graphic>
            <a:graphicData uri="http://schemas.openxmlformats.org/presentationml/2006/ole">
              <mc:AlternateContent xmlns:mc="http://schemas.openxmlformats.org/markup-compatibility/2006">
                <mc:Choice xmlns:v="urn:schemas-microsoft-com:vml" Requires="v">
                  <p:oleObj spid="_x0000_s65663" name="Equation" r:id="rId27" imgW="571500" imgH="761365" progId="Equation.3">
                    <p:embed/>
                  </p:oleObj>
                </mc:Choice>
                <mc:Fallback>
                  <p:oleObj name="Equation" r:id="rId27" imgW="571500" imgH="761365" progId="Equation.3">
                    <p:embed/>
                    <p:pic>
                      <p:nvPicPr>
                        <p:cNvPr id="0" name="图片 3219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68" y="2400"/>
                          <a:ext cx="504" cy="6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 name="Line 31"/>
            <p:cNvSpPr>
              <a:spLocks noChangeShapeType="1"/>
            </p:cNvSpPr>
            <p:nvPr/>
          </p:nvSpPr>
          <p:spPr bwMode="auto">
            <a:xfrm>
              <a:off x="3780" y="2735"/>
              <a:ext cx="288" cy="1"/>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9" name="Line 32"/>
            <p:cNvSpPr>
              <a:spLocks noChangeShapeType="1"/>
            </p:cNvSpPr>
            <p:nvPr/>
          </p:nvSpPr>
          <p:spPr bwMode="auto">
            <a:xfrm>
              <a:off x="3780" y="3456"/>
              <a:ext cx="288" cy="1"/>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60" name="Text Box 33"/>
          <p:cNvSpPr txBox="1">
            <a:spLocks noChangeArrowheads="1"/>
          </p:cNvSpPr>
          <p:nvPr/>
        </p:nvSpPr>
        <p:spPr bwMode="auto">
          <a:xfrm>
            <a:off x="1619672" y="3200400"/>
            <a:ext cx="548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defTabSz="914400" eaLnBrk="1" latinLnBrk="0" hangingPunct="1">
              <a:spcBef>
                <a:spcPct val="50000"/>
              </a:spcBef>
              <a:spcAft>
                <a:spcPts val="0"/>
              </a:spcAft>
              <a:buClrTx/>
              <a:buSzTx/>
              <a:buFontTx/>
              <a:buNone/>
              <a:defRPr/>
            </a:pPr>
            <a:r>
              <a:rPr kumimoji="0" lang="en-US" altLang="zh-CN" sz="2000" b="0" i="0" u="none" strike="noStrike" kern="0" cap="none" spc="0" normalizeH="0" baseline="0" noProof="0" dirty="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rPr>
              <a:t>Iteration  0      1       2        3    …     </a:t>
            </a:r>
            <a:endParaRPr kumimoji="0" lang="en-US" altLang="zh-CN" sz="2000" b="0" i="0" u="none" strike="noStrike" kern="0" cap="none" spc="0" normalizeH="0" baseline="0" noProof="0" dirty="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endParaRPr>
          </a:p>
        </p:txBody>
      </p:sp>
      <p:sp>
        <p:nvSpPr>
          <p:cNvPr id="161" name="Rectangle 34"/>
          <p:cNvSpPr>
            <a:spLocks noChangeArrowheads="1"/>
          </p:cNvSpPr>
          <p:nvPr/>
        </p:nvSpPr>
        <p:spPr bwMode="auto">
          <a:xfrm>
            <a:off x="7207845" y="3160713"/>
            <a:ext cx="2444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eaLnBrk="1" latinLnBrk="0" hangingPunct="1">
              <a:spcBef>
                <a:spcPts val="0"/>
              </a:spcBef>
              <a:spcAft>
                <a:spcPts val="0"/>
              </a:spcAft>
              <a:buClrTx/>
              <a:buSzTx/>
              <a:buFontTx/>
              <a:buNone/>
              <a:defRPr/>
            </a:pPr>
            <a:r>
              <a:rPr kumimoji="0" lang="en-US" altLang="zh-CN" sz="2700" b="0" i="0" u="none" strike="noStrike" kern="0" cap="none" spc="0" normalizeH="0" baseline="0" noProof="0" dirty="0">
                <a:ln>
                  <a:noFill/>
                </a:ln>
                <a:solidFill>
                  <a:srgbClr val="CC99FF"/>
                </a:solidFill>
                <a:effectLst/>
                <a:uLnTx/>
                <a:uFillTx/>
                <a:latin typeface="Symbol" panose="05050102010706020507" pitchFamily="18" charset="2"/>
                <a:cs typeface="Arial" panose="020B0604020202020204" pitchFamily="34" charset="0"/>
              </a:rPr>
              <a:t>¥</a:t>
            </a:r>
            <a:endParaRPr kumimoji="0" lang="en-US" altLang="zh-CN" sz="2700" b="0" i="0" u="none" strike="noStrike" kern="0" cap="none" spc="0" normalizeH="0" baseline="0" noProof="0" dirty="0">
              <a:ln>
                <a:noFill/>
              </a:ln>
              <a:solidFill>
                <a:srgbClr val="CC99FF"/>
              </a:solidFill>
              <a:effectLst/>
              <a:uLnTx/>
              <a:uFillTx/>
              <a:latin typeface="Symbol" panose="05050102010706020507" pitchFamily="18" charset="2"/>
              <a:cs typeface="Arial" panose="020B0604020202020204" pitchFamily="34" charset="0"/>
            </a:endParaRPr>
          </a:p>
        </p:txBody>
      </p:sp>
      <p:sp>
        <p:nvSpPr>
          <p:cNvPr id="162" name="Oval 35"/>
          <p:cNvSpPr>
            <a:spLocks noChangeArrowheads="1"/>
          </p:cNvSpPr>
          <p:nvPr/>
        </p:nvSpPr>
        <p:spPr bwMode="auto">
          <a:xfrm>
            <a:off x="1447800" y="4419600"/>
            <a:ext cx="381000" cy="381000"/>
          </a:xfrm>
          <a:prstGeom prst="ellipse">
            <a:avLst/>
          </a:prstGeom>
          <a:solidFill>
            <a:srgbClr val="EDFAD2"/>
          </a:solidFill>
          <a:ln w="9525">
            <a:solidFill>
              <a:srgbClr val="006699"/>
            </a:solidFill>
            <a:miter lim="800000"/>
          </a:ln>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3" name="Oval 36"/>
          <p:cNvSpPr>
            <a:spLocks noChangeArrowheads="1"/>
          </p:cNvSpPr>
          <p:nvPr/>
        </p:nvSpPr>
        <p:spPr bwMode="auto">
          <a:xfrm>
            <a:off x="2133600" y="5410200"/>
            <a:ext cx="381000" cy="381000"/>
          </a:xfrm>
          <a:prstGeom prst="ellipse">
            <a:avLst/>
          </a:prstGeom>
          <a:solidFill>
            <a:srgbClr val="EDFAD2"/>
          </a:solidFill>
          <a:ln w="9525">
            <a:solidFill>
              <a:srgbClr val="006699"/>
            </a:solidFill>
            <a:miter lim="800000"/>
          </a:ln>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4" name="Oval 37"/>
          <p:cNvSpPr>
            <a:spLocks noChangeArrowheads="1"/>
          </p:cNvSpPr>
          <p:nvPr/>
        </p:nvSpPr>
        <p:spPr bwMode="auto">
          <a:xfrm>
            <a:off x="838200" y="5410200"/>
            <a:ext cx="381000" cy="381000"/>
          </a:xfrm>
          <a:prstGeom prst="ellipse">
            <a:avLst/>
          </a:prstGeom>
          <a:solidFill>
            <a:srgbClr val="EDFAD2"/>
          </a:solidFill>
          <a:ln w="9525">
            <a:solidFill>
              <a:srgbClr val="006699"/>
            </a:solidFill>
            <a:miter lim="800000"/>
          </a:ln>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165" name="AutoShape 38"/>
          <p:cNvCxnSpPr>
            <a:cxnSpLocks noChangeShapeType="1"/>
            <a:stCxn id="162" idx="2"/>
            <a:endCxn id="164" idx="1"/>
          </p:cNvCxnSpPr>
          <p:nvPr/>
        </p:nvCxnSpPr>
        <p:spPr bwMode="auto">
          <a:xfrm rot="10800000" flipV="1">
            <a:off x="893763" y="4610100"/>
            <a:ext cx="554037" cy="855663"/>
          </a:xfrm>
          <a:prstGeom prst="curvedConnector2">
            <a:avLst/>
          </a:prstGeom>
          <a:noFill/>
          <a:ln w="9525">
            <a:solidFill>
              <a:srgbClr val="006699"/>
            </a:solidFill>
            <a:miter lim="800000"/>
            <a:headEnd type="triangle" w="med" len="med"/>
          </a:ln>
          <a:extLst>
            <a:ext uri="{909E8E84-426E-40DD-AFC4-6F175D3DCCD1}">
              <a14:hiddenFill xmlns:a14="http://schemas.microsoft.com/office/drawing/2010/main">
                <a:noFill/>
              </a14:hiddenFill>
            </a:ext>
          </a:extLst>
        </p:spPr>
      </p:cxnSp>
      <p:sp>
        <p:nvSpPr>
          <p:cNvPr id="166" name="Line 39"/>
          <p:cNvSpPr>
            <a:spLocks noChangeShapeType="1"/>
          </p:cNvSpPr>
          <p:nvPr/>
        </p:nvSpPr>
        <p:spPr bwMode="auto">
          <a:xfrm flipH="1">
            <a:off x="1143000" y="4800600"/>
            <a:ext cx="381000" cy="68580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7" name="Line 40"/>
          <p:cNvSpPr>
            <a:spLocks noChangeShapeType="1"/>
          </p:cNvSpPr>
          <p:nvPr/>
        </p:nvSpPr>
        <p:spPr bwMode="auto">
          <a:xfrm>
            <a:off x="1828800" y="4724400"/>
            <a:ext cx="457200" cy="68580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8" name="Line 41"/>
          <p:cNvSpPr>
            <a:spLocks noChangeShapeType="1"/>
          </p:cNvSpPr>
          <p:nvPr/>
        </p:nvSpPr>
        <p:spPr bwMode="auto">
          <a:xfrm flipH="1">
            <a:off x="1219200" y="5562600"/>
            <a:ext cx="914400" cy="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cxnSp>
        <p:nvCxnSpPr>
          <p:cNvPr id="169" name="AutoShape 42"/>
          <p:cNvCxnSpPr>
            <a:cxnSpLocks noChangeShapeType="1"/>
          </p:cNvCxnSpPr>
          <p:nvPr/>
        </p:nvCxnSpPr>
        <p:spPr bwMode="auto">
          <a:xfrm rot="5400000" flipV="1">
            <a:off x="1658144" y="4361656"/>
            <a:ext cx="1588" cy="269875"/>
          </a:xfrm>
          <a:prstGeom prst="curvedConnector3">
            <a:avLst>
              <a:gd name="adj1" fmla="val -44800014"/>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cxnSp>
      <p:cxnSp>
        <p:nvCxnSpPr>
          <p:cNvPr id="170" name="AutoShape 43"/>
          <p:cNvCxnSpPr>
            <a:cxnSpLocks noChangeShapeType="1"/>
            <a:stCxn id="164" idx="5"/>
            <a:endCxn id="163" idx="3"/>
          </p:cNvCxnSpPr>
          <p:nvPr/>
        </p:nvCxnSpPr>
        <p:spPr bwMode="auto">
          <a:xfrm rot="16200000" flipH="1">
            <a:off x="1675607" y="5223669"/>
            <a:ext cx="1587" cy="1025525"/>
          </a:xfrm>
          <a:prstGeom prst="curvedConnector3">
            <a:avLst>
              <a:gd name="adj1" fmla="val 17900009"/>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cxnSp>
      <p:sp>
        <p:nvSpPr>
          <p:cNvPr id="171" name="Text Box 44"/>
          <p:cNvSpPr txBox="1">
            <a:spLocks noChangeArrowheads="1"/>
          </p:cNvSpPr>
          <p:nvPr/>
        </p:nvSpPr>
        <p:spPr bwMode="auto">
          <a:xfrm>
            <a:off x="1524000" y="44196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400" b="1">
                <a:latin typeface="Tahoma" panose="020B0604030504040204" pitchFamily="34" charset="0"/>
                <a:cs typeface="Arial" panose="020B0604020202020204" pitchFamily="34" charset="0"/>
              </a:rPr>
              <a:t>X</a:t>
            </a:r>
            <a:endParaRPr lang="en-US" altLang="zh-CN" sz="1400" b="1">
              <a:latin typeface="Tahoma" panose="020B0604030504040204" pitchFamily="34" charset="0"/>
              <a:cs typeface="Arial" panose="020B0604020202020204" pitchFamily="34" charset="0"/>
            </a:endParaRPr>
          </a:p>
        </p:txBody>
      </p:sp>
      <p:sp>
        <p:nvSpPr>
          <p:cNvPr id="172" name="Text Box 45"/>
          <p:cNvSpPr txBox="1">
            <a:spLocks noChangeArrowheads="1"/>
          </p:cNvSpPr>
          <p:nvPr/>
        </p:nvSpPr>
        <p:spPr bwMode="auto">
          <a:xfrm>
            <a:off x="2209800" y="54102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400" b="1">
                <a:latin typeface="Tahoma" panose="020B0604030504040204" pitchFamily="34" charset="0"/>
                <a:cs typeface="Arial" panose="020B0604020202020204" pitchFamily="34" charset="0"/>
              </a:rPr>
              <a:t>Y</a:t>
            </a:r>
            <a:endParaRPr lang="en-US" altLang="zh-CN" sz="1400" b="1">
              <a:latin typeface="Tahoma" panose="020B0604030504040204" pitchFamily="34" charset="0"/>
              <a:cs typeface="Arial" panose="020B0604020202020204" pitchFamily="34" charset="0"/>
            </a:endParaRPr>
          </a:p>
        </p:txBody>
      </p:sp>
      <p:sp>
        <p:nvSpPr>
          <p:cNvPr id="173" name="Text Box 46"/>
          <p:cNvSpPr txBox="1">
            <a:spLocks noChangeArrowheads="1"/>
          </p:cNvSpPr>
          <p:nvPr/>
        </p:nvSpPr>
        <p:spPr bwMode="auto">
          <a:xfrm>
            <a:off x="914400" y="5410200"/>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400" b="1">
                <a:latin typeface="Tahoma" panose="020B0604030504040204" pitchFamily="34" charset="0"/>
                <a:cs typeface="Arial" panose="020B0604020202020204" pitchFamily="34" charset="0"/>
              </a:rPr>
              <a:t>Z</a:t>
            </a:r>
            <a:endParaRPr lang="en-US" altLang="zh-CN" sz="1400" b="1">
              <a:latin typeface="Tahoma" panose="020B0604030504040204" pitchFamily="34" charset="0"/>
              <a:cs typeface="Arial" panose="020B0604020202020204" pitchFamily="34" charset="0"/>
            </a:endParaRPr>
          </a:p>
        </p:txBody>
      </p:sp>
      <p:grpSp>
        <p:nvGrpSpPr>
          <p:cNvPr id="174" name="Group 47"/>
          <p:cNvGrpSpPr/>
          <p:nvPr/>
        </p:nvGrpSpPr>
        <p:grpSpPr bwMode="auto">
          <a:xfrm>
            <a:off x="6588125" y="3789363"/>
            <a:ext cx="2133600" cy="1765300"/>
            <a:chOff x="4128" y="2400"/>
            <a:chExt cx="1344" cy="1112"/>
          </a:xfrm>
        </p:grpSpPr>
        <p:sp>
          <p:nvSpPr>
            <p:cNvPr id="175" name="Rectangle 48"/>
            <p:cNvSpPr>
              <a:spLocks noChangeArrowheads="1"/>
            </p:cNvSpPr>
            <p:nvPr/>
          </p:nvSpPr>
          <p:spPr bwMode="auto">
            <a:xfrm>
              <a:off x="4128" y="2400"/>
              <a:ext cx="384" cy="192"/>
            </a:xfrm>
            <a:prstGeom prst="rect">
              <a:avLst/>
            </a:prstGeom>
            <a:noFill/>
            <a:ln w="9525">
              <a:solidFill>
                <a:srgbClr val="008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6" name="Rectangle 49"/>
            <p:cNvSpPr>
              <a:spLocks noChangeArrowheads="1"/>
            </p:cNvSpPr>
            <p:nvPr/>
          </p:nvSpPr>
          <p:spPr bwMode="auto">
            <a:xfrm>
              <a:off x="4176" y="3196"/>
              <a:ext cx="288" cy="182"/>
            </a:xfrm>
            <a:prstGeom prst="rect">
              <a:avLst/>
            </a:prstGeom>
            <a:noFill/>
            <a:ln w="9525">
              <a:solidFill>
                <a:srgbClr val="008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7" name="Line 50"/>
            <p:cNvSpPr>
              <a:spLocks noChangeShapeType="1"/>
            </p:cNvSpPr>
            <p:nvPr/>
          </p:nvSpPr>
          <p:spPr bwMode="auto">
            <a:xfrm>
              <a:off x="4512" y="2496"/>
              <a:ext cx="240" cy="0"/>
            </a:xfrm>
            <a:prstGeom prst="line">
              <a:avLst/>
            </a:prstGeom>
            <a:noFill/>
            <a:ln w="9525">
              <a:solidFill>
                <a:srgbClr val="008000"/>
              </a:solidFill>
              <a:prstDash val="sysDot"/>
              <a:round/>
            </a:ln>
            <a:extLst>
              <a:ext uri="{909E8E84-426E-40DD-AFC4-6F175D3DCCD1}">
                <a14:hiddenFill xmlns:a14="http://schemas.microsoft.com/office/drawing/2010/main">
                  <a:noFill/>
                </a14:hiddenFill>
              </a:ext>
            </a:extLst>
          </p:spPr>
          <p:txBody>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9" name="Text Box 52"/>
            <p:cNvSpPr txBox="1">
              <a:spLocks noChangeArrowheads="1"/>
            </p:cNvSpPr>
            <p:nvPr/>
          </p:nvSpPr>
          <p:spPr bwMode="auto">
            <a:xfrm>
              <a:off x="4656" y="2400"/>
              <a:ext cx="81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eaLnBrk="1" latinLnBrk="0" hangingPunct="1">
                <a:spcBef>
                  <a:spcPct val="50000"/>
                </a:spcBef>
                <a:spcAft>
                  <a:spcPts val="0"/>
                </a:spcAft>
                <a:buClrTx/>
                <a:buSzTx/>
                <a:buFontTx/>
                <a:buNone/>
                <a:defRPr/>
              </a:pPr>
              <a:r>
                <a:rPr kumimoji="0" lang="en-US" altLang="zh-CN" sz="1400" b="0" i="0" u="none" strike="noStrike" kern="0" cap="none" spc="0" normalizeH="0" baseline="0" noProof="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rPr>
                <a:t>X is the best hub</a:t>
              </a:r>
              <a:endParaRPr kumimoji="0" lang="en-US" altLang="zh-CN" sz="1400" b="0" i="0" u="none" strike="noStrike" kern="0" cap="none" spc="0" normalizeH="0" baseline="0" noProof="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endParaRPr>
            </a:p>
          </p:txBody>
        </p:sp>
        <p:sp>
          <p:nvSpPr>
            <p:cNvPr id="180" name="Text Box 53"/>
            <p:cNvSpPr txBox="1">
              <a:spLocks noChangeArrowheads="1"/>
            </p:cNvSpPr>
            <p:nvPr/>
          </p:nvSpPr>
          <p:spPr bwMode="auto">
            <a:xfrm>
              <a:off x="4560" y="3186"/>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eaLnBrk="1" latinLnBrk="0" hangingPunct="1">
                <a:spcBef>
                  <a:spcPct val="50000"/>
                </a:spcBef>
                <a:spcAft>
                  <a:spcPts val="0"/>
                </a:spcAft>
                <a:buClrTx/>
                <a:buSzTx/>
                <a:buFontTx/>
                <a:buNone/>
                <a:defRPr/>
              </a:pPr>
              <a:r>
                <a:rPr kumimoji="0" lang="en-US" altLang="zh-CN" sz="1400" b="0" i="0" u="none" strike="noStrike" kern="0" cap="none" spc="0" normalizeH="0" baseline="0" noProof="0" dirty="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rPr>
                <a:t>       is most authoritative</a:t>
              </a:r>
              <a:endParaRPr kumimoji="0" lang="en-US" altLang="zh-CN" sz="1400" b="0" i="0" u="none" strike="noStrike" kern="0" cap="none" spc="0" normalizeH="0" baseline="0" noProof="0" dirty="0">
                <a:ln>
                  <a:noFill/>
                </a:ln>
                <a:solidFill>
                  <a:srgbClr val="CC99FF"/>
                </a:solidFill>
                <a:effectLst/>
                <a:uLnTx/>
                <a:uFillTx/>
                <a:latin typeface="Tahoma" panose="020B0604030504040204" pitchFamily="34" charset="0"/>
                <a:ea typeface="宋体" panose="02010600030101010101" pitchFamily="2" charset="-122"/>
                <a:cs typeface="Arial" panose="020B0604020202020204" pitchFamily="34" charset="0"/>
              </a:endParaRPr>
            </a:p>
          </p:txBody>
        </p:sp>
      </p:grpSp>
      <p:sp>
        <p:nvSpPr>
          <p:cNvPr id="54" name="矩形 53"/>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dissolve">
                                      <p:cBhvr>
                                        <p:cTn id="7" dur="500"/>
                                        <p:tgtEl>
                                          <p:spTgt spid="1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dissolve">
                                      <p:cBhvr>
                                        <p:cTn id="12" dur="500"/>
                                        <p:tgtEl>
                                          <p:spTgt spid="1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0"/>
                                        </p:tgtEl>
                                        <p:attrNameLst>
                                          <p:attrName>style.visibility</p:attrName>
                                        </p:attrNameLst>
                                      </p:cBhvr>
                                      <p:to>
                                        <p:strVal val="visible"/>
                                      </p:to>
                                    </p:set>
                                    <p:animEffect transition="in" filter="dissolve">
                                      <p:cBhvr>
                                        <p:cTn id="17" dur="500"/>
                                        <p:tgtEl>
                                          <p:spTgt spid="15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dissolve">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4"/>
                                        </p:tgtEl>
                                        <p:attrNameLst>
                                          <p:attrName>style.visibility</p:attrName>
                                        </p:attrNameLst>
                                      </p:cBhvr>
                                      <p:to>
                                        <p:strVal val="visible"/>
                                      </p:to>
                                    </p:set>
                                    <p:animEffect transition="in" filter="dissolve">
                                      <p:cBhvr>
                                        <p:cTn id="27"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3040" y="1198824"/>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7" name="Object 25"/>
          <p:cNvGraphicFramePr>
            <a:graphicFrameLocks noChangeAspect="1"/>
          </p:cNvGraphicFramePr>
          <p:nvPr/>
        </p:nvGraphicFramePr>
        <p:xfrm>
          <a:off x="4860032" y="1792558"/>
          <a:ext cx="3744416" cy="4598347"/>
        </p:xfrm>
        <a:graphic>
          <a:graphicData uri="http://schemas.openxmlformats.org/presentationml/2006/ole">
            <mc:AlternateContent xmlns:mc="http://schemas.openxmlformats.org/markup-compatibility/2006">
              <mc:Choice xmlns:v="urn:schemas-microsoft-com:vml" Requires="v">
                <p:oleObj spid="_x0000_s19646" name="Bitmap Image" r:id="rId1" imgW="3114675" imgH="2695575" progId="Paint.Picture">
                  <p:embed/>
                </p:oleObj>
              </mc:Choice>
              <mc:Fallback>
                <p:oleObj name="Bitmap Image" r:id="rId1" imgW="3114675" imgH="2695575" progId="Paint.Picture">
                  <p:embed/>
                  <p:pic>
                    <p:nvPicPr>
                      <p:cNvPr id="0" name="图片 195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792558"/>
                        <a:ext cx="3744416" cy="4598347"/>
                      </a:xfrm>
                      <a:prstGeom prst="rect">
                        <a:avLst/>
                      </a:prstGeom>
                      <a:noFill/>
                      <a:ln>
                        <a:noFill/>
                      </a:ln>
                    </p:spPr>
                  </p:pic>
                </p:oleObj>
              </mc:Fallback>
            </mc:AlternateContent>
          </a:graphicData>
        </a:graphic>
      </p:graphicFrame>
      <p:grpSp>
        <p:nvGrpSpPr>
          <p:cNvPr id="82" name="组合 81"/>
          <p:cNvGrpSpPr/>
          <p:nvPr/>
        </p:nvGrpSpPr>
        <p:grpSpPr bwMode="auto">
          <a:xfrm>
            <a:off x="193040" y="2060848"/>
            <a:ext cx="4400308" cy="4261546"/>
            <a:chOff x="154445" y="1576388"/>
            <a:chExt cx="4748883" cy="4593177"/>
          </a:xfrm>
        </p:grpSpPr>
        <p:sp>
          <p:nvSpPr>
            <p:cNvPr id="83" name="Rectangle 3"/>
            <p:cNvSpPr>
              <a:spLocks noChangeArrowheads="1"/>
            </p:cNvSpPr>
            <p:nvPr/>
          </p:nvSpPr>
          <p:spPr bwMode="auto">
            <a:xfrm>
              <a:off x="304800" y="3124200"/>
              <a:ext cx="76200" cy="20574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84" name="Rectangle 4"/>
            <p:cNvSpPr>
              <a:spLocks noChangeArrowheads="1"/>
            </p:cNvSpPr>
            <p:nvPr/>
          </p:nvSpPr>
          <p:spPr bwMode="auto">
            <a:xfrm>
              <a:off x="381000" y="4876800"/>
              <a:ext cx="76200" cy="3048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algn="ctr" defTabSz="914400" eaLnBrk="1" latinLnBrk="0" hangingPunct="1">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85" name="Rectangle 5"/>
            <p:cNvSpPr>
              <a:spLocks noChangeArrowheads="1"/>
            </p:cNvSpPr>
            <p:nvPr/>
          </p:nvSpPr>
          <p:spPr bwMode="auto">
            <a:xfrm>
              <a:off x="609600" y="4800600"/>
              <a:ext cx="76200" cy="381000"/>
            </a:xfrm>
            <a:prstGeom prst="rect">
              <a:avLst/>
            </a:prstGeom>
            <a:solidFill>
              <a:srgbClr val="006699"/>
            </a:solidFill>
            <a:ln w="9525">
              <a:miter lim="800000"/>
            </a:ln>
            <a:scene3d>
              <a:camera prst="legacyObliqueTopRight"/>
              <a:lightRig rig="legacyFlat2" dir="t"/>
            </a:scene3d>
            <a:sp3d extrusionH="1635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86" name="Rectangle 6"/>
            <p:cNvSpPr>
              <a:spLocks noChangeArrowheads="1"/>
            </p:cNvSpPr>
            <p:nvPr/>
          </p:nvSpPr>
          <p:spPr bwMode="auto">
            <a:xfrm>
              <a:off x="685800" y="2979738"/>
              <a:ext cx="76200" cy="2209800"/>
            </a:xfrm>
            <a:prstGeom prst="rect">
              <a:avLst/>
            </a:prstGeom>
            <a:solidFill>
              <a:srgbClr val="FF9900"/>
            </a:solidFill>
            <a:ln w="9525">
              <a:miter lim="800000"/>
            </a:ln>
            <a:scene3d>
              <a:camera prst="legacyObliqueTopRight"/>
              <a:lightRig rig="legacyFlat3" dir="b"/>
            </a:scene3d>
            <a:sp3d extrusionH="138100" prstMaterial="legacyMatte">
              <a:bevelT w="13500" h="13500" prst="angle"/>
              <a:bevelB w="13500" h="13500" prst="angle"/>
              <a:extrusionClr>
                <a:srgbClr val="FF9900"/>
              </a:extrusionClr>
            </a:sp3d>
          </p:spPr>
          <p:txBody>
            <a:bodyPr wrap="none" anchor="ctr">
              <a:flatTx/>
            </a:bodyPr>
            <a:lstStyle/>
            <a:p>
              <a:pPr marL="0" marR="0" lvl="0" indent="0" algn="ctr" defTabSz="914400" eaLnBrk="1" latinLnBrk="0" hangingPunct="1">
                <a:spcBef>
                  <a:spcPts val="0"/>
                </a:spcBef>
                <a:spcAft>
                  <a:spcPts val="0"/>
                </a:spcAft>
                <a:buClrTx/>
                <a:buSzTx/>
                <a:buFontTx/>
                <a:buNone/>
                <a:defRPr/>
              </a:pPr>
              <a:endParaRPr kumimoji="0" lang="zh-CN" altLang="zh-CN" sz="1800" b="0" i="0" u="none" strike="noStrike" kern="0" cap="none" spc="0" normalizeH="0" baseline="0" noProof="0">
                <a:ln>
                  <a:noFill/>
                </a:ln>
                <a:solidFill>
                  <a:srgbClr val="FFCC66"/>
                </a:solidFill>
                <a:effectLst/>
                <a:uLnTx/>
                <a:uFillTx/>
                <a:latin typeface="Calibri" panose="020F0502020204030204" pitchFamily="34" charset="0"/>
                <a:cs typeface="Calibri" panose="020F0502020204030204" pitchFamily="34" charset="0"/>
              </a:endParaRPr>
            </a:p>
          </p:txBody>
        </p:sp>
        <p:sp>
          <p:nvSpPr>
            <p:cNvPr id="87" name="Rectangle 7"/>
            <p:cNvSpPr>
              <a:spLocks noChangeArrowheads="1"/>
            </p:cNvSpPr>
            <p:nvPr/>
          </p:nvSpPr>
          <p:spPr bwMode="auto">
            <a:xfrm>
              <a:off x="914400" y="5105400"/>
              <a:ext cx="76200" cy="762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88" name="Rectangle 8"/>
            <p:cNvSpPr>
              <a:spLocks noChangeArrowheads="1"/>
            </p:cNvSpPr>
            <p:nvPr/>
          </p:nvSpPr>
          <p:spPr bwMode="auto">
            <a:xfrm>
              <a:off x="2133600" y="4495800"/>
              <a:ext cx="76200" cy="6858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89" name="Rectangle 9"/>
            <p:cNvSpPr>
              <a:spLocks noChangeArrowheads="1"/>
            </p:cNvSpPr>
            <p:nvPr/>
          </p:nvSpPr>
          <p:spPr bwMode="auto">
            <a:xfrm>
              <a:off x="1817688" y="4495800"/>
              <a:ext cx="76200" cy="6858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0" name="Rectangle 10"/>
            <p:cNvSpPr>
              <a:spLocks noChangeArrowheads="1"/>
            </p:cNvSpPr>
            <p:nvPr/>
          </p:nvSpPr>
          <p:spPr bwMode="auto">
            <a:xfrm>
              <a:off x="1524000" y="4419600"/>
              <a:ext cx="76200" cy="7620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1" name="Rectangle 11"/>
            <p:cNvSpPr>
              <a:spLocks noChangeArrowheads="1"/>
            </p:cNvSpPr>
            <p:nvPr/>
          </p:nvSpPr>
          <p:spPr bwMode="auto">
            <a:xfrm>
              <a:off x="1219200" y="5105400"/>
              <a:ext cx="76200" cy="762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2" name="Rectangle 12"/>
            <p:cNvSpPr>
              <a:spLocks noChangeArrowheads="1"/>
            </p:cNvSpPr>
            <p:nvPr/>
          </p:nvSpPr>
          <p:spPr bwMode="auto">
            <a:xfrm>
              <a:off x="3962400" y="4572000"/>
              <a:ext cx="76200" cy="6096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3" name="Rectangle 13"/>
            <p:cNvSpPr>
              <a:spLocks noChangeArrowheads="1"/>
            </p:cNvSpPr>
            <p:nvPr/>
          </p:nvSpPr>
          <p:spPr bwMode="auto">
            <a:xfrm>
              <a:off x="2438400" y="4648200"/>
              <a:ext cx="76200" cy="5334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4" name="Rectangle 14"/>
            <p:cNvSpPr>
              <a:spLocks noChangeArrowheads="1"/>
            </p:cNvSpPr>
            <p:nvPr/>
          </p:nvSpPr>
          <p:spPr bwMode="auto">
            <a:xfrm>
              <a:off x="3048000" y="3200400"/>
              <a:ext cx="76200" cy="19812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5" name="Rectangle 15"/>
            <p:cNvSpPr>
              <a:spLocks noChangeArrowheads="1"/>
            </p:cNvSpPr>
            <p:nvPr/>
          </p:nvSpPr>
          <p:spPr bwMode="auto">
            <a:xfrm>
              <a:off x="4038600" y="5105400"/>
              <a:ext cx="76200" cy="762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6" name="Rectangle 16"/>
            <p:cNvSpPr>
              <a:spLocks noChangeArrowheads="1"/>
            </p:cNvSpPr>
            <p:nvPr/>
          </p:nvSpPr>
          <p:spPr bwMode="auto">
            <a:xfrm>
              <a:off x="2743200" y="4876800"/>
              <a:ext cx="76200" cy="3048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7" name="Line 17"/>
            <p:cNvSpPr>
              <a:spLocks noChangeShapeType="1"/>
            </p:cNvSpPr>
            <p:nvPr/>
          </p:nvSpPr>
          <p:spPr bwMode="auto">
            <a:xfrm>
              <a:off x="1004888" y="5173663"/>
              <a:ext cx="76200" cy="0"/>
            </a:xfrm>
            <a:prstGeom prst="line">
              <a:avLst/>
            </a:prstGeom>
            <a:noFill/>
            <a:ln w="28575">
              <a:solidFill>
                <a:srgbClr val="FF9900"/>
              </a:solidFill>
              <a:round/>
            </a:ln>
            <a:scene3d>
              <a:camera prst="legacyObliqueTopRight"/>
              <a:lightRig rig="legacyFlat2" dir="t"/>
            </a:scene3d>
            <a:sp3d extrusionH="138100" prstMaterial="legacyMatte">
              <a:bevelT w="13500" h="13500" prst="angle"/>
              <a:bevelB w="13500" h="13500" prst="angle"/>
              <a:extrusionClr>
                <a:srgbClr val="FF9900"/>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8" name="Line 18"/>
            <p:cNvSpPr>
              <a:spLocks noChangeShapeType="1"/>
            </p:cNvSpPr>
            <p:nvPr/>
          </p:nvSpPr>
          <p:spPr bwMode="auto">
            <a:xfrm>
              <a:off x="2833688" y="5173663"/>
              <a:ext cx="76200" cy="0"/>
            </a:xfrm>
            <a:prstGeom prst="line">
              <a:avLst/>
            </a:prstGeom>
            <a:noFill/>
            <a:ln w="28575">
              <a:solidFill>
                <a:srgbClr val="FF9900"/>
              </a:solidFill>
              <a:round/>
            </a:ln>
            <a:scene3d>
              <a:camera prst="legacyObliqueTopRight"/>
              <a:lightRig rig="legacyFlat2" dir="t"/>
            </a:scene3d>
            <a:sp3d extrusionH="138100" prstMaterial="legacyMatte">
              <a:bevelT w="13500" h="13500" prst="angle"/>
              <a:bevelB w="13500" h="13500" prst="angle"/>
              <a:extrusionClr>
                <a:srgbClr val="FF9900"/>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99" name="Line 19"/>
            <p:cNvSpPr>
              <a:spLocks noChangeShapeType="1"/>
            </p:cNvSpPr>
            <p:nvPr/>
          </p:nvSpPr>
          <p:spPr bwMode="auto">
            <a:xfrm>
              <a:off x="2532063" y="5173663"/>
              <a:ext cx="76200" cy="0"/>
            </a:xfrm>
            <a:prstGeom prst="line">
              <a:avLst/>
            </a:prstGeom>
            <a:noFill/>
            <a:ln w="28575">
              <a:solidFill>
                <a:srgbClr val="FF9900"/>
              </a:solidFill>
              <a:round/>
            </a:ln>
            <a:scene3d>
              <a:camera prst="legacyObliqueTopRight"/>
              <a:lightRig rig="legacyFlat2" dir="t"/>
            </a:scene3d>
            <a:sp3d extrusionH="138100" prstMaterial="legacyMatte">
              <a:bevelT w="13500" h="13500" prst="angle"/>
              <a:bevelB w="13500" h="13500" prst="angle"/>
              <a:extrusionClr>
                <a:srgbClr val="FF9900"/>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0" name="Line 20"/>
            <p:cNvSpPr>
              <a:spLocks noChangeShapeType="1"/>
            </p:cNvSpPr>
            <p:nvPr/>
          </p:nvSpPr>
          <p:spPr bwMode="auto">
            <a:xfrm>
              <a:off x="3143250" y="5173663"/>
              <a:ext cx="76200" cy="0"/>
            </a:xfrm>
            <a:prstGeom prst="line">
              <a:avLst/>
            </a:prstGeom>
            <a:noFill/>
            <a:ln w="28575">
              <a:solidFill>
                <a:srgbClr val="FF9900"/>
              </a:solidFill>
              <a:round/>
            </a:ln>
            <a:scene3d>
              <a:camera prst="legacyObliqueTopRight"/>
              <a:lightRig rig="legacyFlat2" dir="t"/>
            </a:scene3d>
            <a:sp3d extrusionH="138100" prstMaterial="legacyMatte">
              <a:bevelT w="13500" h="13500" prst="angle"/>
              <a:bevelB w="13500" h="13500" prst="angle"/>
              <a:extrusionClr>
                <a:srgbClr val="FF9900"/>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1" name="Line 21"/>
            <p:cNvSpPr>
              <a:spLocks noChangeShapeType="1"/>
            </p:cNvSpPr>
            <p:nvPr/>
          </p:nvSpPr>
          <p:spPr bwMode="auto">
            <a:xfrm>
              <a:off x="3352800" y="5181600"/>
              <a:ext cx="76200" cy="0"/>
            </a:xfrm>
            <a:prstGeom prst="line">
              <a:avLst/>
            </a:prstGeom>
            <a:noFill/>
            <a:ln w="28575">
              <a:solidFill>
                <a:srgbClr val="006699"/>
              </a:solidFill>
              <a:round/>
            </a:ln>
            <a:scene3d>
              <a:camera prst="legacyObliqueTopRight"/>
              <a:lightRig rig="legacyFlat2" dir="t"/>
            </a:scene3d>
            <a:sp3d extrusionH="138100" prstMaterial="legacyMatte">
              <a:bevelT w="13500" h="13500" prst="angle"/>
              <a:bevelB w="13500" h="13500" prst="angle"/>
              <a:extrusionClr>
                <a:srgbClr val="006699"/>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2" name="Line 22"/>
            <p:cNvSpPr>
              <a:spLocks noChangeShapeType="1"/>
            </p:cNvSpPr>
            <p:nvPr/>
          </p:nvSpPr>
          <p:spPr bwMode="auto">
            <a:xfrm>
              <a:off x="3657600" y="5181600"/>
              <a:ext cx="76200" cy="0"/>
            </a:xfrm>
            <a:prstGeom prst="line">
              <a:avLst/>
            </a:prstGeom>
            <a:noFill/>
            <a:ln w="28575">
              <a:solidFill>
                <a:srgbClr val="006699"/>
              </a:solidFill>
              <a:round/>
            </a:ln>
            <a:scene3d>
              <a:camera prst="legacyObliqueTopRight"/>
              <a:lightRig rig="legacyFlat2" dir="t"/>
            </a:scene3d>
            <a:sp3d extrusionH="138100" prstMaterial="legacyMatte">
              <a:bevelT w="13500" h="13500" prst="angle"/>
              <a:bevelB w="13500" h="13500" prst="angle"/>
              <a:extrusionClr>
                <a:srgbClr val="006699"/>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3" name="Line 23"/>
            <p:cNvSpPr>
              <a:spLocks noChangeShapeType="1"/>
            </p:cNvSpPr>
            <p:nvPr/>
          </p:nvSpPr>
          <p:spPr bwMode="auto">
            <a:xfrm>
              <a:off x="4267200" y="5181600"/>
              <a:ext cx="76200" cy="0"/>
            </a:xfrm>
            <a:prstGeom prst="line">
              <a:avLst/>
            </a:prstGeom>
            <a:noFill/>
            <a:ln w="28575">
              <a:solidFill>
                <a:srgbClr val="006699"/>
              </a:solidFill>
              <a:round/>
            </a:ln>
            <a:scene3d>
              <a:camera prst="legacyObliqueTopRight"/>
              <a:lightRig rig="legacyFlat2" dir="t"/>
            </a:scene3d>
            <a:sp3d extrusionH="138100" prstMaterial="legacyMatte">
              <a:bevelT w="13500" h="13500" prst="angle"/>
              <a:bevelB w="13500" h="13500" prst="angle"/>
              <a:extrusionClr>
                <a:srgbClr val="006699"/>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4" name="Line 24"/>
            <p:cNvSpPr>
              <a:spLocks noChangeShapeType="1"/>
            </p:cNvSpPr>
            <p:nvPr/>
          </p:nvSpPr>
          <p:spPr bwMode="auto">
            <a:xfrm>
              <a:off x="4572000" y="5181600"/>
              <a:ext cx="76200" cy="0"/>
            </a:xfrm>
            <a:prstGeom prst="line">
              <a:avLst/>
            </a:prstGeom>
            <a:noFill/>
            <a:ln w="28575">
              <a:solidFill>
                <a:srgbClr val="006699"/>
              </a:solidFill>
              <a:round/>
            </a:ln>
            <a:scene3d>
              <a:camera prst="legacyObliqueTopRight"/>
              <a:lightRig rig="legacyFlat2" dir="t"/>
            </a:scene3d>
            <a:sp3d extrusionH="138100" prstMaterial="legacyMatte">
              <a:bevelT w="13500" h="13500" prst="angle"/>
              <a:bevelB w="13500" h="13500" prst="angle"/>
              <a:extrusionClr>
                <a:srgbClr val="006699"/>
              </a:extrusionClr>
            </a:sp3d>
            <a:extLst>
              <a:ext uri="{909E8E84-426E-40DD-AFC4-6F175D3DCCD1}">
                <a14:hiddenFill xmlns:a14="http://schemas.microsoft.com/office/drawing/2010/main">
                  <a:noFill/>
                </a14:hiddenFill>
              </a:ext>
            </a:extLst>
          </p:spPr>
          <p:txBody>
            <a:bodyP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5" name="Rectangle 26"/>
            <p:cNvSpPr>
              <a:spLocks noChangeArrowheads="1"/>
            </p:cNvSpPr>
            <p:nvPr/>
          </p:nvSpPr>
          <p:spPr bwMode="auto">
            <a:xfrm>
              <a:off x="381000" y="1752600"/>
              <a:ext cx="381000" cy="152400"/>
            </a:xfrm>
            <a:prstGeom prst="rect">
              <a:avLst/>
            </a:prstGeom>
            <a:solidFill>
              <a:srgbClr val="006699"/>
            </a:solidFill>
            <a:ln w="9525">
              <a:miter lim="800000"/>
            </a:ln>
            <a:scene3d>
              <a:camera prst="legacyObliqueTopRight"/>
              <a:lightRig rig="legacyFlat2" dir="t"/>
            </a:scene3d>
            <a:sp3d extrusionH="138100" prstMaterial="legacyMatte">
              <a:bevelT w="13500" h="13500" prst="angle"/>
              <a:bevelB w="13500" h="13500" prst="angle"/>
              <a:extrusionClr>
                <a:srgbClr val="006699"/>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6" name="Text Box 27"/>
            <p:cNvSpPr txBox="1">
              <a:spLocks noChangeArrowheads="1"/>
            </p:cNvSpPr>
            <p:nvPr/>
          </p:nvSpPr>
          <p:spPr bwMode="auto">
            <a:xfrm>
              <a:off x="951049" y="1576388"/>
              <a:ext cx="1466578" cy="49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defTabSz="914400" eaLnBrk="1" latinLnBrk="0" hangingPunct="1">
                <a:spcBef>
                  <a:spcPts val="0"/>
                </a:spcBef>
                <a:spcAft>
                  <a:spcPts val="0"/>
                </a:spcAft>
                <a:buClrTx/>
                <a:buSzTx/>
                <a:buFontTx/>
                <a:buNone/>
                <a:defRPr/>
              </a:pPr>
              <a:r>
                <a:rPr kumimoji="0" lang="en-US" altLang="zh-CN" sz="2400" b="0" i="0" u="none" strike="noStrike" kern="0" cap="none" spc="0" normalizeH="0" baseline="0" noProof="0" dirty="0">
                  <a:ln>
                    <a:noFill/>
                  </a:ln>
                  <a:solidFill>
                    <a:srgbClr val="006699"/>
                  </a:solidFill>
                  <a:effectLst/>
                  <a:uLnTx/>
                  <a:uFillTx/>
                  <a:latin typeface="Calibri" panose="020F0502020204030204" pitchFamily="34" charset="0"/>
                  <a:cs typeface="Calibri" panose="020F0502020204030204" pitchFamily="34" charset="0"/>
                </a:rPr>
                <a:t>Authority</a:t>
              </a:r>
              <a:endParaRPr kumimoji="0" lang="en-US" altLang="zh-CN" sz="2400" b="0" i="0" u="none" strike="noStrike" kern="0" cap="none" spc="0" normalizeH="0" baseline="0" noProof="0" dirty="0">
                <a:ln>
                  <a:noFill/>
                </a:ln>
                <a:solidFill>
                  <a:srgbClr val="006699"/>
                </a:solidFill>
                <a:effectLst/>
                <a:uLnTx/>
                <a:uFillTx/>
                <a:latin typeface="Calibri" panose="020F0502020204030204" pitchFamily="34" charset="0"/>
                <a:cs typeface="Calibri" panose="020F0502020204030204" pitchFamily="34" charset="0"/>
              </a:endParaRPr>
            </a:p>
          </p:txBody>
        </p:sp>
        <p:sp>
          <p:nvSpPr>
            <p:cNvPr id="107" name="Rectangle 28"/>
            <p:cNvSpPr>
              <a:spLocks noChangeArrowheads="1"/>
            </p:cNvSpPr>
            <p:nvPr/>
          </p:nvSpPr>
          <p:spPr bwMode="auto">
            <a:xfrm>
              <a:off x="381000" y="2133600"/>
              <a:ext cx="381000" cy="1524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08" name="Text Box 29"/>
            <p:cNvSpPr txBox="1">
              <a:spLocks noChangeArrowheads="1"/>
            </p:cNvSpPr>
            <p:nvPr/>
          </p:nvSpPr>
          <p:spPr bwMode="auto">
            <a:xfrm>
              <a:off x="1012722" y="1957387"/>
              <a:ext cx="1344820" cy="497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defTabSz="914400" eaLnBrk="1" latinLnBrk="0" hangingPunct="1">
                <a:spcBef>
                  <a:spcPts val="0"/>
                </a:spcBef>
                <a:spcAft>
                  <a:spcPts val="0"/>
                </a:spcAft>
                <a:buClrTx/>
                <a:buSzTx/>
                <a:buFontTx/>
                <a:buNone/>
                <a:defRPr/>
              </a:pPr>
              <a:r>
                <a:rPr kumimoji="0" lang="en-US" altLang="zh-CN" sz="2400" b="0" i="0" u="none" strike="noStrike" kern="0" cap="none" spc="0" normalizeH="0" baseline="0" noProof="0" dirty="0" err="1">
                  <a:ln>
                    <a:noFill/>
                  </a:ln>
                  <a:solidFill>
                    <a:srgbClr val="006699"/>
                  </a:solidFill>
                  <a:effectLst/>
                  <a:uLnTx/>
                  <a:uFillTx/>
                  <a:latin typeface="Calibri" panose="020F0502020204030204" pitchFamily="34" charset="0"/>
                  <a:cs typeface="Calibri" panose="020F0502020204030204" pitchFamily="34" charset="0"/>
                </a:rPr>
                <a:t>Hubness</a:t>
              </a:r>
              <a:endParaRPr kumimoji="0" lang="en-US" altLang="zh-CN" sz="2400" b="0" i="0" u="none" strike="noStrike" kern="0" cap="none" spc="0" normalizeH="0" baseline="0" noProof="0" dirty="0">
                <a:ln>
                  <a:noFill/>
                </a:ln>
                <a:solidFill>
                  <a:srgbClr val="006699"/>
                </a:solidFill>
                <a:effectLst/>
                <a:uLnTx/>
                <a:uFillTx/>
                <a:latin typeface="Calibri" panose="020F0502020204030204" pitchFamily="34" charset="0"/>
                <a:cs typeface="Calibri" panose="020F0502020204030204" pitchFamily="34" charset="0"/>
              </a:endParaRPr>
            </a:p>
          </p:txBody>
        </p:sp>
        <p:sp>
          <p:nvSpPr>
            <p:cNvPr id="109" name="Text Box 30"/>
            <p:cNvSpPr txBox="1">
              <a:spLocks noChangeArrowheads="1"/>
            </p:cNvSpPr>
            <p:nvPr/>
          </p:nvSpPr>
          <p:spPr bwMode="auto">
            <a:xfrm>
              <a:off x="341104" y="5257800"/>
              <a:ext cx="4467640" cy="39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defTabSz="914400" eaLnBrk="1" latinLnBrk="0" hangingPunct="1">
                <a:spcBef>
                  <a:spcPts val="0"/>
                </a:spcBef>
                <a:spcAft>
                  <a:spcPts val="0"/>
                </a:spcAft>
                <a:buClrTx/>
                <a:buSzTx/>
                <a:buFontTx/>
                <a:buNone/>
                <a:defRPr/>
              </a:pPr>
              <a:r>
                <a:rPr kumimoji="0" lang="en-US" altLang="zh-CN" sz="1800" b="0" i="0" u="none" strike="noStrike" kern="0" cap="none" spc="0" normalizeH="0" baseline="0" noProof="0" dirty="0">
                  <a:ln>
                    <a:noFill/>
                  </a:ln>
                  <a:solidFill>
                    <a:srgbClr val="006699"/>
                  </a:solidFill>
                  <a:effectLst/>
                  <a:uLnTx/>
                  <a:uFillTx/>
                  <a:latin typeface="Calibri" panose="020F0502020204030204" pitchFamily="34" charset="0"/>
                  <a:cs typeface="Calibri" panose="020F0502020204030204" pitchFamily="34" charset="0"/>
                </a:rPr>
                <a:t>1  2   3   4   5   6   7  8   9  10 11 12 13 14 15</a:t>
              </a:r>
              <a:endParaRPr kumimoji="0" lang="en-US" altLang="zh-CN" sz="1800" b="0" i="0" u="none" strike="noStrike" kern="0" cap="none" spc="0" normalizeH="0" baseline="0" noProof="0" dirty="0">
                <a:ln>
                  <a:noFill/>
                </a:ln>
                <a:solidFill>
                  <a:srgbClr val="006699"/>
                </a:solidFill>
                <a:effectLst/>
                <a:uLnTx/>
                <a:uFillTx/>
                <a:latin typeface="Calibri" panose="020F0502020204030204" pitchFamily="34" charset="0"/>
                <a:cs typeface="Calibri" panose="020F0502020204030204" pitchFamily="34" charset="0"/>
              </a:endParaRPr>
            </a:p>
          </p:txBody>
        </p:sp>
        <p:sp>
          <p:nvSpPr>
            <p:cNvPr id="110" name="Text Box 31"/>
            <p:cNvSpPr txBox="1">
              <a:spLocks noChangeArrowheads="1"/>
            </p:cNvSpPr>
            <p:nvPr/>
          </p:nvSpPr>
          <p:spPr bwMode="auto">
            <a:xfrm>
              <a:off x="154445" y="5638800"/>
              <a:ext cx="4748883" cy="530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defTabSz="914400" eaLnBrk="1" latinLnBrk="0" hangingPunct="1">
                <a:spcBef>
                  <a:spcPts val="0"/>
                </a:spcBef>
                <a:spcAft>
                  <a:spcPts val="0"/>
                </a:spcAft>
                <a:buClrTx/>
                <a:buSzTx/>
                <a:buFontTx/>
                <a:buNone/>
                <a:defRPr/>
              </a:pPr>
              <a:r>
                <a:rPr kumimoji="0" lang="en-US" altLang="zh-CN" sz="2600" b="0" i="0" u="none" strike="noStrike" kern="0" cap="none" spc="0" normalizeH="0" baseline="0" noProof="0">
                  <a:ln>
                    <a:noFill/>
                  </a:ln>
                  <a:solidFill>
                    <a:srgbClr val="006699"/>
                  </a:solidFill>
                  <a:effectLst/>
                  <a:uLnTx/>
                  <a:uFillTx/>
                  <a:latin typeface="Calibri" panose="020F0502020204030204" pitchFamily="34" charset="0"/>
                  <a:cs typeface="Calibri" panose="020F0502020204030204" pitchFamily="34" charset="0"/>
                </a:rPr>
                <a:t>Authority and hubness weights</a:t>
              </a:r>
              <a:r>
                <a:rPr kumimoji="0" lang="en-US" altLang="zh-CN" sz="1800" b="0" i="0" u="none" strike="noStrike" kern="0" cap="none" spc="0" normalizeH="0" baseline="0" noProof="0">
                  <a:ln>
                    <a:noFill/>
                  </a:ln>
                  <a:solidFill>
                    <a:srgbClr val="006699"/>
                  </a:solidFill>
                  <a:effectLst/>
                  <a:uLnTx/>
                  <a:uFillTx/>
                  <a:latin typeface="Calibri" panose="020F0502020204030204" pitchFamily="34" charset="0"/>
                  <a:cs typeface="Calibri" panose="020F0502020204030204" pitchFamily="34" charset="0"/>
                </a:rPr>
                <a:t> </a:t>
              </a:r>
              <a:endParaRPr kumimoji="0" lang="en-US" altLang="zh-CN" sz="1800" b="0" i="0" u="none" strike="noStrike" kern="0" cap="none" spc="0" normalizeH="0" baseline="0" noProof="0">
                <a:ln>
                  <a:noFill/>
                </a:ln>
                <a:solidFill>
                  <a:srgbClr val="006699"/>
                </a:solidFill>
                <a:effectLst/>
                <a:uLnTx/>
                <a:uFillTx/>
                <a:latin typeface="Calibri" panose="020F0502020204030204" pitchFamily="34" charset="0"/>
                <a:cs typeface="Calibri" panose="020F0502020204030204" pitchFamily="34" charset="0"/>
              </a:endParaRPr>
            </a:p>
          </p:txBody>
        </p:sp>
        <p:sp>
          <p:nvSpPr>
            <p:cNvPr id="111" name="Rectangle 32"/>
            <p:cNvSpPr>
              <a:spLocks noChangeArrowheads="1"/>
            </p:cNvSpPr>
            <p:nvPr/>
          </p:nvSpPr>
          <p:spPr bwMode="auto">
            <a:xfrm>
              <a:off x="2209800" y="5105400"/>
              <a:ext cx="76200" cy="762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2" name="Rectangle 33"/>
            <p:cNvSpPr>
              <a:spLocks noChangeArrowheads="1"/>
            </p:cNvSpPr>
            <p:nvPr/>
          </p:nvSpPr>
          <p:spPr bwMode="auto">
            <a:xfrm>
              <a:off x="1905000" y="4191000"/>
              <a:ext cx="76200" cy="990600"/>
            </a:xfrm>
            <a:prstGeom prst="rect">
              <a:avLst/>
            </a:prstGeom>
            <a:solidFill>
              <a:srgbClr val="FF9900"/>
            </a:solidFill>
            <a:ln w="9525">
              <a:miter lim="800000"/>
            </a:ln>
            <a:scene3d>
              <a:camera prst="legacyObliqueTopRight"/>
              <a:lightRig rig="legacyFlat3"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3" name="Rectangle 34"/>
            <p:cNvSpPr>
              <a:spLocks noChangeArrowheads="1"/>
            </p:cNvSpPr>
            <p:nvPr/>
          </p:nvSpPr>
          <p:spPr bwMode="auto">
            <a:xfrm>
              <a:off x="1316038" y="4648200"/>
              <a:ext cx="76200" cy="5334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4" name="Rectangle 35"/>
            <p:cNvSpPr>
              <a:spLocks noChangeArrowheads="1"/>
            </p:cNvSpPr>
            <p:nvPr/>
          </p:nvSpPr>
          <p:spPr bwMode="auto">
            <a:xfrm>
              <a:off x="4349750" y="5127625"/>
              <a:ext cx="76200" cy="762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5" name="Rectangle 36"/>
            <p:cNvSpPr>
              <a:spLocks noChangeArrowheads="1"/>
            </p:cNvSpPr>
            <p:nvPr/>
          </p:nvSpPr>
          <p:spPr bwMode="auto">
            <a:xfrm>
              <a:off x="4660900" y="4972050"/>
              <a:ext cx="76200" cy="2286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6" name="Rectangle 37"/>
            <p:cNvSpPr>
              <a:spLocks noChangeArrowheads="1"/>
            </p:cNvSpPr>
            <p:nvPr/>
          </p:nvSpPr>
          <p:spPr bwMode="auto">
            <a:xfrm>
              <a:off x="3738563" y="3289300"/>
              <a:ext cx="76200" cy="1905000"/>
            </a:xfrm>
            <a:prstGeom prst="rect">
              <a:avLst/>
            </a:prstGeom>
            <a:solidFill>
              <a:srgbClr val="FF9900"/>
            </a:solidFill>
            <a:ln w="9525">
              <a:miter lim="800000"/>
            </a:ln>
            <a:scene3d>
              <a:camera prst="legacyObliqueTopRight"/>
              <a:lightRig rig="legacyFlat3"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7" name="Rectangle 38"/>
            <p:cNvSpPr>
              <a:spLocks noChangeArrowheads="1"/>
            </p:cNvSpPr>
            <p:nvPr/>
          </p:nvSpPr>
          <p:spPr bwMode="auto">
            <a:xfrm>
              <a:off x="3429000" y="4972050"/>
              <a:ext cx="76200" cy="2286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118" name="Rectangle 39"/>
            <p:cNvSpPr>
              <a:spLocks noChangeArrowheads="1"/>
            </p:cNvSpPr>
            <p:nvPr/>
          </p:nvSpPr>
          <p:spPr bwMode="auto">
            <a:xfrm>
              <a:off x="1608138" y="4419600"/>
              <a:ext cx="76200" cy="762000"/>
            </a:xfrm>
            <a:prstGeom prst="rect">
              <a:avLst/>
            </a:prstGeom>
            <a:solidFill>
              <a:srgbClr val="FF9900"/>
            </a:solidFill>
            <a:ln w="9525">
              <a:miter lim="800000"/>
            </a:ln>
            <a:scene3d>
              <a:camera prst="legacyObliqueTopRight"/>
              <a:lightRig rig="legacyFlat2" dir="t"/>
            </a:scene3d>
            <a:sp3d extrusionH="138100" prstMaterial="legacyMatte">
              <a:bevelT w="13500" h="13500" prst="angle"/>
              <a:bevelB w="13500" h="13500" prst="angle"/>
              <a:extrusionClr>
                <a:srgbClr val="FF9900"/>
              </a:extrusionClr>
            </a:sp3d>
          </p:spPr>
          <p:txBody>
            <a:bodyPr wrap="none" anchor="ctr">
              <a:flatTx/>
            </a:bodyP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Calibri" panose="020F0502020204030204" pitchFamily="34" charset="0"/>
              </a:endParaRPr>
            </a:p>
          </p:txBody>
        </p:sp>
      </p:grpSp>
      <p:sp>
        <p:nvSpPr>
          <p:cNvPr id="43" name="矩形 42"/>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39552" y="1700808"/>
            <a:ext cx="7967721" cy="3681439"/>
          </a:xfrm>
          <a:prstGeom prst="rect">
            <a:avLst/>
          </a:prstGeom>
        </p:spPr>
      </p:pic>
      <p:sp>
        <p:nvSpPr>
          <p:cNvPr id="6" name="矩形 5"/>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3040" y="1196752"/>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eaLnBrk="1" hangingPunct="1">
              <a:lnSpc>
                <a:spcPct val="110000"/>
              </a:lnSpc>
              <a:spcBef>
                <a:spcPts val="600"/>
              </a:spcBef>
              <a:buClr>
                <a:srgbClr val="1557AE"/>
              </a:buClr>
              <a:buFont typeface="Wingdings" panose="05000000000000000000" pitchFamily="2" charset="2"/>
              <a:buChar char="ü"/>
            </a:pPr>
            <a:r>
              <a:rPr lang="zh-CN" altLang="en-US" sz="2400" dirty="0">
                <a:latin typeface="Calibri" panose="020F0502020204030204" pitchFamily="34" charset="0"/>
                <a:cs typeface="Calibri" panose="020F0502020204030204" pitchFamily="34" charset="0"/>
              </a:rPr>
              <a:t>实际应用中，</a:t>
            </a:r>
            <a:r>
              <a:rPr lang="zh-CN" altLang="en-US" sz="2400" dirty="0">
                <a:solidFill>
                  <a:srgbClr val="1557AE"/>
                </a:solidFill>
                <a:latin typeface="Calibri" panose="020F0502020204030204" pitchFamily="34" charset="0"/>
                <a:cs typeface="Calibri" panose="020F0502020204030204" pitchFamily="34" charset="0"/>
              </a:rPr>
              <a:t>由</a:t>
            </a:r>
            <a:r>
              <a:rPr lang="en-US" altLang="zh-CN" sz="2400" dirty="0">
                <a:solidFill>
                  <a:srgbClr val="1557AE"/>
                </a:solidFill>
                <a:latin typeface="Calibri" panose="020F0502020204030204" pitchFamily="34" charset="0"/>
                <a:cs typeface="Calibri" panose="020F0502020204030204" pitchFamily="34" charset="0"/>
              </a:rPr>
              <a:t>S</a:t>
            </a:r>
            <a:r>
              <a:rPr lang="zh-CN" altLang="en-US" sz="2400" dirty="0">
                <a:solidFill>
                  <a:srgbClr val="1557AE"/>
                </a:solidFill>
                <a:latin typeface="Calibri" panose="020F0502020204030204" pitchFamily="34" charset="0"/>
                <a:cs typeface="Calibri" panose="020F0502020204030204" pitchFamily="34" charset="0"/>
              </a:rPr>
              <a:t>生成</a:t>
            </a:r>
            <a:r>
              <a:rPr lang="en-US" altLang="zh-CN" sz="2400" dirty="0">
                <a:solidFill>
                  <a:srgbClr val="1557AE"/>
                </a:solidFill>
                <a:latin typeface="Calibri" panose="020F0502020204030204" pitchFamily="34" charset="0"/>
                <a:cs typeface="Calibri" panose="020F0502020204030204" pitchFamily="34" charset="0"/>
              </a:rPr>
              <a:t>T</a:t>
            </a:r>
            <a:r>
              <a:rPr lang="zh-CN" altLang="en-US" sz="2400" dirty="0">
                <a:solidFill>
                  <a:srgbClr val="1557AE"/>
                </a:solidFill>
                <a:latin typeface="Calibri" panose="020F0502020204030204" pitchFamily="34" charset="0"/>
                <a:cs typeface="Calibri" panose="020F0502020204030204" pitchFamily="34" charset="0"/>
              </a:rPr>
              <a:t>的时间开销是很昂贵的</a:t>
            </a:r>
            <a:r>
              <a:rPr lang="zh-CN" altLang="en-US" sz="2400" dirty="0">
                <a:latin typeface="Calibri" panose="020F0502020204030204" pitchFamily="34" charset="0"/>
                <a:cs typeface="Calibri" panose="020F0502020204030204" pitchFamily="34" charset="0"/>
              </a:rPr>
              <a:t>，需要下载和分析</a:t>
            </a:r>
            <a:r>
              <a:rPr lang="en-US" altLang="zh-CN" sz="2400" dirty="0">
                <a:latin typeface="Calibri" panose="020F0502020204030204" pitchFamily="34" charset="0"/>
                <a:cs typeface="Calibri" panose="020F0502020204030204" pitchFamily="34" charset="0"/>
              </a:rPr>
              <a:t>S</a:t>
            </a:r>
            <a:r>
              <a:rPr lang="zh-CN" altLang="en-US" sz="2400" dirty="0">
                <a:latin typeface="Calibri" panose="020F0502020204030204" pitchFamily="34" charset="0"/>
                <a:cs typeface="Calibri" panose="020F0502020204030204" pitchFamily="34" charset="0"/>
              </a:rPr>
              <a:t>中每个网页包含的所有链接，并且排除重复的链接。一般</a:t>
            </a:r>
            <a:r>
              <a:rPr lang="en-US" altLang="zh-CN" sz="2400" dirty="0">
                <a:latin typeface="Calibri" panose="020F0502020204030204" pitchFamily="34" charset="0"/>
                <a:cs typeface="Calibri" panose="020F0502020204030204" pitchFamily="34" charset="0"/>
              </a:rPr>
              <a:t>T</a:t>
            </a:r>
            <a:r>
              <a:rPr lang="zh-CN" altLang="en-US" sz="2400" dirty="0">
                <a:latin typeface="Calibri" panose="020F0502020204030204" pitchFamily="34" charset="0"/>
                <a:cs typeface="Calibri" panose="020F0502020204030204" pitchFamily="34" charset="0"/>
              </a:rPr>
              <a:t>比</a:t>
            </a:r>
            <a:r>
              <a:rPr lang="en-US" altLang="zh-CN" sz="2400" dirty="0">
                <a:latin typeface="Calibri" panose="020F0502020204030204" pitchFamily="34" charset="0"/>
                <a:cs typeface="Calibri" panose="020F0502020204030204" pitchFamily="34" charset="0"/>
              </a:rPr>
              <a:t>S</a:t>
            </a:r>
            <a:r>
              <a:rPr lang="zh-CN" altLang="en-US" sz="2400" dirty="0">
                <a:latin typeface="Calibri" panose="020F0502020204030204" pitchFamily="34" charset="0"/>
                <a:cs typeface="Calibri" panose="020F0502020204030204" pitchFamily="34" charset="0"/>
              </a:rPr>
              <a:t>大很多，由</a:t>
            </a:r>
            <a:r>
              <a:rPr lang="en-US" altLang="zh-CN" sz="2400" dirty="0">
                <a:latin typeface="Calibri" panose="020F0502020204030204" pitchFamily="34" charset="0"/>
                <a:cs typeface="Calibri" panose="020F0502020204030204" pitchFamily="34" charset="0"/>
              </a:rPr>
              <a:t>T</a:t>
            </a:r>
            <a:r>
              <a:rPr lang="zh-CN" altLang="en-US" sz="2400" dirty="0">
                <a:latin typeface="Calibri" panose="020F0502020204030204" pitchFamily="34" charset="0"/>
                <a:cs typeface="Calibri" panose="020F0502020204030204" pitchFamily="34" charset="0"/>
              </a:rPr>
              <a:t>生成有向图也很耗时。需要分别计算网页的</a:t>
            </a:r>
            <a:r>
              <a:rPr lang="en-US" altLang="zh-CN" sz="2400" dirty="0">
                <a:latin typeface="Calibri" panose="020F0502020204030204" pitchFamily="34" charset="0"/>
                <a:cs typeface="Calibri" panose="020F0502020204030204" pitchFamily="34" charset="0"/>
              </a:rPr>
              <a:t>A/H</a:t>
            </a:r>
            <a:r>
              <a:rPr lang="zh-CN" altLang="en-US" sz="2400" dirty="0">
                <a:latin typeface="Calibri" panose="020F0502020204030204" pitchFamily="34" charset="0"/>
                <a:cs typeface="Calibri" panose="020F0502020204030204" pitchFamily="34" charset="0"/>
              </a:rPr>
              <a:t>值。</a:t>
            </a:r>
            <a:endParaRPr lang="zh-CN" altLang="en-US" sz="2400" dirty="0">
              <a:latin typeface="Calibri" panose="020F0502020204030204" pitchFamily="34" charset="0"/>
              <a:cs typeface="Calibri" panose="020F0502020204030204" pitchFamily="34" charset="0"/>
            </a:endParaRPr>
          </a:p>
          <a:p>
            <a:pPr eaLnBrk="1" hangingPunct="1">
              <a:lnSpc>
                <a:spcPct val="110000"/>
              </a:lnSpc>
              <a:spcBef>
                <a:spcPts val="600"/>
              </a:spcBef>
              <a:buClr>
                <a:srgbClr val="1557AE"/>
              </a:buClr>
              <a:buFont typeface="Wingdings" panose="05000000000000000000" pitchFamily="2" charset="2"/>
              <a:buChar char="ü"/>
            </a:pPr>
            <a:r>
              <a:rPr lang="zh-CN" altLang="en-US" sz="2400" dirty="0">
                <a:solidFill>
                  <a:srgbClr val="1557AE"/>
                </a:solidFill>
                <a:latin typeface="Calibri" panose="020F0502020204030204" pitchFamily="34" charset="0"/>
                <a:cs typeface="Calibri" panose="020F0502020204030204" pitchFamily="34" charset="0"/>
              </a:rPr>
              <a:t>网页中一些无关的链接影响</a:t>
            </a:r>
            <a:r>
              <a:rPr lang="en-US" altLang="zh-CN" sz="2400" dirty="0">
                <a:solidFill>
                  <a:srgbClr val="1557AE"/>
                </a:solidFill>
                <a:latin typeface="Calibri" panose="020F0502020204030204" pitchFamily="34" charset="0"/>
                <a:cs typeface="Calibri" panose="020F0502020204030204" pitchFamily="34" charset="0"/>
              </a:rPr>
              <a:t>A</a:t>
            </a:r>
            <a:r>
              <a:rPr lang="zh-CN" altLang="en-US" sz="2400" dirty="0">
                <a:solidFill>
                  <a:srgbClr val="1557AE"/>
                </a:solidFill>
                <a:latin typeface="Calibri" panose="020F0502020204030204" pitchFamily="34" charset="0"/>
                <a:cs typeface="Calibri" panose="020F0502020204030204" pitchFamily="34" charset="0"/>
              </a:rPr>
              <a:t>，</a:t>
            </a:r>
            <a:r>
              <a:rPr lang="en-US" altLang="zh-CN" sz="2400" dirty="0">
                <a:solidFill>
                  <a:srgbClr val="1557AE"/>
                </a:solidFill>
                <a:latin typeface="Calibri" panose="020F0502020204030204" pitchFamily="34" charset="0"/>
                <a:cs typeface="Calibri" panose="020F0502020204030204" pitchFamily="34" charset="0"/>
              </a:rPr>
              <a:t>H</a:t>
            </a:r>
            <a:r>
              <a:rPr lang="zh-CN" altLang="en-US" sz="2400" dirty="0">
                <a:solidFill>
                  <a:srgbClr val="1557AE"/>
                </a:solidFill>
                <a:latin typeface="Calibri" panose="020F0502020204030204" pitchFamily="34" charset="0"/>
                <a:cs typeface="Calibri" panose="020F0502020204030204" pitchFamily="34" charset="0"/>
              </a:rPr>
              <a:t>值的计算</a:t>
            </a:r>
            <a:r>
              <a:rPr lang="zh-CN" altLang="en-US" sz="2400" dirty="0">
                <a:latin typeface="Calibri" panose="020F0502020204030204" pitchFamily="34" charset="0"/>
                <a:cs typeface="Calibri" panose="020F0502020204030204" pitchFamily="34" charset="0"/>
              </a:rPr>
              <a:t>。在制作网页的时候，有些开发工具会自动的在网页上加入一些链接，这些链接大多是与查询主题无关的（如商业广告）。</a:t>
            </a:r>
            <a:endParaRPr lang="en-US" altLang="zh-CN" sz="2400" dirty="0">
              <a:latin typeface="Calibri" panose="020F0502020204030204" pitchFamily="34" charset="0"/>
              <a:cs typeface="Calibri" panose="020F0502020204030204" pitchFamily="34" charset="0"/>
            </a:endParaRPr>
          </a:p>
          <a:p>
            <a:pPr eaLnBrk="1" hangingPunct="1">
              <a:lnSpc>
                <a:spcPct val="110000"/>
              </a:lnSpc>
              <a:spcBef>
                <a:spcPts val="600"/>
              </a:spcBef>
              <a:buClr>
                <a:srgbClr val="1557AE"/>
              </a:buClr>
              <a:buFont typeface="Wingdings" panose="05000000000000000000" pitchFamily="2" charset="2"/>
              <a:buChar char="ü"/>
            </a:pPr>
            <a:r>
              <a:rPr lang="en-US" altLang="zh-CN" sz="2400" dirty="0">
                <a:latin typeface="Calibri" panose="020F0502020204030204" pitchFamily="34" charset="0"/>
                <a:cs typeface="Calibri" panose="020F0502020204030204" pitchFamily="34" charset="0"/>
              </a:rPr>
              <a:t>HITS</a:t>
            </a:r>
            <a:r>
              <a:rPr lang="zh-CN" altLang="en-US" sz="2400" dirty="0">
                <a:latin typeface="Calibri" panose="020F0502020204030204" pitchFamily="34" charset="0"/>
                <a:cs typeface="Calibri" panose="020F0502020204030204" pitchFamily="34" charset="0"/>
              </a:rPr>
              <a:t>算法最大的弱点是处理不好</a:t>
            </a:r>
            <a:r>
              <a:rPr lang="zh-CN" altLang="en-US" sz="2400" dirty="0">
                <a:solidFill>
                  <a:srgbClr val="1557AE"/>
                </a:solidFill>
                <a:latin typeface="Calibri" panose="020F0502020204030204" pitchFamily="34" charset="0"/>
                <a:cs typeface="Calibri" panose="020F0502020204030204" pitchFamily="34" charset="0"/>
              </a:rPr>
              <a:t>主题漂移问题（</a:t>
            </a:r>
            <a:r>
              <a:rPr lang="en-US" altLang="zh-CN" sz="2400" dirty="0">
                <a:solidFill>
                  <a:srgbClr val="1557AE"/>
                </a:solidFill>
                <a:latin typeface="Calibri" panose="020F0502020204030204" pitchFamily="34" charset="0"/>
                <a:cs typeface="Calibri" panose="020F0502020204030204" pitchFamily="34" charset="0"/>
              </a:rPr>
              <a:t>topic drift</a:t>
            </a:r>
            <a:r>
              <a:rPr lang="zh-CN" altLang="en-US" sz="2400" dirty="0">
                <a:solidFill>
                  <a:srgbClr val="1557AE"/>
                </a:solidFill>
                <a:latin typeface="Calibri" panose="020F0502020204030204" pitchFamily="34" charset="0"/>
                <a:cs typeface="Calibri" panose="020F0502020204030204" pitchFamily="34" charset="0"/>
              </a:rPr>
              <a:t>），</a:t>
            </a:r>
            <a:r>
              <a:rPr lang="zh-CN" altLang="en-US" sz="2400" dirty="0">
                <a:latin typeface="Calibri" panose="020F0502020204030204" pitchFamily="34" charset="0"/>
                <a:cs typeface="Calibri" panose="020F0502020204030204" pitchFamily="34" charset="0"/>
              </a:rPr>
              <a:t>也就是紧密链接</a:t>
            </a:r>
            <a:r>
              <a:rPr lang="en-US" altLang="zh-CN" sz="2400" dirty="0">
                <a:latin typeface="Calibri" panose="020F0502020204030204" pitchFamily="34" charset="0"/>
                <a:cs typeface="Calibri" panose="020F0502020204030204" pitchFamily="34" charset="0"/>
              </a:rPr>
              <a:t>TKC</a:t>
            </a:r>
            <a:r>
              <a:rPr lang="zh-CN" altLang="en-US" sz="2400" dirty="0">
                <a:latin typeface="Calibri" panose="020F0502020204030204" pitchFamily="34" charset="0"/>
                <a:cs typeface="Calibri" panose="020F0502020204030204" pitchFamily="34" charset="0"/>
              </a:rPr>
              <a:t>（</a:t>
            </a:r>
            <a:r>
              <a:rPr lang="en-US" altLang="zh-CN" sz="2400" dirty="0">
                <a:latin typeface="Calibri" panose="020F0502020204030204" pitchFamily="34" charset="0"/>
                <a:cs typeface="Calibri" panose="020F0502020204030204" pitchFamily="34" charset="0"/>
              </a:rPr>
              <a:t>Tightly-Knit Community Effect</a:t>
            </a:r>
            <a:r>
              <a:rPr lang="zh-CN" altLang="en-US" sz="2400" dirty="0">
                <a:latin typeface="Calibri" panose="020F0502020204030204" pitchFamily="34" charset="0"/>
                <a:cs typeface="Calibri" panose="020F0502020204030204" pitchFamily="34" charset="0"/>
              </a:rPr>
              <a:t>）现象。如果在集合</a:t>
            </a:r>
            <a:r>
              <a:rPr lang="en-US" altLang="zh-CN" sz="2400" dirty="0">
                <a:latin typeface="Calibri" panose="020F0502020204030204" pitchFamily="34" charset="0"/>
                <a:cs typeface="Calibri" panose="020F0502020204030204" pitchFamily="34" charset="0"/>
              </a:rPr>
              <a:t>T</a:t>
            </a:r>
            <a:r>
              <a:rPr lang="zh-CN" altLang="en-US" sz="2400" dirty="0">
                <a:latin typeface="Calibri" panose="020F0502020204030204" pitchFamily="34" charset="0"/>
                <a:cs typeface="Calibri" panose="020F0502020204030204" pitchFamily="34" charset="0"/>
              </a:rPr>
              <a:t>中有少数与查询主题无关的网页，但是他们是紧密链接的，</a:t>
            </a:r>
            <a:r>
              <a:rPr lang="en-US" altLang="zh-CN" sz="2400" dirty="0">
                <a:latin typeface="Calibri" panose="020F0502020204030204" pitchFamily="34" charset="0"/>
                <a:cs typeface="Calibri" panose="020F0502020204030204" pitchFamily="34" charset="0"/>
              </a:rPr>
              <a:t>HITS</a:t>
            </a:r>
            <a:r>
              <a:rPr lang="zh-CN" altLang="en-US" sz="2400" dirty="0">
                <a:latin typeface="Calibri" panose="020F0502020204030204" pitchFamily="34" charset="0"/>
                <a:cs typeface="Calibri" panose="020F0502020204030204" pitchFamily="34" charset="0"/>
              </a:rPr>
              <a:t>算法的结果可能就偏离了原来的查询主题。</a:t>
            </a:r>
            <a:endParaRPr lang="en-US" altLang="zh-CN" sz="2400" dirty="0">
              <a:solidFill>
                <a:srgbClr val="C00000"/>
              </a:solidFill>
              <a:latin typeface="Calibri" panose="020F0502020204030204" pitchFamily="34" charset="0"/>
              <a:cs typeface="Calibri" panose="020F0502020204030204" pitchFamily="34"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3040" y="1196752"/>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与</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对比</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a:lnSpc>
                <a:spcPct val="120000"/>
              </a:lnSpc>
              <a:spcBef>
                <a:spcPts val="600"/>
              </a:spcBef>
              <a:buClr>
                <a:srgbClr val="1557AE"/>
              </a:buClr>
              <a:buFont typeface="Wingdings" panose="05000000000000000000" pitchFamily="2" charset="2"/>
              <a:buChar char="ü"/>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算法是与用户查询请求密切相关，而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与查询无关。所以</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算法可以单独作为相似性计算评价标准，而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必须结合内容相似性计算才可用来对网页相关性进行评价；</a:t>
            </a:r>
            <a:endParaRPr lang="zh-CN" altLang="en-US" sz="2200" b="0" dirty="0">
              <a:latin typeface="Calibri" panose="020F0502020204030204" pitchFamily="34" charset="0"/>
              <a:cs typeface="Calibri" panose="020F0502020204030204" pitchFamily="34" charset="0"/>
            </a:endParaRPr>
          </a:p>
          <a:p>
            <a:pPr>
              <a:lnSpc>
                <a:spcPct val="120000"/>
              </a:lnSpc>
              <a:spcBef>
                <a:spcPts val="600"/>
              </a:spcBef>
              <a:buClr>
                <a:srgbClr val="1557AE"/>
              </a:buClr>
              <a:buFont typeface="Wingdings" panose="05000000000000000000" pitchFamily="2" charset="2"/>
              <a:buChar char="ü"/>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算法因为与用户查询密切相关，所以必须在接收到用户查询后实时计算，计算效率较低；而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则可以在爬虫抓取完成后离线计算，在线直接使用计算结果，效率较高；</a:t>
            </a:r>
            <a:endParaRPr lang="zh-CN" altLang="en-US" sz="2200" b="0" dirty="0">
              <a:latin typeface="Calibri" panose="020F0502020204030204" pitchFamily="34" charset="0"/>
              <a:cs typeface="Calibri" panose="020F0502020204030204" pitchFamily="34" charset="0"/>
            </a:endParaRPr>
          </a:p>
          <a:p>
            <a:pPr>
              <a:lnSpc>
                <a:spcPct val="120000"/>
              </a:lnSpc>
              <a:spcBef>
                <a:spcPts val="600"/>
              </a:spcBef>
              <a:buClr>
                <a:srgbClr val="1557AE"/>
              </a:buClr>
              <a:buFont typeface="Wingdings" panose="05000000000000000000" pitchFamily="2" charset="2"/>
              <a:buChar char="ü"/>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算法计算对象数量较少，只需计算扩展集合内网页之间的链接关系；而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是全局性算法，对所有互联网页面进行处理；</a:t>
            </a:r>
            <a:endParaRPr lang="zh-CN" altLang="en-US" sz="2200" b="0" dirty="0">
              <a:latin typeface="Calibri" panose="020F0502020204030204" pitchFamily="34" charset="0"/>
              <a:cs typeface="Calibri" panose="020F0502020204030204" pitchFamily="34"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247" y="1196752"/>
            <a:ext cx="8950960"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HITS</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与</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PageRank</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对比</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a:lnSpc>
                <a:spcPct val="120000"/>
              </a:lnSpc>
              <a:spcBef>
                <a:spcPts val="600"/>
              </a:spcBef>
              <a:buClr>
                <a:srgbClr val="1557AE"/>
              </a:buClr>
              <a:buFont typeface="Wingdings" panose="05000000000000000000" pitchFamily="2" charset="2"/>
              <a:buChar char="ü"/>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算法在计算时，对于每个页面需要计算两个分值，而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只需计算一个分值即可；在搜索引擎领域，更重视</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算法计算出的</a:t>
            </a:r>
            <a:r>
              <a:rPr lang="en-US" altLang="zh-CN" sz="2200" b="0" dirty="0">
                <a:latin typeface="Calibri" panose="020F0502020204030204" pitchFamily="34" charset="0"/>
                <a:cs typeface="Calibri" panose="020F0502020204030204" pitchFamily="34" charset="0"/>
              </a:rPr>
              <a:t>Authority</a:t>
            </a:r>
            <a:r>
              <a:rPr lang="zh-CN" altLang="en-US" sz="2200" b="0" dirty="0">
                <a:latin typeface="Calibri" panose="020F0502020204030204" pitchFamily="34" charset="0"/>
                <a:cs typeface="Calibri" panose="020F0502020204030204" pitchFamily="34" charset="0"/>
              </a:rPr>
              <a:t>权值，但是在很多应用</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算法的其它领域，</a:t>
            </a:r>
            <a:r>
              <a:rPr lang="en-US" altLang="zh-CN" sz="2200" b="0" dirty="0">
                <a:latin typeface="Calibri" panose="020F0502020204030204" pitchFamily="34" charset="0"/>
                <a:cs typeface="Calibri" panose="020F0502020204030204" pitchFamily="34" charset="0"/>
              </a:rPr>
              <a:t>Hub</a:t>
            </a:r>
            <a:r>
              <a:rPr lang="zh-CN" altLang="en-US" sz="2200" b="0" dirty="0">
                <a:latin typeface="Calibri" panose="020F0502020204030204" pitchFamily="34" charset="0"/>
                <a:cs typeface="Calibri" panose="020F0502020204030204" pitchFamily="34" charset="0"/>
              </a:rPr>
              <a:t>分值也有很重要的作用；</a:t>
            </a:r>
            <a:endParaRPr lang="zh-CN" altLang="en-US" sz="2200" b="0" dirty="0">
              <a:latin typeface="Calibri" panose="020F0502020204030204" pitchFamily="34" charset="0"/>
              <a:cs typeface="Calibri" panose="020F0502020204030204" pitchFamily="34" charset="0"/>
            </a:endParaRPr>
          </a:p>
          <a:p>
            <a:pPr>
              <a:lnSpc>
                <a:spcPct val="120000"/>
              </a:lnSpc>
              <a:spcBef>
                <a:spcPts val="600"/>
              </a:spcBef>
              <a:buClr>
                <a:srgbClr val="1557AE"/>
              </a:buClr>
              <a:buFont typeface="Wingdings" panose="05000000000000000000" pitchFamily="2" charset="2"/>
              <a:buChar char="ü"/>
            </a:pPr>
            <a:r>
              <a:rPr lang="zh-CN" altLang="en-US" sz="2200" b="0" dirty="0">
                <a:latin typeface="Calibri" panose="020F0502020204030204" pitchFamily="34" charset="0"/>
                <a:cs typeface="Calibri" panose="020F0502020204030204" pitchFamily="34" charset="0"/>
              </a:rPr>
              <a:t>从链接反作弊的角度来说，</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从机制上优于</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算法，而</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算法更易遭受链接作弊的影响。</a:t>
            </a:r>
            <a:endParaRPr lang="zh-CN" altLang="en-US" sz="2200" b="0" dirty="0">
              <a:latin typeface="Calibri" panose="020F0502020204030204" pitchFamily="34" charset="0"/>
              <a:cs typeface="Calibri" panose="020F0502020204030204" pitchFamily="34" charset="0"/>
            </a:endParaRPr>
          </a:p>
          <a:p>
            <a:pPr>
              <a:lnSpc>
                <a:spcPct val="120000"/>
              </a:lnSpc>
              <a:spcBef>
                <a:spcPts val="600"/>
              </a:spcBef>
              <a:buClr>
                <a:srgbClr val="1557AE"/>
              </a:buClr>
              <a:buFont typeface="Wingdings" panose="05000000000000000000" pitchFamily="2" charset="2"/>
              <a:buChar char="ü"/>
            </a:pP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算法结构不稳定，当对“扩充网页集合”内链接关系作出很小改变，则对最终排名有很大影响；而</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相对</a:t>
            </a:r>
            <a:r>
              <a:rPr lang="en-US" altLang="zh-CN" sz="2200" b="0" dirty="0">
                <a:latin typeface="Calibri" panose="020F0502020204030204" pitchFamily="34" charset="0"/>
                <a:cs typeface="Calibri" panose="020F0502020204030204" pitchFamily="34" charset="0"/>
              </a:rPr>
              <a:t>HITS</a:t>
            </a:r>
            <a:r>
              <a:rPr lang="zh-CN" altLang="en-US" sz="2200" b="0" dirty="0">
                <a:latin typeface="Calibri" panose="020F0502020204030204" pitchFamily="34" charset="0"/>
                <a:cs typeface="Calibri" panose="020F0502020204030204" pitchFamily="34" charset="0"/>
              </a:rPr>
              <a:t>而言表现稳定，其根本原因在于</a:t>
            </a:r>
            <a:r>
              <a:rPr lang="en-US" altLang="zh-CN" sz="2200" b="0" dirty="0">
                <a:latin typeface="Calibri" panose="020F0502020204030204" pitchFamily="34" charset="0"/>
                <a:cs typeface="Calibri" panose="020F0502020204030204" pitchFamily="34" charset="0"/>
              </a:rPr>
              <a:t>PageRank</a:t>
            </a:r>
            <a:r>
              <a:rPr lang="zh-CN" altLang="en-US" sz="2200" b="0" dirty="0">
                <a:latin typeface="Calibri" panose="020F0502020204030204" pitchFamily="34" charset="0"/>
                <a:cs typeface="Calibri" panose="020F0502020204030204" pitchFamily="34" charset="0"/>
              </a:rPr>
              <a:t>计算时的“远程跳转”。</a:t>
            </a:r>
            <a:endParaRPr lang="zh-CN" altLang="en-US" sz="2200" b="0" dirty="0">
              <a:latin typeface="Calibri" panose="020F0502020204030204" pitchFamily="34" charset="0"/>
              <a:cs typeface="Calibri" panose="020F0502020204030204" pitchFamily="34"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a:spLocks noGrp="1"/>
          </p:cNvSpPr>
          <p:nvPr>
            <p:ph type="ftr" sz="quarter" idx="429496729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ea typeface="宋体" panose="02010600030101010101" pitchFamily="2" charset="-122"/>
              </a:defRPr>
            </a:lvl1pPr>
            <a:lvl2pPr marL="742950" indent="-285750" eaLnBrk="0" hangingPunct="0">
              <a:defRPr b="1" i="1">
                <a:solidFill>
                  <a:schemeClr val="tx1"/>
                </a:solidFill>
                <a:latin typeface="Arial" panose="020B0604020202020204" pitchFamily="34" charset="0"/>
                <a:ea typeface="宋体" panose="02010600030101010101" pitchFamily="2" charset="-122"/>
              </a:defRPr>
            </a:lvl2pPr>
            <a:lvl3pPr marL="1143000" indent="-228600" eaLnBrk="0" hangingPunct="0">
              <a:defRPr b="1" i="1">
                <a:solidFill>
                  <a:schemeClr val="tx1"/>
                </a:solidFill>
                <a:latin typeface="Arial" panose="020B0604020202020204" pitchFamily="34" charset="0"/>
                <a:ea typeface="宋体" panose="02010600030101010101" pitchFamily="2" charset="-122"/>
              </a:defRPr>
            </a:lvl3pPr>
            <a:lvl4pPr marL="1600200" indent="-228600" eaLnBrk="0" hangingPunct="0">
              <a:defRPr b="1" i="1">
                <a:solidFill>
                  <a:schemeClr val="tx1"/>
                </a:solidFill>
                <a:latin typeface="Arial" panose="020B0604020202020204" pitchFamily="34" charset="0"/>
                <a:ea typeface="宋体" panose="02010600030101010101" pitchFamily="2" charset="-122"/>
              </a:defRPr>
            </a:lvl4pPr>
            <a:lvl5pPr marL="2057400" indent="-228600" eaLnBrk="0" hangingPunct="0">
              <a:defRPr b="1"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i="1">
                <a:solidFill>
                  <a:schemeClr val="tx1"/>
                </a:solidFill>
                <a:latin typeface="Arial" panose="020B0604020202020204" pitchFamily="34" charset="0"/>
                <a:ea typeface="宋体" panose="02010600030101010101" pitchFamily="2" charset="-122"/>
              </a:defRPr>
            </a:lvl9pPr>
          </a:lstStyle>
          <a:p>
            <a:pPr eaLnBrk="1" hangingPunct="1"/>
            <a:endParaRPr lang="zh-CN" altLang="en-US" b="0" i="0" dirty="0">
              <a:solidFill>
                <a:schemeClr val="bg1"/>
              </a:solidFill>
              <a:latin typeface="Verdana" panose="020B0604030504040204" pitchFamily="34" charset="0"/>
            </a:endParaRPr>
          </a:p>
        </p:txBody>
      </p:sp>
      <p:sp>
        <p:nvSpPr>
          <p:cNvPr id="2" name="矩形 1"/>
          <p:cNvSpPr/>
          <p:nvPr/>
        </p:nvSpPr>
        <p:spPr>
          <a:xfrm>
            <a:off x="179512" y="1184461"/>
            <a:ext cx="8425308" cy="5672322"/>
          </a:xfrm>
          <a:prstGeom prst="rect">
            <a:avLst/>
          </a:prstGeom>
        </p:spPr>
        <p:txBody>
          <a:bodyPr wrap="square">
            <a:spAutoFit/>
          </a:bodyPr>
          <a:lstStyle/>
          <a:p>
            <a:pPr marL="469900" lvl="1" indent="-469900" algn="l">
              <a:lnSpc>
                <a:spcPct val="120000"/>
              </a:lnSpc>
              <a:spcBef>
                <a:spcPts val="600"/>
              </a:spcBef>
              <a:buClr>
                <a:srgbClr val="FF0000"/>
              </a:buClr>
              <a:buFont typeface="Wingdings" panose="05000000000000000000" pitchFamily="2" charset="2"/>
              <a:buChar char="n"/>
              <a:defRPr/>
            </a:pPr>
            <a:r>
              <a:rPr lang="en-US" altLang="zh-CN" sz="2800" b="0" dirty="0" err="1">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HillTop</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算法</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en-US" altLang="zh-CN" sz="2000" b="0" dirty="0">
                <a:latin typeface="Times New Roman" panose="02020603050405020304" pitchFamily="18" charset="0"/>
                <a:ea typeface="+mj-ea"/>
                <a:cs typeface="Times New Roman" panose="02020603050405020304" pitchFamily="18" charset="0"/>
              </a:rPr>
              <a:t>Krishna Bharat </a:t>
            </a:r>
            <a:r>
              <a:rPr lang="zh-CN" altLang="en-US" sz="2000" b="0" dirty="0">
                <a:latin typeface="Times New Roman" panose="02020603050405020304" pitchFamily="18" charset="0"/>
                <a:ea typeface="+mj-ea"/>
                <a:cs typeface="Times New Roman" panose="02020603050405020304" pitchFamily="18" charset="0"/>
              </a:rPr>
              <a:t>和多伦多大学的</a:t>
            </a:r>
            <a:r>
              <a:rPr lang="en-US" altLang="zh-CN" sz="2000" b="0" dirty="0">
                <a:latin typeface="Times New Roman" panose="02020603050405020304" pitchFamily="18" charset="0"/>
                <a:ea typeface="+mj-ea"/>
                <a:cs typeface="Times New Roman" panose="02020603050405020304" pitchFamily="18" charset="0"/>
              </a:rPr>
              <a:t>George A. </a:t>
            </a:r>
            <a:r>
              <a:rPr lang="en-US" altLang="zh-CN" sz="2000" b="0" dirty="0" err="1">
                <a:latin typeface="Times New Roman" panose="02020603050405020304" pitchFamily="18" charset="0"/>
                <a:ea typeface="+mj-ea"/>
                <a:cs typeface="Times New Roman" panose="02020603050405020304" pitchFamily="18" charset="0"/>
              </a:rPr>
              <a:t>Mihaila</a:t>
            </a:r>
            <a:r>
              <a:rPr lang="zh-CN" altLang="en-US" sz="2000" b="0" dirty="0">
                <a:latin typeface="Times New Roman" panose="02020603050405020304" pitchFamily="18" charset="0"/>
                <a:ea typeface="+mj-ea"/>
                <a:cs typeface="Times New Roman" panose="02020603050405020304" pitchFamily="18" charset="0"/>
              </a:rPr>
              <a:t>于</a:t>
            </a:r>
            <a:r>
              <a:rPr lang="en-US" altLang="zh-CN" sz="2000" b="0" dirty="0">
                <a:latin typeface="Times New Roman" panose="02020603050405020304" pitchFamily="18" charset="0"/>
                <a:ea typeface="+mj-ea"/>
                <a:cs typeface="Times New Roman" panose="02020603050405020304" pitchFamily="18" charset="0"/>
              </a:rPr>
              <a:t>2001</a:t>
            </a:r>
            <a:r>
              <a:rPr lang="zh-CN" altLang="en-US" sz="2000" b="0" dirty="0">
                <a:latin typeface="Times New Roman" panose="02020603050405020304" pitchFamily="18" charset="0"/>
                <a:ea typeface="+mj-ea"/>
                <a:cs typeface="Times New Roman" panose="02020603050405020304" pitchFamily="18" charset="0"/>
              </a:rPr>
              <a:t>年</a:t>
            </a:r>
            <a:r>
              <a:rPr lang="en-US" altLang="zh-CN" sz="2000" b="0" dirty="0">
                <a:latin typeface="Times New Roman" panose="02020603050405020304" pitchFamily="18" charset="0"/>
                <a:ea typeface="+mj-ea"/>
                <a:cs typeface="Times New Roman" panose="02020603050405020304" pitchFamily="18" charset="0"/>
              </a:rPr>
              <a:t>1</a:t>
            </a:r>
            <a:r>
              <a:rPr lang="zh-CN" altLang="en-US" sz="2000" b="0" dirty="0">
                <a:latin typeface="Times New Roman" panose="02020603050405020304" pitchFamily="18" charset="0"/>
                <a:ea typeface="+mj-ea"/>
                <a:cs typeface="Times New Roman" panose="02020603050405020304" pitchFamily="18" charset="0"/>
              </a:rPr>
              <a:t>月提出并申请专利</a:t>
            </a:r>
            <a:endParaRPr lang="zh-CN" altLang="en-US" sz="2000" b="0" dirty="0">
              <a:latin typeface="Times New Roman" panose="02020603050405020304" pitchFamily="18" charset="0"/>
              <a:ea typeface="+mj-ea"/>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en-US" altLang="zh-CN" sz="2000" b="0" dirty="0">
                <a:latin typeface="Times New Roman" panose="02020603050405020304" pitchFamily="18" charset="0"/>
                <a:ea typeface="+mj-ea"/>
                <a:cs typeface="Times New Roman" panose="02020603050405020304" pitchFamily="18" charset="0"/>
              </a:rPr>
              <a:t>Google</a:t>
            </a:r>
            <a:r>
              <a:rPr lang="zh-CN" altLang="en-US" sz="2000" b="0" dirty="0">
                <a:latin typeface="Times New Roman" panose="02020603050405020304" pitchFamily="18" charset="0"/>
                <a:ea typeface="+mj-ea"/>
                <a:cs typeface="Times New Roman" panose="02020603050405020304" pitchFamily="18" charset="0"/>
              </a:rPr>
              <a:t>在</a:t>
            </a:r>
            <a:r>
              <a:rPr lang="en-US" altLang="zh-CN" sz="2000" b="0" dirty="0">
                <a:latin typeface="Times New Roman" panose="02020603050405020304" pitchFamily="18" charset="0"/>
                <a:ea typeface="+mj-ea"/>
                <a:cs typeface="Times New Roman" panose="02020603050405020304" pitchFamily="18" charset="0"/>
              </a:rPr>
              <a:t>2003</a:t>
            </a:r>
            <a:r>
              <a:rPr lang="zh-CN" altLang="en-US" sz="2000" b="0" dirty="0">
                <a:latin typeface="Times New Roman" panose="02020603050405020304" pitchFamily="18" charset="0"/>
                <a:ea typeface="+mj-ea"/>
                <a:cs typeface="Times New Roman" panose="02020603050405020304" pitchFamily="18" charset="0"/>
              </a:rPr>
              <a:t>年</a:t>
            </a:r>
            <a:r>
              <a:rPr lang="en-US" altLang="zh-CN" sz="2000" b="0" dirty="0">
                <a:latin typeface="Times New Roman" panose="02020603050405020304" pitchFamily="18" charset="0"/>
                <a:ea typeface="+mj-ea"/>
                <a:cs typeface="Times New Roman" panose="02020603050405020304" pitchFamily="18" charset="0"/>
              </a:rPr>
              <a:t>12</a:t>
            </a:r>
            <a:r>
              <a:rPr lang="zh-CN" altLang="en-US" sz="2000" b="0" dirty="0">
                <a:latin typeface="Times New Roman" panose="02020603050405020304" pitchFamily="18" charset="0"/>
                <a:ea typeface="+mj-ea"/>
                <a:cs typeface="Times New Roman" panose="02020603050405020304" pitchFamily="18" charset="0"/>
              </a:rPr>
              <a:t>月</a:t>
            </a:r>
            <a:r>
              <a:rPr lang="en-US" altLang="zh-CN" sz="2000" b="0" dirty="0">
                <a:latin typeface="Times New Roman" panose="02020603050405020304" pitchFamily="18" charset="0"/>
                <a:ea typeface="+mj-ea"/>
                <a:cs typeface="Times New Roman" panose="02020603050405020304" pitchFamily="18" charset="0"/>
              </a:rPr>
              <a:t>Florida Update</a:t>
            </a:r>
            <a:r>
              <a:rPr lang="zh-CN" altLang="en-US" sz="2000" b="0" dirty="0">
                <a:latin typeface="Times New Roman" panose="02020603050405020304" pitchFamily="18" charset="0"/>
                <a:ea typeface="+mj-ea"/>
                <a:cs typeface="Times New Roman" panose="02020603050405020304" pitchFamily="18" charset="0"/>
              </a:rPr>
              <a:t>时采用的主要技术</a:t>
            </a:r>
            <a:endParaRPr lang="zh-CN" altLang="en-US" sz="2000" b="0" dirty="0">
              <a:latin typeface="Times New Roman" panose="02020603050405020304" pitchFamily="18" charset="0"/>
              <a:ea typeface="+mj-ea"/>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en-US" altLang="zh-CN" sz="2000" b="0" dirty="0" err="1">
                <a:latin typeface="Times New Roman" panose="02020603050405020304" pitchFamily="18" charset="0"/>
                <a:ea typeface="+mj-ea"/>
                <a:cs typeface="Times New Roman" panose="02020603050405020304" pitchFamily="18" charset="0"/>
              </a:rPr>
              <a:t>HillTop</a:t>
            </a:r>
            <a:r>
              <a:rPr lang="zh-CN" altLang="en-US" sz="2000" b="0" dirty="0">
                <a:latin typeface="Times New Roman" panose="02020603050405020304" pitchFamily="18" charset="0"/>
                <a:ea typeface="+mj-ea"/>
                <a:cs typeface="Times New Roman" panose="02020603050405020304" pitchFamily="18" charset="0"/>
              </a:rPr>
              <a:t>算法的指导思想和</a:t>
            </a:r>
            <a:r>
              <a:rPr lang="en-US" altLang="zh-CN" sz="2000" b="0" dirty="0">
                <a:latin typeface="Times New Roman" panose="02020603050405020304" pitchFamily="18" charset="0"/>
                <a:ea typeface="+mj-ea"/>
                <a:cs typeface="Times New Roman" panose="02020603050405020304" pitchFamily="18" charset="0"/>
              </a:rPr>
              <a:t>PageRank</a:t>
            </a:r>
            <a:r>
              <a:rPr lang="zh-CN" altLang="en-US" sz="2000" b="0" dirty="0">
                <a:latin typeface="Times New Roman" panose="02020603050405020304" pitchFamily="18" charset="0"/>
                <a:ea typeface="+mj-ea"/>
                <a:cs typeface="Times New Roman" panose="02020603050405020304" pitchFamily="18" charset="0"/>
              </a:rPr>
              <a:t>的是一致的，都是通过网页被链接的数量和质量来确定搜索结果的排序权重。</a:t>
            </a:r>
            <a:endParaRPr lang="zh-CN" altLang="en-US" sz="2000" b="0" dirty="0">
              <a:latin typeface="Times New Roman" panose="02020603050405020304" pitchFamily="18" charset="0"/>
              <a:ea typeface="+mj-ea"/>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zh-CN" altLang="en-US" sz="2000" b="0" dirty="0">
                <a:latin typeface="Times New Roman" panose="02020603050405020304" pitchFamily="18" charset="0"/>
                <a:ea typeface="+mj-ea"/>
                <a:cs typeface="Times New Roman" panose="02020603050405020304" pitchFamily="18" charset="0"/>
              </a:rPr>
              <a:t>但</a:t>
            </a:r>
            <a:r>
              <a:rPr lang="en-US" altLang="zh-CN" sz="2000" b="0" dirty="0" err="1">
                <a:latin typeface="Times New Roman" panose="02020603050405020304" pitchFamily="18" charset="0"/>
                <a:ea typeface="+mj-ea"/>
                <a:cs typeface="Times New Roman" panose="02020603050405020304" pitchFamily="18" charset="0"/>
              </a:rPr>
              <a:t>HillTop</a:t>
            </a:r>
            <a:r>
              <a:rPr lang="zh-CN" altLang="en-US" sz="2000" b="0" dirty="0">
                <a:latin typeface="Times New Roman" panose="02020603050405020304" pitchFamily="18" charset="0"/>
                <a:ea typeface="+mj-ea"/>
                <a:cs typeface="Times New Roman" panose="02020603050405020304" pitchFamily="18" charset="0"/>
              </a:rPr>
              <a:t>认为只计算来自具有相同主题的相关文档链接对于搜索者的价值会更大：</a:t>
            </a:r>
            <a:r>
              <a:rPr lang="zh-CN" altLang="en-US" sz="2000" b="0" dirty="0">
                <a:solidFill>
                  <a:srgbClr val="1557AE"/>
                </a:solidFill>
                <a:latin typeface="Times New Roman" panose="02020603050405020304" pitchFamily="18" charset="0"/>
                <a:ea typeface="+mj-ea"/>
                <a:cs typeface="Times New Roman" panose="02020603050405020304" pitchFamily="18" charset="0"/>
              </a:rPr>
              <a:t>即主题相关网页之间的链接对于权重计算的贡献比主题不相关的链接价值要更高。</a:t>
            </a:r>
            <a:endParaRPr lang="en-US" altLang="zh-CN" sz="2000" b="0" dirty="0">
              <a:solidFill>
                <a:srgbClr val="1557AE"/>
              </a:solidFill>
              <a:latin typeface="Times New Roman" panose="02020603050405020304" pitchFamily="18" charset="0"/>
              <a:ea typeface="+mj-ea"/>
              <a:cs typeface="Times New Roman" panose="02020603050405020304" pitchFamily="18" charset="0"/>
            </a:endParaRPr>
          </a:p>
          <a:p>
            <a:pPr marL="742950" lvl="1" indent="-285750" algn="l">
              <a:lnSpc>
                <a:spcPct val="150000"/>
              </a:lnSpc>
              <a:buClr>
                <a:schemeClr val="tx1"/>
              </a:buClr>
              <a:buFont typeface="Wingdings" panose="05000000000000000000" pitchFamily="2" charset="2"/>
              <a:buChar char="ü"/>
              <a:defRP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For popular queries in Google, </a:t>
            </a:r>
            <a:r>
              <a:rPr lang="en-US" altLang="zh-CN" sz="2000" dirty="0">
                <a:solidFill>
                  <a:srgbClr val="1557AE"/>
                </a:solidFill>
                <a:latin typeface="Times New Roman" panose="02020603050405020304" pitchFamily="18" charset="0"/>
                <a:ea typeface="黑体" panose="02010609060101010101" pitchFamily="49" charset="-122"/>
                <a:cs typeface="Times New Roman" panose="02020603050405020304" pitchFamily="18" charset="0"/>
              </a:rPr>
              <a:t>Hilltop comprises 40% of the ranking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(PR = 40% and “On Page” data is 20%)</a:t>
            </a:r>
            <a:endParaRPr lang="zh-CN" altLang="en-US" sz="2000" b="0" dirty="0">
              <a:latin typeface="Times New Roman" panose="02020603050405020304" pitchFamily="18" charset="0"/>
              <a:ea typeface="+mj-ea"/>
              <a:cs typeface="Times New Roman" panose="02020603050405020304" pitchFamily="18" charset="0"/>
            </a:endParaRPr>
          </a:p>
          <a:p>
            <a:pPr marL="469900" lvl="1" indent="-469900" algn="l">
              <a:lnSpc>
                <a:spcPct val="120000"/>
              </a:lnSpc>
              <a:spcBef>
                <a:spcPts val="600"/>
              </a:spcBef>
              <a:buClr>
                <a:schemeClr val="accent2"/>
              </a:buClr>
              <a:buFont typeface="Wingdings" panose="05000000000000000000" pitchFamily="2" charset="2"/>
              <a:buChar char="n"/>
              <a:defRPr/>
            </a:pPr>
            <a:endParaRPr lang="zh-CN" altLang="en-US" sz="2000" dirty="0">
              <a:solidFill>
                <a:srgbClr val="C00000"/>
              </a:solidFill>
              <a:latin typeface="Arial Unicode MS" panose="020B0604020202020204" charset="-122"/>
              <a:ea typeface="Arial Unicode MS" panose="020B0604020202020204" charset="-122"/>
              <a:cs typeface="Arial Unicode MS" panose="020B0604020202020204" charset="-122"/>
            </a:endParaRPr>
          </a:p>
        </p:txBody>
      </p:sp>
      <p:sp>
        <p:nvSpPr>
          <p:cNvPr id="5" name="矩形 4"/>
          <p:cNvSpPr/>
          <p:nvPr/>
        </p:nvSpPr>
        <p:spPr>
          <a:xfrm>
            <a:off x="899592" y="188640"/>
            <a:ext cx="2807179" cy="615553"/>
          </a:xfrm>
          <a:prstGeom prst="rect">
            <a:avLst/>
          </a:prstGeom>
        </p:spPr>
        <p:txBody>
          <a:bodyPr wrap="squar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225174"/>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网络分析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 name="矩形 7"/>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2" name="矩形 1"/>
          <p:cNvSpPr/>
          <p:nvPr/>
        </p:nvSpPr>
        <p:spPr>
          <a:xfrm>
            <a:off x="49723" y="1844824"/>
            <a:ext cx="8685213" cy="2903220"/>
          </a:xfrm>
          <a:prstGeom prst="rect">
            <a:avLst/>
          </a:prstGeom>
        </p:spPr>
        <p:txBody>
          <a:bodyPr>
            <a:spAutoFit/>
          </a:bodyPr>
          <a:lstStyle/>
          <a:p>
            <a:pPr marL="800100" lvl="1" indent="-342900" algn="l" defTabSz="912495" eaLnBrk="0" hangingPunct="0">
              <a:lnSpc>
                <a:spcPct val="120000"/>
              </a:lnSpc>
              <a:spcBef>
                <a:spcPts val="600"/>
              </a:spcBef>
              <a:buFont typeface="Wingdings" panose="05000000000000000000" pitchFamily="2" charset="2"/>
              <a:buChar char="ü"/>
              <a:defRPr/>
            </a:pPr>
            <a:r>
              <a:rPr lang="zh-CN" altLang="en-US" sz="2400" b="1" dirty="0">
                <a:latin typeface="Palatino Linotype" panose="02040502050505030304" pitchFamily="18" charset="0"/>
              </a:rPr>
              <a:t>网络科学专注于在数学上描述不同的网络拓扑结构</a:t>
            </a:r>
            <a:endParaRPr lang="en-US" altLang="zh-CN" sz="2400" b="1" dirty="0">
              <a:latin typeface="Palatino Linotype" panose="02040502050505030304" pitchFamily="18" charset="0"/>
            </a:endParaRPr>
          </a:p>
          <a:p>
            <a:pPr marL="800100" lvl="1" indent="-342900" algn="l" defTabSz="912495" eaLnBrk="0" hangingPunct="0">
              <a:lnSpc>
                <a:spcPct val="120000"/>
              </a:lnSpc>
              <a:spcBef>
                <a:spcPts val="600"/>
              </a:spcBef>
              <a:buFont typeface="Wingdings" panose="05000000000000000000" pitchFamily="2" charset="2"/>
              <a:buChar char="ü"/>
              <a:defRPr/>
            </a:pPr>
            <a:r>
              <a:rPr lang="zh-CN" altLang="en-US" sz="2400" b="1" dirty="0">
                <a:latin typeface="Palatino Linotype" panose="02040502050505030304" pitchFamily="18" charset="0"/>
              </a:rPr>
              <a:t>在</a:t>
            </a:r>
            <a:r>
              <a:rPr lang="en-US" altLang="zh-CN" sz="2400" b="1" dirty="0">
                <a:latin typeface="Palatino Linotype" panose="02040502050505030304" pitchFamily="18" charset="0"/>
              </a:rPr>
              <a:t>1998</a:t>
            </a:r>
            <a:r>
              <a:rPr lang="zh-CN" altLang="en-US" sz="2400" b="1" dirty="0">
                <a:latin typeface="Palatino Linotype" panose="02040502050505030304" pitchFamily="18" charset="0"/>
              </a:rPr>
              <a:t>年初，</a:t>
            </a:r>
            <a:r>
              <a:rPr lang="en-US" altLang="zh-CN" sz="2400" b="1" dirty="0">
                <a:solidFill>
                  <a:srgbClr val="FF0000"/>
                </a:solidFill>
                <a:latin typeface="Palatino Linotype" panose="02040502050505030304" pitchFamily="18" charset="0"/>
              </a:rPr>
              <a:t>Duncan J. Watts</a:t>
            </a:r>
            <a:r>
              <a:rPr lang="zh-CN" altLang="en-US" sz="2400" b="1" dirty="0">
                <a:solidFill>
                  <a:srgbClr val="FF0000"/>
                </a:solidFill>
                <a:latin typeface="Palatino Linotype" panose="02040502050505030304" pitchFamily="18" charset="0"/>
              </a:rPr>
              <a:t>（瓦茨）</a:t>
            </a:r>
            <a:r>
              <a:rPr lang="zh-CN" altLang="en-US" sz="2400" b="1" dirty="0">
                <a:latin typeface="Palatino Linotype" panose="02040502050505030304" pitchFamily="18" charset="0"/>
              </a:rPr>
              <a:t>和他的导师</a:t>
            </a:r>
            <a:r>
              <a:rPr lang="en-US" altLang="zh-CN" sz="2400" b="1" dirty="0">
                <a:solidFill>
                  <a:srgbClr val="FF0000"/>
                </a:solidFill>
                <a:latin typeface="Palatino Linotype" panose="02040502050505030304" pitchFamily="18" charset="0"/>
              </a:rPr>
              <a:t>Steve </a:t>
            </a:r>
            <a:r>
              <a:rPr lang="en-US" altLang="zh-CN" sz="2400" b="1" dirty="0" err="1">
                <a:solidFill>
                  <a:srgbClr val="FF0000"/>
                </a:solidFill>
                <a:latin typeface="Palatino Linotype" panose="02040502050505030304" pitchFamily="18" charset="0"/>
              </a:rPr>
              <a:t>Strogatz</a:t>
            </a:r>
            <a:r>
              <a:rPr lang="zh-CN" altLang="en-US" sz="2400" b="1" dirty="0" err="1">
                <a:solidFill>
                  <a:srgbClr val="FF0000"/>
                </a:solidFill>
                <a:latin typeface="Palatino Linotype" panose="02040502050505030304" pitchFamily="18" charset="0"/>
              </a:rPr>
              <a:t>（斯特罗戈茨）</a:t>
            </a:r>
            <a:r>
              <a:rPr lang="zh-CN" altLang="en-US" sz="2400" b="1" dirty="0">
                <a:latin typeface="Palatino Linotype" panose="02040502050505030304" pitchFamily="18" charset="0"/>
              </a:rPr>
              <a:t>发表了第一个小世界网络模型</a:t>
            </a:r>
            <a:r>
              <a:rPr lang="en-US" altLang="zh-CN" sz="2400" b="1" dirty="0">
                <a:solidFill>
                  <a:srgbClr val="FF0000"/>
                </a:solidFill>
                <a:latin typeface="Palatino Linotype" panose="02040502050505030304" pitchFamily="18" charset="0"/>
              </a:rPr>
              <a:t>(</a:t>
            </a:r>
            <a:r>
              <a:rPr lang="en-US" altLang="zh-CN" sz="2400" dirty="0">
                <a:solidFill>
                  <a:srgbClr val="FF0000"/>
                </a:solidFill>
                <a:latin typeface="Palatino Linotype" panose="02040502050505030304" pitchFamily="18" charset="0"/>
              </a:rPr>
              <a:t>small-world network model</a:t>
            </a:r>
            <a:r>
              <a:rPr lang="en-US" altLang="zh-CN" sz="2400" b="1" dirty="0">
                <a:solidFill>
                  <a:srgbClr val="FF0000"/>
                </a:solidFill>
                <a:latin typeface="Palatino Linotype" panose="02040502050505030304" pitchFamily="18" charset="0"/>
              </a:rPr>
              <a:t>) </a:t>
            </a:r>
            <a:endParaRPr lang="en-US" altLang="zh-CN" sz="2400" b="1" dirty="0">
              <a:solidFill>
                <a:srgbClr val="FF0000"/>
              </a:solidFill>
              <a:latin typeface="Palatino Linotype" panose="02040502050505030304" pitchFamily="18" charset="0"/>
            </a:endParaRPr>
          </a:p>
          <a:p>
            <a:pPr marL="800100" lvl="1" indent="-342900" algn="l" defTabSz="912495" eaLnBrk="0" hangingPunct="0">
              <a:lnSpc>
                <a:spcPct val="120000"/>
              </a:lnSpc>
              <a:spcBef>
                <a:spcPts val="600"/>
              </a:spcBef>
              <a:buFont typeface="Wingdings" panose="05000000000000000000" pitchFamily="2" charset="2"/>
              <a:buChar char="ü"/>
              <a:defRPr/>
            </a:pPr>
            <a:r>
              <a:rPr lang="en-US" altLang="zh-CN" sz="2400" b="1" dirty="0">
                <a:solidFill>
                  <a:srgbClr val="FF0000"/>
                </a:solidFill>
                <a:effectLst>
                  <a:outerShdw blurRad="38100" dist="38100" dir="2700000" algn="tl">
                    <a:srgbClr val="000000">
                      <a:alpha val="43137"/>
                    </a:srgbClr>
                  </a:outerShdw>
                </a:effectLst>
                <a:latin typeface="Palatino Linotype" panose="02040502050505030304" pitchFamily="18" charset="0"/>
              </a:rPr>
              <a:t>Albert-László </a:t>
            </a:r>
            <a:r>
              <a:rPr lang="en-US" altLang="zh-CN" sz="2400" b="1" dirty="0" err="1">
                <a:solidFill>
                  <a:srgbClr val="FF0000"/>
                </a:solidFill>
                <a:effectLst>
                  <a:outerShdw blurRad="38100" dist="38100" dir="2700000" algn="tl">
                    <a:srgbClr val="000000">
                      <a:alpha val="43137"/>
                    </a:srgbClr>
                  </a:outerShdw>
                </a:effectLst>
                <a:latin typeface="Palatino Linotype" panose="02040502050505030304" pitchFamily="18" charset="0"/>
              </a:rPr>
              <a:t>Barabási</a:t>
            </a:r>
            <a:r>
              <a:rPr lang="zh-CN" altLang="en-US" sz="2400" b="1" dirty="0" err="1">
                <a:solidFill>
                  <a:srgbClr val="FF0000"/>
                </a:solidFill>
                <a:effectLst>
                  <a:outerShdw blurRad="38100" dist="38100" dir="2700000" algn="tl">
                    <a:srgbClr val="000000">
                      <a:alpha val="43137"/>
                    </a:srgbClr>
                  </a:outerShdw>
                </a:effectLst>
                <a:latin typeface="Palatino Linotype" panose="02040502050505030304" pitchFamily="18" charset="0"/>
              </a:rPr>
              <a:t>（巴拉巴西）</a:t>
            </a:r>
            <a:r>
              <a:rPr lang="zh-CN" altLang="en-US" sz="2400" dirty="0">
                <a:effectLst>
                  <a:outerShdw blurRad="38100" dist="38100" dir="2700000" algn="tl">
                    <a:srgbClr val="000000">
                      <a:alpha val="43137"/>
                    </a:srgbClr>
                  </a:outerShdw>
                </a:effectLst>
                <a:latin typeface="Palatino Linotype" panose="02040502050505030304" pitchFamily="18" charset="0"/>
              </a:rPr>
              <a:t>和</a:t>
            </a:r>
            <a:r>
              <a:rPr lang="en-US" altLang="zh-CN" sz="2400" b="1" dirty="0" err="1">
                <a:solidFill>
                  <a:srgbClr val="FF0000"/>
                </a:solidFill>
                <a:effectLst>
                  <a:outerShdw blurRad="38100" dist="38100" dir="2700000" algn="tl">
                    <a:srgbClr val="000000">
                      <a:alpha val="43137"/>
                    </a:srgbClr>
                  </a:outerShdw>
                </a:effectLst>
                <a:latin typeface="Palatino Linotype" panose="02040502050505030304" pitchFamily="18" charset="0"/>
              </a:rPr>
              <a:t>Reka</a:t>
            </a:r>
            <a:r>
              <a:rPr lang="en-US" altLang="zh-CN" sz="2400" b="1" dirty="0">
                <a:solidFill>
                  <a:srgbClr val="FF0000"/>
                </a:solidFill>
                <a:effectLst>
                  <a:outerShdw blurRad="38100" dist="38100" dir="2700000" algn="tl">
                    <a:srgbClr val="000000">
                      <a:alpha val="43137"/>
                    </a:srgbClr>
                  </a:outerShdw>
                </a:effectLst>
                <a:latin typeface="Palatino Linotype" panose="02040502050505030304" pitchFamily="18" charset="0"/>
              </a:rPr>
              <a:t> Albert </a:t>
            </a:r>
            <a:r>
              <a:rPr lang="zh-CN" altLang="en-US" sz="2400" b="1" dirty="0">
                <a:solidFill>
                  <a:srgbClr val="FF0000"/>
                </a:solidFill>
                <a:effectLst>
                  <a:outerShdw blurRad="38100" dist="38100" dir="2700000" algn="tl">
                    <a:srgbClr val="000000">
                      <a:alpha val="43137"/>
                    </a:srgbClr>
                  </a:outerShdw>
                </a:effectLst>
                <a:latin typeface="Palatino Linotype" panose="02040502050505030304" pitchFamily="18" charset="0"/>
              </a:rPr>
              <a:t>（阿尔伯特</a:t>
            </a:r>
            <a:r>
              <a:rPr lang="zh-CN" altLang="en-US" sz="2400" b="1" dirty="0">
                <a:solidFill>
                  <a:srgbClr val="FF0000"/>
                </a:solidFill>
                <a:effectLst>
                  <a:outerShdw blurRad="38100" dist="38100" dir="2700000" algn="tl">
                    <a:srgbClr val="000000">
                      <a:alpha val="43137"/>
                    </a:srgbClr>
                  </a:outerShdw>
                </a:effectLst>
                <a:latin typeface="Palatino Linotype" panose="02040502050505030304" pitchFamily="18" charset="0"/>
              </a:rPr>
              <a:t>）</a:t>
            </a:r>
            <a:r>
              <a:rPr lang="zh-CN" altLang="en-US" sz="2400" b="1" dirty="0">
                <a:effectLst>
                  <a:outerShdw blurRad="38100" dist="38100" dir="2700000" algn="tl">
                    <a:srgbClr val="000000">
                      <a:alpha val="43137"/>
                    </a:srgbClr>
                  </a:outerShdw>
                </a:effectLst>
                <a:latin typeface="Palatino Linotype" panose="02040502050505030304" pitchFamily="18" charset="0"/>
              </a:rPr>
              <a:t>提出了无标度网络</a:t>
            </a:r>
            <a:r>
              <a:rPr lang="en-US" altLang="zh-CN" sz="2400" b="1" dirty="0">
                <a:solidFill>
                  <a:srgbClr val="FF0000"/>
                </a:solidFill>
                <a:effectLst>
                  <a:outerShdw blurRad="38100" dist="38100" dir="2700000" algn="tl">
                    <a:srgbClr val="000000">
                      <a:alpha val="43137"/>
                    </a:srgbClr>
                  </a:outerShdw>
                </a:effectLst>
                <a:latin typeface="Palatino Linotype" panose="02040502050505030304" pitchFamily="18" charset="0"/>
              </a:rPr>
              <a:t>(scale-free</a:t>
            </a:r>
            <a:r>
              <a:rPr lang="en-US" altLang="zh-CN" sz="2400" b="1" dirty="0">
                <a:solidFill>
                  <a:srgbClr val="FF0000"/>
                </a:solidFill>
                <a:latin typeface="Palatino Linotype" panose="02040502050505030304" pitchFamily="18" charset="0"/>
              </a:rPr>
              <a:t> network)</a:t>
            </a:r>
            <a:endParaRPr lang="zh-CN" altLang="en-US" sz="2400" b="1" dirty="0">
              <a:solidFill>
                <a:srgbClr val="FF0000"/>
              </a:solidFill>
              <a:latin typeface="Palatino Linotype" panose="02040502050505030304" pitchFamily="18" charset="0"/>
            </a:endParaRPr>
          </a:p>
        </p:txBody>
      </p:sp>
      <p:sp>
        <p:nvSpPr>
          <p:cNvPr id="3" name="矩形 2"/>
          <p:cNvSpPr/>
          <p:nvPr/>
        </p:nvSpPr>
        <p:spPr>
          <a:xfrm>
            <a:off x="598478" y="5013429"/>
            <a:ext cx="8136582" cy="884070"/>
          </a:xfrm>
          <a:prstGeom prst="rect">
            <a:avLst/>
          </a:prstGeom>
          <a:gradFill rotWithShape="1">
            <a:gsLst>
              <a:gs pos="0">
                <a:srgbClr val="006699">
                  <a:shade val="51000"/>
                  <a:satMod val="130000"/>
                </a:srgbClr>
              </a:gs>
              <a:gs pos="80000">
                <a:srgbClr val="006699">
                  <a:shade val="93000"/>
                  <a:satMod val="130000"/>
                </a:srgbClr>
              </a:gs>
              <a:gs pos="100000">
                <a:srgbClr val="00669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108000" tIns="72000" rIns="108000" bIns="72000">
            <a:spAutoFit/>
          </a:bodyPr>
          <a:lstStyle/>
          <a:p>
            <a:pPr marL="0" marR="0" lvl="0" indent="0" algn="l" defTabSz="914400" eaLnBrk="1" latinLnBrk="0" hangingPunct="1">
              <a:spcBef>
                <a:spcPts val="0"/>
              </a:spcBef>
              <a:spcAft>
                <a:spcPts val="0"/>
              </a:spcAft>
              <a:buClrTx/>
              <a:buSzTx/>
              <a:buFontTx/>
              <a:buNone/>
              <a:defRPr/>
            </a:pPr>
            <a:r>
              <a:rPr kumimoji="0" lang="zh-CN" altLang="en-US" sz="2400" b="0" i="0" u="none" strike="noStrike" kern="0" cap="none" spc="0" normalizeH="0" baseline="0" noProof="0" dirty="0">
                <a:ln>
                  <a:noFill/>
                </a:ln>
                <a:solidFill>
                  <a:srgbClr val="FFFFFF"/>
                </a:solidFill>
                <a:effectLst/>
                <a:uLnTx/>
                <a:uFillTx/>
                <a:latin typeface="Comic Sans MS" panose="030F0702030302020204" pitchFamily="66" charset="0"/>
                <a:ea typeface="宋体" panose="02010600030101010101" pitchFamily="2" charset="-122"/>
                <a:cs typeface="+mn-cs"/>
              </a:rPr>
              <a:t>如今，网络科学是一个令人兴奋且不断发展的领域。来自许多不同领域的科学家正在共同合作</a:t>
            </a:r>
            <a:r>
              <a:rPr kumimoji="0" lang="en-US" altLang="zh-CN" sz="2400" b="0" i="0" u="none" strike="noStrike" kern="0" cap="none" spc="0" normalizeH="0" baseline="0" noProof="0" dirty="0">
                <a:ln>
                  <a:noFill/>
                </a:ln>
                <a:solidFill>
                  <a:srgbClr val="FFFFFF"/>
                </a:solidFill>
                <a:effectLst/>
                <a:uLnTx/>
                <a:uFillTx/>
                <a:latin typeface="Comic Sans MS" panose="030F0702030302020204" pitchFamily="66" charset="0"/>
                <a:ea typeface="宋体" panose="02010600030101010101" pitchFamily="2" charset="-122"/>
                <a:cs typeface="+mn-cs"/>
              </a:rPr>
              <a:t>.</a:t>
            </a:r>
            <a:endParaRPr kumimoji="0" lang="zh-CN" altLang="en-US" sz="2400" b="0" i="0" u="none" strike="noStrike" kern="0" cap="none" spc="0" normalizeH="0" baseline="0" noProof="0" dirty="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8" name="Group 112"/>
          <p:cNvGrpSpPr/>
          <p:nvPr/>
        </p:nvGrpSpPr>
        <p:grpSpPr bwMode="auto">
          <a:xfrm>
            <a:off x="844550" y="992832"/>
            <a:ext cx="7454900" cy="5343525"/>
            <a:chOff x="570" y="689"/>
            <a:chExt cx="4696" cy="3364"/>
          </a:xfrm>
        </p:grpSpPr>
        <p:sp>
          <p:nvSpPr>
            <p:cNvPr id="9" name="Rectangle 40"/>
            <p:cNvSpPr>
              <a:spLocks noChangeArrowheads="1"/>
            </p:cNvSpPr>
            <p:nvPr/>
          </p:nvSpPr>
          <p:spPr bwMode="auto">
            <a:xfrm>
              <a:off x="570" y="932"/>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communication</a:t>
              </a:r>
              <a:endParaRPr lang="en-US" altLang="zh-CN" sz="1400" kern="0" baseline="30000">
                <a:solidFill>
                  <a:srgbClr val="000000"/>
                </a:solidFill>
              </a:endParaRPr>
            </a:p>
          </p:txBody>
        </p:sp>
        <p:sp>
          <p:nvSpPr>
            <p:cNvPr id="10" name="Rectangle 41"/>
            <p:cNvSpPr>
              <a:spLocks noChangeArrowheads="1"/>
            </p:cNvSpPr>
            <p:nvPr/>
          </p:nvSpPr>
          <p:spPr bwMode="auto">
            <a:xfrm>
              <a:off x="570" y="689"/>
              <a:ext cx="1292" cy="243"/>
            </a:xfrm>
            <a:prstGeom prst="rect">
              <a:avLst/>
            </a:prstGeom>
            <a:solidFill>
              <a:srgbClr val="666666"/>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kern="0" dirty="0">
                  <a:solidFill>
                    <a:srgbClr val="FFFFFF"/>
                  </a:solidFill>
                </a:rPr>
                <a:t>graph</a:t>
              </a:r>
              <a:endParaRPr lang="en-US" altLang="zh-CN" kern="0" dirty="0">
                <a:solidFill>
                  <a:srgbClr val="FFFFFF"/>
                </a:solidFill>
              </a:endParaRPr>
            </a:p>
          </p:txBody>
        </p:sp>
        <p:sp>
          <p:nvSpPr>
            <p:cNvPr id="11" name="Rectangle 42"/>
            <p:cNvSpPr>
              <a:spLocks noChangeArrowheads="1"/>
            </p:cNvSpPr>
            <p:nvPr/>
          </p:nvSpPr>
          <p:spPr bwMode="auto">
            <a:xfrm>
              <a:off x="1862" y="932"/>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telephones, computers</a:t>
              </a:r>
              <a:endParaRPr lang="en-US" altLang="zh-CN" sz="1400" kern="0">
                <a:solidFill>
                  <a:srgbClr val="000000"/>
                </a:solidFill>
              </a:endParaRPr>
            </a:p>
          </p:txBody>
        </p:sp>
        <p:sp>
          <p:nvSpPr>
            <p:cNvPr id="12" name="Rectangle 43"/>
            <p:cNvSpPr>
              <a:spLocks noChangeArrowheads="1"/>
            </p:cNvSpPr>
            <p:nvPr/>
          </p:nvSpPr>
          <p:spPr bwMode="auto">
            <a:xfrm>
              <a:off x="1862" y="689"/>
              <a:ext cx="1701" cy="243"/>
            </a:xfrm>
            <a:prstGeom prst="rect">
              <a:avLst/>
            </a:prstGeom>
            <a:solidFill>
              <a:srgbClr val="666666"/>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kern="0">
                  <a:solidFill>
                    <a:srgbClr val="FFFFFF"/>
                  </a:solidFill>
                </a:rPr>
                <a:t>vertices</a:t>
              </a:r>
              <a:endParaRPr lang="en-US" altLang="zh-CN" kern="0">
                <a:solidFill>
                  <a:srgbClr val="FFFFFF"/>
                </a:solidFill>
              </a:endParaRPr>
            </a:p>
          </p:txBody>
        </p:sp>
        <p:sp>
          <p:nvSpPr>
            <p:cNvPr id="14" name="Rectangle 44"/>
            <p:cNvSpPr>
              <a:spLocks noChangeArrowheads="1"/>
            </p:cNvSpPr>
            <p:nvPr/>
          </p:nvSpPr>
          <p:spPr bwMode="auto">
            <a:xfrm>
              <a:off x="3559" y="689"/>
              <a:ext cx="1707" cy="243"/>
            </a:xfrm>
            <a:prstGeom prst="rect">
              <a:avLst/>
            </a:prstGeom>
            <a:solidFill>
              <a:srgbClr val="666666"/>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kern="0" dirty="0">
                  <a:solidFill>
                    <a:srgbClr val="FFFFFF"/>
                  </a:solidFill>
                </a:rPr>
                <a:t>edges</a:t>
              </a:r>
              <a:endParaRPr lang="en-US" altLang="zh-CN" kern="0" dirty="0">
                <a:solidFill>
                  <a:srgbClr val="FFFFFF"/>
                </a:solidFill>
              </a:endParaRPr>
            </a:p>
          </p:txBody>
        </p:sp>
        <p:sp>
          <p:nvSpPr>
            <p:cNvPr id="17" name="Rectangle 45"/>
            <p:cNvSpPr>
              <a:spLocks noChangeArrowheads="1"/>
            </p:cNvSpPr>
            <p:nvPr/>
          </p:nvSpPr>
          <p:spPr bwMode="auto">
            <a:xfrm>
              <a:off x="3559" y="932"/>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fiber optic cables</a:t>
              </a:r>
              <a:endParaRPr lang="en-US" altLang="zh-CN" sz="1400" kern="0">
                <a:solidFill>
                  <a:srgbClr val="000000"/>
                </a:solidFill>
              </a:endParaRPr>
            </a:p>
          </p:txBody>
        </p:sp>
        <p:sp>
          <p:nvSpPr>
            <p:cNvPr id="18" name="Rectangle 46"/>
            <p:cNvSpPr>
              <a:spLocks noChangeArrowheads="1"/>
            </p:cNvSpPr>
            <p:nvPr/>
          </p:nvSpPr>
          <p:spPr bwMode="auto">
            <a:xfrm>
              <a:off x="570" y="1155"/>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dirty="0">
                  <a:solidFill>
                    <a:srgbClr val="000000"/>
                  </a:solidFill>
                </a:rPr>
                <a:t>circuits</a:t>
              </a:r>
              <a:endParaRPr lang="en-US" altLang="zh-CN" sz="1400" kern="0" baseline="30000" dirty="0">
                <a:solidFill>
                  <a:srgbClr val="000000"/>
                </a:solidFill>
              </a:endParaRPr>
            </a:p>
          </p:txBody>
        </p:sp>
        <p:sp>
          <p:nvSpPr>
            <p:cNvPr id="19" name="Rectangle 47"/>
            <p:cNvSpPr>
              <a:spLocks noChangeArrowheads="1"/>
            </p:cNvSpPr>
            <p:nvPr/>
          </p:nvSpPr>
          <p:spPr bwMode="auto">
            <a:xfrm>
              <a:off x="1862" y="1155"/>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dirty="0">
                  <a:solidFill>
                    <a:srgbClr val="000000"/>
                  </a:solidFill>
                </a:rPr>
                <a:t>gates, registers, processors</a:t>
              </a:r>
              <a:endParaRPr lang="en-US" altLang="zh-CN" sz="1400" kern="0" dirty="0">
                <a:solidFill>
                  <a:srgbClr val="000000"/>
                </a:solidFill>
              </a:endParaRPr>
            </a:p>
          </p:txBody>
        </p:sp>
        <p:sp>
          <p:nvSpPr>
            <p:cNvPr id="20" name="Rectangle 48"/>
            <p:cNvSpPr>
              <a:spLocks noChangeArrowheads="1"/>
            </p:cNvSpPr>
            <p:nvPr/>
          </p:nvSpPr>
          <p:spPr bwMode="auto">
            <a:xfrm>
              <a:off x="3559" y="1155"/>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dirty="0">
                  <a:solidFill>
                    <a:srgbClr val="000000"/>
                  </a:solidFill>
                </a:rPr>
                <a:t>wires</a:t>
              </a:r>
              <a:endParaRPr lang="en-US" altLang="zh-CN" sz="1400" kern="0" dirty="0">
                <a:solidFill>
                  <a:srgbClr val="000000"/>
                </a:solidFill>
              </a:endParaRPr>
            </a:p>
          </p:txBody>
        </p:sp>
        <p:sp>
          <p:nvSpPr>
            <p:cNvPr id="21" name="Rectangle 49"/>
            <p:cNvSpPr>
              <a:spLocks noChangeArrowheads="1"/>
            </p:cNvSpPr>
            <p:nvPr/>
          </p:nvSpPr>
          <p:spPr bwMode="auto">
            <a:xfrm>
              <a:off x="570" y="1378"/>
              <a:ext cx="1292" cy="236"/>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mechanical</a:t>
              </a:r>
              <a:endParaRPr lang="en-US" altLang="zh-CN" sz="1400" kern="0" baseline="30000">
                <a:solidFill>
                  <a:srgbClr val="000000"/>
                </a:solidFill>
              </a:endParaRPr>
            </a:p>
          </p:txBody>
        </p:sp>
        <p:sp>
          <p:nvSpPr>
            <p:cNvPr id="22" name="Rectangle 50"/>
            <p:cNvSpPr>
              <a:spLocks noChangeArrowheads="1"/>
            </p:cNvSpPr>
            <p:nvPr/>
          </p:nvSpPr>
          <p:spPr bwMode="auto">
            <a:xfrm>
              <a:off x="1862" y="1378"/>
              <a:ext cx="1701" cy="236"/>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joints</a:t>
              </a:r>
              <a:endParaRPr lang="en-US" altLang="zh-CN" sz="1400" kern="0">
                <a:solidFill>
                  <a:srgbClr val="000000"/>
                </a:solidFill>
              </a:endParaRPr>
            </a:p>
          </p:txBody>
        </p:sp>
        <p:sp>
          <p:nvSpPr>
            <p:cNvPr id="23" name="Rectangle 51"/>
            <p:cNvSpPr>
              <a:spLocks noChangeArrowheads="1"/>
            </p:cNvSpPr>
            <p:nvPr/>
          </p:nvSpPr>
          <p:spPr bwMode="auto">
            <a:xfrm>
              <a:off x="3559" y="1378"/>
              <a:ext cx="1707" cy="236"/>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rods, beams, springs</a:t>
              </a:r>
              <a:endParaRPr lang="en-US" altLang="zh-CN" sz="1400" kern="0">
                <a:solidFill>
                  <a:srgbClr val="000000"/>
                </a:solidFill>
              </a:endParaRPr>
            </a:p>
          </p:txBody>
        </p:sp>
        <p:sp>
          <p:nvSpPr>
            <p:cNvPr id="24" name="Rectangle 52"/>
            <p:cNvSpPr>
              <a:spLocks noChangeArrowheads="1"/>
            </p:cNvSpPr>
            <p:nvPr/>
          </p:nvSpPr>
          <p:spPr bwMode="auto">
            <a:xfrm>
              <a:off x="570" y="1600"/>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dirty="0">
                  <a:solidFill>
                    <a:srgbClr val="000000"/>
                  </a:solidFill>
                </a:rPr>
                <a:t>hydraulic</a:t>
              </a:r>
              <a:endParaRPr lang="en-US" altLang="zh-CN" sz="1400" kern="0" baseline="30000" dirty="0">
                <a:solidFill>
                  <a:srgbClr val="000000"/>
                </a:solidFill>
              </a:endParaRPr>
            </a:p>
          </p:txBody>
        </p:sp>
        <p:sp>
          <p:nvSpPr>
            <p:cNvPr id="25" name="Rectangle 53"/>
            <p:cNvSpPr>
              <a:spLocks noChangeArrowheads="1"/>
            </p:cNvSpPr>
            <p:nvPr/>
          </p:nvSpPr>
          <p:spPr bwMode="auto">
            <a:xfrm>
              <a:off x="1862" y="1600"/>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reservoirs, pumping stations</a:t>
              </a:r>
              <a:endParaRPr lang="en-US" altLang="zh-CN" sz="1400" kern="0">
                <a:solidFill>
                  <a:srgbClr val="000000"/>
                </a:solidFill>
              </a:endParaRPr>
            </a:p>
          </p:txBody>
        </p:sp>
        <p:sp>
          <p:nvSpPr>
            <p:cNvPr id="26" name="Rectangle 54"/>
            <p:cNvSpPr>
              <a:spLocks noChangeArrowheads="1"/>
            </p:cNvSpPr>
            <p:nvPr/>
          </p:nvSpPr>
          <p:spPr bwMode="auto">
            <a:xfrm>
              <a:off x="3559" y="1600"/>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pipelines</a:t>
              </a:r>
              <a:endParaRPr lang="en-US" altLang="zh-CN" sz="1400" kern="0">
                <a:solidFill>
                  <a:srgbClr val="000000"/>
                </a:solidFill>
              </a:endParaRPr>
            </a:p>
          </p:txBody>
        </p:sp>
        <p:sp>
          <p:nvSpPr>
            <p:cNvPr id="27" name="Rectangle 55"/>
            <p:cNvSpPr>
              <a:spLocks noChangeArrowheads="1"/>
            </p:cNvSpPr>
            <p:nvPr/>
          </p:nvSpPr>
          <p:spPr bwMode="auto">
            <a:xfrm>
              <a:off x="570" y="1823"/>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financial</a:t>
              </a:r>
              <a:endParaRPr lang="en-US" altLang="zh-CN" sz="1400" kern="0" baseline="30000">
                <a:solidFill>
                  <a:srgbClr val="000000"/>
                </a:solidFill>
              </a:endParaRPr>
            </a:p>
          </p:txBody>
        </p:sp>
        <p:sp>
          <p:nvSpPr>
            <p:cNvPr id="28" name="Rectangle 56"/>
            <p:cNvSpPr>
              <a:spLocks noChangeArrowheads="1"/>
            </p:cNvSpPr>
            <p:nvPr/>
          </p:nvSpPr>
          <p:spPr bwMode="auto">
            <a:xfrm>
              <a:off x="1862" y="1823"/>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stocks, currency</a:t>
              </a:r>
              <a:endParaRPr lang="en-US" altLang="zh-CN" sz="1400" kern="0">
                <a:solidFill>
                  <a:srgbClr val="000000"/>
                </a:solidFill>
              </a:endParaRPr>
            </a:p>
          </p:txBody>
        </p:sp>
        <p:sp>
          <p:nvSpPr>
            <p:cNvPr id="29" name="Rectangle 57"/>
            <p:cNvSpPr>
              <a:spLocks noChangeArrowheads="1"/>
            </p:cNvSpPr>
            <p:nvPr/>
          </p:nvSpPr>
          <p:spPr bwMode="auto">
            <a:xfrm>
              <a:off x="3559" y="1823"/>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transactions</a:t>
              </a:r>
              <a:endParaRPr lang="en-US" altLang="zh-CN" sz="1400" kern="0">
                <a:solidFill>
                  <a:srgbClr val="000000"/>
                </a:solidFill>
              </a:endParaRPr>
            </a:p>
          </p:txBody>
        </p:sp>
        <p:sp>
          <p:nvSpPr>
            <p:cNvPr id="30" name="Rectangle 58"/>
            <p:cNvSpPr>
              <a:spLocks noChangeArrowheads="1"/>
            </p:cNvSpPr>
            <p:nvPr/>
          </p:nvSpPr>
          <p:spPr bwMode="auto">
            <a:xfrm>
              <a:off x="570" y="2046"/>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transportation</a:t>
              </a:r>
              <a:endParaRPr lang="en-US" altLang="zh-CN" sz="1400" kern="0" baseline="30000">
                <a:solidFill>
                  <a:srgbClr val="000000"/>
                </a:solidFill>
              </a:endParaRPr>
            </a:p>
          </p:txBody>
        </p:sp>
        <p:sp>
          <p:nvSpPr>
            <p:cNvPr id="31" name="Rectangle 59"/>
            <p:cNvSpPr>
              <a:spLocks noChangeArrowheads="1"/>
            </p:cNvSpPr>
            <p:nvPr/>
          </p:nvSpPr>
          <p:spPr bwMode="auto">
            <a:xfrm>
              <a:off x="1862" y="2046"/>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street intersections, airports</a:t>
              </a:r>
              <a:endParaRPr lang="en-US" altLang="zh-CN" sz="1400" kern="0">
                <a:solidFill>
                  <a:srgbClr val="000000"/>
                </a:solidFill>
              </a:endParaRPr>
            </a:p>
          </p:txBody>
        </p:sp>
        <p:sp>
          <p:nvSpPr>
            <p:cNvPr id="32" name="Rectangle 60"/>
            <p:cNvSpPr>
              <a:spLocks noChangeArrowheads="1"/>
            </p:cNvSpPr>
            <p:nvPr/>
          </p:nvSpPr>
          <p:spPr bwMode="auto">
            <a:xfrm>
              <a:off x="3559" y="2046"/>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highways, airway routes</a:t>
              </a:r>
              <a:endParaRPr lang="en-US" altLang="zh-CN" sz="1400" kern="0">
                <a:solidFill>
                  <a:srgbClr val="000000"/>
                </a:solidFill>
              </a:endParaRPr>
            </a:p>
          </p:txBody>
        </p:sp>
        <p:sp>
          <p:nvSpPr>
            <p:cNvPr id="33" name="Rectangle 61"/>
            <p:cNvSpPr>
              <a:spLocks noChangeArrowheads="1"/>
            </p:cNvSpPr>
            <p:nvPr/>
          </p:nvSpPr>
          <p:spPr bwMode="auto">
            <a:xfrm>
              <a:off x="570" y="2269"/>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scheduling</a:t>
              </a:r>
              <a:endParaRPr lang="en-US" altLang="zh-CN" sz="1400" kern="0" baseline="30000">
                <a:solidFill>
                  <a:srgbClr val="000000"/>
                </a:solidFill>
              </a:endParaRPr>
            </a:p>
          </p:txBody>
        </p:sp>
        <p:sp>
          <p:nvSpPr>
            <p:cNvPr id="34" name="Rectangle 62"/>
            <p:cNvSpPr>
              <a:spLocks noChangeArrowheads="1"/>
            </p:cNvSpPr>
            <p:nvPr/>
          </p:nvSpPr>
          <p:spPr bwMode="auto">
            <a:xfrm>
              <a:off x="1862" y="2269"/>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tasks</a:t>
              </a:r>
              <a:endParaRPr lang="en-US" altLang="zh-CN" sz="1400" kern="0">
                <a:solidFill>
                  <a:srgbClr val="000000"/>
                </a:solidFill>
              </a:endParaRPr>
            </a:p>
          </p:txBody>
        </p:sp>
        <p:sp>
          <p:nvSpPr>
            <p:cNvPr id="35" name="Rectangle 63"/>
            <p:cNvSpPr>
              <a:spLocks noChangeArrowheads="1"/>
            </p:cNvSpPr>
            <p:nvPr/>
          </p:nvSpPr>
          <p:spPr bwMode="auto">
            <a:xfrm>
              <a:off x="3559" y="2269"/>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precedence constraints</a:t>
              </a:r>
              <a:endParaRPr lang="en-US" altLang="zh-CN" sz="1400" kern="0">
                <a:solidFill>
                  <a:srgbClr val="000000"/>
                </a:solidFill>
              </a:endParaRPr>
            </a:p>
          </p:txBody>
        </p:sp>
        <p:sp>
          <p:nvSpPr>
            <p:cNvPr id="36" name="Rectangle 64"/>
            <p:cNvSpPr>
              <a:spLocks noChangeArrowheads="1"/>
            </p:cNvSpPr>
            <p:nvPr/>
          </p:nvSpPr>
          <p:spPr bwMode="auto">
            <a:xfrm>
              <a:off x="570" y="2492"/>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software systems</a:t>
              </a:r>
              <a:endParaRPr lang="en-US" altLang="zh-CN" sz="1400" kern="0" baseline="30000">
                <a:solidFill>
                  <a:srgbClr val="000000"/>
                </a:solidFill>
              </a:endParaRPr>
            </a:p>
          </p:txBody>
        </p:sp>
        <p:sp>
          <p:nvSpPr>
            <p:cNvPr id="37" name="Rectangle 65"/>
            <p:cNvSpPr>
              <a:spLocks noChangeArrowheads="1"/>
            </p:cNvSpPr>
            <p:nvPr/>
          </p:nvSpPr>
          <p:spPr bwMode="auto">
            <a:xfrm>
              <a:off x="1862" y="2492"/>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functions</a:t>
              </a:r>
              <a:endParaRPr lang="en-US" altLang="zh-CN" sz="1400" kern="0">
                <a:solidFill>
                  <a:srgbClr val="000000"/>
                </a:solidFill>
              </a:endParaRPr>
            </a:p>
          </p:txBody>
        </p:sp>
        <p:sp>
          <p:nvSpPr>
            <p:cNvPr id="38" name="Rectangle 66"/>
            <p:cNvSpPr>
              <a:spLocks noChangeArrowheads="1"/>
            </p:cNvSpPr>
            <p:nvPr/>
          </p:nvSpPr>
          <p:spPr bwMode="auto">
            <a:xfrm>
              <a:off x="3559" y="2492"/>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function calls</a:t>
              </a:r>
              <a:endParaRPr lang="en-US" altLang="zh-CN" sz="1400" kern="0">
                <a:solidFill>
                  <a:srgbClr val="000000"/>
                </a:solidFill>
              </a:endParaRPr>
            </a:p>
          </p:txBody>
        </p:sp>
        <p:sp>
          <p:nvSpPr>
            <p:cNvPr id="39" name="Rectangle 67"/>
            <p:cNvSpPr>
              <a:spLocks noChangeArrowheads="1"/>
            </p:cNvSpPr>
            <p:nvPr/>
          </p:nvSpPr>
          <p:spPr bwMode="auto">
            <a:xfrm>
              <a:off x="570" y="2715"/>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b="1" kern="0" dirty="0">
                  <a:solidFill>
                    <a:srgbClr val="FF0000"/>
                  </a:solidFill>
                  <a:effectLst>
                    <a:outerShdw blurRad="38100" dist="38100" dir="2700000" algn="tl">
                      <a:srgbClr val="000000">
                        <a:alpha val="43137"/>
                      </a:srgbClr>
                    </a:outerShdw>
                  </a:effectLst>
                </a:rPr>
                <a:t>WWW</a:t>
              </a:r>
              <a:endParaRPr lang="en-US" altLang="zh-CN" sz="1400" b="1" kern="0" baseline="30000" dirty="0">
                <a:solidFill>
                  <a:srgbClr val="FF0000"/>
                </a:solidFill>
                <a:effectLst>
                  <a:outerShdw blurRad="38100" dist="38100" dir="2700000" algn="tl">
                    <a:srgbClr val="000000">
                      <a:alpha val="43137"/>
                    </a:srgbClr>
                  </a:outerShdw>
                </a:effectLst>
              </a:endParaRPr>
            </a:p>
          </p:txBody>
        </p:sp>
        <p:sp>
          <p:nvSpPr>
            <p:cNvPr id="40" name="Rectangle 68"/>
            <p:cNvSpPr>
              <a:spLocks noChangeArrowheads="1"/>
            </p:cNvSpPr>
            <p:nvPr/>
          </p:nvSpPr>
          <p:spPr bwMode="auto">
            <a:xfrm>
              <a:off x="1862" y="2715"/>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b="1" kern="0" dirty="0">
                  <a:solidFill>
                    <a:srgbClr val="FF0000"/>
                  </a:solidFill>
                  <a:effectLst>
                    <a:outerShdw blurRad="38100" dist="38100" dir="2700000" algn="tl">
                      <a:srgbClr val="000000">
                        <a:alpha val="43137"/>
                      </a:srgbClr>
                    </a:outerShdw>
                  </a:effectLst>
                </a:rPr>
                <a:t>web pages</a:t>
              </a:r>
              <a:endParaRPr lang="en-US" altLang="zh-CN" sz="1400" b="1" kern="0" dirty="0">
                <a:solidFill>
                  <a:srgbClr val="FF0000"/>
                </a:solidFill>
                <a:effectLst>
                  <a:outerShdw blurRad="38100" dist="38100" dir="2700000" algn="tl">
                    <a:srgbClr val="000000">
                      <a:alpha val="43137"/>
                    </a:srgbClr>
                  </a:outerShdw>
                </a:effectLst>
              </a:endParaRPr>
            </a:p>
          </p:txBody>
        </p:sp>
        <p:sp>
          <p:nvSpPr>
            <p:cNvPr id="41" name="Rectangle 69"/>
            <p:cNvSpPr>
              <a:spLocks noChangeArrowheads="1"/>
            </p:cNvSpPr>
            <p:nvPr/>
          </p:nvSpPr>
          <p:spPr bwMode="auto">
            <a:xfrm>
              <a:off x="3559" y="2715"/>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b="1" kern="0">
                  <a:solidFill>
                    <a:srgbClr val="FF0000"/>
                  </a:solidFill>
                  <a:effectLst>
                    <a:outerShdw blurRad="38100" dist="38100" dir="2700000" algn="tl">
                      <a:srgbClr val="000000">
                        <a:alpha val="43137"/>
                      </a:srgbClr>
                    </a:outerShdw>
                  </a:effectLst>
                </a:rPr>
                <a:t>hyperlinks</a:t>
              </a:r>
              <a:endParaRPr lang="en-US" altLang="zh-CN" sz="1400" b="1" kern="0">
                <a:solidFill>
                  <a:srgbClr val="FF0000"/>
                </a:solidFill>
                <a:effectLst>
                  <a:outerShdw blurRad="38100" dist="38100" dir="2700000" algn="tl">
                    <a:srgbClr val="000000">
                      <a:alpha val="43137"/>
                    </a:srgbClr>
                  </a:outerShdw>
                </a:effectLst>
              </a:endParaRPr>
            </a:p>
          </p:txBody>
        </p:sp>
        <p:sp>
          <p:nvSpPr>
            <p:cNvPr id="42" name="Rectangle 70"/>
            <p:cNvSpPr>
              <a:spLocks noChangeArrowheads="1"/>
            </p:cNvSpPr>
            <p:nvPr/>
          </p:nvSpPr>
          <p:spPr bwMode="auto">
            <a:xfrm>
              <a:off x="570" y="2938"/>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games</a:t>
              </a:r>
              <a:endParaRPr lang="en-US" altLang="zh-CN" sz="1400" kern="0" baseline="30000">
                <a:solidFill>
                  <a:srgbClr val="000000"/>
                </a:solidFill>
              </a:endParaRPr>
            </a:p>
          </p:txBody>
        </p:sp>
        <p:sp>
          <p:nvSpPr>
            <p:cNvPr id="43" name="Rectangle 71"/>
            <p:cNvSpPr>
              <a:spLocks noChangeArrowheads="1"/>
            </p:cNvSpPr>
            <p:nvPr/>
          </p:nvSpPr>
          <p:spPr bwMode="auto">
            <a:xfrm>
              <a:off x="1862" y="2938"/>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board positions</a:t>
              </a:r>
              <a:endParaRPr lang="en-US" altLang="zh-CN" sz="1400" kern="0">
                <a:solidFill>
                  <a:srgbClr val="000000"/>
                </a:solidFill>
              </a:endParaRPr>
            </a:p>
          </p:txBody>
        </p:sp>
        <p:sp>
          <p:nvSpPr>
            <p:cNvPr id="44" name="Rectangle 72"/>
            <p:cNvSpPr>
              <a:spLocks noChangeArrowheads="1"/>
            </p:cNvSpPr>
            <p:nvPr/>
          </p:nvSpPr>
          <p:spPr bwMode="auto">
            <a:xfrm>
              <a:off x="3559" y="2938"/>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legal moves</a:t>
              </a:r>
              <a:endParaRPr lang="en-US" altLang="zh-CN" sz="1400" kern="0">
                <a:solidFill>
                  <a:srgbClr val="000000"/>
                </a:solidFill>
              </a:endParaRPr>
            </a:p>
          </p:txBody>
        </p:sp>
        <p:sp>
          <p:nvSpPr>
            <p:cNvPr id="45" name="Rectangle 100"/>
            <p:cNvSpPr>
              <a:spLocks noChangeArrowheads="1"/>
            </p:cNvSpPr>
            <p:nvPr/>
          </p:nvSpPr>
          <p:spPr bwMode="auto">
            <a:xfrm>
              <a:off x="570" y="3161"/>
              <a:ext cx="1292" cy="237"/>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social relationship</a:t>
              </a:r>
              <a:endParaRPr lang="en-US" altLang="zh-CN" sz="1400" kern="0">
                <a:solidFill>
                  <a:srgbClr val="000000"/>
                </a:solidFill>
              </a:endParaRPr>
            </a:p>
          </p:txBody>
        </p:sp>
        <p:sp>
          <p:nvSpPr>
            <p:cNvPr id="46" name="Rectangle 101"/>
            <p:cNvSpPr>
              <a:spLocks noChangeArrowheads="1"/>
            </p:cNvSpPr>
            <p:nvPr/>
          </p:nvSpPr>
          <p:spPr bwMode="auto">
            <a:xfrm>
              <a:off x="1862" y="3161"/>
              <a:ext cx="1701" cy="237"/>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people, actors</a:t>
              </a:r>
              <a:endParaRPr lang="en-US" altLang="zh-CN" sz="1400" kern="0">
                <a:solidFill>
                  <a:srgbClr val="000000"/>
                </a:solidFill>
              </a:endParaRPr>
            </a:p>
          </p:txBody>
        </p:sp>
        <p:sp>
          <p:nvSpPr>
            <p:cNvPr id="47" name="Rectangle 102"/>
            <p:cNvSpPr>
              <a:spLocks noChangeArrowheads="1"/>
            </p:cNvSpPr>
            <p:nvPr/>
          </p:nvSpPr>
          <p:spPr bwMode="auto">
            <a:xfrm>
              <a:off x="3559" y="3161"/>
              <a:ext cx="1707" cy="237"/>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friendships, movie casts</a:t>
              </a:r>
              <a:endParaRPr lang="en-US" altLang="zh-CN" sz="1400" kern="0">
                <a:solidFill>
                  <a:srgbClr val="000000"/>
                </a:solidFill>
              </a:endParaRPr>
            </a:p>
          </p:txBody>
        </p:sp>
        <p:sp>
          <p:nvSpPr>
            <p:cNvPr id="48" name="Rectangle 103"/>
            <p:cNvSpPr>
              <a:spLocks noChangeArrowheads="1"/>
            </p:cNvSpPr>
            <p:nvPr/>
          </p:nvSpPr>
          <p:spPr bwMode="auto">
            <a:xfrm>
              <a:off x="570" y="3384"/>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neural networks</a:t>
              </a:r>
              <a:endParaRPr lang="en-US" altLang="zh-CN" sz="1400" kern="0">
                <a:solidFill>
                  <a:srgbClr val="000000"/>
                </a:solidFill>
              </a:endParaRPr>
            </a:p>
          </p:txBody>
        </p:sp>
        <p:sp>
          <p:nvSpPr>
            <p:cNvPr id="49" name="Rectangle 104"/>
            <p:cNvSpPr>
              <a:spLocks noChangeArrowheads="1"/>
            </p:cNvSpPr>
            <p:nvPr/>
          </p:nvSpPr>
          <p:spPr bwMode="auto">
            <a:xfrm>
              <a:off x="1862" y="3384"/>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neurons</a:t>
              </a:r>
              <a:endParaRPr lang="en-US" altLang="zh-CN" sz="1400" kern="0">
                <a:solidFill>
                  <a:srgbClr val="000000"/>
                </a:solidFill>
              </a:endParaRPr>
            </a:p>
          </p:txBody>
        </p:sp>
        <p:sp>
          <p:nvSpPr>
            <p:cNvPr id="50" name="Rectangle 105"/>
            <p:cNvSpPr>
              <a:spLocks noChangeArrowheads="1"/>
            </p:cNvSpPr>
            <p:nvPr/>
          </p:nvSpPr>
          <p:spPr bwMode="auto">
            <a:xfrm>
              <a:off x="3559" y="3384"/>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synapses</a:t>
              </a:r>
              <a:endParaRPr lang="en-US" altLang="zh-CN" sz="1400" kern="0">
                <a:solidFill>
                  <a:srgbClr val="000000"/>
                </a:solidFill>
              </a:endParaRPr>
            </a:p>
          </p:txBody>
        </p:sp>
        <p:sp>
          <p:nvSpPr>
            <p:cNvPr id="51" name="Rectangle 106"/>
            <p:cNvSpPr>
              <a:spLocks noChangeArrowheads="1"/>
            </p:cNvSpPr>
            <p:nvPr/>
          </p:nvSpPr>
          <p:spPr bwMode="auto">
            <a:xfrm>
              <a:off x="570" y="3607"/>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protein networks</a:t>
              </a:r>
              <a:endParaRPr lang="en-US" altLang="zh-CN" sz="1400" kern="0">
                <a:solidFill>
                  <a:srgbClr val="000000"/>
                </a:solidFill>
              </a:endParaRPr>
            </a:p>
          </p:txBody>
        </p:sp>
        <p:sp>
          <p:nvSpPr>
            <p:cNvPr id="52" name="Rectangle 107"/>
            <p:cNvSpPr>
              <a:spLocks noChangeArrowheads="1"/>
            </p:cNvSpPr>
            <p:nvPr/>
          </p:nvSpPr>
          <p:spPr bwMode="auto">
            <a:xfrm>
              <a:off x="1862" y="3607"/>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proteins</a:t>
              </a:r>
              <a:endParaRPr lang="en-US" altLang="zh-CN" sz="1400" kern="0">
                <a:solidFill>
                  <a:srgbClr val="000000"/>
                </a:solidFill>
              </a:endParaRPr>
            </a:p>
          </p:txBody>
        </p:sp>
        <p:sp>
          <p:nvSpPr>
            <p:cNvPr id="53" name="Rectangle 108"/>
            <p:cNvSpPr>
              <a:spLocks noChangeArrowheads="1"/>
            </p:cNvSpPr>
            <p:nvPr/>
          </p:nvSpPr>
          <p:spPr bwMode="auto">
            <a:xfrm>
              <a:off x="3559" y="3607"/>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protein-protein interactions</a:t>
              </a:r>
              <a:endParaRPr lang="en-US" altLang="zh-CN" sz="1400" kern="0">
                <a:solidFill>
                  <a:srgbClr val="000000"/>
                </a:solidFill>
              </a:endParaRPr>
            </a:p>
          </p:txBody>
        </p:sp>
        <p:sp>
          <p:nvSpPr>
            <p:cNvPr id="54" name="Rectangle 109"/>
            <p:cNvSpPr>
              <a:spLocks noChangeArrowheads="1"/>
            </p:cNvSpPr>
            <p:nvPr/>
          </p:nvSpPr>
          <p:spPr bwMode="auto">
            <a:xfrm>
              <a:off x="570" y="3830"/>
              <a:ext cx="1292"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chemical compounds</a:t>
              </a:r>
              <a:endParaRPr lang="en-US" altLang="zh-CN" sz="1400" kern="0">
                <a:solidFill>
                  <a:srgbClr val="000000"/>
                </a:solidFill>
              </a:endParaRPr>
            </a:p>
          </p:txBody>
        </p:sp>
        <p:sp>
          <p:nvSpPr>
            <p:cNvPr id="55" name="Rectangle 110"/>
            <p:cNvSpPr>
              <a:spLocks noChangeArrowheads="1"/>
            </p:cNvSpPr>
            <p:nvPr/>
          </p:nvSpPr>
          <p:spPr bwMode="auto">
            <a:xfrm>
              <a:off x="1862" y="3830"/>
              <a:ext cx="1701"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a:solidFill>
                    <a:srgbClr val="000000"/>
                  </a:solidFill>
                </a:rPr>
                <a:t>molecules</a:t>
              </a:r>
              <a:endParaRPr lang="en-US" altLang="zh-CN" sz="1400" kern="0">
                <a:solidFill>
                  <a:srgbClr val="000000"/>
                </a:solidFill>
              </a:endParaRPr>
            </a:p>
          </p:txBody>
        </p:sp>
        <p:sp>
          <p:nvSpPr>
            <p:cNvPr id="56" name="Rectangle 111"/>
            <p:cNvSpPr>
              <a:spLocks noChangeArrowheads="1"/>
            </p:cNvSpPr>
            <p:nvPr/>
          </p:nvSpPr>
          <p:spPr bwMode="auto">
            <a:xfrm>
              <a:off x="3559" y="3830"/>
              <a:ext cx="1707" cy="223"/>
            </a:xfrm>
            <a:prstGeom prst="rect">
              <a:avLst/>
            </a:prstGeom>
            <a:solidFill>
              <a:srgbClr val="C0C0C0"/>
            </a:solidFill>
            <a:ln w="9525">
              <a:solidFill>
                <a:srgbClr val="FFFFFF"/>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spcBef>
                  <a:spcPts val="0"/>
                </a:spcBef>
                <a:spcAft>
                  <a:spcPts val="0"/>
                </a:spcAft>
                <a:defRPr/>
              </a:pPr>
              <a:r>
                <a:rPr lang="en-US" altLang="zh-CN" sz="1400" kern="0" dirty="0">
                  <a:solidFill>
                    <a:srgbClr val="000000"/>
                  </a:solidFill>
                </a:rPr>
                <a:t>bonds</a:t>
              </a:r>
              <a:endParaRPr lang="en-US" altLang="zh-CN" sz="1400" kern="0" dirty="0">
                <a:solidFill>
                  <a:srgbClr val="000000"/>
                </a:solidFill>
              </a:endParaRPr>
            </a:p>
          </p:txBody>
        </p:sp>
      </p:grpSp>
      <p:sp>
        <p:nvSpPr>
          <p:cNvPr id="57" name="矩形 5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89186" y="1297303"/>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网络分析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8" name="Picture 3" descr="600px-Opte_Project_map_1105841711"/>
          <p:cNvPicPr>
            <a:picLocks noChangeAspect="1" noChangeArrowheads="1"/>
          </p:cNvPicPr>
          <p:nvPr/>
        </p:nvPicPr>
        <p:blipFill>
          <a:blip r:embed="rId1">
            <a:extLst>
              <a:ext uri="{28A0092B-C50C-407E-A947-70E740481C1C}">
                <a14:useLocalDpi xmlns:a14="http://schemas.microsoft.com/office/drawing/2010/main" val="0"/>
              </a:ext>
            </a:extLst>
          </a:blip>
          <a:srcRect b="6728"/>
          <a:stretch>
            <a:fillRect/>
          </a:stretch>
        </p:blipFill>
        <p:spPr bwMode="auto">
          <a:xfrm>
            <a:off x="1115616" y="1906188"/>
            <a:ext cx="2927054" cy="209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words"/>
          <p:cNvPicPr>
            <a:picLocks noChangeAspect="1" noChangeArrowheads="1"/>
          </p:cNvPicPr>
          <p:nvPr/>
        </p:nvPicPr>
        <p:blipFill>
          <a:blip r:embed="rId2">
            <a:lum contrast="16000"/>
            <a:extLst>
              <a:ext uri="{28A0092B-C50C-407E-A947-70E740481C1C}">
                <a14:useLocalDpi xmlns:a14="http://schemas.microsoft.com/office/drawing/2010/main" val="0"/>
              </a:ext>
            </a:extLst>
          </a:blip>
          <a:srcRect/>
          <a:stretch>
            <a:fillRect/>
          </a:stretch>
        </p:blipFill>
        <p:spPr bwMode="auto">
          <a:xfrm>
            <a:off x="4952109" y="1628800"/>
            <a:ext cx="3796355" cy="416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6"/>
          <p:cNvSpPr>
            <a:spLocks noChangeArrowheads="1"/>
          </p:cNvSpPr>
          <p:nvPr/>
        </p:nvSpPr>
        <p:spPr bwMode="auto">
          <a:xfrm>
            <a:off x="6232242" y="5949280"/>
            <a:ext cx="18117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dirty="0"/>
              <a:t>世界各地的社区</a:t>
            </a:r>
            <a:endParaRPr lang="en-US" altLang="zh-CN" dirty="0"/>
          </a:p>
        </p:txBody>
      </p:sp>
      <p:sp>
        <p:nvSpPr>
          <p:cNvPr id="11" name="矩形 7"/>
          <p:cNvSpPr>
            <a:spLocks noChangeArrowheads="1"/>
          </p:cNvSpPr>
          <p:nvPr/>
        </p:nvSpPr>
        <p:spPr bwMode="auto">
          <a:xfrm>
            <a:off x="2199277" y="4002252"/>
            <a:ext cx="8819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dirty="0"/>
              <a:t>互联网</a:t>
            </a:r>
            <a:endParaRPr lang="en-US" altLang="zh-CN" dirty="0"/>
          </a:p>
        </p:txBody>
      </p:sp>
      <p:pic>
        <p:nvPicPr>
          <p:cNvPr id="12" name="Picture 9" descr="C:\Documents and Settings\sn275\Desktop\Adamic and Glance-227_big0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4416418"/>
            <a:ext cx="2927054" cy="1755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
          <p:cNvSpPr>
            <a:spLocks noChangeArrowheads="1"/>
          </p:cNvSpPr>
          <p:nvPr/>
        </p:nvSpPr>
        <p:spPr bwMode="auto">
          <a:xfrm>
            <a:off x="1237857" y="6116563"/>
            <a:ext cx="28048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b="1" dirty="0"/>
              <a:t>2004</a:t>
            </a:r>
            <a:r>
              <a:rPr lang="zh-CN" altLang="en-US" b="1" dirty="0"/>
              <a:t>年美国大选中政治博客的社区结构</a:t>
            </a:r>
            <a:endParaRPr lang="en-GB" altLang="zh-CN" b="1" dirty="0"/>
          </a:p>
        </p:txBody>
      </p:sp>
      <p:sp>
        <p:nvSpPr>
          <p:cNvPr id="13" name="矩形 12"/>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93040" y="1302838"/>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网络分析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6"/>
          <p:cNvSpPr txBox="1">
            <a:spLocks noChangeArrowheads="1"/>
          </p:cNvSpPr>
          <p:nvPr/>
        </p:nvSpPr>
        <p:spPr bwMode="auto">
          <a:xfrm>
            <a:off x="759225" y="1970059"/>
            <a:ext cx="8208962" cy="395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lgn="l" rtl="0" eaLnBrk="0" fontAlgn="base" hangingPunct="0">
              <a:lnSpc>
                <a:spcPts val="2600"/>
              </a:lnSpc>
              <a:spcBef>
                <a:spcPct val="0"/>
              </a:spcBef>
              <a:spcAft>
                <a:spcPct val="0"/>
              </a:spcAft>
              <a:buClr>
                <a:srgbClr val="003399"/>
              </a:buClr>
              <a:buSzPct val="50000"/>
              <a:buFont typeface="Monotype Sorts" panose="01010601010101010101" pitchFamily="-96" charset="2"/>
              <a:defRPr kumimoji="1">
                <a:solidFill>
                  <a:srgbClr val="003399"/>
                </a:solidFill>
                <a:latin typeface="+mn-lt"/>
                <a:ea typeface="+mn-ea"/>
                <a:cs typeface="+mn-cs"/>
              </a:defRPr>
            </a:lvl1pPr>
            <a:lvl2pPr marL="346075" indent="-231775" algn="l" rtl="0" eaLnBrk="0" fontAlgn="base" hangingPunct="0">
              <a:lnSpc>
                <a:spcPts val="2600"/>
              </a:lnSpc>
              <a:spcBef>
                <a:spcPct val="0"/>
              </a:spcBef>
              <a:spcAft>
                <a:spcPct val="0"/>
              </a:spcAft>
              <a:buClr>
                <a:schemeClr val="tx1"/>
              </a:buClr>
              <a:buSzPct val="35000"/>
              <a:buFont typeface="Monotype Sorts" panose="01010601010101010101" pitchFamily="-96" charset="2"/>
              <a:buChar char="n"/>
              <a:defRPr kumimoji="1">
                <a:solidFill>
                  <a:schemeClr val="tx1"/>
                </a:solidFill>
                <a:latin typeface="+mn-lt"/>
              </a:defRPr>
            </a:lvl2pPr>
            <a:lvl3pPr marL="627380" indent="-167005" algn="l" rtl="0" eaLnBrk="0" fontAlgn="base" hangingPunct="0">
              <a:lnSpc>
                <a:spcPts val="2600"/>
              </a:lnSpc>
              <a:spcBef>
                <a:spcPct val="0"/>
              </a:spcBef>
              <a:spcAft>
                <a:spcPct val="0"/>
              </a:spcAft>
              <a:buClr>
                <a:schemeClr val="tx1"/>
              </a:buClr>
              <a:buSzPct val="80000"/>
              <a:buChar char="–"/>
              <a:defRPr kumimoji="1">
                <a:solidFill>
                  <a:schemeClr val="tx1"/>
                </a:solidFill>
                <a:latin typeface="+mn-lt"/>
              </a:defRPr>
            </a:lvl3pPr>
            <a:lvl4pPr marL="1148080" indent="-405130" algn="l" rtl="0" eaLnBrk="0" fontAlgn="base" hangingPunct="0">
              <a:lnSpc>
                <a:spcPts val="2600"/>
              </a:lnSpc>
              <a:spcBef>
                <a:spcPct val="0"/>
              </a:spcBef>
              <a:spcAft>
                <a:spcPct val="0"/>
              </a:spcAft>
              <a:buClr>
                <a:schemeClr val="tx1"/>
              </a:buClr>
              <a:buFont typeface="Wingdings" panose="05000000000000000000" pitchFamily="2" charset="2"/>
              <a:buChar char="!"/>
              <a:defRPr kumimoji="1">
                <a:solidFill>
                  <a:schemeClr val="tx1"/>
                </a:solidFill>
                <a:latin typeface="+mn-lt"/>
              </a:defRPr>
            </a:lvl4pPr>
            <a:lvl5pPr marL="1539875" indent="-170180" algn="l" rtl="0" eaLnBrk="0" fontAlgn="base" hangingPunct="0">
              <a:lnSpc>
                <a:spcPts val="2600"/>
              </a:lnSpc>
              <a:spcBef>
                <a:spcPct val="0"/>
              </a:spcBef>
              <a:spcAft>
                <a:spcPct val="0"/>
              </a:spcAft>
              <a:buClr>
                <a:schemeClr val="tx1"/>
              </a:buClr>
              <a:buSzPct val="100000"/>
              <a:buChar char="–"/>
              <a:defRPr kumimoji="1">
                <a:solidFill>
                  <a:schemeClr val="tx1"/>
                </a:solidFill>
                <a:latin typeface="+mn-lt"/>
              </a:defRPr>
            </a:lvl5pPr>
            <a:lvl6pPr marL="1997075" indent="-170180" algn="l" rtl="0" eaLnBrk="0" fontAlgn="base" hangingPunct="0">
              <a:lnSpc>
                <a:spcPts val="2600"/>
              </a:lnSpc>
              <a:spcBef>
                <a:spcPct val="0"/>
              </a:spcBef>
              <a:spcAft>
                <a:spcPct val="0"/>
              </a:spcAft>
              <a:buClr>
                <a:schemeClr val="tx1"/>
              </a:buClr>
              <a:buSzPct val="100000"/>
              <a:buChar char="–"/>
              <a:defRPr kumimoji="1">
                <a:solidFill>
                  <a:schemeClr val="tx1"/>
                </a:solidFill>
                <a:latin typeface="+mn-lt"/>
              </a:defRPr>
            </a:lvl6pPr>
            <a:lvl7pPr marL="2454275" indent="-170180" algn="l" rtl="0" eaLnBrk="0" fontAlgn="base" hangingPunct="0">
              <a:lnSpc>
                <a:spcPts val="2600"/>
              </a:lnSpc>
              <a:spcBef>
                <a:spcPct val="0"/>
              </a:spcBef>
              <a:spcAft>
                <a:spcPct val="0"/>
              </a:spcAft>
              <a:buClr>
                <a:schemeClr val="tx1"/>
              </a:buClr>
              <a:buSzPct val="100000"/>
              <a:buChar char="–"/>
              <a:defRPr kumimoji="1">
                <a:solidFill>
                  <a:schemeClr val="tx1"/>
                </a:solidFill>
                <a:latin typeface="+mn-lt"/>
              </a:defRPr>
            </a:lvl7pPr>
            <a:lvl8pPr marL="2911475" indent="-170180" algn="l" rtl="0" eaLnBrk="0" fontAlgn="base" hangingPunct="0">
              <a:lnSpc>
                <a:spcPts val="2600"/>
              </a:lnSpc>
              <a:spcBef>
                <a:spcPct val="0"/>
              </a:spcBef>
              <a:spcAft>
                <a:spcPct val="0"/>
              </a:spcAft>
              <a:buClr>
                <a:schemeClr val="tx1"/>
              </a:buClr>
              <a:buSzPct val="100000"/>
              <a:buChar char="–"/>
              <a:defRPr kumimoji="1">
                <a:solidFill>
                  <a:schemeClr val="tx1"/>
                </a:solidFill>
                <a:latin typeface="+mn-lt"/>
              </a:defRPr>
            </a:lvl8pPr>
            <a:lvl9pPr marL="3368675" indent="-170180" algn="l" rtl="0" eaLnBrk="0" fontAlgn="base" hangingPunct="0">
              <a:lnSpc>
                <a:spcPts val="2600"/>
              </a:lnSpc>
              <a:spcBef>
                <a:spcPct val="0"/>
              </a:spcBef>
              <a:spcAft>
                <a:spcPct val="0"/>
              </a:spcAft>
              <a:buClr>
                <a:schemeClr val="tx1"/>
              </a:buClr>
              <a:buSzPct val="100000"/>
              <a:buChar char="–"/>
              <a:defRPr kumimoji="1">
                <a:solidFill>
                  <a:schemeClr val="tx1"/>
                </a:solidFill>
                <a:latin typeface="+mn-lt"/>
              </a:defRPr>
            </a:lvl9pPr>
          </a:lstStyle>
          <a:p>
            <a:pPr lvl="1">
              <a:lnSpc>
                <a:spcPct val="120000"/>
              </a:lnSpc>
              <a:defRPr/>
            </a:pPr>
            <a:r>
              <a:rPr lang="zh-CN" altLang="en-US" sz="2800" dirty="0">
                <a:latin typeface="Comic Sans MS" panose="030F0702030302020204" pitchFamily="66" charset="0"/>
              </a:rPr>
              <a:t>名声和时尚潮流的形成与传播</a:t>
            </a:r>
            <a:endParaRPr lang="en-US" altLang="zh-CN" sz="2800" dirty="0">
              <a:latin typeface="Comic Sans MS" panose="030F0702030302020204" pitchFamily="66" charset="0"/>
            </a:endParaRPr>
          </a:p>
          <a:p>
            <a:pPr lvl="1">
              <a:lnSpc>
                <a:spcPct val="120000"/>
              </a:lnSpc>
              <a:defRPr/>
            </a:pPr>
            <a:r>
              <a:rPr lang="zh-CN" altLang="en-US" sz="2800" b="1" dirty="0">
                <a:solidFill>
                  <a:srgbClr val="FF0000"/>
                </a:solidFill>
                <a:effectLst>
                  <a:outerShdw blurRad="38100" dist="38100" dir="2700000" algn="tl">
                    <a:srgbClr val="000000">
                      <a:alpha val="43137"/>
                    </a:srgbClr>
                  </a:outerShdw>
                </a:effectLst>
                <a:latin typeface="Comic Sans MS" panose="030F0702030302020204" pitchFamily="66" charset="0"/>
              </a:rPr>
              <a:t>万维网的分析</a:t>
            </a:r>
            <a:r>
              <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rPr>
              <a:t> </a:t>
            </a:r>
            <a:endPar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lvl="1">
              <a:lnSpc>
                <a:spcPct val="120000"/>
              </a:lnSpc>
              <a:defRPr/>
            </a:pPr>
            <a:r>
              <a:rPr lang="zh-CN" altLang="en-US" sz="2800" dirty="0">
                <a:latin typeface="Comic Sans MS" panose="030F0702030302020204" pitchFamily="66" charset="0"/>
              </a:rPr>
              <a:t>电力网的设计</a:t>
            </a:r>
            <a:endParaRPr lang="en-US" altLang="zh-CN" sz="2800" dirty="0">
              <a:latin typeface="Comic Sans MS" panose="030F0702030302020204" pitchFamily="66" charset="0"/>
            </a:endParaRPr>
          </a:p>
          <a:p>
            <a:pPr lvl="1">
              <a:lnSpc>
                <a:spcPct val="120000"/>
              </a:lnSpc>
              <a:defRPr/>
            </a:pPr>
            <a:r>
              <a:rPr lang="zh-CN" altLang="en-US" sz="2800" dirty="0">
                <a:latin typeface="Comic Sans MS" panose="030F0702030302020204" pitchFamily="66" charset="0"/>
              </a:rPr>
              <a:t>传染病和计算机病毒的传播</a:t>
            </a:r>
            <a:endParaRPr lang="en-US" altLang="zh-CN" sz="2800" dirty="0">
              <a:latin typeface="Comic Sans MS" panose="030F0702030302020204" pitchFamily="66" charset="0"/>
            </a:endParaRPr>
          </a:p>
          <a:p>
            <a:pPr lvl="1">
              <a:lnSpc>
                <a:spcPct val="120000"/>
              </a:lnSpc>
              <a:defRPr/>
            </a:pPr>
            <a:r>
              <a:rPr lang="zh-CN" altLang="en-US" sz="2800" b="1" dirty="0">
                <a:solidFill>
                  <a:srgbClr val="FF0000"/>
                </a:solidFill>
                <a:effectLst>
                  <a:outerShdw blurRad="38100" dist="38100" dir="2700000" algn="tl">
                    <a:srgbClr val="000000">
                      <a:alpha val="43137"/>
                    </a:srgbClr>
                  </a:outerShdw>
                </a:effectLst>
                <a:latin typeface="Comic Sans MS" panose="030F0702030302020204" pitchFamily="66" charset="0"/>
              </a:rPr>
              <a:t>文本挖掘和知识发现</a:t>
            </a:r>
            <a:r>
              <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rPr>
              <a:t> </a:t>
            </a:r>
            <a:endPar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lvl="1">
              <a:lnSpc>
                <a:spcPct val="120000"/>
              </a:lnSpc>
              <a:defRPr/>
            </a:pPr>
            <a:r>
              <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rPr>
              <a:t>……</a:t>
            </a:r>
            <a:endPar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268760"/>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网络分析</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Rectangle 2"/>
          <p:cNvSpPr txBox="1">
            <a:spLocks noChangeArrowheads="1"/>
          </p:cNvSpPr>
          <p:nvPr/>
        </p:nvSpPr>
        <p:spPr bwMode="auto">
          <a:xfrm>
            <a:off x="611560" y="1827705"/>
            <a:ext cx="835292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buClr>
                <a:srgbClr val="FF0000"/>
              </a:buClr>
              <a:buFont typeface="Wingdings" panose="05000000000000000000" pitchFamily="2" charset="2"/>
              <a:buChar char="n"/>
              <a:defRPr/>
            </a:pPr>
            <a:r>
              <a:rPr lang="zh-CN" altLang="en-US"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一个网络</a:t>
            </a:r>
            <a:r>
              <a:rPr lang="zh-CN" altLang="en-US" sz="2400" b="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，通常表示为</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G(V,E)</a:t>
            </a: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，由一组顶点（或节点）𝑉</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 </a:t>
            </a: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和一组边（或链接）𝐸</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 </a:t>
            </a: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组成</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a:t>
            </a:r>
            <a:endPar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eaLnBrk="1" hangingPunct="1">
              <a:lnSpc>
                <a:spcPct val="120000"/>
              </a:lnSpc>
              <a:buClr>
                <a:srgbClr val="FF0000"/>
              </a:buClr>
              <a:buFont typeface="Wingdings" panose="05000000000000000000" pitchFamily="2" charset="2"/>
              <a:buChar char="n"/>
              <a:defRPr/>
            </a:pPr>
            <a:r>
              <a:rPr lang="zh-CN" altLang="en-US"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有向</a:t>
            </a:r>
            <a:r>
              <a:rPr lang="en-US" altLang="zh-CN"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a:t>
            </a:r>
            <a:r>
              <a:rPr lang="zh-CN" altLang="en-US"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无向</a:t>
            </a:r>
            <a:endParaRPr lang="en-US" altLang="zh-CN" sz="2400" b="0" dirty="0">
              <a:solidFill>
                <a:srgbClr val="FF0000"/>
              </a:solidFill>
              <a:latin typeface="Arial Unicode MS" panose="020B0604020202020204" charset="-122"/>
              <a:ea typeface="Arial Unicode MS" panose="020B0604020202020204" charset="-122"/>
              <a:cs typeface="Arial Unicode MS" panose="020B0604020202020204" charset="-122"/>
            </a:endParaRPr>
          </a:p>
          <a:p>
            <a:pPr eaLnBrk="1" hangingPunct="1">
              <a:lnSpc>
                <a:spcPct val="120000"/>
              </a:lnSpc>
              <a:buClr>
                <a:srgbClr val="FF0000"/>
              </a:buClr>
              <a:buFont typeface="Wingdings" panose="05000000000000000000" pitchFamily="2" charset="2"/>
              <a:buChar char="n"/>
              <a:defRPr/>
            </a:pP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二分图</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 (</a:t>
            </a: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例如，论文到作者</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a:t>
            </a: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 </a:t>
            </a:r>
            <a:r>
              <a:rPr lang="en-US" altLang="zh-CN" sz="2400" b="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G(V1</a:t>
            </a:r>
            <a:r>
              <a:rPr lang="en-US" altLang="zh-CN" sz="2400" b="0" dirty="0">
                <a:effectLst>
                  <a:outerShdw blurRad="38100" dist="38100" dir="2700000" algn="tl">
                    <a:srgbClr val="000000">
                      <a:alpha val="43137"/>
                    </a:srgbClr>
                  </a:outerShdw>
                </a:effectLst>
                <a:latin typeface="微软雅黑" panose="020B0503020204020204" charset="-122"/>
                <a:ea typeface="微软雅黑" panose="020B0503020204020204" charset="-122"/>
                <a:cs typeface="Arial Unicode MS" panose="020B0604020202020204" charset="-122"/>
              </a:rPr>
              <a:t>∪</a:t>
            </a:r>
            <a:r>
              <a:rPr lang="en-US" altLang="zh-CN" sz="2400" b="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V2,E)</a:t>
            </a:r>
            <a:endPar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eaLnBrk="1" hangingPunct="1">
              <a:lnSpc>
                <a:spcPct val="120000"/>
              </a:lnSpc>
              <a:buClr>
                <a:srgbClr val="FF0000"/>
              </a:buClr>
              <a:buFont typeface="Wingdings" panose="05000000000000000000" pitchFamily="2" charset="2"/>
              <a:buChar char="n"/>
              <a:defRPr/>
            </a:pPr>
            <a:r>
              <a:rPr lang="zh-CN" altLang="en-US"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加权网络</a:t>
            </a:r>
            <a:endParaRPr lang="en-US" altLang="zh-CN" sz="2400" b="0" dirty="0">
              <a:solidFill>
                <a:srgbClr val="FF0000"/>
              </a:solidFill>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eaLnBrk="1" hangingPunct="1">
              <a:lnSpc>
                <a:spcPct val="120000"/>
              </a:lnSpc>
              <a:buClr>
                <a:srgbClr val="FF0000"/>
              </a:buClr>
              <a:buFont typeface="Wingdings" panose="05000000000000000000" pitchFamily="2" charset="2"/>
              <a:buChar char="n"/>
              <a:defRPr/>
            </a:pP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不同类型的节点和边</a:t>
            </a:r>
            <a:endPar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eaLnBrk="1" hangingPunct="1">
              <a:lnSpc>
                <a:spcPct val="120000"/>
              </a:lnSpc>
              <a:buClr>
                <a:srgbClr val="FF0000"/>
              </a:buClr>
              <a:buFont typeface="Wingdings" panose="05000000000000000000" pitchFamily="2" charset="2"/>
              <a:buChar char="n"/>
              <a:defRPr/>
            </a:pPr>
            <a:r>
              <a:rPr lang="zh-CN" altLang="en-US"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动态网络</a:t>
            </a:r>
            <a:r>
              <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a:t>
            </a:r>
            <a:endParaRPr lang="en-US" altLang="zh-CN" sz="24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marL="742950" lvl="2" indent="-342900" eaLnBrk="1" hangingPunct="1">
              <a:lnSpc>
                <a:spcPct val="120000"/>
              </a:lnSpc>
              <a:buClr>
                <a:srgbClr val="FF0000"/>
              </a:buClr>
              <a:buFont typeface="Wingdings" panose="05000000000000000000" pitchFamily="2" charset="2"/>
              <a:buChar char="ü"/>
              <a:defRPr/>
            </a:pPr>
            <a:r>
              <a:rPr lang="zh-CN" altLang="en-US" sz="20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仅增加节点和边</a:t>
            </a:r>
            <a:endParaRPr lang="en-US" altLang="zh-CN" sz="20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endParaRPr>
          </a:p>
          <a:p>
            <a:pPr marL="742950" lvl="2" indent="-342900" eaLnBrk="1" hangingPunct="1">
              <a:lnSpc>
                <a:spcPct val="120000"/>
              </a:lnSpc>
              <a:buClr>
                <a:srgbClr val="FF0000"/>
              </a:buClr>
              <a:buFont typeface="Wingdings" panose="05000000000000000000" pitchFamily="2" charset="2"/>
              <a:buChar char="ü"/>
              <a:defRPr/>
            </a:pPr>
            <a:r>
              <a:rPr lang="zh-CN" altLang="en-US" sz="2000" b="0" kern="1200" dirty="0">
                <a:effectLst>
                  <a:outerShdw blurRad="38100" dist="38100" dir="2700000" algn="tl">
                    <a:srgbClr val="000000">
                      <a:alpha val="43137"/>
                    </a:srgbClr>
                  </a:outerShdw>
                </a:effectLst>
                <a:latin typeface="Arial Unicode MS" panose="020B0604020202020204" charset="-122"/>
                <a:ea typeface="Arial Unicode MS" panose="020B0604020202020204" charset="-122"/>
                <a:cs typeface="Arial Unicode MS" panose="020B0604020202020204" charset="-122"/>
              </a:rPr>
              <a:t>节点和边可以添加和移除</a:t>
            </a:r>
            <a:endParaRPr lang="en-US" altLang="zh-CN" sz="2000" b="0" kern="1200" dirty="0">
              <a:latin typeface="Arial Unicode MS" panose="020B0604020202020204" charset="-122"/>
              <a:ea typeface="Arial Unicode MS" panose="020B0604020202020204" charset="-122"/>
              <a:cs typeface="Arial Unicode MS" panose="020B0604020202020204" charset="-122"/>
            </a:endParaRPr>
          </a:p>
        </p:txBody>
      </p:sp>
      <p:sp>
        <p:nvSpPr>
          <p:cNvPr id="8" name="矩形 7"/>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 name="Rectangle 2"/>
          <p:cNvSpPr txBox="1">
            <a:spLocks noChangeArrowheads="1"/>
          </p:cNvSpPr>
          <p:nvPr/>
        </p:nvSpPr>
        <p:spPr bwMode="auto">
          <a:xfrm>
            <a:off x="395536" y="1988840"/>
            <a:ext cx="8530092" cy="1667491"/>
          </a:xfrm>
          <a:prstGeom prst="rect">
            <a:avLst/>
          </a:prstGeom>
          <a:noFill/>
          <a:ln w="9525">
            <a:noFill/>
            <a:miter lim="800000"/>
          </a:ln>
        </p:spPr>
        <p:txBody>
          <a:bodyPr anchor="b"/>
          <a:lst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marL="0" marR="0" lvl="0" indent="0" algn="l" defTabSz="912495" rtl="0" eaLnBrk="0" fontAlgn="base" latinLnBrk="0" hangingPunct="0">
              <a:lnSpc>
                <a:spcPct val="12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Palatino Linotype" panose="02040502050505030304" pitchFamily="18" charset="0"/>
                <a:ea typeface="宋体" panose="02010600030101010101" pitchFamily="2" charset="-122"/>
                <a:cs typeface="+mj-cs"/>
              </a:rPr>
              <a:t>米尔格拉姆实验</a:t>
            </a:r>
            <a:r>
              <a:rPr kumimoji="0" lang="en-US" sz="2400" b="1" i="0" u="none" strike="noStrike" kern="0" cap="none" spc="0" normalizeH="0" baseline="0" noProof="0" dirty="0">
                <a:ln>
                  <a:noFill/>
                </a:ln>
                <a:solidFill>
                  <a:schemeClr val="tx1"/>
                </a:solidFill>
                <a:effectLst/>
                <a:uLnTx/>
                <a:uFillTx/>
                <a:latin typeface="Palatino Linotype" panose="02040502050505030304" pitchFamily="18" charset="0"/>
                <a:ea typeface="宋体" panose="02010600030101010101" pitchFamily="2" charset="-122"/>
                <a:cs typeface="+mj-cs"/>
              </a:rPr>
              <a:t>(1961)</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Palatino Linotype" panose="02040502050505030304" pitchFamily="18" charset="0"/>
                <a:ea typeface="宋体" panose="02010600030101010101" pitchFamily="2" charset="-122"/>
                <a:cs typeface="+mj-cs"/>
              </a:rPr>
              <a:t>：从威奇托（堪萨斯州）和奥马哈（内布拉斯加州）发送</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Palatino Linotype" panose="02040502050505030304" pitchFamily="18" charset="0"/>
                <a:ea typeface="宋体" panose="02010600030101010101" pitchFamily="2" charset="-122"/>
                <a:cs typeface="+mj-cs"/>
              </a:rPr>
              <a:t>160</a:t>
            </a: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Palatino Linotype" panose="02040502050505030304" pitchFamily="18" charset="0"/>
                <a:ea typeface="宋体" panose="02010600030101010101" pitchFamily="2" charset="-122"/>
                <a:cs typeface="+mj-cs"/>
              </a:rPr>
              <a:t>封信件到沙伦（马萨诸塞州）</a:t>
            </a:r>
            <a:endParaRPr kumimoji="0" lang="en-US" sz="2400" b="1" i="0" u="none" strike="noStrike" kern="0" cap="none" spc="0" normalizeH="0" baseline="0" noProof="0" dirty="0">
              <a:ln>
                <a:noFill/>
              </a:ln>
              <a:solidFill>
                <a:schemeClr val="tx1"/>
              </a:solidFill>
              <a:effectLst/>
              <a:uLnTx/>
              <a:uFillTx/>
              <a:latin typeface="Palatino Linotype" panose="02040502050505030304" pitchFamily="18" charset="0"/>
              <a:ea typeface="宋体" panose="02010600030101010101" pitchFamily="2" charset="-122"/>
              <a:cs typeface="+mj-cs"/>
            </a:endParaRPr>
          </a:p>
          <a:p>
            <a:pPr marL="342900" marR="0" lvl="0" indent="-342900" algn="l" defTabSz="912495" rtl="0" eaLnBrk="0" fontAlgn="base" latinLnBrk="0" hangingPunct="0">
              <a:lnSpc>
                <a:spcPct val="120000"/>
              </a:lnSpc>
              <a:spcBef>
                <a:spcPct val="0"/>
              </a:spcBef>
              <a:spcAft>
                <a:spcPct val="0"/>
              </a:spcAft>
              <a:buClrTx/>
              <a:buSzTx/>
              <a:buFont typeface="Wingdings" panose="05000000000000000000" pitchFamily="2" charset="2"/>
              <a:buChar char="ü"/>
              <a:defRPr/>
            </a:pPr>
            <a:r>
              <a:rPr kumimoji="1"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如果你不认识某个目标人，请不要尝试直接联系他。相反，请通过某个比你更可能认识目标人的熟人，来认识这个人。</a:t>
            </a:r>
            <a:endParaRPr kumimoji="0" lang="en-US" sz="2400" b="1" i="0" u="none" strike="noStrike" kern="0" cap="none" spc="0" normalizeH="0" baseline="0" noProof="0" dirty="0">
              <a:ln>
                <a:noFill/>
              </a:ln>
              <a:solidFill>
                <a:srgbClr val="006699"/>
              </a:solidFill>
              <a:effectLst/>
              <a:uLnTx/>
              <a:uFillTx/>
              <a:latin typeface="Palatino Linotype" panose="02040502050505030304" pitchFamily="18" charset="0"/>
              <a:ea typeface="宋体" panose="02010600030101010101" pitchFamily="2" charset="-122"/>
              <a:cs typeface="+mj-cs"/>
            </a:endParaRPr>
          </a:p>
        </p:txBody>
      </p:sp>
      <p:pic>
        <p:nvPicPr>
          <p:cNvPr id="12" name="Picture 4" descr="milgram-distanc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52120" y="3637081"/>
            <a:ext cx="2664296" cy="2615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971600" y="4221088"/>
            <a:ext cx="4392488" cy="1189850"/>
          </a:xfrm>
          <a:prstGeom prst="rect">
            <a:avLst/>
          </a:prstGeom>
          <a:gradFill rotWithShape="1">
            <a:gsLst>
              <a:gs pos="0">
                <a:srgbClr val="006699">
                  <a:shade val="51000"/>
                  <a:satMod val="130000"/>
                </a:srgbClr>
              </a:gs>
              <a:gs pos="80000">
                <a:srgbClr val="006699">
                  <a:shade val="93000"/>
                  <a:satMod val="130000"/>
                </a:srgbClr>
              </a:gs>
              <a:gs pos="100000">
                <a:srgbClr val="00669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tIns="108000" bIns="108000">
            <a:spAutoFit/>
          </a:bodyPr>
          <a:lstStyle/>
          <a:p>
            <a:pPr marL="633730" marR="0" lvl="1" indent="-450850" algn="l" defTabSz="914400" eaLnBrk="1" latinLnBrk="0" hangingPunct="1">
              <a:lnSpc>
                <a:spcPct val="110000"/>
              </a:lnSpc>
              <a:spcBef>
                <a:spcPts val="600"/>
              </a:spcBef>
              <a:spcAft>
                <a:spcPts val="0"/>
              </a:spcAft>
              <a:buClrTx/>
              <a:buSzTx/>
              <a:buFont typeface="Wingdings" panose="05000000000000000000" pitchFamily="2" charset="2"/>
              <a:buChar char="Ø"/>
              <a:defRPr/>
            </a:pPr>
            <a:r>
              <a:rPr kumimoji="0" lang="zh-CN" altLang="en-US" b="1" i="0" u="none" strike="noStrike" kern="0" cap="none" spc="0" normalizeH="0" baseline="0" noProof="0" dirty="0">
                <a:ln>
                  <a:noFill/>
                </a:ln>
                <a:solidFill>
                  <a:srgbClr val="FFFFFF"/>
                </a:solidFill>
                <a:effectLst/>
                <a:uLnTx/>
                <a:uFillTx/>
                <a:latin typeface="Palatino Linotype" panose="02040502050505030304" pitchFamily="18" charset="0"/>
                <a:ea typeface="宋体" panose="02010600030101010101" pitchFamily="2" charset="-122"/>
                <a:cs typeface="+mn-cs"/>
              </a:rPr>
              <a:t>任意节点对之间的路径非常短</a:t>
            </a:r>
            <a:endParaRPr kumimoji="0" lang="en-US" altLang="zh-CN" b="1" i="0" u="none" strike="noStrike" kern="0" cap="none" spc="0" normalizeH="0" baseline="0" noProof="0" dirty="0">
              <a:ln>
                <a:noFill/>
              </a:ln>
              <a:solidFill>
                <a:srgbClr val="FFFFFF"/>
              </a:solidFill>
              <a:effectLst/>
              <a:uLnTx/>
              <a:uFillTx/>
              <a:latin typeface="Palatino Linotype" panose="02040502050505030304" pitchFamily="18" charset="0"/>
              <a:ea typeface="宋体" panose="02010600030101010101" pitchFamily="2" charset="-122"/>
              <a:cs typeface="+mn-cs"/>
            </a:endParaRPr>
          </a:p>
          <a:p>
            <a:pPr marL="633730" marR="0" lvl="1" indent="-450850" algn="l" defTabSz="914400" eaLnBrk="1" latinLnBrk="0" hangingPunct="1">
              <a:lnSpc>
                <a:spcPct val="110000"/>
              </a:lnSpc>
              <a:spcBef>
                <a:spcPts val="600"/>
              </a:spcBef>
              <a:spcAft>
                <a:spcPts val="0"/>
              </a:spcAft>
              <a:buClrTx/>
              <a:buSzTx/>
              <a:buFont typeface="Wingdings" panose="05000000000000000000" pitchFamily="2" charset="2"/>
              <a:buChar char="Ø"/>
              <a:defRPr/>
            </a:pPr>
            <a:r>
              <a:rPr kumimoji="0" lang="zh-CN" altLang="en-US" b="1" i="0" u="none" strike="noStrike" kern="0" cap="none" spc="0" normalizeH="0" baseline="0" noProof="0" dirty="0">
                <a:ln>
                  <a:noFill/>
                </a:ln>
                <a:solidFill>
                  <a:srgbClr val="FFFFFF"/>
                </a:solidFill>
                <a:effectLst/>
                <a:uLnTx/>
                <a:uFillTx/>
                <a:latin typeface="Palatino Linotype" panose="02040502050505030304" pitchFamily="18" charset="0"/>
                <a:ea typeface="宋体" panose="02010600030101010101" pitchFamily="2" charset="-122"/>
                <a:cs typeface="+mn-cs"/>
              </a:rPr>
              <a:t>仅依赖局部信息的个体能够非常熟练地找到这些路径</a:t>
            </a:r>
            <a:endParaRPr kumimoji="0" lang="en-US" altLang="zh-CN" b="1" i="0" u="none" strike="noStrike" kern="0" cap="none" spc="0" normalizeH="0" baseline="0" noProof="0" dirty="0">
              <a:ln>
                <a:noFill/>
              </a:ln>
              <a:solidFill>
                <a:srgbClr val="FFFFFF"/>
              </a:solidFill>
              <a:effectLst/>
              <a:uLnTx/>
              <a:uFillTx/>
              <a:latin typeface="Palatino Linotype" panose="02040502050505030304" pitchFamily="18" charset="0"/>
              <a:ea typeface="宋体" panose="02010600030101010101" pitchFamily="2" charset="-122"/>
              <a:cs typeface="+mn-cs"/>
            </a:endParaRPr>
          </a:p>
        </p:txBody>
      </p:sp>
      <p:sp>
        <p:nvSpPr>
          <p:cNvPr id="9" name="矩形 8"/>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2" name="Rectangle 3"/>
          <p:cNvSpPr txBox="1">
            <a:spLocks noChangeArrowheads="1"/>
          </p:cNvSpPr>
          <p:nvPr/>
        </p:nvSpPr>
        <p:spPr bwMode="auto">
          <a:xfrm>
            <a:off x="274732" y="2015480"/>
            <a:ext cx="8424863" cy="73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a:lnSpc>
                <a:spcPct val="110000"/>
              </a:lnSpc>
              <a:spcBef>
                <a:spcPts val="600"/>
              </a:spcBef>
            </a:pPr>
            <a:r>
              <a:rPr lang="en-US" altLang="zh-CN" sz="2000" b="0" dirty="0">
                <a:latin typeface="Arial" panose="020B0604020202020204" pitchFamily="34" charset="0"/>
                <a:cs typeface="Arial" panose="020B0604020202020204" pitchFamily="34" charset="0"/>
              </a:rPr>
              <a:t>Duncan J. Watts</a:t>
            </a:r>
            <a:r>
              <a:rPr lang="zh-CN" altLang="en-US" sz="2000" b="0" dirty="0">
                <a:latin typeface="Arial" panose="020B0604020202020204" pitchFamily="34" charset="0"/>
                <a:cs typeface="Arial" panose="020B0604020202020204" pitchFamily="34" charset="0"/>
              </a:rPr>
              <a:t>和</a:t>
            </a:r>
            <a:r>
              <a:rPr lang="en-US" altLang="zh-CN" sz="2000" b="0" dirty="0">
                <a:latin typeface="Arial" panose="020B0604020202020204" pitchFamily="34" charset="0"/>
                <a:cs typeface="Arial" panose="020B0604020202020204" pitchFamily="34" charset="0"/>
              </a:rPr>
              <a:t>Steve </a:t>
            </a:r>
            <a:r>
              <a:rPr lang="en-US" altLang="zh-CN" sz="2000" b="0" dirty="0" err="1">
                <a:latin typeface="Arial" panose="020B0604020202020204" pitchFamily="34" charset="0"/>
                <a:cs typeface="Arial" panose="020B0604020202020204" pitchFamily="34" charset="0"/>
              </a:rPr>
              <a:t>Strogatz</a:t>
            </a:r>
            <a:r>
              <a:rPr lang="zh-CN" altLang="en-US" sz="2000" b="0" dirty="0">
                <a:latin typeface="Arial" panose="020B0604020202020204" pitchFamily="34" charset="0"/>
                <a:cs typeface="Arial" panose="020B0604020202020204" pitchFamily="34" charset="0"/>
              </a:rPr>
              <a:t>（</a:t>
            </a:r>
            <a:r>
              <a:rPr lang="en-US" altLang="zh-CN" sz="2000" b="0" dirty="0">
                <a:latin typeface="Arial" panose="020B0604020202020204" pitchFamily="34" charset="0"/>
                <a:cs typeface="Arial" panose="020B0604020202020204" pitchFamily="34" charset="0"/>
              </a:rPr>
              <a:t>1998</a:t>
            </a:r>
            <a:r>
              <a:rPr lang="zh-CN" altLang="en-US" sz="2000" b="0" dirty="0">
                <a:latin typeface="Arial" panose="020B0604020202020204" pitchFamily="34" charset="0"/>
                <a:cs typeface="Arial" panose="020B0604020202020204" pitchFamily="34" charset="0"/>
              </a:rPr>
              <a:t>）观察到，通过对一个局部连接的网络随机重连少量边，两个节点之间的平均距离会显著降低</a:t>
            </a:r>
            <a:r>
              <a:rPr lang="en-US" altLang="zh-CN" sz="2000" b="0" dirty="0">
                <a:latin typeface="Arial" panose="020B0604020202020204" pitchFamily="34" charset="0"/>
                <a:cs typeface="Arial" panose="020B0604020202020204" pitchFamily="34" charset="0"/>
              </a:rPr>
              <a:t> </a:t>
            </a:r>
            <a:endParaRPr lang="en-US" altLang="zh-CN" sz="2000" b="0" dirty="0">
              <a:latin typeface="Arial" panose="020B0604020202020204" pitchFamily="34" charset="0"/>
              <a:cs typeface="Arial" panose="020B0604020202020204" pitchFamily="34" charset="0"/>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90000"/>
              </a:lnSpc>
              <a:spcBef>
                <a:spcPct val="20000"/>
              </a:spcBef>
            </a:pPr>
            <a:endParaRPr lang="en-US" altLang="zh-CN" sz="2000" b="0" dirty="0">
              <a:latin typeface="Palatino" panose="02010600030101010101" charset="-122"/>
            </a:endParaRPr>
          </a:p>
          <a:p>
            <a:pPr algn="l">
              <a:lnSpc>
                <a:spcPct val="110000"/>
              </a:lnSpc>
              <a:spcBef>
                <a:spcPts val="600"/>
              </a:spcBef>
            </a:pPr>
            <a:r>
              <a:rPr lang="zh-CN" altLang="en-US" sz="2000" b="0" dirty="0">
                <a:latin typeface="Arial" panose="020B0604020202020204" pitchFamily="34" charset="0"/>
                <a:cs typeface="Arial" panose="020B0604020202020204" pitchFamily="34" charset="0"/>
              </a:rPr>
              <a:t> 重连的概率 𝑝</a:t>
            </a:r>
            <a:r>
              <a:rPr lang="en-US" altLang="zh-CN" sz="2000" b="0" dirty="0">
                <a:latin typeface="Arial" panose="020B0604020202020204" pitchFamily="34" charset="0"/>
                <a:cs typeface="Arial" panose="020B0604020202020204" pitchFamily="34" charset="0"/>
              </a:rPr>
              <a:t> </a:t>
            </a:r>
            <a:r>
              <a:rPr lang="zh-CN" altLang="en-US" sz="2000" b="0" dirty="0">
                <a:latin typeface="Arial" panose="020B0604020202020204" pitchFamily="34" charset="0"/>
                <a:cs typeface="Arial" panose="020B0604020202020204" pitchFamily="34" charset="0"/>
              </a:rPr>
              <a:t>将网络调节在规则格子</a:t>
            </a:r>
            <a:r>
              <a:rPr lang="en-US" altLang="zh-CN" sz="2000" b="0" dirty="0">
                <a:latin typeface="Arial" panose="020B0604020202020204" pitchFamily="34" charset="0"/>
                <a:cs typeface="Arial" panose="020B0604020202020204" pitchFamily="34" charset="0"/>
              </a:rPr>
              <a:t>(</a:t>
            </a:r>
            <a:r>
              <a:rPr lang="zh-CN" altLang="en-US" sz="2000" b="0" dirty="0">
                <a:latin typeface="Arial" panose="020B0604020202020204" pitchFamily="34" charset="0"/>
                <a:cs typeface="Arial" panose="020B0604020202020204" pitchFamily="34" charset="0"/>
              </a:rPr>
              <a:t>𝑝</a:t>
            </a:r>
            <a:r>
              <a:rPr lang="en-US" altLang="zh-CN" sz="2000" b="0" dirty="0">
                <a:latin typeface="Arial" panose="020B0604020202020204" pitchFamily="34" charset="0"/>
                <a:cs typeface="Arial" panose="020B0604020202020204" pitchFamily="34" charset="0"/>
              </a:rPr>
              <a:t>=0)</a:t>
            </a:r>
            <a:r>
              <a:rPr lang="zh-CN" altLang="en-US" sz="2000" b="0" dirty="0">
                <a:latin typeface="Arial" panose="020B0604020202020204" pitchFamily="34" charset="0"/>
                <a:cs typeface="Arial" panose="020B0604020202020204" pitchFamily="34" charset="0"/>
              </a:rPr>
              <a:t>和随机图</a:t>
            </a:r>
            <a:r>
              <a:rPr lang="en-US" altLang="zh-CN" sz="2000" b="0" dirty="0">
                <a:latin typeface="Arial" panose="020B0604020202020204" pitchFamily="34" charset="0"/>
                <a:cs typeface="Arial" panose="020B0604020202020204" pitchFamily="34" charset="0"/>
              </a:rPr>
              <a:t>(</a:t>
            </a:r>
            <a:r>
              <a:rPr lang="en-US" altLang="zh-CN" sz="2000" b="0" dirty="0" err="1">
                <a:latin typeface="Arial" panose="020B0604020202020204" pitchFamily="34" charset="0"/>
                <a:cs typeface="Arial" panose="020B0604020202020204" pitchFamily="34" charset="0"/>
              </a:rPr>
              <a:t>Erdős-Renyi</a:t>
            </a:r>
            <a:r>
              <a:rPr lang="zh-CN" altLang="en-US" sz="2000" b="0" dirty="0">
                <a:latin typeface="Arial" panose="020B0604020202020204" pitchFamily="34" charset="0"/>
                <a:cs typeface="Arial" panose="020B0604020202020204" pitchFamily="34" charset="0"/>
              </a:rPr>
              <a:t>厄尔多斯</a:t>
            </a:r>
            <a:r>
              <a:rPr lang="en-US" altLang="zh-CN" sz="2000" b="0" dirty="0">
                <a:latin typeface="Arial" panose="020B0604020202020204" pitchFamily="34" charset="0"/>
                <a:cs typeface="Arial" panose="020B0604020202020204" pitchFamily="34" charset="0"/>
              </a:rPr>
              <a:t>-</a:t>
            </a:r>
            <a:r>
              <a:rPr lang="zh-CN" altLang="en-US" sz="2000" b="0" dirty="0">
                <a:latin typeface="Arial" panose="020B0604020202020204" pitchFamily="34" charset="0"/>
                <a:cs typeface="Arial" panose="020B0604020202020204" pitchFamily="34" charset="0"/>
              </a:rPr>
              <a:t>雷尼</a:t>
            </a:r>
            <a:r>
              <a:rPr lang="en-US" altLang="zh-CN" sz="2000" b="0" dirty="0">
                <a:latin typeface="Arial" panose="020B0604020202020204" pitchFamily="34" charset="0"/>
                <a:cs typeface="Arial" panose="020B0604020202020204" pitchFamily="34" charset="0"/>
              </a:rPr>
              <a:t>)(</a:t>
            </a:r>
            <a:r>
              <a:rPr lang="zh-CN" altLang="en-US" sz="2000" b="0" dirty="0">
                <a:latin typeface="Arial" panose="020B0604020202020204" pitchFamily="34" charset="0"/>
                <a:cs typeface="Arial" panose="020B0604020202020204" pitchFamily="34" charset="0"/>
              </a:rPr>
              <a:t>𝑝</a:t>
            </a:r>
            <a:r>
              <a:rPr lang="en-US" altLang="zh-CN" sz="2000" b="0" dirty="0">
                <a:latin typeface="Arial" panose="020B0604020202020204" pitchFamily="34" charset="0"/>
                <a:cs typeface="Arial" panose="020B0604020202020204" pitchFamily="34" charset="0"/>
              </a:rPr>
              <a:t>=1)</a:t>
            </a:r>
            <a:r>
              <a:rPr lang="zh-CN" altLang="en-US" sz="2000" b="0" dirty="0">
                <a:latin typeface="Arial" panose="020B0604020202020204" pitchFamily="34" charset="0"/>
                <a:cs typeface="Arial" panose="020B0604020202020204" pitchFamily="34" charset="0"/>
              </a:rPr>
              <a:t>之间</a:t>
            </a:r>
            <a:endParaRPr lang="en-US" altLang="zh-CN" sz="2000" b="0" dirty="0">
              <a:latin typeface="Arial" panose="020B0604020202020204" pitchFamily="34" charset="0"/>
              <a:cs typeface="Arial" panose="020B0604020202020204" pitchFamily="34" charset="0"/>
            </a:endParaRPr>
          </a:p>
          <a:p>
            <a:pPr algn="l">
              <a:lnSpc>
                <a:spcPct val="90000"/>
              </a:lnSpc>
              <a:spcBef>
                <a:spcPct val="20000"/>
              </a:spcBef>
            </a:pPr>
            <a:endParaRPr lang="en-US" altLang="zh-CN" sz="2000" b="0" dirty="0">
              <a:latin typeface="Palatino" panose="02010600030101010101" charset="-122"/>
            </a:endParaRPr>
          </a:p>
        </p:txBody>
      </p:sp>
      <p:pic>
        <p:nvPicPr>
          <p:cNvPr id="23" name="Picture 4" descr="smallworl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546" y="3078252"/>
            <a:ext cx="4832667" cy="231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5"/>
          <p:cNvSpPr txBox="1">
            <a:spLocks noChangeArrowheads="1"/>
          </p:cNvSpPr>
          <p:nvPr/>
        </p:nvSpPr>
        <p:spPr bwMode="auto">
          <a:xfrm>
            <a:off x="6251323" y="5298717"/>
            <a:ext cx="2448272" cy="46166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r>
              <a:rPr lang="en-US" altLang="ko-KR" sz="1200" b="0" dirty="0">
                <a:latin typeface="Arial" panose="020B0604020202020204" pitchFamily="34" charset="0"/>
                <a:cs typeface="Arial" panose="020B0604020202020204" pitchFamily="34" charset="0"/>
              </a:rPr>
              <a:t>C(p) : </a:t>
            </a:r>
            <a:r>
              <a:rPr lang="zh-CN" altLang="en-US" sz="1200" b="0" dirty="0">
                <a:latin typeface="Arial" panose="020B0604020202020204" pitchFamily="34" charset="0"/>
                <a:cs typeface="Arial" panose="020B0604020202020204" pitchFamily="34" charset="0"/>
              </a:rPr>
              <a:t>聚类系数</a:t>
            </a:r>
            <a:r>
              <a:rPr lang="en-US" altLang="ko-KR" sz="1200" b="0" dirty="0">
                <a:latin typeface="Arial" panose="020B0604020202020204" pitchFamily="34" charset="0"/>
                <a:cs typeface="Arial" panose="020B0604020202020204" pitchFamily="34" charset="0"/>
              </a:rPr>
              <a:t>          </a:t>
            </a:r>
            <a:endParaRPr lang="en-US" altLang="ko-KR" sz="1200" b="0" dirty="0">
              <a:latin typeface="Arial" panose="020B0604020202020204" pitchFamily="34" charset="0"/>
              <a:cs typeface="Arial" panose="020B0604020202020204" pitchFamily="34" charset="0"/>
            </a:endParaRPr>
          </a:p>
          <a:p>
            <a:pPr algn="l" eaLnBrk="0" hangingPunct="0"/>
            <a:r>
              <a:rPr lang="en-US" altLang="ko-KR" sz="1200" b="0" dirty="0">
                <a:latin typeface="Arial" panose="020B0604020202020204" pitchFamily="34" charset="0"/>
                <a:cs typeface="Arial" panose="020B0604020202020204" pitchFamily="34" charset="0"/>
              </a:rPr>
              <a:t>L(p) : </a:t>
            </a:r>
            <a:r>
              <a:rPr lang="zh-CN" altLang="en-US" sz="1200" b="0" dirty="0">
                <a:latin typeface="Arial" panose="020B0604020202020204" pitchFamily="34" charset="0"/>
                <a:cs typeface="Arial" panose="020B0604020202020204" pitchFamily="34" charset="0"/>
              </a:rPr>
              <a:t>平均路径长度</a:t>
            </a:r>
            <a:endParaRPr lang="en-US" altLang="ko-KR" sz="1200" b="0" dirty="0">
              <a:latin typeface="Arial" panose="020B0604020202020204" pitchFamily="34" charset="0"/>
              <a:cs typeface="Arial" panose="020B0604020202020204" pitchFamily="34" charset="0"/>
            </a:endParaRPr>
          </a:p>
        </p:txBody>
      </p:sp>
      <p:pic>
        <p:nvPicPr>
          <p:cNvPr id="26" name="Picture 8" descr="l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0269" y="3128551"/>
            <a:ext cx="3294062" cy="2003425"/>
          </a:xfrm>
          <a:prstGeom prst="rect">
            <a:avLst/>
          </a:prstGeom>
          <a:noFill/>
          <a:extLst>
            <a:ext uri="{909E8E84-426E-40DD-AFC4-6F175D3DCCD1}">
              <a14:hiddenFill xmlns:a14="http://schemas.microsoft.com/office/drawing/2010/main">
                <a:solidFill>
                  <a:srgbClr val="FFFFFF"/>
                </a:solidFill>
              </a14:hiddenFill>
            </a:ext>
          </a:extLst>
        </p:spPr>
      </p:pic>
      <p:sp>
        <p:nvSpPr>
          <p:cNvPr id="27" name="Text Box 9"/>
          <p:cNvSpPr txBox="1">
            <a:spLocks noChangeArrowheads="1"/>
          </p:cNvSpPr>
          <p:nvPr/>
        </p:nvSpPr>
        <p:spPr bwMode="auto">
          <a:xfrm>
            <a:off x="5459122" y="3833505"/>
            <a:ext cx="366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latinLnBrk="0" hangingPunct="1">
              <a:spcBef>
                <a:spcPct val="0"/>
              </a:spcBef>
              <a:spcAft>
                <a:spcPts val="0"/>
              </a:spcAft>
              <a:buClrTx/>
              <a:buSzTx/>
              <a:buFontTx/>
              <a:buNone/>
              <a:defRPr/>
            </a:pPr>
            <a:r>
              <a:rPr kumimoji="0" lang="en-US" sz="2000" b="0" i="1" u="none" strike="noStrike" kern="0" cap="none" spc="0" normalizeH="0" baseline="0" noProof="0" dirty="0">
                <a:ln>
                  <a:noFill/>
                </a:ln>
                <a:solidFill>
                  <a:srgbClr val="333399"/>
                </a:solidFill>
                <a:effectLst/>
                <a:uLnTx/>
                <a:uFillTx/>
              </a:rPr>
              <a:t>L</a:t>
            </a:r>
            <a:endParaRPr kumimoji="0" lang="en-US" sz="2000" b="0" i="1" u="none" strike="noStrike" kern="0" cap="none" spc="0" normalizeH="0" baseline="0" noProof="0" dirty="0">
              <a:ln>
                <a:noFill/>
              </a:ln>
              <a:solidFill>
                <a:srgbClr val="333399"/>
              </a:solidFill>
              <a:effectLst/>
              <a:uLnTx/>
              <a:uFillTx/>
            </a:endParaRPr>
          </a:p>
        </p:txBody>
      </p:sp>
      <p:sp>
        <p:nvSpPr>
          <p:cNvPr id="28" name="Text Box 10"/>
          <p:cNvSpPr txBox="1">
            <a:spLocks noChangeArrowheads="1"/>
          </p:cNvSpPr>
          <p:nvPr/>
        </p:nvSpPr>
        <p:spPr bwMode="auto">
          <a:xfrm>
            <a:off x="7691370" y="3475053"/>
            <a:ext cx="36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latinLnBrk="0" hangingPunct="1">
              <a:spcBef>
                <a:spcPct val="0"/>
              </a:spcBef>
              <a:spcAft>
                <a:spcPts val="0"/>
              </a:spcAft>
              <a:buClrTx/>
              <a:buSzTx/>
              <a:buFontTx/>
              <a:buNone/>
              <a:defRPr/>
            </a:pPr>
            <a:r>
              <a:rPr kumimoji="0" lang="en-US" sz="2000" b="0" i="1" u="none" strike="noStrike" kern="0" cap="none" spc="0" normalizeH="0" baseline="0" noProof="0" dirty="0">
                <a:ln>
                  <a:noFill/>
                </a:ln>
                <a:solidFill>
                  <a:srgbClr val="CC0000"/>
                </a:solidFill>
                <a:effectLst/>
                <a:uLnTx/>
                <a:uFillTx/>
              </a:rPr>
              <a:t>C</a:t>
            </a:r>
            <a:endParaRPr kumimoji="0" lang="en-US" sz="2000" b="0" i="1" u="none" strike="noStrike" kern="0" cap="none" spc="0" normalizeH="0" baseline="0" noProof="0" dirty="0">
              <a:ln>
                <a:noFill/>
              </a:ln>
              <a:solidFill>
                <a:srgbClr val="CC0000"/>
              </a:solidFill>
              <a:effectLst/>
              <a:uLnTx/>
              <a:uFillTx/>
            </a:endParaRPr>
          </a:p>
        </p:txBody>
      </p:sp>
      <p:sp>
        <p:nvSpPr>
          <p:cNvPr id="29" name="Text Box 11"/>
          <p:cNvSpPr txBox="1">
            <a:spLocks noChangeArrowheads="1"/>
          </p:cNvSpPr>
          <p:nvPr/>
        </p:nvSpPr>
        <p:spPr bwMode="auto">
          <a:xfrm>
            <a:off x="6804248" y="4984045"/>
            <a:ext cx="62230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eaLnBrk="1" latinLnBrk="0" hangingPunct="1">
              <a:spcBef>
                <a:spcPts val="0"/>
              </a:spcBef>
              <a:spcAft>
                <a:spcPts val="0"/>
              </a:spcAft>
              <a:buClrTx/>
              <a:buSzTx/>
              <a:buFontTx/>
              <a:buNone/>
              <a:defRPr/>
            </a:pPr>
            <a:r>
              <a:rPr lang="zh-CN" altLang="en-US" sz="2000" b="0" dirty="0">
                <a:latin typeface="Arial" panose="020B0604020202020204" pitchFamily="34" charset="0"/>
                <a:cs typeface="Arial" panose="020B0604020202020204" pitchFamily="34" charset="0"/>
              </a:rPr>
              <a:t>𝑝</a:t>
            </a:r>
            <a:endParaRPr kumimoji="0" lang="en-US" sz="2000" b="0" i="1" u="none" strike="noStrike" kern="0" cap="none" spc="0" normalizeH="0" baseline="0" noProof="0" dirty="0">
              <a:ln>
                <a:noFill/>
              </a:ln>
              <a:solidFill>
                <a:sysClr val="windowText" lastClr="000000"/>
              </a:solidFill>
              <a:effectLst/>
              <a:uLnTx/>
              <a:uFillTx/>
            </a:endParaRPr>
          </a:p>
        </p:txBody>
      </p:sp>
      <p:sp>
        <p:nvSpPr>
          <p:cNvPr id="30" name="Text Box 12"/>
          <p:cNvSpPr txBox="1">
            <a:spLocks noChangeArrowheads="1"/>
          </p:cNvSpPr>
          <p:nvPr/>
        </p:nvSpPr>
        <p:spPr bwMode="auto">
          <a:xfrm>
            <a:off x="5220072" y="2722427"/>
            <a:ext cx="37353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eaLnBrk="1" latinLnBrk="0" hangingPunct="1">
              <a:spcBef>
                <a:spcPts val="0"/>
              </a:spcBef>
              <a:spcAft>
                <a:spcPts val="0"/>
              </a:spcAft>
              <a:buClrTx/>
              <a:buSzTx/>
              <a:buFontTx/>
              <a:buNone/>
              <a:defRPr/>
            </a:pPr>
            <a:r>
              <a:rPr kumimoji="0" lang="en-US" sz="1600" b="0" i="0" u="none" strike="noStrike" kern="0" cap="none" spc="0" normalizeH="0" baseline="0" noProof="0" dirty="0">
                <a:ln>
                  <a:noFill/>
                </a:ln>
                <a:solidFill>
                  <a:sysClr val="windowText" lastClr="000000"/>
                </a:solidFill>
                <a:effectLst/>
                <a:uLnTx/>
                <a:uFillTx/>
              </a:rPr>
              <a:t>regular       SW       random</a:t>
            </a:r>
            <a:endParaRPr kumimoji="0" lang="en-US" sz="1600" b="0" i="0" u="none" strike="noStrike" kern="0" cap="none" spc="0" normalizeH="0" baseline="0" noProof="0" dirty="0">
              <a:ln>
                <a:noFill/>
              </a:ln>
              <a:solidFill>
                <a:sysClr val="windowText" lastClr="000000"/>
              </a:solidFill>
              <a:effectLst/>
              <a:uLnTx/>
              <a:uFillTx/>
            </a:endParaRPr>
          </a:p>
        </p:txBody>
      </p:sp>
      <p:sp>
        <p:nvSpPr>
          <p:cNvPr id="16" name="矩形 1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7" name="Rectangle 3"/>
          <p:cNvSpPr txBox="1">
            <a:spLocks noChangeArrowheads="1"/>
          </p:cNvSpPr>
          <p:nvPr/>
        </p:nvSpPr>
        <p:spPr bwMode="auto">
          <a:xfrm>
            <a:off x="179512" y="1269832"/>
            <a:ext cx="8555424" cy="699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8" name="文本框 17"/>
          <p:cNvSpPr txBox="1"/>
          <p:nvPr/>
        </p:nvSpPr>
        <p:spPr>
          <a:xfrm>
            <a:off x="582057" y="5449668"/>
            <a:ext cx="4727770" cy="276999"/>
          </a:xfrm>
          <a:prstGeom prst="rect">
            <a:avLst/>
          </a:prstGeom>
          <a:noFill/>
        </p:spPr>
        <p:txBody>
          <a:bodyPr wrap="square">
            <a:spAutoFit/>
          </a:bodyPr>
          <a:lstStyle/>
          <a:p>
            <a:r>
              <a:rPr lang="zh-CN" altLang="en-US" sz="1200" b="0" dirty="0">
                <a:latin typeface="Arial" panose="020B0604020202020204" pitchFamily="34" charset="0"/>
                <a:cs typeface="Arial" panose="020B0604020202020204" pitchFamily="34" charset="0"/>
              </a:rPr>
              <a:t>图像：Watts和Strogatz，</a:t>
            </a:r>
            <a:r>
              <a:rPr lang="en-US" altLang="zh-CN" sz="1200" b="0" dirty="0">
                <a:latin typeface="Arial" panose="020B0604020202020204" pitchFamily="34" charset="0"/>
                <a:cs typeface="Arial" panose="020B0604020202020204" pitchFamily="34" charset="0"/>
              </a:rPr>
              <a:t>《</a:t>
            </a:r>
            <a:r>
              <a:rPr lang="zh-CN" altLang="en-US" sz="1200" b="0" dirty="0">
                <a:latin typeface="Arial" panose="020B0604020202020204" pitchFamily="34" charset="0"/>
                <a:cs typeface="Arial" panose="020B0604020202020204" pitchFamily="34" charset="0"/>
              </a:rPr>
              <a:t>自然》杂志 393, 440 (1998)</a:t>
            </a:r>
            <a:endParaRPr lang="zh-CN" altLang="en-US" sz="1200" b="0" dirty="0">
              <a:latin typeface="Arial" panose="020B0604020202020204" pitchFamily="34" charset="0"/>
              <a:cs typeface="Arial" panose="020B0604020202020204" pitchFamily="34"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8" name="Rectangle 4"/>
          <p:cNvSpPr>
            <a:spLocks noChangeArrowheads="1"/>
          </p:cNvSpPr>
          <p:nvPr/>
        </p:nvSpPr>
        <p:spPr bwMode="auto">
          <a:xfrm>
            <a:off x="740567" y="2074024"/>
            <a:ext cx="7662865" cy="2396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lgn="l">
              <a:lnSpc>
                <a:spcPct val="120000"/>
              </a:lnSpc>
              <a:spcBef>
                <a:spcPts val="600"/>
              </a:spcBef>
              <a:spcAft>
                <a:spcPts val="600"/>
              </a:spcAft>
              <a:buFont typeface="Wingdings" panose="05000000000000000000" pitchFamily="2" charset="2"/>
              <a:buChar char="ü"/>
              <a:defRPr/>
            </a:pPr>
            <a:r>
              <a:rPr lang="zh-CN" altLang="en-US" sz="2200" dirty="0">
                <a:solidFill>
                  <a:srgbClr val="FF0000"/>
                </a:solidFill>
                <a:effectLst>
                  <a:outerShdw blurRad="38100" dist="38100" dir="2700000" algn="tl">
                    <a:srgbClr val="000000">
                      <a:alpha val="43137"/>
                    </a:srgbClr>
                  </a:outerShdw>
                </a:effectLst>
                <a:latin typeface="Comic Sans MS" panose="030F0702030302020204" pitchFamily="66" charset="0"/>
              </a:rPr>
              <a:t>稀疏性</a:t>
            </a:r>
            <a:r>
              <a:rPr lang="en-US" altLang="zh-CN" sz="2200" b="1"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zh-CN" altLang="en-US" sz="2200" dirty="0">
                <a:latin typeface="Comic Sans MS" panose="030F0702030302020204" pitchFamily="66" charset="0"/>
              </a:rPr>
              <a:t>在小世界网络中，具有𝑛个节点的图的边数更接近 </a:t>
            </a:r>
            <a:r>
              <a:rPr lang="zh-CN" altLang="en-US" sz="2200" b="0" dirty="0">
                <a:latin typeface="Comic Sans MS" panose="030F0702030302020204" pitchFamily="66" charset="0"/>
              </a:rPr>
              <a:t>𝑂</a:t>
            </a:r>
            <a:r>
              <a:rPr lang="en-US" altLang="zh-CN" sz="2200" b="0" dirty="0">
                <a:latin typeface="Comic Sans MS" panose="030F0702030302020204" pitchFamily="66" charset="0"/>
              </a:rPr>
              <a:t>(</a:t>
            </a:r>
            <a:r>
              <a:rPr lang="zh-CN" altLang="en-US" sz="2200" b="0" dirty="0">
                <a:latin typeface="Comic Sans MS" panose="030F0702030302020204" pitchFamily="66" charset="0"/>
              </a:rPr>
              <a:t>𝑛</a:t>
            </a:r>
            <a:r>
              <a:rPr lang="en-US" altLang="zh-CN" sz="2200" b="0" dirty="0">
                <a:latin typeface="Comic Sans MS" panose="030F0702030302020204" pitchFamily="66" charset="0"/>
              </a:rPr>
              <a:t>) </a:t>
            </a:r>
            <a:r>
              <a:rPr lang="zh-CN" altLang="en-US" sz="2200" b="0" dirty="0">
                <a:latin typeface="Comic Sans MS" panose="030F0702030302020204" pitchFamily="66" charset="0"/>
              </a:rPr>
              <a:t>而非 𝑂</a:t>
            </a:r>
            <a:r>
              <a:rPr lang="en-US" altLang="zh-CN" sz="2200" b="0" dirty="0">
                <a:latin typeface="Comic Sans MS" panose="030F0702030302020204" pitchFamily="66" charset="0"/>
              </a:rPr>
              <a:t>(</a:t>
            </a:r>
            <a:r>
              <a:rPr lang="zh-CN" altLang="en-US" sz="2200" b="0" dirty="0">
                <a:latin typeface="Comic Sans MS" panose="030F0702030302020204" pitchFamily="66" charset="0"/>
              </a:rPr>
              <a:t>𝑛</a:t>
            </a:r>
            <a:r>
              <a:rPr lang="en-US" altLang="zh-CN" sz="2200" b="0" baseline="30000" dirty="0">
                <a:latin typeface="Comic Sans MS" panose="030F0702030302020204" pitchFamily="66" charset="0"/>
              </a:rPr>
              <a:t>2</a:t>
            </a:r>
            <a:r>
              <a:rPr lang="en-US" altLang="zh-CN" sz="2200" b="0" dirty="0">
                <a:latin typeface="Comic Sans MS" panose="030F0702030302020204" pitchFamily="66" charset="0"/>
              </a:rPr>
              <a:t>).</a:t>
            </a:r>
            <a:endParaRPr lang="en-US" altLang="zh-CN" sz="2200" b="0" dirty="0">
              <a:latin typeface="Comic Sans MS" panose="030F0702030302020204" pitchFamily="66" charset="0"/>
            </a:endParaRPr>
          </a:p>
          <a:p>
            <a:pPr marL="457200" indent="-457200" algn="l">
              <a:lnSpc>
                <a:spcPct val="120000"/>
              </a:lnSpc>
              <a:spcBef>
                <a:spcPts val="600"/>
              </a:spcBef>
              <a:spcAft>
                <a:spcPts val="600"/>
              </a:spcAft>
              <a:buFont typeface="Wingdings" panose="05000000000000000000" pitchFamily="2" charset="2"/>
              <a:buChar char="ü"/>
              <a:defRPr/>
            </a:pPr>
            <a:r>
              <a:rPr lang="zh-CN" altLang="en-US" sz="2200" b="1" dirty="0">
                <a:solidFill>
                  <a:srgbClr val="FF0000"/>
                </a:solidFill>
                <a:effectLst>
                  <a:outerShdw blurRad="38100" dist="38100" dir="2700000" algn="tl">
                    <a:srgbClr val="000000">
                      <a:alpha val="43137"/>
                    </a:srgbClr>
                  </a:outerShdw>
                </a:effectLst>
                <a:latin typeface="Comic Sans MS" panose="030F0702030302020204" pitchFamily="66" charset="0"/>
              </a:rPr>
              <a:t>小直径：</a:t>
            </a:r>
            <a:r>
              <a:rPr lang="zh-CN" altLang="en-US" sz="2200" dirty="0">
                <a:latin typeface="Comic Sans MS" panose="030F0702030302020204" pitchFamily="66" charset="0"/>
              </a:rPr>
              <a:t>小世界网络的直径随着节点数量的增加而以对数形式增长</a:t>
            </a:r>
            <a:r>
              <a:rPr lang="en-US" altLang="zh-CN" sz="2200" dirty="0">
                <a:latin typeface="Comic Sans MS" panose="030F0702030302020204" pitchFamily="66" charset="0"/>
              </a:rPr>
              <a:t>. </a:t>
            </a:r>
            <a:endParaRPr lang="en-US" altLang="zh-CN" sz="2200" dirty="0">
              <a:latin typeface="Comic Sans MS" panose="030F0702030302020204" pitchFamily="66" charset="0"/>
            </a:endParaRPr>
          </a:p>
          <a:p>
            <a:pPr marL="457200" indent="-457200" algn="l">
              <a:lnSpc>
                <a:spcPct val="120000"/>
              </a:lnSpc>
              <a:spcBef>
                <a:spcPts val="600"/>
              </a:spcBef>
              <a:spcAft>
                <a:spcPts val="600"/>
              </a:spcAft>
              <a:buFont typeface="Wingdings" panose="05000000000000000000" pitchFamily="2" charset="2"/>
              <a:buChar char="ü"/>
              <a:defRPr/>
            </a:pPr>
            <a:r>
              <a:rPr lang="zh-CN" altLang="en-US" sz="2200" dirty="0">
                <a:solidFill>
                  <a:srgbClr val="FF0000"/>
                </a:solidFill>
                <a:effectLst>
                  <a:outerShdw blurRad="38100" dist="38100" dir="2700000" algn="tl">
                    <a:srgbClr val="000000">
                      <a:alpha val="43137"/>
                    </a:srgbClr>
                  </a:outerShdw>
                </a:effectLst>
                <a:latin typeface="Comic Sans MS" panose="030F0702030302020204" pitchFamily="66" charset="0"/>
              </a:rPr>
              <a:t>聚类性</a:t>
            </a:r>
            <a:r>
              <a:rPr lang="zh-CN" altLang="en-US" sz="2200" b="1" dirty="0">
                <a:solidFill>
                  <a:srgbClr val="FF0000"/>
                </a:solidFill>
                <a:effectLst>
                  <a:outerShdw blurRad="38100" dist="38100" dir="2700000" algn="tl">
                    <a:srgbClr val="000000">
                      <a:alpha val="43137"/>
                    </a:srgbClr>
                  </a:outerShdw>
                </a:effectLst>
                <a:latin typeface="Comic Sans MS" panose="030F0702030302020204" pitchFamily="66" charset="0"/>
              </a:rPr>
              <a:t>：</a:t>
            </a:r>
            <a:r>
              <a:rPr lang="zh-CN" altLang="en-US" sz="2200" dirty="0">
                <a:latin typeface="Comic Sans MS" panose="030F0702030302020204" pitchFamily="66" charset="0"/>
              </a:rPr>
              <a:t>在小世界网络中，聚类系数远高于随机图网络</a:t>
            </a:r>
            <a:r>
              <a:rPr lang="en-US" altLang="zh-CN" sz="2200" dirty="0">
                <a:latin typeface="Comic Sans MS" panose="030F0702030302020204" pitchFamily="66" charset="0"/>
              </a:rPr>
              <a:t>.</a:t>
            </a:r>
            <a:endParaRPr lang="zh-CN" altLang="en-US" sz="2200" dirty="0">
              <a:latin typeface="Comic Sans MS" panose="030F0702030302020204" pitchFamily="66" charset="0"/>
            </a:endParaRPr>
          </a:p>
        </p:txBody>
      </p:sp>
      <p:sp>
        <p:nvSpPr>
          <p:cNvPr id="19" name="Rectangle 5"/>
          <p:cNvSpPr>
            <a:spLocks noChangeArrowheads="1"/>
          </p:cNvSpPr>
          <p:nvPr/>
        </p:nvSpPr>
        <p:spPr bwMode="auto">
          <a:xfrm>
            <a:off x="2267744" y="4927688"/>
            <a:ext cx="41488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sz="2800" dirty="0">
                <a:solidFill>
                  <a:srgbClr val="FF0000"/>
                </a:solidFill>
                <a:effectLst>
                  <a:outerShdw blurRad="38100" dist="38100" dir="2700000" algn="tl">
                    <a:srgbClr val="000000">
                      <a:alpha val="43137"/>
                    </a:srgbClr>
                  </a:outerShdw>
                </a:effectLst>
                <a:latin typeface="Palatino Linotype" panose="02040502050505030304" pitchFamily="18" charset="0"/>
              </a:rPr>
              <a:t>小世界 </a:t>
            </a:r>
            <a:r>
              <a:rPr lang="en-US" altLang="zh-CN" sz="2800" b="1" dirty="0">
                <a:solidFill>
                  <a:srgbClr val="FF0000"/>
                </a:solidFill>
                <a:effectLst>
                  <a:outerShdw blurRad="38100" dist="38100" dir="2700000" algn="tl">
                    <a:srgbClr val="000000">
                      <a:alpha val="43137"/>
                    </a:srgbClr>
                  </a:outerShdw>
                </a:effectLst>
                <a:latin typeface="Palatino Linotype" panose="02040502050505030304" pitchFamily="18" charset="0"/>
              </a:rPr>
              <a:t>= </a:t>
            </a:r>
            <a:r>
              <a:rPr lang="zh-CN" altLang="en-US" sz="2800" b="1" dirty="0">
                <a:solidFill>
                  <a:srgbClr val="FF0000"/>
                </a:solidFill>
                <a:effectLst>
                  <a:outerShdw blurRad="38100" dist="38100" dir="2700000" algn="tl">
                    <a:srgbClr val="000000">
                      <a:alpha val="43137"/>
                    </a:srgbClr>
                  </a:outerShdw>
                </a:effectLst>
                <a:latin typeface="Palatino Linotype" panose="02040502050505030304" pitchFamily="18" charset="0"/>
              </a:rPr>
              <a:t>小直径</a:t>
            </a:r>
            <a:r>
              <a:rPr lang="en-US" altLang="zh-CN" sz="2800" b="1" dirty="0">
                <a:solidFill>
                  <a:srgbClr val="FF0000"/>
                </a:solidFill>
                <a:effectLst>
                  <a:outerShdw blurRad="38100" dist="38100" dir="2700000" algn="tl">
                    <a:srgbClr val="000000">
                      <a:alpha val="43137"/>
                    </a:srgbClr>
                  </a:outerShdw>
                </a:effectLst>
                <a:latin typeface="Palatino Linotype" panose="02040502050505030304" pitchFamily="18" charset="0"/>
              </a:rPr>
              <a:t> + </a:t>
            </a:r>
            <a:r>
              <a:rPr lang="zh-CN" altLang="en-US" sz="2800" b="1" dirty="0">
                <a:solidFill>
                  <a:srgbClr val="FF0000"/>
                </a:solidFill>
                <a:effectLst>
                  <a:outerShdw blurRad="38100" dist="38100" dir="2700000" algn="tl">
                    <a:srgbClr val="000000">
                      <a:alpha val="43137"/>
                    </a:srgbClr>
                  </a:outerShdw>
                </a:effectLst>
                <a:latin typeface="Palatino Linotype" panose="02040502050505030304" pitchFamily="18" charset="0"/>
              </a:rPr>
              <a:t>聚类性</a:t>
            </a:r>
            <a:endParaRPr lang="en-US" altLang="zh-CN" sz="2800" b="1" dirty="0">
              <a:solidFill>
                <a:srgbClr val="FF0000"/>
              </a:solidFill>
              <a:effectLst>
                <a:outerShdw blurRad="38100" dist="38100" dir="2700000" algn="tl">
                  <a:srgbClr val="000000">
                    <a:alpha val="43137"/>
                  </a:srgbClr>
                </a:outerShdw>
              </a:effectLst>
              <a:latin typeface="Palatino Linotype" panose="02040502050505030304" pitchFamily="18" charset="0"/>
            </a:endParaRPr>
          </a:p>
        </p:txBody>
      </p:sp>
      <p:graphicFrame>
        <p:nvGraphicFramePr>
          <p:cNvPr id="20" name="对象 19"/>
          <p:cNvGraphicFramePr>
            <a:graphicFrameLocks noChangeAspect="1"/>
          </p:cNvGraphicFramePr>
          <p:nvPr/>
        </p:nvGraphicFramePr>
        <p:xfrm>
          <a:off x="1722340" y="5852081"/>
          <a:ext cx="2129135" cy="476672"/>
        </p:xfrm>
        <a:graphic>
          <a:graphicData uri="http://schemas.openxmlformats.org/presentationml/2006/ole">
            <mc:AlternateContent xmlns:mc="http://schemas.openxmlformats.org/markup-compatibility/2006">
              <mc:Choice xmlns:v="urn:schemas-microsoft-com:vml" Requires="v">
                <p:oleObj spid="_x0000_s33308" name="Formula" r:id="rId1" imgW="648970" imgH="147320" progId="Equation.Ribbit">
                  <p:embed/>
                </p:oleObj>
              </mc:Choice>
              <mc:Fallback>
                <p:oleObj name="Formula" r:id="rId1" imgW="648970" imgH="147320" progId="Equation.Ribbit">
                  <p:embed/>
                  <p:pic>
                    <p:nvPicPr>
                      <p:cNvPr id="0" name="图片 328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340" y="5852081"/>
                        <a:ext cx="2129135" cy="476672"/>
                      </a:xfrm>
                      <a:prstGeom prst="rect">
                        <a:avLst/>
                      </a:prstGeom>
                      <a:noFill/>
                    </p:spPr>
                  </p:pic>
                </p:oleObj>
              </mc:Fallback>
            </mc:AlternateContent>
          </a:graphicData>
        </a:graphic>
      </p:graphicFrame>
      <p:graphicFrame>
        <p:nvGraphicFramePr>
          <p:cNvPr id="21" name="对象 20"/>
          <p:cNvGraphicFramePr>
            <a:graphicFrameLocks noChangeAspect="1"/>
          </p:cNvGraphicFramePr>
          <p:nvPr/>
        </p:nvGraphicFramePr>
        <p:xfrm>
          <a:off x="4572000" y="5805264"/>
          <a:ext cx="2592289" cy="524630"/>
        </p:xfrm>
        <a:graphic>
          <a:graphicData uri="http://schemas.openxmlformats.org/presentationml/2006/ole">
            <mc:AlternateContent xmlns:mc="http://schemas.openxmlformats.org/markup-compatibility/2006">
              <mc:Choice xmlns:v="urn:schemas-microsoft-com:vml" Requires="v">
                <p:oleObj spid="_x0000_s33309" name="Formula" r:id="rId3" imgW="819150" imgH="168910" progId="Equation.Ribbit">
                  <p:embed/>
                </p:oleObj>
              </mc:Choice>
              <mc:Fallback>
                <p:oleObj name="Formula" r:id="rId3" imgW="819150" imgH="168910" progId="Equation.Ribbit">
                  <p:embed/>
                  <p:pic>
                    <p:nvPicPr>
                      <p:cNvPr id="0" name="图片 328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5805264"/>
                        <a:ext cx="2592289" cy="524630"/>
                      </a:xfrm>
                      <a:prstGeom prst="rect">
                        <a:avLst/>
                      </a:prstGeom>
                      <a:noFill/>
                    </p:spPr>
                  </p:pic>
                </p:oleObj>
              </mc:Fallback>
            </mc:AlternateContent>
          </a:graphicData>
        </a:graphic>
      </p:graphicFrame>
      <p:sp>
        <p:nvSpPr>
          <p:cNvPr id="9" name="矩形 8"/>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0" name="Rectangle 3"/>
          <p:cNvSpPr txBox="1">
            <a:spLocks noChangeArrowheads="1"/>
          </p:cNvSpPr>
          <p:nvPr/>
        </p:nvSpPr>
        <p:spPr bwMode="auto">
          <a:xfrm>
            <a:off x="179512" y="1269832"/>
            <a:ext cx="8555424" cy="719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1"/>
          <p:cNvSpPr>
            <a:spLocks noGrp="1"/>
          </p:cNvSpPr>
          <p:nvPr>
            <p:ph idx="4294967295"/>
          </p:nvPr>
        </p:nvSpPr>
        <p:spPr>
          <a:xfrm>
            <a:off x="930275" y="2348880"/>
            <a:ext cx="8213725" cy="3203575"/>
          </a:xfrm>
        </p:spPr>
        <p:txBody>
          <a:bodyPr/>
          <a:lstStyle/>
          <a:p>
            <a:pPr marL="0" indent="0">
              <a:lnSpc>
                <a:spcPct val="120000"/>
              </a:lnSpc>
              <a:spcBef>
                <a:spcPts val="600"/>
              </a:spcBef>
              <a:buFontTx/>
              <a:buNone/>
              <a:defRPr/>
            </a:pPr>
            <a:r>
              <a:rPr lang="zh-CN" altLang="en-US" sz="2200" b="1" dirty="0">
                <a:solidFill>
                  <a:srgbClr val="FF0000"/>
                </a:solidFill>
                <a:effectLst>
                  <a:outerShdw blurRad="38100" dist="38100" dir="2700000" algn="tl">
                    <a:srgbClr val="000000">
                      <a:alpha val="43137"/>
                    </a:srgbClr>
                  </a:outerShdw>
                </a:effectLst>
              </a:rPr>
              <a:t>距离：</a:t>
            </a:r>
            <a:r>
              <a:rPr lang="en-US" altLang="zh-CN" sz="2200" dirty="0">
                <a:latin typeface="Palatino" panose="02010600030101010101" charset="-122"/>
              </a:rPr>
              <a:t>between two nodes </a:t>
            </a:r>
            <a:r>
              <a:rPr lang="en-US" altLang="zh-CN" sz="2200" i="1" dirty="0">
                <a:latin typeface="Palatino" panose="02010600030101010101" charset="-122"/>
              </a:rPr>
              <a:t>i</a:t>
            </a:r>
            <a:r>
              <a:rPr lang="en-US" altLang="zh-CN" sz="2200" dirty="0">
                <a:latin typeface="Palatino" panose="02010600030101010101" charset="-122"/>
              </a:rPr>
              <a:t> and </a:t>
            </a:r>
            <a:r>
              <a:rPr lang="en-US" altLang="zh-CN" sz="2200" i="1" dirty="0">
                <a:latin typeface="Palatino" panose="02010600030101010101" charset="-122"/>
              </a:rPr>
              <a:t>j</a:t>
            </a:r>
            <a:r>
              <a:rPr lang="en-US" altLang="zh-CN" sz="2200" dirty="0">
                <a:latin typeface="Palatino" panose="02010600030101010101" charset="-122"/>
              </a:rPr>
              <a:t> is the shortest path connecting the two nodes. </a:t>
            </a:r>
            <a:endParaRPr lang="en-US" altLang="zh-CN" sz="2200" dirty="0">
              <a:latin typeface="Palatino" panose="02010600030101010101" charset="-122"/>
            </a:endParaRPr>
          </a:p>
          <a:p>
            <a:pPr marL="0" indent="0">
              <a:lnSpc>
                <a:spcPct val="90000"/>
              </a:lnSpc>
              <a:buFontTx/>
              <a:buNone/>
              <a:defRPr/>
            </a:pPr>
            <a:endParaRPr lang="en-US" altLang="zh-CN" sz="2200" dirty="0">
              <a:latin typeface="Palatino" panose="02010600030101010101" charset="-122"/>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0" name="Picture 11" descr="dis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7784" y="3894643"/>
            <a:ext cx="303530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2"/>
          <p:cNvSpPr>
            <a:spLocks noChangeArrowheads="1"/>
          </p:cNvSpPr>
          <p:nvPr/>
        </p:nvSpPr>
        <p:spPr bwMode="auto">
          <a:xfrm>
            <a:off x="5940152" y="5729461"/>
            <a:ext cx="7715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en-US" altLang="zh-CN" i="1" dirty="0" err="1">
                <a:latin typeface="Palatino" panose="02010600030101010101" charset="-122"/>
              </a:rPr>
              <a:t>d</a:t>
            </a:r>
            <a:r>
              <a:rPr lang="en-US" altLang="zh-CN" i="1" baseline="-25000" dirty="0" err="1">
                <a:latin typeface="Palatino" panose="02010600030101010101" charset="-122"/>
              </a:rPr>
              <a:t>ij</a:t>
            </a:r>
            <a:r>
              <a:rPr lang="en-US" altLang="zh-CN" dirty="0">
                <a:latin typeface="Palatino" panose="02010600030101010101" charset="-122"/>
              </a:rPr>
              <a:t> = 4</a:t>
            </a:r>
            <a:endParaRPr lang="en-US" altLang="zh-CN" dirty="0">
              <a:latin typeface="Palatino" panose="02010600030101010101" charset="-122"/>
            </a:endParaRPr>
          </a:p>
        </p:txBody>
      </p:sp>
      <p:sp>
        <p:nvSpPr>
          <p:cNvPr id="8" name="矩形 7"/>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2" name="Rectangle 3"/>
          <p:cNvSpPr txBox="1">
            <a:spLocks noChangeArrowheads="1"/>
          </p:cNvSpPr>
          <p:nvPr/>
        </p:nvSpPr>
        <p:spPr bwMode="auto">
          <a:xfrm>
            <a:off x="179512" y="1269832"/>
            <a:ext cx="8555424" cy="125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 name="Rectangle 5"/>
          <p:cNvSpPr>
            <a:spLocks noChangeArrowheads="1"/>
          </p:cNvSpPr>
          <p:nvPr/>
        </p:nvSpPr>
        <p:spPr bwMode="auto">
          <a:xfrm>
            <a:off x="284481" y="2206625"/>
            <a:ext cx="8075612" cy="66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eaLnBrk="1" latinLnBrk="0" hangingPunct="1">
              <a:spcBef>
                <a:spcPct val="20000"/>
              </a:spcBef>
              <a:spcAft>
                <a:spcPts val="0"/>
              </a:spcAft>
              <a:buClrTx/>
              <a:buSzTx/>
              <a:buFontTx/>
              <a:buChar char="•"/>
              <a:defRPr/>
            </a:pPr>
            <a:r>
              <a:rPr kumimoji="0" lang="zh-CN" altLang="en-US" sz="2400" b="0" i="0" u="none" strike="noStrike" kern="0" cap="none" spc="0" normalizeH="0" baseline="0" noProof="0" dirty="0">
                <a:ln>
                  <a:noFill/>
                </a:ln>
                <a:solidFill>
                  <a:srgbClr val="FF0000"/>
                </a:solidFill>
                <a:effectLst/>
                <a:uLnTx/>
                <a:uFillTx/>
                <a:latin typeface="Palatino Linotype" panose="02040502050505030304" pitchFamily="18" charset="0"/>
              </a:rPr>
              <a:t>特征路径长度 𝐿</a:t>
            </a:r>
            <a:r>
              <a:rPr kumimoji="0" lang="en-US" altLang="zh-CN" sz="2400" b="0" i="0" u="none" strike="noStrike" kern="0" cap="none" spc="0" normalizeH="0" baseline="0" noProof="0" dirty="0">
                <a:ln>
                  <a:noFill/>
                </a:ln>
                <a:solidFill>
                  <a:srgbClr val="FF0000"/>
                </a:solidFill>
                <a:effectLst/>
                <a:uLnTx/>
                <a:uFillTx/>
                <a:latin typeface="Palatino Linotype" panose="02040502050505030304" pitchFamily="18" charset="0"/>
              </a:rPr>
              <a:t> </a:t>
            </a:r>
            <a:r>
              <a:rPr kumimoji="0" lang="zh-CN" altLang="en-US"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是任意节点 𝑖</a:t>
            </a:r>
            <a:r>
              <a:rPr kumimoji="0" lang="en-US" altLang="zh-CN"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 </a:t>
            </a:r>
            <a:r>
              <a:rPr kumimoji="0" lang="zh-CN" altLang="en-US"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和节点 𝑗</a:t>
            </a:r>
            <a:r>
              <a:rPr kumimoji="0" lang="en-US" altLang="zh-CN"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 </a:t>
            </a:r>
            <a:r>
              <a:rPr kumimoji="0" lang="zh-CN" altLang="en-US"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之间 𝑑</a:t>
            </a:r>
            <a:r>
              <a:rPr kumimoji="0" lang="zh-CN" altLang="en-US" sz="2400" b="0" i="0" u="none" strike="noStrike" kern="0" cap="none" spc="0" normalizeH="0" baseline="-25000" noProof="0" dirty="0">
                <a:ln>
                  <a:noFill/>
                </a:ln>
                <a:solidFill>
                  <a:sysClr val="windowText" lastClr="000000"/>
                </a:solidFill>
                <a:effectLst/>
                <a:uLnTx/>
                <a:uFillTx/>
                <a:latin typeface="Palatino Linotype" panose="02040502050505030304" pitchFamily="18" charset="0"/>
              </a:rPr>
              <a:t>𝑖𝑗</a:t>
            </a:r>
            <a:r>
              <a:rPr kumimoji="0" lang="en-US" altLang="zh-CN" sz="2400" b="0" i="0" u="none" strike="noStrike" kern="0" cap="none" spc="0" normalizeH="0" baseline="-25000" noProof="0" dirty="0">
                <a:ln>
                  <a:noFill/>
                </a:ln>
                <a:solidFill>
                  <a:sysClr val="windowText" lastClr="000000"/>
                </a:solidFill>
                <a:effectLst/>
                <a:uLnTx/>
                <a:uFillTx/>
                <a:latin typeface="Palatino Linotype" panose="02040502050505030304" pitchFamily="18" charset="0"/>
              </a:rPr>
              <a:t> </a:t>
            </a:r>
            <a:r>
              <a:rPr kumimoji="0" lang="en-US" altLang="zh-CN"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 </a:t>
            </a:r>
            <a:r>
              <a:rPr kumimoji="0" lang="zh-CN" altLang="en-US" sz="2400" b="0" i="0" u="none" strike="noStrike" kern="0" cap="none" spc="0" normalizeH="0" baseline="0" noProof="0" dirty="0">
                <a:ln>
                  <a:noFill/>
                </a:ln>
                <a:solidFill>
                  <a:sysClr val="windowText" lastClr="000000"/>
                </a:solidFill>
                <a:effectLst/>
                <a:uLnTx/>
                <a:uFillTx/>
                <a:latin typeface="Palatino Linotype" panose="02040502050505030304" pitchFamily="18" charset="0"/>
              </a:rPr>
              <a:t>的平均值</a:t>
            </a:r>
            <a:endParaRPr kumimoji="0" lang="en-US" sz="2400" b="0" i="0" u="none" strike="noStrike" kern="0" cap="none" spc="0" normalizeH="0" baseline="0" noProof="0" dirty="0">
              <a:ln>
                <a:noFill/>
              </a:ln>
              <a:solidFill>
                <a:sysClr val="windowText" lastClr="000000"/>
              </a:solidFill>
              <a:effectLst/>
              <a:uLnTx/>
              <a:uFillTx/>
            </a:endParaRPr>
          </a:p>
          <a:p>
            <a:pPr marL="342900" marR="0" lvl="0" indent="-342900" defTabSz="914400" eaLnBrk="1" latinLnBrk="0" hangingPunct="1">
              <a:spcBef>
                <a:spcPct val="20000"/>
              </a:spcBef>
              <a:spcAft>
                <a:spcPts val="0"/>
              </a:spcAft>
              <a:buClrTx/>
              <a:buSzTx/>
              <a:buFontTx/>
              <a:buNone/>
              <a:defRPr/>
            </a:pPr>
            <a:endParaRPr kumimoji="0" lang="en-GB" sz="1800" b="0" i="0" u="none" strike="noStrike" kern="0" cap="none" spc="0" normalizeH="0" baseline="0" noProof="0" dirty="0">
              <a:ln>
                <a:noFill/>
              </a:ln>
              <a:solidFill>
                <a:sysClr val="windowText" lastClr="000000"/>
              </a:solidFill>
              <a:effectLst/>
              <a:uLnTx/>
              <a:uFillTx/>
            </a:endParaRPr>
          </a:p>
        </p:txBody>
      </p:sp>
      <p:graphicFrame>
        <p:nvGraphicFramePr>
          <p:cNvPr id="24" name="对象 2"/>
          <p:cNvGraphicFramePr>
            <a:graphicFrameLocks noChangeAspect="1"/>
          </p:cNvGraphicFramePr>
          <p:nvPr/>
        </p:nvGraphicFramePr>
        <p:xfrm>
          <a:off x="2987824" y="2867024"/>
          <a:ext cx="2466975" cy="779463"/>
        </p:xfrm>
        <a:graphic>
          <a:graphicData uri="http://schemas.openxmlformats.org/presentationml/2006/ole">
            <mc:AlternateContent xmlns:mc="http://schemas.openxmlformats.org/markup-compatibility/2006">
              <mc:Choice xmlns:v="urn:schemas-microsoft-com:vml" Requires="v">
                <p:oleObj spid="_x0000_s34067" name="Formula" r:id="rId1" imgW="1262380" imgH="400050" progId="Equation.Ribbit">
                  <p:embed/>
                </p:oleObj>
              </mc:Choice>
              <mc:Fallback>
                <p:oleObj name="Formula" r:id="rId1" imgW="1262380" imgH="400050" progId="Equation.Ribbit">
                  <p:embed/>
                  <p:pic>
                    <p:nvPicPr>
                      <p:cNvPr id="0" name="图片 338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2867024"/>
                        <a:ext cx="246697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3"/>
          <p:cNvSpPr txBox="1">
            <a:spLocks noChangeArrowheads="1"/>
          </p:cNvSpPr>
          <p:nvPr/>
        </p:nvSpPr>
        <p:spPr bwMode="auto">
          <a:xfrm>
            <a:off x="1043608" y="4068762"/>
            <a:ext cx="415894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400050" marR="0" lvl="1" indent="0" algn="l" defTabSz="914400" rtl="0" eaLnBrk="0" fontAlgn="base" latinLnBrk="0" hangingPunct="0">
              <a:spcBef>
                <a:spcPct val="20000"/>
              </a:spcBef>
              <a:spcAft>
                <a:spcPct val="0"/>
              </a:spcAft>
              <a:buClrTx/>
              <a:buSzTx/>
              <a:buFontTx/>
              <a:buNone/>
              <a:defRPr/>
            </a:pP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(ab)=1, </a:t>
            </a: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(ac)=1, </a:t>
            </a: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(ad)=2</a:t>
            </a:r>
            <a:endPar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00050" marR="0" lvl="1" indent="0" algn="l" defTabSz="914400" rtl="0" eaLnBrk="0" fontAlgn="base" latinLnBrk="0" hangingPunct="0">
              <a:spcBef>
                <a:spcPct val="20000"/>
              </a:spcBef>
              <a:spcAft>
                <a:spcPct val="0"/>
              </a:spcAft>
              <a:buClrTx/>
              <a:buSzTx/>
              <a:buFontTx/>
              <a:buNone/>
              <a:defRPr/>
            </a:pP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0" i="0" u="none" strike="noStrike" kern="0" cap="none" spc="0" normalizeH="0" baseline="0" noProof="0" dirty="0" err="1">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)=1, </a:t>
            </a: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(bd)=2</a:t>
            </a:r>
            <a:endPar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00050" marR="0" lvl="1" indent="0" algn="l" defTabSz="914400" rtl="0" eaLnBrk="0" fontAlgn="base" latinLnBrk="0" hangingPunct="0">
              <a:spcBef>
                <a:spcPct val="20000"/>
              </a:spcBef>
              <a:spcAft>
                <a:spcPct val="0"/>
              </a:spcAft>
              <a:buClrTx/>
              <a:buSzTx/>
              <a:buFontTx/>
              <a:buNone/>
              <a:defRPr/>
            </a:pP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(cd)=1</a:t>
            </a:r>
            <a:endPar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400050" marR="0" lvl="1" indent="0" algn="l" defTabSz="914400" rtl="0" eaLnBrk="0" fontAlgn="base" latinLnBrk="0" hangingPunct="0">
              <a:spcBef>
                <a:spcPct val="20000"/>
              </a:spcBef>
              <a:spcAft>
                <a:spcPct val="0"/>
              </a:spcAft>
              <a:buClrTx/>
              <a:buSzTx/>
              <a:buFontTx/>
              <a:buNone/>
              <a:defRPr/>
            </a:pPr>
            <a:r>
              <a:rPr kumimoji="0" lang="en-US" altLang="zh-CN" sz="2400" b="0" i="1"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l</a:t>
            </a:r>
            <a:r>
              <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=(1+1+2+1+2+1)/6 = 8/6</a:t>
            </a:r>
            <a:endParaRPr kumimoji="0" lang="en-US" altLang="zh-CN" sz="2400" b="0" i="0" u="none" strike="noStrike" kern="0" cap="none" spc="0" normalizeH="0" baseline="0" noProof="0" dirty="0">
              <a:ln>
                <a:noFill/>
              </a:ln>
              <a:solidFill>
                <a:srgbClr val="EBF7FF">
                  <a:lumMod val="25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Oval 7"/>
          <p:cNvSpPr>
            <a:spLocks noChangeArrowheads="1"/>
          </p:cNvSpPr>
          <p:nvPr/>
        </p:nvSpPr>
        <p:spPr bwMode="auto">
          <a:xfrm>
            <a:off x="5618584" y="4906888"/>
            <a:ext cx="457200" cy="457200"/>
          </a:xfrm>
          <a:prstGeom prst="ellipse">
            <a:avLst/>
          </a:prstGeom>
          <a:solidFill>
            <a:srgbClr val="EDFAD2"/>
          </a:solidFill>
          <a:ln w="9525">
            <a:solidFill>
              <a:srgbClr val="00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1800" b="0" i="0" u="none" strike="noStrike" kern="0" cap="none" spc="0" normalizeH="0" baseline="0" noProof="0">
                <a:ln>
                  <a:noFill/>
                </a:ln>
                <a:solidFill>
                  <a:sysClr val="windowText" lastClr="000000"/>
                </a:solidFill>
                <a:effectLst/>
                <a:uLnTx/>
                <a:uFillTx/>
              </a:rPr>
              <a:t>b</a:t>
            </a:r>
            <a:endParaRPr kumimoji="0" lang="en-US" altLang="zh-CN" sz="1800" b="0" i="0" u="none" strike="noStrike" kern="0" cap="none" spc="0" normalizeH="0" baseline="0" noProof="0">
              <a:ln>
                <a:noFill/>
              </a:ln>
              <a:solidFill>
                <a:sysClr val="windowText" lastClr="000000"/>
              </a:solidFill>
              <a:effectLst/>
              <a:uLnTx/>
              <a:uFillTx/>
            </a:endParaRPr>
          </a:p>
        </p:txBody>
      </p:sp>
      <p:sp>
        <p:nvSpPr>
          <p:cNvPr id="27" name="Oval 9"/>
          <p:cNvSpPr>
            <a:spLocks noChangeArrowheads="1"/>
          </p:cNvSpPr>
          <p:nvPr/>
        </p:nvSpPr>
        <p:spPr bwMode="auto">
          <a:xfrm>
            <a:off x="6228184" y="4221088"/>
            <a:ext cx="457200" cy="457200"/>
          </a:xfrm>
          <a:prstGeom prst="ellipse">
            <a:avLst/>
          </a:prstGeom>
          <a:solidFill>
            <a:srgbClr val="EDFAD2"/>
          </a:solidFill>
          <a:ln w="9525">
            <a:solidFill>
              <a:srgbClr val="00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rPr>
              <a:t>a</a:t>
            </a:r>
            <a:endParaRPr kumimoji="0" lang="en-US" altLang="zh-CN" sz="1800" b="0" i="0" u="none" strike="noStrike" kern="0" cap="none" spc="0" normalizeH="0" baseline="0" noProof="0" dirty="0">
              <a:ln>
                <a:noFill/>
              </a:ln>
              <a:solidFill>
                <a:sysClr val="windowText" lastClr="000000"/>
              </a:solidFill>
              <a:effectLst/>
              <a:uLnTx/>
              <a:uFillTx/>
            </a:endParaRPr>
          </a:p>
        </p:txBody>
      </p:sp>
      <p:sp>
        <p:nvSpPr>
          <p:cNvPr id="28" name="Oval 11"/>
          <p:cNvSpPr>
            <a:spLocks noChangeArrowheads="1"/>
          </p:cNvSpPr>
          <p:nvPr/>
        </p:nvSpPr>
        <p:spPr bwMode="auto">
          <a:xfrm>
            <a:off x="6532984" y="5211688"/>
            <a:ext cx="457200" cy="457200"/>
          </a:xfrm>
          <a:prstGeom prst="ellipse">
            <a:avLst/>
          </a:prstGeom>
          <a:solidFill>
            <a:srgbClr val="EDFAD2"/>
          </a:solidFill>
          <a:ln w="9525">
            <a:solidFill>
              <a:srgbClr val="00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1800" b="0" i="0" u="none" strike="noStrike" kern="0" cap="none" spc="0" normalizeH="0" baseline="0" noProof="0">
                <a:ln>
                  <a:noFill/>
                </a:ln>
                <a:solidFill>
                  <a:sysClr val="windowText" lastClr="000000"/>
                </a:solidFill>
                <a:effectLst/>
                <a:uLnTx/>
                <a:uFillTx/>
              </a:rPr>
              <a:t>c</a:t>
            </a:r>
            <a:endParaRPr kumimoji="0" lang="en-US" altLang="zh-CN" sz="1800" b="0" i="0" u="none" strike="noStrike" kern="0" cap="none" spc="0" normalizeH="0" baseline="0" noProof="0">
              <a:ln>
                <a:noFill/>
              </a:ln>
              <a:solidFill>
                <a:sysClr val="windowText" lastClr="000000"/>
              </a:solidFill>
              <a:effectLst/>
              <a:uLnTx/>
              <a:uFillTx/>
            </a:endParaRPr>
          </a:p>
        </p:txBody>
      </p:sp>
      <p:sp>
        <p:nvSpPr>
          <p:cNvPr id="29" name="Oval 12"/>
          <p:cNvSpPr>
            <a:spLocks noChangeArrowheads="1"/>
          </p:cNvSpPr>
          <p:nvPr/>
        </p:nvSpPr>
        <p:spPr bwMode="auto">
          <a:xfrm>
            <a:off x="7142584" y="4449688"/>
            <a:ext cx="457200" cy="457200"/>
          </a:xfrm>
          <a:prstGeom prst="ellipse">
            <a:avLst/>
          </a:prstGeom>
          <a:solidFill>
            <a:srgbClr val="EDFAD2"/>
          </a:solidFill>
          <a:ln w="9525">
            <a:solidFill>
              <a:srgbClr val="00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latinLnBrk="0" hangingPunct="1">
              <a:spcBef>
                <a:spcPts val="0"/>
              </a:spcBef>
              <a:spcAft>
                <a:spcPts val="0"/>
              </a:spcAft>
              <a:buClrTx/>
              <a:buSzTx/>
              <a:buFontTx/>
              <a:buNone/>
              <a:defRPr/>
            </a:pPr>
            <a:r>
              <a:rPr kumimoji="0" lang="en-US" altLang="zh-CN" sz="1800" b="0" i="0" u="none" strike="noStrike" kern="0" cap="none" spc="0" normalizeH="0" baseline="0" noProof="0">
                <a:ln>
                  <a:noFill/>
                </a:ln>
                <a:solidFill>
                  <a:sysClr val="windowText" lastClr="000000"/>
                </a:solidFill>
                <a:effectLst/>
                <a:uLnTx/>
                <a:uFillTx/>
              </a:rPr>
              <a:t>d</a:t>
            </a:r>
            <a:endParaRPr kumimoji="0" lang="en-US" altLang="zh-CN" sz="1800" b="0" i="0" u="none" strike="noStrike" kern="0" cap="none" spc="0" normalizeH="0" baseline="0" noProof="0">
              <a:ln>
                <a:noFill/>
              </a:ln>
              <a:solidFill>
                <a:sysClr val="windowText" lastClr="000000"/>
              </a:solidFill>
              <a:effectLst/>
              <a:uLnTx/>
              <a:uFillTx/>
            </a:endParaRPr>
          </a:p>
        </p:txBody>
      </p:sp>
      <p:sp>
        <p:nvSpPr>
          <p:cNvPr id="30" name="Line 18"/>
          <p:cNvSpPr>
            <a:spLocks noChangeShapeType="1"/>
          </p:cNvSpPr>
          <p:nvPr/>
        </p:nvSpPr>
        <p:spPr bwMode="auto">
          <a:xfrm>
            <a:off x="6075784" y="5211688"/>
            <a:ext cx="457200" cy="152400"/>
          </a:xfrm>
          <a:prstGeom prst="line">
            <a:avLst/>
          </a:prstGeom>
          <a:noFill/>
          <a:ln w="9525">
            <a:solidFill>
              <a:srgbClr val="0066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1" name="Line 19"/>
          <p:cNvSpPr>
            <a:spLocks noChangeShapeType="1"/>
          </p:cNvSpPr>
          <p:nvPr/>
        </p:nvSpPr>
        <p:spPr bwMode="auto">
          <a:xfrm flipV="1">
            <a:off x="5923384" y="4602088"/>
            <a:ext cx="381000" cy="304800"/>
          </a:xfrm>
          <a:prstGeom prst="line">
            <a:avLst/>
          </a:prstGeom>
          <a:noFill/>
          <a:ln w="9525">
            <a:solidFill>
              <a:srgbClr val="0066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2" name="Line 20"/>
          <p:cNvSpPr>
            <a:spLocks noChangeShapeType="1"/>
          </p:cNvSpPr>
          <p:nvPr/>
        </p:nvSpPr>
        <p:spPr bwMode="auto">
          <a:xfrm flipV="1">
            <a:off x="6913984" y="4906888"/>
            <a:ext cx="381000" cy="381000"/>
          </a:xfrm>
          <a:prstGeom prst="line">
            <a:avLst/>
          </a:prstGeom>
          <a:noFill/>
          <a:ln w="9525">
            <a:solidFill>
              <a:srgbClr val="0066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3" name="Line 21"/>
          <p:cNvSpPr>
            <a:spLocks noChangeShapeType="1"/>
          </p:cNvSpPr>
          <p:nvPr/>
        </p:nvSpPr>
        <p:spPr bwMode="auto">
          <a:xfrm>
            <a:off x="6532984" y="4678288"/>
            <a:ext cx="152400" cy="533400"/>
          </a:xfrm>
          <a:prstGeom prst="line">
            <a:avLst/>
          </a:prstGeom>
          <a:noFill/>
          <a:ln w="9525">
            <a:solidFill>
              <a:srgbClr val="0066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矩形 1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7" name="Rectangle 3"/>
          <p:cNvSpPr txBox="1">
            <a:spLocks noChangeArrowheads="1"/>
          </p:cNvSpPr>
          <p:nvPr/>
        </p:nvSpPr>
        <p:spPr bwMode="auto">
          <a:xfrm>
            <a:off x="179512" y="1269832"/>
            <a:ext cx="8555424" cy="70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5"/>
          <p:cNvSpPr>
            <a:spLocks noChangeArrowheads="1"/>
          </p:cNvSpPr>
          <p:nvPr/>
        </p:nvSpPr>
        <p:spPr bwMode="auto">
          <a:xfrm>
            <a:off x="2546638" y="1996858"/>
            <a:ext cx="6896100"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lnSpc>
                <a:spcPct val="120000"/>
              </a:lnSpc>
              <a:spcBef>
                <a:spcPct val="20000"/>
              </a:spcBef>
              <a:buFontTx/>
              <a:buChar char="•"/>
              <a:defRPr/>
            </a:pPr>
            <a:r>
              <a:rPr lang="en-US" sz="2800" b="1" dirty="0">
                <a:solidFill>
                  <a:srgbClr val="FF0000"/>
                </a:solidFill>
                <a:effectLst>
                  <a:outerShdw blurRad="38100" dist="38100" dir="2700000" algn="tl">
                    <a:srgbClr val="000000">
                      <a:alpha val="43137"/>
                    </a:srgbClr>
                  </a:outerShdw>
                </a:effectLst>
                <a:latin typeface="Palatino Linotype" panose="02040502050505030304" pitchFamily="18" charset="0"/>
              </a:rPr>
              <a:t>Clustering coefficient:</a:t>
            </a:r>
            <a:endParaRPr lang="en-GB" dirty="0"/>
          </a:p>
        </p:txBody>
      </p:sp>
      <p:grpSp>
        <p:nvGrpSpPr>
          <p:cNvPr id="17" name="组合 5"/>
          <p:cNvGrpSpPr/>
          <p:nvPr/>
        </p:nvGrpSpPr>
        <p:grpSpPr bwMode="auto">
          <a:xfrm>
            <a:off x="260638" y="2258002"/>
            <a:ext cx="2286000" cy="1743075"/>
            <a:chOff x="-37108" y="2268523"/>
            <a:chExt cx="2881313" cy="1827213"/>
          </a:xfrm>
        </p:grpSpPr>
        <p:pic>
          <p:nvPicPr>
            <p:cNvPr id="18" name="Picture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1680" y="3468673"/>
              <a:ext cx="792162"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117" y="2268523"/>
              <a:ext cx="6985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08" y="2627298"/>
              <a:ext cx="9366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Line 25"/>
            <p:cNvSpPr>
              <a:spLocks noChangeShapeType="1"/>
            </p:cNvSpPr>
            <p:nvPr/>
          </p:nvSpPr>
          <p:spPr bwMode="auto">
            <a:xfrm flipV="1">
              <a:off x="971352" y="2541440"/>
              <a:ext cx="648295" cy="266261"/>
            </a:xfrm>
            <a:prstGeom prst="line">
              <a:avLst/>
            </a:prstGeom>
            <a:noFill/>
            <a:ln w="76200">
              <a:solidFill>
                <a:schemeClr val="tx1">
                  <a:lumMod val="60000"/>
                  <a:lumOff val="40000"/>
                </a:schemeClr>
              </a:solidFill>
              <a:round/>
            </a:ln>
            <a:extLst>
              <a:ext uri="{909E8E84-426E-40DD-AFC4-6F175D3DCCD1}">
                <a14:hiddenFill xmlns:a14="http://schemas.microsoft.com/office/drawing/2010/main">
                  <a:noFill/>
                </a14:hiddenFill>
              </a:ext>
            </a:extLst>
          </p:spPr>
          <p:txBody>
            <a:bodyPr/>
            <a:lstStyle/>
            <a:p>
              <a:pPr algn="l">
                <a:defRPr/>
              </a:pPr>
              <a:endParaRPr lang="zh-CN" altLang="en-US"/>
            </a:p>
          </p:txBody>
        </p:sp>
        <p:sp>
          <p:nvSpPr>
            <p:cNvPr id="22" name="Line 26"/>
            <p:cNvSpPr>
              <a:spLocks noChangeShapeType="1"/>
            </p:cNvSpPr>
            <p:nvPr/>
          </p:nvSpPr>
          <p:spPr bwMode="auto">
            <a:xfrm>
              <a:off x="971352" y="3208755"/>
              <a:ext cx="576263" cy="319513"/>
            </a:xfrm>
            <a:prstGeom prst="line">
              <a:avLst/>
            </a:prstGeom>
            <a:noFill/>
            <a:ln w="76200">
              <a:solidFill>
                <a:schemeClr val="tx1">
                  <a:lumMod val="60000"/>
                  <a:lumOff val="40000"/>
                </a:schemeClr>
              </a:solidFill>
              <a:round/>
            </a:ln>
            <a:extLst>
              <a:ext uri="{909E8E84-426E-40DD-AFC4-6F175D3DCCD1}">
                <a14:hiddenFill xmlns:a14="http://schemas.microsoft.com/office/drawing/2010/main">
                  <a:noFill/>
                </a14:hiddenFill>
              </a:ext>
            </a:extLst>
          </p:spPr>
          <p:txBody>
            <a:bodyPr/>
            <a:lstStyle/>
            <a:p>
              <a:pPr algn="l">
                <a:defRPr/>
              </a:pPr>
              <a:endParaRPr lang="zh-CN" altLang="en-US"/>
            </a:p>
          </p:txBody>
        </p:sp>
        <p:sp>
          <p:nvSpPr>
            <p:cNvPr id="34" name="Line 28"/>
            <p:cNvSpPr>
              <a:spLocks noChangeShapeType="1"/>
            </p:cNvSpPr>
            <p:nvPr/>
          </p:nvSpPr>
          <p:spPr bwMode="auto">
            <a:xfrm>
              <a:off x="2052042" y="3088252"/>
              <a:ext cx="0" cy="320095"/>
            </a:xfrm>
            <a:prstGeom prst="line">
              <a:avLst/>
            </a:prstGeom>
            <a:noFill/>
            <a:ln w="76200">
              <a:solidFill>
                <a:schemeClr val="tx1"/>
              </a:solidFill>
              <a:prstDash val="sysDot"/>
              <a:round/>
            </a:ln>
            <a:extLst>
              <a:ext uri="{909E8E84-426E-40DD-AFC4-6F175D3DCCD1}">
                <a14:hiddenFill xmlns:a14="http://schemas.microsoft.com/office/drawing/2010/main">
                  <a:noFill/>
                </a14:hiddenFill>
              </a:ext>
            </a:extLst>
          </p:spPr>
          <p:txBody>
            <a:bodyPr/>
            <a:lstStyle/>
            <a:p>
              <a:pPr algn="l"/>
              <a:endParaRPr lang="zh-CN" altLang="en-US"/>
            </a:p>
          </p:txBody>
        </p:sp>
        <p:sp>
          <p:nvSpPr>
            <p:cNvPr id="35" name="Rectangle 29"/>
            <p:cNvSpPr>
              <a:spLocks noChangeArrowheads="1"/>
            </p:cNvSpPr>
            <p:nvPr/>
          </p:nvSpPr>
          <p:spPr bwMode="auto">
            <a:xfrm>
              <a:off x="2123480" y="3041409"/>
              <a:ext cx="720725" cy="4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217" tIns="45609" rIns="91217" bIns="45609"/>
            <a:lstStyle/>
            <a:p>
              <a:pPr marL="228600" indent="-228600" algn="l">
                <a:buClr>
                  <a:schemeClr val="accent2"/>
                </a:buClr>
                <a:buFont typeface="Wingdings" panose="05000000000000000000" pitchFamily="2" charset="2"/>
                <a:buNone/>
              </a:pPr>
              <a:r>
                <a:rPr lang="en-US" altLang="zh-CN" sz="3200">
                  <a:solidFill>
                    <a:schemeClr val="bg1"/>
                  </a:solidFill>
                </a:rPr>
                <a:t>?</a:t>
              </a:r>
              <a:endParaRPr lang="en-US" altLang="zh-CN" sz="3200">
                <a:solidFill>
                  <a:schemeClr val="bg1"/>
                </a:solidFill>
              </a:endParaRPr>
            </a:p>
          </p:txBody>
        </p:sp>
      </p:grpSp>
      <p:graphicFrame>
        <p:nvGraphicFramePr>
          <p:cNvPr id="36" name="对象 17"/>
          <p:cNvGraphicFramePr>
            <a:graphicFrameLocks noChangeAspect="1"/>
          </p:cNvGraphicFramePr>
          <p:nvPr/>
        </p:nvGraphicFramePr>
        <p:xfrm>
          <a:off x="3131840" y="2684789"/>
          <a:ext cx="4761755" cy="643894"/>
        </p:xfrm>
        <a:graphic>
          <a:graphicData uri="http://schemas.openxmlformats.org/presentationml/2006/ole">
            <mc:AlternateContent xmlns:mc="http://schemas.openxmlformats.org/markup-compatibility/2006">
              <mc:Choice xmlns:v="urn:schemas-microsoft-com:vml" Requires="v">
                <p:oleObj spid="_x0000_s35428" name="Formula" r:id="rId4" imgW="2823210" imgH="345440" progId="Equation.Ribbit">
                  <p:embed/>
                </p:oleObj>
              </mc:Choice>
              <mc:Fallback>
                <p:oleObj name="Formula" r:id="rId4" imgW="2823210" imgH="345440" progId="Equation.Ribbit">
                  <p:embed/>
                  <p:pic>
                    <p:nvPicPr>
                      <p:cNvPr id="0" name="图片 349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2684789"/>
                        <a:ext cx="4761755" cy="643894"/>
                      </a:xfrm>
                      <a:prstGeom prst="rect">
                        <a:avLst/>
                      </a:prstGeom>
                      <a:noFill/>
                      <a:ln>
                        <a:noFill/>
                      </a:ln>
                    </p:spPr>
                  </p:pic>
                </p:oleObj>
              </mc:Fallback>
            </mc:AlternateContent>
          </a:graphicData>
        </a:graphic>
      </p:graphicFrame>
      <p:graphicFrame>
        <p:nvGraphicFramePr>
          <p:cNvPr id="37" name="对象 19"/>
          <p:cNvGraphicFramePr>
            <a:graphicFrameLocks noChangeAspect="1"/>
          </p:cNvGraphicFramePr>
          <p:nvPr/>
        </p:nvGraphicFramePr>
        <p:xfrm>
          <a:off x="3039269" y="3422424"/>
          <a:ext cx="4845100" cy="582268"/>
        </p:xfrm>
        <a:graphic>
          <a:graphicData uri="http://schemas.openxmlformats.org/presentationml/2006/ole">
            <mc:AlternateContent xmlns:mc="http://schemas.openxmlformats.org/markup-compatibility/2006">
              <mc:Choice xmlns:v="urn:schemas-microsoft-com:vml" Requires="v">
                <p:oleObj spid="_x0000_s35429" name="Formula" r:id="rId6" imgW="2943860" imgH="345440" progId="Equation.Ribbit">
                  <p:embed/>
                </p:oleObj>
              </mc:Choice>
              <mc:Fallback>
                <p:oleObj name="Formula" r:id="rId6" imgW="2943860" imgH="345440" progId="Equation.Ribbit">
                  <p:embed/>
                  <p:pic>
                    <p:nvPicPr>
                      <p:cNvPr id="0" name="图片 349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9269" y="3422424"/>
                        <a:ext cx="4845100" cy="582268"/>
                      </a:xfrm>
                      <a:prstGeom prst="rect">
                        <a:avLst/>
                      </a:prstGeom>
                      <a:noFill/>
                      <a:ln>
                        <a:noFill/>
                      </a:ln>
                    </p:spPr>
                  </p:pic>
                </p:oleObj>
              </mc:Fallback>
            </mc:AlternateContent>
          </a:graphicData>
        </a:graphic>
      </p:graphicFrame>
      <p:graphicFrame>
        <p:nvGraphicFramePr>
          <p:cNvPr id="38" name="对象 21"/>
          <p:cNvGraphicFramePr>
            <a:graphicFrameLocks noChangeAspect="1"/>
          </p:cNvGraphicFramePr>
          <p:nvPr/>
        </p:nvGraphicFramePr>
        <p:xfrm>
          <a:off x="3128963" y="4149725"/>
          <a:ext cx="1298575" cy="633413"/>
        </p:xfrm>
        <a:graphic>
          <a:graphicData uri="http://schemas.openxmlformats.org/presentationml/2006/ole">
            <mc:AlternateContent xmlns:mc="http://schemas.openxmlformats.org/markup-compatibility/2006">
              <mc:Choice xmlns:v="urn:schemas-microsoft-com:vml" Requires="v">
                <p:oleObj spid="_x0000_s35430" name="Formula" r:id="rId8" imgW="812800" imgH="386080" progId="Equation.Ribbit">
                  <p:embed/>
                </p:oleObj>
              </mc:Choice>
              <mc:Fallback>
                <p:oleObj name="Formula" r:id="rId8" imgW="812800" imgH="386080" progId="Equation.Ribbit">
                  <p:embed/>
                  <p:pic>
                    <p:nvPicPr>
                      <p:cNvPr id="0" name="图片 349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8963" y="4149725"/>
                        <a:ext cx="1298575"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 name="对象 22"/>
          <p:cNvGraphicFramePr>
            <a:graphicFrameLocks noChangeAspect="1"/>
          </p:cNvGraphicFramePr>
          <p:nvPr/>
        </p:nvGraphicFramePr>
        <p:xfrm>
          <a:off x="609600" y="4149725"/>
          <a:ext cx="1676400" cy="596900"/>
        </p:xfrm>
        <a:graphic>
          <a:graphicData uri="http://schemas.openxmlformats.org/presentationml/2006/ole">
            <mc:AlternateContent xmlns:mc="http://schemas.openxmlformats.org/markup-compatibility/2006">
              <mc:Choice xmlns:v="urn:schemas-microsoft-com:vml" Requires="v">
                <p:oleObj spid="_x0000_s35431" name="Formula" r:id="rId10" imgW="567690" imgH="170180" progId="Equation.Ribbit">
                  <p:embed/>
                </p:oleObj>
              </mc:Choice>
              <mc:Fallback>
                <p:oleObj name="Formula" r:id="rId10" imgW="567690" imgH="170180" progId="Equation.Ribbit">
                  <p:embed/>
                  <p:pic>
                    <p:nvPicPr>
                      <p:cNvPr id="0" name="图片 349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149725"/>
                        <a:ext cx="1676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Rectangle 3"/>
          <p:cNvSpPr txBox="1">
            <a:spLocks noChangeArrowheads="1"/>
          </p:cNvSpPr>
          <p:nvPr/>
        </p:nvSpPr>
        <p:spPr bwMode="auto">
          <a:xfrm>
            <a:off x="630238" y="4827588"/>
            <a:ext cx="6694487"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a:spcBef>
                <a:spcPct val="20000"/>
              </a:spcBef>
              <a:buFontTx/>
              <a:buChar char="•"/>
            </a:pPr>
            <a:r>
              <a:rPr lang="en-US" altLang="zh-CN" sz="2000" dirty="0" err="1">
                <a:latin typeface="Comic Sans MS" panose="030F0702030302020204" pitchFamily="66" charset="0"/>
              </a:rPr>
              <a:t>Ca</a:t>
            </a:r>
            <a:r>
              <a:rPr lang="en-US" altLang="zh-CN" sz="2000" dirty="0">
                <a:latin typeface="Comic Sans MS" panose="030F0702030302020204" pitchFamily="66" charset="0"/>
              </a:rPr>
              <a:t>=1 (because b and c connected)</a:t>
            </a:r>
            <a:endParaRPr lang="en-US" altLang="zh-CN" sz="2000" dirty="0">
              <a:latin typeface="Comic Sans MS" panose="030F0702030302020204" pitchFamily="66" charset="0"/>
            </a:endParaRPr>
          </a:p>
          <a:p>
            <a:pPr algn="l">
              <a:spcBef>
                <a:spcPct val="20000"/>
              </a:spcBef>
              <a:buFontTx/>
              <a:buChar char="•"/>
            </a:pPr>
            <a:r>
              <a:rPr lang="en-US" altLang="zh-CN" sz="2000" dirty="0" err="1">
                <a:latin typeface="Comic Sans MS" panose="030F0702030302020204" pitchFamily="66" charset="0"/>
              </a:rPr>
              <a:t>Cb</a:t>
            </a:r>
            <a:r>
              <a:rPr lang="en-US" altLang="zh-CN" sz="2000" dirty="0">
                <a:latin typeface="Comic Sans MS" panose="030F0702030302020204" pitchFamily="66" charset="0"/>
              </a:rPr>
              <a:t>=1 (because a and b connected)</a:t>
            </a:r>
            <a:endParaRPr lang="en-US" altLang="zh-CN" sz="2000" dirty="0">
              <a:latin typeface="Comic Sans MS" panose="030F0702030302020204" pitchFamily="66" charset="0"/>
            </a:endParaRPr>
          </a:p>
          <a:p>
            <a:pPr algn="l">
              <a:spcBef>
                <a:spcPct val="20000"/>
              </a:spcBef>
              <a:buFontTx/>
              <a:buChar char="•"/>
            </a:pPr>
            <a:r>
              <a:rPr lang="en-US" altLang="zh-CN" sz="2000" dirty="0">
                <a:latin typeface="Comic Sans MS" panose="030F0702030302020204" pitchFamily="66" charset="0"/>
              </a:rPr>
              <a:t>Cc=1/3 (a-b, not b-d, not a-d)</a:t>
            </a:r>
            <a:endParaRPr lang="en-US" altLang="zh-CN" sz="2000" dirty="0">
              <a:latin typeface="Comic Sans MS" panose="030F0702030302020204" pitchFamily="66" charset="0"/>
            </a:endParaRPr>
          </a:p>
          <a:p>
            <a:pPr algn="l">
              <a:spcBef>
                <a:spcPct val="20000"/>
              </a:spcBef>
              <a:buFontTx/>
              <a:buChar char="•"/>
            </a:pPr>
            <a:r>
              <a:rPr lang="en-US" altLang="zh-CN" sz="2000" dirty="0">
                <a:latin typeface="Comic Sans MS" panose="030F0702030302020204" pitchFamily="66" charset="0"/>
              </a:rPr>
              <a:t>Cd=0</a:t>
            </a:r>
            <a:endParaRPr lang="en-US" altLang="zh-CN" sz="2000" dirty="0">
              <a:latin typeface="Comic Sans MS" panose="030F0702030302020204" pitchFamily="66" charset="0"/>
            </a:endParaRPr>
          </a:p>
          <a:p>
            <a:pPr algn="l">
              <a:spcBef>
                <a:spcPct val="20000"/>
              </a:spcBef>
              <a:buFontTx/>
              <a:buChar char="•"/>
            </a:pPr>
            <a:r>
              <a:rPr lang="en-US" altLang="zh-CN" sz="2000" dirty="0">
                <a:latin typeface="Comic Sans MS" panose="030F0702030302020204" pitchFamily="66" charset="0"/>
              </a:rPr>
              <a:t>Average clustering = (7/3) /4=7/12</a:t>
            </a:r>
            <a:endParaRPr lang="en-US" altLang="zh-CN" sz="2000" dirty="0">
              <a:latin typeface="Comic Sans MS" panose="030F0702030302020204" pitchFamily="66" charset="0"/>
            </a:endParaRPr>
          </a:p>
        </p:txBody>
      </p:sp>
      <p:sp>
        <p:nvSpPr>
          <p:cNvPr id="41" name="Oval 5"/>
          <p:cNvSpPr>
            <a:spLocks noChangeArrowheads="1"/>
          </p:cNvSpPr>
          <p:nvPr/>
        </p:nvSpPr>
        <p:spPr bwMode="auto">
          <a:xfrm>
            <a:off x="6737350" y="5957888"/>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CN">
                <a:latin typeface="Comic Sans MS" panose="030F0702030302020204" pitchFamily="66" charset="0"/>
              </a:rPr>
              <a:t>c</a:t>
            </a:r>
            <a:endParaRPr lang="en-US" altLang="zh-CN">
              <a:latin typeface="Comic Sans MS" panose="030F0702030302020204" pitchFamily="66" charset="0"/>
            </a:endParaRPr>
          </a:p>
        </p:txBody>
      </p:sp>
      <p:sp>
        <p:nvSpPr>
          <p:cNvPr id="42" name="Oval 6"/>
          <p:cNvSpPr>
            <a:spLocks noChangeArrowheads="1"/>
          </p:cNvSpPr>
          <p:nvPr/>
        </p:nvSpPr>
        <p:spPr bwMode="auto">
          <a:xfrm>
            <a:off x="5975350" y="5729288"/>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CN">
                <a:latin typeface="Comic Sans MS" panose="030F0702030302020204" pitchFamily="66" charset="0"/>
              </a:rPr>
              <a:t>b</a:t>
            </a:r>
            <a:endParaRPr lang="en-US" altLang="zh-CN">
              <a:latin typeface="Comic Sans MS" panose="030F0702030302020204" pitchFamily="66" charset="0"/>
            </a:endParaRPr>
          </a:p>
        </p:txBody>
      </p:sp>
      <p:sp>
        <p:nvSpPr>
          <p:cNvPr id="43" name="Oval 7"/>
          <p:cNvSpPr>
            <a:spLocks noChangeArrowheads="1"/>
          </p:cNvSpPr>
          <p:nvPr/>
        </p:nvSpPr>
        <p:spPr bwMode="auto">
          <a:xfrm>
            <a:off x="6584950" y="4967288"/>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CN">
                <a:latin typeface="Comic Sans MS" panose="030F0702030302020204" pitchFamily="66" charset="0"/>
              </a:rPr>
              <a:t>a</a:t>
            </a:r>
            <a:endParaRPr lang="en-US" altLang="zh-CN">
              <a:latin typeface="Comic Sans MS" panose="030F0702030302020204" pitchFamily="66" charset="0"/>
            </a:endParaRPr>
          </a:p>
        </p:txBody>
      </p:sp>
      <p:sp>
        <p:nvSpPr>
          <p:cNvPr id="44" name="Oval 8"/>
          <p:cNvSpPr>
            <a:spLocks noChangeArrowheads="1"/>
          </p:cNvSpPr>
          <p:nvPr/>
        </p:nvSpPr>
        <p:spPr bwMode="auto">
          <a:xfrm>
            <a:off x="7270750" y="5348288"/>
            <a:ext cx="4572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CN">
                <a:latin typeface="Comic Sans MS" panose="030F0702030302020204" pitchFamily="66" charset="0"/>
              </a:rPr>
              <a:t>d</a:t>
            </a:r>
            <a:endParaRPr lang="en-US" altLang="zh-CN">
              <a:latin typeface="Comic Sans MS" panose="030F0702030302020204" pitchFamily="66" charset="0"/>
            </a:endParaRPr>
          </a:p>
        </p:txBody>
      </p:sp>
      <p:sp>
        <p:nvSpPr>
          <p:cNvPr id="45" name="Line 11"/>
          <p:cNvSpPr>
            <a:spLocks noChangeShapeType="1"/>
          </p:cNvSpPr>
          <p:nvPr/>
        </p:nvSpPr>
        <p:spPr bwMode="auto">
          <a:xfrm>
            <a:off x="6432550" y="6034088"/>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46" name="Line 13"/>
          <p:cNvSpPr>
            <a:spLocks noChangeShapeType="1"/>
          </p:cNvSpPr>
          <p:nvPr/>
        </p:nvSpPr>
        <p:spPr bwMode="auto">
          <a:xfrm flipV="1">
            <a:off x="6356350" y="5348288"/>
            <a:ext cx="3048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47" name="Line 14"/>
          <p:cNvSpPr>
            <a:spLocks noChangeShapeType="1"/>
          </p:cNvSpPr>
          <p:nvPr/>
        </p:nvSpPr>
        <p:spPr bwMode="auto">
          <a:xfrm>
            <a:off x="6813550" y="5424488"/>
            <a:ext cx="762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48" name="Line 16"/>
          <p:cNvSpPr>
            <a:spLocks noChangeShapeType="1"/>
          </p:cNvSpPr>
          <p:nvPr/>
        </p:nvSpPr>
        <p:spPr bwMode="auto">
          <a:xfrm flipV="1">
            <a:off x="7118350" y="5729288"/>
            <a:ext cx="228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27" name="矩形 2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28"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9" name="Picture 4" descr="cgrap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9076" y="2708920"/>
            <a:ext cx="4227140" cy="358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descr="ERDOS-~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291" y="2708920"/>
            <a:ext cx="1426034" cy="381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txBox="1">
            <a:spLocks noChangeArrowheads="1"/>
          </p:cNvSpPr>
          <p:nvPr/>
        </p:nvSpPr>
        <p:spPr>
          <a:xfrm>
            <a:off x="1972948" y="2139369"/>
            <a:ext cx="4968552" cy="503237"/>
          </a:xfrm>
          <a:prstGeom prst="rect">
            <a:avLst/>
          </a:prstGeom>
        </p:spPr>
        <p:txBody>
          <a:bodyPr/>
          <a:lst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a:defRPr/>
            </a:pPr>
            <a:r>
              <a:rPr lang="zh-CN" altLang="en-US" sz="2800" dirty="0">
                <a:solidFill>
                  <a:srgbClr val="FF0000"/>
                </a:solidFill>
                <a:latin typeface="Comic Sans MS" panose="030F0702030302020204" pitchFamily="66" charset="0"/>
              </a:rPr>
              <a:t>厄尔多斯数</a:t>
            </a:r>
            <a:r>
              <a:rPr lang="en-US" altLang="zh-CN" sz="2800" dirty="0">
                <a:solidFill>
                  <a:srgbClr val="FF0000"/>
                </a:solidFill>
                <a:latin typeface="Comic Sans MS" panose="030F0702030302020204" pitchFamily="66" charset="0"/>
              </a:rPr>
              <a:t>(</a:t>
            </a:r>
            <a:r>
              <a:rPr lang="es-ES_tradnl" sz="2800" dirty="0">
                <a:solidFill>
                  <a:srgbClr val="FF0000"/>
                </a:solidFill>
                <a:latin typeface="Comic Sans MS" panose="030F0702030302020204" pitchFamily="66" charset="0"/>
              </a:rPr>
              <a:t>Erdös number)</a:t>
            </a:r>
            <a:endParaRPr lang="es-ES_tradnl" sz="2800" dirty="0">
              <a:solidFill>
                <a:srgbClr val="FF0000"/>
              </a:solidFill>
            </a:endParaRPr>
          </a:p>
        </p:txBody>
      </p:sp>
      <p:sp>
        <p:nvSpPr>
          <p:cNvPr id="12" name="矩形 11"/>
          <p:cNvSpPr/>
          <p:nvPr/>
        </p:nvSpPr>
        <p:spPr>
          <a:xfrm>
            <a:off x="6661561" y="2286602"/>
            <a:ext cx="1941557" cy="1282787"/>
          </a:xfrm>
          <a:prstGeom prst="rect">
            <a:avLst/>
          </a:prstGeom>
        </p:spPr>
        <p:txBody>
          <a:bodyPr wrap="none">
            <a:spAutoFit/>
          </a:bodyPr>
          <a:lstStyle/>
          <a:p>
            <a:pPr>
              <a:lnSpc>
                <a:spcPct val="150000"/>
              </a:lnSpc>
              <a:defRPr/>
            </a:pPr>
            <a:r>
              <a:rPr lang="es-ES_tradnl" altLang="zh-CN" b="1" dirty="0">
                <a:latin typeface="Times New Roman" panose="02020603050405020304" pitchFamily="18" charset="0"/>
                <a:cs typeface="Times New Roman" panose="02020603050405020304" pitchFamily="18" charset="0"/>
              </a:rPr>
              <a:t>Albert Einstein</a:t>
            </a:r>
            <a:r>
              <a:rPr lang="en-US" altLang="zh-CN" b="1" dirty="0">
                <a:latin typeface="Times New Roman" panose="02020603050405020304" pitchFamily="18" charset="0"/>
                <a:cs typeface="Times New Roman" panose="02020603050405020304" pitchFamily="18" charset="0"/>
              </a:rPr>
              <a:t>: </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endPar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defRPr/>
            </a:pPr>
            <a:r>
              <a:rPr lang="zh-CN" altLang="zh-CN" b="1" dirty="0">
                <a:latin typeface="Times New Roman" panose="02020603050405020304" pitchFamily="18" charset="0"/>
                <a:cs typeface="Times New Roman" panose="02020603050405020304" pitchFamily="18" charset="0"/>
              </a:rPr>
              <a:t>Bill Gates</a:t>
            </a:r>
            <a:r>
              <a:rPr lang="en-US" altLang="zh-CN" b="1" dirty="0">
                <a:latin typeface="Times New Roman" panose="02020603050405020304" pitchFamily="18" charset="0"/>
                <a:cs typeface="Times New Roman" panose="02020603050405020304" pitchFamily="18" charset="0"/>
              </a:rPr>
              <a:t>:  </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endParaRPr lang="es-ES_tradnl"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defRPr/>
            </a:pPr>
            <a:endParaRPr lang="zh-CN" altLang="en-US" b="1" dirty="0">
              <a:solidFill>
                <a:srgbClr val="FF0000"/>
              </a:solidFill>
              <a:effectLst>
                <a:outerShdw blurRad="38100" dist="38100" dir="2700000" algn="tl">
                  <a:srgbClr val="000000">
                    <a:alpha val="43137"/>
                  </a:srgbClr>
                </a:outerShdw>
              </a:effectLst>
            </a:endParaRPr>
          </a:p>
        </p:txBody>
      </p:sp>
      <p:sp>
        <p:nvSpPr>
          <p:cNvPr id="13" name="Rectangle 4"/>
          <p:cNvSpPr>
            <a:spLocks noChangeArrowheads="1"/>
          </p:cNvSpPr>
          <p:nvPr/>
        </p:nvSpPr>
        <p:spPr bwMode="auto">
          <a:xfrm>
            <a:off x="5813008" y="3356992"/>
            <a:ext cx="3861852" cy="267765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s-ES" altLang="zh-CN" sz="1200" dirty="0">
                <a:latin typeface="Arial Unicode MS" panose="020B0604020202020204" charset="-122"/>
                <a:ea typeface="Arial Unicode MS" panose="020B0604020202020204" charset="-122"/>
                <a:cs typeface="Arial Unicode MS" panose="020B0604020202020204" charset="-122"/>
              </a:rPr>
              <a:t>Erdös number 0 --- 1 person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1 --- 504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2 --- 6593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3 --- 33605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4 --- 83642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5 --- 87760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6 --- 40014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7 --- 11591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8 --- 3146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9 --- 819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10 --- 244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11 --- 68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12 --- 23 people </a:t>
            </a:r>
            <a:endParaRPr lang="es-ES" altLang="zh-CN" sz="1200" dirty="0">
              <a:latin typeface="Arial Unicode MS" panose="020B0604020202020204" charset="-122"/>
              <a:ea typeface="Arial Unicode MS" panose="020B0604020202020204" charset="-122"/>
              <a:cs typeface="Arial Unicode MS" panose="020B0604020202020204" charset="-122"/>
            </a:endParaRPr>
          </a:p>
          <a:p>
            <a:r>
              <a:rPr lang="es-ES" altLang="zh-CN" sz="1200" dirty="0">
                <a:latin typeface="Arial Unicode MS" panose="020B0604020202020204" charset="-122"/>
                <a:ea typeface="Arial Unicode MS" panose="020B0604020202020204" charset="-122"/>
                <a:cs typeface="Arial Unicode MS" panose="020B0604020202020204" charset="-122"/>
              </a:rPr>
              <a:t>Erdös number 13 --- 5 people</a:t>
            </a:r>
            <a:r>
              <a:rPr lang="es-ES" altLang="zh-CN" sz="1200" dirty="0"/>
              <a:t> </a:t>
            </a:r>
            <a:endParaRPr lang="es-ES" altLang="zh-CN" sz="1200" dirty="0"/>
          </a:p>
        </p:txBody>
      </p:sp>
      <p:sp>
        <p:nvSpPr>
          <p:cNvPr id="14" name="矩形 13"/>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5" name="Rectangle 3"/>
          <p:cNvSpPr txBox="1">
            <a:spLocks noChangeArrowheads="1"/>
          </p:cNvSpPr>
          <p:nvPr/>
        </p:nvSpPr>
        <p:spPr bwMode="auto">
          <a:xfrm>
            <a:off x="179512" y="1269832"/>
            <a:ext cx="8555424" cy="658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528" y="3140968"/>
            <a:ext cx="1395413"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图片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5303" y="2996952"/>
            <a:ext cx="2929388" cy="28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164" y="2996952"/>
            <a:ext cx="3115875" cy="2844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p:cNvSpPr txBox="1">
            <a:spLocks noChangeArrowheads="1"/>
          </p:cNvSpPr>
          <p:nvPr/>
        </p:nvSpPr>
        <p:spPr bwMode="auto">
          <a:xfrm>
            <a:off x="1718941" y="1956321"/>
            <a:ext cx="6197600" cy="1050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5pPr>
            <a:lvl6pPr marL="4572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6pPr>
            <a:lvl7pPr marL="9144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7pPr>
            <a:lvl8pPr marL="13716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8pPr>
            <a:lvl9pPr marL="18288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9pPr>
          </a:lstStyle>
          <a:p>
            <a:pPr algn="ctr">
              <a:defRPr/>
            </a:pPr>
            <a:r>
              <a:rPr lang="zh-CN" altLang="en-US" sz="3200" dirty="0">
                <a:solidFill>
                  <a:srgbClr val="FF0000"/>
                </a:solidFill>
                <a:latin typeface="Comic Sans MS" panose="030F0702030302020204" pitchFamily="66" charset="0"/>
              </a:rPr>
              <a:t>凯文</a:t>
            </a:r>
            <a:r>
              <a:rPr lang="en-US" altLang="zh-CN" sz="3200" dirty="0">
                <a:solidFill>
                  <a:srgbClr val="FF0000"/>
                </a:solidFill>
                <a:latin typeface="Comic Sans MS" panose="030F0702030302020204" pitchFamily="66" charset="0"/>
              </a:rPr>
              <a:t>·</a:t>
            </a:r>
            <a:r>
              <a:rPr lang="zh-CN" altLang="en-US" sz="3200" dirty="0">
                <a:solidFill>
                  <a:srgbClr val="FF0000"/>
                </a:solidFill>
                <a:latin typeface="Comic Sans MS" panose="030F0702030302020204" pitchFamily="66" charset="0"/>
              </a:rPr>
              <a:t>培根游戏</a:t>
            </a:r>
            <a:endParaRPr lang="en-US" altLang="zh-CN" sz="3200" dirty="0">
              <a:solidFill>
                <a:srgbClr val="FF0000"/>
              </a:solidFill>
              <a:latin typeface="Comic Sans MS" panose="030F0702030302020204" pitchFamily="66" charset="0"/>
            </a:endParaRPr>
          </a:p>
          <a:p>
            <a:pPr algn="ctr">
              <a:defRPr/>
            </a:pPr>
            <a:r>
              <a:rPr lang="en-US" altLang="zh-CN" sz="3200" dirty="0">
                <a:solidFill>
                  <a:srgbClr val="FF0000"/>
                </a:solidFill>
                <a:latin typeface="Comic Sans MS" panose="030F0702030302020204" pitchFamily="66" charset="0"/>
              </a:rPr>
              <a:t>(</a:t>
            </a:r>
            <a:r>
              <a:rPr lang="es-ES_tradnl" sz="3200" dirty="0">
                <a:solidFill>
                  <a:srgbClr val="FF0000"/>
                </a:solidFill>
                <a:latin typeface="Comic Sans MS" panose="030F0702030302020204" pitchFamily="66" charset="0"/>
              </a:rPr>
              <a:t>The Kevin Bacon Game)</a:t>
            </a:r>
            <a:endParaRPr lang="es-ES_tradnl" sz="3200" dirty="0">
              <a:solidFill>
                <a:srgbClr val="FF0000"/>
              </a:solidFill>
            </a:endParaRPr>
          </a:p>
        </p:txBody>
      </p:sp>
      <p:sp>
        <p:nvSpPr>
          <p:cNvPr id="17" name="矩形 16"/>
          <p:cNvSpPr/>
          <p:nvPr/>
        </p:nvSpPr>
        <p:spPr>
          <a:xfrm>
            <a:off x="2973040" y="6093296"/>
            <a:ext cx="3419475" cy="369887"/>
          </a:xfrm>
          <a:prstGeom prst="rect">
            <a:avLst/>
          </a:prstGeom>
        </p:spPr>
        <p:txBody>
          <a:bodyPr wrap="none">
            <a:spAutoFit/>
          </a:bodyPr>
          <a:lstStyle/>
          <a:p>
            <a:pPr>
              <a:defRPr/>
            </a:pPr>
            <a:r>
              <a:rPr lang="en-US" altLang="zh-CN" b="1" dirty="0" err="1">
                <a:solidFill>
                  <a:srgbClr val="FF0000"/>
                </a:solidFill>
                <a:effectLst>
                  <a:outerShdw blurRad="38100" dist="38100" dir="2700000" algn="tl">
                    <a:srgbClr val="000000">
                      <a:alpha val="43137"/>
                    </a:srgbClr>
                  </a:outerShdw>
                </a:effectLst>
                <a:latin typeface="Comic Sans MS" panose="030F0702030302020204" pitchFamily="66" charset="0"/>
              </a:rPr>
              <a:t>Erdös’s</a:t>
            </a:r>
            <a:r>
              <a:rPr lang="en-US" altLang="zh-CN" b="1"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es-ES_tradnl" altLang="zh-CN" b="1" dirty="0">
                <a:solidFill>
                  <a:srgbClr val="FF0000"/>
                </a:solidFill>
                <a:effectLst>
                  <a:outerShdw blurRad="38100" dist="38100" dir="2700000" algn="tl">
                    <a:srgbClr val="000000">
                      <a:alpha val="43137"/>
                    </a:srgbClr>
                  </a:outerShdw>
                </a:effectLst>
                <a:latin typeface="Comic Sans MS" panose="030F0702030302020204" pitchFamily="66" charset="0"/>
              </a:rPr>
              <a:t>Bacon numuber is 4</a:t>
            </a:r>
            <a:r>
              <a:rPr lang="en-US" altLang="zh-CN" b="1" dirty="0">
                <a:solidFill>
                  <a:srgbClr val="FF0000"/>
                </a:solidFill>
                <a:effectLst>
                  <a:outerShdw blurRad="38100" dist="38100" dir="2700000" algn="tl">
                    <a:srgbClr val="000000">
                      <a:alpha val="43137"/>
                    </a:srgbClr>
                  </a:outerShdw>
                </a:effectLst>
              </a:rPr>
              <a:t> </a:t>
            </a:r>
            <a:endParaRPr lang="zh-CN" altLang="en-US" b="1" dirty="0">
              <a:solidFill>
                <a:srgbClr val="FF0000"/>
              </a:solidFill>
              <a:effectLst>
                <a:outerShdw blurRad="38100" dist="38100" dir="2700000" algn="tl">
                  <a:srgbClr val="000000">
                    <a:alpha val="43137"/>
                  </a:srgbClr>
                </a:outerShdw>
              </a:effectLst>
            </a:endParaRPr>
          </a:p>
        </p:txBody>
      </p:sp>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1" name="Rectangle 3"/>
          <p:cNvSpPr txBox="1">
            <a:spLocks noChangeArrowheads="1"/>
          </p:cNvSpPr>
          <p:nvPr/>
        </p:nvSpPr>
        <p:spPr bwMode="auto">
          <a:xfrm>
            <a:off x="179512" y="1215008"/>
            <a:ext cx="8555424" cy="629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10" name="Object 6"/>
          <p:cNvGraphicFramePr>
            <a:graphicFrameLocks noChangeAspect="1"/>
          </p:cNvGraphicFramePr>
          <p:nvPr/>
        </p:nvGraphicFramePr>
        <p:xfrm>
          <a:off x="971550" y="2271713"/>
          <a:ext cx="6840810" cy="4586287"/>
        </p:xfrm>
        <a:graphic>
          <a:graphicData uri="http://schemas.openxmlformats.org/presentationml/2006/ole">
            <mc:AlternateContent xmlns:mc="http://schemas.openxmlformats.org/markup-compatibility/2006">
              <mc:Choice xmlns:v="urn:schemas-microsoft-com:vml" Requires="v">
                <p:oleObj spid="_x0000_s35996" name="Document" r:id="rId1" imgW="6426835" imgH="4651375" progId="Word.Document.8">
                  <p:embed/>
                </p:oleObj>
              </mc:Choice>
              <mc:Fallback>
                <p:oleObj name="Document" r:id="rId1" imgW="6426835" imgH="4651375" progId="Word.Document.8">
                  <p:embed/>
                  <p:pic>
                    <p:nvPicPr>
                      <p:cNvPr id="0" name="图片 35871"/>
                      <p:cNvPicPr>
                        <a:picLocks noChangeAspect="1" noChangeArrowheads="1"/>
                      </p:cNvPicPr>
                      <p:nvPr/>
                    </p:nvPicPr>
                    <p:blipFill>
                      <a:blip r:embed="rId2"/>
                      <a:srcRect/>
                      <a:stretch>
                        <a:fillRect/>
                      </a:stretch>
                    </p:blipFill>
                    <p:spPr bwMode="auto">
                      <a:xfrm>
                        <a:off x="971550" y="2271713"/>
                        <a:ext cx="6840810" cy="4586287"/>
                      </a:xfrm>
                      <a:prstGeom prst="rect">
                        <a:avLst/>
                      </a:prstGeom>
                      <a:noFill/>
                      <a:ln>
                        <a:noFill/>
                      </a:ln>
                    </p:spPr>
                  </p:pic>
                </p:oleObj>
              </mc:Fallback>
            </mc:AlternateContent>
          </a:graphicData>
        </a:graphic>
      </p:graphicFrame>
      <p:sp>
        <p:nvSpPr>
          <p:cNvPr id="7" name="矩形 6"/>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 name="Rectangle 3"/>
          <p:cNvSpPr txBox="1">
            <a:spLocks noChangeArrowheads="1"/>
          </p:cNvSpPr>
          <p:nvPr/>
        </p:nvSpPr>
        <p:spPr bwMode="auto">
          <a:xfrm>
            <a:off x="428208" y="2276873"/>
            <a:ext cx="8464272"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spcBef>
                <a:spcPct val="40000"/>
              </a:spcBef>
              <a:buFont typeface="Wingdings" panose="05000000000000000000" pitchFamily="2" charset="2"/>
              <a:buChar char="ü"/>
            </a:pPr>
            <a:r>
              <a:rPr lang="en-US" altLang="zh-CN" sz="2400" dirty="0">
                <a:latin typeface="Times New Roman" panose="02020603050405020304" pitchFamily="18" charset="0"/>
              </a:rPr>
              <a:t>“Any two randomly chosen Web pages are, on average, 19 clicks away from each other.”  This was taken as a measure of the “diameter” of the Web…</a:t>
            </a:r>
            <a:endParaRPr lang="en-US" altLang="zh-CN" sz="2400" dirty="0">
              <a:latin typeface="Times New Roman" panose="02020603050405020304" pitchFamily="18" charset="0"/>
            </a:endParaRPr>
          </a:p>
          <a:p>
            <a:pPr lvl="1" eaLnBrk="1" hangingPunct="1">
              <a:spcBef>
                <a:spcPct val="40000"/>
              </a:spcBef>
            </a:pPr>
            <a:r>
              <a:rPr lang="en-US" altLang="zh-CN" sz="2400" dirty="0">
                <a:solidFill>
                  <a:srgbClr val="1557AE"/>
                </a:solidFill>
                <a:latin typeface="Times New Roman" panose="02020603050405020304" pitchFamily="18" charset="0"/>
              </a:rPr>
              <a:t>Average distance (d) in simulated web:</a:t>
            </a:r>
            <a:endParaRPr lang="en-US" altLang="zh-CN" sz="2400" dirty="0">
              <a:solidFill>
                <a:srgbClr val="1557AE"/>
              </a:solidFill>
              <a:latin typeface="Times New Roman" panose="02020603050405020304" pitchFamily="18" charset="0"/>
            </a:endParaRPr>
          </a:p>
          <a:p>
            <a:pPr lvl="1" eaLnBrk="1" hangingPunct="1">
              <a:spcBef>
                <a:spcPct val="40000"/>
              </a:spcBef>
              <a:buFontTx/>
              <a:buNone/>
            </a:pPr>
            <a:r>
              <a:rPr lang="en-US" altLang="zh-CN" sz="2400" dirty="0">
                <a:solidFill>
                  <a:srgbClr val="1557AE"/>
                </a:solidFill>
                <a:latin typeface="Times New Roman" panose="02020603050405020304" pitchFamily="18" charset="0"/>
              </a:rPr>
              <a:t>    d = 0.35 + 2.06 log (n)  e.g.    n = 10</a:t>
            </a:r>
            <a:r>
              <a:rPr lang="en-US" altLang="zh-CN" sz="2400" baseline="30000" dirty="0">
                <a:solidFill>
                  <a:srgbClr val="1557AE"/>
                </a:solidFill>
                <a:latin typeface="Times New Roman" panose="02020603050405020304" pitchFamily="18" charset="0"/>
              </a:rPr>
              <a:t>9</a:t>
            </a:r>
            <a:r>
              <a:rPr lang="en-US" altLang="zh-CN" sz="2400" dirty="0">
                <a:solidFill>
                  <a:srgbClr val="1557AE"/>
                </a:solidFill>
                <a:latin typeface="Times New Roman" panose="02020603050405020304" pitchFamily="18" charset="0"/>
              </a:rPr>
              <a:t>, d ~= 19</a:t>
            </a:r>
            <a:endParaRPr lang="en-US" altLang="zh-CN" sz="2400" dirty="0">
              <a:solidFill>
                <a:srgbClr val="1557AE"/>
              </a:solidFill>
              <a:latin typeface="Times New Roman" panose="02020603050405020304" pitchFamily="18" charset="0"/>
            </a:endParaRPr>
          </a:p>
          <a:p>
            <a:pPr eaLnBrk="1" hangingPunct="1">
              <a:spcBef>
                <a:spcPct val="40000"/>
              </a:spcBef>
              <a:buFont typeface="Wingdings" panose="05000000000000000000" pitchFamily="2" charset="2"/>
              <a:buChar char="ü"/>
            </a:pPr>
            <a:r>
              <a:rPr lang="en-US" altLang="zh-CN" sz="2400" dirty="0">
                <a:latin typeface="Times New Roman" panose="02020603050405020304" pitchFamily="18" charset="0"/>
              </a:rPr>
              <a:t>2000 – The Bow Tie Theory says it’s much more complicated… </a:t>
            </a:r>
            <a:endParaRPr lang="en-US" altLang="zh-CN" sz="2400" dirty="0">
              <a:latin typeface="Times New Roman" panose="02020603050405020304" pitchFamily="18" charset="0"/>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小世界特性</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Rectangle 2"/>
          <p:cNvSpPr txBox="1">
            <a:spLocks noChangeArrowheads="1"/>
          </p:cNvSpPr>
          <p:nvPr/>
        </p:nvSpPr>
        <p:spPr bwMode="auto">
          <a:xfrm>
            <a:off x="238125" y="2145432"/>
            <a:ext cx="86677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buFont typeface="Wingdings" panose="05000000000000000000" pitchFamily="2" charset="2"/>
              <a:buChar char="ü"/>
              <a:defRPr/>
            </a:pPr>
            <a:r>
              <a:rPr lang="zh-CN" alt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节点度：</a:t>
            </a:r>
            <a:r>
              <a:rPr lang="zh-CN" altLang="en-US" sz="2400" dirty="0">
                <a:latin typeface="Times New Roman" panose="02020603050405020304" pitchFamily="18" charset="0"/>
                <a:cs typeface="Times New Roman" panose="02020603050405020304" pitchFamily="18" charset="0"/>
              </a:rPr>
              <a:t>与节点相连的边的数量</a:t>
            </a:r>
            <a:endParaRPr lang="en-US" altLang="zh-CN" sz="2400" dirty="0">
              <a:latin typeface="Times New Roman" panose="02020603050405020304" pitchFamily="18" charset="0"/>
              <a:cs typeface="Times New Roman" panose="02020603050405020304" pitchFamily="18" charset="0"/>
            </a:endParaRPr>
          </a:p>
          <a:p>
            <a:pPr eaLnBrk="1" hangingPunct="1">
              <a:defRPr/>
            </a:pPr>
            <a:endParaRPr lang="en-US" altLang="zh-CN" sz="2400" dirty="0"/>
          </a:p>
        </p:txBody>
      </p:sp>
      <p:sp>
        <p:nvSpPr>
          <p:cNvPr id="8" name="Rectangle 3"/>
          <p:cNvSpPr txBox="1">
            <a:spLocks noChangeArrowheads="1"/>
          </p:cNvSpPr>
          <p:nvPr/>
        </p:nvSpPr>
        <p:spPr bwMode="auto">
          <a:xfrm>
            <a:off x="755576" y="2708920"/>
            <a:ext cx="7702624" cy="3782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a:lnSpc>
                <a:spcPct val="110000"/>
              </a:lnSpc>
              <a:spcBef>
                <a:spcPct val="20000"/>
              </a:spcBef>
            </a:pPr>
            <a:r>
              <a:rPr lang="zh-CN" altLang="en-US" sz="2200" dirty="0">
                <a:latin typeface="宋体" panose="02010600030101010101" pitchFamily="2" charset="-122"/>
                <a:cs typeface="Times New Roman" panose="02020603050405020304" pitchFamily="18" charset="0"/>
              </a:rPr>
              <a:t>在无向网络中，节点𝑖的度𝑘</a:t>
            </a:r>
            <a:r>
              <a:rPr lang="zh-CN" altLang="en-US" sz="2200" baseline="-25000" dirty="0">
                <a:latin typeface="宋体" panose="02010600030101010101" pitchFamily="2" charset="-122"/>
                <a:cs typeface="Times New Roman" panose="02020603050405020304" pitchFamily="18" charset="0"/>
              </a:rPr>
              <a:t>𝑖</a:t>
            </a:r>
            <a:r>
              <a:rPr lang="zh-CN" altLang="en-US" sz="2200" dirty="0">
                <a:latin typeface="宋体" panose="02010600030101010101" pitchFamily="2" charset="-122"/>
                <a:cs typeface="Times New Roman" panose="02020603050405020304" pitchFamily="18" charset="0"/>
              </a:rPr>
              <a:t>是指节点𝑖连接的节点数量。换句话说，节点度𝑘</a:t>
            </a:r>
            <a:r>
              <a:rPr lang="zh-CN" altLang="en-US" sz="2200" baseline="-25000" dirty="0">
                <a:latin typeface="宋体" panose="02010600030101010101" pitchFamily="2" charset="-122"/>
                <a:cs typeface="Times New Roman" panose="02020603050405020304" pitchFamily="18" charset="0"/>
              </a:rPr>
              <a:t>𝑖</a:t>
            </a:r>
            <a:r>
              <a:rPr lang="zh-CN" altLang="en-US" sz="2200" dirty="0">
                <a:latin typeface="宋体" panose="02010600030101010101" pitchFamily="2" charset="-122"/>
                <a:cs typeface="Times New Roman" panose="02020603050405020304" pitchFamily="18" charset="0"/>
              </a:rPr>
              <a:t>表示与节点𝑖直接相连的边的数量</a:t>
            </a:r>
            <a:r>
              <a:rPr lang="en-US" altLang="zh-CN" sz="2200" dirty="0">
                <a:latin typeface="宋体" panose="02010600030101010101" pitchFamily="2" charset="-122"/>
                <a:cs typeface="Times New Roman" panose="02020603050405020304" pitchFamily="18" charset="0"/>
              </a:rPr>
              <a:t>:</a:t>
            </a:r>
            <a:endParaRPr lang="en-US" altLang="zh-CN" sz="2200" dirty="0">
              <a:latin typeface="宋体" panose="02010600030101010101" pitchFamily="2" charset="-122"/>
              <a:cs typeface="Times New Roman" panose="02020603050405020304" pitchFamily="18" charset="0"/>
            </a:endParaRPr>
          </a:p>
          <a:p>
            <a:pPr algn="l">
              <a:lnSpc>
                <a:spcPct val="110000"/>
              </a:lnSpc>
              <a:spcBef>
                <a:spcPct val="20000"/>
              </a:spcBef>
            </a:pPr>
            <a:r>
              <a:rPr lang="en-US" altLang="zh-CN" sz="2200" i="1" dirty="0">
                <a:latin typeface="Comic Sans MS" panose="030F0702030302020204" pitchFamily="66" charset="0"/>
                <a:ea typeface="Arial Unicode MS" panose="020B0604020202020204" charset="-122"/>
                <a:cs typeface="Times New Roman" panose="02020603050405020304" pitchFamily="18" charset="0"/>
              </a:rPr>
              <a:t>   k</a:t>
            </a:r>
            <a:r>
              <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rPr>
              <a:t>i</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a:t>
            </a:r>
            <a:r>
              <a:rPr lang="en-US" altLang="zh-CN" sz="2200" dirty="0">
                <a:latin typeface="Comic Sans MS" panose="030F0702030302020204" pitchFamily="66" charset="0"/>
                <a:ea typeface="Arial Unicode MS" panose="020B0604020202020204" charset="-122"/>
                <a:cs typeface="Times New Roman" panose="02020603050405020304" pitchFamily="18" charset="0"/>
                <a:sym typeface="Symbol" panose="05050102010706020507" pitchFamily="18" charset="2"/>
              </a:rPr>
              <a:t></a:t>
            </a:r>
            <a:r>
              <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rPr>
              <a:t>j</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i="1" dirty="0" err="1">
                <a:latin typeface="Comic Sans MS" panose="030F0702030302020204" pitchFamily="66" charset="0"/>
                <a:ea typeface="Arial Unicode MS" panose="020B0604020202020204" charset="-122"/>
                <a:cs typeface="Times New Roman" panose="02020603050405020304" pitchFamily="18" charset="0"/>
              </a:rPr>
              <a:t>a</a:t>
            </a:r>
            <a:r>
              <a:rPr lang="en-US" altLang="zh-CN" sz="2200" i="1" baseline="-25000" dirty="0" err="1">
                <a:latin typeface="Comic Sans MS" panose="030F0702030302020204" pitchFamily="66" charset="0"/>
                <a:ea typeface="Arial Unicode MS" panose="020B0604020202020204" charset="-122"/>
                <a:cs typeface="Times New Roman" panose="02020603050405020304" pitchFamily="18" charset="0"/>
              </a:rPr>
              <a:t>ij</a:t>
            </a:r>
            <a:r>
              <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dirty="0">
                <a:latin typeface="Comic Sans MS" panose="030F0702030302020204" pitchFamily="66" charset="0"/>
                <a:ea typeface="Arial Unicode MS" panose="020B0604020202020204" charset="-122"/>
                <a:cs typeface="Times New Roman" panose="02020603050405020304" pitchFamily="18" charset="0"/>
                <a:sym typeface="Symbol" panose="05050102010706020507" pitchFamily="18" charset="2"/>
              </a:rPr>
              <a:t></a:t>
            </a:r>
            <a:r>
              <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rPr>
              <a:t>j</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a</a:t>
            </a:r>
            <a:r>
              <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rPr>
              <a:t>ji</a:t>
            </a:r>
            <a:endParaRPr lang="en-US" altLang="zh-CN" sz="2200" i="1" baseline="-25000" dirty="0">
              <a:latin typeface="Comic Sans MS" panose="030F0702030302020204" pitchFamily="66" charset="0"/>
              <a:ea typeface="Arial Unicode MS" panose="020B0604020202020204" charset="-122"/>
              <a:cs typeface="Times New Roman" panose="02020603050405020304" pitchFamily="18" charset="0"/>
            </a:endParaRPr>
          </a:p>
          <a:p>
            <a:pPr algn="l">
              <a:lnSpc>
                <a:spcPct val="110000"/>
              </a:lnSpc>
              <a:spcBef>
                <a:spcPct val="20000"/>
              </a:spcBef>
            </a:pPr>
            <a:endParaRPr lang="en-US" altLang="zh-CN" sz="2200" i="1" baseline="-25000" dirty="0">
              <a:latin typeface="Comic Sans MS" panose="030F0702030302020204" pitchFamily="66" charset="0"/>
              <a:cs typeface="Times New Roman" panose="02020603050405020304" pitchFamily="18" charset="0"/>
            </a:endParaRPr>
          </a:p>
          <a:p>
            <a:pPr algn="l">
              <a:lnSpc>
                <a:spcPct val="110000"/>
              </a:lnSpc>
              <a:spcBef>
                <a:spcPct val="20000"/>
              </a:spcBef>
            </a:pPr>
            <a:endParaRPr lang="en-US" altLang="zh-CN" sz="2200" i="1" baseline="-25000" dirty="0">
              <a:latin typeface="Comic Sans MS" panose="030F0702030302020204" pitchFamily="66" charset="0"/>
              <a:cs typeface="Times New Roman" panose="02020603050405020304" pitchFamily="18" charset="0"/>
            </a:endParaRPr>
          </a:p>
          <a:p>
            <a:pPr algn="l">
              <a:lnSpc>
                <a:spcPct val="110000"/>
              </a:lnSpc>
              <a:spcBef>
                <a:spcPct val="20000"/>
              </a:spcBef>
            </a:pPr>
            <a:endParaRPr lang="en-US" altLang="zh-CN" sz="2200" dirty="0">
              <a:latin typeface="Comic Sans MS" panose="030F0702030302020204" pitchFamily="66" charset="0"/>
              <a:cs typeface="Times New Roman" panose="02020603050405020304" pitchFamily="18" charset="0"/>
            </a:endParaRPr>
          </a:p>
          <a:p>
            <a:pPr algn="l">
              <a:lnSpc>
                <a:spcPct val="110000"/>
              </a:lnSpc>
              <a:spcBef>
                <a:spcPct val="20000"/>
              </a:spcBef>
            </a:pPr>
            <a:endParaRPr lang="en-US" altLang="zh-CN" sz="2200" dirty="0">
              <a:latin typeface="Comic Sans MS" panose="030F0702030302020204" pitchFamily="66" charset="0"/>
              <a:cs typeface="Times New Roman" panose="02020603050405020304" pitchFamily="18" charset="0"/>
            </a:endParaRPr>
          </a:p>
          <a:p>
            <a:pPr algn="l">
              <a:lnSpc>
                <a:spcPct val="110000"/>
              </a:lnSpc>
              <a:spcBef>
                <a:spcPct val="20000"/>
              </a:spcBef>
            </a:pPr>
            <a:endParaRPr lang="en-US" altLang="zh-CN" sz="2200" dirty="0">
              <a:latin typeface="Comic Sans MS" panose="030F0702030302020204" pitchFamily="66" charset="0"/>
              <a:cs typeface="Times New Roman" panose="02020603050405020304" pitchFamily="18" charset="0"/>
            </a:endParaRPr>
          </a:p>
          <a:p>
            <a:pPr algn="l">
              <a:lnSpc>
                <a:spcPct val="110000"/>
              </a:lnSpc>
              <a:spcBef>
                <a:spcPct val="20000"/>
              </a:spcBef>
            </a:pPr>
            <a:r>
              <a:rPr lang="zh-CN" altLang="en-US" sz="2200" dirty="0">
                <a:latin typeface="宋体" panose="02010600030101010101" pitchFamily="2" charset="-122"/>
                <a:cs typeface="Times New Roman" panose="02020603050405020304" pitchFamily="18" charset="0"/>
              </a:rPr>
              <a:t>这儿</a:t>
            </a:r>
            <a:r>
              <a:rPr lang="zh-CN" altLang="en-US" sz="2200" dirty="0">
                <a:latin typeface="Comic Sans MS" panose="030F0702030302020204" pitchFamily="66" charset="0"/>
                <a:ea typeface="Arial Unicode MS" panose="020B0604020202020204" charset="-122"/>
                <a:cs typeface="Times New Roman" panose="02020603050405020304" pitchFamily="18" charset="0"/>
              </a:rPr>
              <a:t>：</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k</a:t>
            </a:r>
            <a:r>
              <a:rPr lang="en-US" altLang="zh-CN" sz="2200" baseline="-25000" dirty="0">
                <a:latin typeface="Comic Sans MS" panose="030F0702030302020204" pitchFamily="66" charset="0"/>
                <a:ea typeface="Arial Unicode MS" panose="020B0604020202020204" charset="-122"/>
                <a:cs typeface="Times New Roman" panose="02020603050405020304" pitchFamily="18" charset="0"/>
              </a:rPr>
              <a:t>1</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2,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k</a:t>
            </a:r>
            <a:r>
              <a:rPr lang="en-US" altLang="zh-CN" sz="2200" baseline="-25000" dirty="0">
                <a:latin typeface="Comic Sans MS" panose="030F0702030302020204" pitchFamily="66" charset="0"/>
                <a:ea typeface="Arial Unicode MS" panose="020B0604020202020204" charset="-122"/>
                <a:cs typeface="Times New Roman" panose="02020603050405020304" pitchFamily="18" charset="0"/>
              </a:rPr>
              <a:t>2</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4,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k</a:t>
            </a:r>
            <a:r>
              <a:rPr lang="en-US" altLang="zh-CN" sz="2200" baseline="-25000" dirty="0">
                <a:latin typeface="Comic Sans MS" panose="030F0702030302020204" pitchFamily="66" charset="0"/>
                <a:ea typeface="Arial Unicode MS" panose="020B0604020202020204" charset="-122"/>
                <a:cs typeface="Times New Roman" panose="02020603050405020304" pitchFamily="18" charset="0"/>
              </a:rPr>
              <a:t>3</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1,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k</a:t>
            </a:r>
            <a:r>
              <a:rPr lang="en-US" altLang="zh-CN" sz="2200" baseline="-25000" dirty="0">
                <a:latin typeface="Comic Sans MS" panose="030F0702030302020204" pitchFamily="66" charset="0"/>
                <a:ea typeface="Arial Unicode MS" panose="020B0604020202020204" charset="-122"/>
                <a:cs typeface="Times New Roman" panose="02020603050405020304" pitchFamily="18" charset="0"/>
              </a:rPr>
              <a:t>4</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3 </a:t>
            </a:r>
            <a:r>
              <a:rPr lang="zh-CN" altLang="en-US" sz="2200" dirty="0">
                <a:latin typeface="Comic Sans MS" panose="030F0702030302020204" pitchFamily="66" charset="0"/>
                <a:ea typeface="Arial Unicode MS" panose="020B0604020202020204" charset="-122"/>
                <a:cs typeface="Times New Roman" panose="02020603050405020304" pitchFamily="18" charset="0"/>
              </a:rPr>
              <a:t>以及</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a:t>
            </a:r>
            <a:r>
              <a:rPr lang="en-US" altLang="zh-CN" sz="2200" i="1" dirty="0">
                <a:latin typeface="Comic Sans MS" panose="030F0702030302020204" pitchFamily="66" charset="0"/>
                <a:ea typeface="Arial Unicode MS" panose="020B0604020202020204" charset="-122"/>
                <a:cs typeface="Times New Roman" panose="02020603050405020304" pitchFamily="18" charset="0"/>
              </a:rPr>
              <a:t>k</a:t>
            </a:r>
            <a:r>
              <a:rPr lang="en-US" altLang="zh-CN" sz="2200" baseline="-25000" dirty="0">
                <a:latin typeface="Comic Sans MS" panose="030F0702030302020204" pitchFamily="66" charset="0"/>
                <a:ea typeface="Arial Unicode MS" panose="020B0604020202020204" charset="-122"/>
                <a:cs typeface="Times New Roman" panose="02020603050405020304" pitchFamily="18" charset="0"/>
              </a:rPr>
              <a:t>5</a:t>
            </a:r>
            <a:r>
              <a:rPr lang="en-US" altLang="zh-CN" sz="2200" dirty="0">
                <a:latin typeface="Comic Sans MS" panose="030F0702030302020204" pitchFamily="66" charset="0"/>
                <a:ea typeface="Arial Unicode MS" panose="020B0604020202020204" charset="-122"/>
                <a:cs typeface="Times New Roman" panose="02020603050405020304" pitchFamily="18" charset="0"/>
              </a:rPr>
              <a:t> = 2.</a:t>
            </a:r>
            <a:endParaRPr lang="en-US" altLang="zh-CN" sz="2200" dirty="0">
              <a:latin typeface="Comic Sans MS" panose="030F0702030302020204" pitchFamily="66" charset="0"/>
              <a:ea typeface="Arial Unicode MS" panose="020B0604020202020204" charset="-122"/>
              <a:cs typeface="Times New Roman" panose="02020603050405020304" pitchFamily="18" charset="0"/>
            </a:endParaRPr>
          </a:p>
        </p:txBody>
      </p:sp>
      <p:pic>
        <p:nvPicPr>
          <p:cNvPr id="9" name="Picture 4" descr="deg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1920" y="3691942"/>
            <a:ext cx="4368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3" name="Rectangle 3"/>
          <p:cNvSpPr txBox="1">
            <a:spLocks noChangeArrowheads="1"/>
          </p:cNvSpPr>
          <p:nvPr/>
        </p:nvSpPr>
        <p:spPr bwMode="auto">
          <a:xfrm>
            <a:off x="179512" y="1287016"/>
            <a:ext cx="8555424" cy="845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微软雅黑" panose="020B0503020204020204" charset="-122"/>
                <a:ea typeface="微软雅黑" panose="020B0503020204020204" charset="-122"/>
                <a:cs typeface="Times New Roman" panose="02020603050405020304" pitchFamily="18" charset="0"/>
              </a:rPr>
              <a:t>无标</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度</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1"/>
          <p:cNvSpPr>
            <a:spLocks noGrp="1"/>
          </p:cNvSpPr>
          <p:nvPr>
            <p:ph idx="4294967295"/>
          </p:nvPr>
        </p:nvSpPr>
        <p:spPr>
          <a:xfrm>
            <a:off x="539552" y="2060575"/>
            <a:ext cx="8505825" cy="4456113"/>
          </a:xfrm>
        </p:spPr>
        <p:txBody>
          <a:bodyPr/>
          <a:lstStyle/>
          <a:p>
            <a:pPr marL="0" indent="0">
              <a:lnSpc>
                <a:spcPct val="110000"/>
              </a:lnSpc>
              <a:spcBef>
                <a:spcPts val="600"/>
              </a:spcBef>
              <a:buFontTx/>
              <a:buNone/>
              <a:defRPr/>
            </a:pPr>
            <a:r>
              <a:rPr lang="zh-CN" altLang="en-US" sz="2200" dirty="0">
                <a:solidFill>
                  <a:srgbClr val="FF0000"/>
                </a:solidFill>
                <a:latin typeface="Comic Sans MS" panose="030F0702030302020204" pitchFamily="66" charset="0"/>
              </a:rPr>
              <a:t>入度：</a:t>
            </a:r>
            <a:r>
              <a:rPr lang="zh-CN" altLang="en-US" sz="2200" dirty="0">
                <a:latin typeface="Comic Sans MS" panose="030F0702030302020204" pitchFamily="66" charset="0"/>
              </a:rPr>
              <a:t>在有向网络中，节点 𝑖的入度 𝑘</a:t>
            </a:r>
            <a:r>
              <a:rPr lang="zh-CN" altLang="en-US" sz="2200" baseline="-25000" dirty="0">
                <a:latin typeface="Comic Sans MS" panose="030F0702030302020204" pitchFamily="66" charset="0"/>
              </a:rPr>
              <a:t>𝑖</a:t>
            </a:r>
            <a:r>
              <a:rPr lang="en-US" altLang="zh-CN" sz="2200" baseline="30000" dirty="0">
                <a:latin typeface="Comic Sans MS" panose="030F0702030302020204" pitchFamily="66" charset="0"/>
              </a:rPr>
              <a:t>(i</a:t>
            </a:r>
            <a:r>
              <a:rPr lang="zh-CN" altLang="en-US" sz="2200" baseline="30000" dirty="0">
                <a:latin typeface="Comic Sans MS" panose="030F0702030302020204" pitchFamily="66" charset="0"/>
              </a:rPr>
              <a:t>𝑛</a:t>
            </a:r>
            <a:r>
              <a:rPr lang="en-US" altLang="zh-CN" sz="2200" baseline="30000" dirty="0">
                <a:latin typeface="Comic Sans MS" panose="030F0702030302020204" pitchFamily="66" charset="0"/>
              </a:rPr>
              <a:t>)</a:t>
            </a:r>
            <a:r>
              <a:rPr lang="en-US" altLang="zh-CN" sz="2200" dirty="0">
                <a:latin typeface="Comic Sans MS" panose="030F0702030302020204" pitchFamily="66" charset="0"/>
              </a:rPr>
              <a:t> </a:t>
            </a:r>
            <a:r>
              <a:rPr lang="zh-CN" altLang="en-US" sz="2200" dirty="0">
                <a:latin typeface="Comic Sans MS" panose="030F0702030302020204" pitchFamily="66" charset="0"/>
              </a:rPr>
              <a:t>表示指向节点 𝑖</a:t>
            </a:r>
            <a:r>
              <a:rPr lang="en-US" altLang="zh-CN" sz="2200" dirty="0">
                <a:latin typeface="Comic Sans MS" panose="030F0702030302020204" pitchFamily="66" charset="0"/>
              </a:rPr>
              <a:t> </a:t>
            </a:r>
            <a:r>
              <a:rPr lang="zh-CN" altLang="en-US" sz="2200" dirty="0">
                <a:latin typeface="Comic Sans MS" panose="030F0702030302020204" pitchFamily="66" charset="0"/>
              </a:rPr>
              <a:t>的有向边的数量。换句话说，入度表示有多少个其他节点通过有向边连接到节点 𝑖</a:t>
            </a:r>
            <a:r>
              <a:rPr lang="en-US" altLang="zh-CN" sz="2200" dirty="0">
                <a:latin typeface="Comic Sans MS" panose="030F0702030302020204" pitchFamily="66" charset="0"/>
              </a:rPr>
              <a:t>:</a:t>
            </a:r>
            <a:endParaRPr lang="en-US" altLang="zh-CN" sz="2200" dirty="0">
              <a:latin typeface="Comic Sans MS" panose="030F0702030302020204" pitchFamily="66" charset="0"/>
            </a:endParaRPr>
          </a:p>
          <a:p>
            <a:pPr marL="0" indent="0" algn="ctr">
              <a:lnSpc>
                <a:spcPct val="110000"/>
              </a:lnSpc>
              <a:spcBef>
                <a:spcPts val="600"/>
              </a:spcBef>
              <a:buFontTx/>
              <a:buNone/>
              <a:defRPr/>
            </a:pPr>
            <a:r>
              <a:rPr lang="en-US" altLang="zh-CN" sz="2200" i="1" dirty="0">
                <a:latin typeface="Comic Sans MS" panose="030F0702030302020204" pitchFamily="66" charset="0"/>
              </a:rPr>
              <a:t>k</a:t>
            </a:r>
            <a:r>
              <a:rPr lang="en-US" altLang="zh-CN" sz="2200" i="1" baseline="-25000" dirty="0">
                <a:latin typeface="Comic Sans MS" panose="030F0702030302020204" pitchFamily="66" charset="0"/>
              </a:rPr>
              <a:t>i</a:t>
            </a:r>
            <a:r>
              <a:rPr lang="en-US" altLang="zh-CN" sz="2200" i="1" baseline="30000" dirty="0">
                <a:latin typeface="Comic Sans MS" panose="030F0702030302020204" pitchFamily="66" charset="0"/>
              </a:rPr>
              <a:t>(in)</a:t>
            </a:r>
            <a:r>
              <a:rPr lang="en-US" altLang="zh-CN" sz="2200" dirty="0">
                <a:latin typeface="Comic Sans MS" panose="030F0702030302020204" pitchFamily="66" charset="0"/>
              </a:rPr>
              <a:t> = </a:t>
            </a:r>
            <a:r>
              <a:rPr lang="en-US" altLang="zh-CN" sz="2200" dirty="0">
                <a:latin typeface="Comic Sans MS" panose="030F0702030302020204" pitchFamily="66" charset="0"/>
                <a:sym typeface="Symbol" panose="05050102010706020507" pitchFamily="18" charset="2"/>
              </a:rPr>
              <a:t></a:t>
            </a:r>
            <a:r>
              <a:rPr lang="en-US" altLang="zh-CN" sz="2200" i="1" baseline="-25000" dirty="0">
                <a:latin typeface="Comic Sans MS" panose="030F0702030302020204" pitchFamily="66" charset="0"/>
              </a:rPr>
              <a:t>j</a:t>
            </a:r>
            <a:r>
              <a:rPr lang="en-US" altLang="zh-CN" sz="2200" dirty="0">
                <a:latin typeface="Comic Sans MS" panose="030F0702030302020204" pitchFamily="66" charset="0"/>
              </a:rPr>
              <a:t> </a:t>
            </a:r>
            <a:r>
              <a:rPr lang="en-US" altLang="zh-CN" sz="2200" i="1" dirty="0">
                <a:latin typeface="Comic Sans MS" panose="030F0702030302020204" pitchFamily="66" charset="0"/>
              </a:rPr>
              <a:t>a</a:t>
            </a:r>
            <a:r>
              <a:rPr lang="en-US" altLang="zh-CN" sz="2200" i="1" baseline="-25000" dirty="0">
                <a:latin typeface="Comic Sans MS" panose="030F0702030302020204" pitchFamily="66" charset="0"/>
              </a:rPr>
              <a:t>ji</a:t>
            </a:r>
            <a:endParaRPr lang="en-US" altLang="zh-CN" sz="2200" dirty="0">
              <a:latin typeface="Comic Sans MS" panose="030F0702030302020204" pitchFamily="66" charset="0"/>
            </a:endParaRPr>
          </a:p>
          <a:p>
            <a:pPr marL="0" indent="0">
              <a:buFontTx/>
              <a:buNone/>
              <a:defRPr/>
            </a:pPr>
            <a:r>
              <a:rPr lang="zh-CN" altLang="en-US" sz="2200" dirty="0">
                <a:solidFill>
                  <a:srgbClr val="FF0000"/>
                </a:solidFill>
                <a:latin typeface="+mn-ea"/>
              </a:rPr>
              <a:t>出度：</a:t>
            </a:r>
            <a:r>
              <a:rPr lang="zh-CN" altLang="en-US" sz="2200" dirty="0">
                <a:latin typeface="+mn-ea"/>
              </a:rPr>
              <a:t>在有向网络中，节点𝑖的出度𝑘</a:t>
            </a:r>
            <a:r>
              <a:rPr lang="zh-CN" altLang="en-US" sz="2200" baseline="-25000" dirty="0">
                <a:latin typeface="+mn-ea"/>
              </a:rPr>
              <a:t>𝑖</a:t>
            </a:r>
            <a:r>
              <a:rPr lang="en-US" altLang="zh-CN" sz="2200" baseline="30000" dirty="0">
                <a:latin typeface="+mn-ea"/>
              </a:rPr>
              <a:t>(</a:t>
            </a:r>
            <a:r>
              <a:rPr lang="zh-CN" altLang="en-US" sz="2200" baseline="30000" dirty="0">
                <a:latin typeface="+mn-ea"/>
              </a:rPr>
              <a:t>𝑜𝑢𝑡</a:t>
            </a:r>
            <a:r>
              <a:rPr lang="en-US" altLang="zh-CN" sz="2200" baseline="30000" dirty="0">
                <a:latin typeface="+mn-ea"/>
              </a:rPr>
              <a:t>)</a:t>
            </a:r>
            <a:r>
              <a:rPr lang="zh-CN" altLang="en-US" sz="2200" dirty="0">
                <a:latin typeface="+mn-ea"/>
              </a:rPr>
              <a:t>是指从节点𝑖指向其他节点的有向边的数量。换句话说，出度表示节点𝑖通过有向边连接到多少个其他节点</a:t>
            </a:r>
            <a:r>
              <a:rPr lang="en-US" altLang="zh-CN" sz="2200" dirty="0">
                <a:latin typeface="+mn-ea"/>
              </a:rPr>
              <a:t>:</a:t>
            </a:r>
            <a:endParaRPr lang="en-US" altLang="zh-CN" sz="2200" dirty="0">
              <a:latin typeface="+mn-ea"/>
            </a:endParaRPr>
          </a:p>
          <a:p>
            <a:pPr marL="0" indent="0" algn="ctr">
              <a:lnSpc>
                <a:spcPct val="90000"/>
              </a:lnSpc>
              <a:buFontTx/>
              <a:buNone/>
              <a:defRPr/>
            </a:pPr>
            <a:r>
              <a:rPr lang="en-US" altLang="zh-CN" sz="2200" i="1" dirty="0" err="1">
                <a:latin typeface="Comic Sans MS" panose="030F0702030302020204" pitchFamily="66" charset="0"/>
              </a:rPr>
              <a:t>k</a:t>
            </a:r>
            <a:r>
              <a:rPr lang="en-US" altLang="zh-CN" sz="2200" i="1" baseline="-25000" dirty="0" err="1">
                <a:latin typeface="Comic Sans MS" panose="030F0702030302020204" pitchFamily="66" charset="0"/>
              </a:rPr>
              <a:t>i</a:t>
            </a:r>
            <a:r>
              <a:rPr lang="en-US" altLang="zh-CN" sz="2200" i="1" baseline="30000" dirty="0">
                <a:latin typeface="Comic Sans MS" panose="030F0702030302020204" pitchFamily="66" charset="0"/>
              </a:rPr>
              <a:t>(out)</a:t>
            </a:r>
            <a:r>
              <a:rPr lang="en-US" altLang="zh-CN" sz="2200" dirty="0">
                <a:latin typeface="Comic Sans MS" panose="030F0702030302020204" pitchFamily="66" charset="0"/>
              </a:rPr>
              <a:t> = </a:t>
            </a:r>
            <a:r>
              <a:rPr lang="en-US" altLang="zh-CN" sz="2200" dirty="0">
                <a:latin typeface="Comic Sans MS" panose="030F0702030302020204" pitchFamily="66" charset="0"/>
                <a:sym typeface="Symbol" panose="05050102010706020507" pitchFamily="18" charset="2"/>
              </a:rPr>
              <a:t></a:t>
            </a:r>
            <a:r>
              <a:rPr lang="en-US" altLang="zh-CN" sz="2200" i="1" baseline="-25000" dirty="0">
                <a:latin typeface="Comic Sans MS" panose="030F0702030302020204" pitchFamily="66" charset="0"/>
              </a:rPr>
              <a:t>j</a:t>
            </a:r>
            <a:r>
              <a:rPr lang="en-US" altLang="zh-CN" sz="2200" dirty="0">
                <a:latin typeface="Comic Sans MS" panose="030F0702030302020204" pitchFamily="66" charset="0"/>
              </a:rPr>
              <a:t> </a:t>
            </a:r>
            <a:r>
              <a:rPr lang="en-US" altLang="zh-CN" sz="2200" i="1" dirty="0" err="1">
                <a:latin typeface="Comic Sans MS" panose="030F0702030302020204" pitchFamily="66" charset="0"/>
              </a:rPr>
              <a:t>a</a:t>
            </a:r>
            <a:r>
              <a:rPr lang="en-US" altLang="zh-CN" sz="2200" i="1" baseline="-25000" dirty="0" err="1">
                <a:latin typeface="Comic Sans MS" panose="030F0702030302020204" pitchFamily="66" charset="0"/>
              </a:rPr>
              <a:t>ij</a:t>
            </a:r>
            <a:endParaRPr lang="en-US" altLang="zh-CN" sz="2200" i="1" baseline="-25000" dirty="0">
              <a:latin typeface="Comic Sans MS" panose="030F0702030302020204" pitchFamily="66" charset="0"/>
            </a:endParaRPr>
          </a:p>
          <a:p>
            <a:pPr marL="0" indent="0">
              <a:buNone/>
              <a:defRPr/>
            </a:pPr>
            <a:endParaRPr lang="zh-CN" altLang="en-US" dirty="0"/>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368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9665" y="4437112"/>
            <a:ext cx="4595118" cy="196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3"/>
          <p:cNvSpPr txBox="1">
            <a:spLocks noChangeArrowheads="1"/>
          </p:cNvSpPr>
          <p:nvPr/>
        </p:nvSpPr>
        <p:spPr bwMode="auto">
          <a:xfrm>
            <a:off x="179512" y="1269832"/>
            <a:ext cx="8555424" cy="719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微软雅黑" panose="020B0503020204020204" charset="-122"/>
                <a:ea typeface="微软雅黑" panose="020B0503020204020204" charset="-122"/>
                <a:cs typeface="Times New Roman" panose="02020603050405020304" pitchFamily="18" charset="0"/>
              </a:rPr>
              <a:t>无标</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度</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 name="Rectangle 5"/>
          <p:cNvSpPr>
            <a:spLocks noChangeArrowheads="1"/>
          </p:cNvSpPr>
          <p:nvPr/>
        </p:nvSpPr>
        <p:spPr bwMode="auto">
          <a:xfrm>
            <a:off x="180340" y="1845945"/>
            <a:ext cx="8784590" cy="1297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lgn="l">
              <a:lnSpc>
                <a:spcPct val="120000"/>
              </a:lnSpc>
              <a:spcBef>
                <a:spcPts val="400"/>
              </a:spcBef>
              <a:buFont typeface="Wingdings" panose="05000000000000000000" pitchFamily="2" charset="2"/>
              <a:buChar char="n"/>
              <a:defRPr/>
            </a:pPr>
            <a:r>
              <a:rPr lang="zh-CN" altLang="en-US" sz="2800" dirty="0">
                <a:solidFill>
                  <a:srgbClr val="FF0000"/>
                </a:solidFill>
                <a:latin typeface="Comic Sans MS" panose="030F0702030302020204" pitchFamily="66" charset="0"/>
              </a:rPr>
              <a:t>无标度网络</a:t>
            </a:r>
            <a:r>
              <a:rPr lang="zh-CN" altLang="en-US" sz="2800" dirty="0">
                <a:latin typeface="Comic Sans MS" panose="030F0702030302020204" pitchFamily="66" charset="0"/>
              </a:rPr>
              <a:t>是指其度分布遵循幂律分布的网络，至少在渐近意义上是如此</a:t>
            </a:r>
            <a:endParaRPr lang="zh-CN" altLang="en-US" sz="2800" dirty="0">
              <a:latin typeface="Comic Sans MS" panose="030F0702030302020204" pitchFamily="66" charset="0"/>
            </a:endParaRPr>
          </a:p>
          <a:p>
            <a:pPr marL="457200" indent="-457200" algn="l">
              <a:lnSpc>
                <a:spcPct val="120000"/>
              </a:lnSpc>
              <a:spcBef>
                <a:spcPts val="400"/>
              </a:spcBef>
              <a:buFont typeface="Wingdings" panose="05000000000000000000" pitchFamily="2" charset="2"/>
              <a:buChar char="n"/>
              <a:defRPr/>
            </a:pPr>
            <a:r>
              <a:rPr lang="zh-CN" altLang="en-US" sz="2800" dirty="0">
                <a:solidFill>
                  <a:srgbClr val="FF0000"/>
                </a:solidFill>
                <a:latin typeface="Comic Sans MS" panose="030F0702030302020204" pitchFamily="66" charset="0"/>
              </a:rPr>
              <a:t>幂律分布：</a:t>
            </a:r>
            <a:r>
              <a:rPr lang="zh-CN" altLang="en-US" sz="2800" dirty="0">
                <a:latin typeface="Comic Sans MS" panose="030F0702030302020204" pitchFamily="66" charset="0"/>
              </a:rPr>
              <a:t>一种概率分布称为</a:t>
            </a:r>
            <a:r>
              <a:rPr lang="en-US" altLang="zh-CN" sz="2800" dirty="0">
                <a:latin typeface="Comic Sans MS" panose="030F0702030302020204" pitchFamily="66" charset="0"/>
              </a:rPr>
              <a:t>“</a:t>
            </a:r>
            <a:r>
              <a:rPr lang="zh-CN" altLang="en-US" sz="2800" dirty="0">
                <a:latin typeface="Comic Sans MS" panose="030F0702030302020204" pitchFamily="66" charset="0"/>
              </a:rPr>
              <a:t>幂律</a:t>
            </a:r>
            <a:r>
              <a:rPr lang="en-US" altLang="zh-CN" sz="2800" dirty="0">
                <a:latin typeface="Comic Sans MS" panose="030F0702030302020204" pitchFamily="66" charset="0"/>
              </a:rPr>
              <a:t>”</a:t>
            </a:r>
            <a:r>
              <a:rPr lang="zh-CN" altLang="en-US" sz="2800" dirty="0">
                <a:latin typeface="Comic Sans MS" panose="030F0702030302020204" pitchFamily="66" charset="0"/>
              </a:rPr>
              <a:t>如果它满足以下条件</a:t>
            </a:r>
            <a:r>
              <a:rPr lang="en-US" altLang="zh-CN" sz="2800" dirty="0">
                <a:latin typeface="Comic Sans MS" panose="030F0702030302020204" pitchFamily="66" charset="0"/>
              </a:rPr>
              <a:t>: </a:t>
            </a:r>
            <a:endParaRPr lang="en-US" altLang="zh-CN" sz="2800" dirty="0">
              <a:latin typeface="Comic Sans MS" panose="030F0702030302020204" pitchFamily="66" charset="0"/>
            </a:endParaRPr>
          </a:p>
          <a:p>
            <a:pPr marL="914400" lvl="1" indent="-457200" algn="l">
              <a:lnSpc>
                <a:spcPct val="120000"/>
              </a:lnSpc>
              <a:spcBef>
                <a:spcPts val="400"/>
              </a:spcBef>
              <a:buFont typeface="Wingdings" panose="05000000000000000000" pitchFamily="2" charset="2"/>
              <a:buChar char="ü"/>
              <a:defRPr/>
            </a:pPr>
            <a:r>
              <a:rPr lang="en-US" altLang="zh-CN" sz="2200" dirty="0">
                <a:latin typeface="Comic Sans MS" panose="030F0702030302020204" pitchFamily="66" charset="0"/>
              </a:rPr>
              <a:t>The probability for a node to have k edges connected is proportional to </a:t>
            </a:r>
            <a:r>
              <a:rPr lang="en-US" altLang="zh-CN" sz="2200" i="1" dirty="0"/>
              <a:t>k</a:t>
            </a:r>
            <a:r>
              <a:rPr lang="en-US" altLang="zh-CN" sz="2200" i="1" baseline="30000" dirty="0"/>
              <a:t>-</a:t>
            </a:r>
            <a:r>
              <a:rPr lang="en-US" altLang="zh-CN" sz="2200" i="1" baseline="30000" dirty="0">
                <a:sym typeface="Symbol" panose="05050102010706020507" pitchFamily="18" charset="2"/>
              </a:rPr>
              <a:t></a:t>
            </a:r>
            <a:endParaRPr lang="en-US" altLang="zh-CN" sz="2200" i="1" baseline="30000" dirty="0">
              <a:sym typeface="Symbol" panose="05050102010706020507" pitchFamily="18" charset="2"/>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3"/>
          <p:cNvSpPr txBox="1">
            <a:spLocks noChangeArrowheads="1"/>
          </p:cNvSpPr>
          <p:nvPr/>
        </p:nvSpPr>
        <p:spPr bwMode="auto">
          <a:xfrm>
            <a:off x="179705" y="1270000"/>
            <a:ext cx="855535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6" name="图片 5" descr="%FontSize=10&#10;%TeXFontSize=10&#10;\documentclass{article}&#10;\pagestyle{empty}&#10;\begin{document}&#10;\[&#10;P(ck)=(ck)^{-r} = [c^{-r}] k^{-r} = Ck^{-r}= CP(k)&#10;\]&#10;\end{document}"/>
          <p:cNvPicPr/>
          <p:nvPr/>
        </p:nvPicPr>
        <p:blipFill>
          <a:blip r:embed="rId1">
            <a:lum/>
            <a:extLst>
              <a:ext uri="{28A0092B-C50C-407E-A947-70E740481C1C}">
                <a14:useLocalDpi xmlns:a14="http://schemas.microsoft.com/office/drawing/2010/main" val="0"/>
              </a:ext>
            </a:extLst>
          </a:blip>
          <a:stretch>
            <a:fillRect/>
          </a:stretch>
        </p:blipFill>
        <p:spPr>
          <a:xfrm>
            <a:off x="1187624" y="5013176"/>
            <a:ext cx="5112568" cy="432048"/>
          </a:xfrm>
          <a:prstGeom prst="rect">
            <a:avLst/>
          </a:prstGeom>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 name="Rectangle 5"/>
          <p:cNvSpPr>
            <a:spLocks noChangeArrowheads="1"/>
          </p:cNvSpPr>
          <p:nvPr/>
        </p:nvSpPr>
        <p:spPr bwMode="auto">
          <a:xfrm>
            <a:off x="251618" y="1916832"/>
            <a:ext cx="8640763"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lgn="l">
              <a:lnSpc>
                <a:spcPct val="150000"/>
              </a:lnSpc>
              <a:spcBef>
                <a:spcPct val="20000"/>
              </a:spcBef>
              <a:buFont typeface="Wingdings" panose="05000000000000000000" pitchFamily="2" charset="2"/>
              <a:buChar char="n"/>
              <a:defRP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大多数真实系统和事件的概率分布遵循幂律分布</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latin typeface="Times New Roman" panose="02020603050405020304" pitchFamily="18" charset="0"/>
                <a:cs typeface="Times New Roman" panose="02020603050405020304" pitchFamily="18" charset="0"/>
              </a:rPr>
              <a:t>文件系统中文件大小的分布</a:t>
            </a:r>
            <a:endParaRPr lang="en-US" altLang="zh-CN" sz="2000" dirty="0">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t>互联网中网络延迟的分布</a:t>
            </a:r>
            <a:endParaRPr lang="en-US" altLang="zh-CN" sz="2000" dirty="0">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t>地震的震级：统计数据显示，地震震级遵循幂律分布</a:t>
            </a:r>
            <a:endParaRPr lang="en-US" altLang="zh-CN" sz="2000" dirty="0">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t>河流的大小：世界上河流的大小符合幂律</a:t>
            </a:r>
            <a:endParaRPr lang="en-US" altLang="zh-CN" sz="2000" dirty="0">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t>行业的规模，即它们的总收入</a:t>
            </a:r>
            <a:endParaRPr lang="en-US" altLang="zh-CN" sz="2000" dirty="0">
              <a:latin typeface="Times New Roman" panose="02020603050405020304" pitchFamily="18" charset="0"/>
              <a:cs typeface="Times New Roman" panose="02020603050405020304" pitchFamily="18" charset="0"/>
            </a:endParaRPr>
          </a:p>
          <a:p>
            <a:pPr marL="914400" lvl="1" indent="-457200" algn="l">
              <a:lnSpc>
                <a:spcPct val="150000"/>
              </a:lnSpc>
              <a:spcBef>
                <a:spcPct val="20000"/>
              </a:spcBef>
              <a:buFont typeface="Wingdings" panose="05000000000000000000" pitchFamily="2" charset="2"/>
              <a:buChar char="ü"/>
              <a:defRPr/>
            </a:pPr>
            <a:r>
              <a:rPr lang="zh-CN" altLang="en-US" sz="2000" dirty="0">
                <a:latin typeface="Times New Roman" panose="02020603050405020304" pitchFamily="18" charset="0"/>
                <a:cs typeface="Times New Roman" panose="02020603050405020304" pitchFamily="18" charset="0"/>
              </a:rPr>
              <a:t>人们的财富</a:t>
            </a:r>
            <a:endParaRPr lang="en-US" altLang="zh-CN" sz="2000" dirty="0">
              <a:latin typeface="Times New Roman" panose="02020603050405020304" pitchFamily="18" charset="0"/>
              <a:cs typeface="Times New Roman" panose="02020603050405020304" pitchFamily="18" charset="0"/>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3"/>
          <p:cNvSpPr txBox="1">
            <a:spLocks noChangeArrowheads="1"/>
          </p:cNvSpPr>
          <p:nvPr/>
        </p:nvSpPr>
        <p:spPr bwMode="auto">
          <a:xfrm>
            <a:off x="179512" y="1269832"/>
            <a:ext cx="8555424" cy="64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微软雅黑" panose="020B0503020204020204" charset="-122"/>
                <a:ea typeface="微软雅黑" panose="020B0503020204020204" charset="-122"/>
                <a:cs typeface="Times New Roman" panose="02020603050405020304" pitchFamily="18" charset="0"/>
              </a:rPr>
              <a:t>无标</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度</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矩形 2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1" name="Rectangle 3"/>
          <p:cNvSpPr txBox="1">
            <a:spLocks noChangeArrowheads="1"/>
          </p:cNvSpPr>
          <p:nvPr/>
        </p:nvSpPr>
        <p:spPr bwMode="auto">
          <a:xfrm>
            <a:off x="179512" y="1269832"/>
            <a:ext cx="8555424" cy="64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2800" b="0" dirty="0">
                <a:solidFill>
                  <a:srgbClr val="FF0000"/>
                </a:solidFill>
                <a:latin typeface="微软雅黑" panose="020B0503020204020204" charset="-122"/>
                <a:ea typeface="微软雅黑" panose="020B0503020204020204" charset="-122"/>
                <a:cs typeface="Times New Roman" panose="02020603050405020304" pitchFamily="18" charset="0"/>
              </a:rPr>
              <a:t>无标</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度</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665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1772816"/>
            <a:ext cx="5832648" cy="4050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Line 3"/>
          <p:cNvSpPr>
            <a:spLocks noChangeShapeType="1"/>
          </p:cNvSpPr>
          <p:nvPr/>
        </p:nvSpPr>
        <p:spPr bwMode="auto">
          <a:xfrm flipV="1">
            <a:off x="2268538" y="1916832"/>
            <a:ext cx="0" cy="4321175"/>
          </a:xfrm>
          <a:prstGeom prst="line">
            <a:avLst/>
          </a:prstGeom>
          <a:noFill/>
          <a:ln w="222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8" name="Line 4"/>
          <p:cNvSpPr>
            <a:spLocks noChangeShapeType="1"/>
          </p:cNvSpPr>
          <p:nvPr/>
        </p:nvSpPr>
        <p:spPr bwMode="auto">
          <a:xfrm>
            <a:off x="2268538" y="6238007"/>
            <a:ext cx="5976937" cy="0"/>
          </a:xfrm>
          <a:prstGeom prst="line">
            <a:avLst/>
          </a:prstGeom>
          <a:noFill/>
          <a:ln w="222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9" name="Line 5"/>
          <p:cNvSpPr>
            <a:spLocks noChangeShapeType="1"/>
          </p:cNvSpPr>
          <p:nvPr/>
        </p:nvSpPr>
        <p:spPr bwMode="auto">
          <a:xfrm>
            <a:off x="2411413" y="2421657"/>
            <a:ext cx="4608512" cy="3671888"/>
          </a:xfrm>
          <a:prstGeom prst="line">
            <a:avLst/>
          </a:prstGeom>
          <a:noFill/>
          <a:ln w="31750">
            <a:solidFill>
              <a:schemeClr val="accent4">
                <a:lumMod val="60000"/>
                <a:lumOff val="40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600">
              <a:latin typeface="Arial Unicode MS" panose="020B0604020202020204" charset="-122"/>
              <a:ea typeface="Arial Unicode MS" panose="020B0604020202020204" charset="-122"/>
              <a:cs typeface="Arial Unicode MS" panose="020B0604020202020204" charset="-122"/>
            </a:endParaRPr>
          </a:p>
        </p:txBody>
      </p:sp>
      <p:sp>
        <p:nvSpPr>
          <p:cNvPr id="10" name="Text Box 6"/>
          <p:cNvSpPr txBox="1">
            <a:spLocks noChangeArrowheads="1"/>
          </p:cNvSpPr>
          <p:nvPr/>
        </p:nvSpPr>
        <p:spPr bwMode="auto">
          <a:xfrm>
            <a:off x="105934" y="3718645"/>
            <a:ext cx="10406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i="1">
                <a:latin typeface="Arial Unicode MS" panose="020B0604020202020204" charset="-122"/>
                <a:ea typeface="Arial Unicode MS" panose="020B0604020202020204" charset="-122"/>
                <a:cs typeface="Arial Unicode MS" panose="020B0604020202020204" charset="-122"/>
              </a:rPr>
              <a:t>Log(P(k))</a:t>
            </a:r>
            <a:endParaRPr lang="en-US" altLang="zh-CN" sz="1600" i="1">
              <a:latin typeface="Arial Unicode MS" panose="020B0604020202020204" charset="-122"/>
              <a:ea typeface="Arial Unicode MS" panose="020B0604020202020204" charset="-122"/>
              <a:cs typeface="Arial Unicode MS" panose="020B0604020202020204" charset="-122"/>
            </a:endParaRPr>
          </a:p>
        </p:txBody>
      </p:sp>
      <p:sp>
        <p:nvSpPr>
          <p:cNvPr id="12" name="Text Box 7"/>
          <p:cNvSpPr txBox="1">
            <a:spLocks noChangeArrowheads="1"/>
          </p:cNvSpPr>
          <p:nvPr/>
        </p:nvSpPr>
        <p:spPr bwMode="auto">
          <a:xfrm>
            <a:off x="6491294" y="6412091"/>
            <a:ext cx="76655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i="1" dirty="0">
                <a:latin typeface="Arial Unicode MS" panose="020B0604020202020204" charset="-122"/>
                <a:ea typeface="Arial Unicode MS" panose="020B0604020202020204" charset="-122"/>
                <a:cs typeface="Arial Unicode MS" panose="020B0604020202020204" charset="-122"/>
              </a:rPr>
              <a:t>Log(k)</a:t>
            </a:r>
            <a:endParaRPr lang="en-US" altLang="zh-CN" sz="1600" i="1" dirty="0">
              <a:latin typeface="Arial Unicode MS" panose="020B0604020202020204" charset="-122"/>
              <a:ea typeface="Arial Unicode MS" panose="020B0604020202020204" charset="-122"/>
              <a:cs typeface="Arial Unicode MS" panose="020B0604020202020204" charset="-122"/>
            </a:endParaRPr>
          </a:p>
        </p:txBody>
      </p:sp>
      <p:sp>
        <p:nvSpPr>
          <p:cNvPr id="14" name="Text Box 9"/>
          <p:cNvSpPr txBox="1">
            <a:spLocks noChangeArrowheads="1"/>
          </p:cNvSpPr>
          <p:nvPr/>
        </p:nvSpPr>
        <p:spPr bwMode="auto">
          <a:xfrm>
            <a:off x="1922448" y="2134320"/>
            <a:ext cx="2984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15" name="Text Box 10"/>
          <p:cNvSpPr txBox="1">
            <a:spLocks noChangeArrowheads="1"/>
          </p:cNvSpPr>
          <p:nvPr/>
        </p:nvSpPr>
        <p:spPr bwMode="auto">
          <a:xfrm>
            <a:off x="1798588" y="2710582"/>
            <a:ext cx="470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16" name="Text Box 11"/>
          <p:cNvSpPr txBox="1">
            <a:spLocks noChangeArrowheads="1"/>
          </p:cNvSpPr>
          <p:nvPr/>
        </p:nvSpPr>
        <p:spPr bwMode="auto">
          <a:xfrm>
            <a:off x="1668655" y="3213820"/>
            <a:ext cx="5838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17" name="Text Box 12"/>
          <p:cNvSpPr txBox="1">
            <a:spLocks noChangeArrowheads="1"/>
          </p:cNvSpPr>
          <p:nvPr/>
        </p:nvSpPr>
        <p:spPr bwMode="auto">
          <a:xfrm>
            <a:off x="1540311" y="3790082"/>
            <a:ext cx="6976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0,001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18" name="Text Box 13"/>
          <p:cNvSpPr txBox="1">
            <a:spLocks noChangeArrowheads="1"/>
          </p:cNvSpPr>
          <p:nvPr/>
        </p:nvSpPr>
        <p:spPr bwMode="auto">
          <a:xfrm>
            <a:off x="2190736" y="6323607"/>
            <a:ext cx="2984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19" name="Text Box 14"/>
          <p:cNvSpPr txBox="1">
            <a:spLocks noChangeArrowheads="1"/>
          </p:cNvSpPr>
          <p:nvPr/>
        </p:nvSpPr>
        <p:spPr bwMode="auto">
          <a:xfrm>
            <a:off x="3089504" y="6309320"/>
            <a:ext cx="4122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10</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0" name="Text Box 15"/>
          <p:cNvSpPr txBox="1">
            <a:spLocks noChangeArrowheads="1"/>
          </p:cNvSpPr>
          <p:nvPr/>
        </p:nvSpPr>
        <p:spPr bwMode="auto">
          <a:xfrm>
            <a:off x="3823172" y="6309320"/>
            <a:ext cx="52610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100</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3" name="Line 18"/>
          <p:cNvSpPr>
            <a:spLocks noChangeShapeType="1"/>
          </p:cNvSpPr>
          <p:nvPr/>
        </p:nvSpPr>
        <p:spPr bwMode="auto">
          <a:xfrm flipH="1">
            <a:off x="5724525" y="4437782"/>
            <a:ext cx="1368425" cy="50323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24" name="Text Box 19"/>
          <p:cNvSpPr txBox="1">
            <a:spLocks noChangeArrowheads="1"/>
          </p:cNvSpPr>
          <p:nvPr/>
        </p:nvSpPr>
        <p:spPr bwMode="auto">
          <a:xfrm>
            <a:off x="7237834" y="3804370"/>
            <a:ext cx="15215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The power law</a:t>
            </a:r>
            <a:endParaRPr lang="en-US" altLang="zh-CN" sz="1600">
              <a:latin typeface="Arial Unicode MS" panose="020B0604020202020204" charset="-122"/>
              <a:ea typeface="Arial Unicode MS" panose="020B0604020202020204" charset="-122"/>
              <a:cs typeface="Arial Unicode MS" panose="020B0604020202020204" charset="-122"/>
            </a:endParaRPr>
          </a:p>
          <a:p>
            <a:pPr eaLnBrk="1" hangingPunct="1"/>
            <a:r>
              <a:rPr lang="en-US" altLang="zh-CN" sz="1600">
                <a:latin typeface="Arial Unicode MS" panose="020B0604020202020204" charset="-122"/>
                <a:ea typeface="Arial Unicode MS" panose="020B0604020202020204" charset="-122"/>
                <a:cs typeface="Arial Unicode MS" panose="020B0604020202020204" charset="-122"/>
              </a:rPr>
              <a:t>distribution</a:t>
            </a:r>
            <a:endParaRPr lang="en-US" altLang="zh-CN" sz="1600">
              <a:latin typeface="Arial Unicode MS" panose="020B0604020202020204" charset="-122"/>
              <a:ea typeface="Arial Unicode MS" panose="020B0604020202020204" charset="-122"/>
              <a:cs typeface="Arial Unicode MS" panose="020B0604020202020204" charset="-122"/>
            </a:endParaRPr>
          </a:p>
          <a:p>
            <a:pPr eaLnBrk="1" hangingPunct="1"/>
            <a:r>
              <a:rPr lang="en-US" altLang="zh-CN" sz="1600">
                <a:latin typeface="Arial Unicode MS" panose="020B0604020202020204" charset="-122"/>
                <a:ea typeface="Arial Unicode MS" panose="020B0604020202020204" charset="-122"/>
                <a:cs typeface="Arial Unicode MS" panose="020B0604020202020204" charset="-122"/>
              </a:rPr>
              <a:t>has a long tail</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5" name="Text Box 20"/>
          <p:cNvSpPr txBox="1">
            <a:spLocks noChangeArrowheads="1"/>
          </p:cNvSpPr>
          <p:nvPr/>
        </p:nvSpPr>
        <p:spPr bwMode="auto">
          <a:xfrm>
            <a:off x="1410380" y="4294907"/>
            <a:ext cx="8114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0,0001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6" name="Text Box 21"/>
          <p:cNvSpPr txBox="1">
            <a:spLocks noChangeArrowheads="1"/>
          </p:cNvSpPr>
          <p:nvPr/>
        </p:nvSpPr>
        <p:spPr bwMode="auto">
          <a:xfrm>
            <a:off x="1280448" y="4869582"/>
            <a:ext cx="9252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0,00001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7" name="Text Box 22"/>
          <p:cNvSpPr txBox="1">
            <a:spLocks noChangeArrowheads="1"/>
          </p:cNvSpPr>
          <p:nvPr/>
        </p:nvSpPr>
        <p:spPr bwMode="auto">
          <a:xfrm>
            <a:off x="1150517" y="5445845"/>
            <a:ext cx="103906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0,000001</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8" name="Text Box 23"/>
          <p:cNvSpPr txBox="1">
            <a:spLocks noChangeArrowheads="1"/>
          </p:cNvSpPr>
          <p:nvPr/>
        </p:nvSpPr>
        <p:spPr bwMode="auto">
          <a:xfrm>
            <a:off x="4629865" y="6310907"/>
            <a:ext cx="6399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1000</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29" name="Text Box 24"/>
          <p:cNvSpPr txBox="1">
            <a:spLocks noChangeArrowheads="1"/>
          </p:cNvSpPr>
          <p:nvPr/>
        </p:nvSpPr>
        <p:spPr bwMode="auto">
          <a:xfrm>
            <a:off x="5507997" y="6310907"/>
            <a:ext cx="75373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Arial Unicode MS" panose="020B0604020202020204" charset="-122"/>
                <a:ea typeface="Arial Unicode MS" panose="020B0604020202020204" charset="-122"/>
                <a:cs typeface="Arial Unicode MS" panose="020B0604020202020204" charset="-122"/>
              </a:rPr>
              <a:t>10000</a:t>
            </a:r>
            <a:endParaRPr lang="en-US" altLang="zh-CN" sz="1600">
              <a:latin typeface="Arial Unicode MS" panose="020B0604020202020204" charset="-122"/>
              <a:ea typeface="Arial Unicode MS" panose="020B0604020202020204" charset="-122"/>
              <a:cs typeface="Arial Unicode MS" panose="020B0604020202020204" charset="-122"/>
            </a:endParaRPr>
          </a:p>
        </p:txBody>
      </p:sp>
      <p:sp>
        <p:nvSpPr>
          <p:cNvPr id="30" name="矩形 2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1"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5"/>
          <p:cNvSpPr txBox="1">
            <a:spLocks noChangeArrowheads="1"/>
          </p:cNvSpPr>
          <p:nvPr/>
        </p:nvSpPr>
        <p:spPr bwMode="auto">
          <a:xfrm>
            <a:off x="228600" y="2132856"/>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a:lnSpc>
                <a:spcPct val="150000"/>
              </a:lnSpc>
            </a:pPr>
            <a:r>
              <a:rPr lang="zh-CN" altLang="en-US" sz="2000" dirty="0">
                <a:latin typeface="Times New Roman" panose="02020603050405020304" pitchFamily="18" charset="0"/>
                <a:cs typeface="Times New Roman" panose="02020603050405020304" pitchFamily="18" charset="0"/>
              </a:rPr>
              <a:t>鲁棒性：对于</a:t>
            </a:r>
            <a:r>
              <a:rPr lang="en-US" altLang="zh-CN"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&lt;3</a:t>
            </a:r>
            <a:r>
              <a:rPr lang="zh-CN" altLang="en-US" sz="2000" dirty="0">
                <a:latin typeface="Times New Roman" panose="02020603050405020304" pitchFamily="18" charset="0"/>
                <a:cs typeface="Times New Roman" panose="02020603050405020304" pitchFamily="18" charset="0"/>
              </a:rPr>
              <a:t>，移除节点不会使网络断裂成孤岛</a:t>
            </a:r>
            <a:endParaRPr lang="zh-CN" altLang="en-US" sz="2000" dirty="0">
              <a:latin typeface="Times New Roman" panose="02020603050405020304" pitchFamily="18" charset="0"/>
              <a:cs typeface="Times New Roman" panose="02020603050405020304" pitchFamily="18" charset="0"/>
            </a:endParaRPr>
          </a:p>
          <a:p>
            <a:pPr>
              <a:lnSpc>
                <a:spcPct val="150000"/>
              </a:lnSpc>
            </a:pPr>
            <a:endParaRPr lang="zh-CN" altLang="en-US" sz="2000" dirty="0">
              <a:latin typeface="Times New Roman" panose="02020603050405020304" pitchFamily="18" charset="0"/>
              <a:cs typeface="Times New Roman" panose="02020603050405020304" pitchFamily="18" charset="0"/>
            </a:endParaRPr>
          </a:p>
          <a:p>
            <a:pPr>
              <a:lnSpc>
                <a:spcPct val="150000"/>
              </a:lnSpc>
            </a:pPr>
            <a:r>
              <a:rPr lang="zh-CN" altLang="en-US" sz="2000" dirty="0">
                <a:latin typeface="Times New Roman" panose="02020603050405020304" pitchFamily="18" charset="0"/>
                <a:cs typeface="Times New Roman" panose="02020603050405020304" pitchFamily="18" charset="0"/>
              </a:rPr>
              <a:t>对随机攻击强抵抗能力，但针对关键节点的攻击更具危险性</a:t>
            </a: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marL="0" indent="0">
              <a:buNone/>
            </a:pPr>
            <a:endParaRPr lang="en-US" altLang="zh-CN" sz="2000" dirty="0">
              <a:latin typeface="Times New Roman" panose="02020603050405020304" pitchFamily="18" charset="0"/>
              <a:cs typeface="Times New Roman" panose="02020603050405020304" pitchFamily="18" charset="0"/>
            </a:endParaRPr>
          </a:p>
        </p:txBody>
      </p:sp>
      <p:pic>
        <p:nvPicPr>
          <p:cNvPr id="34" name="Picture 7"/>
          <p:cNvPicPr>
            <a:picLocks noChangeAspect="1" noChangeArrowheads="1"/>
          </p:cNvPicPr>
          <p:nvPr/>
        </p:nvPicPr>
        <p:blipFill>
          <a:blip r:embed="rId1">
            <a:extLst>
              <a:ext uri="{28A0092B-C50C-407E-A947-70E740481C1C}">
                <a14:useLocalDpi xmlns:a14="http://schemas.microsoft.com/office/drawing/2010/main" val="0"/>
              </a:ext>
            </a:extLst>
          </a:blip>
          <a:srcRect l="10345" b="29874"/>
          <a:stretch>
            <a:fillRect/>
          </a:stretch>
        </p:blipFill>
        <p:spPr>
          <a:xfrm>
            <a:off x="4551045" y="2061527"/>
            <a:ext cx="4419600" cy="3954463"/>
          </a:xfrm>
          <a:prstGeom prst="rect">
            <a:avLst/>
          </a:prstGeom>
          <a:noFill/>
        </p:spPr>
      </p:pic>
      <p:sp>
        <p:nvSpPr>
          <p:cNvPr id="35" name="Text Box 8"/>
          <p:cNvSpPr txBox="1">
            <a:spLocks noChangeArrowheads="1"/>
          </p:cNvSpPr>
          <p:nvPr/>
        </p:nvSpPr>
        <p:spPr bwMode="auto">
          <a:xfrm rot="-5393889">
            <a:off x="3305968" y="3022372"/>
            <a:ext cx="197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latin typeface="Arial Unicode MS" panose="020B0604020202020204" charset="-122"/>
                <a:ea typeface="Arial Unicode MS" panose="020B0604020202020204" charset="-122"/>
                <a:cs typeface="Arial Unicode MS" panose="020B0604020202020204" charset="-122"/>
              </a:rPr>
              <a:t>Max Cluster Size </a:t>
            </a:r>
            <a:endParaRPr lang="en-US" altLang="zh-CN">
              <a:latin typeface="Arial Unicode MS" panose="020B0604020202020204" charset="-122"/>
              <a:ea typeface="Arial Unicode MS" panose="020B0604020202020204" charset="-122"/>
              <a:cs typeface="Arial Unicode MS" panose="020B0604020202020204" charset="-122"/>
            </a:endParaRPr>
          </a:p>
        </p:txBody>
      </p:sp>
      <p:sp>
        <p:nvSpPr>
          <p:cNvPr id="36" name="Text Box 9"/>
          <p:cNvSpPr txBox="1">
            <a:spLocks noChangeArrowheads="1"/>
          </p:cNvSpPr>
          <p:nvPr/>
        </p:nvSpPr>
        <p:spPr bwMode="auto">
          <a:xfrm rot="-5400000">
            <a:off x="3586956" y="5267096"/>
            <a:ext cx="1416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latin typeface="Arial Unicode MS" panose="020B0604020202020204" charset="-122"/>
                <a:ea typeface="Arial Unicode MS" panose="020B0604020202020204" charset="-122"/>
                <a:cs typeface="Arial Unicode MS" panose="020B0604020202020204" charset="-122"/>
              </a:rPr>
              <a:t>Path Length</a:t>
            </a:r>
            <a:endParaRPr lang="en-US" altLang="zh-CN">
              <a:latin typeface="Arial Unicode MS" panose="020B0604020202020204" charset="-122"/>
              <a:ea typeface="Arial Unicode MS" panose="020B0604020202020204" charset="-122"/>
              <a:cs typeface="Arial Unicode MS" panose="020B0604020202020204" charset="-122"/>
            </a:endParaRPr>
          </a:p>
        </p:txBody>
      </p:sp>
      <p:sp>
        <p:nvSpPr>
          <p:cNvPr id="9" name="矩形 8"/>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0" name="Rectangle 3"/>
          <p:cNvSpPr txBox="1">
            <a:spLocks noChangeArrowheads="1"/>
          </p:cNvSpPr>
          <p:nvPr/>
        </p:nvSpPr>
        <p:spPr bwMode="auto">
          <a:xfrm>
            <a:off x="176530" y="1270000"/>
            <a:ext cx="8558530"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5"/>
          <p:cNvSpPr>
            <a:spLocks noChangeArrowheads="1"/>
          </p:cNvSpPr>
          <p:nvPr/>
        </p:nvSpPr>
        <p:spPr bwMode="auto">
          <a:xfrm>
            <a:off x="300497" y="2060848"/>
            <a:ext cx="7223831" cy="504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lgn="l">
              <a:lnSpc>
                <a:spcPct val="120000"/>
              </a:lnSpc>
              <a:spcBef>
                <a:spcPct val="20000"/>
              </a:spcBef>
              <a:buFont typeface="Wingdings" panose="05000000000000000000" pitchFamily="2" charset="2"/>
              <a:buChar char="n"/>
              <a:defRPr/>
            </a:pP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巴拉巴西</a:t>
            </a:r>
            <a:r>
              <a:rPr lang="en-US" altLang="zh-CN" sz="2000" b="1" dirty="0">
                <a:solidFill>
                  <a:srgbClr val="FF0000"/>
                </a:solidFill>
                <a:effectLst>
                  <a:outerShdw blurRad="38100" dist="38100" dir="2700000" algn="tl">
                    <a:srgbClr val="000000">
                      <a:alpha val="43137"/>
                    </a:srgbClr>
                  </a:outerShdw>
                </a:effectLst>
                <a:latin typeface="Comic Sans MS" panose="030F0702030302020204" pitchFamily="66" charset="0"/>
              </a:rPr>
              <a:t>-</a:t>
            </a: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阿尔伯特（</a:t>
            </a:r>
            <a:r>
              <a:rPr lang="en-US" altLang="zh-CN" sz="2000" b="1" dirty="0">
                <a:solidFill>
                  <a:srgbClr val="FF0000"/>
                </a:solidFill>
                <a:effectLst>
                  <a:outerShdw blurRad="38100" dist="38100" dir="2700000" algn="tl">
                    <a:srgbClr val="000000">
                      <a:alpha val="43137"/>
                    </a:srgbClr>
                  </a:outerShdw>
                </a:effectLst>
                <a:latin typeface="Comic Sans MS" panose="030F0702030302020204" pitchFamily="66" charset="0"/>
              </a:rPr>
              <a:t>BA</a:t>
            </a: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）模型</a:t>
            </a:r>
            <a:endParaRPr lang="en-US" altLang="zh-CN" sz="2000"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algn="l">
              <a:lnSpc>
                <a:spcPct val="120000"/>
              </a:lnSpc>
              <a:spcBef>
                <a:spcPct val="20000"/>
              </a:spcBef>
              <a:defRPr/>
            </a:pPr>
            <a:r>
              <a:rPr lang="zh-CN" altLang="en-US" sz="2000" b="1" dirty="0">
                <a:solidFill>
                  <a:srgbClr val="3333FF"/>
                </a:solidFill>
                <a:effectLst>
                  <a:outerShdw blurRad="38100" dist="38100" dir="2700000" algn="tl">
                    <a:srgbClr val="000000">
                      <a:alpha val="43137"/>
                    </a:srgbClr>
                  </a:outerShdw>
                </a:effectLst>
                <a:latin typeface="Comic Sans MS" panose="030F0702030302020204" pitchFamily="66" charset="0"/>
              </a:rPr>
              <a:t>             增长与优先连接</a:t>
            </a:r>
            <a:endParaRPr lang="en-US" altLang="zh-CN" sz="2000" b="1" dirty="0">
              <a:solidFill>
                <a:srgbClr val="3333FF"/>
              </a:solidFill>
              <a:effectLst>
                <a:outerShdw blurRad="38100" dist="38100" dir="2700000" algn="tl">
                  <a:srgbClr val="000000">
                    <a:alpha val="43137"/>
                  </a:srgbClr>
                </a:outerShdw>
              </a:effectLst>
              <a:latin typeface="Comic Sans MS" panose="030F0702030302020204" pitchFamily="66" charset="0"/>
            </a:endParaRPr>
          </a:p>
          <a:p>
            <a:pPr marL="800100" lvl="1" indent="-342900" algn="l">
              <a:lnSpc>
                <a:spcPct val="110000"/>
              </a:lnSpc>
              <a:spcBef>
                <a:spcPts val="600"/>
              </a:spcBef>
              <a:buFont typeface="Wingdings" panose="05000000000000000000" pitchFamily="2" charset="2"/>
              <a:buChar char="ü"/>
              <a:defRPr/>
            </a:pPr>
            <a:r>
              <a:rPr lang="zh-CN" altLang="en-US" dirty="0">
                <a:latin typeface="Comic Sans MS" panose="030F0702030302020204" pitchFamily="66" charset="0"/>
              </a:rPr>
              <a:t>从有限数量的初始节点开始</a:t>
            </a:r>
            <a:endParaRPr lang="en-US" altLang="zh-CN" dirty="0">
              <a:latin typeface="Comic Sans MS" panose="030F0702030302020204" pitchFamily="66" charset="0"/>
            </a:endParaRPr>
          </a:p>
          <a:p>
            <a:pPr marL="800100" lvl="1" indent="-342900" algn="l">
              <a:lnSpc>
                <a:spcPct val="110000"/>
              </a:lnSpc>
              <a:spcBef>
                <a:spcPts val="600"/>
              </a:spcBef>
              <a:buFont typeface="Wingdings" panose="05000000000000000000" pitchFamily="2" charset="2"/>
              <a:buChar char="ü"/>
              <a:defRPr/>
            </a:pPr>
            <a:r>
              <a:rPr lang="zh-CN" altLang="en-US" dirty="0">
                <a:latin typeface="Comic Sans MS" panose="030F0702030302020204" pitchFamily="66" charset="0"/>
              </a:rPr>
              <a:t>在每个时间步，添加一个新的节点，该节点有𝑚条边链接到系统中的𝑚个现有节点</a:t>
            </a:r>
            <a:endParaRPr lang="en-US" altLang="zh-CN" dirty="0">
              <a:latin typeface="Comic Sans MS" panose="030F0702030302020204" pitchFamily="66" charset="0"/>
            </a:endParaRPr>
          </a:p>
          <a:p>
            <a:pPr marL="800100" lvl="1" indent="-342900" algn="l">
              <a:lnSpc>
                <a:spcPct val="110000"/>
              </a:lnSpc>
              <a:spcBef>
                <a:spcPts val="600"/>
              </a:spcBef>
              <a:buFont typeface="Wingdings" panose="05000000000000000000" pitchFamily="2" charset="2"/>
              <a:buChar char="ü"/>
              <a:defRPr/>
            </a:pPr>
            <a:r>
              <a:rPr lang="zh-CN" altLang="en-US" dirty="0">
                <a:latin typeface="Comic Sans MS" panose="030F0702030302020204" pitchFamily="66" charset="0"/>
              </a:rPr>
              <a:t>在选择连接的节点时，假设节点𝑖的连接概率</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dirty="0">
                <a:latin typeface="Comic Sans MS" panose="030F0702030302020204" pitchFamily="66" charset="0"/>
              </a:rPr>
              <a:t>与其已经连接的边的数量 𝑘</a:t>
            </a:r>
            <a:r>
              <a:rPr lang="zh-CN" altLang="en-US" baseline="-25000" dirty="0">
                <a:latin typeface="Comic Sans MS" panose="030F0702030302020204" pitchFamily="66" charset="0"/>
              </a:rPr>
              <a:t>𝑖</a:t>
            </a:r>
            <a:r>
              <a:rPr lang="en-US" altLang="zh-CN" baseline="-25000" dirty="0">
                <a:latin typeface="Comic Sans MS" panose="030F0702030302020204" pitchFamily="66" charset="0"/>
              </a:rPr>
              <a:t> </a:t>
            </a:r>
            <a:r>
              <a:rPr lang="zh-CN" altLang="en-US" dirty="0">
                <a:latin typeface="Comic Sans MS" panose="030F0702030302020204" pitchFamily="66" charset="0"/>
              </a:rPr>
              <a:t>成正比</a:t>
            </a:r>
            <a:endParaRPr lang="en-US" altLang="zh-CN" dirty="0">
              <a:latin typeface="Comic Sans MS" panose="030F0702030302020204" pitchFamily="66" charset="0"/>
            </a:endParaRPr>
          </a:p>
          <a:p>
            <a:pPr marL="800100" lvl="1" indent="-342900" algn="l">
              <a:lnSpc>
                <a:spcPct val="110000"/>
              </a:lnSpc>
              <a:spcBef>
                <a:spcPts val="600"/>
              </a:spcBef>
              <a:buFont typeface="Wingdings" panose="05000000000000000000" pitchFamily="2" charset="2"/>
              <a:buChar char="ü"/>
              <a:defRPr/>
            </a:pPr>
            <a:r>
              <a:rPr lang="zh-CN" altLang="en-US" dirty="0">
                <a:latin typeface="Comic Sans MS" panose="030F0702030302020204" pitchFamily="66" charset="0"/>
              </a:rPr>
              <a:t>经过𝑡个时间步，网络将有 𝑛</a:t>
            </a:r>
            <a:r>
              <a:rPr lang="en-US" altLang="zh-CN" dirty="0">
                <a:latin typeface="Comic Sans MS" panose="030F0702030302020204" pitchFamily="66" charset="0"/>
              </a:rPr>
              <a:t>=</a:t>
            </a:r>
            <a:r>
              <a:rPr lang="zh-CN" altLang="en-US" dirty="0">
                <a:latin typeface="Comic Sans MS" panose="030F0702030302020204" pitchFamily="66" charset="0"/>
              </a:rPr>
              <a:t>𝑡</a:t>
            </a:r>
            <a:r>
              <a:rPr lang="en-US" altLang="zh-CN" dirty="0">
                <a:latin typeface="Comic Sans MS" panose="030F0702030302020204" pitchFamily="66" charset="0"/>
              </a:rPr>
              <a:t>+</a:t>
            </a:r>
            <a:r>
              <a:rPr lang="zh-CN" altLang="en-US" dirty="0">
                <a:latin typeface="Comic Sans MS" panose="030F0702030302020204" pitchFamily="66" charset="0"/>
              </a:rPr>
              <a:t>𝑚</a:t>
            </a:r>
            <a:r>
              <a:rPr lang="en-US" altLang="zh-CN" dirty="0">
                <a:latin typeface="Comic Sans MS" panose="030F0702030302020204" pitchFamily="66" charset="0"/>
              </a:rPr>
              <a:t>​</a:t>
            </a:r>
            <a:r>
              <a:rPr lang="en-US" altLang="zh-CN" baseline="-25000" dirty="0">
                <a:latin typeface="Comic Sans MS" panose="030F0702030302020204" pitchFamily="66" charset="0"/>
              </a:rPr>
              <a:t>0</a:t>
            </a:r>
            <a:r>
              <a:rPr lang="zh-CN" altLang="en-US" dirty="0">
                <a:latin typeface="Comic Sans MS" panose="030F0702030302020204" pitchFamily="66" charset="0"/>
              </a:rPr>
              <a:t>个节点和𝑀</a:t>
            </a:r>
            <a:r>
              <a:rPr lang="en-US" altLang="zh-CN" dirty="0">
                <a:latin typeface="Comic Sans MS" panose="030F0702030302020204" pitchFamily="66" charset="0"/>
              </a:rPr>
              <a:t>=</a:t>
            </a:r>
            <a:r>
              <a:rPr lang="zh-CN" altLang="en-US" dirty="0">
                <a:latin typeface="Comic Sans MS" panose="030F0702030302020204" pitchFamily="66" charset="0"/>
              </a:rPr>
              <a:t>𝑚𝑡条边 </a:t>
            </a:r>
            <a:endParaRPr lang="en-US" altLang="zh-CN" dirty="0">
              <a:latin typeface="Comic Sans MS" panose="030F0702030302020204" pitchFamily="66" charset="0"/>
            </a:endParaRPr>
          </a:p>
          <a:p>
            <a:pPr marL="800100" lvl="1" indent="-342900" algn="l">
              <a:lnSpc>
                <a:spcPct val="110000"/>
              </a:lnSpc>
              <a:spcBef>
                <a:spcPts val="600"/>
              </a:spcBef>
              <a:buFont typeface="Wingdings" panose="05000000000000000000" pitchFamily="2" charset="2"/>
              <a:buChar char="ü"/>
              <a:defRPr/>
            </a:pPr>
            <a:r>
              <a:rPr lang="zh-CN" altLang="en-US" dirty="0">
                <a:latin typeface="Comic Sans MS" panose="030F0702030302020204" pitchFamily="66" charset="0"/>
              </a:rPr>
              <a:t>可以证明这导致了一个幂律网络</a:t>
            </a:r>
            <a:endParaRPr lang="en-US" altLang="zh-CN" dirty="0">
              <a:latin typeface="Comic Sans MS" panose="030F0702030302020204" pitchFamily="66" charset="0"/>
            </a:endParaRPr>
          </a:p>
        </p:txBody>
      </p:sp>
      <p:graphicFrame>
        <p:nvGraphicFramePr>
          <p:cNvPr id="15" name="对象 1"/>
          <p:cNvGraphicFramePr>
            <a:graphicFrameLocks noChangeAspect="1"/>
          </p:cNvGraphicFramePr>
          <p:nvPr/>
        </p:nvGraphicFramePr>
        <p:xfrm>
          <a:off x="7380287" y="2777559"/>
          <a:ext cx="478543" cy="511175"/>
        </p:xfrm>
        <a:graphic>
          <a:graphicData uri="http://schemas.openxmlformats.org/presentationml/2006/ole">
            <mc:AlternateContent xmlns:mc="http://schemas.openxmlformats.org/markup-compatibility/2006">
              <mc:Choice xmlns:v="urn:schemas-microsoft-com:vml" Requires="v">
                <p:oleObj spid="_x0000_s58170" name="Equation" r:id="rId1" imgW="203200" imgH="228600" progId="Equation.3">
                  <p:embed/>
                </p:oleObj>
              </mc:Choice>
              <mc:Fallback>
                <p:oleObj name="Equation" r:id="rId1" imgW="203200" imgH="228600" progId="Equation.3">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287" y="2777559"/>
                        <a:ext cx="478543" cy="511175"/>
                      </a:xfrm>
                      <a:prstGeom prst="rect">
                        <a:avLst/>
                      </a:prstGeom>
                      <a:noFill/>
                      <a:ln>
                        <a:noFill/>
                      </a:ln>
                      <a:effectLst/>
                    </p:spPr>
                  </p:pic>
                </p:oleObj>
              </mc:Fallback>
            </mc:AlternateContent>
          </a:graphicData>
        </a:graphic>
      </p:graphicFrame>
      <p:graphicFrame>
        <p:nvGraphicFramePr>
          <p:cNvPr id="16" name="对象 2"/>
          <p:cNvGraphicFramePr>
            <a:graphicFrameLocks noChangeAspect="1"/>
          </p:cNvGraphicFramePr>
          <p:nvPr/>
        </p:nvGraphicFramePr>
        <p:xfrm>
          <a:off x="7405688" y="3357563"/>
          <a:ext cx="1187992" cy="546100"/>
        </p:xfrm>
        <a:graphic>
          <a:graphicData uri="http://schemas.openxmlformats.org/presentationml/2006/ole">
            <mc:AlternateContent xmlns:mc="http://schemas.openxmlformats.org/markup-compatibility/2006">
              <mc:Choice xmlns:v="urn:schemas-microsoft-com:vml" Requires="v">
                <p:oleObj spid="_x0000_s58171" name="Equation" r:id="rId3" imgW="469900" imgH="228600" progId="Equation.3">
                  <p:embed/>
                </p:oleObj>
              </mc:Choice>
              <mc:Fallback>
                <p:oleObj name="Equation" r:id="rId3" imgW="469900" imgH="2286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5688" y="3357563"/>
                        <a:ext cx="1187992" cy="546100"/>
                      </a:xfrm>
                      <a:prstGeom prst="rect">
                        <a:avLst/>
                      </a:prstGeom>
                      <a:noFill/>
                      <a:ln>
                        <a:noFill/>
                      </a:ln>
                    </p:spPr>
                  </p:pic>
                </p:oleObj>
              </mc:Fallback>
            </mc:AlternateContent>
          </a:graphicData>
        </a:graphic>
      </p:graphicFrame>
      <p:graphicFrame>
        <p:nvGraphicFramePr>
          <p:cNvPr id="17" name="对象 3"/>
          <p:cNvGraphicFramePr>
            <a:graphicFrameLocks noChangeAspect="1"/>
          </p:cNvGraphicFramePr>
          <p:nvPr/>
        </p:nvGraphicFramePr>
        <p:xfrm>
          <a:off x="7380287" y="3896930"/>
          <a:ext cx="1607716" cy="1046163"/>
        </p:xfrm>
        <a:graphic>
          <a:graphicData uri="http://schemas.openxmlformats.org/presentationml/2006/ole">
            <mc:AlternateContent xmlns:mc="http://schemas.openxmlformats.org/markup-compatibility/2006">
              <mc:Choice xmlns:v="urn:schemas-microsoft-com:vml" Requires="v">
                <p:oleObj spid="_x0000_s58172" name="Equation" r:id="rId5" imgW="889000" imgH="558800" progId="Equation.3">
                  <p:embed/>
                </p:oleObj>
              </mc:Choice>
              <mc:Fallback>
                <p:oleObj name="Equation" r:id="rId5" imgW="889000" imgH="558800" progId="Equation.3">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0287" y="3896930"/>
                        <a:ext cx="1607716" cy="1046163"/>
                      </a:xfrm>
                      <a:prstGeom prst="rect">
                        <a:avLst/>
                      </a:prstGeom>
                      <a:noFill/>
                      <a:ln>
                        <a:noFill/>
                      </a:ln>
                    </p:spPr>
                  </p:pic>
                </p:oleObj>
              </mc:Fallback>
            </mc:AlternateContent>
          </a:graphicData>
        </a:graphic>
      </p:graphicFrame>
      <p:graphicFrame>
        <p:nvGraphicFramePr>
          <p:cNvPr id="18" name="对象 4"/>
          <p:cNvGraphicFramePr>
            <a:graphicFrameLocks noChangeAspect="1"/>
          </p:cNvGraphicFramePr>
          <p:nvPr/>
        </p:nvGraphicFramePr>
        <p:xfrm>
          <a:off x="7329633" y="4789105"/>
          <a:ext cx="1443995" cy="892175"/>
        </p:xfrm>
        <a:graphic>
          <a:graphicData uri="http://schemas.openxmlformats.org/presentationml/2006/ole">
            <mc:AlternateContent xmlns:mc="http://schemas.openxmlformats.org/markup-compatibility/2006">
              <mc:Choice xmlns:v="urn:schemas-microsoft-com:vml" Requires="v">
                <p:oleObj spid="_x0000_s58173" name="Equation" r:id="rId7" imgW="622300" imgH="406400" progId="Equation.3">
                  <p:embed/>
                </p:oleObj>
              </mc:Choice>
              <mc:Fallback>
                <p:oleObj name="Equation" r:id="rId7" imgW="622300" imgH="406400" progId="Equation.3">
                  <p:embed/>
                  <p:pic>
                    <p:nvPicPr>
                      <p:cNvPr id="0" name="对象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29633" y="4789105"/>
                        <a:ext cx="1443995" cy="892175"/>
                      </a:xfrm>
                      <a:prstGeom prst="rect">
                        <a:avLst/>
                      </a:prstGeom>
                      <a:noFill/>
                      <a:ln>
                        <a:noFill/>
                      </a:ln>
                    </p:spPr>
                  </p:pic>
                </p:oleObj>
              </mc:Fallback>
            </mc:AlternateContent>
          </a:graphicData>
        </a:graphic>
      </p:graphicFrame>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1" name="Rectangle 3"/>
          <p:cNvSpPr txBox="1">
            <a:spLocks noChangeArrowheads="1"/>
          </p:cNvSpPr>
          <p:nvPr/>
        </p:nvSpPr>
        <p:spPr bwMode="auto">
          <a:xfrm>
            <a:off x="179512" y="1269832"/>
            <a:ext cx="8555424" cy="615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微软雅黑" panose="020B0503020204020204" charset="-122"/>
                <a:ea typeface="微软雅黑" panose="020B0503020204020204" charset="-122"/>
                <a:cs typeface="Times New Roman" panose="02020603050405020304" pitchFamily="18" charset="0"/>
              </a:rPr>
              <a:t>无标</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度</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30" name="Picture 4" descr="in_d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988840"/>
            <a:ext cx="3024336" cy="2268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5" descr="out_d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009" y="4437112"/>
            <a:ext cx="3050911" cy="2289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6"/>
          <p:cNvSpPr txBox="1">
            <a:spLocks noChangeArrowheads="1"/>
          </p:cNvSpPr>
          <p:nvPr/>
        </p:nvSpPr>
        <p:spPr bwMode="auto">
          <a:xfrm>
            <a:off x="1191172" y="6168889"/>
            <a:ext cx="20126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600">
                <a:latin typeface="Tahoma" panose="020B0604030504040204" pitchFamily="34" charset="0"/>
              </a:rPr>
              <a:t>exponent </a:t>
            </a:r>
            <a:r>
              <a:rPr lang="en-US" altLang="zh-CN" sz="1600" dirty="0">
                <a:latin typeface="Tahoma" panose="020B0604030504040204" pitchFamily="34" charset="0"/>
              </a:rPr>
              <a:t>= 2.72</a:t>
            </a:r>
            <a:endParaRPr lang="en-US" altLang="zh-CN" sz="1600" dirty="0">
              <a:latin typeface="Tahoma" panose="020B0604030504040204" pitchFamily="34" charset="0"/>
            </a:endParaRPr>
          </a:p>
        </p:txBody>
      </p:sp>
      <p:sp>
        <p:nvSpPr>
          <p:cNvPr id="33" name="Text Box 6"/>
          <p:cNvSpPr txBox="1">
            <a:spLocks noChangeArrowheads="1"/>
          </p:cNvSpPr>
          <p:nvPr/>
        </p:nvSpPr>
        <p:spPr bwMode="auto">
          <a:xfrm>
            <a:off x="2129162" y="2770298"/>
            <a:ext cx="15841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600">
                <a:latin typeface="Tahoma" panose="020B0604030504040204" pitchFamily="34" charset="0"/>
              </a:rPr>
              <a:t>exponent </a:t>
            </a:r>
            <a:r>
              <a:rPr lang="en-US" altLang="zh-CN" sz="1600" dirty="0">
                <a:latin typeface="Tahoma" panose="020B0604030504040204" pitchFamily="34" charset="0"/>
              </a:rPr>
              <a:t>= </a:t>
            </a:r>
            <a:r>
              <a:rPr lang="en-US" altLang="zh-CN" sz="1600">
                <a:latin typeface="Tahoma" panose="020B0604030504040204" pitchFamily="34" charset="0"/>
              </a:rPr>
              <a:t>2.1                         </a:t>
            </a:r>
            <a:endParaRPr lang="en-US" altLang="zh-CN" sz="1600">
              <a:latin typeface="Tahoma" panose="020B0604030504040204" pitchFamily="34" charset="0"/>
            </a:endParaRPr>
          </a:p>
        </p:txBody>
      </p:sp>
      <p:pic>
        <p:nvPicPr>
          <p:cNvPr id="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2132856"/>
            <a:ext cx="3652078" cy="4056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1"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Scale free</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3"/>
          <p:cNvSpPr txBox="1">
            <a:spLocks noGrp="1" noChangeArrowheads="1"/>
          </p:cNvSpPr>
          <p:nvPr>
            <p:ph idx="4294967295"/>
          </p:nvPr>
        </p:nvSpPr>
        <p:spPr>
          <a:xfrm>
            <a:off x="251520" y="1916832"/>
            <a:ext cx="7081838" cy="3100388"/>
          </a:xfrm>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9991" tIns="44996" rIns="89991" bIns="44996">
            <a:spAutoFit/>
          </a:bodyPr>
          <a:lstStyle>
            <a:lvl1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1pPr>
            <a:lvl2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2pPr>
            <a:lvl3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3pPr>
            <a:lvl4pPr marL="862330" indent="-214630"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4pPr>
            <a:lvl5pPr indent="-217805"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5pPr>
            <a:lvl6pPr marL="15367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6pPr>
            <a:lvl7pPr marL="19939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7pPr>
            <a:lvl8pPr marL="24511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8pPr>
            <a:lvl9pPr marL="29083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9pPr>
          </a:lstStyle>
          <a:p>
            <a:pPr eaLnBrk="1">
              <a:lnSpc>
                <a:spcPct val="120000"/>
              </a:lnSpc>
              <a:spcBef>
                <a:spcPts val="600"/>
              </a:spcBef>
              <a:buSzPct val="100000"/>
              <a:buFont typeface="Wingdings" panose="05000000000000000000" pitchFamily="2" charset="2"/>
              <a:buChar char="n"/>
              <a:defRPr/>
            </a:pP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社团结构：</a:t>
            </a:r>
            <a:r>
              <a:rPr lang="zh-CN" altLang="en-US" sz="2000" b="1" dirty="0">
                <a:solidFill>
                  <a:schemeClr val="tx1"/>
                </a:solidFill>
                <a:effectLst>
                  <a:outerShdw blurRad="38100" dist="38100" dir="2700000" algn="tl">
                    <a:srgbClr val="000000">
                      <a:alpha val="43137"/>
                    </a:srgbClr>
                  </a:outerShdw>
                </a:effectLst>
                <a:latin typeface="Comic Sans MS" panose="030F0702030302020204" pitchFamily="66" charset="0"/>
              </a:rPr>
              <a:t>指的是网络节点的分组。在这些组内，节点之间有密集的内部连接，但组与组之间的边较少</a:t>
            </a:r>
            <a:r>
              <a:rPr lang="en-US" altLang="zh-CN" sz="2000" dirty="0">
                <a:solidFill>
                  <a:schemeClr val="tx1"/>
                </a:solidFill>
                <a:latin typeface="Comic Sans MS" panose="030F0702030302020204" pitchFamily="66" charset="0"/>
              </a:rPr>
              <a:t> </a:t>
            </a:r>
            <a:endParaRPr lang="en-US" altLang="zh-CN" sz="2000" dirty="0">
              <a:solidFill>
                <a:schemeClr val="tx1"/>
              </a:solidFill>
              <a:latin typeface="Comic Sans MS" panose="030F0702030302020204" pitchFamily="66" charset="0"/>
            </a:endParaRPr>
          </a:p>
          <a:p>
            <a:pPr eaLnBrk="1">
              <a:lnSpc>
                <a:spcPct val="120000"/>
              </a:lnSpc>
              <a:spcBef>
                <a:spcPts val="600"/>
              </a:spcBef>
              <a:buSzPct val="100000"/>
              <a:buFont typeface="Wingdings" panose="05000000000000000000" pitchFamily="2" charset="2"/>
              <a:buChar char="n"/>
              <a:defRPr/>
            </a:pPr>
            <a:r>
              <a:rPr lang="zh-CN" altLang="en-US" sz="2000" dirty="0">
                <a:solidFill>
                  <a:srgbClr val="FF0000"/>
                </a:solidFill>
                <a:latin typeface="Comic Sans MS" panose="030F0702030302020204" pitchFamily="66" charset="0"/>
              </a:rPr>
              <a:t>强意义下的社团定义：</a:t>
            </a:r>
            <a:r>
              <a:rPr lang="zh-CN" altLang="en-US" sz="2000" dirty="0">
                <a:latin typeface="Comic Sans MS" panose="030F0702030302020204" pitchFamily="66" charset="0"/>
              </a:rPr>
              <a:t>如果对于子图 𝑉中的所有节点 𝑖，满足 𝑘</a:t>
            </a:r>
            <a:r>
              <a:rPr lang="en-US" altLang="zh-CN" sz="2000" dirty="0">
                <a:latin typeface="Comic Sans MS" panose="030F0702030302020204" pitchFamily="66" charset="0"/>
              </a:rPr>
              <a:t>(</a:t>
            </a:r>
            <a:r>
              <a:rPr lang="zh-CN" altLang="en-US" sz="2000" dirty="0">
                <a:latin typeface="Comic Sans MS" panose="030F0702030302020204" pitchFamily="66" charset="0"/>
              </a:rPr>
              <a:t>𝑖</a:t>
            </a:r>
            <a:r>
              <a:rPr lang="en-US" altLang="zh-CN" sz="2000" dirty="0">
                <a:latin typeface="Comic Sans MS" panose="030F0702030302020204" pitchFamily="66" charset="0"/>
              </a:rPr>
              <a:t>)</a:t>
            </a:r>
            <a:r>
              <a:rPr lang="en-US" altLang="zh-CN" sz="2000" baseline="-25000" dirty="0">
                <a:latin typeface="Comic Sans MS" panose="030F0702030302020204" pitchFamily="66" charset="0"/>
              </a:rPr>
              <a:t>in</a:t>
            </a:r>
            <a:r>
              <a:rPr lang="en-US" altLang="zh-CN" sz="2000" dirty="0">
                <a:latin typeface="Comic Sans MS" panose="030F0702030302020204" pitchFamily="66" charset="0"/>
              </a:rPr>
              <a:t>(</a:t>
            </a:r>
            <a:r>
              <a:rPr lang="zh-CN" altLang="en-US" sz="2000" dirty="0">
                <a:latin typeface="Comic Sans MS" panose="030F0702030302020204" pitchFamily="66" charset="0"/>
              </a:rPr>
              <a:t>𝑉</a:t>
            </a:r>
            <a:r>
              <a:rPr lang="en-US" altLang="zh-CN" sz="2000" dirty="0">
                <a:latin typeface="Comic Sans MS" panose="030F0702030302020204" pitchFamily="66" charset="0"/>
              </a:rPr>
              <a:t>) &gt; </a:t>
            </a:r>
            <a:r>
              <a:rPr lang="zh-CN" altLang="en-US" sz="2000" dirty="0">
                <a:latin typeface="Comic Sans MS" panose="030F0702030302020204" pitchFamily="66" charset="0"/>
              </a:rPr>
              <a:t>𝑘</a:t>
            </a:r>
            <a:r>
              <a:rPr lang="en-US" altLang="zh-CN" sz="2000" dirty="0">
                <a:latin typeface="Comic Sans MS" panose="030F0702030302020204" pitchFamily="66" charset="0"/>
              </a:rPr>
              <a:t>(</a:t>
            </a:r>
            <a:r>
              <a:rPr lang="zh-CN" altLang="en-US" sz="2000" dirty="0">
                <a:latin typeface="Comic Sans MS" panose="030F0702030302020204" pitchFamily="66" charset="0"/>
              </a:rPr>
              <a:t>𝑖</a:t>
            </a:r>
            <a:r>
              <a:rPr lang="en-US" altLang="zh-CN" sz="2000" dirty="0">
                <a:latin typeface="Comic Sans MS" panose="030F0702030302020204" pitchFamily="66" charset="0"/>
              </a:rPr>
              <a:t>)</a:t>
            </a:r>
            <a:r>
              <a:rPr lang="en-US" altLang="zh-CN" sz="2000" baseline="-25000" dirty="0">
                <a:latin typeface="Comic Sans MS" panose="030F0702030302020204" pitchFamily="66" charset="0"/>
              </a:rPr>
              <a:t>out</a:t>
            </a:r>
            <a:r>
              <a:rPr lang="en-US" altLang="zh-CN" sz="2000" dirty="0">
                <a:latin typeface="Comic Sans MS" panose="030F0702030302020204" pitchFamily="66" charset="0"/>
              </a:rPr>
              <a:t>(</a:t>
            </a:r>
            <a:r>
              <a:rPr lang="zh-CN" altLang="en-US" sz="2000" dirty="0">
                <a:latin typeface="Comic Sans MS" panose="030F0702030302020204" pitchFamily="66" charset="0"/>
              </a:rPr>
              <a:t>𝑉</a:t>
            </a:r>
            <a:r>
              <a:rPr lang="en-US" altLang="zh-CN" sz="2000" dirty="0">
                <a:latin typeface="Comic Sans MS" panose="030F0702030302020204" pitchFamily="66" charset="0"/>
              </a:rPr>
              <a:t>) </a:t>
            </a:r>
            <a:r>
              <a:rPr lang="zh-CN" altLang="en-US" sz="2000" dirty="0">
                <a:latin typeface="Comic Sans MS" panose="030F0702030302020204" pitchFamily="66" charset="0"/>
              </a:rPr>
              <a:t>，则子图 𝑉</a:t>
            </a:r>
            <a:r>
              <a:rPr lang="en-US" altLang="zh-CN" sz="2000" dirty="0">
                <a:latin typeface="Comic Sans MS" panose="030F0702030302020204" pitchFamily="66" charset="0"/>
              </a:rPr>
              <a:t> </a:t>
            </a:r>
            <a:r>
              <a:rPr lang="zh-CN" altLang="en-US" sz="2000" dirty="0">
                <a:latin typeface="Comic Sans MS" panose="030F0702030302020204" pitchFamily="66" charset="0"/>
              </a:rPr>
              <a:t>是一个强意义上的社团</a:t>
            </a:r>
            <a:endParaRPr lang="en-GB" altLang="zh-CN" sz="2000" dirty="0">
              <a:latin typeface="Comic Sans MS" panose="030F0702030302020204" pitchFamily="66" charset="0"/>
            </a:endParaRPr>
          </a:p>
          <a:p>
            <a:pPr indent="17780" eaLnBrk="1">
              <a:buFont typeface="Wingdings" panose="05000000000000000000" pitchFamily="2" charset="2"/>
              <a:buChar char="ü"/>
              <a:defRPr/>
            </a:pPr>
            <a:r>
              <a:rPr lang="zh-CN" altLang="en-US" sz="1800" dirty="0">
                <a:latin typeface="Comic Sans MS" panose="030F0702030302020204" pitchFamily="66" charset="0"/>
              </a:rPr>
              <a:t> 𝑘</a:t>
            </a:r>
            <a:r>
              <a:rPr lang="en-US" altLang="zh-CN" sz="1800" dirty="0">
                <a:latin typeface="Comic Sans MS" panose="030F0702030302020204" pitchFamily="66" charset="0"/>
              </a:rPr>
              <a:t>(</a:t>
            </a:r>
            <a:r>
              <a:rPr lang="zh-CN" altLang="en-US" sz="1800" dirty="0">
                <a:latin typeface="Comic Sans MS" panose="030F0702030302020204" pitchFamily="66" charset="0"/>
              </a:rPr>
              <a:t>𝑖</a:t>
            </a:r>
            <a:r>
              <a:rPr lang="en-US" altLang="zh-CN" sz="1800" dirty="0">
                <a:latin typeface="Comic Sans MS" panose="030F0702030302020204" pitchFamily="66" charset="0"/>
              </a:rPr>
              <a:t>)</a:t>
            </a:r>
            <a:r>
              <a:rPr lang="en-US" altLang="zh-CN" sz="1800" baseline="-25000" dirty="0">
                <a:latin typeface="Comic Sans MS" panose="030F0702030302020204" pitchFamily="66" charset="0"/>
              </a:rPr>
              <a:t>in</a:t>
            </a:r>
            <a:r>
              <a:rPr lang="en-US" altLang="zh-CN" sz="1800" dirty="0">
                <a:latin typeface="Comic Sans MS" panose="030F0702030302020204" pitchFamily="66" charset="0"/>
              </a:rPr>
              <a:t>(</a:t>
            </a:r>
            <a:r>
              <a:rPr lang="zh-CN" altLang="en-US" sz="1800" dirty="0">
                <a:latin typeface="Comic Sans MS" panose="030F0702030302020204" pitchFamily="66" charset="0"/>
              </a:rPr>
              <a:t>𝑉</a:t>
            </a:r>
            <a:r>
              <a:rPr lang="en-US" altLang="zh-CN" sz="1800" dirty="0">
                <a:latin typeface="Comic Sans MS" panose="030F0702030302020204" pitchFamily="66" charset="0"/>
              </a:rPr>
              <a:t>):</a:t>
            </a:r>
            <a:r>
              <a:rPr lang="zh-CN" altLang="en-US" sz="1800" dirty="0">
                <a:latin typeface="Comic Sans MS" panose="030F0702030302020204" pitchFamily="66" charset="0"/>
              </a:rPr>
              <a:t>表示节点 𝑖在社团 𝑉内的连接数</a:t>
            </a:r>
            <a:endParaRPr lang="en-US" altLang="zh-CN" sz="1800" dirty="0">
              <a:latin typeface="Comic Sans MS" panose="030F0702030302020204" pitchFamily="66" charset="0"/>
            </a:endParaRPr>
          </a:p>
          <a:p>
            <a:pPr indent="17780" eaLnBrk="1">
              <a:buFont typeface="Wingdings" panose="05000000000000000000" pitchFamily="2" charset="2"/>
              <a:buChar char="ü"/>
              <a:defRPr/>
            </a:pPr>
            <a:r>
              <a:rPr lang="zh-CN" altLang="en-US" sz="1800" dirty="0">
                <a:latin typeface="Comic Sans MS" panose="030F0702030302020204" pitchFamily="66" charset="0"/>
              </a:rPr>
              <a:t> 𝑘</a:t>
            </a:r>
            <a:r>
              <a:rPr lang="en-US" altLang="zh-CN" sz="1800" dirty="0">
                <a:latin typeface="Comic Sans MS" panose="030F0702030302020204" pitchFamily="66" charset="0"/>
              </a:rPr>
              <a:t>(</a:t>
            </a:r>
            <a:r>
              <a:rPr lang="zh-CN" altLang="en-US" sz="1800" dirty="0">
                <a:latin typeface="Comic Sans MS" panose="030F0702030302020204" pitchFamily="66" charset="0"/>
              </a:rPr>
              <a:t>𝑖</a:t>
            </a:r>
            <a:r>
              <a:rPr lang="en-US" altLang="zh-CN" sz="1800" dirty="0">
                <a:latin typeface="Comic Sans MS" panose="030F0702030302020204" pitchFamily="66" charset="0"/>
              </a:rPr>
              <a:t>)</a:t>
            </a:r>
            <a:r>
              <a:rPr lang="en-US" altLang="zh-CN" sz="1800" baseline="-25000" dirty="0">
                <a:latin typeface="Comic Sans MS" panose="030F0702030302020204" pitchFamily="66" charset="0"/>
              </a:rPr>
              <a:t>out</a:t>
            </a:r>
            <a:r>
              <a:rPr lang="en-US" altLang="zh-CN" sz="1800" dirty="0">
                <a:latin typeface="Comic Sans MS" panose="030F0702030302020204" pitchFamily="66" charset="0"/>
              </a:rPr>
              <a:t>(</a:t>
            </a:r>
            <a:r>
              <a:rPr lang="zh-CN" altLang="en-US" sz="1800" dirty="0">
                <a:latin typeface="Comic Sans MS" panose="030F0702030302020204" pitchFamily="66" charset="0"/>
              </a:rPr>
              <a:t>𝑉</a:t>
            </a:r>
            <a:r>
              <a:rPr lang="en-US" altLang="zh-CN" sz="1800" dirty="0">
                <a:latin typeface="Comic Sans MS" panose="030F0702030302020204" pitchFamily="66" charset="0"/>
              </a:rPr>
              <a:t>):</a:t>
            </a:r>
            <a:r>
              <a:rPr lang="zh-CN" altLang="en-US" sz="1800" dirty="0">
                <a:latin typeface="Comic Sans MS" panose="030F0702030302020204" pitchFamily="66" charset="0"/>
              </a:rPr>
              <a:t>表示节点 𝑖</a:t>
            </a:r>
            <a:r>
              <a:rPr lang="en-US" altLang="zh-CN" sz="1800" dirty="0">
                <a:latin typeface="Comic Sans MS" panose="030F0702030302020204" pitchFamily="66" charset="0"/>
              </a:rPr>
              <a:t> </a:t>
            </a:r>
            <a:r>
              <a:rPr lang="zh-CN" altLang="en-US" sz="1800" dirty="0">
                <a:latin typeface="Comic Sans MS" panose="030F0702030302020204" pitchFamily="66" charset="0"/>
              </a:rPr>
              <a:t>连接到社团 𝑉外部的连接数</a:t>
            </a:r>
            <a:endParaRPr lang="en-GB" altLang="zh-CN" sz="1800" dirty="0">
              <a:latin typeface="Bitstream Vera Sans" panose="02010600030101010101" pitchFamily="34" charset="-122"/>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Text Box 3"/>
          <p:cNvSpPr txBox="1">
            <a:spLocks noChangeArrowheads="1"/>
          </p:cNvSpPr>
          <p:nvPr/>
        </p:nvSpPr>
        <p:spPr bwMode="auto">
          <a:xfrm>
            <a:off x="251520" y="4628182"/>
            <a:ext cx="7416824" cy="14556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9991" tIns="44996" rIns="89991" bIns="44996">
            <a:spAutoFit/>
          </a:bodyPr>
          <a:lstStyle>
            <a:lvl1pPr marL="342900" indent="-342900" algn="l" defTabSz="0" rtl="0" eaLnBrk="0" fontAlgn="base" hangingPunct="0">
              <a:lnSpc>
                <a:spcPct val="93000"/>
              </a:lnSpc>
              <a:spcBef>
                <a:spcPct val="2000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3200">
                <a:solidFill>
                  <a:srgbClr val="000000"/>
                </a:solidFill>
                <a:latin typeface="Arial" panose="020B0604020202020204" pitchFamily="34" charset="0"/>
                <a:ea typeface="+mn-ea"/>
                <a:cs typeface="Arial" panose="020B0604020202020204" pitchFamily="34" charset="0"/>
              </a:defRPr>
            </a:lvl1pPr>
            <a:lvl2pPr marL="742950" indent="-285750" algn="l" defTabSz="0" rtl="0" eaLnBrk="0" fontAlgn="base" hangingPunct="0">
              <a:lnSpc>
                <a:spcPct val="93000"/>
              </a:lnSpc>
              <a:spcBef>
                <a:spcPct val="2000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800">
                <a:solidFill>
                  <a:srgbClr val="000000"/>
                </a:solidFill>
                <a:latin typeface="Arial" panose="020B0604020202020204" pitchFamily="34" charset="0"/>
                <a:ea typeface="+mn-ea"/>
                <a:cs typeface="Arial" panose="020B0604020202020204" pitchFamily="34" charset="0"/>
              </a:defRPr>
            </a:lvl2pPr>
            <a:lvl3pPr marL="1143000" indent="-228600" algn="l" defTabSz="0" rtl="0" eaLnBrk="0" fontAlgn="base" hangingPunct="0">
              <a:lnSpc>
                <a:spcPct val="93000"/>
              </a:lnSpc>
              <a:spcBef>
                <a:spcPct val="2000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400">
                <a:solidFill>
                  <a:srgbClr val="000000"/>
                </a:solidFill>
                <a:latin typeface="Arial" panose="020B0604020202020204" pitchFamily="34" charset="0"/>
                <a:ea typeface="+mn-ea"/>
                <a:cs typeface="Arial" panose="020B0604020202020204" pitchFamily="34" charset="0"/>
              </a:defRPr>
            </a:lvl3pPr>
            <a:lvl4pPr marL="862330" indent="-214630" algn="l" defTabSz="0" rtl="0" eaLnBrk="0" fontAlgn="base" hangingPunct="0">
              <a:lnSpc>
                <a:spcPct val="93000"/>
              </a:lnSpc>
              <a:spcBef>
                <a:spcPct val="2000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4pPr>
            <a:lvl5pPr marL="2057400" indent="-217805" algn="l" defTabSz="0" rtl="0" eaLnBrk="0" fontAlgn="base" hangingPunct="0">
              <a:lnSpc>
                <a:spcPct val="93000"/>
              </a:lnSpc>
              <a:spcBef>
                <a:spcPct val="2000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5pPr>
            <a:lvl6pPr marL="1536700" indent="-217805" algn="l" defTabSz="457200" rtl="0" fontAlgn="base" hangingPunct="0">
              <a:lnSpc>
                <a:spcPct val="93000"/>
              </a:lnSpc>
              <a:spcBef>
                <a:spcPct val="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6pPr>
            <a:lvl7pPr marL="1993900" indent="-217805" algn="l" defTabSz="457200" rtl="0" fontAlgn="base" hangingPunct="0">
              <a:lnSpc>
                <a:spcPct val="93000"/>
              </a:lnSpc>
              <a:spcBef>
                <a:spcPct val="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7pPr>
            <a:lvl8pPr marL="2451100" indent="-217805" algn="l" defTabSz="457200" rtl="0" fontAlgn="base" hangingPunct="0">
              <a:lnSpc>
                <a:spcPct val="93000"/>
              </a:lnSpc>
              <a:spcBef>
                <a:spcPct val="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8pPr>
            <a:lvl9pPr marL="2908300" indent="-217805" algn="l" defTabSz="457200" rtl="0" fontAlgn="base" hangingPunct="0">
              <a:lnSpc>
                <a:spcPct val="93000"/>
              </a:lnSpc>
              <a:spcBef>
                <a:spcPct val="0"/>
              </a:spcBef>
              <a:spcAft>
                <a:spcPct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sz="2000">
                <a:solidFill>
                  <a:srgbClr val="000000"/>
                </a:solidFill>
                <a:latin typeface="Arial" panose="020B0604020202020204" pitchFamily="34" charset="0"/>
                <a:ea typeface="+mn-ea"/>
                <a:cs typeface="Arial" panose="020B0604020202020204" pitchFamily="34" charset="0"/>
              </a:defRPr>
            </a:lvl9pPr>
          </a:lstStyle>
          <a:p>
            <a:pPr eaLnBrk="1">
              <a:lnSpc>
                <a:spcPct val="120000"/>
              </a:lnSpc>
              <a:spcBef>
                <a:spcPts val="600"/>
              </a:spcBef>
              <a:buSzPct val="100000"/>
              <a:buFont typeface="Wingdings" panose="05000000000000000000" pitchFamily="2" charset="2"/>
              <a:buChar char="n"/>
              <a:defRPr/>
            </a:pPr>
            <a:r>
              <a:rPr lang="zh-CN" altLang="en-US" sz="2000" dirty="0">
                <a:solidFill>
                  <a:srgbClr val="FF0000"/>
                </a:solidFill>
                <a:latin typeface="Comic Sans MS" panose="030F0702030302020204" pitchFamily="66" charset="0"/>
              </a:rPr>
              <a:t>弱意义下的社团定义</a:t>
            </a:r>
            <a:r>
              <a:rPr lang="zh-CN" altLang="en-US" sz="2000" dirty="0">
                <a:latin typeface="Comic Sans MS" panose="030F0702030302020204" pitchFamily="66" charset="0"/>
              </a:rPr>
              <a:t>：</a:t>
            </a:r>
            <a:r>
              <a:rPr lang="zh-CN" altLang="en-US" sz="2000" b="0" dirty="0">
                <a:latin typeface="Comic Sans MS" panose="030F0702030302020204" pitchFamily="66" charset="0"/>
              </a:rPr>
              <a:t>如果对于子图𝑉中的所有节点𝑖，满足 ∑𝑘</a:t>
            </a:r>
            <a:r>
              <a:rPr lang="en-US" altLang="zh-CN" sz="2000" b="0" dirty="0">
                <a:latin typeface="Comic Sans MS" panose="030F0702030302020204" pitchFamily="66" charset="0"/>
              </a:rPr>
              <a:t>(</a:t>
            </a:r>
            <a:r>
              <a:rPr lang="zh-CN" altLang="en-US" sz="2000" b="0" dirty="0">
                <a:latin typeface="Comic Sans MS" panose="030F0702030302020204" pitchFamily="66" charset="0"/>
              </a:rPr>
              <a:t>𝑖</a:t>
            </a:r>
            <a:r>
              <a:rPr lang="en-US" altLang="zh-CN" sz="2000" b="0" dirty="0">
                <a:latin typeface="Comic Sans MS" panose="030F0702030302020204" pitchFamily="66" charset="0"/>
              </a:rPr>
              <a:t>)</a:t>
            </a:r>
            <a:r>
              <a:rPr lang="en-US" altLang="zh-CN" sz="2000" b="0" baseline="-25000" dirty="0">
                <a:latin typeface="Comic Sans MS" panose="030F0702030302020204" pitchFamily="66" charset="0"/>
              </a:rPr>
              <a:t>in</a:t>
            </a:r>
            <a:r>
              <a:rPr lang="en-US" altLang="zh-CN" sz="2000" b="0" dirty="0">
                <a:latin typeface="Comic Sans MS" panose="030F0702030302020204" pitchFamily="66" charset="0"/>
              </a:rPr>
              <a:t>(</a:t>
            </a:r>
            <a:r>
              <a:rPr lang="zh-CN" altLang="en-US" sz="2000" b="0" dirty="0">
                <a:latin typeface="Comic Sans MS" panose="030F0702030302020204" pitchFamily="66" charset="0"/>
              </a:rPr>
              <a:t>𝑉</a:t>
            </a:r>
            <a:r>
              <a:rPr lang="en-US" altLang="zh-CN" sz="2000" b="0" dirty="0">
                <a:latin typeface="Comic Sans MS" panose="030F0702030302020204" pitchFamily="66" charset="0"/>
              </a:rPr>
              <a:t>) &gt; ∑</a:t>
            </a:r>
            <a:r>
              <a:rPr lang="zh-CN" altLang="en-US" sz="2000" b="0" dirty="0">
                <a:latin typeface="Comic Sans MS" panose="030F0702030302020204" pitchFamily="66" charset="0"/>
              </a:rPr>
              <a:t>𝑘</a:t>
            </a:r>
            <a:r>
              <a:rPr lang="en-US" altLang="zh-CN" sz="2000" b="0" dirty="0">
                <a:latin typeface="Comic Sans MS" panose="030F0702030302020204" pitchFamily="66" charset="0"/>
              </a:rPr>
              <a:t>(</a:t>
            </a:r>
            <a:r>
              <a:rPr lang="zh-CN" altLang="en-US" sz="2000" b="0" dirty="0">
                <a:latin typeface="Comic Sans MS" panose="030F0702030302020204" pitchFamily="66" charset="0"/>
              </a:rPr>
              <a:t>𝑖</a:t>
            </a:r>
            <a:r>
              <a:rPr lang="en-US" altLang="zh-CN" sz="2000" b="0" dirty="0">
                <a:latin typeface="Comic Sans MS" panose="030F0702030302020204" pitchFamily="66" charset="0"/>
              </a:rPr>
              <a:t>)</a:t>
            </a:r>
            <a:r>
              <a:rPr lang="en-US" altLang="zh-CN" sz="2000" b="0" baseline="-25000" dirty="0">
                <a:latin typeface="Comic Sans MS" panose="030F0702030302020204" pitchFamily="66" charset="0"/>
              </a:rPr>
              <a:t>out</a:t>
            </a:r>
            <a:r>
              <a:rPr lang="en-US" altLang="zh-CN" sz="2000" b="0" dirty="0">
                <a:latin typeface="Comic Sans MS" panose="030F0702030302020204" pitchFamily="66" charset="0"/>
              </a:rPr>
              <a:t>(</a:t>
            </a:r>
            <a:r>
              <a:rPr lang="zh-CN" altLang="en-US" sz="2000" b="0" dirty="0">
                <a:latin typeface="Comic Sans MS" panose="030F0702030302020204" pitchFamily="66" charset="0"/>
              </a:rPr>
              <a:t>𝑉</a:t>
            </a:r>
            <a:r>
              <a:rPr lang="en-US" altLang="zh-CN" sz="2000" b="0" dirty="0">
                <a:latin typeface="Comic Sans MS" panose="030F0702030302020204" pitchFamily="66" charset="0"/>
              </a:rPr>
              <a:t>)</a:t>
            </a:r>
            <a:r>
              <a:rPr lang="zh-CN" altLang="en-US" sz="2000" b="0" dirty="0">
                <a:latin typeface="Comic Sans MS" panose="030F0702030302020204" pitchFamily="66" charset="0"/>
              </a:rPr>
              <a:t>，则子图 𝑉</a:t>
            </a:r>
            <a:r>
              <a:rPr lang="en-US" altLang="zh-CN" sz="2000" b="0" dirty="0">
                <a:latin typeface="Comic Sans MS" panose="030F0702030302020204" pitchFamily="66" charset="0"/>
              </a:rPr>
              <a:t> </a:t>
            </a:r>
            <a:r>
              <a:rPr lang="zh-CN" altLang="en-US" sz="2000" b="0" dirty="0">
                <a:latin typeface="Comic Sans MS" panose="030F0702030302020204" pitchFamily="66" charset="0"/>
              </a:rPr>
              <a:t>是一个弱意义上的社团</a:t>
            </a:r>
            <a:endParaRPr lang="en-US" altLang="zh-CN" sz="2000" b="0" dirty="0">
              <a:latin typeface="Comic Sans MS" panose="030F0702030302020204" pitchFamily="66" charset="0"/>
            </a:endParaRPr>
          </a:p>
          <a:p>
            <a:pPr indent="17780" eaLnBrk="1">
              <a:buFont typeface="Wingdings" panose="05000000000000000000" pitchFamily="2" charset="2"/>
              <a:buChar char="ü"/>
              <a:defRPr/>
            </a:pPr>
            <a:r>
              <a:rPr lang="zh-CN" altLang="en-US" sz="1800" b="0" dirty="0">
                <a:latin typeface="Comic Sans MS" panose="030F0702030302020204" pitchFamily="66" charset="0"/>
              </a:rPr>
              <a:t> ∑𝑘</a:t>
            </a:r>
            <a:r>
              <a:rPr lang="en-US" altLang="zh-CN" sz="1800" b="0" dirty="0">
                <a:latin typeface="Comic Sans MS" panose="030F0702030302020204" pitchFamily="66" charset="0"/>
              </a:rPr>
              <a:t>(</a:t>
            </a:r>
            <a:r>
              <a:rPr lang="zh-CN" altLang="en-US" sz="1800" b="0" dirty="0">
                <a:latin typeface="Comic Sans MS" panose="030F0702030302020204" pitchFamily="66" charset="0"/>
              </a:rPr>
              <a:t>𝑖</a:t>
            </a:r>
            <a:r>
              <a:rPr lang="en-US" altLang="zh-CN" sz="1800" b="0" dirty="0">
                <a:latin typeface="Comic Sans MS" panose="030F0702030302020204" pitchFamily="66" charset="0"/>
              </a:rPr>
              <a:t>)in(</a:t>
            </a:r>
            <a:r>
              <a:rPr lang="zh-CN" altLang="en-US" sz="1800" b="0" dirty="0">
                <a:latin typeface="Comic Sans MS" panose="030F0702030302020204" pitchFamily="66" charset="0"/>
              </a:rPr>
              <a:t>𝑉</a:t>
            </a:r>
            <a:r>
              <a:rPr lang="en-US" altLang="zh-CN" sz="1800" b="0" dirty="0">
                <a:latin typeface="Comic Sans MS" panose="030F0702030302020204" pitchFamily="66" charset="0"/>
              </a:rPr>
              <a:t>):</a:t>
            </a:r>
            <a:r>
              <a:rPr lang="zh-CN" altLang="en-US" sz="1800" b="0" dirty="0">
                <a:latin typeface="Comic Sans MS" panose="030F0702030302020204" pitchFamily="66" charset="0"/>
              </a:rPr>
              <a:t>表示社团 𝑉内所有节点的内部连接数之和</a:t>
            </a:r>
            <a:endParaRPr lang="en-US" altLang="zh-CN" sz="1800" b="0" dirty="0">
              <a:latin typeface="Comic Sans MS" panose="030F0702030302020204" pitchFamily="66" charset="0"/>
            </a:endParaRPr>
          </a:p>
          <a:p>
            <a:pPr indent="17780" eaLnBrk="1">
              <a:buFont typeface="Wingdings" panose="05000000000000000000" pitchFamily="2" charset="2"/>
              <a:buChar char="ü"/>
              <a:defRPr/>
            </a:pPr>
            <a:r>
              <a:rPr lang="zh-CN" altLang="en-US" sz="1800" b="0" dirty="0">
                <a:latin typeface="Comic Sans MS" panose="030F0702030302020204" pitchFamily="66" charset="0"/>
              </a:rPr>
              <a:t> ∑𝑘</a:t>
            </a:r>
            <a:r>
              <a:rPr lang="en-US" altLang="zh-CN" sz="1800" b="0" dirty="0">
                <a:latin typeface="Comic Sans MS" panose="030F0702030302020204" pitchFamily="66" charset="0"/>
              </a:rPr>
              <a:t>(</a:t>
            </a:r>
            <a:r>
              <a:rPr lang="zh-CN" altLang="en-US" sz="1800" b="0" dirty="0">
                <a:latin typeface="Comic Sans MS" panose="030F0702030302020204" pitchFamily="66" charset="0"/>
              </a:rPr>
              <a:t>𝑖</a:t>
            </a:r>
            <a:r>
              <a:rPr lang="en-US" altLang="zh-CN" sz="1800" b="0" dirty="0">
                <a:latin typeface="Comic Sans MS" panose="030F0702030302020204" pitchFamily="66" charset="0"/>
              </a:rPr>
              <a:t>)out(</a:t>
            </a:r>
            <a:r>
              <a:rPr lang="zh-CN" altLang="en-US" sz="1800" b="0" dirty="0">
                <a:latin typeface="Comic Sans MS" panose="030F0702030302020204" pitchFamily="66" charset="0"/>
              </a:rPr>
              <a:t>𝑉</a:t>
            </a:r>
            <a:r>
              <a:rPr lang="en-US" altLang="zh-CN" sz="1800" b="0" dirty="0">
                <a:latin typeface="Comic Sans MS" panose="030F0702030302020204" pitchFamily="66" charset="0"/>
              </a:rPr>
              <a:t>):</a:t>
            </a:r>
            <a:r>
              <a:rPr lang="zh-CN" altLang="en-US" sz="1800" b="0" dirty="0">
                <a:latin typeface="Comic Sans MS" panose="030F0702030302020204" pitchFamily="66" charset="0"/>
              </a:rPr>
              <a:t>表示社团𝑉内所有节点的外部连接数之和</a:t>
            </a:r>
            <a:endParaRPr lang="en-GB" altLang="zh-CN" sz="1800" b="0" dirty="0">
              <a:latin typeface="Comic Sans MS" panose="030F0702030302020204" pitchFamily="66" charset="0"/>
            </a:endParaRPr>
          </a:p>
        </p:txBody>
      </p:sp>
      <p:pic>
        <p:nvPicPr>
          <p:cNvPr id="4" name="图片 3"/>
          <p:cNvPicPr>
            <a:picLocks noChangeAspect="1"/>
          </p:cNvPicPr>
          <p:nvPr/>
        </p:nvPicPr>
        <p:blipFill>
          <a:blip r:embed="rId1"/>
          <a:stretch>
            <a:fillRect/>
          </a:stretch>
        </p:blipFill>
        <p:spPr>
          <a:xfrm>
            <a:off x="7203732" y="2635838"/>
            <a:ext cx="1595647" cy="1527084"/>
          </a:xfrm>
          <a:prstGeom prst="rect">
            <a:avLst/>
          </a:prstGeom>
        </p:spPr>
      </p:pic>
      <p:sp>
        <p:nvSpPr>
          <p:cNvPr id="9" name="矩形 8"/>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0" name="Rectangle 3"/>
          <p:cNvSpPr txBox="1">
            <a:spLocks noChangeArrowheads="1"/>
          </p:cNvSpPr>
          <p:nvPr/>
        </p:nvSpPr>
        <p:spPr bwMode="auto">
          <a:xfrm>
            <a:off x="179512" y="1269832"/>
            <a:ext cx="8555424" cy="719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社团结构</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0605" y="5085080"/>
            <a:ext cx="1449070" cy="142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
          <p:cNvSpPr txBox="1">
            <a:spLocks noGrp="1" noChangeArrowheads="1"/>
          </p:cNvSpPr>
          <p:nvPr>
            <p:ph idx="4294967295"/>
          </p:nvPr>
        </p:nvSpPr>
        <p:spPr bwMode="auto">
          <a:xfrm>
            <a:off x="354012" y="2132856"/>
            <a:ext cx="8435975" cy="281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9991" tIns="44996" rIns="89991" bIns="44996">
            <a:spAutoFit/>
          </a:bodyPr>
          <a:lstStyle>
            <a:lvl1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1pPr>
            <a:lvl2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2pPr>
            <a:lvl3pPr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3pPr>
            <a:lvl4pPr marL="862330" indent="-214630"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4pPr>
            <a:lvl5pPr indent="-217805" defTabSz="0">
              <a:lnSpc>
                <a:spcPct val="93000"/>
              </a:lnSpc>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5pPr>
            <a:lvl6pPr marL="15367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6pPr>
            <a:lvl7pPr marL="19939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7pPr>
            <a:lvl8pPr marL="24511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8pPr>
            <a:lvl9pPr marL="2908300" indent="-217805" defTabSz="457200" fontAlgn="base" hangingPunct="0">
              <a:lnSpc>
                <a:spcPct val="93000"/>
              </a:lnSpc>
              <a:spcBef>
                <a:spcPct val="0"/>
              </a:spcBef>
              <a:spcAft>
                <a:spcPct val="0"/>
              </a:spcAft>
              <a:buClr>
                <a:srgbClr val="000000"/>
              </a:buClr>
              <a:buSzPct val="45000"/>
              <a:buFont typeface="Wingdings" panose="05000000000000000000" pitchFamily="2" charset="2"/>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solidFill>
                  <a:srgbClr val="000000"/>
                </a:solidFill>
                <a:latin typeface="Arial" panose="020B0604020202020204" pitchFamily="34" charset="0"/>
                <a:cs typeface="Arial" panose="020B0604020202020204" pitchFamily="34" charset="0"/>
              </a:defRPr>
            </a:lvl9pPr>
          </a:lstStyle>
          <a:p>
            <a:pPr marL="0" marR="0" lvl="0" indent="0" defTabSz="914400" eaLnBrk="1" latinLnBrk="0" hangingPunct="1">
              <a:lnSpc>
                <a:spcPct val="93000"/>
              </a:lnSpc>
              <a:spcBef>
                <a:spcPts val="0"/>
              </a:spcBef>
              <a:spcAft>
                <a:spcPts val="0"/>
              </a:spcAft>
              <a:buClr>
                <a:srgbClr val="000000"/>
              </a:buClr>
              <a:buSzPct val="100000"/>
              <a:buFont typeface="Wingdings" panose="05000000000000000000" pitchFamily="2" charset="2"/>
              <a:buChar char="n"/>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pPr>
            <a:r>
              <a:rPr kumimoji="0" lang="en-GB" altLang="zh-CN" sz="24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 </a:t>
            </a:r>
            <a:r>
              <a:rPr kumimoji="0" lang="en-GB" altLang="zh-CN" sz="2000" b="1" i="0" u="none"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Comic Sans MS" panose="030F0702030302020204" pitchFamily="66" charset="0"/>
                <a:cs typeface="Arial" panose="020B0604020202020204" pitchFamily="34" charset="0"/>
              </a:rPr>
              <a:t>Modularity</a:t>
            </a:r>
            <a:r>
              <a:rPr kumimoji="0" lang="en-GB" altLang="zh-CN" sz="2000" b="0" i="0" u="none" strike="noStrike" kern="0" cap="none" spc="0" normalizeH="0" baseline="0" noProof="0" dirty="0">
                <a:ln>
                  <a:noFill/>
                </a:ln>
                <a:solidFill>
                  <a:srgbClr val="0000FF"/>
                </a:solidFill>
                <a:effectLst/>
                <a:uLnTx/>
                <a:uFillTx/>
                <a:cs typeface="Arial" panose="020B0604020202020204" pitchFamily="34" charset="0"/>
              </a:rPr>
              <a:t> </a:t>
            </a:r>
            <a:r>
              <a:rPr kumimoji="0" lang="zh-CN" altLang="en-US" sz="2000" b="1" i="0" u="none"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Comic Sans MS" panose="030F0702030302020204" pitchFamily="66" charset="0"/>
                <a:cs typeface="Arial" panose="020B0604020202020204" pitchFamily="34" charset="0"/>
              </a:rPr>
              <a:t>：</a:t>
            </a:r>
            <a:r>
              <a:rPr kumimoji="0" lang="en-US" altLang="zh-CN" sz="20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For a network divided in </a:t>
            </a:r>
            <a:r>
              <a:rPr kumimoji="0" lang="en-US" altLang="zh-CN" sz="2000" b="0" i="0" u="none" strike="noStrike" kern="0" cap="none" spc="0" normalizeH="0" baseline="0" noProof="0" dirty="0">
                <a:ln>
                  <a:noFill/>
                </a:ln>
                <a:solidFill>
                  <a:srgbClr val="3333FF"/>
                </a:solidFill>
                <a:effectLst/>
                <a:uLnTx/>
                <a:uFillTx/>
                <a:latin typeface="Comic Sans MS" panose="030F0702030302020204" pitchFamily="66" charset="0"/>
                <a:cs typeface="Arial" panose="020B0604020202020204" pitchFamily="34" charset="0"/>
              </a:rPr>
              <a:t>g</a:t>
            </a:r>
            <a:r>
              <a:rPr kumimoji="0" lang="en-US" altLang="zh-CN" sz="20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 groups</a:t>
            </a:r>
            <a:br>
              <a:rPr kumimoji="0" lang="en-GB" altLang="zh-CN" sz="20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br>
            <a:endParaRPr kumimoji="0" lang="en-GB" altLang="zh-CN" sz="20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endParaRPr>
          </a:p>
          <a:p>
            <a:pPr marL="0" marR="0" lvl="2" indent="0" defTabSz="914400" eaLnBrk="1" latinLnBrk="0" hangingPunct="1">
              <a:spcBef>
                <a:spcPts val="1440"/>
              </a:spcBef>
              <a:spcAft>
                <a:spcPts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pPr>
            <a:r>
              <a:rPr kumimoji="0" lang="en-GB" altLang="zh-CN" sz="1800" b="0" i="0" u="none" strike="noStrike" kern="0" cap="none" spc="0" normalizeH="0" baseline="0" noProof="0" dirty="0">
                <a:ln>
                  <a:noFill/>
                </a:ln>
                <a:solidFill>
                  <a:srgbClr val="000000"/>
                </a:solidFill>
                <a:effectLst/>
                <a:uLnTx/>
                <a:uFillTx/>
                <a:latin typeface="Bitstream Vera Sans" panose="02010600030101010101" pitchFamily="34" charset="-122"/>
                <a:cs typeface="Arial" panose="020B0604020202020204" pitchFamily="34" charset="0"/>
              </a:rPr>
              <a:t> </a:t>
            </a:r>
            <a:r>
              <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Define a matrix </a:t>
            </a:r>
            <a:r>
              <a:rPr kumimoji="0" lang="en-GB" altLang="zh-CN" sz="1800" b="0" i="0" u="none" strike="noStrike" kern="0" cap="none" spc="0" normalizeH="0" baseline="0" noProof="0" dirty="0">
                <a:ln>
                  <a:noFill/>
                </a:ln>
                <a:solidFill>
                  <a:srgbClr val="3333FF"/>
                </a:solidFill>
                <a:effectLst/>
                <a:uLnTx/>
                <a:uFillTx/>
                <a:latin typeface="Verdana" panose="020B0604030504040204"/>
                <a:cs typeface="Arial" panose="020B0604020202020204" pitchFamily="34" charset="0"/>
              </a:rPr>
              <a:t>g X g </a:t>
            </a:r>
            <a:endParaRPr kumimoji="0" lang="en-GB" altLang="zh-CN" sz="1800" b="0" i="0" u="none" strike="noStrike" kern="0" cap="none" spc="0" normalizeH="0" baseline="0" noProof="0" dirty="0">
              <a:ln>
                <a:noFill/>
              </a:ln>
              <a:solidFill>
                <a:srgbClr val="3333FF"/>
              </a:solidFill>
              <a:effectLst/>
              <a:uLnTx/>
              <a:uFillTx/>
              <a:latin typeface="Verdana" panose="020B0604030504040204"/>
              <a:cs typeface="Arial" panose="020B0604020202020204" pitchFamily="34" charset="0"/>
            </a:endParaRPr>
          </a:p>
          <a:p>
            <a:pPr marL="0" lvl="2" indent="0" eaLnBrk="1" hangingPunct="1">
              <a:spcBef>
                <a:spcPts val="1440"/>
              </a:spcBef>
              <a:spcAft>
                <a:spcPts val="0"/>
              </a:spcAft>
              <a:buFont typeface="Wingdings" panose="05000000000000000000" pitchFamily="2" charset="2"/>
              <a:buChar char=""/>
              <a:defRPr/>
            </a:pPr>
            <a:r>
              <a:rPr kumimoji="0" lang="en-GB" altLang="zh-CN" sz="1800" b="0" i="1" u="none" strike="noStrike" kern="0" cap="none" spc="0" normalizeH="0" baseline="0" noProof="0" dirty="0" err="1">
                <a:ln>
                  <a:noFill/>
                </a:ln>
                <a:solidFill>
                  <a:srgbClr val="3333FF"/>
                </a:solidFill>
                <a:effectLst/>
                <a:uLnTx/>
                <a:uFillTx/>
                <a:latin typeface="Verdana" panose="020B0604030504040204"/>
                <a:cs typeface="Arial" panose="020B0604020202020204" pitchFamily="34" charset="0"/>
              </a:rPr>
              <a:t>e</a:t>
            </a:r>
            <a:r>
              <a:rPr kumimoji="0" lang="en-GB" altLang="zh-CN" sz="2000" b="0" i="1" u="none" strike="noStrike" kern="0" cap="none" spc="0" normalizeH="0" baseline="0" noProof="0" dirty="0" err="1">
                <a:ln>
                  <a:noFill/>
                </a:ln>
                <a:solidFill>
                  <a:srgbClr val="3333FF"/>
                </a:solidFill>
                <a:effectLst/>
                <a:uLnTx/>
                <a:uFillTx/>
                <a:latin typeface="Verdana" panose="020B0604030504040204"/>
                <a:cs typeface="Arial" panose="020B0604020202020204" pitchFamily="34" charset="0"/>
              </a:rPr>
              <a:t>ij</a:t>
            </a:r>
            <a:r>
              <a:rPr kumimoji="0" lang="en-GB" altLang="zh-CN" sz="1800" b="0" i="0" u="none" strike="noStrike" kern="0" cap="none" spc="0" normalizeH="0" baseline="0" noProof="0" dirty="0">
                <a:ln>
                  <a:noFill/>
                </a:ln>
                <a:solidFill>
                  <a:srgbClr val="3333FF"/>
                </a:solidFill>
                <a:effectLst/>
                <a:uLnTx/>
                <a:uFillTx/>
                <a:latin typeface="Comic Sans MS" panose="030F0702030302020204" pitchFamily="66" charset="0"/>
                <a:cs typeface="Arial" panose="020B0604020202020204" pitchFamily="34" charset="0"/>
              </a:rPr>
              <a:t> </a:t>
            </a:r>
            <a:r>
              <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 fraction of </a:t>
            </a:r>
            <a:r>
              <a:rPr lang="en-GB" altLang="zh-CN" sz="1800" b="0" dirty="0">
                <a:latin typeface="Comic Sans MS" panose="030F0702030302020204" pitchFamily="66" charset="0"/>
              </a:rPr>
              <a:t>edges that </a:t>
            </a:r>
            <a:r>
              <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connects the group i to j</a:t>
            </a:r>
            <a:endPar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endParaRPr>
          </a:p>
          <a:p>
            <a:pPr marL="914400" marR="0" lvl="2" indent="0" algn="ctr" defTabSz="914400" eaLnBrk="1" latinLnBrk="0" hangingPunct="1">
              <a:spcBef>
                <a:spcPts val="1440"/>
              </a:spcBef>
              <a:spcAft>
                <a:spcPts val="0"/>
              </a:spcAft>
              <a:buClr>
                <a:srgbClr val="000000"/>
              </a:buClr>
              <a:buSzPct val="45000"/>
              <a:buFont typeface="Wingdings" panose="05000000000000000000" pitchFamily="2" charset="2"/>
              <a:buNone/>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pPr>
            <a:r>
              <a:rPr kumimoji="0" lang="en-GB" altLang="zh-CN" sz="3000" b="0" i="1" u="none" strike="noStrike" kern="0" cap="none" spc="0" normalizeH="0" baseline="0" noProof="0" dirty="0">
                <a:ln>
                  <a:noFill/>
                </a:ln>
                <a:solidFill>
                  <a:srgbClr val="000000"/>
                </a:solidFill>
                <a:effectLst/>
                <a:uLnTx/>
                <a:uFillTx/>
                <a:latin typeface="Bitstream Vera Sans" panose="02010600030101010101" pitchFamily="34" charset="-122"/>
                <a:cs typeface="Arial" panose="020B0604020202020204" pitchFamily="34" charset="0"/>
              </a:rPr>
              <a:t>Q</a:t>
            </a:r>
            <a:r>
              <a:rPr kumimoji="0" lang="en-GB" altLang="zh-CN" sz="3000" b="0" i="0" u="none" strike="noStrike" kern="0" cap="none" spc="0" normalizeH="0" baseline="0" noProof="0" dirty="0">
                <a:ln>
                  <a:noFill/>
                </a:ln>
                <a:solidFill>
                  <a:srgbClr val="000000"/>
                </a:solidFill>
                <a:effectLst/>
                <a:uLnTx/>
                <a:uFillTx/>
                <a:latin typeface="Bitstream Vera Sans" panose="02010600030101010101" pitchFamily="34" charset="-122"/>
                <a:cs typeface="Arial" panose="020B0604020202020204" pitchFamily="34" charset="0"/>
              </a:rPr>
              <a:t> =</a:t>
            </a:r>
            <a:r>
              <a:rPr kumimoji="0" lang="en-GB" altLang="zh-CN" sz="3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rPr>
              <a:t> </a:t>
            </a:r>
            <a:r>
              <a:rPr kumimoji="0" lang="en-GB" altLang="zh-CN" sz="4000" b="0" i="0" u="none" strike="noStrike" kern="0" cap="none" spc="0" normalizeH="0" baseline="0" noProof="0" dirty="0">
                <a:ln>
                  <a:noFill/>
                </a:ln>
                <a:solidFill>
                  <a:srgbClr val="000000"/>
                </a:solidFill>
                <a:effectLst/>
                <a:uLnTx/>
                <a:uFillTx/>
                <a:latin typeface="Symbol" panose="05050102010706020507" pitchFamily="18" charset="2"/>
                <a:cs typeface="Arial" panose="020B0604020202020204" pitchFamily="34" charset="0"/>
              </a:rPr>
              <a:t>S</a:t>
            </a:r>
            <a:r>
              <a:rPr kumimoji="0" lang="en-GB" altLang="zh-CN" sz="3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rPr>
              <a:t> </a:t>
            </a:r>
            <a:r>
              <a:rPr kumimoji="0" lang="en-GB" altLang="zh-CN" sz="4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rPr>
              <a:t>[</a:t>
            </a:r>
            <a:r>
              <a:rPr kumimoji="0" lang="en-GB" altLang="zh-CN" sz="3000" b="0" i="1" u="none" strike="noStrike" kern="0" cap="none" spc="0" normalizeH="0" baseline="0" noProof="0" dirty="0" err="1">
                <a:ln>
                  <a:noFill/>
                </a:ln>
                <a:solidFill>
                  <a:srgbClr val="000000"/>
                </a:solidFill>
                <a:effectLst/>
                <a:uLnTx/>
                <a:uFillTx/>
                <a:latin typeface="Bitstream Vera Sans" panose="02010600030101010101" pitchFamily="34" charset="-122"/>
                <a:cs typeface="Arial" panose="020B0604020202020204" pitchFamily="34" charset="0"/>
              </a:rPr>
              <a:t>e</a:t>
            </a:r>
            <a:r>
              <a:rPr kumimoji="0" lang="en-GB" altLang="zh-CN" sz="2000" b="0" i="1" u="none" strike="noStrike" kern="0" cap="none" spc="0" normalizeH="0" baseline="0" noProof="0" dirty="0" err="1">
                <a:ln>
                  <a:noFill/>
                </a:ln>
                <a:solidFill>
                  <a:srgbClr val="000000"/>
                </a:solidFill>
                <a:effectLst/>
                <a:uLnTx/>
                <a:uFillTx/>
                <a:latin typeface="Bitstream Vera Sans" panose="02010600030101010101" pitchFamily="34" charset="-122"/>
                <a:cs typeface="Arial" panose="020B0604020202020204" pitchFamily="34" charset="0"/>
              </a:rPr>
              <a:t>ii</a:t>
            </a:r>
            <a:r>
              <a:rPr kumimoji="0" lang="en-GB" altLang="zh-CN" sz="3000" b="0" i="0" u="none" strike="noStrike" kern="0" cap="none" spc="0" normalizeH="0" baseline="0" noProof="0" dirty="0">
                <a:ln>
                  <a:noFill/>
                </a:ln>
                <a:solidFill>
                  <a:srgbClr val="000000"/>
                </a:solidFill>
                <a:effectLst/>
                <a:uLnTx/>
                <a:uFillTx/>
                <a:latin typeface="Bitstream Vera Sans" panose="02010600030101010101" pitchFamily="34" charset="-122"/>
                <a:cs typeface="Arial" panose="020B0604020202020204" pitchFamily="34" charset="0"/>
              </a:rPr>
              <a:t> –</a:t>
            </a:r>
            <a:r>
              <a:rPr kumimoji="0" lang="en-GB" altLang="zh-CN" sz="3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rPr>
              <a:t> (</a:t>
            </a:r>
            <a:r>
              <a:rPr kumimoji="0" lang="en-GB" altLang="zh-CN" sz="4000" b="0" i="0" u="none" strike="noStrike" kern="0" cap="none" spc="0" normalizeH="0" baseline="0" noProof="0" dirty="0">
                <a:ln>
                  <a:noFill/>
                </a:ln>
                <a:solidFill>
                  <a:srgbClr val="000000"/>
                </a:solidFill>
                <a:effectLst/>
                <a:uLnTx/>
                <a:uFillTx/>
                <a:latin typeface="Symbol" panose="05050102010706020507" pitchFamily="18" charset="2"/>
                <a:cs typeface="Arial" panose="020B0604020202020204" pitchFamily="34" charset="0"/>
              </a:rPr>
              <a:t>S</a:t>
            </a:r>
            <a:r>
              <a:rPr kumimoji="0" lang="en-GB" altLang="zh-CN" sz="3200" b="0" i="0" u="none" strike="noStrike" kern="0" cap="none" spc="0" normalizeH="0" baseline="0" noProof="0" dirty="0">
                <a:ln>
                  <a:noFill/>
                </a:ln>
                <a:solidFill>
                  <a:srgbClr val="006699"/>
                </a:solidFill>
                <a:effectLst/>
                <a:uLnTx/>
                <a:uFillTx/>
                <a:latin typeface="Symbol" panose="05050102010706020507" pitchFamily="18" charset="2"/>
                <a:cs typeface="Arial" panose="020B0604020202020204" pitchFamily="34" charset="0"/>
              </a:rPr>
              <a:t> </a:t>
            </a:r>
            <a:r>
              <a:rPr kumimoji="0" lang="en-GB" altLang="zh-CN" sz="3000" b="0" i="1" u="none" strike="noStrike" kern="0" cap="none" spc="0" normalizeH="0" baseline="0" noProof="0" dirty="0" err="1">
                <a:ln>
                  <a:noFill/>
                </a:ln>
                <a:solidFill>
                  <a:srgbClr val="000000"/>
                </a:solidFill>
                <a:effectLst/>
                <a:uLnTx/>
                <a:uFillTx/>
                <a:latin typeface="Bitstream Vera Sans" panose="02010600030101010101" pitchFamily="34" charset="-122"/>
                <a:cs typeface="Arial" panose="020B0604020202020204" pitchFamily="34" charset="0"/>
              </a:rPr>
              <a:t>e</a:t>
            </a:r>
            <a:r>
              <a:rPr kumimoji="0" lang="en-GB" altLang="zh-CN" sz="2000" b="0" i="1" u="none" strike="noStrike" kern="0" cap="none" spc="0" normalizeH="0" baseline="0" noProof="0" dirty="0" err="1">
                <a:ln>
                  <a:noFill/>
                </a:ln>
                <a:solidFill>
                  <a:srgbClr val="000000"/>
                </a:solidFill>
                <a:effectLst/>
                <a:uLnTx/>
                <a:uFillTx/>
                <a:latin typeface="Bitstream Vera Sans" panose="02010600030101010101" pitchFamily="34" charset="-122"/>
                <a:cs typeface="Arial" panose="020B0604020202020204" pitchFamily="34" charset="0"/>
              </a:rPr>
              <a:t>ij</a:t>
            </a:r>
            <a:r>
              <a:rPr kumimoji="0" lang="en-GB" altLang="zh-CN" sz="2000" b="0" i="0" u="none" strike="noStrike" kern="0" cap="none" spc="0" normalizeH="0" baseline="0" noProof="0" dirty="0">
                <a:ln>
                  <a:noFill/>
                </a:ln>
                <a:solidFill>
                  <a:srgbClr val="000000"/>
                </a:solidFill>
                <a:effectLst/>
                <a:uLnTx/>
                <a:uFillTx/>
                <a:latin typeface="Bitstream Vera Sans" panose="02010600030101010101" pitchFamily="34" charset="-122"/>
                <a:cs typeface="Arial" panose="020B0604020202020204" pitchFamily="34" charset="0"/>
              </a:rPr>
              <a:t> )</a:t>
            </a:r>
            <a:r>
              <a:rPr kumimoji="0" lang="en-GB" altLang="zh-CN" sz="2000" b="0" i="0" u="none" strike="noStrike" kern="0" cap="none" spc="0" normalizeH="0" baseline="30000" noProof="0" dirty="0">
                <a:ln>
                  <a:noFill/>
                </a:ln>
                <a:solidFill>
                  <a:srgbClr val="000000"/>
                </a:solidFill>
                <a:effectLst/>
                <a:uLnTx/>
                <a:uFillTx/>
                <a:latin typeface="Bitstream Vera Sans" panose="02010600030101010101" pitchFamily="34" charset="-122"/>
                <a:cs typeface="Arial" panose="020B0604020202020204" pitchFamily="34" charset="0"/>
              </a:rPr>
              <a:t>2 </a:t>
            </a:r>
            <a:r>
              <a:rPr kumimoji="0" lang="en-GB" altLang="zh-CN" sz="4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rPr>
              <a:t>]</a:t>
            </a:r>
            <a:endParaRPr kumimoji="0" lang="en-GB" altLang="zh-CN" sz="4000" b="0" i="0" u="none" strike="noStrike" kern="0" cap="none" spc="0" normalizeH="0" baseline="0" noProof="0" dirty="0">
              <a:ln>
                <a:noFill/>
              </a:ln>
              <a:solidFill>
                <a:srgbClr val="000000"/>
              </a:solidFill>
              <a:effectLst/>
              <a:uLnTx/>
              <a:uFillTx/>
              <a:latin typeface="Times" panose="02020603050405020304" pitchFamily="18" charset="0"/>
              <a:cs typeface="Arial" panose="020B0604020202020204" pitchFamily="34" charset="0"/>
            </a:endParaRPr>
          </a:p>
          <a:p>
            <a:pPr marL="0" marR="0" lvl="2" indent="0" defTabSz="914400" eaLnBrk="1" latinLnBrk="0" hangingPunct="1">
              <a:spcBef>
                <a:spcPts val="1440"/>
              </a:spcBef>
              <a:spcAft>
                <a:spcPts val="0"/>
              </a:spcAft>
              <a:buClr>
                <a:srgbClr val="000000"/>
              </a:buClr>
              <a:buSzPct val="45000"/>
              <a:buFont typeface="Wingdings" panose="05000000000000000000" pitchFamily="2" charset="2"/>
              <a:buChar char=""/>
              <a:tabLst>
                <a:tab pos="723900" algn="l"/>
                <a:tab pos="1447800" algn="l"/>
                <a:tab pos="2171700" algn="l"/>
                <a:tab pos="2895600" algn="l"/>
                <a:tab pos="3619500" algn="l"/>
                <a:tab pos="4343400" algn="l"/>
                <a:tab pos="5065395" algn="l"/>
                <a:tab pos="5791200" algn="l"/>
                <a:tab pos="6515100" algn="l"/>
                <a:tab pos="7237095" algn="l"/>
                <a:tab pos="7960995" algn="l"/>
                <a:tab pos="8686800" algn="l"/>
              </a:tabLst>
              <a:defRPr/>
            </a:pPr>
            <a:r>
              <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rPr>
              <a:t>Q &gt; 0.3    network with community structure</a:t>
            </a:r>
            <a:endParaRPr kumimoji="0" lang="en-GB" altLang="zh-CN" sz="1800" b="0" i="0" u="none" strike="noStrike" kern="0" cap="none" spc="0" normalizeH="0" baseline="0" noProof="0" dirty="0">
              <a:ln>
                <a:noFill/>
              </a:ln>
              <a:solidFill>
                <a:srgbClr val="000000"/>
              </a:solidFill>
              <a:effectLst/>
              <a:uLnTx/>
              <a:uFillTx/>
              <a:latin typeface="Comic Sans MS" panose="030F0702030302020204" pitchFamily="66" charset="0"/>
              <a:cs typeface="Arial" panose="020B0604020202020204" pitchFamily="34" charset="0"/>
            </a:endParaRPr>
          </a:p>
        </p:txBody>
      </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社团结构</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2" name="Rectangle 6"/>
          <p:cNvSpPr>
            <a:spLocks noChangeArrowheads="1"/>
          </p:cNvSpPr>
          <p:nvPr/>
        </p:nvSpPr>
        <p:spPr bwMode="auto">
          <a:xfrm>
            <a:off x="556260" y="2636912"/>
            <a:ext cx="8047990" cy="938212"/>
          </a:xfrm>
          <a:prstGeom prst="rect">
            <a:avLst/>
          </a:prstGeom>
          <a:solidFill>
            <a:srgbClr val="EDFAD2"/>
          </a:solidFill>
          <a:ln w="9525" algn="ctr">
            <a:solidFill>
              <a:srgbClr val="0066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eaLnBrk="1" latinLnBrk="0" hangingPunct="1">
              <a:spcBef>
                <a:spcPts val="0"/>
              </a:spcBef>
              <a:spcAft>
                <a:spcPts val="0"/>
              </a:spcAft>
              <a:buClrTx/>
              <a:buSzTx/>
              <a:buFontTx/>
              <a:buNone/>
              <a:defRPr/>
            </a:pPr>
            <a:r>
              <a:rPr kumimoji="0" lang="en-US" sz="2000" b="0" i="0" u="none" strike="noStrike" kern="0" cap="none" spc="0" normalizeH="0" baseline="0" noProof="0" dirty="0">
                <a:ln>
                  <a:noFill/>
                </a:ln>
                <a:solidFill>
                  <a:srgbClr val="D60093"/>
                </a:solidFill>
                <a:effectLst>
                  <a:outerShdw blurRad="38100" dist="38100" dir="2700000" algn="tl">
                    <a:srgbClr val="FFFFFF"/>
                  </a:outerShdw>
                </a:effectLst>
                <a:uLnTx/>
                <a:uFillTx/>
                <a:latin typeface="Comic Sans MS" panose="030F0702030302020204" pitchFamily="66" charset="0"/>
              </a:rPr>
              <a:t>1.</a:t>
            </a:r>
            <a:r>
              <a:rPr kumimoji="0" lang="zh-CN" altLang="en-US" sz="2000" b="0" i="0" u="none" strike="noStrike" kern="0" cap="none" spc="0" normalizeH="0" baseline="0" noProof="0" dirty="0">
                <a:ln>
                  <a:noFill/>
                </a:ln>
                <a:effectLst>
                  <a:outerShdw blurRad="38100" dist="38100" dir="2700000" algn="tl">
                    <a:srgbClr val="FFFFFF"/>
                  </a:outerShdw>
                </a:effectLst>
                <a:uLnTx/>
                <a:uFillTx/>
                <a:latin typeface="Comic Sans MS" panose="030F0702030302020204" pitchFamily="66" charset="0"/>
              </a:rPr>
              <a:t>计算网络中所有边的介数：计算网络中每条边的介数，识别“桥梁”</a:t>
            </a:r>
            <a:endParaRPr kumimoji="0" lang="en-US" altLang="zh-CN" sz="2000" b="0" i="0" u="none" strike="noStrike" kern="0" cap="none" spc="0" normalizeH="0" baseline="0" noProof="0" dirty="0">
              <a:ln>
                <a:noFill/>
              </a:ln>
              <a:effectLst>
                <a:outerShdw blurRad="38100" dist="38100" dir="2700000" algn="tl">
                  <a:srgbClr val="FFFFFF"/>
                </a:outerShdw>
              </a:effectLst>
              <a:uLnTx/>
              <a:uFillTx/>
              <a:latin typeface="Comic Sans MS" panose="030F0702030302020204" pitchFamily="66" charset="0"/>
            </a:endParaRPr>
          </a:p>
          <a:p>
            <a:pPr marL="0" marR="0" lvl="0" indent="0" algn="l" defTabSz="914400" eaLnBrk="1" latinLnBrk="0" hangingPunct="1">
              <a:spcBef>
                <a:spcPts val="0"/>
              </a:spcBef>
              <a:spcAft>
                <a:spcPts val="0"/>
              </a:spcAft>
              <a:buClrTx/>
              <a:buSzTx/>
              <a:buFontTx/>
              <a:buNone/>
              <a:defRPr/>
            </a:pPr>
            <a:r>
              <a:rPr kumimoji="0" lang="zh-CN" altLang="en-US" sz="2000" b="0" i="0" u="none" strike="noStrike" kern="0" cap="none" spc="0" normalizeH="0" baseline="0" noProof="0" dirty="0">
                <a:ln>
                  <a:noFill/>
                </a:ln>
                <a:effectLst>
                  <a:outerShdw blurRad="38100" dist="38100" dir="2700000" algn="tl">
                    <a:srgbClr val="FFFFFF"/>
                  </a:outerShdw>
                </a:effectLst>
                <a:uLnTx/>
                <a:uFillTx/>
                <a:latin typeface="Comic Sans MS" panose="030F0702030302020204" pitchFamily="66" charset="0"/>
              </a:rPr>
              <a:t>边（即连接不同社区的边）</a:t>
            </a:r>
            <a:endParaRPr kumimoji="0" lang="en-US" sz="2000" b="0" i="0" u="none" strike="noStrike" kern="0" cap="none" spc="0" normalizeH="0" baseline="0" noProof="0" dirty="0">
              <a:ln>
                <a:noFill/>
              </a:ln>
              <a:solidFill>
                <a:sysClr val="windowText" lastClr="000000"/>
              </a:solidFill>
              <a:effectLst>
                <a:outerShdw blurRad="38100" dist="38100" dir="2700000" algn="tl">
                  <a:srgbClr val="FFFFFF"/>
                </a:outerShdw>
              </a:effectLst>
              <a:uLnTx/>
              <a:uFillTx/>
              <a:latin typeface="Comic Sans MS" panose="030F0702030302020204" pitchFamily="66" charset="0"/>
            </a:endParaRPr>
          </a:p>
        </p:txBody>
      </p:sp>
      <p:sp>
        <p:nvSpPr>
          <p:cNvPr id="13" name="Rectangle 7"/>
          <p:cNvSpPr>
            <a:spLocks noChangeArrowheads="1"/>
          </p:cNvSpPr>
          <p:nvPr/>
        </p:nvSpPr>
        <p:spPr bwMode="auto">
          <a:xfrm>
            <a:off x="531813" y="3717031"/>
            <a:ext cx="8064500" cy="804465"/>
          </a:xfrm>
          <a:prstGeom prst="rect">
            <a:avLst/>
          </a:prstGeom>
          <a:solidFill>
            <a:srgbClr val="EDFAD2"/>
          </a:solidFill>
          <a:ln w="9525" algn="ctr">
            <a:solidFill>
              <a:srgbClr val="0066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eaLnBrk="1" latinLnBrk="0" hangingPunct="1">
              <a:spcBef>
                <a:spcPct val="20000"/>
              </a:spcBef>
              <a:spcAft>
                <a:spcPts val="0"/>
              </a:spcAft>
              <a:buClrTx/>
              <a:buSzTx/>
              <a:buFontTx/>
              <a:buNone/>
              <a:defRPr/>
            </a:pPr>
            <a:r>
              <a:rPr kumimoji="0" lang="en-US" sz="2000" b="0" i="0" u="none" strike="noStrike" kern="0" cap="none" spc="0" normalizeH="0" baseline="0" noProof="0" dirty="0">
                <a:ln>
                  <a:noFill/>
                </a:ln>
                <a:solidFill>
                  <a:srgbClr val="D60093"/>
                </a:solidFill>
                <a:effectLst>
                  <a:outerShdw blurRad="38100" dist="38100" dir="2700000" algn="tl">
                    <a:srgbClr val="000000">
                      <a:alpha val="43137"/>
                    </a:srgbClr>
                  </a:outerShdw>
                </a:effectLst>
                <a:uLnTx/>
                <a:uFillTx/>
                <a:latin typeface="Comic Sans MS" panose="030F0702030302020204" pitchFamily="66" charset="0"/>
              </a:rPr>
              <a:t>2. </a:t>
            </a:r>
            <a:r>
              <a:rPr kumimoji="0" lang="zh-CN" alt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移除介数最高的边：删除介数值最大的边，因为它最有可能连接不同</a:t>
            </a:r>
            <a:endParaRPr kumimoji="0" lang="en-US" altLang="zh-CN" sz="2000" b="0" i="0" u="none" strike="noStrike" kern="0" cap="none" spc="0" normalizeH="0" baseline="0" noProof="0" dirty="0">
              <a:ln>
                <a:noFill/>
              </a:ln>
              <a:solidFill>
                <a:sysClr val="windowText" lastClr="000000"/>
              </a:solidFill>
              <a:effectLst/>
              <a:uLnTx/>
              <a:uFillTx/>
              <a:latin typeface="Comic Sans MS" panose="030F0702030302020204" pitchFamily="66" charset="0"/>
            </a:endParaRPr>
          </a:p>
          <a:p>
            <a:pPr marL="0" marR="0" lvl="0" indent="0" algn="l" defTabSz="914400" eaLnBrk="1" latinLnBrk="0" hangingPunct="1">
              <a:spcBef>
                <a:spcPct val="20000"/>
              </a:spcBef>
              <a:spcAft>
                <a:spcPts val="0"/>
              </a:spcAft>
              <a:buClrTx/>
              <a:buSzTx/>
              <a:buFontTx/>
              <a:buNone/>
              <a:defRPr/>
            </a:pPr>
            <a:r>
              <a:rPr kumimoji="0" lang="zh-CN" alt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的社区</a:t>
            </a:r>
            <a:r>
              <a:rPr kumimoji="0" 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a:t>
            </a:r>
            <a:endParaRPr kumimoji="0" 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endParaRPr>
          </a:p>
        </p:txBody>
      </p:sp>
      <p:sp>
        <p:nvSpPr>
          <p:cNvPr id="14" name="Rectangle 8"/>
          <p:cNvSpPr>
            <a:spLocks noChangeArrowheads="1"/>
          </p:cNvSpPr>
          <p:nvPr/>
        </p:nvSpPr>
        <p:spPr bwMode="auto">
          <a:xfrm>
            <a:off x="539750" y="4569892"/>
            <a:ext cx="8056563" cy="804465"/>
          </a:xfrm>
          <a:prstGeom prst="rect">
            <a:avLst/>
          </a:prstGeom>
          <a:solidFill>
            <a:srgbClr val="EDFAD2"/>
          </a:solidFill>
          <a:ln w="9525" algn="ctr">
            <a:solidFill>
              <a:srgbClr val="0066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eaLnBrk="1" latinLnBrk="0" hangingPunct="1">
              <a:spcBef>
                <a:spcPct val="20000"/>
              </a:spcBef>
              <a:spcAft>
                <a:spcPts val="0"/>
              </a:spcAft>
              <a:buClrTx/>
              <a:buSzTx/>
              <a:buFontTx/>
              <a:buNone/>
              <a:defRPr/>
            </a:pPr>
            <a:r>
              <a:rPr kumimoji="0" lang="en-US" sz="2000" b="0" i="0" u="none" strike="noStrike" kern="0" cap="none" spc="0" normalizeH="0" baseline="0" noProof="0" dirty="0">
                <a:ln>
                  <a:noFill/>
                </a:ln>
                <a:solidFill>
                  <a:srgbClr val="D60093"/>
                </a:solidFill>
                <a:effectLst>
                  <a:outerShdw blurRad="38100" dist="38100" dir="2700000" algn="tl">
                    <a:srgbClr val="000000">
                      <a:alpha val="43137"/>
                    </a:srgbClr>
                  </a:outerShdw>
                </a:effectLst>
                <a:uLnTx/>
                <a:uFillTx/>
                <a:latin typeface="Comic Sans MS" panose="030F0702030302020204" pitchFamily="66" charset="0"/>
              </a:rPr>
              <a:t>3. </a:t>
            </a:r>
            <a:r>
              <a:rPr kumimoji="0" lang="zh-CN" alt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重新计算因移除操作而受影响的所有边的介数：</a:t>
            </a:r>
            <a:r>
              <a:rPr lang="zh-CN" altLang="en-US" sz="2000" b="0" dirty="0"/>
              <a:t>删除边后，重新计</a:t>
            </a:r>
            <a:endParaRPr lang="en-US" altLang="zh-CN" sz="2000" b="0" dirty="0"/>
          </a:p>
          <a:p>
            <a:pPr marL="0" marR="0" lvl="0" indent="0" algn="l" defTabSz="914400" eaLnBrk="1" latinLnBrk="0" hangingPunct="1">
              <a:spcBef>
                <a:spcPct val="20000"/>
              </a:spcBef>
              <a:spcAft>
                <a:spcPts val="0"/>
              </a:spcAft>
              <a:buClrTx/>
              <a:buSzTx/>
              <a:buFontTx/>
              <a:buNone/>
              <a:defRPr/>
            </a:pPr>
            <a:r>
              <a:rPr lang="zh-CN" altLang="en-US" sz="2000" b="0" dirty="0"/>
              <a:t>算受影响边的介数</a:t>
            </a:r>
            <a:r>
              <a:rPr kumimoji="0" 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a:t>
            </a:r>
            <a:endParaRPr kumimoji="0" 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endParaRPr>
          </a:p>
        </p:txBody>
      </p:sp>
      <p:sp>
        <p:nvSpPr>
          <p:cNvPr id="15" name="Rectangle 9"/>
          <p:cNvSpPr>
            <a:spLocks noChangeArrowheads="1"/>
          </p:cNvSpPr>
          <p:nvPr/>
        </p:nvSpPr>
        <p:spPr bwMode="auto">
          <a:xfrm>
            <a:off x="539750" y="5517232"/>
            <a:ext cx="8064500" cy="722188"/>
          </a:xfrm>
          <a:prstGeom prst="rect">
            <a:avLst/>
          </a:prstGeom>
          <a:solidFill>
            <a:srgbClr val="EDFAD2"/>
          </a:solidFill>
          <a:ln w="9525" algn="ctr">
            <a:solidFill>
              <a:srgbClr val="0066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eaLnBrk="1" latinLnBrk="0" hangingPunct="1">
              <a:spcBef>
                <a:spcPts val="0"/>
              </a:spcBef>
              <a:spcAft>
                <a:spcPts val="0"/>
              </a:spcAft>
              <a:buClrTx/>
              <a:buSzTx/>
              <a:buFontTx/>
              <a:buNone/>
              <a:defRPr/>
            </a:pPr>
            <a:r>
              <a:rPr kumimoji="0" lang="en-US" sz="2000" b="0" i="0" u="none" strike="noStrike" kern="0" cap="none" spc="0" normalizeH="0" baseline="0" noProof="0" dirty="0">
                <a:ln>
                  <a:noFill/>
                </a:ln>
                <a:solidFill>
                  <a:srgbClr val="D60093"/>
                </a:solidFill>
                <a:effectLst>
                  <a:outerShdw blurRad="38100" dist="38100" dir="2700000" algn="tl">
                    <a:srgbClr val="000000"/>
                  </a:outerShdw>
                </a:effectLst>
                <a:uLnTx/>
                <a:uFillTx/>
                <a:latin typeface="Comic Sans MS" panose="030F0702030302020204" pitchFamily="66" charset="0"/>
              </a:rPr>
              <a:t>4.</a:t>
            </a:r>
            <a:r>
              <a:rPr kumimoji="0" lang="en-US" sz="2000" b="0" i="0" u="none" strike="noStrike" kern="0" cap="none" spc="0" normalizeH="0" baseline="0" noProof="0" dirty="0">
                <a:ln>
                  <a:noFill/>
                </a:ln>
                <a:solidFill>
                  <a:srgbClr val="D60093"/>
                </a:solidFill>
                <a:effectLst>
                  <a:outerShdw blurRad="38100" dist="38100" dir="2700000" algn="tl">
                    <a:srgbClr val="FFFFFF"/>
                  </a:outerShdw>
                </a:effectLst>
                <a:uLnTx/>
                <a:uFillTx/>
                <a:latin typeface="Comic Sans MS" panose="030F0702030302020204" pitchFamily="66" charset="0"/>
              </a:rPr>
              <a:t> </a:t>
            </a:r>
            <a:r>
              <a:rPr kumimoji="0" lang="zh-CN" alt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从步骤 </a:t>
            </a:r>
            <a:r>
              <a:rPr kumimoji="0" lang="en-US" altLang="zh-CN" sz="2000" b="0" i="0" u="none" strike="noStrike" kern="0" cap="none" spc="0" normalizeH="0" baseline="0" noProof="0" dirty="0">
                <a:ln>
                  <a:noFill/>
                </a:ln>
                <a:solidFill>
                  <a:sysClr val="windowText" lastClr="000000"/>
                </a:solidFill>
                <a:effectLst/>
                <a:uLnTx/>
                <a:uFillTx/>
                <a:latin typeface="Comic Sans MS" panose="030F0702030302020204" pitchFamily="66" charset="0"/>
              </a:rPr>
              <a:t>2 </a:t>
            </a:r>
            <a:r>
              <a:rPr kumimoji="0" lang="zh-CN" alt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rPr>
              <a:t>开始重复，直到直到网络被分割成不同的社区或无边剩余</a:t>
            </a:r>
            <a:endParaRPr kumimoji="0" lang="en-US" sz="2000" b="0" i="0" u="none" strike="noStrike" kern="0" cap="none" spc="0" normalizeH="0" baseline="0" noProof="0" dirty="0">
              <a:ln>
                <a:noFill/>
              </a:ln>
              <a:solidFill>
                <a:sysClr val="windowText" lastClr="000000"/>
              </a:solidFill>
              <a:effectLst/>
              <a:uLnTx/>
              <a:uFillTx/>
              <a:latin typeface="Comic Sans MS" panose="030F0702030302020204" pitchFamily="66" charset="0"/>
            </a:endParaRPr>
          </a:p>
        </p:txBody>
      </p:sp>
      <p:sp>
        <p:nvSpPr>
          <p:cNvPr id="16" name="Rectangle 2"/>
          <p:cNvSpPr txBox="1">
            <a:spLocks noChangeArrowheads="1"/>
          </p:cNvSpPr>
          <p:nvPr/>
        </p:nvSpPr>
        <p:spPr bwMode="auto">
          <a:xfrm>
            <a:off x="457200" y="1628800"/>
            <a:ext cx="8229600" cy="863023"/>
          </a:xfrm>
          <a:prstGeom prst="rect">
            <a:avLst/>
          </a:prstGeom>
          <a:noFill/>
          <a:ln w="9525">
            <a:noFill/>
            <a:miter lim="800000"/>
          </a:ln>
        </p:spPr>
        <p:txBody>
          <a:bodyPr anchor="b"/>
          <a:lst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a:defRPr/>
            </a:pPr>
            <a:r>
              <a:rPr lang="en-US" sz="3600" b="1" dirty="0">
                <a:solidFill>
                  <a:srgbClr val="FF0000"/>
                </a:solidFill>
                <a:effectLst>
                  <a:outerShdw blurRad="38100" dist="38100" dir="2700000" algn="tl">
                    <a:srgbClr val="000000"/>
                  </a:outerShdw>
                </a:effectLst>
              </a:rPr>
              <a:t>GN Algorithm</a:t>
            </a:r>
            <a:endParaRPr lang="en-US" sz="3600" b="1" dirty="0">
              <a:solidFill>
                <a:srgbClr val="FF0000"/>
              </a:solidFill>
              <a:effectLst>
                <a:outerShdw blurRad="38100" dist="38100" dir="2700000" algn="tl">
                  <a:srgbClr val="000000"/>
                </a:outerShdw>
              </a:effectLst>
            </a:endParaRPr>
          </a:p>
        </p:txBody>
      </p:sp>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7" name="Rectangle 3"/>
          <p:cNvSpPr txBox="1">
            <a:spLocks noChangeArrowheads="1"/>
          </p:cNvSpPr>
          <p:nvPr/>
        </p:nvSpPr>
        <p:spPr bwMode="auto">
          <a:xfrm>
            <a:off x="179512" y="1269832"/>
            <a:ext cx="8555424" cy="863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社团结构</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Rectangle 3"/>
          <p:cNvSpPr txBox="1">
            <a:spLocks noChangeArrowheads="1"/>
          </p:cNvSpPr>
          <p:nvPr/>
        </p:nvSpPr>
        <p:spPr bwMode="auto">
          <a:xfrm>
            <a:off x="457200" y="2110300"/>
            <a:ext cx="82296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10000"/>
              </a:lnSpc>
              <a:buFont typeface="Wingdings" panose="05000000000000000000" pitchFamily="2" charset="2"/>
              <a:buChar char="n"/>
              <a:defRPr/>
            </a:pPr>
            <a:r>
              <a:rPr lang="zh-CN" altLang="en-US" sz="2800" dirty="0">
                <a:solidFill>
                  <a:srgbClr val="FF0000"/>
                </a:solidFill>
                <a:latin typeface="Comic Sans MS" panose="030F0702030302020204" pitchFamily="66" charset="0"/>
              </a:rPr>
              <a:t>边的介数：</a:t>
            </a:r>
            <a:r>
              <a:rPr lang="zh-CN" altLang="en-US" sz="2800" dirty="0">
                <a:latin typeface="Comic Sans MS" panose="030F0702030302020204" pitchFamily="66" charset="0"/>
              </a:rPr>
              <a:t>提供了一种检测社团结构的替代方法。通过计算每条边作为节点对之间最短路径的桥梁次数，我们可以识别出连接不同社团的关键边，从而有效地划分社团结构</a:t>
            </a:r>
            <a:endParaRPr lang="en-US" sz="2800" dirty="0">
              <a:latin typeface="Comic Sans MS" panose="030F0702030302020204" pitchFamily="66" charset="0"/>
            </a:endParaRPr>
          </a:p>
          <a:p>
            <a:pPr>
              <a:lnSpc>
                <a:spcPct val="110000"/>
              </a:lnSpc>
              <a:buFont typeface="Wingdings" panose="05000000000000000000" pitchFamily="2" charset="2"/>
              <a:buChar char="n"/>
              <a:defRPr/>
            </a:pPr>
            <a:r>
              <a:rPr lang="zh-CN" altLang="en-US" sz="2800" dirty="0">
                <a:latin typeface="Comic Sans MS" panose="030F0702030302020204" pitchFamily="66" charset="0"/>
              </a:rPr>
              <a:t>定义边的介数为在顶点对之间沿该边经过的最短路径的数量</a:t>
            </a:r>
            <a:endParaRPr lang="en-US" altLang="zh-CN" sz="2800" dirty="0">
              <a:latin typeface="Comic Sans MS" panose="030F0702030302020204" pitchFamily="66" charset="0"/>
            </a:endParaRPr>
          </a:p>
        </p:txBody>
      </p:sp>
      <p:pic>
        <p:nvPicPr>
          <p:cNvPr id="7" name="图片 6"/>
          <p:cNvPicPr>
            <a:picLocks noChangeAspect="1"/>
          </p:cNvPicPr>
          <p:nvPr/>
        </p:nvPicPr>
        <p:blipFill>
          <a:blip r:embed="rId1"/>
          <a:stretch>
            <a:fillRect/>
          </a:stretch>
        </p:blipFill>
        <p:spPr>
          <a:xfrm>
            <a:off x="2987824" y="5094488"/>
            <a:ext cx="4156467" cy="987359"/>
          </a:xfrm>
          <a:prstGeom prst="rect">
            <a:avLst/>
          </a:prstGeom>
        </p:spPr>
      </p:pic>
      <p:sp>
        <p:nvSpPr>
          <p:cNvPr id="8" name="矩形 7"/>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3"/>
          <p:cNvSpPr txBox="1">
            <a:spLocks noChangeArrowheads="1"/>
          </p:cNvSpPr>
          <p:nvPr/>
        </p:nvSpPr>
        <p:spPr bwMode="auto">
          <a:xfrm>
            <a:off x="179512" y="1269832"/>
            <a:ext cx="8555424" cy="609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社团结构</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3" name="对象 2"/>
          <p:cNvGraphicFramePr>
            <a:graphicFrameLocks noChangeAspect="1"/>
          </p:cNvGraphicFramePr>
          <p:nvPr/>
        </p:nvGraphicFramePr>
        <p:xfrm>
          <a:off x="5447875" y="2098006"/>
          <a:ext cx="3500363" cy="3122933"/>
        </p:xfrm>
        <a:graphic>
          <a:graphicData uri="http://schemas.openxmlformats.org/presentationml/2006/ole">
            <mc:AlternateContent xmlns:mc="http://schemas.openxmlformats.org/markup-compatibility/2006">
              <mc:Choice xmlns:v="urn:schemas-microsoft-com:vml" Requires="v">
                <p:oleObj spid="_x0000_s37128" name="SmartDraw" r:id="rId1" imgW="6213475" imgH="5546090" progId="SmartDraw.2">
                  <p:embed/>
                </p:oleObj>
              </mc:Choice>
              <mc:Fallback>
                <p:oleObj name="SmartDraw" r:id="rId1" imgW="6213475" imgH="5546090" progId="SmartDraw.2">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7875" y="2098006"/>
                        <a:ext cx="3500363" cy="3122933"/>
                      </a:xfrm>
                      <a:prstGeom prst="rect">
                        <a:avLst/>
                      </a:prstGeom>
                      <a:noFill/>
                      <a:ln>
                        <a:noFill/>
                      </a:ln>
                    </p:spPr>
                  </p:pic>
                </p:oleObj>
              </mc:Fallback>
            </mc:AlternateContent>
          </a:graphicData>
        </a:graphic>
      </p:graphicFrame>
      <p:sp>
        <p:nvSpPr>
          <p:cNvPr id="7" name="矩形 6"/>
          <p:cNvSpPr/>
          <p:nvPr/>
        </p:nvSpPr>
        <p:spPr>
          <a:xfrm>
            <a:off x="332264" y="2352505"/>
            <a:ext cx="5112568" cy="2384425"/>
          </a:xfrm>
          <a:prstGeom prst="rect">
            <a:avLst/>
          </a:prstGeom>
        </p:spPr>
        <p:txBody>
          <a:bodyPr wrap="square">
            <a:spAutoFit/>
          </a:bodyPr>
          <a:lstStyle/>
          <a:p>
            <a:pPr lvl="0" algn="l">
              <a:lnSpc>
                <a:spcPct val="150000"/>
              </a:lnSpc>
              <a:spcBef>
                <a:spcPts val="600"/>
              </a:spcBef>
              <a:buClr>
                <a:srgbClr val="7200E4"/>
              </a:buClr>
              <a:defRPr/>
            </a:pPr>
            <a:r>
              <a:rPr lang="zh-CN" altLang="en-US" sz="2000" kern="0" dirty="0">
                <a:latin typeface="Palatino Linotype" panose="02040502050505030304" pitchFamily="18" charset="0"/>
              </a:rPr>
              <a:t>由于每移除一条边都必须重复进行此计算，整个算法在最坏情况下的运行时间较长，为</a:t>
            </a:r>
            <a:endParaRPr lang="en-US" altLang="zh-CN" sz="2000" kern="0" dirty="0">
              <a:latin typeface="Palatino Linotype" panose="02040502050505030304" pitchFamily="18" charset="0"/>
            </a:endParaRPr>
          </a:p>
          <a:p>
            <a:pPr lvl="0" algn="l">
              <a:lnSpc>
                <a:spcPct val="150000"/>
              </a:lnSpc>
              <a:spcBef>
                <a:spcPts val="600"/>
              </a:spcBef>
              <a:buClr>
                <a:srgbClr val="7200E4"/>
              </a:buClr>
              <a:defRPr/>
            </a:pPr>
            <a:r>
              <a:rPr lang="en-US" altLang="zh-CN" sz="2000" b="0" i="1" kern="0" dirty="0">
                <a:solidFill>
                  <a:srgbClr val="FF0000"/>
                </a:solidFill>
                <a:latin typeface="Palatino Linotype" panose="02040502050505030304" pitchFamily="18" charset="0"/>
              </a:rPr>
              <a:t>O</a:t>
            </a:r>
            <a:r>
              <a:rPr lang="tr-TR" altLang="zh-CN" sz="2000" b="0" i="1" kern="0" dirty="0">
                <a:solidFill>
                  <a:srgbClr val="FF0000"/>
                </a:solidFill>
                <a:latin typeface="Palatino Linotype" panose="02040502050505030304" pitchFamily="18" charset="0"/>
              </a:rPr>
              <a:t> </a:t>
            </a:r>
            <a:r>
              <a:rPr lang="en-US" altLang="zh-CN" sz="2000" b="0" kern="0" dirty="0">
                <a:solidFill>
                  <a:srgbClr val="FF0000"/>
                </a:solidFill>
                <a:latin typeface="Palatino Linotype" panose="02040502050505030304" pitchFamily="18" charset="0"/>
              </a:rPr>
              <a:t>(</a:t>
            </a:r>
            <a:r>
              <a:rPr lang="en-US" altLang="zh-CN" sz="2000" b="0" i="1" kern="0" dirty="0">
                <a:solidFill>
                  <a:srgbClr val="FF0000"/>
                </a:solidFill>
                <a:latin typeface="Palatino Linotype" panose="02040502050505030304" pitchFamily="18" charset="0"/>
              </a:rPr>
              <a:t>m</a:t>
            </a:r>
            <a:r>
              <a:rPr lang="tr-TR" altLang="zh-CN" sz="2000" b="0" i="1" kern="0" baseline="30000" dirty="0">
                <a:solidFill>
                  <a:srgbClr val="FF0000"/>
                </a:solidFill>
                <a:latin typeface="Palatino Linotype" panose="02040502050505030304" pitchFamily="18" charset="0"/>
              </a:rPr>
              <a:t>2</a:t>
            </a:r>
            <a:r>
              <a:rPr lang="tr-TR" altLang="zh-CN" sz="2000" b="0" i="1" kern="0" dirty="0">
                <a:solidFill>
                  <a:srgbClr val="FF0000"/>
                </a:solidFill>
                <a:latin typeface="Palatino Linotype" panose="02040502050505030304" pitchFamily="18" charset="0"/>
              </a:rPr>
              <a:t> </a:t>
            </a:r>
            <a:r>
              <a:rPr lang="en-US" altLang="zh-CN" sz="2000" b="0" i="1" kern="0" dirty="0">
                <a:solidFill>
                  <a:srgbClr val="FF0000"/>
                </a:solidFill>
                <a:latin typeface="Palatino Linotype" panose="02040502050505030304" pitchFamily="18" charset="0"/>
              </a:rPr>
              <a:t>*</a:t>
            </a:r>
            <a:r>
              <a:rPr lang="tr-TR" altLang="zh-CN" sz="2000" b="0" i="1" kern="0" dirty="0">
                <a:solidFill>
                  <a:srgbClr val="FF0000"/>
                </a:solidFill>
                <a:latin typeface="Palatino Linotype" panose="02040502050505030304" pitchFamily="18" charset="0"/>
              </a:rPr>
              <a:t>n</a:t>
            </a:r>
            <a:r>
              <a:rPr lang="en-US" altLang="zh-CN" sz="2000" b="0" kern="0" dirty="0">
                <a:solidFill>
                  <a:srgbClr val="FF0000"/>
                </a:solidFill>
                <a:latin typeface="Palatino Linotype" panose="02040502050505030304" pitchFamily="18" charset="0"/>
              </a:rPr>
              <a:t>)</a:t>
            </a:r>
            <a:r>
              <a:rPr lang="en-US" altLang="zh-CN" sz="2000" b="0" kern="0" dirty="0">
                <a:solidFill>
                  <a:srgbClr val="000000"/>
                </a:solidFill>
                <a:latin typeface="Palatino Linotype" panose="02040502050505030304" pitchFamily="18" charset="0"/>
              </a:rPr>
              <a:t>.</a:t>
            </a:r>
            <a:endParaRPr lang="en-US" altLang="zh-CN" sz="2000" b="0" kern="0" dirty="0">
              <a:solidFill>
                <a:srgbClr val="000000"/>
              </a:solidFill>
              <a:latin typeface="Palatino Linotype" panose="02040502050505030304" pitchFamily="18" charset="0"/>
            </a:endParaRPr>
          </a:p>
          <a:p>
            <a:pPr lvl="1" algn="l">
              <a:lnSpc>
                <a:spcPct val="150000"/>
              </a:lnSpc>
              <a:buFont typeface="Wingdings" panose="05000000000000000000" pitchFamily="2" charset="2"/>
              <a:buChar char="ü"/>
            </a:pPr>
            <a:r>
              <a:rPr kumimoji="1" lang="en-US" altLang="zh-CN" b="0" dirty="0">
                <a:solidFill>
                  <a:srgbClr val="006666"/>
                </a:solidFill>
                <a:latin typeface="Arial Unicode MS" panose="020B0604020202020204" charset="-122"/>
                <a:ea typeface="Arial Unicode MS" panose="020B0604020202020204" charset="-122"/>
                <a:cs typeface="Arial Unicode MS" panose="020B0604020202020204" charset="-122"/>
              </a:rPr>
              <a:t> </a:t>
            </a:r>
            <a:r>
              <a:rPr kumimoji="1" lang="en-US" altLang="zh-CN" b="0" dirty="0">
                <a:solidFill>
                  <a:srgbClr val="FF0000"/>
                </a:solidFill>
                <a:latin typeface="Arial Unicode MS" panose="020B0604020202020204" charset="-122"/>
                <a:ea typeface="Arial Unicode MS" panose="020B0604020202020204" charset="-122"/>
                <a:cs typeface="Arial Unicode MS" panose="020B0604020202020204" charset="-122"/>
              </a:rPr>
              <a:t>O(</a:t>
            </a:r>
            <a:r>
              <a:rPr kumimoji="1" lang="en-US" altLang="zh-CN" b="0" i="1" dirty="0" err="1">
                <a:solidFill>
                  <a:srgbClr val="FF0000"/>
                </a:solidFill>
                <a:latin typeface="Arial Unicode MS" panose="020B0604020202020204" charset="-122"/>
                <a:ea typeface="Arial Unicode MS" panose="020B0604020202020204" charset="-122"/>
                <a:cs typeface="Arial Unicode MS" panose="020B0604020202020204" charset="-122"/>
              </a:rPr>
              <a:t>mn</a:t>
            </a:r>
            <a:r>
              <a:rPr kumimoji="1" lang="en-US" altLang="zh-CN" b="0" dirty="0">
                <a:solidFill>
                  <a:srgbClr val="FF0000"/>
                </a:solidFill>
                <a:latin typeface="Arial Unicode MS" panose="020B0604020202020204" charset="-122"/>
                <a:ea typeface="Arial Unicode MS" panose="020B0604020202020204" charset="-122"/>
                <a:cs typeface="Arial Unicode MS" panose="020B0604020202020204" charset="-122"/>
              </a:rPr>
              <a:t>)</a:t>
            </a:r>
            <a:r>
              <a:rPr kumimoji="1" lang="zh-CN" altLang="en-US" b="0" dirty="0">
                <a:latin typeface="Arial Unicode MS" panose="020B0604020202020204" charset="-122"/>
                <a:ea typeface="Arial Unicode MS" panose="020B0604020202020204" charset="-122"/>
                <a:cs typeface="Arial Unicode MS" panose="020B0604020202020204" charset="-122"/>
              </a:rPr>
              <a:t>为计算所有边的</a:t>
            </a:r>
            <a:r>
              <a:rPr kumimoji="1" lang="zh-CN" altLang="en-US" b="0" dirty="0">
                <a:latin typeface="微软雅黑" panose="020B0503020204020204" charset="-122"/>
                <a:ea typeface="微软雅黑" panose="020B0503020204020204" charset="-122"/>
                <a:cs typeface="Arial Unicode MS" panose="020B0604020202020204" charset="-122"/>
              </a:rPr>
              <a:t>介</a:t>
            </a:r>
            <a:r>
              <a:rPr kumimoji="1" lang="zh-CN" altLang="en-US" b="0" dirty="0">
                <a:latin typeface="Arial Unicode MS" panose="020B0604020202020204" charset="-122"/>
                <a:ea typeface="Arial Unicode MS" panose="020B0604020202020204" charset="-122"/>
                <a:cs typeface="Arial Unicode MS" panose="020B0604020202020204" charset="-122"/>
              </a:rPr>
              <a:t>数的复杂度</a:t>
            </a:r>
            <a:endParaRPr kumimoji="1" lang="en-US" altLang="zh-CN" b="0" dirty="0">
              <a:solidFill>
                <a:srgbClr val="006666"/>
              </a:solidFill>
              <a:latin typeface="Arial Unicode MS" panose="020B0604020202020204" charset="-122"/>
              <a:ea typeface="Arial Unicode MS" panose="020B0604020202020204" charset="-122"/>
              <a:cs typeface="Arial Unicode MS" panose="020B0604020202020204" charset="-122"/>
            </a:endParaRPr>
          </a:p>
          <a:p>
            <a:pPr lvl="1" algn="l">
              <a:lnSpc>
                <a:spcPct val="150000"/>
              </a:lnSpc>
              <a:buFont typeface="Wingdings" panose="05000000000000000000" pitchFamily="2" charset="2"/>
              <a:buChar char="ü"/>
            </a:pPr>
            <a:r>
              <a:rPr kumimoji="1" lang="en-US" altLang="zh-CN" b="0" dirty="0">
                <a:solidFill>
                  <a:srgbClr val="006666"/>
                </a:solidFill>
                <a:latin typeface="Arial Unicode MS" panose="020B0604020202020204" charset="-122"/>
                <a:ea typeface="Arial Unicode MS" panose="020B0604020202020204" charset="-122"/>
                <a:cs typeface="Arial Unicode MS" panose="020B0604020202020204" charset="-122"/>
              </a:rPr>
              <a:t> </a:t>
            </a:r>
            <a:r>
              <a:rPr kumimoji="1" lang="en-US" altLang="zh-CN" b="0" dirty="0">
                <a:solidFill>
                  <a:srgbClr val="FF0000"/>
                </a:solidFill>
                <a:latin typeface="Arial Unicode MS" panose="020B0604020202020204" charset="-122"/>
                <a:ea typeface="Arial Unicode MS" panose="020B0604020202020204" charset="-122"/>
                <a:cs typeface="Arial Unicode MS" panose="020B0604020202020204" charset="-122"/>
              </a:rPr>
              <a:t>O(</a:t>
            </a:r>
            <a:r>
              <a:rPr kumimoji="1" lang="en-US" altLang="zh-CN" b="0" i="1" dirty="0">
                <a:solidFill>
                  <a:srgbClr val="FF0000"/>
                </a:solidFill>
                <a:latin typeface="Arial Unicode MS" panose="020B0604020202020204" charset="-122"/>
                <a:ea typeface="Arial Unicode MS" panose="020B0604020202020204" charset="-122"/>
                <a:cs typeface="Arial Unicode MS" panose="020B0604020202020204" charset="-122"/>
              </a:rPr>
              <a:t>m</a:t>
            </a:r>
            <a:r>
              <a:rPr kumimoji="1" lang="en-US" altLang="zh-CN" b="0" dirty="0">
                <a:solidFill>
                  <a:srgbClr val="FF0000"/>
                </a:solidFill>
                <a:latin typeface="Arial Unicode MS" panose="020B0604020202020204" charset="-122"/>
                <a:ea typeface="Arial Unicode MS" panose="020B0604020202020204" charset="-122"/>
                <a:cs typeface="Arial Unicode MS" panose="020B0604020202020204" charset="-122"/>
              </a:rPr>
              <a:t>) </a:t>
            </a:r>
            <a:r>
              <a:rPr kumimoji="1" lang="zh-CN" altLang="en-US" b="0" dirty="0">
                <a:latin typeface="Arial Unicode MS" panose="020B0604020202020204" charset="-122"/>
                <a:ea typeface="Arial Unicode MS" panose="020B0604020202020204" charset="-122"/>
                <a:cs typeface="Arial Unicode MS" panose="020B0604020202020204" charset="-122"/>
              </a:rPr>
              <a:t>为迭代次数</a:t>
            </a:r>
            <a:endParaRPr kumimoji="1" lang="en-US" altLang="ko-KR" b="0" dirty="0">
              <a:latin typeface="Arial Unicode MS" panose="020B0604020202020204" charset="-122"/>
              <a:ea typeface="Arial Unicode MS" panose="020B0604020202020204" charset="-122"/>
              <a:cs typeface="Arial Unicode MS" panose="020B0604020202020204" charset="-122"/>
            </a:endParaRPr>
          </a:p>
        </p:txBody>
      </p:sp>
      <p:sp>
        <p:nvSpPr>
          <p:cNvPr id="8" name="矩形 7"/>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3"/>
          <p:cNvSpPr txBox="1">
            <a:spLocks noChangeArrowheads="1"/>
          </p:cNvSpPr>
          <p:nvPr/>
        </p:nvSpPr>
        <p:spPr bwMode="auto">
          <a:xfrm>
            <a:off x="179512" y="1269832"/>
            <a:ext cx="8555424" cy="615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社团结构</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9" name="Rectangle 5"/>
          <p:cNvSpPr>
            <a:spLocks noChangeArrowheads="1"/>
          </p:cNvSpPr>
          <p:nvPr/>
        </p:nvSpPr>
        <p:spPr bwMode="auto">
          <a:xfrm>
            <a:off x="263872" y="2074024"/>
            <a:ext cx="8616255" cy="4687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457200" indent="-457200" algn="l">
              <a:lnSpc>
                <a:spcPct val="120000"/>
              </a:lnSpc>
              <a:spcBef>
                <a:spcPct val="20000"/>
              </a:spcBef>
              <a:buFont typeface="Wingdings" panose="05000000000000000000" pitchFamily="2" charset="2"/>
              <a:buChar char="n"/>
              <a:defRPr/>
            </a:pP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中心度</a:t>
            </a:r>
            <a:r>
              <a:rPr 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zh-CN" altLang="en-US" sz="2000" b="1" dirty="0">
                <a:latin typeface="Comic Sans MS" panose="030F0702030302020204" pitchFamily="66" charset="0"/>
              </a:rPr>
              <a:t>图中一个节点的相对重要性</a:t>
            </a:r>
            <a:endParaRPr lang="en-US" sz="2000" b="1" dirty="0">
              <a:latin typeface="Comic Sans MS" panose="030F0702030302020204" pitchFamily="66" charset="0"/>
            </a:endParaRPr>
          </a:p>
          <a:p>
            <a:pPr marL="800100" lvl="1" indent="-342900" algn="l">
              <a:lnSpc>
                <a:spcPct val="120000"/>
              </a:lnSpc>
              <a:spcBef>
                <a:spcPts val="600"/>
              </a:spcBef>
              <a:spcAft>
                <a:spcPts val="600"/>
              </a:spcAft>
              <a:buFont typeface="Wingdings" panose="05000000000000000000" pitchFamily="2" charset="2"/>
              <a:buChar char="ü"/>
              <a:defRPr/>
            </a:pPr>
            <a:r>
              <a:rPr lang="zh-CN" altLang="en-US" sz="2000" dirty="0">
                <a:effectLst>
                  <a:outerShdw blurRad="38100" dist="38100" dir="2700000" algn="tl">
                    <a:srgbClr val="000000">
                      <a:alpha val="43137"/>
                    </a:srgbClr>
                  </a:outerShdw>
                </a:effectLst>
                <a:latin typeface="Comic Sans MS" panose="030F0702030302020204" pitchFamily="66" charset="0"/>
              </a:rPr>
              <a:t>度数</a:t>
            </a:r>
            <a:r>
              <a:rPr lang="en-US" altLang="zh-CN" sz="2000" dirty="0">
                <a:latin typeface="Comic Sans MS" panose="030F0702030302020204" pitchFamily="66" charset="0"/>
              </a:rPr>
              <a:t>: </a:t>
            </a:r>
            <a:r>
              <a:rPr lang="zh-CN" altLang="en-US" sz="2000" dirty="0">
                <a:latin typeface="Comic Sans MS" panose="030F0702030302020204" pitchFamily="66" charset="0"/>
              </a:rPr>
              <a:t>连接程度；直接影响力</a:t>
            </a:r>
            <a:endParaRPr lang="en-US" altLang="zh-CN" sz="2000" dirty="0">
              <a:latin typeface="Comic Sans MS" panose="030F0702030302020204" pitchFamily="66" charset="0"/>
            </a:endParaRPr>
          </a:p>
          <a:p>
            <a:pPr marL="800100" lvl="1" indent="-342900" algn="l">
              <a:lnSpc>
                <a:spcPct val="120000"/>
              </a:lnSpc>
              <a:spcBef>
                <a:spcPts val="600"/>
              </a:spcBef>
              <a:spcAft>
                <a:spcPts val="600"/>
              </a:spcAft>
              <a:buFont typeface="Wingdings" panose="05000000000000000000" pitchFamily="2" charset="2"/>
              <a:buChar char="ü"/>
              <a:defRPr/>
            </a:pPr>
            <a:r>
              <a:rPr lang="zh-CN" altLang="en-US" sz="2000" b="1" dirty="0">
                <a:effectLst>
                  <a:outerShdw blurRad="38100" dist="38100" dir="2700000" algn="tl">
                    <a:srgbClr val="000000">
                      <a:alpha val="43137"/>
                    </a:srgbClr>
                  </a:outerShdw>
                </a:effectLst>
                <a:latin typeface="Comic Sans MS" panose="030F0702030302020204" pitchFamily="66" charset="0"/>
              </a:rPr>
              <a:t>接近度</a:t>
            </a:r>
            <a:r>
              <a:rPr lang="en-US" altLang="zh-CN" sz="2000" dirty="0">
                <a:latin typeface="Comic Sans MS" panose="030F0702030302020204" pitchFamily="66" charset="0"/>
              </a:rPr>
              <a:t>: </a:t>
            </a:r>
            <a:r>
              <a:rPr lang="zh-CN" altLang="en-US" sz="2000" dirty="0">
                <a:latin typeface="Comic Sans MS" panose="030F0702030302020204" pitchFamily="66" charset="0"/>
              </a:rPr>
              <a:t>与其他节点的距离</a:t>
            </a:r>
            <a:r>
              <a:rPr lang="en-US" altLang="zh-CN" sz="2000" dirty="0">
                <a:latin typeface="Comic Sans MS" panose="030F0702030302020204" pitchFamily="66" charset="0"/>
              </a:rPr>
              <a:t>/</a:t>
            </a:r>
            <a:r>
              <a:rPr lang="zh-CN" altLang="en-US" sz="2000" dirty="0">
                <a:latin typeface="Comic Sans MS" panose="030F0702030302020204" pitchFamily="66" charset="0"/>
              </a:rPr>
              <a:t>信息到达所需的时间</a:t>
            </a:r>
            <a:endParaRPr lang="en-US" altLang="zh-CN" sz="2000" dirty="0">
              <a:latin typeface="Comic Sans MS" panose="030F0702030302020204" pitchFamily="66" charset="0"/>
            </a:endParaRPr>
          </a:p>
          <a:p>
            <a:pPr marL="800100" lvl="1" indent="-342900" algn="l">
              <a:lnSpc>
                <a:spcPct val="120000"/>
              </a:lnSpc>
              <a:spcBef>
                <a:spcPts val="600"/>
              </a:spcBef>
              <a:spcAft>
                <a:spcPts val="600"/>
              </a:spcAft>
              <a:buFont typeface="Wingdings" panose="05000000000000000000" pitchFamily="2" charset="2"/>
              <a:buChar char="ü"/>
              <a:defRPr/>
            </a:pPr>
            <a:r>
              <a:rPr lang="zh-CN" altLang="en-US" sz="2000" b="1" dirty="0">
                <a:effectLst>
                  <a:outerShdw blurRad="38100" dist="38100" dir="2700000" algn="tl">
                    <a:srgbClr val="000000">
                      <a:alpha val="43137"/>
                    </a:srgbClr>
                  </a:outerShdw>
                </a:effectLst>
                <a:latin typeface="Comic Sans MS" panose="030F0702030302020204" pitchFamily="66" charset="0"/>
              </a:rPr>
              <a:t>介数</a:t>
            </a:r>
            <a:r>
              <a:rPr lang="en-US" altLang="zh-CN" sz="2000" dirty="0">
                <a:latin typeface="Comic Sans MS" panose="030F0702030302020204" pitchFamily="66" charset="0"/>
              </a:rPr>
              <a:t>: </a:t>
            </a:r>
            <a:r>
              <a:rPr lang="zh-CN" altLang="en-US" sz="2000" dirty="0">
                <a:latin typeface="Comic Sans MS" panose="030F0702030302020204" pitchFamily="66" charset="0"/>
              </a:rPr>
              <a:t>中介、把控、信息控制</a:t>
            </a:r>
            <a:endParaRPr lang="en-US" altLang="zh-CN" sz="2000" dirty="0">
              <a:latin typeface="Comic Sans MS" panose="030F0702030302020204" pitchFamily="66" charset="0"/>
            </a:endParaRPr>
          </a:p>
          <a:p>
            <a:pPr marL="800100" lvl="1" indent="-342900" algn="l">
              <a:lnSpc>
                <a:spcPct val="120000"/>
              </a:lnSpc>
              <a:spcBef>
                <a:spcPts val="600"/>
              </a:spcBef>
              <a:spcAft>
                <a:spcPts val="600"/>
              </a:spcAft>
              <a:buFont typeface="Wingdings" panose="05000000000000000000" pitchFamily="2" charset="2"/>
              <a:buChar char="ü"/>
              <a:defRPr/>
            </a:pPr>
            <a:r>
              <a:rPr lang="zh-CN" altLang="en-US" sz="2000" dirty="0">
                <a:latin typeface="Comic Sans MS" panose="030F0702030302020204" pitchFamily="66" charset="0"/>
              </a:rPr>
              <a:t>特征向量中心性（流行度）</a:t>
            </a:r>
            <a:endParaRPr lang="en-US" altLang="zh-CN" sz="2000" dirty="0">
              <a:latin typeface="Comic Sans MS" panose="030F0702030302020204" pitchFamily="66" charset="0"/>
            </a:endParaRPr>
          </a:p>
          <a:p>
            <a:pPr marL="457200" indent="-457200" algn="l">
              <a:lnSpc>
                <a:spcPct val="120000"/>
              </a:lnSpc>
              <a:spcBef>
                <a:spcPct val="20000"/>
              </a:spcBef>
              <a:buFont typeface="Wingdings" panose="05000000000000000000" pitchFamily="2" charset="2"/>
              <a:buChar char="n"/>
              <a:defRPr/>
            </a:pPr>
            <a:r>
              <a:rPr lang="zh-CN" altLang="en-US" sz="2000" b="1" dirty="0">
                <a:solidFill>
                  <a:srgbClr val="FF0000"/>
                </a:solidFill>
                <a:effectLst>
                  <a:outerShdw blurRad="38100" dist="38100" dir="2700000" algn="tl">
                    <a:srgbClr val="000000">
                      <a:alpha val="43137"/>
                    </a:srgbClr>
                  </a:outerShdw>
                </a:effectLst>
                <a:latin typeface="Comic Sans MS" panose="030F0702030302020204" pitchFamily="66" charset="0"/>
              </a:rPr>
              <a:t>应用</a:t>
            </a:r>
            <a:r>
              <a:rPr lang="en-US" altLang="zh-CN" sz="2000" b="1"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zh-CN" altLang="en-US" sz="2000" b="1" dirty="0">
                <a:latin typeface="Comic Sans MS" panose="030F0702030302020204" pitchFamily="66" charset="0"/>
              </a:rPr>
              <a:t>网页</a:t>
            </a:r>
            <a:r>
              <a:rPr lang="en-US" altLang="zh-CN" sz="2000" b="1" dirty="0">
                <a:latin typeface="Comic Sans MS" panose="030F0702030302020204" pitchFamily="66" charset="0"/>
              </a:rPr>
              <a:t>, </a:t>
            </a:r>
            <a:r>
              <a:rPr lang="zh-CN" altLang="en-US" sz="2000" b="1" dirty="0">
                <a:latin typeface="Comic Sans MS" panose="030F0702030302020204" pitchFamily="66" charset="0"/>
              </a:rPr>
              <a:t>犯罪组织</a:t>
            </a:r>
            <a:r>
              <a:rPr lang="en-US" altLang="zh-CN" sz="2000" b="1" dirty="0">
                <a:latin typeface="Comic Sans MS" panose="030F0702030302020204" pitchFamily="66" charset="0"/>
              </a:rPr>
              <a:t> </a:t>
            </a:r>
            <a:endParaRPr lang="en-US" sz="2000" b="1" dirty="0">
              <a:latin typeface="Comic Sans MS" panose="030F0702030302020204" pitchFamily="66" charset="0"/>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3"/>
          <p:cNvSpPr txBox="1">
            <a:spLocks noChangeArrowheads="1"/>
          </p:cNvSpPr>
          <p:nvPr/>
        </p:nvSpPr>
        <p:spPr bwMode="auto">
          <a:xfrm>
            <a:off x="179512" y="1269832"/>
            <a:ext cx="855542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中心度</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389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4996" y="1772816"/>
            <a:ext cx="6444456" cy="4826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3"/>
          <p:cNvSpPr txBox="1">
            <a:spLocks noChangeArrowheads="1"/>
          </p:cNvSpPr>
          <p:nvPr/>
        </p:nvSpPr>
        <p:spPr bwMode="auto">
          <a:xfrm>
            <a:off x="179512" y="1269832"/>
            <a:ext cx="8555424" cy="2646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469900" lvl="1" indent="-469900" eaLnBrk="1" hangingPunct="1">
              <a:lnSpc>
                <a:spcPct val="120000"/>
              </a:lnSpc>
              <a:spcBef>
                <a:spcPts val="600"/>
              </a:spcBef>
              <a:buClr>
                <a:srgbClr val="FF0000"/>
              </a:buClr>
              <a:defRPr/>
            </a:pP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Web</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宏观特性 </a:t>
            </a:r>
            <a:r>
              <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rPr>
              <a:t>中心度</a:t>
            </a:r>
            <a:endParaRPr lang="en-US" altLang="zh-CN" sz="2800" b="0" dirty="0">
              <a:solidFill>
                <a:srgbClr val="FF0000"/>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12" name="Picture 2" descr="borg4cent"/>
          <p:cNvPicPr>
            <a:picLocks noChangeAspect="1" noChangeArrowheads="1"/>
          </p:cNvPicPr>
          <p:nvPr/>
        </p:nvPicPr>
        <p:blipFill>
          <a:blip r:embed="rId1">
            <a:extLst>
              <a:ext uri="{28A0092B-C50C-407E-A947-70E740481C1C}">
                <a14:useLocalDpi xmlns:a14="http://schemas.microsoft.com/office/drawing/2010/main" val="0"/>
              </a:ext>
            </a:extLst>
          </a:blip>
          <a:srcRect l="6818" t="7664" r="5682" b="7103"/>
          <a:stretch>
            <a:fillRect/>
          </a:stretch>
        </p:blipFill>
        <p:spPr bwMode="auto">
          <a:xfrm>
            <a:off x="1342231" y="1758475"/>
            <a:ext cx="6459537"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Rectangle 4"/>
          <p:cNvSpPr txBox="1">
            <a:spLocks noChangeArrowheads="1"/>
          </p:cNvSpPr>
          <p:nvPr/>
        </p:nvSpPr>
        <p:spPr bwMode="auto">
          <a:xfrm>
            <a:off x="179114" y="1142921"/>
            <a:ext cx="8039100"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b="1" kern="1200" dirty="0">
                <a:solidFill>
                  <a:srgbClr val="FF0000"/>
                </a:solidFill>
                <a:effectLst>
                  <a:outerShdw blurRad="38100" dist="38100" dir="2700000" algn="tl">
                    <a:srgbClr val="000000">
                      <a:alpha val="43137"/>
                    </a:srgbClr>
                  </a:outerShdw>
                </a:effectLst>
                <a:latin typeface="Comic Sans MS" panose="030F0702030302020204" pitchFamily="66" charset="0"/>
              </a:rPr>
              <a:t>度数中心性</a:t>
            </a:r>
            <a:r>
              <a:rPr lang="en-US" altLang="zh-CN" b="1" kern="1200"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zh-CN" altLang="en-US" sz="2800" b="0" kern="0" dirty="0">
                <a:latin typeface="Comic Sans MS" panose="030F0702030302020204" pitchFamily="66" charset="0"/>
              </a:rPr>
              <a:t>与给定节点相邻的节点数量</a:t>
            </a:r>
            <a:endParaRPr lang="en-US" sz="2800" b="0" kern="0" dirty="0">
              <a:latin typeface="Comic Sans MS" panose="030F0702030302020204" pitchFamily="66" charset="0"/>
            </a:endParaRPr>
          </a:p>
        </p:txBody>
      </p:sp>
      <p:sp>
        <p:nvSpPr>
          <p:cNvPr id="14" name="Freeform 5"/>
          <p:cNvSpPr/>
          <p:nvPr/>
        </p:nvSpPr>
        <p:spPr bwMode="auto">
          <a:xfrm>
            <a:off x="5560218" y="4949350"/>
            <a:ext cx="1981200" cy="685800"/>
          </a:xfrm>
          <a:custGeom>
            <a:avLst/>
            <a:gdLst>
              <a:gd name="T0" fmla="*/ 2147483647 w 1536"/>
              <a:gd name="T1" fmla="*/ 2147483647 h 480"/>
              <a:gd name="T2" fmla="*/ 2147483647 w 1536"/>
              <a:gd name="T3" fmla="*/ 2147483647 h 480"/>
              <a:gd name="T4" fmla="*/ 2147483647 w 1536"/>
              <a:gd name="T5" fmla="*/ 2147483647 h 480"/>
              <a:gd name="T6" fmla="*/ 0 w 15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36" h="480">
                <a:moveTo>
                  <a:pt x="1536" y="384"/>
                </a:moveTo>
                <a:cubicBezTo>
                  <a:pt x="1368" y="432"/>
                  <a:pt x="1200" y="480"/>
                  <a:pt x="1008" y="480"/>
                </a:cubicBezTo>
                <a:cubicBezTo>
                  <a:pt x="816" y="480"/>
                  <a:pt x="552" y="464"/>
                  <a:pt x="384" y="384"/>
                </a:cubicBezTo>
                <a:cubicBezTo>
                  <a:pt x="216" y="304"/>
                  <a:pt x="64" y="64"/>
                  <a:pt x="0" y="0"/>
                </a:cubicBezTo>
              </a:path>
            </a:pathLst>
          </a:custGeom>
          <a:noFill/>
          <a:ln w="9525">
            <a:solidFill>
              <a:srgbClr val="006699"/>
            </a:solidFill>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rgbClr val="006699"/>
              </a:solidFill>
              <a:effectLst/>
              <a:uLnTx/>
              <a:uFillTx/>
            </a:endParaRPr>
          </a:p>
        </p:txBody>
      </p:sp>
      <p:sp>
        <p:nvSpPr>
          <p:cNvPr id="15" name="Text Box 6"/>
          <p:cNvSpPr txBox="1">
            <a:spLocks noChangeArrowheads="1"/>
          </p:cNvSpPr>
          <p:nvPr/>
        </p:nvSpPr>
        <p:spPr bwMode="auto">
          <a:xfrm>
            <a:off x="7601743" y="4990625"/>
            <a:ext cx="11467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eaLnBrk="1" hangingPunct="1"/>
            <a:r>
              <a:rPr lang="zh-CN" altLang="en-US" b="0" dirty="0">
                <a:solidFill>
                  <a:srgbClr val="006699"/>
                </a:solidFill>
                <a:latin typeface="Comic Sans MS" panose="030F0702030302020204" pitchFamily="66" charset="0"/>
              </a:rPr>
              <a:t>最高的度数中心性</a:t>
            </a:r>
            <a:endParaRPr lang="en-US" altLang="zh-CN" b="0" dirty="0">
              <a:solidFill>
                <a:srgbClr val="006699"/>
              </a:solidFill>
              <a:latin typeface="Comic Sans MS" panose="030F0702030302020204" pitchFamily="66" charset="0"/>
            </a:endParaRPr>
          </a:p>
        </p:txBody>
      </p:sp>
      <p:graphicFrame>
        <p:nvGraphicFramePr>
          <p:cNvPr id="16" name="Object 7"/>
          <p:cNvGraphicFramePr>
            <a:graphicFrameLocks noChangeAspect="1"/>
          </p:cNvGraphicFramePr>
          <p:nvPr/>
        </p:nvGraphicFramePr>
        <p:xfrm>
          <a:off x="3956843" y="2645888"/>
          <a:ext cx="1417638" cy="827087"/>
        </p:xfrm>
        <a:graphic>
          <a:graphicData uri="http://schemas.openxmlformats.org/presentationml/2006/ole">
            <mc:AlternateContent xmlns:mc="http://schemas.openxmlformats.org/markup-compatibility/2006">
              <mc:Choice xmlns:v="urn:schemas-microsoft-com:vml" Requires="v">
                <p:oleObj spid="_x0000_s45303" name="Equation" r:id="rId2" imgW="635000" imgH="355600" progId="Equation.3">
                  <p:embed/>
                </p:oleObj>
              </mc:Choice>
              <mc:Fallback>
                <p:oleObj name="Equation" r:id="rId2" imgW="635000" imgH="355600" progId="Equation.3">
                  <p:embed/>
                  <p:pic>
                    <p:nvPicPr>
                      <p:cNvPr id="0" name="图片 450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6843" y="2645888"/>
                        <a:ext cx="141763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矩形 8"/>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20" name="Picture 2" descr="borg4cent"/>
          <p:cNvPicPr>
            <a:picLocks noChangeAspect="1" noChangeArrowheads="1"/>
          </p:cNvPicPr>
          <p:nvPr/>
        </p:nvPicPr>
        <p:blipFill>
          <a:blip r:embed="rId1">
            <a:extLst>
              <a:ext uri="{28A0092B-C50C-407E-A947-70E740481C1C}">
                <a14:useLocalDpi xmlns:a14="http://schemas.microsoft.com/office/drawing/2010/main" val="0"/>
              </a:ext>
            </a:extLst>
          </a:blip>
          <a:srcRect l="6818" t="7664" r="5682" b="8458"/>
          <a:stretch>
            <a:fillRect/>
          </a:stretch>
        </p:blipFill>
        <p:spPr bwMode="auto">
          <a:xfrm>
            <a:off x="1587500" y="2565400"/>
            <a:ext cx="5019556" cy="3527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4"/>
          <p:cNvSpPr txBox="1">
            <a:spLocks noChangeArrowheads="1"/>
          </p:cNvSpPr>
          <p:nvPr/>
        </p:nvSpPr>
        <p:spPr bwMode="auto">
          <a:xfrm>
            <a:off x="179512" y="1153319"/>
            <a:ext cx="82677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b="1" kern="1200" dirty="0">
                <a:solidFill>
                  <a:srgbClr val="FF0000"/>
                </a:solidFill>
                <a:effectLst>
                  <a:outerShdw blurRad="38100" dist="38100" dir="2700000" algn="tl">
                    <a:srgbClr val="000000">
                      <a:alpha val="43137"/>
                    </a:srgbClr>
                  </a:outerShdw>
                </a:effectLst>
                <a:latin typeface="Comic Sans MS" panose="030F0702030302020204" pitchFamily="66" charset="0"/>
              </a:rPr>
              <a:t>接近度中心性：</a:t>
            </a:r>
            <a:r>
              <a:rPr lang="zh-CN" altLang="en-US" b="1" kern="1200" dirty="0">
                <a:effectLst>
                  <a:outerShdw blurRad="38100" dist="38100" dir="2700000" algn="tl">
                    <a:srgbClr val="000000">
                      <a:alpha val="43137"/>
                    </a:srgbClr>
                  </a:outerShdw>
                </a:effectLst>
                <a:latin typeface="Comic Sans MS" panose="030F0702030302020204" pitchFamily="66" charset="0"/>
              </a:rPr>
              <a:t>与所有其他节点的测地距离之和（中心性的反向度量）</a:t>
            </a:r>
            <a:endParaRPr lang="en-US" altLang="zh-CN" sz="2800" b="0" kern="0" dirty="0">
              <a:latin typeface="Comic Sans MS" panose="030F0702030302020204" pitchFamily="66" charset="0"/>
            </a:endParaRPr>
          </a:p>
        </p:txBody>
      </p:sp>
      <p:sp>
        <p:nvSpPr>
          <p:cNvPr id="23" name="Freeform 5"/>
          <p:cNvSpPr/>
          <p:nvPr/>
        </p:nvSpPr>
        <p:spPr bwMode="auto">
          <a:xfrm>
            <a:off x="4572000" y="5132388"/>
            <a:ext cx="2819400" cy="762000"/>
          </a:xfrm>
          <a:custGeom>
            <a:avLst/>
            <a:gdLst>
              <a:gd name="T0" fmla="*/ 2147483647 w 1536"/>
              <a:gd name="T1" fmla="*/ 2147483647 h 480"/>
              <a:gd name="T2" fmla="*/ 2147483647 w 1536"/>
              <a:gd name="T3" fmla="*/ 2147483647 h 480"/>
              <a:gd name="T4" fmla="*/ 2147483647 w 1536"/>
              <a:gd name="T5" fmla="*/ 2147483647 h 480"/>
              <a:gd name="T6" fmla="*/ 0 w 15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36" h="480">
                <a:moveTo>
                  <a:pt x="1536" y="384"/>
                </a:moveTo>
                <a:cubicBezTo>
                  <a:pt x="1368" y="432"/>
                  <a:pt x="1200" y="480"/>
                  <a:pt x="1008" y="480"/>
                </a:cubicBezTo>
                <a:cubicBezTo>
                  <a:pt x="816" y="480"/>
                  <a:pt x="552" y="464"/>
                  <a:pt x="384" y="384"/>
                </a:cubicBezTo>
                <a:cubicBezTo>
                  <a:pt x="216" y="304"/>
                  <a:pt x="64" y="64"/>
                  <a:pt x="0" y="0"/>
                </a:cubicBezTo>
              </a:path>
            </a:pathLst>
          </a:custGeom>
          <a:noFill/>
          <a:ln w="9525">
            <a:solidFill>
              <a:srgbClr val="006699"/>
            </a:solidFill>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eaLnBrk="1" latinLnBrk="0" hangingPunct="1">
              <a:spcBef>
                <a:spcPts val="0"/>
              </a:spcBef>
              <a:spcAft>
                <a:spcPts val="0"/>
              </a:spcAft>
              <a:buClrTx/>
              <a:buSzTx/>
              <a:buFontTx/>
              <a:buNone/>
              <a:defRPr/>
            </a:pPr>
            <a:endParaRPr kumimoji="0" lang="zh-CN" altLang="en-US" sz="1800" b="0" i="0" u="none" strike="noStrike" kern="0" cap="none" spc="0" normalizeH="0" baseline="0" noProof="0">
              <a:ln>
                <a:noFill/>
              </a:ln>
              <a:solidFill>
                <a:srgbClr val="006699"/>
              </a:solidFill>
              <a:effectLst/>
              <a:uLnTx/>
              <a:uFillTx/>
            </a:endParaRPr>
          </a:p>
        </p:txBody>
      </p:sp>
      <p:sp>
        <p:nvSpPr>
          <p:cNvPr id="24" name="Text Box 6"/>
          <p:cNvSpPr txBox="1">
            <a:spLocks noChangeArrowheads="1"/>
          </p:cNvSpPr>
          <p:nvPr/>
        </p:nvSpPr>
        <p:spPr bwMode="auto">
          <a:xfrm>
            <a:off x="7470637" y="5356115"/>
            <a:ext cx="13687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l" eaLnBrk="1" hangingPunct="1"/>
            <a:r>
              <a:rPr lang="zh-CN" altLang="en-US" b="0" dirty="0">
                <a:solidFill>
                  <a:srgbClr val="006699"/>
                </a:solidFill>
                <a:latin typeface="Comic Sans MS" panose="030F0702030302020204" pitchFamily="66" charset="0"/>
              </a:rPr>
              <a:t>最高的接近度中心性</a:t>
            </a:r>
            <a:endParaRPr lang="en-US" altLang="zh-CN" b="0" dirty="0">
              <a:solidFill>
                <a:srgbClr val="006699"/>
              </a:solidFill>
              <a:latin typeface="Comic Sans MS" panose="030F0702030302020204" pitchFamily="66" charset="0"/>
            </a:endParaRPr>
          </a:p>
        </p:txBody>
      </p:sp>
      <p:sp>
        <p:nvSpPr>
          <p:cNvPr id="11" name="矩形 10"/>
          <p:cNvSpPr/>
          <p:nvPr/>
        </p:nvSpPr>
        <p:spPr>
          <a:xfrm>
            <a:off x="899592" y="188640"/>
            <a:ext cx="2807179" cy="615553"/>
          </a:xfrm>
          <a:prstGeom prst="rect">
            <a:avLst/>
          </a:prstGeom>
        </p:spPr>
        <p:txBody>
          <a:bodyPr wrap="none">
            <a:spAutoFit/>
          </a:bodyPr>
          <a:lstStyle/>
          <a:p>
            <a:pPr lvl="0" algn="l" fontAlgn="auto">
              <a:spcBef>
                <a:spcPts val="0"/>
              </a:spcBef>
              <a:spcAft>
                <a:spcPts val="0"/>
              </a:spcAft>
              <a:defRPr/>
            </a:pPr>
            <a:r>
              <a:rPr kumimoji="0" lang="en-US" altLang="zh-CN"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Web</a:t>
            </a:r>
            <a:r>
              <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结构挖掘</a:t>
            </a:r>
            <a:endParaRPr kumimoji="0" lang="zh-CN" altLang="en-US" sz="3400" b="1"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endParaRPr>
          </a:p>
        </p:txBody>
      </p:sp>
      <p:graphicFrame>
        <p:nvGraphicFramePr>
          <p:cNvPr id="25" name="对象 4"/>
          <p:cNvGraphicFramePr>
            <a:graphicFrameLocks noChangeAspect="1"/>
          </p:cNvGraphicFramePr>
          <p:nvPr/>
        </p:nvGraphicFramePr>
        <p:xfrm>
          <a:off x="6443663" y="3416300"/>
          <a:ext cx="2528887" cy="1160463"/>
        </p:xfrm>
        <a:graphic>
          <a:graphicData uri="http://schemas.openxmlformats.org/presentationml/2006/ole">
            <mc:AlternateContent xmlns:mc="http://schemas.openxmlformats.org/markup-compatibility/2006">
              <mc:Choice xmlns:v="urn:schemas-microsoft-com:vml" Requires="v">
                <p:oleObj spid="_x0000_s46308" name="Microsoft Equation 3.0" r:id="rId2" imgW="1168400" imgH="533400" progId="Equation.3">
                  <p:embed/>
                </p:oleObj>
              </mc:Choice>
              <mc:Fallback>
                <p:oleObj name="Microsoft Equation 3.0" r:id="rId2" imgW="1168400" imgH="533400" progId="Equation.3">
                  <p:embed/>
                  <p:pic>
                    <p:nvPicPr>
                      <p:cNvPr id="0" name="图片 460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3416300"/>
                        <a:ext cx="2528887" cy="11604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6759496" y="2962529"/>
            <a:ext cx="609461" cy="369332"/>
          </a:xfrm>
          <a:prstGeom prst="rect">
            <a:avLst/>
          </a:prstGeom>
          <a:noFill/>
        </p:spPr>
        <p:txBody>
          <a:bodyPr wrap="none" rtlCol="0">
            <a:spAutoFit/>
          </a:bodyPr>
          <a:lstStyle/>
          <a:p>
            <a:r>
              <a:rPr lang="en-US" altLang="zh-CN" b="0" i="1" dirty="0"/>
              <a:t>N-1</a:t>
            </a:r>
            <a:endParaRPr lang="zh-CN" altLang="en-US" b="0" i="1" dirty="0"/>
          </a:p>
        </p:txBody>
      </p:sp>
      <p:cxnSp>
        <p:nvCxnSpPr>
          <p:cNvPr id="4" name="直接箭头连接符 3"/>
          <p:cNvCxnSpPr/>
          <p:nvPr/>
        </p:nvCxnSpPr>
        <p:spPr bwMode="auto">
          <a:xfrm>
            <a:off x="7092280" y="3391694"/>
            <a:ext cx="276677" cy="397346"/>
          </a:xfrm>
          <a:prstGeom prst="straightConnector1">
            <a:avLst/>
          </a:prstGeom>
          <a:solidFill>
            <a:schemeClr val="accent1"/>
          </a:solidFill>
          <a:ln w="9525" cap="flat" cmpd="sng" algn="ctr">
            <a:solidFill>
              <a:schemeClr val="tx1"/>
            </a:solidFill>
            <a:prstDash val="solid"/>
            <a:round/>
            <a:headEnd type="none" w="med" len="med"/>
            <a:tailEnd type="triangle"/>
          </a:ln>
          <a:effectLst>
            <a:outerShdw dist="17961" dir="2700000" algn="ctr" rotWithShape="0">
              <a:schemeClr val="tx1">
                <a:gamma/>
                <a:shade val="60000"/>
                <a:invGamma/>
              </a:schemeClr>
            </a:outerShdw>
          </a:effectLst>
        </p:spPr>
      </p:cxn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61056" y="2702740"/>
            <a:ext cx="5974632" cy="3621752"/>
            <a:chOff x="361056" y="2702740"/>
            <a:chExt cx="5974632" cy="3621752"/>
          </a:xfrm>
        </p:grpSpPr>
        <p:pic>
          <p:nvPicPr>
            <p:cNvPr id="3" name="图片 2"/>
            <p:cNvPicPr>
              <a:picLocks noChangeAspect="1"/>
            </p:cNvPicPr>
            <p:nvPr/>
          </p:nvPicPr>
          <p:blipFill>
            <a:blip r:embed="rId1"/>
            <a:stretch>
              <a:fillRect/>
            </a:stretch>
          </p:blipFill>
          <p:spPr>
            <a:xfrm>
              <a:off x="395536" y="2724543"/>
              <a:ext cx="5940152" cy="3599949"/>
            </a:xfrm>
            <a:prstGeom prst="rect">
              <a:avLst/>
            </a:prstGeom>
          </p:spPr>
        </p:pic>
        <p:pic>
          <p:nvPicPr>
            <p:cNvPr id="6" name="图片 5"/>
            <p:cNvPicPr>
              <a:picLocks noChangeAspect="1"/>
            </p:cNvPicPr>
            <p:nvPr/>
          </p:nvPicPr>
          <p:blipFill>
            <a:blip r:embed="rId2"/>
            <a:stretch>
              <a:fillRect/>
            </a:stretch>
          </p:blipFill>
          <p:spPr>
            <a:xfrm>
              <a:off x="361056" y="2702740"/>
              <a:ext cx="2850705" cy="294212"/>
            </a:xfrm>
            <a:prstGeom prst="rect">
              <a:avLst/>
            </a:prstGeom>
          </p:spPr>
        </p:pic>
      </p:grpSp>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9" name="Rectangle 4"/>
          <p:cNvSpPr txBox="1">
            <a:spLocks noChangeArrowheads="1"/>
          </p:cNvSpPr>
          <p:nvPr/>
        </p:nvSpPr>
        <p:spPr bwMode="auto">
          <a:xfrm>
            <a:off x="323528" y="1170954"/>
            <a:ext cx="8039100" cy="61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dirty="0">
                <a:solidFill>
                  <a:srgbClr val="FF0000"/>
                </a:solidFill>
                <a:effectLst>
                  <a:outerShdw blurRad="38100" dist="38100" dir="2700000" algn="tl">
                    <a:srgbClr val="000000">
                      <a:alpha val="43137"/>
                    </a:srgbClr>
                  </a:outerShdw>
                </a:effectLst>
                <a:latin typeface="Comic Sans MS" panose="030F0702030302020204" pitchFamily="66" charset="0"/>
              </a:rPr>
              <a:t>介数</a:t>
            </a:r>
            <a:r>
              <a:rPr lang="zh-CN" altLang="en-US" b="1" kern="1200" dirty="0">
                <a:solidFill>
                  <a:srgbClr val="FF0000"/>
                </a:solidFill>
                <a:effectLst>
                  <a:outerShdw blurRad="38100" dist="38100" dir="2700000" algn="tl">
                    <a:srgbClr val="000000">
                      <a:alpha val="43137"/>
                    </a:srgbClr>
                  </a:outerShdw>
                </a:effectLst>
                <a:latin typeface="Comic Sans MS" panose="030F0702030302020204" pitchFamily="66" charset="0"/>
              </a:rPr>
              <a:t>中心性</a:t>
            </a:r>
            <a:r>
              <a:rPr lang="en-US" altLang="zh-CN" b="1" kern="1200" dirty="0">
                <a:solidFill>
                  <a:srgbClr val="FF0000"/>
                </a:solidFill>
                <a:effectLst>
                  <a:outerShdw blurRad="38100" dist="38100" dir="2700000" algn="tl">
                    <a:srgbClr val="000000">
                      <a:alpha val="43137"/>
                    </a:srgbClr>
                  </a:outerShdw>
                </a:effectLst>
                <a:latin typeface="Comic Sans MS" panose="030F0702030302020204" pitchFamily="66" charset="0"/>
              </a:rPr>
              <a:t>: </a:t>
            </a:r>
            <a:r>
              <a:rPr lang="zh-CN" altLang="en-US" sz="2800" b="0" kern="0" dirty="0">
                <a:latin typeface="Comic Sans MS" panose="030F0702030302020204" pitchFamily="66" charset="0"/>
              </a:rPr>
              <a:t>一个节点位于其他两个节点之间的最短路径上的次数</a:t>
            </a:r>
            <a:endParaRPr lang="en-US" sz="2800" b="0" kern="0" dirty="0">
              <a:latin typeface="Comic Sans MS" panose="030F0702030302020204" pitchFamily="66" charset="0"/>
            </a:endParaRPr>
          </a:p>
        </p:txBody>
      </p:sp>
      <p:pic>
        <p:nvPicPr>
          <p:cNvPr id="56322" name="Picture 2" descr="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3573016"/>
            <a:ext cx="2495550" cy="1143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7" name="Group 17"/>
          <p:cNvGrpSpPr/>
          <p:nvPr/>
        </p:nvGrpSpPr>
        <p:grpSpPr bwMode="auto">
          <a:xfrm>
            <a:off x="685800" y="2564904"/>
            <a:ext cx="1943100" cy="2951163"/>
            <a:chOff x="3833" y="1344"/>
            <a:chExt cx="1224" cy="1859"/>
          </a:xfrm>
        </p:grpSpPr>
        <p:sp>
          <p:nvSpPr>
            <p:cNvPr id="8" name="Oval 5"/>
            <p:cNvSpPr>
              <a:spLocks noChangeArrowheads="1"/>
            </p:cNvSpPr>
            <p:nvPr/>
          </p:nvSpPr>
          <p:spPr bwMode="auto">
            <a:xfrm>
              <a:off x="3833" y="1979"/>
              <a:ext cx="408" cy="408"/>
            </a:xfrm>
            <a:prstGeom prst="ellipse">
              <a:avLst/>
            </a:prstGeom>
            <a:solidFill>
              <a:srgbClr val="FFCC00"/>
            </a:solidFill>
            <a:ln w="9525" algn="ctr">
              <a:solidFill>
                <a:schemeClr val="tx1"/>
              </a:solidFill>
              <a:round/>
            </a:ln>
          </p:spPr>
          <p:txBody>
            <a:bodyPr wrap="none" lIns="90000" tIns="46800" rIns="90000" bIns="46800" anchor="ctr"/>
            <a:lstStyle/>
            <a:p>
              <a:pPr algn="ctr" defTabSz="448945">
                <a:spcBef>
                  <a:spcPct val="20000"/>
                </a:spcBef>
                <a:buClr>
                  <a:srgbClr val="000000"/>
                </a:buClr>
                <a:buSzPct val="100000"/>
                <a:buFont typeface="Times New Roman" panose="02020603050405020304" pitchFamily="18" charset="0"/>
                <a:buNone/>
              </a:pPr>
              <a:endParaRPr lang="en-AU" sz="1800">
                <a:solidFill>
                  <a:srgbClr val="000000"/>
                </a:solidFill>
                <a:latin typeface="Arial" panose="020B0604020202020204" pitchFamily="34" charset="0"/>
                <a:ea typeface="Arial Unicode MS" panose="020B0604020202020204" charset="-122"/>
                <a:cs typeface="Arial Unicode MS" panose="020B0604020202020204" charset="-122"/>
              </a:endParaRPr>
            </a:p>
          </p:txBody>
        </p:sp>
        <p:sp>
          <p:nvSpPr>
            <p:cNvPr id="9" name="Oval 6"/>
            <p:cNvSpPr>
              <a:spLocks noChangeArrowheads="1"/>
            </p:cNvSpPr>
            <p:nvPr/>
          </p:nvSpPr>
          <p:spPr bwMode="auto">
            <a:xfrm>
              <a:off x="4649" y="2795"/>
              <a:ext cx="408" cy="408"/>
            </a:xfrm>
            <a:prstGeom prst="ellipse">
              <a:avLst/>
            </a:prstGeom>
            <a:solidFill>
              <a:srgbClr val="00B8FF"/>
            </a:solidFill>
            <a:ln w="9525" algn="ctr">
              <a:solidFill>
                <a:schemeClr val="tx1"/>
              </a:solidFill>
              <a:round/>
            </a:ln>
          </p:spPr>
          <p:txBody>
            <a:bodyPr wrap="none" lIns="90000" tIns="46800" rIns="90000" bIns="46800" anchor="ctr"/>
            <a:lstStyle/>
            <a:p>
              <a:pPr algn="ctr" defTabSz="448945">
                <a:spcBef>
                  <a:spcPct val="20000"/>
                </a:spcBef>
                <a:buClr>
                  <a:srgbClr val="000000"/>
                </a:buClr>
                <a:buSzPct val="100000"/>
                <a:buFont typeface="Times New Roman" panose="02020603050405020304" pitchFamily="18" charset="0"/>
                <a:buNone/>
              </a:pPr>
              <a:endParaRPr lang="en-AU" sz="1800">
                <a:solidFill>
                  <a:srgbClr val="000000"/>
                </a:solidFill>
                <a:latin typeface="Arial" panose="020B0604020202020204" pitchFamily="34" charset="0"/>
                <a:ea typeface="Arial Unicode MS" panose="020B0604020202020204" charset="-122"/>
                <a:cs typeface="Arial Unicode MS" panose="020B0604020202020204" charset="-122"/>
              </a:endParaRPr>
            </a:p>
          </p:txBody>
        </p:sp>
        <p:sp>
          <p:nvSpPr>
            <p:cNvPr id="10" name="Oval 7"/>
            <p:cNvSpPr>
              <a:spLocks noChangeArrowheads="1"/>
            </p:cNvSpPr>
            <p:nvPr/>
          </p:nvSpPr>
          <p:spPr bwMode="auto">
            <a:xfrm>
              <a:off x="3833" y="2795"/>
              <a:ext cx="408" cy="408"/>
            </a:xfrm>
            <a:prstGeom prst="ellipse">
              <a:avLst/>
            </a:prstGeom>
            <a:solidFill>
              <a:srgbClr val="00B8FF"/>
            </a:solidFill>
            <a:ln w="9525" algn="ctr">
              <a:solidFill>
                <a:schemeClr val="tx1"/>
              </a:solidFill>
              <a:round/>
            </a:ln>
          </p:spPr>
          <p:txBody>
            <a:bodyPr wrap="none" lIns="90000" tIns="46800" rIns="90000" bIns="46800" anchor="ctr"/>
            <a:lstStyle/>
            <a:p>
              <a:pPr algn="ctr" defTabSz="448945">
                <a:spcBef>
                  <a:spcPct val="20000"/>
                </a:spcBef>
                <a:buClr>
                  <a:srgbClr val="000000"/>
                </a:buClr>
                <a:buSzPct val="100000"/>
                <a:buFont typeface="Times New Roman" panose="02020603050405020304" pitchFamily="18" charset="0"/>
                <a:buNone/>
              </a:pPr>
              <a:endParaRPr lang="en-AU" sz="1800">
                <a:solidFill>
                  <a:srgbClr val="000000"/>
                </a:solidFill>
                <a:latin typeface="Arial" panose="020B0604020202020204" pitchFamily="34" charset="0"/>
                <a:ea typeface="Arial Unicode MS" panose="020B0604020202020204" charset="-122"/>
                <a:cs typeface="Arial Unicode MS" panose="020B0604020202020204" charset="-122"/>
              </a:endParaRPr>
            </a:p>
          </p:txBody>
        </p:sp>
        <p:sp>
          <p:nvSpPr>
            <p:cNvPr id="11" name="Oval 8"/>
            <p:cNvSpPr>
              <a:spLocks noChangeArrowheads="1"/>
            </p:cNvSpPr>
            <p:nvPr/>
          </p:nvSpPr>
          <p:spPr bwMode="auto">
            <a:xfrm>
              <a:off x="4649" y="1979"/>
              <a:ext cx="408" cy="408"/>
            </a:xfrm>
            <a:prstGeom prst="ellipse">
              <a:avLst/>
            </a:prstGeom>
            <a:solidFill>
              <a:srgbClr val="00B8FF"/>
            </a:solidFill>
            <a:ln w="9525" algn="ctr">
              <a:solidFill>
                <a:schemeClr val="tx1"/>
              </a:solidFill>
              <a:round/>
            </a:ln>
          </p:spPr>
          <p:txBody>
            <a:bodyPr wrap="none" lIns="90000" tIns="46800" rIns="90000" bIns="46800" anchor="ctr"/>
            <a:lstStyle/>
            <a:p>
              <a:pPr algn="ctr" defTabSz="448945">
                <a:spcBef>
                  <a:spcPct val="20000"/>
                </a:spcBef>
                <a:buClr>
                  <a:srgbClr val="000000"/>
                </a:buClr>
                <a:buSzPct val="100000"/>
                <a:buFont typeface="Times New Roman" panose="02020603050405020304" pitchFamily="18" charset="0"/>
                <a:buNone/>
              </a:pPr>
              <a:endParaRPr lang="en-AU" sz="1800">
                <a:solidFill>
                  <a:srgbClr val="000000"/>
                </a:solidFill>
                <a:latin typeface="Arial" panose="020B0604020202020204" pitchFamily="34" charset="0"/>
                <a:ea typeface="Arial Unicode MS" panose="020B0604020202020204" charset="-122"/>
                <a:cs typeface="Arial Unicode MS" panose="020B0604020202020204" charset="-122"/>
              </a:endParaRPr>
            </a:p>
          </p:txBody>
        </p:sp>
        <p:cxnSp>
          <p:nvCxnSpPr>
            <p:cNvPr id="12" name="AutoShape 9"/>
            <p:cNvCxnSpPr>
              <a:cxnSpLocks noChangeShapeType="1"/>
              <a:stCxn id="8" idx="4"/>
              <a:endCxn id="10" idx="0"/>
            </p:cNvCxnSpPr>
            <p:nvPr/>
          </p:nvCxnSpPr>
          <p:spPr bwMode="auto">
            <a:xfrm>
              <a:off x="4037" y="2387"/>
              <a:ext cx="0" cy="408"/>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3" name="AutoShape 11"/>
            <p:cNvCxnSpPr>
              <a:cxnSpLocks noChangeShapeType="1"/>
              <a:stCxn id="11" idx="2"/>
              <a:endCxn id="8" idx="6"/>
            </p:cNvCxnSpPr>
            <p:nvPr/>
          </p:nvCxnSpPr>
          <p:spPr bwMode="auto">
            <a:xfrm flipH="1">
              <a:off x="4241" y="2183"/>
              <a:ext cx="408"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4" name="AutoShape 13"/>
            <p:cNvCxnSpPr>
              <a:cxnSpLocks noChangeShapeType="1"/>
              <a:stCxn id="16" idx="3"/>
              <a:endCxn id="8" idx="0"/>
            </p:cNvCxnSpPr>
            <p:nvPr/>
          </p:nvCxnSpPr>
          <p:spPr bwMode="auto">
            <a:xfrm flipH="1">
              <a:off x="4037" y="1692"/>
              <a:ext cx="264" cy="287"/>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5" name="AutoShape 14"/>
            <p:cNvCxnSpPr>
              <a:cxnSpLocks noChangeShapeType="1"/>
              <a:stCxn id="8" idx="5"/>
              <a:endCxn id="9" idx="1"/>
            </p:cNvCxnSpPr>
            <p:nvPr/>
          </p:nvCxnSpPr>
          <p:spPr bwMode="auto">
            <a:xfrm>
              <a:off x="4181" y="2327"/>
              <a:ext cx="528" cy="528"/>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16" name="Oval 15"/>
            <p:cNvSpPr>
              <a:spLocks noChangeArrowheads="1"/>
            </p:cNvSpPr>
            <p:nvPr/>
          </p:nvSpPr>
          <p:spPr bwMode="auto">
            <a:xfrm>
              <a:off x="4241" y="1344"/>
              <a:ext cx="408" cy="408"/>
            </a:xfrm>
            <a:prstGeom prst="ellipse">
              <a:avLst/>
            </a:prstGeom>
            <a:solidFill>
              <a:srgbClr val="00B8FF"/>
            </a:solidFill>
            <a:ln w="9525" algn="ctr">
              <a:solidFill>
                <a:schemeClr val="tx1"/>
              </a:solidFill>
              <a:round/>
            </a:ln>
          </p:spPr>
          <p:txBody>
            <a:bodyPr wrap="none" lIns="90000" tIns="46800" rIns="90000" bIns="46800" anchor="ctr"/>
            <a:lstStyle/>
            <a:p>
              <a:pPr algn="ctr" defTabSz="448945">
                <a:spcBef>
                  <a:spcPct val="20000"/>
                </a:spcBef>
                <a:buClr>
                  <a:srgbClr val="000000"/>
                </a:buClr>
                <a:buSzPct val="100000"/>
                <a:buFont typeface="Times New Roman" panose="02020603050405020304" pitchFamily="18" charset="0"/>
                <a:buNone/>
              </a:pPr>
              <a:endParaRPr lang="en-AU" sz="1800">
                <a:solidFill>
                  <a:srgbClr val="000000"/>
                </a:solidFill>
                <a:latin typeface="Arial" panose="020B0604020202020204" pitchFamily="34" charset="0"/>
                <a:ea typeface="Arial Unicode MS" panose="020B0604020202020204" charset="-122"/>
                <a:cs typeface="Arial Unicode MS" panose="020B0604020202020204" charset="-122"/>
              </a:endParaRPr>
            </a:p>
          </p:txBody>
        </p:sp>
        <p:cxnSp>
          <p:nvCxnSpPr>
            <p:cNvPr id="17" name="AutoShape 16"/>
            <p:cNvCxnSpPr>
              <a:cxnSpLocks noChangeShapeType="1"/>
              <a:stCxn id="16" idx="5"/>
              <a:endCxn id="11" idx="0"/>
            </p:cNvCxnSpPr>
            <p:nvPr/>
          </p:nvCxnSpPr>
          <p:spPr bwMode="auto">
            <a:xfrm>
              <a:off x="4589" y="1692"/>
              <a:ext cx="264" cy="287"/>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grpSp>
      <p:sp>
        <p:nvSpPr>
          <p:cNvPr id="18" name="Text Box 15"/>
          <p:cNvSpPr txBox="1">
            <a:spLocks noChangeArrowheads="1"/>
          </p:cNvSpPr>
          <p:nvPr/>
        </p:nvSpPr>
        <p:spPr bwMode="auto">
          <a:xfrm>
            <a:off x="838200" y="3707904"/>
            <a:ext cx="363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B</a:t>
            </a:r>
            <a:endParaRPr lang="es-ES"/>
          </a:p>
        </p:txBody>
      </p:sp>
      <p:sp>
        <p:nvSpPr>
          <p:cNvPr id="19" name="Rectangle 3"/>
          <p:cNvSpPr>
            <a:spLocks noChangeArrowheads="1"/>
          </p:cNvSpPr>
          <p:nvPr/>
        </p:nvSpPr>
        <p:spPr bwMode="auto">
          <a:xfrm>
            <a:off x="3247559" y="1486693"/>
            <a:ext cx="5194300"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342900" indent="-342900">
              <a:spcBef>
                <a:spcPct val="20000"/>
              </a:spcBef>
              <a:buClr>
                <a:schemeClr val="folHlink"/>
              </a:buClr>
              <a:buSzPct val="60000"/>
              <a:buFont typeface="Wingdings" panose="05000000000000000000" pitchFamily="2" charset="2"/>
              <a:buChar char="n"/>
            </a:pPr>
            <a:r>
              <a:rPr lang="en-AU" sz="3200" dirty="0">
                <a:latin typeface="Arial Unicode MS" panose="020B0604020202020204" charset="-122"/>
                <a:ea typeface="Arial Unicode MS" panose="020B0604020202020204" charset="-122"/>
                <a:cs typeface="Arial Unicode MS" panose="020B0604020202020204" charset="-122"/>
              </a:rPr>
              <a:t>Shortest paths are:</a:t>
            </a:r>
            <a:endParaRPr lang="en-AU" sz="32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r>
              <a:rPr lang="en-AU" sz="2800" dirty="0">
                <a:latin typeface="Arial Unicode MS" panose="020B0604020202020204" charset="-122"/>
                <a:ea typeface="Arial Unicode MS" panose="020B0604020202020204" charset="-122"/>
                <a:cs typeface="Arial Unicode MS" panose="020B0604020202020204" charset="-122"/>
              </a:rPr>
              <a:t>AB, AC, </a:t>
            </a:r>
            <a:r>
              <a:rPr lang="en-AU" sz="2800" u="sng" dirty="0">
                <a:latin typeface="Arial Unicode MS" panose="020B0604020202020204" charset="-122"/>
                <a:ea typeface="Arial Unicode MS" panose="020B0604020202020204" charset="-122"/>
                <a:cs typeface="Arial Unicode MS" panose="020B0604020202020204" charset="-122"/>
              </a:rPr>
              <a:t>ABD</a:t>
            </a:r>
            <a:r>
              <a:rPr lang="en-AU" sz="2800" dirty="0">
                <a:latin typeface="Arial Unicode MS" panose="020B0604020202020204" charset="-122"/>
                <a:ea typeface="Arial Unicode MS" panose="020B0604020202020204" charset="-122"/>
                <a:cs typeface="Arial Unicode MS" panose="020B0604020202020204" charset="-122"/>
              </a:rPr>
              <a:t>, </a:t>
            </a:r>
            <a:r>
              <a:rPr lang="en-AU" sz="2800" u="sng" dirty="0">
                <a:latin typeface="Arial Unicode MS" panose="020B0604020202020204" charset="-122"/>
                <a:ea typeface="Arial Unicode MS" panose="020B0604020202020204" charset="-122"/>
                <a:cs typeface="Arial Unicode MS" panose="020B0604020202020204" charset="-122"/>
              </a:rPr>
              <a:t>ABE</a:t>
            </a:r>
            <a:r>
              <a:rPr lang="en-AU" sz="2800" dirty="0">
                <a:latin typeface="Arial Unicode MS" panose="020B0604020202020204" charset="-122"/>
                <a:ea typeface="Arial Unicode MS" panose="020B0604020202020204" charset="-122"/>
                <a:cs typeface="Arial Unicode MS" panose="020B0604020202020204" charset="-122"/>
              </a:rPr>
              <a:t>, BC, BD, BE, </a:t>
            </a:r>
            <a:r>
              <a:rPr lang="en-AU" sz="2800" u="sng" dirty="0" err="1">
                <a:latin typeface="Arial Unicode MS" panose="020B0604020202020204" charset="-122"/>
                <a:ea typeface="Arial Unicode MS" panose="020B0604020202020204" charset="-122"/>
                <a:cs typeface="Arial Unicode MS" panose="020B0604020202020204" charset="-122"/>
              </a:rPr>
              <a:t>CBD</a:t>
            </a:r>
            <a:r>
              <a:rPr lang="en-AU" sz="2800" dirty="0">
                <a:latin typeface="Arial Unicode MS" panose="020B0604020202020204" charset="-122"/>
                <a:ea typeface="Arial Unicode MS" panose="020B0604020202020204" charset="-122"/>
                <a:cs typeface="Arial Unicode MS" panose="020B0604020202020204" charset="-122"/>
              </a:rPr>
              <a:t>, </a:t>
            </a:r>
            <a:r>
              <a:rPr lang="en-AU" sz="2800" u="sng" dirty="0">
                <a:latin typeface="Arial Unicode MS" panose="020B0604020202020204" charset="-122"/>
                <a:ea typeface="Arial Unicode MS" panose="020B0604020202020204" charset="-122"/>
                <a:cs typeface="Arial Unicode MS" panose="020B0604020202020204" charset="-122"/>
              </a:rPr>
              <a:t>CBE</a:t>
            </a:r>
            <a:r>
              <a:rPr lang="en-AU" sz="2800" dirty="0">
                <a:latin typeface="Arial Unicode MS" panose="020B0604020202020204" charset="-122"/>
                <a:ea typeface="Arial Unicode MS" panose="020B0604020202020204" charset="-122"/>
                <a:cs typeface="Arial Unicode MS" panose="020B0604020202020204" charset="-122"/>
              </a:rPr>
              <a:t>, </a:t>
            </a:r>
            <a:r>
              <a:rPr lang="en-AU" sz="2800" u="sng" dirty="0">
                <a:latin typeface="Arial Unicode MS" panose="020B0604020202020204" charset="-122"/>
                <a:ea typeface="Arial Unicode MS" panose="020B0604020202020204" charset="-122"/>
                <a:cs typeface="Arial Unicode MS" panose="020B0604020202020204" charset="-122"/>
              </a:rPr>
              <a:t>DBE</a:t>
            </a:r>
            <a:endParaRPr lang="en-AU" sz="2800" u="sng"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endParaRPr lang="en-AU" sz="2800" u="sng" dirty="0">
              <a:latin typeface="Arial Unicode MS" panose="020B0604020202020204" charset="-122"/>
              <a:ea typeface="Arial Unicode MS" panose="020B0604020202020204" charset="-122"/>
              <a:cs typeface="Arial Unicode MS" panose="020B0604020202020204" charset="-122"/>
            </a:endParaRPr>
          </a:p>
          <a:p>
            <a:pPr marL="342900" indent="-342900">
              <a:spcBef>
                <a:spcPct val="20000"/>
              </a:spcBef>
              <a:buClr>
                <a:schemeClr val="folHlink"/>
              </a:buClr>
              <a:buSzPct val="60000"/>
              <a:buFont typeface="Wingdings" panose="05000000000000000000" pitchFamily="2" charset="2"/>
              <a:buChar char="n"/>
            </a:pPr>
            <a:endParaRPr lang="en-AU" sz="28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endParaRPr lang="en-AU" sz="28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endParaRPr lang="en-AU" sz="28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endParaRPr lang="en-AU" sz="28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endParaRPr lang="en-AU" sz="2800" dirty="0">
              <a:latin typeface="Arial Unicode MS" panose="020B0604020202020204" charset="-122"/>
              <a:ea typeface="Arial Unicode MS" panose="020B0604020202020204" charset="-122"/>
              <a:cs typeface="Arial Unicode MS" panose="020B0604020202020204" charset="-122"/>
            </a:endParaRPr>
          </a:p>
          <a:p>
            <a:pPr marL="742950" lvl="1" indent="-285750">
              <a:spcBef>
                <a:spcPct val="20000"/>
              </a:spcBef>
              <a:buClr>
                <a:schemeClr val="hlink"/>
              </a:buClr>
              <a:buSzPct val="55000"/>
              <a:buFont typeface="Wingdings" panose="05000000000000000000" pitchFamily="2" charset="2"/>
              <a:buChar char="n"/>
            </a:pPr>
            <a:r>
              <a:rPr lang="en-US" altLang="zh-CN" sz="2800" dirty="0">
                <a:latin typeface="Arial Unicode MS" panose="020B0604020202020204" charset="-122"/>
                <a:ea typeface="Arial Unicode MS" panose="020B0604020202020204" charset="-122"/>
                <a:cs typeface="Arial Unicode MS" panose="020B0604020202020204" charset="-122"/>
              </a:rPr>
              <a:t>B</a:t>
            </a:r>
            <a:r>
              <a:rPr lang="zh-CN" altLang="en-US" sz="2800" dirty="0">
                <a:latin typeface="Arial Unicode MS" panose="020B0604020202020204" charset="-122"/>
                <a:ea typeface="Arial Unicode MS" panose="020B0604020202020204" charset="-122"/>
                <a:cs typeface="Arial Unicode MS" panose="020B0604020202020204" charset="-122"/>
              </a:rPr>
              <a:t>的介数中心性为</a:t>
            </a:r>
            <a:r>
              <a:rPr lang="en-US" altLang="zh-CN" sz="2800" dirty="0">
                <a:latin typeface="Arial Unicode MS" panose="020B0604020202020204" charset="-122"/>
                <a:ea typeface="Arial Unicode MS" panose="020B0604020202020204" charset="-122"/>
                <a:cs typeface="Arial Unicode MS" panose="020B0604020202020204" charset="-122"/>
              </a:rPr>
              <a:t>5</a:t>
            </a:r>
            <a:endParaRPr lang="en-US" altLang="zh-CN" sz="2800" dirty="0">
              <a:latin typeface="Arial Unicode MS" panose="020B0604020202020204" charset="-122"/>
              <a:ea typeface="Arial Unicode MS" panose="020B0604020202020204" charset="-122"/>
              <a:cs typeface="Arial Unicode MS" panose="020B0604020202020204" charset="-122"/>
            </a:endParaRPr>
          </a:p>
        </p:txBody>
      </p:sp>
      <p:sp>
        <p:nvSpPr>
          <p:cNvPr id="20" name="Text Box 19"/>
          <p:cNvSpPr txBox="1">
            <a:spLocks noChangeArrowheads="1"/>
          </p:cNvSpPr>
          <p:nvPr/>
        </p:nvSpPr>
        <p:spPr bwMode="auto">
          <a:xfrm>
            <a:off x="1447800" y="2717304"/>
            <a:ext cx="36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A</a:t>
            </a:r>
            <a:endParaRPr lang="es-ES"/>
          </a:p>
        </p:txBody>
      </p:sp>
      <p:sp>
        <p:nvSpPr>
          <p:cNvPr id="21" name="Text Box 20"/>
          <p:cNvSpPr txBox="1">
            <a:spLocks noChangeArrowheads="1"/>
          </p:cNvSpPr>
          <p:nvPr/>
        </p:nvSpPr>
        <p:spPr bwMode="auto">
          <a:xfrm>
            <a:off x="2133600" y="3707904"/>
            <a:ext cx="363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ea typeface="宋体" panose="02010600030101010101" pitchFamily="2" charset="-122"/>
              </a:rPr>
              <a:t>C</a:t>
            </a:r>
            <a:endParaRPr lang="es-ES"/>
          </a:p>
        </p:txBody>
      </p:sp>
      <p:sp>
        <p:nvSpPr>
          <p:cNvPr id="22" name="Text Box 21"/>
          <p:cNvSpPr txBox="1">
            <a:spLocks noChangeArrowheads="1"/>
          </p:cNvSpPr>
          <p:nvPr/>
        </p:nvSpPr>
        <p:spPr bwMode="auto">
          <a:xfrm>
            <a:off x="762000" y="5003304"/>
            <a:ext cx="39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D</a:t>
            </a:r>
            <a:endParaRPr lang="es-ES"/>
          </a:p>
        </p:txBody>
      </p:sp>
      <p:sp>
        <p:nvSpPr>
          <p:cNvPr id="23" name="Text Box 22"/>
          <p:cNvSpPr txBox="1">
            <a:spLocks noChangeArrowheads="1"/>
          </p:cNvSpPr>
          <p:nvPr/>
        </p:nvSpPr>
        <p:spPr bwMode="auto">
          <a:xfrm>
            <a:off x="2133600" y="4927104"/>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E</a:t>
            </a:r>
            <a:endParaRPr lang="es-ES"/>
          </a:p>
        </p:txBody>
      </p:sp>
      <p:graphicFrame>
        <p:nvGraphicFramePr>
          <p:cNvPr id="24" name="Object 33"/>
          <p:cNvGraphicFramePr>
            <a:graphicFrameLocks noChangeAspect="1"/>
          </p:cNvGraphicFramePr>
          <p:nvPr/>
        </p:nvGraphicFramePr>
        <p:xfrm>
          <a:off x="3939709" y="3305175"/>
          <a:ext cx="3810000" cy="2465388"/>
        </p:xfrm>
        <a:graphic>
          <a:graphicData uri="http://schemas.openxmlformats.org/presentationml/2006/ole">
            <mc:AlternateContent xmlns:mc="http://schemas.openxmlformats.org/markup-compatibility/2006">
              <mc:Choice xmlns:v="urn:schemas-microsoft-com:vml" Requires="v">
                <p:oleObj spid="_x0000_s47235" name="" r:id="rId1" imgW="1752600" imgH="1130300" progId="Equation.3">
                  <p:embed/>
                </p:oleObj>
              </mc:Choice>
              <mc:Fallback>
                <p:oleObj name="" r:id="rId1" imgW="1752600" imgH="1130300" progId="Equation.3">
                  <p:embed/>
                  <p:pic>
                    <p:nvPicPr>
                      <p:cNvPr id="0" name="图片 471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9709" y="3305175"/>
                        <a:ext cx="3810000" cy="2465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矩形 24"/>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 name="Rectangle 3"/>
          <p:cNvSpPr txBox="1">
            <a:spLocks noChangeArrowheads="1"/>
          </p:cNvSpPr>
          <p:nvPr/>
        </p:nvSpPr>
        <p:spPr bwMode="auto">
          <a:xfrm>
            <a:off x="377711" y="1196752"/>
            <a:ext cx="784887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sz="2800" dirty="0">
                <a:solidFill>
                  <a:srgbClr val="FF0000"/>
                </a:solidFill>
                <a:latin typeface="Comic Sans MS" panose="030F0702030302020204" pitchFamily="66" charset="0"/>
              </a:rPr>
              <a:t>网络模式</a:t>
            </a:r>
            <a:r>
              <a:rPr lang="en-US" altLang="zh-CN" sz="2800">
                <a:solidFill>
                  <a:srgbClr val="FF0000"/>
                </a:solidFill>
                <a:latin typeface="Comic Sans MS" panose="030F0702030302020204" pitchFamily="66" charset="0"/>
              </a:rPr>
              <a:t>(Network Motifs)</a:t>
            </a:r>
            <a:r>
              <a:rPr lang="zh-CN" altLang="en-US" sz="2800" dirty="0">
                <a:latin typeface="Comic Sans MS" panose="030F0702030302020204" pitchFamily="66" charset="0"/>
              </a:rPr>
              <a:t>被定义为在网络的多个不同部分中，以远高于</a:t>
            </a:r>
            <a:r>
              <a:rPr lang="zh-CN" altLang="en-US" sz="2800" dirty="0">
                <a:solidFill>
                  <a:srgbClr val="FF0000"/>
                </a:solidFill>
                <a:latin typeface="Comic Sans MS" panose="030F0702030302020204" pitchFamily="66" charset="0"/>
              </a:rPr>
              <a:t>随机网络</a:t>
            </a:r>
            <a:r>
              <a:rPr lang="zh-CN" altLang="en-US" sz="2800" dirty="0">
                <a:latin typeface="Comic Sans MS" panose="030F0702030302020204" pitchFamily="66" charset="0"/>
              </a:rPr>
              <a:t>中出现的频率重复出现的互连模式</a:t>
            </a:r>
            <a:endParaRPr lang="en-US" altLang="zh-CN" sz="2800" dirty="0">
              <a:latin typeface="Comic Sans MS" panose="030F0702030302020204" pitchFamily="66" charset="0"/>
            </a:endParaRPr>
          </a:p>
          <a:p>
            <a:pPr>
              <a:lnSpc>
                <a:spcPct val="120000"/>
              </a:lnSpc>
              <a:buFont typeface="Wingdings" panose="05000000000000000000" pitchFamily="2" charset="2"/>
              <a:buChar char="n"/>
              <a:defRPr/>
            </a:pPr>
            <a:r>
              <a:rPr lang="zh-CN" altLang="en-US" sz="2800" dirty="0">
                <a:latin typeface="Comic Sans MS" panose="030F0702030302020204" pitchFamily="66" charset="0"/>
              </a:rPr>
              <a:t>在不同类别的网络中发现了不同的模式</a:t>
            </a:r>
            <a:endParaRPr lang="en-US" altLang="zh-CN" sz="2800" dirty="0">
              <a:latin typeface="Comic Sans MS" panose="030F0702030302020204" pitchFamily="66" charset="0"/>
            </a:endParaRPr>
          </a:p>
          <a:p>
            <a:pPr>
              <a:lnSpc>
                <a:spcPct val="120000"/>
              </a:lnSpc>
              <a:buFont typeface="Wingdings" panose="05000000000000000000" pitchFamily="2" charset="2"/>
              <a:buChar char="n"/>
              <a:defRPr/>
            </a:pPr>
            <a:r>
              <a:rPr lang="zh-CN" altLang="en-US" sz="2800" dirty="0">
                <a:latin typeface="Comic Sans MS" panose="030F0702030302020204" pitchFamily="66" charset="0"/>
              </a:rPr>
              <a:t>这些网络模式反映了生成每种类型网络的基本过程</a:t>
            </a:r>
            <a:endParaRPr lang="en-US" altLang="zh-CN" sz="2800" dirty="0">
              <a:latin typeface="Comic Sans MS" panose="030F0702030302020204" pitchFamily="66" charset="0"/>
            </a:endParaRPr>
          </a:p>
          <a:p>
            <a:pPr lvl="1">
              <a:defRPr/>
            </a:pPr>
            <a:endParaRPr lang="en-US" altLang="zh-CN" dirty="0"/>
          </a:p>
          <a:p>
            <a:pPr>
              <a:buFontTx/>
              <a:buNone/>
              <a:defRPr/>
            </a:pPr>
            <a:endParaRPr lang="en-US" altLang="zh-CN" dirty="0"/>
          </a:p>
        </p:txBody>
      </p:sp>
      <p:pic>
        <p:nvPicPr>
          <p:cNvPr id="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472" y="3068836"/>
            <a:ext cx="5485746" cy="3105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a:spLocks noChangeArrowheads="1"/>
          </p:cNvSpPr>
          <p:nvPr/>
        </p:nvSpPr>
        <p:spPr bwMode="auto">
          <a:xfrm>
            <a:off x="126228" y="4983107"/>
            <a:ext cx="83518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t>Alon U. </a:t>
            </a:r>
            <a:r>
              <a:rPr lang="en-US" altLang="zh-CN" i="1" dirty="0"/>
              <a:t>et al</a:t>
            </a:r>
            <a:r>
              <a:rPr lang="en-US" altLang="zh-CN" dirty="0"/>
              <a:t>: “</a:t>
            </a:r>
            <a:r>
              <a:rPr lang="en-US" altLang="zh-CN" i="1" dirty="0"/>
              <a:t>Network Motifs: Simple building Blocks of Complex Networks</a:t>
            </a:r>
            <a:r>
              <a:rPr lang="en-US" altLang="zh-CN" dirty="0"/>
              <a:t>”; Science, 2002.</a:t>
            </a:r>
            <a:endParaRPr lang="en-US" altLang="zh-CN" dirty="0"/>
          </a:p>
        </p:txBody>
      </p:sp>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Rectangle 3"/>
          <p:cNvSpPr txBox="1">
            <a:spLocks noChangeArrowheads="1"/>
          </p:cNvSpPr>
          <p:nvPr/>
        </p:nvSpPr>
        <p:spPr bwMode="auto">
          <a:xfrm>
            <a:off x="196850" y="1268760"/>
            <a:ext cx="894715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sz="2800" b="1" dirty="0">
                <a:solidFill>
                  <a:srgbClr val="FF0000"/>
                </a:solidFill>
                <a:effectLst>
                  <a:outerShdw blurRad="38100" dist="38100" dir="2700000" algn="tl">
                    <a:srgbClr val="000000">
                      <a:alpha val="43137"/>
                    </a:srgbClr>
                  </a:outerShdw>
                </a:effectLst>
                <a:latin typeface="Comic Sans MS" panose="030F0702030302020204" pitchFamily="66" charset="0"/>
              </a:rPr>
              <a:t>检测网络模式的主要任务包括：</a:t>
            </a:r>
            <a:endPar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857250" lvl="1" indent="-457200">
              <a:lnSpc>
                <a:spcPct val="120000"/>
              </a:lnSpc>
              <a:buFont typeface="+mj-lt"/>
              <a:buAutoNum type="arabicPeriod"/>
              <a:defRPr/>
            </a:pPr>
            <a:r>
              <a:rPr lang="zh-CN" altLang="en-US" sz="2400" dirty="0">
                <a:latin typeface="Comic Sans MS" panose="030F0702030302020204" pitchFamily="66" charset="0"/>
              </a:rPr>
              <a:t>生成一组合适的随机网络</a:t>
            </a:r>
            <a:endParaRPr lang="en-US" altLang="zh-CN" sz="2400" dirty="0">
              <a:latin typeface="Comic Sans MS" panose="030F0702030302020204" pitchFamily="66" charset="0"/>
            </a:endParaRPr>
          </a:p>
          <a:p>
            <a:pPr marL="857250" lvl="1" indent="-457200">
              <a:lnSpc>
                <a:spcPct val="120000"/>
              </a:lnSpc>
              <a:buFont typeface="+mj-lt"/>
              <a:buAutoNum type="arabicPeriod"/>
              <a:defRPr/>
            </a:pPr>
            <a:r>
              <a:rPr lang="zh-CN" altLang="en-US" sz="2400" dirty="0">
                <a:latin typeface="Comic Sans MS" panose="030F0702030302020204" pitchFamily="66" charset="0"/>
              </a:rPr>
              <a:t>计算实际网络和随机网络中的子图数量</a:t>
            </a:r>
            <a:endParaRPr lang="en-US" altLang="zh-CN" sz="2400" dirty="0">
              <a:latin typeface="Comic Sans MS" panose="030F0702030302020204" pitchFamily="66" charset="0"/>
            </a:endParaRPr>
          </a:p>
          <a:p>
            <a:pPr marL="342900" lvl="1" indent="-342900">
              <a:lnSpc>
                <a:spcPct val="120000"/>
              </a:lnSpc>
              <a:spcBef>
                <a:spcPts val="0"/>
              </a:spcBef>
              <a:buFont typeface="Wingdings" panose="05000000000000000000" pitchFamily="2" charset="2"/>
              <a:buChar char="n"/>
              <a:defRPr/>
            </a:pPr>
            <a:r>
              <a:rPr lang="zh-CN" altLang="en-US" b="1" dirty="0">
                <a:solidFill>
                  <a:srgbClr val="FF0000"/>
                </a:solidFill>
                <a:effectLst>
                  <a:outerShdw blurRad="38100" dist="38100" dir="2700000" algn="tl">
                    <a:srgbClr val="000000">
                      <a:alpha val="43137"/>
                    </a:srgbClr>
                  </a:outerShdw>
                </a:effectLst>
                <a:latin typeface="Comic Sans MS" panose="030F0702030302020204" pitchFamily="66" charset="0"/>
              </a:rPr>
              <a:t>计数方法：</a:t>
            </a:r>
            <a:endParaRPr lang="en-US" altLang="zh-CN"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857250" lvl="1" indent="-457200">
              <a:lnSpc>
                <a:spcPct val="120000"/>
              </a:lnSpc>
              <a:spcBef>
                <a:spcPts val="0"/>
              </a:spcBef>
              <a:buFont typeface="+mj-lt"/>
              <a:buAutoNum type="arabicPeriod"/>
              <a:defRPr/>
            </a:pPr>
            <a:r>
              <a:rPr lang="zh-CN" altLang="en-US" sz="2400" dirty="0">
                <a:latin typeface="Comic Sans MS" panose="030F0702030302020204" pitchFamily="66" charset="0"/>
              </a:rPr>
              <a:t>起始点：具有有向边的图</a:t>
            </a:r>
            <a:endParaRPr lang="en-US" altLang="zh-CN" sz="2400" dirty="0">
              <a:latin typeface="Comic Sans MS" panose="030F0702030302020204" pitchFamily="66" charset="0"/>
            </a:endParaRPr>
          </a:p>
          <a:p>
            <a:pPr marL="857250" lvl="1" indent="-457200">
              <a:lnSpc>
                <a:spcPct val="120000"/>
              </a:lnSpc>
              <a:spcBef>
                <a:spcPts val="0"/>
              </a:spcBef>
              <a:buFont typeface="+mj-lt"/>
              <a:buAutoNum type="arabicPeriod"/>
              <a:defRPr/>
            </a:pPr>
            <a:r>
              <a:rPr lang="zh-CN" altLang="en-US" sz="2400" dirty="0">
                <a:latin typeface="Comic Sans MS" panose="030F0702030302020204" pitchFamily="66" charset="0"/>
              </a:rPr>
              <a:t>扫描 </a:t>
            </a:r>
            <a:r>
              <a:rPr lang="en-US" altLang="zh-CN" sz="2400" dirty="0">
                <a:latin typeface="Comic Sans MS" panose="030F0702030302020204" pitchFamily="66" charset="0"/>
              </a:rPr>
              <a:t>n </a:t>
            </a:r>
            <a:r>
              <a:rPr lang="zh-CN" altLang="en-US" sz="2400" dirty="0">
                <a:latin typeface="Comic Sans MS" panose="030F0702030302020204" pitchFamily="66" charset="0"/>
              </a:rPr>
              <a:t>节点子图（</a:t>
            </a:r>
            <a:r>
              <a:rPr lang="en-US" altLang="zh-CN" sz="2400" dirty="0">
                <a:latin typeface="Comic Sans MS" panose="030F0702030302020204" pitchFamily="66" charset="0"/>
              </a:rPr>
              <a:t>n=3,4</a:t>
            </a:r>
            <a:r>
              <a:rPr lang="zh-CN" altLang="en-US" sz="2400" dirty="0">
                <a:latin typeface="Comic Sans MS" panose="030F0702030302020204" pitchFamily="66" charset="0"/>
              </a:rPr>
              <a:t>）并计算出现次数</a:t>
            </a:r>
            <a:endParaRPr lang="en-US" altLang="zh-CN" sz="2400" dirty="0">
              <a:latin typeface="Comic Sans MS" panose="030F0702030302020204" pitchFamily="66" charset="0"/>
            </a:endParaRPr>
          </a:p>
          <a:p>
            <a:pPr marL="857250" lvl="1" indent="-457200">
              <a:lnSpc>
                <a:spcPct val="120000"/>
              </a:lnSpc>
              <a:spcBef>
                <a:spcPts val="0"/>
              </a:spcBef>
              <a:buFont typeface="+mj-lt"/>
              <a:buAutoNum type="arabicPeriod"/>
              <a:defRPr/>
            </a:pPr>
            <a:r>
              <a:rPr lang="zh-CN" altLang="en-US" sz="2400" dirty="0">
                <a:latin typeface="Comic Sans MS" panose="030F0702030302020204" pitchFamily="66" charset="0"/>
              </a:rPr>
              <a:t>与厄尔多斯</a:t>
            </a:r>
            <a:r>
              <a:rPr lang="en-US" altLang="zh-CN" sz="2400" dirty="0">
                <a:latin typeface="Comic Sans MS" panose="030F0702030302020204" pitchFamily="66" charset="0"/>
              </a:rPr>
              <a:t>-</a:t>
            </a:r>
            <a:r>
              <a:rPr lang="zh-CN" altLang="en-US" sz="2400" dirty="0">
                <a:latin typeface="Comic Sans MS" panose="030F0702030302020204" pitchFamily="66" charset="0"/>
              </a:rPr>
              <a:t>雷尼</a:t>
            </a:r>
            <a:r>
              <a:rPr lang="en-US" altLang="zh-CN" sz="2400" dirty="0">
                <a:latin typeface="Comic Sans MS" panose="030F0702030302020204" pitchFamily="66" charset="0"/>
              </a:rPr>
              <a:t>(</a:t>
            </a:r>
            <a:r>
              <a:rPr lang="en-US" altLang="zh-CN" sz="2400" dirty="0" err="1">
                <a:latin typeface="Comic Sans MS" panose="030F0702030302020204" pitchFamily="66" charset="0"/>
              </a:rPr>
              <a:t>Erdos-Renyi</a:t>
            </a:r>
            <a:r>
              <a:rPr lang="en-US" altLang="zh-CN" sz="2400" dirty="0">
                <a:latin typeface="Comic Sans MS" panose="030F0702030302020204" pitchFamily="66" charset="0"/>
              </a:rPr>
              <a:t>)</a:t>
            </a:r>
            <a:r>
              <a:rPr lang="zh-CN" altLang="en-US" sz="2400" dirty="0">
                <a:latin typeface="Comic Sans MS" panose="030F0702030302020204" pitchFamily="66" charset="0"/>
              </a:rPr>
              <a:t>随机图进行比较</a:t>
            </a:r>
            <a:endParaRPr lang="en-US" altLang="zh-CN" dirty="0"/>
          </a:p>
        </p:txBody>
      </p:sp>
      <p:sp>
        <p:nvSpPr>
          <p:cNvPr id="6" name="矩形 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Rectangle 3"/>
          <p:cNvSpPr txBox="1">
            <a:spLocks noChangeArrowheads="1"/>
          </p:cNvSpPr>
          <p:nvPr/>
        </p:nvSpPr>
        <p:spPr bwMode="auto">
          <a:xfrm>
            <a:off x="208438" y="1159050"/>
            <a:ext cx="8623300" cy="4175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en-US" altLang="zh-CN" sz="2800" dirty="0" err="1">
                <a:latin typeface="Comic Sans MS" panose="030F0702030302020204" pitchFamily="66" charset="0"/>
              </a:rPr>
              <a:t>Subgraphs</a:t>
            </a:r>
            <a:r>
              <a:rPr lang="en-US" altLang="zh-CN" sz="2800" dirty="0">
                <a:latin typeface="Comic Sans MS" panose="030F0702030302020204" pitchFamily="66" charset="0"/>
              </a:rPr>
              <a:t> with a high Z-score are denoted as </a:t>
            </a:r>
            <a:r>
              <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rPr>
              <a:t>network motifs</a:t>
            </a:r>
            <a:endParaRPr lang="en-US" altLang="zh-CN" sz="2800" b="1" dirty="0">
              <a:solidFill>
                <a:srgbClr val="FF0000"/>
              </a:solidFill>
              <a:effectLst>
                <a:outerShdw blurRad="38100" dist="38100" dir="2700000" algn="tl">
                  <a:srgbClr val="000000">
                    <a:alpha val="43137"/>
                  </a:srgbClr>
                </a:outerShdw>
              </a:effectLst>
              <a:latin typeface="Comic Sans MS" panose="030F0702030302020204" pitchFamily="66" charset="0"/>
            </a:endParaRPr>
          </a:p>
        </p:txBody>
      </p:sp>
      <p:graphicFrame>
        <p:nvGraphicFramePr>
          <p:cNvPr id="7" name="对象 6"/>
          <p:cNvGraphicFramePr>
            <a:graphicFrameLocks noChangeAspect="1"/>
          </p:cNvGraphicFramePr>
          <p:nvPr/>
        </p:nvGraphicFramePr>
        <p:xfrm>
          <a:off x="899592" y="2420968"/>
          <a:ext cx="2706688" cy="1096963"/>
        </p:xfrm>
        <a:graphic>
          <a:graphicData uri="http://schemas.openxmlformats.org/presentationml/2006/ole">
            <mc:AlternateContent xmlns:mc="http://schemas.openxmlformats.org/markup-compatibility/2006">
              <mc:Choice xmlns:v="urn:schemas-microsoft-com:vml" Requires="v">
                <p:oleObj spid="_x0000_s48388" name="משוואה" r:id="rId1" imgW="1066800" imgH="431800" progId="Equation.3">
                  <p:embed/>
                </p:oleObj>
              </mc:Choice>
              <mc:Fallback>
                <p:oleObj name="משוואה" r:id="rId1" imgW="1066800" imgH="431800" progId="Equation.3">
                  <p:embed/>
                  <p:pic>
                    <p:nvPicPr>
                      <p:cNvPr id="0" name="图片 481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420968"/>
                        <a:ext cx="2706688" cy="109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矩形 7"/>
          <p:cNvSpPr/>
          <p:nvPr/>
        </p:nvSpPr>
        <p:spPr>
          <a:xfrm>
            <a:off x="558483" y="3517931"/>
            <a:ext cx="8136904" cy="1568450"/>
          </a:xfrm>
          <a:prstGeom prst="rect">
            <a:avLst/>
          </a:prstGeom>
        </p:spPr>
        <p:txBody>
          <a:bodyPr wrap="square">
            <a:spAutoFit/>
          </a:bodyPr>
          <a:lstStyle/>
          <a:p>
            <a:r>
              <a:rPr lang="en-US" altLang="zh-CN" sz="2400" dirty="0" err="1">
                <a:solidFill>
                  <a:srgbClr val="FF0000"/>
                </a:solidFill>
                <a:latin typeface="Arial Unicode MS" panose="020B0604020202020204" charset="-122"/>
                <a:ea typeface="Arial Unicode MS" panose="020B0604020202020204" charset="-122"/>
                <a:cs typeface="Arial Unicode MS" panose="020B0604020202020204" charset="-122"/>
              </a:rPr>
              <a:t>Nreal</a:t>
            </a:r>
            <a:r>
              <a:rPr lang="en-US" altLang="zh-CN" sz="2400" dirty="0">
                <a:latin typeface="Arial Unicode MS" panose="020B0604020202020204" charset="-122"/>
                <a:ea typeface="Arial Unicode MS" panose="020B0604020202020204" charset="-122"/>
                <a:cs typeface="Arial Unicode MS" panose="020B0604020202020204" charset="-122"/>
              </a:rPr>
              <a:t> denotes the number of appearances of the indicated network motif in each species network, whereas </a:t>
            </a:r>
            <a:r>
              <a:rPr lang="en-US" altLang="zh-CN" sz="2400" dirty="0" err="1">
                <a:solidFill>
                  <a:srgbClr val="FF0000"/>
                </a:solidFill>
                <a:latin typeface="Arial Unicode MS" panose="020B0604020202020204" charset="-122"/>
                <a:ea typeface="Arial Unicode MS" panose="020B0604020202020204" charset="-122"/>
                <a:cs typeface="Arial Unicode MS" panose="020B0604020202020204" charset="-122"/>
              </a:rPr>
              <a:t>Nrand</a:t>
            </a:r>
            <a:r>
              <a:rPr lang="en-US" altLang="zh-CN" sz="2400" dirty="0">
                <a:latin typeface="Arial Unicode MS" panose="020B0604020202020204" charset="-122"/>
                <a:ea typeface="Arial Unicode MS" panose="020B0604020202020204" charset="-122"/>
                <a:cs typeface="Arial Unicode MS" panose="020B0604020202020204" charset="-122"/>
              </a:rPr>
              <a:t>  and σ  denote the standard deviation, in  random  networks</a:t>
            </a:r>
            <a:endParaRPr lang="zh-CN" altLang="en-US" sz="2400" dirty="0">
              <a:latin typeface="Arial Unicode MS" panose="020B0604020202020204" charset="-122"/>
              <a:ea typeface="Arial Unicode MS" panose="020B0604020202020204" charset="-122"/>
              <a:cs typeface="Arial Unicode MS" panose="020B0604020202020204" charset="-122"/>
            </a:endParaRPr>
          </a:p>
        </p:txBody>
      </p:sp>
      <p:graphicFrame>
        <p:nvGraphicFramePr>
          <p:cNvPr id="9" name="对象 8"/>
          <p:cNvGraphicFramePr>
            <a:graphicFrameLocks noChangeAspect="1"/>
          </p:cNvGraphicFramePr>
          <p:nvPr/>
        </p:nvGraphicFramePr>
        <p:xfrm>
          <a:off x="557874" y="5334621"/>
          <a:ext cx="2070487" cy="748159"/>
        </p:xfrm>
        <a:graphic>
          <a:graphicData uri="http://schemas.openxmlformats.org/presentationml/2006/ole">
            <mc:AlternateContent xmlns:mc="http://schemas.openxmlformats.org/markup-compatibility/2006">
              <mc:Choice xmlns:v="urn:schemas-microsoft-com:vml" Requires="v">
                <p:oleObj spid="_x0000_s48389" name="Formula" r:id="rId3" imgW="1134110" imgH="405130" progId="Equation.Ribbit">
                  <p:embed/>
                </p:oleObj>
              </mc:Choice>
              <mc:Fallback>
                <p:oleObj name="Formula" r:id="rId3" imgW="1134110" imgH="405130" progId="Equation.Ribbit">
                  <p:embed/>
                  <p:pic>
                    <p:nvPicPr>
                      <p:cNvPr id="0" name="图片 481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874" y="5334621"/>
                        <a:ext cx="2070487" cy="748159"/>
                      </a:xfrm>
                      <a:prstGeom prst="rect">
                        <a:avLst/>
                      </a:prstGeom>
                      <a:noFill/>
                    </p:spPr>
                  </p:pic>
                </p:oleObj>
              </mc:Fallback>
            </mc:AlternateContent>
          </a:graphicData>
        </a:graphic>
      </p:graphicFrame>
      <p:pic>
        <p:nvPicPr>
          <p:cNvPr id="11" name="图片 10"/>
          <p:cNvPicPr/>
          <p:nvPr/>
        </p:nvPicPr>
        <p:blipFill>
          <a:blip r:embed="rId5"/>
          <a:srcRect/>
          <a:stretch>
            <a:fillRect/>
          </a:stretch>
        </p:blipFill>
        <p:spPr>
          <a:xfrm>
            <a:off x="2677041" y="5144984"/>
            <a:ext cx="6191920" cy="1463655"/>
          </a:xfrm>
          <a:prstGeom prst="rect">
            <a:avLst/>
          </a:prstGeom>
        </p:spPr>
      </p:pic>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Grp="1" noChangeAspect="1" noChangeArrowheads="1"/>
          </p:cNvPicPr>
          <p:nvPr>
            <p:ph idx="4294967295"/>
          </p:nvPr>
        </p:nvPicPr>
        <p:blipFill>
          <a:blip r:embed="rId1">
            <a:extLst>
              <a:ext uri="{28A0092B-C50C-407E-A947-70E740481C1C}">
                <a14:useLocalDpi xmlns:a14="http://schemas.microsoft.com/office/drawing/2010/main" val="0"/>
              </a:ext>
            </a:extLst>
          </a:blip>
          <a:stretch>
            <a:fillRect/>
          </a:stretch>
        </p:blipFill>
        <p:spPr>
          <a:noFill/>
        </p:spPr>
      </p:pic>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6" name="Picture 2" descr="m4ne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859743"/>
            <a:ext cx="6378178" cy="307097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矩形 6"/>
          <p:cNvSpPr/>
          <p:nvPr/>
        </p:nvSpPr>
        <p:spPr>
          <a:xfrm>
            <a:off x="344265" y="5247943"/>
            <a:ext cx="7776864" cy="830997"/>
          </a:xfrm>
          <a:prstGeom prst="rect">
            <a:avLst/>
          </a:prstGeom>
        </p:spPr>
        <p:txBody>
          <a:bodyPr wrap="square">
            <a:spAutoFit/>
          </a:bodyPr>
          <a:lstStyle/>
          <a:p>
            <a:r>
              <a:rPr lang="en-US" altLang="ja-JP" sz="2400" b="1" dirty="0">
                <a:latin typeface="Arial Unicode MS" panose="020B0604020202020204" charset="-122"/>
                <a:ea typeface="Arial Unicode MS" panose="020B0604020202020204" charset="-122"/>
                <a:cs typeface="Arial Unicode MS" panose="020B0604020202020204" charset="-122"/>
              </a:rPr>
              <a:t>And it grows fast for larger subgraphs : </a:t>
            </a:r>
            <a:r>
              <a:rPr lang="en-US" altLang="ja-JP" sz="2400" b="1" dirty="0">
                <a:solidFill>
                  <a:srgbClr val="FF0000"/>
                </a:solidFill>
                <a:latin typeface="Arial Unicode MS" panose="020B0604020202020204" charset="-122"/>
                <a:ea typeface="Arial Unicode MS" panose="020B0604020202020204" charset="-122"/>
                <a:cs typeface="Arial Unicode MS" panose="020B0604020202020204" charset="-122"/>
              </a:rPr>
              <a:t>9364</a:t>
            </a:r>
            <a:r>
              <a:rPr lang="en-US" altLang="ja-JP" sz="2400" b="1" dirty="0">
                <a:latin typeface="Arial Unicode MS" panose="020B0604020202020204" charset="-122"/>
                <a:ea typeface="Arial Unicode MS" panose="020B0604020202020204" charset="-122"/>
                <a:cs typeface="Arial Unicode MS" panose="020B0604020202020204" charset="-122"/>
              </a:rPr>
              <a:t> 5-node subgraphs, </a:t>
            </a:r>
            <a:r>
              <a:rPr lang="en-US" altLang="ja-JP" sz="2400" b="1" dirty="0">
                <a:solidFill>
                  <a:srgbClr val="FF0000"/>
                </a:solidFill>
                <a:latin typeface="Arial Unicode MS" panose="020B0604020202020204" charset="-122"/>
                <a:ea typeface="Arial Unicode MS" panose="020B0604020202020204" charset="-122"/>
                <a:cs typeface="Arial Unicode MS" panose="020B0604020202020204" charset="-122"/>
              </a:rPr>
              <a:t>1,530,843 </a:t>
            </a:r>
            <a:r>
              <a:rPr lang="en-US" altLang="ja-JP" sz="2400" b="1" dirty="0">
                <a:latin typeface="Arial Unicode MS" panose="020B0604020202020204" charset="-122"/>
                <a:ea typeface="Arial Unicode MS" panose="020B0604020202020204" charset="-122"/>
                <a:cs typeface="Arial Unicode MS" panose="020B0604020202020204" charset="-122"/>
              </a:rPr>
              <a:t>6-node…</a:t>
            </a:r>
            <a:endParaRPr lang="en-US" altLang="ja-JP" sz="2400" dirty="0">
              <a:latin typeface="Arial Unicode MS" panose="020B0604020202020204" charset="-122"/>
              <a:ea typeface="Arial Unicode MS" panose="020B0604020202020204" charset="-122"/>
              <a:cs typeface="Arial Unicode MS" panose="020B0604020202020204" charset="-122"/>
            </a:endParaRPr>
          </a:p>
        </p:txBody>
      </p:sp>
      <p:sp>
        <p:nvSpPr>
          <p:cNvPr id="8" name="矩形 7"/>
          <p:cNvSpPr/>
          <p:nvPr/>
        </p:nvSpPr>
        <p:spPr>
          <a:xfrm>
            <a:off x="7722516" y="2060848"/>
            <a:ext cx="527709" cy="461665"/>
          </a:xfrm>
          <a:prstGeom prst="rect">
            <a:avLst/>
          </a:prstGeom>
        </p:spPr>
        <p:txBody>
          <a:bodyPr wrap="none">
            <a:spAutoFit/>
          </a:bodyPr>
          <a:lstStyle/>
          <a:p>
            <a:r>
              <a:rPr lang="en-US" altLang="ja-JP" sz="2400" b="1" dirty="0">
                <a:solidFill>
                  <a:srgbClr val="FF0000"/>
                </a:solidFill>
                <a:latin typeface="Arial Unicode MS" panose="020B0604020202020204" charset="-122"/>
                <a:ea typeface="Arial Unicode MS" panose="020B0604020202020204" charset="-122"/>
                <a:cs typeface="Arial Unicode MS" panose="020B0604020202020204" charset="-122"/>
              </a:rPr>
              <a:t>13</a:t>
            </a:r>
            <a:endParaRPr lang="zh-CN" altLang="en-US" sz="2400" dirty="0">
              <a:solidFill>
                <a:srgbClr val="FF0000"/>
              </a:solidFill>
            </a:endParaRPr>
          </a:p>
        </p:txBody>
      </p:sp>
      <p:sp>
        <p:nvSpPr>
          <p:cNvPr id="9" name="矩形 8"/>
          <p:cNvSpPr/>
          <p:nvPr/>
        </p:nvSpPr>
        <p:spPr>
          <a:xfrm>
            <a:off x="7636756" y="4101411"/>
            <a:ext cx="699230" cy="461665"/>
          </a:xfrm>
          <a:prstGeom prst="rect">
            <a:avLst/>
          </a:prstGeom>
        </p:spPr>
        <p:txBody>
          <a:bodyPr wrap="none">
            <a:spAutoFit/>
          </a:bodyPr>
          <a:lstStyle/>
          <a:p>
            <a:r>
              <a:rPr lang="en-US" altLang="ja-JP" sz="2400" b="1">
                <a:solidFill>
                  <a:srgbClr val="FF0000"/>
                </a:solidFill>
                <a:latin typeface="Arial Unicode MS" panose="020B0604020202020204" charset="-122"/>
                <a:ea typeface="Arial Unicode MS" panose="020B0604020202020204" charset="-122"/>
                <a:cs typeface="Arial Unicode MS" panose="020B0604020202020204" charset="-122"/>
              </a:rPr>
              <a:t>199</a:t>
            </a:r>
            <a:endParaRPr lang="zh-CN" altLang="en-US" sz="2400">
              <a:solidFill>
                <a:srgbClr val="FF0000"/>
              </a:solidFill>
            </a:endParaRPr>
          </a:p>
        </p:txBody>
      </p:sp>
      <p:sp>
        <p:nvSpPr>
          <p:cNvPr id="10" name="矩形 9"/>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Rectangle 3"/>
          <p:cNvSpPr txBox="1">
            <a:spLocks noChangeArrowheads="1"/>
          </p:cNvSpPr>
          <p:nvPr/>
        </p:nvSpPr>
        <p:spPr bwMode="auto">
          <a:xfrm>
            <a:off x="179512" y="1268760"/>
            <a:ext cx="792088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b="1" dirty="0">
                <a:solidFill>
                  <a:srgbClr val="FF0000"/>
                </a:solidFill>
                <a:effectLst>
                  <a:outerShdw blurRad="38100" dist="38100" dir="2700000" algn="tl">
                    <a:srgbClr val="000000">
                      <a:alpha val="43137"/>
                    </a:srgbClr>
                  </a:outerShdw>
                </a:effectLst>
                <a:latin typeface="Comic Sans MS" panose="030F0702030302020204" pitchFamily="66" charset="0"/>
              </a:rPr>
              <a:t>运行时间复杂度</a:t>
            </a:r>
            <a:endParaRPr lang="en-US" altLang="zh-CN"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dirty="0">
                <a:latin typeface="Comic Sans MS" panose="030F0702030302020204" pitchFamily="66" charset="0"/>
              </a:rPr>
              <a:t>该算法的性能随网络中 </a:t>
            </a:r>
            <a:r>
              <a:rPr lang="en-US" altLang="zh-CN" dirty="0">
                <a:latin typeface="Comic Sans MS" panose="030F0702030302020204" pitchFamily="66" charset="0"/>
              </a:rPr>
              <a:t>n </a:t>
            </a:r>
            <a:r>
              <a:rPr lang="zh-CN" altLang="en-US" dirty="0">
                <a:latin typeface="Comic Sans MS" panose="030F0702030302020204" pitchFamily="66" charset="0"/>
              </a:rPr>
              <a:t>节点子图的总数而变化</a:t>
            </a:r>
            <a:endParaRPr lang="en-US" altLang="zh-CN"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dirty="0">
                <a:latin typeface="Comic Sans MS" panose="030F0702030302020204" pitchFamily="66" charset="0"/>
              </a:rPr>
              <a:t>对于 </a:t>
            </a:r>
            <a:r>
              <a:rPr lang="en-US" altLang="zh-CN" dirty="0">
                <a:solidFill>
                  <a:srgbClr val="FF0000"/>
                </a:solidFill>
                <a:latin typeface="Comic Sans MS" panose="030F0702030302020204" pitchFamily="66" charset="0"/>
              </a:rPr>
              <a:t>n ≥ 5</a:t>
            </a:r>
            <a:r>
              <a:rPr lang="en-US" altLang="zh-CN" dirty="0">
                <a:latin typeface="Comic Sans MS" panose="030F0702030302020204" pitchFamily="66" charset="0"/>
              </a:rPr>
              <a:t> </a:t>
            </a:r>
            <a:r>
              <a:rPr lang="zh-CN" altLang="en-US" dirty="0">
                <a:latin typeface="Comic Sans MS" panose="030F0702030302020204" pitchFamily="66" charset="0"/>
              </a:rPr>
              <a:t>的子图，子图数量和算法运行时间也会显著增加</a:t>
            </a:r>
            <a:endParaRPr lang="en-US" altLang="zh-CN" dirty="0">
              <a:latin typeface="Comic Sans MS" panose="030F0702030302020204" pitchFamily="66" charset="0"/>
            </a:endParaRPr>
          </a:p>
        </p:txBody>
      </p:sp>
      <p:sp>
        <p:nvSpPr>
          <p:cNvPr id="6" name="矩形 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aphicFrame>
        <p:nvGraphicFramePr>
          <p:cNvPr id="7" name="表格 6"/>
          <p:cNvGraphicFramePr>
            <a:graphicFrameLocks noGrp="1"/>
          </p:cNvGraphicFramePr>
          <p:nvPr/>
        </p:nvGraphicFramePr>
        <p:xfrm>
          <a:off x="431540" y="2334187"/>
          <a:ext cx="8280920" cy="3950462"/>
        </p:xfrm>
        <a:graphic>
          <a:graphicData uri="http://schemas.openxmlformats.org/drawingml/2006/table">
            <a:tbl>
              <a:tblPr/>
              <a:tblGrid>
                <a:gridCol w="1553184"/>
                <a:gridCol w="1159165"/>
                <a:gridCol w="1159165"/>
                <a:gridCol w="1069245"/>
                <a:gridCol w="1069245"/>
                <a:gridCol w="1135458"/>
                <a:gridCol w="1135458"/>
              </a:tblGrid>
              <a:tr h="338732">
                <a:tc row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Dataset</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grid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Three-node Motifs</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hMerge="1">
                  <a:tcPr/>
                </a:tc>
                <a:tc grid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Four-node Motifs</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hMerge="1">
                  <a:tcPr/>
                </a:tc>
                <a:tc gridSpan="2">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Five-node Motifs</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hMerge="1">
                  <a:tcPr/>
                </a:tc>
              </a:tr>
              <a:tr h="368006">
                <a:tc vMerge="1">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Runtime</a:t>
                      </a:r>
                      <a:endParaRPr lang="zh-CN" sz="16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Output Size</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Runtime</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Output Size</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a:effectLst/>
                          <a:latin typeface="Times New Roman" panose="02020603050405020304" pitchFamily="18" charset="0"/>
                          <a:cs typeface="Times New Roman" panose="02020603050405020304" pitchFamily="18" charset="0"/>
                        </a:rPr>
                        <a:t>Runtime</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b="1" kern="100" dirty="0">
                          <a:effectLst/>
                          <a:latin typeface="Times New Roman" panose="02020603050405020304" pitchFamily="18" charset="0"/>
                          <a:cs typeface="Times New Roman" panose="02020603050405020304" pitchFamily="18" charset="0"/>
                        </a:rPr>
                        <a:t>Output Size </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412960">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a:effectLst/>
                          <a:latin typeface="Times New Roman" panose="02020603050405020304" pitchFamily="18" charset="0"/>
                          <a:cs typeface="Times New Roman" panose="02020603050405020304" pitchFamily="18" charset="0"/>
                        </a:rPr>
                        <a:t>Data mining</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28s</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1.06MB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5min13s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40MB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2h56min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1,635MB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604387">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a:effectLst/>
                          <a:latin typeface="Times New Roman" panose="02020603050405020304" pitchFamily="18" charset="0"/>
                          <a:cs typeface="Times New Roman" panose="02020603050405020304" pitchFamily="18" charset="0"/>
                        </a:rPr>
                        <a:t>Computer network</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33s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1.25MB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6min32s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50MB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3h40min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2,047MB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412960">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a:effectLst/>
                          <a:latin typeface="Times New Roman" panose="02020603050405020304" pitchFamily="18" charset="0"/>
                          <a:cs typeface="Times New Roman" panose="02020603050405020304" pitchFamily="18" charset="0"/>
                        </a:rPr>
                        <a:t>Data structure</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40s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1.54MB</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10min16s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79MB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7h16min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4,047MB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604387">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a:effectLst/>
                          <a:latin typeface="Times New Roman" panose="02020603050405020304" pitchFamily="18" charset="0"/>
                          <a:cs typeface="Times New Roman" panose="02020603050405020304" pitchFamily="18" charset="0"/>
                        </a:rPr>
                        <a:t>Euclidean geometry</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3min38s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8.32MB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1h31min</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650MB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95h10min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52,980MB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604387">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a:effectLst/>
                          <a:latin typeface="Times New Roman" panose="02020603050405020304" pitchFamily="18" charset="0"/>
                          <a:cs typeface="Times New Roman" panose="02020603050405020304" pitchFamily="18" charset="0"/>
                        </a:rPr>
                        <a:t>Classical mechanics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1min14s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2.84MB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22min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170MB</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18h24min</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10,245MB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r h="412960">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indent="127000" algn="ctr">
                        <a:lnSpc>
                          <a:spcPct val="120000"/>
                        </a:lnSpc>
                        <a:spcAft>
                          <a:spcPts val="0"/>
                        </a:spcAft>
                      </a:pPr>
                      <a:r>
                        <a:rPr lang="en-US" sz="1600" kern="100" dirty="0">
                          <a:effectLst/>
                          <a:latin typeface="Times New Roman" panose="02020603050405020304" pitchFamily="18" charset="0"/>
                          <a:cs typeface="Times New Roman" panose="02020603050405020304" pitchFamily="18" charset="0"/>
                        </a:rPr>
                        <a:t>Microbiology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3min51s</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8.82MB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2h45min</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a:effectLst/>
                          <a:latin typeface="Times New Roman" panose="02020603050405020304" pitchFamily="18" charset="0"/>
                          <a:cs typeface="Times New Roman" panose="02020603050405020304" pitchFamily="18" charset="0"/>
                        </a:rPr>
                        <a:t>1,263MB</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270h30min</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c>
                  <a:txBody>
                    <a:bodyPr/>
                    <a:lstStyle>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a:spcAft>
                          <a:spcPts val="0"/>
                        </a:spcAft>
                      </a:pPr>
                      <a:r>
                        <a:rPr lang="en-US" sz="1600" kern="100" dirty="0">
                          <a:effectLst/>
                          <a:latin typeface="Times New Roman" panose="02020603050405020304" pitchFamily="18" charset="0"/>
                          <a:cs typeface="Times New Roman" panose="02020603050405020304" pitchFamily="18" charset="0"/>
                        </a:rPr>
                        <a:t>150,587MB</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lnL w="12700" cmpd="sng">
                      <a:solidFill>
                        <a:srgbClr val="FBFDFF"/>
                      </a:solidFill>
                    </a:lnL>
                    <a:lnR w="12700" cmpd="sng">
                      <a:solidFill>
                        <a:srgbClr val="FBFDFF"/>
                      </a:solidFill>
                    </a:lnR>
                    <a:lnT w="12700" cmpd="sng">
                      <a:solidFill>
                        <a:srgbClr val="FBFDFF"/>
                      </a:solidFill>
                    </a:lnT>
                    <a:lnB w="12700" cmpd="sng">
                      <a:solidFill>
                        <a:srgbClr val="FBFDFF"/>
                      </a:solidFill>
                    </a:lnB>
                    <a:lnTlToBr w="12700" cmpd="sng">
                      <a:noFill/>
                      <a:prstDash val="solid"/>
                    </a:lnTlToBr>
                    <a:lnBlToTr w="12700" cmpd="sng">
                      <a:noFill/>
                      <a:prstDash val="solid"/>
                    </a:lnBlToTr>
                    <a:solidFill>
                      <a:srgbClr val="78C0B2">
                        <a:tint val="20000"/>
                      </a:srgbClr>
                    </a:solidFill>
                  </a:tcPr>
                </a:tc>
              </a:tr>
            </a:tbl>
          </a:graphicData>
        </a:graphic>
      </p:graphicFrame>
      <p:sp>
        <p:nvSpPr>
          <p:cNvPr id="8" name="矩形 7"/>
          <p:cNvSpPr/>
          <p:nvPr/>
        </p:nvSpPr>
        <p:spPr>
          <a:xfrm>
            <a:off x="431541" y="913626"/>
            <a:ext cx="8280920" cy="1311128"/>
          </a:xfrm>
          <a:prstGeom prst="rect">
            <a:avLst/>
          </a:prstGeom>
        </p:spPr>
        <p:txBody>
          <a:bodyPr wrap="square">
            <a:spAutoFit/>
          </a:bodyPr>
          <a:lstStyle/>
          <a:p>
            <a:pPr algn="l">
              <a:lnSpc>
                <a:spcPct val="110000"/>
              </a:lnSpc>
            </a:pP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使用</a:t>
            </a:r>
            <a:r>
              <a:rPr kumimoji="1" lang="en-US" altLang="zh-CN" sz="2400" b="0" kern="100" dirty="0" err="1">
                <a:solidFill>
                  <a:srgbClr val="333333"/>
                </a:solidFill>
                <a:latin typeface="Times New Roman" panose="02020603050405020304" pitchFamily="18" charset="0"/>
                <a:ea typeface="黑体" panose="02010609060101010101" pitchFamily="49" charset="-122"/>
                <a:cs typeface="Times New Roman" panose="02020603050405020304" pitchFamily="18" charset="0"/>
              </a:rPr>
              <a:t>GtrieScanner</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计算</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3</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节点，</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4</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节点及</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5</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节点</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Motif</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所需运行时间与生成结果大小。</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2</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个</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Intel Xeon E7-4880</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处理器（</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2.40 GHz 10</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核）及</a:t>
            </a:r>
            <a:r>
              <a:rPr kumimoji="1" lang="en-US"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64 GB RAM</a:t>
            </a:r>
            <a:r>
              <a:rPr kumimoji="1" lang="zh-CN" altLang="zh-CN" sz="2400" b="0" kern="10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400" b="0" dirty="0">
              <a:solidFill>
                <a:srgbClr val="333333"/>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 name="Rectangle 3"/>
          <p:cNvSpPr txBox="1">
            <a:spLocks noChangeArrowheads="1"/>
          </p:cNvSpPr>
          <p:nvPr/>
        </p:nvSpPr>
        <p:spPr bwMode="auto">
          <a:xfrm>
            <a:off x="223962" y="1124744"/>
            <a:ext cx="86233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b="1" dirty="0">
                <a:solidFill>
                  <a:srgbClr val="FF0000"/>
                </a:solidFill>
                <a:effectLst>
                  <a:outerShdw blurRad="38100" dist="38100" dir="2700000" algn="tl">
                    <a:srgbClr val="000000">
                      <a:alpha val="43137"/>
                    </a:srgbClr>
                  </a:outerShdw>
                </a:effectLst>
                <a:latin typeface="Comic Sans MS" panose="030F0702030302020204" pitchFamily="66" charset="0"/>
              </a:rPr>
              <a:t>子图计数的采样方法</a:t>
            </a:r>
            <a:endParaRPr lang="en-US" altLang="zh-CN"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dirty="0">
                <a:latin typeface="Comic Sans MS" panose="030F0702030302020204" pitchFamily="66" charset="0"/>
              </a:rPr>
              <a:t>算法通过采样子图来估计它们的相对频率</a:t>
            </a:r>
            <a:endParaRPr lang="en-US" altLang="zh-CN"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dirty="0">
                <a:latin typeface="Comic Sans MS" panose="030F0702030302020204" pitchFamily="66" charset="0"/>
              </a:rPr>
              <a:t>算法的运行时间在渐近上不依赖于网络规模</a:t>
            </a:r>
            <a:endParaRPr lang="en-US" altLang="zh-CN"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dirty="0">
                <a:latin typeface="Comic Sans MS" panose="030F0702030302020204" pitchFamily="66" charset="0"/>
              </a:rPr>
              <a:t>令人惊讶的是，</a:t>
            </a:r>
            <a:r>
              <a:rPr lang="zh-CN" altLang="en-US" dirty="0">
                <a:solidFill>
                  <a:srgbClr val="FF0000"/>
                </a:solidFill>
                <a:latin typeface="Comic Sans MS" panose="030F0702030302020204" pitchFamily="66" charset="0"/>
              </a:rPr>
              <a:t>仅需要少量样本就能可靠地检测到网络模式</a:t>
            </a:r>
            <a:endParaRPr lang="en-US" altLang="zh-CN" dirty="0">
              <a:latin typeface="Comic Sans MS" panose="030F0702030302020204" pitchFamily="66" charset="0"/>
            </a:endParaRPr>
          </a:p>
        </p:txBody>
      </p:sp>
      <p:sp>
        <p:nvSpPr>
          <p:cNvPr id="6" name="矩形 1"/>
          <p:cNvSpPr>
            <a:spLocks noChangeArrowheads="1"/>
          </p:cNvSpPr>
          <p:nvPr/>
        </p:nvSpPr>
        <p:spPr bwMode="auto">
          <a:xfrm>
            <a:off x="539552" y="4581128"/>
            <a:ext cx="8245475"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90000"/>
              </a:lnSpc>
            </a:pPr>
            <a:r>
              <a:rPr lang="en-US" altLang="zh-CN" dirty="0" err="1"/>
              <a:t>Kashtan</a:t>
            </a:r>
            <a:r>
              <a:rPr lang="en-US" altLang="zh-CN" dirty="0"/>
              <a:t> </a:t>
            </a:r>
            <a:r>
              <a:rPr lang="en-US" altLang="zh-CN" i="1" dirty="0"/>
              <a:t>et al.:</a:t>
            </a:r>
            <a:r>
              <a:rPr lang="en-US" altLang="zh-CN" dirty="0"/>
              <a:t> “Efficient sampling algorithm for estimating subgraph concentrations and detecting network motifs”; Bioinformatics, 2004.</a:t>
            </a:r>
            <a:endParaRPr lang="en-US" altLang="zh-CN" dirty="0"/>
          </a:p>
        </p:txBody>
      </p:sp>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 name="Rectangle 3"/>
          <p:cNvSpPr txBox="1">
            <a:spLocks noChangeArrowheads="1"/>
          </p:cNvSpPr>
          <p:nvPr/>
        </p:nvSpPr>
        <p:spPr bwMode="auto">
          <a:xfrm>
            <a:off x="188118" y="992832"/>
            <a:ext cx="876776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120000"/>
              </a:lnSpc>
              <a:buFont typeface="Wingdings" panose="05000000000000000000" pitchFamily="2" charset="2"/>
              <a:buChar char="n"/>
              <a:defRPr/>
            </a:pPr>
            <a:r>
              <a:rPr lang="zh-CN" altLang="en-US" b="1" dirty="0">
                <a:solidFill>
                  <a:srgbClr val="FF0000"/>
                </a:solidFill>
                <a:effectLst>
                  <a:outerShdw blurRad="38100" dist="38100" dir="2700000" algn="tl">
                    <a:srgbClr val="000000">
                      <a:alpha val="43137"/>
                    </a:srgbClr>
                  </a:outerShdw>
                </a:effectLst>
                <a:latin typeface="Comic Sans MS" panose="030F0702030302020204" pitchFamily="66" charset="0"/>
              </a:rPr>
              <a:t>子图计数的采样方法</a:t>
            </a:r>
            <a:endParaRPr lang="en-US" altLang="zh-CN" b="1" dirty="0">
              <a:solidFill>
                <a:srgbClr val="FF0000"/>
              </a:solidFill>
              <a:effectLst>
                <a:outerShdw blurRad="38100" dist="38100" dir="2700000" algn="tl">
                  <a:srgbClr val="000000">
                    <a:alpha val="43137"/>
                  </a:srgbClr>
                </a:outerShdw>
              </a:effectLst>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sz="2200" dirty="0">
                <a:latin typeface="Comic Sans MS" panose="030F0702030302020204" pitchFamily="66" charset="0"/>
              </a:rPr>
              <a:t>从网络中随机选择一条边，然后通过随机选择相邻边逐步扩展子图，直到子图达到 </a:t>
            </a:r>
            <a:r>
              <a:rPr lang="en-US" altLang="zh-CN" sz="2200" dirty="0">
                <a:latin typeface="Comic Sans MS" panose="030F0702030302020204" pitchFamily="66" charset="0"/>
              </a:rPr>
              <a:t>n </a:t>
            </a:r>
            <a:r>
              <a:rPr lang="zh-CN" altLang="en-US" sz="2200" dirty="0">
                <a:latin typeface="Comic Sans MS" panose="030F0702030302020204" pitchFamily="66" charset="0"/>
              </a:rPr>
              <a:t>个节点</a:t>
            </a:r>
            <a:endParaRPr lang="en-US" altLang="zh-CN" sz="2200"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sz="2200" dirty="0">
                <a:latin typeface="Comic Sans MS" panose="030F0702030302020204" pitchFamily="66" charset="0"/>
              </a:rPr>
              <a:t>对于每次随机选择边的操作，为了选择一条可以使子图大小增加一的边，准备一份所有符合条件的候选边的列表，然后从列表中随机选择一条边</a:t>
            </a:r>
            <a:endParaRPr lang="en-US" altLang="zh-CN" sz="2200"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sz="2200" dirty="0">
                <a:latin typeface="Comic Sans MS" panose="030F0702030302020204" pitchFamily="66" charset="0"/>
              </a:rPr>
              <a:t>最后，采样得到的子图由 </a:t>
            </a:r>
            <a:r>
              <a:rPr lang="en-US" altLang="zh-CN" sz="2200" dirty="0">
                <a:latin typeface="Comic Sans MS" panose="030F0702030302020204" pitchFamily="66" charset="0"/>
              </a:rPr>
              <a:t>n </a:t>
            </a:r>
            <a:r>
              <a:rPr lang="zh-CN" altLang="en-US" sz="2200" dirty="0">
                <a:latin typeface="Comic Sans MS" panose="030F0702030302020204" pitchFamily="66" charset="0"/>
              </a:rPr>
              <a:t>个节点及其在原始网络中连接这些节点的所有边所定义。</a:t>
            </a:r>
            <a:endParaRPr lang="en-US" altLang="zh-CN" sz="2200" dirty="0">
              <a:latin typeface="Comic Sans MS" panose="030F0702030302020204" pitchFamily="66" charset="0"/>
            </a:endParaRPr>
          </a:p>
          <a:p>
            <a:pPr marL="857250" lvl="1" indent="-457200">
              <a:lnSpc>
                <a:spcPct val="120000"/>
              </a:lnSpc>
              <a:spcBef>
                <a:spcPts val="600"/>
              </a:spcBef>
              <a:buFont typeface="+mj-lt"/>
              <a:buAutoNum type="arabicPeriod"/>
              <a:defRPr/>
            </a:pPr>
            <a:r>
              <a:rPr lang="zh-CN" altLang="en-US" sz="2200" dirty="0">
                <a:latin typeface="Comic Sans MS" panose="030F0702030302020204" pitchFamily="66" charset="0"/>
              </a:rPr>
              <a:t>对于 </a:t>
            </a:r>
            <a:r>
              <a:rPr lang="en-US" altLang="zh-CN" sz="2200" dirty="0">
                <a:latin typeface="Comic Sans MS" panose="030F0702030302020204" pitchFamily="66" charset="0"/>
              </a:rPr>
              <a:t>n ≥ 5 </a:t>
            </a:r>
            <a:r>
              <a:rPr lang="zh-CN" altLang="en-US" sz="2200" dirty="0">
                <a:latin typeface="Comic Sans MS" panose="030F0702030302020204" pitchFamily="66" charset="0"/>
              </a:rPr>
              <a:t>的 </a:t>
            </a:r>
            <a:r>
              <a:rPr lang="en-US" altLang="zh-CN" sz="2200" dirty="0">
                <a:latin typeface="Comic Sans MS" panose="030F0702030302020204" pitchFamily="66" charset="0"/>
              </a:rPr>
              <a:t>n </a:t>
            </a:r>
            <a:r>
              <a:rPr lang="zh-CN" altLang="en-US" sz="2200" dirty="0">
                <a:latin typeface="Comic Sans MS" panose="030F0702030302020204" pitchFamily="66" charset="0"/>
              </a:rPr>
              <a:t>节点子图，现在寻找变得容易得多</a:t>
            </a:r>
            <a:r>
              <a:rPr lang="en-US" altLang="zh-CN" sz="2200" dirty="0">
                <a:latin typeface="Comic Sans MS" panose="030F0702030302020204" pitchFamily="66" charset="0"/>
              </a:rPr>
              <a:t>……</a:t>
            </a:r>
            <a:endParaRPr lang="en-US" altLang="zh-CN" sz="2200" dirty="0">
              <a:latin typeface="Comic Sans MS" panose="030F0702030302020204" pitchFamily="66" charset="0"/>
            </a:endParaRPr>
          </a:p>
          <a:p>
            <a:pPr marL="857250" lvl="1" indent="-457200">
              <a:lnSpc>
                <a:spcPct val="120000"/>
              </a:lnSpc>
              <a:spcBef>
                <a:spcPts val="600"/>
              </a:spcBef>
              <a:buFont typeface="+mj-lt"/>
              <a:buAutoNum type="arabicPeriod"/>
              <a:defRPr/>
            </a:pPr>
            <a:endParaRPr lang="en-US" altLang="zh-CN" sz="2400" dirty="0">
              <a:latin typeface="Comic Sans MS" panose="030F0702030302020204" pitchFamily="66" charset="0"/>
            </a:endParaRPr>
          </a:p>
        </p:txBody>
      </p:sp>
      <p:sp>
        <p:nvSpPr>
          <p:cNvPr id="6" name="矩形 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 name="标题 1"/>
          <p:cNvSpPr txBox="1"/>
          <p:nvPr/>
        </p:nvSpPr>
        <p:spPr bwMode="auto">
          <a:xfrm>
            <a:off x="60847" y="404664"/>
            <a:ext cx="8243887"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5pPr>
            <a:lvl6pPr marL="4572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6pPr>
            <a:lvl7pPr marL="9144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7pPr>
            <a:lvl8pPr marL="13716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8pPr>
            <a:lvl9pPr marL="18288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9pPr>
          </a:lstStyle>
          <a:p>
            <a:pPr algn="ctr"/>
            <a:r>
              <a:rPr lang="en-US" altLang="zh-CN" b="0" kern="0" dirty="0"/>
              <a:t>Motifs in Web</a:t>
            </a:r>
            <a:endParaRPr lang="zh-CN" altLang="en-US" b="0" kern="0" dirty="0"/>
          </a:p>
        </p:txBody>
      </p:sp>
      <p:pic>
        <p:nvPicPr>
          <p:cNvPr id="6" name="Picture 4" descr="http://www.sciencemag.org/content/303/5663/1538/F1.larg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188" y="1935138"/>
            <a:ext cx="7693546" cy="457706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标题 1"/>
          <p:cNvSpPr txBox="1"/>
          <p:nvPr/>
        </p:nvSpPr>
        <p:spPr bwMode="auto">
          <a:xfrm>
            <a:off x="1907704" y="404664"/>
            <a:ext cx="7540141" cy="1168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黑体" panose="02010609060101010101" pitchFamily="49" charset="-122"/>
              </a:defRPr>
            </a:lvl5pPr>
            <a:lvl6pPr marL="4572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6pPr>
            <a:lvl7pPr marL="9144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7pPr>
            <a:lvl8pPr marL="13716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8pPr>
            <a:lvl9pPr marL="1828800" algn="l" rtl="0" fontAlgn="base">
              <a:spcBef>
                <a:spcPct val="0"/>
              </a:spcBef>
              <a:spcAft>
                <a:spcPct val="0"/>
              </a:spcAft>
              <a:defRPr sz="3800">
                <a:solidFill>
                  <a:schemeClr val="tx2"/>
                </a:solidFill>
                <a:latin typeface="Verdana" panose="020B0604030504040204" pitchFamily="34" charset="0"/>
                <a:ea typeface="黑体" panose="02010609060101010101" pitchFamily="49" charset="-122"/>
              </a:defRPr>
            </a:lvl9pPr>
          </a:lstStyle>
          <a:p>
            <a:r>
              <a:rPr lang="en-US" altLang="zh-CN" b="0" kern="0" dirty="0"/>
              <a:t>Motifs in Wikipedia</a:t>
            </a:r>
            <a:endParaRPr lang="zh-CN" altLang="en-US" b="0" kern="0" dirty="0"/>
          </a:p>
        </p:txBody>
      </p:sp>
      <p:pic>
        <p:nvPicPr>
          <p:cNvPr id="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1700808"/>
            <a:ext cx="5400600" cy="4737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899592" y="188640"/>
            <a:ext cx="2372765"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a:t>
            </a:r>
            <a:endPar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7316426"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的上下位关系挖掘</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9" name="图片 8" descr="数据挖掘-上下位关系图"/>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81441" y="1124744"/>
            <a:ext cx="6552728" cy="4102034"/>
          </a:xfrm>
          <a:prstGeom prst="rect">
            <a:avLst/>
          </a:prstGeom>
          <a:noFill/>
          <a:ln>
            <a:noFill/>
          </a:ln>
        </p:spPr>
      </p:pic>
      <p:sp>
        <p:nvSpPr>
          <p:cNvPr id="11" name="矩形 10"/>
          <p:cNvSpPr/>
          <p:nvPr/>
        </p:nvSpPr>
        <p:spPr>
          <a:xfrm>
            <a:off x="323180" y="6237748"/>
            <a:ext cx="8640960" cy="398780"/>
          </a:xfrm>
          <a:prstGeom prst="rect">
            <a:avLst/>
          </a:prstGeom>
        </p:spPr>
        <p:txBody>
          <a:bodyPr wrap="square">
            <a:spAutoFit/>
          </a:bodyPr>
          <a:lstStyle/>
          <a:p>
            <a:pPr algn="l"/>
            <a:r>
              <a:rPr lang="en-US" altLang="zh-CN" sz="1000" b="0" dirty="0" err="1">
                <a:solidFill>
                  <a:srgbClr val="333333"/>
                </a:solidFill>
                <a:latin typeface="Times New Roman" panose="02020603050405020304" pitchFamily="18" charset="0"/>
              </a:rPr>
              <a:t>Bifan</a:t>
            </a:r>
            <a:r>
              <a:rPr lang="en-US" altLang="zh-CN" sz="1000" b="0" dirty="0">
                <a:solidFill>
                  <a:srgbClr val="333333"/>
                </a:solidFill>
                <a:latin typeface="Times New Roman" panose="02020603050405020304" pitchFamily="18" charset="0"/>
              </a:rPr>
              <a:t> Wei, Jun Liu, Jian Ma, </a:t>
            </a:r>
            <a:r>
              <a:rPr lang="en-US" altLang="zh-CN" sz="1000" b="0" dirty="0" err="1">
                <a:solidFill>
                  <a:srgbClr val="333333"/>
                </a:solidFill>
                <a:latin typeface="Times New Roman" panose="02020603050405020304" pitchFamily="18" charset="0"/>
              </a:rPr>
              <a:t>Qinghua</a:t>
            </a:r>
            <a:r>
              <a:rPr lang="en-US" altLang="zh-CN" sz="1000" b="0" dirty="0">
                <a:solidFill>
                  <a:srgbClr val="333333"/>
                </a:solidFill>
                <a:latin typeface="Times New Roman" panose="02020603050405020304" pitchFamily="18" charset="0"/>
              </a:rPr>
              <a:t> Zheng, Wei Zhang and </a:t>
            </a:r>
            <a:r>
              <a:rPr lang="en-US" altLang="zh-CN" sz="1000" b="0" dirty="0" err="1">
                <a:solidFill>
                  <a:srgbClr val="333333"/>
                </a:solidFill>
                <a:latin typeface="Times New Roman" panose="02020603050405020304" pitchFamily="18" charset="0"/>
              </a:rPr>
              <a:t>Boqin</a:t>
            </a:r>
            <a:r>
              <a:rPr lang="en-US" altLang="zh-CN" sz="1000" b="0" dirty="0">
                <a:solidFill>
                  <a:srgbClr val="333333"/>
                </a:solidFill>
                <a:latin typeface="Times New Roman" panose="02020603050405020304" pitchFamily="18" charset="0"/>
              </a:rPr>
              <a:t> Feng, “Motif-based hyponym relation extraction from Wikipedia hyperlinks,” IEEE Transactions on Knowledge and Data Engineering, 2014. </a:t>
            </a:r>
            <a:endParaRPr kumimoji="1" lang="zh-CN" altLang="en-US" sz="1000" b="0" dirty="0">
              <a:solidFill>
                <a:srgbClr val="0000FF"/>
              </a:solidFill>
              <a:latin typeface="Times New Roman" panose="02020603050405020304" pitchFamily="18" charset="0"/>
            </a:endParaRPr>
          </a:p>
        </p:txBody>
      </p:sp>
      <p:sp>
        <p:nvSpPr>
          <p:cNvPr id="2" name="文本框 1"/>
          <p:cNvSpPr txBox="1"/>
          <p:nvPr/>
        </p:nvSpPr>
        <p:spPr>
          <a:xfrm>
            <a:off x="467360" y="5444490"/>
            <a:ext cx="8479155" cy="829945"/>
          </a:xfrm>
          <a:prstGeom prst="rect">
            <a:avLst/>
          </a:prstGeom>
          <a:noFill/>
        </p:spPr>
        <p:txBody>
          <a:bodyPr wrap="square" rtlCol="0" anchor="t">
            <a:spAutoFit/>
          </a:bodyPr>
          <a:p>
            <a:pPr algn="l"/>
            <a:r>
              <a:rPr lang="zh-CN" altLang="en-US" sz="1600" b="0" dirty="0">
                <a:latin typeface="微软雅黑" panose="020B0503020204020204" charset="-122"/>
                <a:ea typeface="微软雅黑" panose="020B0503020204020204" charset="-122"/>
                <a:cs typeface="微软雅黑" panose="020B0503020204020204" charset="-122"/>
                <a:sym typeface="+mn-ea"/>
              </a:rPr>
              <a:t>上下位关系（</a:t>
            </a:r>
            <a:r>
              <a:rPr lang="en-US" altLang="zh-CN" sz="1600" b="0" dirty="0">
                <a:latin typeface="微软雅黑" panose="020B0503020204020204" charset="-122"/>
                <a:ea typeface="微软雅黑" panose="020B0503020204020204" charset="-122"/>
                <a:cs typeface="微软雅黑" panose="020B0503020204020204" charset="-122"/>
                <a:sym typeface="+mn-ea"/>
              </a:rPr>
              <a:t>Hyponym Relation</a:t>
            </a:r>
            <a:r>
              <a:rPr lang="zh-CN" altLang="en-US" sz="1600" b="0" dirty="0">
                <a:latin typeface="微软雅黑" panose="020B0503020204020204" charset="-122"/>
                <a:ea typeface="微软雅黑" panose="020B0503020204020204" charset="-122"/>
                <a:cs typeface="微软雅黑" panose="020B0503020204020204" charset="-122"/>
                <a:sym typeface="+mn-ea"/>
              </a:rPr>
              <a:t>）：指一个词或概念是另一个词或概念的特例或子类别，例如“狗”是“动物”的下位词。在网络中，这种关系可以通过边连接不同的节点（词汇）来表示</a:t>
            </a:r>
            <a:endParaRPr lang="zh-CN" altLang="en-US" sz="1600" b="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7316426"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的上下位关系挖掘</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4" name="Rectangle 4" descr="Large confetti"/>
          <p:cNvSpPr>
            <a:spLocks noChangeArrowheads="1"/>
          </p:cNvSpPr>
          <p:nvPr/>
        </p:nvSpPr>
        <p:spPr bwMode="auto">
          <a:xfrm>
            <a:off x="53974" y="899123"/>
            <a:ext cx="8832850" cy="138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marL="622300" indent="-436880" algn="l" eaLnBrk="0" hangingPunct="0">
              <a:lnSpc>
                <a:spcPct val="120000"/>
              </a:lnSpc>
              <a:spcBef>
                <a:spcPts val="600"/>
              </a:spcBef>
              <a:buClr>
                <a:srgbClr val="0000FF"/>
              </a:buClr>
              <a:buSzPct val="85000"/>
              <a:buFont typeface="Wingdings" panose="05000000000000000000" pitchFamily="2" charset="2"/>
              <a:buChar char="n"/>
              <a:tabLst>
                <a:tab pos="622300" algn="l"/>
              </a:tabLst>
              <a:defRPr/>
            </a:pPr>
            <a:r>
              <a:rPr lang="zh-CN" altLang="en-US" sz="2600" dirty="0">
                <a:solidFill>
                  <a:srgbClr val="0000FF"/>
                </a:solidFill>
                <a:latin typeface="Times New Roman" panose="02020603050405020304" pitchFamily="18" charset="0"/>
                <a:ea typeface="+mn-ea"/>
                <a:cs typeface="Times New Roman" panose="02020603050405020304" pitchFamily="18" charset="0"/>
              </a:rPr>
              <a:t>发现</a:t>
            </a:r>
            <a:r>
              <a:rPr lang="en-US" altLang="zh-CN" sz="2600" dirty="0">
                <a:solidFill>
                  <a:srgbClr val="0000FF"/>
                </a:solidFill>
                <a:latin typeface="Times New Roman" panose="02020603050405020304" pitchFamily="18" charset="0"/>
                <a:ea typeface="+mn-ea"/>
                <a:cs typeface="Times New Roman" panose="02020603050405020304" pitchFamily="18" charset="0"/>
              </a:rPr>
              <a:t>1</a:t>
            </a:r>
            <a:r>
              <a:rPr lang="zh-CN" altLang="en-US" sz="2600" dirty="0">
                <a:solidFill>
                  <a:srgbClr val="0000FF"/>
                </a:solidFill>
                <a:latin typeface="Times New Roman" panose="02020603050405020304" pitchFamily="18" charset="0"/>
                <a:ea typeface="+mn-ea"/>
                <a:cs typeface="Times New Roman" panose="02020603050405020304" pitchFamily="18" charset="0"/>
              </a:rPr>
              <a:t>：不同</a:t>
            </a:r>
            <a:r>
              <a:rPr lang="en-US" altLang="zh-CN" sz="2600" dirty="0">
                <a:solidFill>
                  <a:srgbClr val="0000FF"/>
                </a:solidFill>
                <a:latin typeface="Times New Roman" panose="02020603050405020304" pitchFamily="18" charset="0"/>
                <a:ea typeface="+mn-ea"/>
                <a:cs typeface="Times New Roman" panose="02020603050405020304" pitchFamily="18" charset="0"/>
              </a:rPr>
              <a:t>Motif</a:t>
            </a:r>
            <a:r>
              <a:rPr lang="zh-CN" altLang="en-US" sz="2600" dirty="0">
                <a:solidFill>
                  <a:srgbClr val="0000FF"/>
                </a:solidFill>
                <a:latin typeface="Times New Roman" panose="02020603050405020304" pitchFamily="18" charset="0"/>
                <a:ea typeface="+mn-ea"/>
                <a:cs typeface="Times New Roman" panose="02020603050405020304" pitchFamily="18" charset="0"/>
              </a:rPr>
              <a:t>实例中上下位关系的边比例不同</a:t>
            </a:r>
            <a:endParaRPr lang="en-US" altLang="zh-CN" sz="2600" dirty="0">
              <a:solidFill>
                <a:srgbClr val="0000FF"/>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85000"/>
              <a:buFont typeface="Wingdings" panose="05000000000000000000" pitchFamily="2" charset="2"/>
              <a:buChar char="l"/>
              <a:tabLst>
                <a:tab pos="622300" algn="l"/>
              </a:tabLst>
              <a:defRPr/>
            </a:pPr>
            <a:r>
              <a:rPr lang="en-US" altLang="zh-CN" sz="2000" dirty="0">
                <a:solidFill>
                  <a:srgbClr val="FF0000"/>
                </a:solidFill>
                <a:latin typeface="Times New Roman" panose="02020603050405020304" pitchFamily="18" charset="0"/>
                <a:ea typeface="+mn-ea"/>
                <a:cs typeface="Times New Roman" panose="02020603050405020304" pitchFamily="18" charset="0"/>
              </a:rPr>
              <a:t>Hyponym Hyperlink Rate (HHR )</a:t>
            </a:r>
            <a:r>
              <a:rPr lang="zh-CN" altLang="en-US" sz="2000" b="0" dirty="0">
                <a:solidFill>
                  <a:srgbClr val="333333"/>
                </a:solidFill>
                <a:latin typeface="Times New Roman" panose="02020603050405020304" pitchFamily="18" charset="0"/>
                <a:ea typeface="+mn-ea"/>
                <a:cs typeface="Times New Roman" panose="02020603050405020304" pitchFamily="18" charset="0"/>
              </a:rPr>
              <a:t>用于度量上下位关系的边在该网络</a:t>
            </a:r>
            <a:r>
              <a:rPr lang="en-US" altLang="zh-CN" sz="2000" b="0" dirty="0">
                <a:solidFill>
                  <a:srgbClr val="333333"/>
                </a:solidFill>
                <a:latin typeface="Times New Roman" panose="02020603050405020304" pitchFamily="18" charset="0"/>
                <a:ea typeface="+mn-ea"/>
                <a:cs typeface="Times New Roman" panose="02020603050405020304" pitchFamily="18" charset="0"/>
              </a:rPr>
              <a:t>Motif</a:t>
            </a:r>
            <a:r>
              <a:rPr lang="zh-CN" altLang="en-US" sz="2000" b="0" dirty="0">
                <a:solidFill>
                  <a:srgbClr val="333333"/>
                </a:solidFill>
                <a:latin typeface="Times New Roman" panose="02020603050405020304" pitchFamily="18" charset="0"/>
                <a:ea typeface="+mn-ea"/>
                <a:cs typeface="Times New Roman" panose="02020603050405020304" pitchFamily="18" charset="0"/>
              </a:rPr>
              <a:t>中的稀疏程度。</a:t>
            </a:r>
            <a:endParaRPr lang="en-US" altLang="zh-CN" sz="2000" b="0" dirty="0">
              <a:solidFill>
                <a:srgbClr val="333333"/>
              </a:solidFill>
              <a:latin typeface="Times New Roman" panose="02020603050405020304" pitchFamily="18" charset="0"/>
              <a:ea typeface="+mn-ea"/>
              <a:cs typeface="Times New Roman" panose="02020603050405020304" pitchFamily="18" charset="0"/>
            </a:endParaRPr>
          </a:p>
        </p:txBody>
      </p:sp>
      <p:graphicFrame>
        <p:nvGraphicFramePr>
          <p:cNvPr id="15" name="对象 14"/>
          <p:cNvGraphicFramePr>
            <a:graphicFrameLocks noChangeAspect="1"/>
          </p:cNvGraphicFramePr>
          <p:nvPr/>
        </p:nvGraphicFramePr>
        <p:xfrm>
          <a:off x="809584" y="2355724"/>
          <a:ext cx="7382715" cy="576064"/>
        </p:xfrm>
        <a:graphic>
          <a:graphicData uri="http://schemas.openxmlformats.org/presentationml/2006/ole">
            <mc:AlternateContent xmlns:mc="http://schemas.openxmlformats.org/markup-compatibility/2006">
              <mc:Choice xmlns:v="urn:schemas-microsoft-com:vml" Requires="v">
                <p:oleObj spid="_x0000_s59434" name="Formula" r:id="rId1" imgW="4787900" imgH="364490" progId="Equation.Ribbit">
                  <p:embed/>
                </p:oleObj>
              </mc:Choice>
              <mc:Fallback>
                <p:oleObj name="Formula" r:id="rId1" imgW="4787900" imgH="364490" progId="Equation.Ribbit">
                  <p:embed/>
                  <p:pic>
                    <p:nvPicPr>
                      <p:cNvPr id="0" name="对象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584" y="2355724"/>
                        <a:ext cx="7382715" cy="576064"/>
                      </a:xfrm>
                      <a:prstGeom prst="rect">
                        <a:avLst/>
                      </a:prstGeom>
                      <a:noFill/>
                    </p:spPr>
                  </p:pic>
                </p:oleObj>
              </mc:Fallback>
            </mc:AlternateContent>
          </a:graphicData>
        </a:graphic>
      </p:graphicFrame>
      <p:pic>
        <p:nvPicPr>
          <p:cNvPr id="1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3139613"/>
            <a:ext cx="5370251" cy="298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44734" y="5983270"/>
            <a:ext cx="8703729" cy="535531"/>
          </a:xfrm>
          <a:prstGeom prst="rect">
            <a:avLst/>
          </a:prstGeom>
        </p:spPr>
        <p:txBody>
          <a:bodyPr wrap="square">
            <a:spAutoFit/>
          </a:bodyPr>
          <a:lstStyle/>
          <a:p>
            <a:pPr marL="863600" lvl="2" indent="-342900" algn="l" eaLnBrk="0" hangingPunct="0">
              <a:lnSpc>
                <a:spcPct val="120000"/>
              </a:lnSpc>
              <a:spcBef>
                <a:spcPts val="600"/>
              </a:spcBef>
              <a:buClr>
                <a:srgbClr val="0000FF"/>
              </a:buClr>
              <a:buSzPct val="85000"/>
              <a:buFont typeface="Wingdings" panose="05000000000000000000" pitchFamily="2" charset="2"/>
              <a:buChar char="l"/>
              <a:tabLst>
                <a:tab pos="622300" algn="l"/>
              </a:tabLst>
              <a:defRPr/>
            </a:pPr>
            <a:r>
              <a:rPr lang="zh-CN" altLang="en-US" sz="2400" dirty="0">
                <a:solidFill>
                  <a:srgbClr val="0000FF"/>
                </a:solidFill>
                <a:latin typeface="Times New Roman" panose="02020603050405020304" pitchFamily="18" charset="0"/>
                <a:ea typeface="+mn-ea"/>
                <a:cs typeface="Times New Roman" panose="02020603050405020304" pitchFamily="18" charset="0"/>
              </a:rPr>
              <a:t>结论：不同</a:t>
            </a:r>
            <a:r>
              <a:rPr lang="en-US" altLang="zh-CN" sz="2400" dirty="0">
                <a:solidFill>
                  <a:srgbClr val="0000FF"/>
                </a:solidFill>
                <a:latin typeface="Times New Roman" panose="02020603050405020304" pitchFamily="18" charset="0"/>
                <a:ea typeface="+mn-ea"/>
                <a:cs typeface="Times New Roman" panose="02020603050405020304" pitchFamily="18" charset="0"/>
              </a:rPr>
              <a:t>Motif</a:t>
            </a:r>
            <a:r>
              <a:rPr lang="zh-CN" altLang="en-US" sz="2400" dirty="0">
                <a:solidFill>
                  <a:srgbClr val="0000FF"/>
                </a:solidFill>
                <a:latin typeface="Times New Roman" panose="02020603050405020304" pitchFamily="18" charset="0"/>
                <a:ea typeface="+mn-ea"/>
                <a:cs typeface="Times New Roman" panose="02020603050405020304" pitchFamily="18" charset="0"/>
              </a:rPr>
              <a:t>指示了其中边是上下位关的边的可能性</a:t>
            </a:r>
            <a:endParaRPr lang="en-US" altLang="zh-CN" sz="2400" dirty="0">
              <a:solidFill>
                <a:srgbClr val="0000FF"/>
              </a:solidFill>
              <a:latin typeface="Times New Roman" panose="02020603050405020304" pitchFamily="18" charset="0"/>
              <a:ea typeface="+mn-ea"/>
              <a:cs typeface="Times New Roman" panose="02020603050405020304" pitchFamily="18" charset="0"/>
            </a:endParaRPr>
          </a:p>
        </p:txBody>
      </p:sp>
      <p:sp>
        <p:nvSpPr>
          <p:cNvPr id="18" name="矩形 17"/>
          <p:cNvSpPr/>
          <p:nvPr/>
        </p:nvSpPr>
        <p:spPr>
          <a:xfrm>
            <a:off x="35496" y="3402866"/>
            <a:ext cx="4320480" cy="1938992"/>
          </a:xfrm>
          <a:prstGeom prst="rect">
            <a:avLst/>
          </a:prstGeom>
        </p:spPr>
        <p:txBody>
          <a:bodyPr wrap="square">
            <a:spAutoFit/>
          </a:bodyPr>
          <a:lstStyle/>
          <a:p>
            <a:pPr marL="863600" lvl="2" indent="-342900" algn="just">
              <a:lnSpc>
                <a:spcPct val="150000"/>
              </a:lnSpc>
              <a:spcBef>
                <a:spcPts val="600"/>
              </a:spcBef>
              <a:buClr>
                <a:srgbClr val="0000FF"/>
              </a:buClr>
              <a:buSzPct val="85000"/>
              <a:buFont typeface="Wingdings" panose="05000000000000000000" pitchFamily="2" charset="2"/>
              <a:buChar char="l"/>
              <a:tabLst>
                <a:tab pos="622300" algn="l"/>
              </a:tabLst>
              <a:defRPr/>
            </a:pPr>
            <a:r>
              <a:rPr lang="zh-CN" altLang="en-US" sz="2000" b="0" dirty="0">
                <a:solidFill>
                  <a:srgbClr val="333333"/>
                </a:solidFill>
                <a:latin typeface="Times New Roman" panose="02020603050405020304" pitchFamily="18" charset="0"/>
                <a:ea typeface="+mn-ea"/>
                <a:cs typeface="Times New Roman" panose="02020603050405020304" pitchFamily="18" charset="0"/>
              </a:rPr>
              <a:t>每个节点表示一个</a:t>
            </a:r>
            <a:r>
              <a:rPr lang="en-US" altLang="zh-CN" sz="2000" b="0" dirty="0">
                <a:solidFill>
                  <a:srgbClr val="333333"/>
                </a:solidFill>
                <a:latin typeface="Times New Roman" panose="02020603050405020304" pitchFamily="18" charset="0"/>
                <a:ea typeface="+mn-ea"/>
                <a:cs typeface="Times New Roman" panose="02020603050405020304" pitchFamily="18" charset="0"/>
              </a:rPr>
              <a:t>Wikipedia</a:t>
            </a:r>
            <a:r>
              <a:rPr lang="zh-CN" altLang="en-US" sz="2000" b="0" dirty="0">
                <a:solidFill>
                  <a:srgbClr val="333333"/>
                </a:solidFill>
                <a:latin typeface="Times New Roman" panose="02020603050405020304" pitchFamily="18" charset="0"/>
                <a:ea typeface="+mn-ea"/>
                <a:cs typeface="Times New Roman" panose="02020603050405020304" pitchFamily="18" charset="0"/>
              </a:rPr>
              <a:t>条目页面，边表示页面间的超链接。双箭头表示对称边，即两条超链接。</a:t>
            </a:r>
            <a:endParaRPr lang="en-US" altLang="zh-CN" sz="2000" b="0" dirty="0">
              <a:solidFill>
                <a:srgbClr val="333333"/>
              </a:solidFill>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7316426"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的上下位关系挖掘</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29" name="图片 2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67544" y="2348568"/>
            <a:ext cx="3456384" cy="1876468"/>
          </a:xfrm>
          <a:prstGeom prst="rect">
            <a:avLst/>
          </a:prstGeom>
          <a:solidFill>
            <a:schemeClr val="bg1"/>
          </a:solidFill>
          <a:ln>
            <a:solidFill>
              <a:srgbClr val="1557AE"/>
            </a:solidFill>
          </a:ln>
        </p:spPr>
      </p:pic>
      <p:sp>
        <p:nvSpPr>
          <p:cNvPr id="30" name="Rectangle 4" descr="Large confetti"/>
          <p:cNvSpPr>
            <a:spLocks noChangeArrowheads="1"/>
          </p:cNvSpPr>
          <p:nvPr/>
        </p:nvSpPr>
        <p:spPr bwMode="auto">
          <a:xfrm>
            <a:off x="35496" y="980728"/>
            <a:ext cx="8832850" cy="120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marL="622300" indent="-436880" algn="l" eaLnBrk="0" hangingPunct="0">
              <a:lnSpc>
                <a:spcPct val="120000"/>
              </a:lnSpc>
              <a:spcBef>
                <a:spcPts val="600"/>
              </a:spcBef>
              <a:buClr>
                <a:srgbClr val="0000FF"/>
              </a:buClr>
              <a:buSzPct val="85000"/>
              <a:buFont typeface="Wingdings" panose="05000000000000000000" pitchFamily="2" charset="2"/>
              <a:buChar char="n"/>
              <a:tabLst>
                <a:tab pos="622300" algn="l"/>
              </a:tabLst>
              <a:defRPr/>
            </a:pPr>
            <a:r>
              <a:rPr lang="zh-CN" altLang="en-US" sz="2600" dirty="0">
                <a:solidFill>
                  <a:srgbClr val="0000FF"/>
                </a:solidFill>
                <a:latin typeface="Times New Roman" panose="02020603050405020304" pitchFamily="18" charset="0"/>
                <a:ea typeface="+mn-ea"/>
                <a:cs typeface="Times New Roman" panose="02020603050405020304" pitchFamily="18" charset="0"/>
              </a:rPr>
              <a:t>发现</a:t>
            </a:r>
            <a:r>
              <a:rPr lang="en-US" altLang="zh-CN" sz="2600" dirty="0">
                <a:solidFill>
                  <a:srgbClr val="0000FF"/>
                </a:solidFill>
                <a:latin typeface="Times New Roman" panose="02020603050405020304" pitchFamily="18" charset="0"/>
                <a:ea typeface="+mn-ea"/>
                <a:cs typeface="Times New Roman" panose="02020603050405020304" pitchFamily="18" charset="0"/>
              </a:rPr>
              <a:t>2</a:t>
            </a:r>
            <a:r>
              <a:rPr lang="zh-CN" altLang="en-US" sz="2600" dirty="0">
                <a:solidFill>
                  <a:srgbClr val="0000FF"/>
                </a:solidFill>
                <a:latin typeface="Times New Roman" panose="02020603050405020304" pitchFamily="18" charset="0"/>
                <a:ea typeface="+mn-ea"/>
                <a:cs typeface="Times New Roman" panose="02020603050405020304" pitchFamily="18" charset="0"/>
              </a:rPr>
              <a:t>：</a:t>
            </a:r>
            <a:r>
              <a:rPr lang="en-US" altLang="zh-CN" sz="2600" dirty="0">
                <a:solidFill>
                  <a:srgbClr val="0000FF"/>
                </a:solidFill>
                <a:latin typeface="Times New Roman" panose="02020603050405020304" pitchFamily="18" charset="0"/>
                <a:ea typeface="+mn-ea"/>
                <a:cs typeface="Times New Roman" panose="02020603050405020304" pitchFamily="18" charset="0"/>
              </a:rPr>
              <a:t>Motif</a:t>
            </a:r>
            <a:r>
              <a:rPr lang="zh-CN" altLang="en-US" sz="2600" dirty="0">
                <a:solidFill>
                  <a:srgbClr val="0000FF"/>
                </a:solidFill>
                <a:latin typeface="Times New Roman" panose="02020603050405020304" pitchFamily="18" charset="0"/>
                <a:ea typeface="+mn-ea"/>
                <a:cs typeface="Times New Roman" panose="02020603050405020304" pitchFamily="18" charset="0"/>
              </a:rPr>
              <a:t>的</a:t>
            </a:r>
            <a:r>
              <a:rPr lang="en-US" altLang="zh-CN" sz="2600" dirty="0" err="1">
                <a:solidFill>
                  <a:srgbClr val="0000FF"/>
                </a:solidFill>
                <a:latin typeface="Times New Roman" panose="02020603050405020304" pitchFamily="18" charset="0"/>
                <a:ea typeface="+mn-ea"/>
                <a:cs typeface="Times New Roman" panose="02020603050405020304" pitchFamily="18" charset="0"/>
              </a:rPr>
              <a:t>HHR</a:t>
            </a:r>
            <a:r>
              <a:rPr lang="zh-CN" altLang="en-US" sz="2600" dirty="0">
                <a:solidFill>
                  <a:srgbClr val="0000FF"/>
                </a:solidFill>
                <a:latin typeface="Times New Roman" panose="02020603050405020304" pitchFamily="18" charset="0"/>
                <a:ea typeface="+mn-ea"/>
                <a:cs typeface="Times New Roman" panose="02020603050405020304" pitchFamily="18" charset="0"/>
              </a:rPr>
              <a:t>与</a:t>
            </a:r>
            <a:r>
              <a:rPr lang="en-US" altLang="zh-CN" sz="2600" dirty="0" err="1">
                <a:solidFill>
                  <a:srgbClr val="0000FF"/>
                </a:solidFill>
                <a:latin typeface="Times New Roman" panose="02020603050405020304" pitchFamily="18" charset="0"/>
                <a:ea typeface="+mn-ea"/>
                <a:cs typeface="Times New Roman" panose="02020603050405020304" pitchFamily="18" charset="0"/>
              </a:rPr>
              <a:t>Zscore</a:t>
            </a:r>
            <a:r>
              <a:rPr lang="zh-CN" altLang="en-US" sz="2600" dirty="0">
                <a:solidFill>
                  <a:srgbClr val="0000FF"/>
                </a:solidFill>
                <a:latin typeface="Times New Roman" panose="02020603050405020304" pitchFamily="18" charset="0"/>
                <a:ea typeface="+mn-ea"/>
                <a:cs typeface="Times New Roman" panose="02020603050405020304" pitchFamily="18" charset="0"/>
              </a:rPr>
              <a:t>的正相关</a:t>
            </a:r>
            <a:endParaRPr lang="en-US" altLang="zh-CN" sz="2600" dirty="0">
              <a:solidFill>
                <a:srgbClr val="0000FF"/>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50000"/>
              </a:lnSpc>
              <a:spcBef>
                <a:spcPts val="600"/>
              </a:spcBef>
              <a:buClr>
                <a:srgbClr val="0000FF"/>
              </a:buClr>
              <a:buSzPct val="85000"/>
              <a:buFont typeface="Wingdings" panose="05000000000000000000" pitchFamily="2" charset="2"/>
              <a:buChar char="l"/>
              <a:tabLst>
                <a:tab pos="622300" algn="l"/>
              </a:tabLst>
              <a:defRPr/>
            </a:pPr>
            <a:r>
              <a:rPr lang="zh-CN" altLang="en-US" sz="2400" b="0" dirty="0">
                <a:solidFill>
                  <a:srgbClr val="333333"/>
                </a:solidFill>
                <a:latin typeface="Times New Roman" panose="02020603050405020304" pitchFamily="18" charset="0"/>
                <a:ea typeface="+mn-ea"/>
                <a:cs typeface="Times New Roman" panose="02020603050405020304" pitchFamily="18" charset="0"/>
              </a:rPr>
              <a:t>便于比较实用归一化的</a:t>
            </a:r>
            <a:r>
              <a:rPr lang="en-US" altLang="zh-CN" sz="2400" b="0" dirty="0">
                <a:solidFill>
                  <a:srgbClr val="333333"/>
                </a:solidFill>
                <a:latin typeface="Times New Roman" panose="02020603050405020304" pitchFamily="18" charset="0"/>
                <a:ea typeface="+mn-ea"/>
                <a:cs typeface="Times New Roman" panose="02020603050405020304" pitchFamily="18" charset="0"/>
              </a:rPr>
              <a:t>Z-Score</a:t>
            </a:r>
            <a:r>
              <a:rPr lang="zh-CN" altLang="en-US" sz="2400" b="0" dirty="0">
                <a:solidFill>
                  <a:srgbClr val="333333"/>
                </a:solidFill>
                <a:latin typeface="Times New Roman" panose="02020603050405020304" pitchFamily="18" charset="0"/>
                <a:ea typeface="+mn-ea"/>
                <a:cs typeface="Times New Roman" panose="02020603050405020304" pitchFamily="18" charset="0"/>
              </a:rPr>
              <a:t>。</a:t>
            </a:r>
            <a:endParaRPr lang="en-US" altLang="zh-CN" sz="2400" b="0" dirty="0">
              <a:solidFill>
                <a:srgbClr val="333333"/>
              </a:solidFill>
              <a:latin typeface="Times New Roman" panose="02020603050405020304" pitchFamily="18" charset="0"/>
              <a:ea typeface="+mn-ea"/>
              <a:cs typeface="Times New Roman" panose="02020603050405020304" pitchFamily="18" charset="0"/>
            </a:endParaRPr>
          </a:p>
        </p:txBody>
      </p:sp>
      <p:pic>
        <p:nvPicPr>
          <p:cNvPr id="31" name="图片 30"/>
          <p:cNvPicPr/>
          <p:nvPr/>
        </p:nvPicPr>
        <p:blipFill>
          <a:blip r:embed="rId2">
            <a:extLst>
              <a:ext uri="{28A0092B-C50C-407E-A947-70E740481C1C}">
                <a14:useLocalDpi xmlns:a14="http://schemas.microsoft.com/office/drawing/2010/main" val="0"/>
              </a:ext>
            </a:extLst>
          </a:blip>
          <a:srcRect t="2026"/>
          <a:stretch>
            <a:fillRect/>
          </a:stretch>
        </p:blipFill>
        <p:spPr bwMode="auto">
          <a:xfrm>
            <a:off x="4870745" y="2390032"/>
            <a:ext cx="3045995" cy="1757119"/>
          </a:xfrm>
          <a:prstGeom prst="rect">
            <a:avLst/>
          </a:prstGeom>
          <a:noFill/>
          <a:ln>
            <a:solidFill>
              <a:srgbClr val="1557AE"/>
            </a:solidFill>
          </a:ln>
        </p:spPr>
      </p:pic>
      <p:pic>
        <p:nvPicPr>
          <p:cNvPr id="32" name="图片 3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2126" y="3170264"/>
            <a:ext cx="3456384" cy="1876468"/>
          </a:xfrm>
          <a:prstGeom prst="rect">
            <a:avLst/>
          </a:prstGeom>
          <a:solidFill>
            <a:schemeClr val="bg1"/>
          </a:solidFill>
          <a:ln>
            <a:solidFill>
              <a:srgbClr val="1557AE"/>
            </a:solidFill>
          </a:ln>
        </p:spPr>
      </p:pic>
      <p:pic>
        <p:nvPicPr>
          <p:cNvPr id="33" name="图片 32"/>
          <p:cNvPicPr>
            <a:picLocks noChangeAspect="1"/>
          </p:cNvPicPr>
          <p:nvPr/>
        </p:nvPicPr>
        <p:blipFill>
          <a:blip r:embed="rId4">
            <a:extLst>
              <a:ext uri="{28A0092B-C50C-407E-A947-70E740481C1C}">
                <a14:useLocalDpi xmlns:a14="http://schemas.microsoft.com/office/drawing/2010/main" val="0"/>
              </a:ext>
            </a:extLst>
          </a:blip>
          <a:srcRect t="2026"/>
          <a:stretch>
            <a:fillRect/>
          </a:stretch>
        </p:blipFill>
        <p:spPr bwMode="auto">
          <a:xfrm>
            <a:off x="5150276" y="3096395"/>
            <a:ext cx="3102501" cy="1757119"/>
          </a:xfrm>
          <a:prstGeom prst="rect">
            <a:avLst/>
          </a:prstGeom>
          <a:noFill/>
          <a:ln>
            <a:solidFill>
              <a:srgbClr val="1557AE"/>
            </a:solidFill>
          </a:ln>
        </p:spPr>
      </p:pic>
      <p:pic>
        <p:nvPicPr>
          <p:cNvPr id="34" name="图片 33"/>
          <p:cNvPicPr/>
          <p:nvPr/>
        </p:nvPicPr>
        <p:blipFill>
          <a:blip r:embed="rId5">
            <a:extLst>
              <a:ext uri="{28A0092B-C50C-407E-A947-70E740481C1C}">
                <a14:useLocalDpi xmlns:a14="http://schemas.microsoft.com/office/drawing/2010/main" val="0"/>
              </a:ext>
            </a:extLst>
          </a:blip>
          <a:srcRect/>
          <a:stretch>
            <a:fillRect/>
          </a:stretch>
        </p:blipFill>
        <p:spPr bwMode="auto">
          <a:xfrm>
            <a:off x="996708" y="3991960"/>
            <a:ext cx="3456384" cy="1483241"/>
          </a:xfrm>
          <a:prstGeom prst="rect">
            <a:avLst/>
          </a:prstGeom>
          <a:solidFill>
            <a:schemeClr val="bg1"/>
          </a:solidFill>
          <a:ln>
            <a:solidFill>
              <a:srgbClr val="1557AE"/>
            </a:solidFill>
          </a:ln>
        </p:spPr>
      </p:pic>
      <p:pic>
        <p:nvPicPr>
          <p:cNvPr id="35" name="图片 34"/>
          <p:cNvPicPr>
            <a:picLocks noChangeAspect="1"/>
          </p:cNvPicPr>
          <p:nvPr/>
        </p:nvPicPr>
        <p:blipFill>
          <a:blip r:embed="rId6">
            <a:extLst>
              <a:ext uri="{28A0092B-C50C-407E-A947-70E740481C1C}">
                <a14:useLocalDpi xmlns:a14="http://schemas.microsoft.com/office/drawing/2010/main" val="0"/>
              </a:ext>
            </a:extLst>
          </a:blip>
          <a:srcRect t="2026"/>
          <a:stretch>
            <a:fillRect/>
          </a:stretch>
        </p:blipFill>
        <p:spPr bwMode="auto">
          <a:xfrm>
            <a:off x="5486313" y="3802758"/>
            <a:ext cx="3102501" cy="1757119"/>
          </a:xfrm>
          <a:prstGeom prst="rect">
            <a:avLst/>
          </a:prstGeom>
          <a:noFill/>
          <a:ln>
            <a:solidFill>
              <a:srgbClr val="1557AE"/>
            </a:solidFill>
          </a:ln>
        </p:spPr>
      </p:pic>
      <p:pic>
        <p:nvPicPr>
          <p:cNvPr id="38" name="图片 37"/>
          <p:cNvPicPr/>
          <p:nvPr/>
        </p:nvPicPr>
        <p:blipFill>
          <a:blip r:embed="rId7">
            <a:extLst>
              <a:ext uri="{28A0092B-C50C-407E-A947-70E740481C1C}">
                <a14:useLocalDpi xmlns:a14="http://schemas.microsoft.com/office/drawing/2010/main" val="0"/>
              </a:ext>
            </a:extLst>
          </a:blip>
          <a:srcRect/>
          <a:stretch>
            <a:fillRect/>
          </a:stretch>
        </p:blipFill>
        <p:spPr bwMode="auto">
          <a:xfrm>
            <a:off x="1261290" y="4420429"/>
            <a:ext cx="3456384" cy="1483241"/>
          </a:xfrm>
          <a:prstGeom prst="rect">
            <a:avLst/>
          </a:prstGeom>
          <a:solidFill>
            <a:schemeClr val="bg1"/>
          </a:solidFill>
          <a:ln>
            <a:solidFill>
              <a:srgbClr val="1557AE"/>
            </a:solidFill>
          </a:ln>
        </p:spPr>
      </p:pic>
      <p:pic>
        <p:nvPicPr>
          <p:cNvPr id="40" name="图片 39"/>
          <p:cNvPicPr/>
          <p:nvPr/>
        </p:nvPicPr>
        <p:blipFill>
          <a:blip r:embed="rId8">
            <a:extLst>
              <a:ext uri="{28A0092B-C50C-407E-A947-70E740481C1C}">
                <a14:useLocalDpi xmlns:a14="http://schemas.microsoft.com/office/drawing/2010/main" val="0"/>
              </a:ext>
            </a:extLst>
          </a:blip>
          <a:srcRect/>
          <a:stretch>
            <a:fillRect/>
          </a:stretch>
        </p:blipFill>
        <p:spPr bwMode="auto">
          <a:xfrm>
            <a:off x="1525873" y="4848899"/>
            <a:ext cx="3456384" cy="1483241"/>
          </a:xfrm>
          <a:prstGeom prst="rect">
            <a:avLst/>
          </a:prstGeom>
          <a:solidFill>
            <a:schemeClr val="bg1"/>
          </a:solidFill>
          <a:ln>
            <a:solidFill>
              <a:srgbClr val="1557AE"/>
            </a:solidFill>
          </a:ln>
        </p:spPr>
      </p:pic>
      <p:pic>
        <p:nvPicPr>
          <p:cNvPr id="41" name="图片 40"/>
          <p:cNvPicPr/>
          <p:nvPr/>
        </p:nvPicPr>
        <p:blipFill>
          <a:blip r:embed="rId9">
            <a:extLst>
              <a:ext uri="{28A0092B-C50C-407E-A947-70E740481C1C}">
                <a14:useLocalDpi xmlns:a14="http://schemas.microsoft.com/office/drawing/2010/main" val="0"/>
              </a:ext>
            </a:extLst>
          </a:blip>
          <a:srcRect/>
          <a:stretch>
            <a:fillRect/>
          </a:stretch>
        </p:blipFill>
        <p:spPr bwMode="auto">
          <a:xfrm>
            <a:off x="5822351" y="4509120"/>
            <a:ext cx="3045995" cy="1793454"/>
          </a:xfrm>
          <a:prstGeom prst="rect">
            <a:avLst/>
          </a:prstGeom>
          <a:noFill/>
          <a:ln>
            <a:solidFill>
              <a:srgbClr val="1557AE"/>
            </a:solidFill>
          </a:ln>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7316426"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的上下位关系挖掘</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9" name="Rectangle 4" descr="Large confetti"/>
          <p:cNvSpPr>
            <a:spLocks noChangeArrowheads="1"/>
          </p:cNvSpPr>
          <p:nvPr/>
        </p:nvSpPr>
        <p:spPr bwMode="auto">
          <a:xfrm>
            <a:off x="35496" y="986415"/>
            <a:ext cx="9108504" cy="291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622300" indent="-436880" algn="l" eaLnBrk="0" hangingPunct="0">
              <a:lnSpc>
                <a:spcPct val="120000"/>
              </a:lnSpc>
              <a:spcBef>
                <a:spcPts val="600"/>
              </a:spcBef>
              <a:buClr>
                <a:srgbClr val="0000FF"/>
              </a:buClr>
              <a:buSzPct val="85000"/>
              <a:buFont typeface="Wingdings" panose="05000000000000000000" pitchFamily="2" charset="2"/>
              <a:buChar char="n"/>
              <a:tabLst>
                <a:tab pos="622300" algn="l"/>
              </a:tabLst>
              <a:defRPr/>
            </a:pPr>
            <a:r>
              <a:rPr lang="zh-CN" altLang="en-US" sz="2600" dirty="0">
                <a:solidFill>
                  <a:srgbClr val="0000FF"/>
                </a:solidFill>
                <a:latin typeface="Times New Roman" panose="02020603050405020304" pitchFamily="18" charset="0"/>
                <a:ea typeface="+mn-ea"/>
                <a:cs typeface="Times New Roman" panose="02020603050405020304" pitchFamily="18" charset="0"/>
              </a:rPr>
              <a:t>特征构建方法（</a:t>
            </a:r>
            <a:r>
              <a:rPr lang="en-US" altLang="zh-CN" sz="2600" dirty="0">
                <a:solidFill>
                  <a:srgbClr val="0000FF"/>
                </a:solidFill>
                <a:latin typeface="Times New Roman" panose="02020603050405020304" pitchFamily="18" charset="0"/>
                <a:ea typeface="+mn-ea"/>
                <a:cs typeface="Times New Roman" panose="02020603050405020304" pitchFamily="18" charset="0"/>
              </a:rPr>
              <a:t>1/2</a:t>
            </a:r>
            <a:r>
              <a:rPr lang="zh-CN" altLang="en-US" sz="2600" dirty="0">
                <a:solidFill>
                  <a:srgbClr val="0000FF"/>
                </a:solidFill>
                <a:latin typeface="Times New Roman" panose="02020603050405020304" pitchFamily="18" charset="0"/>
                <a:ea typeface="+mn-ea"/>
                <a:cs typeface="Times New Roman" panose="02020603050405020304" pitchFamily="18" charset="0"/>
              </a:rPr>
              <a:t>）</a:t>
            </a:r>
            <a:endParaRPr lang="en-US" altLang="zh-CN" sz="2600" dirty="0">
              <a:solidFill>
                <a:srgbClr val="0000FF"/>
              </a:solidFill>
              <a:latin typeface="Times New Roman" panose="02020603050405020304" pitchFamily="18" charset="0"/>
              <a:ea typeface="+mn-ea"/>
              <a:cs typeface="Times New Roman" panose="02020603050405020304" pitchFamily="18" charset="0"/>
            </a:endParaRPr>
          </a:p>
          <a:p>
            <a:pPr marL="790575" lvl="2" indent="-269875" algn="l" eaLnBrk="0">
              <a:lnSpc>
                <a:spcPct val="120000"/>
              </a:lnSpc>
              <a:spcBef>
                <a:spcPts val="600"/>
              </a:spcBef>
              <a:buClr>
                <a:srgbClr val="0000FF"/>
              </a:buClr>
              <a:buSzPct val="85000"/>
              <a:buFont typeface="Wingdings" panose="05000000000000000000" pitchFamily="2" charset="2"/>
              <a:buChar char="ü"/>
              <a:tabLst>
                <a:tab pos="622300" algn="l"/>
              </a:tabLst>
              <a:defRPr/>
            </a:pPr>
            <a:r>
              <a:rPr lang="zh-CN" altLang="en-US" sz="2000" b="0" dirty="0">
                <a:solidFill>
                  <a:srgbClr val="333333"/>
                </a:solidFill>
                <a:latin typeface="Times New Roman" panose="02020603050405020304" pitchFamily="18" charset="0"/>
                <a:ea typeface="+mn-ea"/>
                <a:cs typeface="Times New Roman" panose="02020603050405020304" pitchFamily="18" charset="0"/>
              </a:rPr>
              <a:t>以这两个发现为基础，提出基于</a:t>
            </a:r>
            <a:r>
              <a:rPr lang="en-US" altLang="zh-CN" sz="2000" b="0" dirty="0">
                <a:solidFill>
                  <a:srgbClr val="333333"/>
                </a:solidFill>
                <a:latin typeface="Times New Roman" panose="02020603050405020304" pitchFamily="18" charset="0"/>
                <a:ea typeface="+mn-ea"/>
                <a:cs typeface="Times New Roman" panose="02020603050405020304" pitchFamily="18" charset="0"/>
              </a:rPr>
              <a:t>Motif</a:t>
            </a:r>
            <a:r>
              <a:rPr lang="zh-CN" altLang="en-US" sz="2000" b="0" dirty="0">
                <a:solidFill>
                  <a:srgbClr val="333333"/>
                </a:solidFill>
                <a:latin typeface="Times New Roman" panose="02020603050405020304" pitchFamily="18" charset="0"/>
                <a:ea typeface="+mn-ea"/>
                <a:cs typeface="Times New Roman" panose="02020603050405020304" pitchFamily="18" charset="0"/>
              </a:rPr>
              <a:t>的特征构建方法</a:t>
            </a:r>
            <a:endParaRPr lang="en-US" altLang="zh-CN" sz="2000" b="0" dirty="0">
              <a:solidFill>
                <a:srgbClr val="333333"/>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100000"/>
              <a:buFont typeface="+mj-lt"/>
              <a:buAutoNum type="arabicPeriod"/>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使用</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发现算法自动从页面网络中找到所有的网络</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实例，并识别出每个</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是那些超链接组成的。</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100000"/>
              <a:buFont typeface="+mj-lt"/>
              <a:buAutoNum type="arabicPeriod"/>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分析每个超链接都出现在那些网络</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中。</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85000"/>
              <a:buFont typeface="Wingdings" panose="05000000000000000000" pitchFamily="2" charset="2"/>
              <a:buChar char="l"/>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“数据挖掘”领域的一部分</a:t>
            </a:r>
            <a:r>
              <a:rPr lang="en-US" altLang="zh-CN" b="0" dirty="0">
                <a:solidFill>
                  <a:srgbClr val="333333"/>
                </a:solidFill>
                <a:latin typeface="Times New Roman" panose="02020603050405020304" pitchFamily="18" charset="0"/>
                <a:ea typeface="+mn-ea"/>
                <a:cs typeface="Times New Roman" panose="02020603050405020304" pitchFamily="18" charset="0"/>
              </a:rPr>
              <a:t>DAG</a:t>
            </a:r>
            <a:r>
              <a:rPr lang="zh-CN" altLang="en-US" b="0" dirty="0">
                <a:solidFill>
                  <a:srgbClr val="333333"/>
                </a:solidFill>
                <a:latin typeface="Times New Roman" panose="02020603050405020304" pitchFamily="18" charset="0"/>
                <a:ea typeface="+mn-ea"/>
                <a:cs typeface="Times New Roman" panose="02020603050405020304" pitchFamily="18" charset="0"/>
              </a:rPr>
              <a:t>。以</a:t>
            </a:r>
            <a:r>
              <a:rPr lang="en-US" altLang="zh-CN" b="0" dirty="0" err="1">
                <a:solidFill>
                  <a:srgbClr val="333333"/>
                </a:solidFill>
                <a:latin typeface="Times New Roman" panose="02020603050405020304" pitchFamily="18" charset="0"/>
                <a:ea typeface="+mn-ea"/>
                <a:cs typeface="Times New Roman" panose="02020603050405020304" pitchFamily="18" charset="0"/>
              </a:rPr>
              <a:t>E1</a:t>
            </a:r>
            <a:r>
              <a:rPr lang="zh-CN" altLang="en-US" b="0" dirty="0">
                <a:solidFill>
                  <a:srgbClr val="333333"/>
                </a:solidFill>
                <a:latin typeface="Times New Roman" panose="02020603050405020304" pitchFamily="18" charset="0"/>
                <a:ea typeface="+mn-ea"/>
                <a:cs typeface="Times New Roman" panose="02020603050405020304" pitchFamily="18" charset="0"/>
              </a:rPr>
              <a:t>为分析对象，超链接</a:t>
            </a:r>
            <a:r>
              <a:rPr lang="en-US" altLang="zh-CN" b="0" dirty="0" err="1">
                <a:solidFill>
                  <a:srgbClr val="333333"/>
                </a:solidFill>
                <a:latin typeface="Times New Roman" panose="02020603050405020304" pitchFamily="18" charset="0"/>
                <a:ea typeface="+mn-ea"/>
                <a:cs typeface="Times New Roman" panose="02020603050405020304" pitchFamily="18" charset="0"/>
              </a:rPr>
              <a:t>E1</a:t>
            </a:r>
            <a:r>
              <a:rPr lang="zh-CN" altLang="en-US" b="0" dirty="0">
                <a:solidFill>
                  <a:srgbClr val="333333"/>
                </a:solidFill>
                <a:latin typeface="Times New Roman" panose="02020603050405020304" pitchFamily="18" charset="0"/>
                <a:ea typeface="+mn-ea"/>
                <a:cs typeface="Times New Roman" panose="02020603050405020304" pitchFamily="18" charset="0"/>
              </a:rPr>
              <a:t>，</a:t>
            </a:r>
            <a:r>
              <a:rPr lang="en-US" altLang="zh-CN" b="0" dirty="0" err="1">
                <a:solidFill>
                  <a:srgbClr val="333333"/>
                </a:solidFill>
                <a:latin typeface="Times New Roman" panose="02020603050405020304" pitchFamily="18" charset="0"/>
                <a:ea typeface="+mn-ea"/>
                <a:cs typeface="Times New Roman" panose="02020603050405020304" pitchFamily="18" charset="0"/>
              </a:rPr>
              <a:t>E5</a:t>
            </a:r>
            <a:r>
              <a:rPr lang="zh-CN" altLang="en-US" b="0" dirty="0">
                <a:solidFill>
                  <a:srgbClr val="333333"/>
                </a:solidFill>
                <a:latin typeface="Times New Roman" panose="02020603050405020304" pitchFamily="18" charset="0"/>
                <a:ea typeface="+mn-ea"/>
                <a:cs typeface="Times New Roman" panose="02020603050405020304" pitchFamily="18" charset="0"/>
              </a:rPr>
              <a:t>和</a:t>
            </a:r>
            <a:r>
              <a:rPr lang="en-US" altLang="zh-CN" b="0" dirty="0" err="1">
                <a:solidFill>
                  <a:srgbClr val="333333"/>
                </a:solidFill>
                <a:latin typeface="Times New Roman" panose="02020603050405020304" pitchFamily="18" charset="0"/>
                <a:ea typeface="+mn-ea"/>
                <a:cs typeface="Times New Roman" panose="02020603050405020304" pitchFamily="18" charset="0"/>
              </a:rPr>
              <a:t>E6</a:t>
            </a:r>
            <a:r>
              <a:rPr lang="zh-CN" altLang="en-US" b="0" dirty="0">
                <a:solidFill>
                  <a:srgbClr val="333333"/>
                </a:solidFill>
                <a:latin typeface="Times New Roman" panose="02020603050405020304" pitchFamily="18" charset="0"/>
                <a:ea typeface="+mn-ea"/>
                <a:cs typeface="Times New Roman" panose="02020603050405020304" pitchFamily="18" charset="0"/>
              </a:rPr>
              <a:t>分别组成</a:t>
            </a:r>
            <a:r>
              <a:rPr lang="en-US" altLang="zh-CN" b="0" dirty="0">
                <a:solidFill>
                  <a:srgbClr val="333333"/>
                </a:solidFill>
                <a:latin typeface="Times New Roman" panose="02020603050405020304" pitchFamily="18" charset="0"/>
                <a:ea typeface="+mn-ea"/>
                <a:cs typeface="Times New Roman" panose="02020603050405020304" pitchFamily="18" charset="0"/>
              </a:rPr>
              <a:t>Motif 1</a:t>
            </a:r>
            <a:r>
              <a:rPr lang="zh-CN" altLang="en-US" b="0" dirty="0">
                <a:solidFill>
                  <a:srgbClr val="333333"/>
                </a:solidFill>
                <a:latin typeface="Times New Roman" panose="02020603050405020304" pitchFamily="18" charset="0"/>
                <a:ea typeface="+mn-ea"/>
                <a:cs typeface="Times New Roman" panose="02020603050405020304" pitchFamily="18" charset="0"/>
              </a:rPr>
              <a:t>的一个实例。同时超链接</a:t>
            </a:r>
            <a:r>
              <a:rPr lang="en-US" altLang="zh-CN" b="0" dirty="0" err="1">
                <a:solidFill>
                  <a:srgbClr val="333333"/>
                </a:solidFill>
                <a:latin typeface="Times New Roman" panose="02020603050405020304" pitchFamily="18" charset="0"/>
                <a:ea typeface="+mn-ea"/>
                <a:cs typeface="Times New Roman" panose="02020603050405020304" pitchFamily="18" charset="0"/>
              </a:rPr>
              <a:t>E1</a:t>
            </a:r>
            <a:r>
              <a:rPr lang="zh-CN" altLang="en-US" b="0" dirty="0">
                <a:solidFill>
                  <a:srgbClr val="333333"/>
                </a:solidFill>
                <a:latin typeface="Times New Roman" panose="02020603050405020304" pitchFamily="18" charset="0"/>
                <a:ea typeface="+mn-ea"/>
                <a:cs typeface="Times New Roman" panose="02020603050405020304" pitchFamily="18" charset="0"/>
              </a:rPr>
              <a:t>，</a:t>
            </a:r>
            <a:r>
              <a:rPr lang="en-US" altLang="zh-CN" b="0" dirty="0" err="1">
                <a:solidFill>
                  <a:srgbClr val="333333"/>
                </a:solidFill>
                <a:latin typeface="Times New Roman" panose="02020603050405020304" pitchFamily="18" charset="0"/>
                <a:ea typeface="+mn-ea"/>
                <a:cs typeface="Times New Roman" panose="02020603050405020304" pitchFamily="18" charset="0"/>
              </a:rPr>
              <a:t>E4</a:t>
            </a:r>
            <a:r>
              <a:rPr lang="zh-CN" altLang="en-US" b="0" dirty="0">
                <a:solidFill>
                  <a:srgbClr val="333333"/>
                </a:solidFill>
                <a:latin typeface="Times New Roman" panose="02020603050405020304" pitchFamily="18" charset="0"/>
                <a:ea typeface="+mn-ea"/>
                <a:cs typeface="Times New Roman" panose="02020603050405020304" pitchFamily="18" charset="0"/>
              </a:rPr>
              <a:t>，</a:t>
            </a:r>
            <a:r>
              <a:rPr lang="en-US" altLang="zh-CN" b="0" dirty="0" err="1">
                <a:solidFill>
                  <a:srgbClr val="333333"/>
                </a:solidFill>
                <a:latin typeface="Times New Roman" panose="02020603050405020304" pitchFamily="18" charset="0"/>
                <a:ea typeface="+mn-ea"/>
                <a:cs typeface="Times New Roman" panose="02020603050405020304" pitchFamily="18" charset="0"/>
              </a:rPr>
              <a:t>E7</a:t>
            </a:r>
            <a:r>
              <a:rPr lang="zh-CN" altLang="en-US" b="0" dirty="0">
                <a:solidFill>
                  <a:srgbClr val="333333"/>
                </a:solidFill>
                <a:latin typeface="Times New Roman" panose="02020603050405020304" pitchFamily="18" charset="0"/>
                <a:ea typeface="+mn-ea"/>
                <a:cs typeface="Times New Roman" panose="02020603050405020304" pitchFamily="18" charset="0"/>
              </a:rPr>
              <a:t>和</a:t>
            </a:r>
            <a:r>
              <a:rPr lang="en-US" altLang="zh-CN" b="0" dirty="0" err="1">
                <a:solidFill>
                  <a:srgbClr val="333333"/>
                </a:solidFill>
                <a:latin typeface="Times New Roman" panose="02020603050405020304" pitchFamily="18" charset="0"/>
                <a:ea typeface="+mn-ea"/>
                <a:cs typeface="Times New Roman" panose="02020603050405020304" pitchFamily="18" charset="0"/>
              </a:rPr>
              <a:t>E8</a:t>
            </a:r>
            <a:r>
              <a:rPr lang="zh-CN" altLang="en-US" b="0" dirty="0">
                <a:solidFill>
                  <a:srgbClr val="333333"/>
                </a:solidFill>
                <a:latin typeface="Times New Roman" panose="02020603050405020304" pitchFamily="18" charset="0"/>
                <a:ea typeface="+mn-ea"/>
                <a:cs typeface="Times New Roman" panose="02020603050405020304" pitchFamily="18" charset="0"/>
              </a:rPr>
              <a:t>组成</a:t>
            </a:r>
            <a:r>
              <a:rPr lang="en-US" altLang="zh-CN" b="0" dirty="0">
                <a:solidFill>
                  <a:srgbClr val="333333"/>
                </a:solidFill>
                <a:latin typeface="Times New Roman" panose="02020603050405020304" pitchFamily="18" charset="0"/>
                <a:ea typeface="+mn-ea"/>
                <a:cs typeface="Times New Roman" panose="02020603050405020304" pitchFamily="18" charset="0"/>
              </a:rPr>
              <a:t>Motif 5</a:t>
            </a:r>
            <a:r>
              <a:rPr lang="zh-CN" altLang="en-US" b="0" dirty="0">
                <a:solidFill>
                  <a:srgbClr val="333333"/>
                </a:solidFill>
                <a:latin typeface="Times New Roman" panose="02020603050405020304" pitchFamily="18" charset="0"/>
                <a:ea typeface="+mn-ea"/>
                <a:cs typeface="Times New Roman" panose="02020603050405020304" pitchFamily="18" charset="0"/>
              </a:rPr>
              <a:t>的三个实例。</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p:txBody>
      </p:sp>
      <p:graphicFrame>
        <p:nvGraphicFramePr>
          <p:cNvPr id="20" name="对象 19"/>
          <p:cNvGraphicFramePr>
            <a:graphicFrameLocks noChangeAspect="1"/>
          </p:cNvGraphicFramePr>
          <p:nvPr/>
        </p:nvGraphicFramePr>
        <p:xfrm>
          <a:off x="566166" y="3933056"/>
          <a:ext cx="5261616" cy="2325505"/>
        </p:xfrm>
        <a:graphic>
          <a:graphicData uri="http://schemas.openxmlformats.org/presentationml/2006/ole">
            <mc:AlternateContent xmlns:mc="http://schemas.openxmlformats.org/markup-compatibility/2006">
              <mc:Choice xmlns:v="urn:schemas-microsoft-com:vml" Requires="v">
                <p:oleObj spid="_x0000_s60538" name="" r:id="rId1" imgW="3433445" imgH="1541780" progId="Visio.Drawing.11">
                  <p:embed/>
                </p:oleObj>
              </mc:Choice>
              <mc:Fallback>
                <p:oleObj name="" r:id="rId1" imgW="3433445" imgH="1541780" progId="Visio.Drawing.11">
                  <p:embed/>
                  <p:pic>
                    <p:nvPicPr>
                      <p:cNvPr id="0" name="对象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166" y="3933056"/>
                        <a:ext cx="5261616" cy="2325505"/>
                      </a:xfrm>
                      <a:prstGeom prst="rect">
                        <a:avLst/>
                      </a:prstGeom>
                      <a:noFill/>
                    </p:spPr>
                  </p:pic>
                </p:oleObj>
              </mc:Fallback>
            </mc:AlternateContent>
          </a:graphicData>
        </a:graphic>
      </p:graphicFrame>
      <p:graphicFrame>
        <p:nvGraphicFramePr>
          <p:cNvPr id="21" name="对象 20"/>
          <p:cNvGraphicFramePr>
            <a:graphicFrameLocks noChangeAspect="1"/>
          </p:cNvGraphicFramePr>
          <p:nvPr/>
        </p:nvGraphicFramePr>
        <p:xfrm>
          <a:off x="6228184" y="5445224"/>
          <a:ext cx="1421212" cy="364906"/>
        </p:xfrm>
        <a:graphic>
          <a:graphicData uri="http://schemas.openxmlformats.org/presentationml/2006/ole">
            <mc:AlternateContent xmlns:mc="http://schemas.openxmlformats.org/markup-compatibility/2006">
              <mc:Choice xmlns:v="urn:schemas-microsoft-com:vml" Requires="v">
                <p:oleObj spid="_x0000_s60539" name="Formula" r:id="rId3" imgW="717550" imgH="176530" progId="Equation.Ribbit">
                  <p:embed/>
                </p:oleObj>
              </mc:Choice>
              <mc:Fallback>
                <p:oleObj name="Formula" r:id="rId3" imgW="717550" imgH="176530" progId="Equation.Ribbit">
                  <p:embed/>
                  <p:pic>
                    <p:nvPicPr>
                      <p:cNvPr id="0" name="对象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5445224"/>
                        <a:ext cx="1421212" cy="364906"/>
                      </a:xfrm>
                      <a:prstGeom prst="rect">
                        <a:avLst/>
                      </a:prstGeom>
                      <a:noFill/>
                    </p:spPr>
                  </p:pic>
                </p:oleObj>
              </mc:Fallback>
            </mc:AlternateContent>
          </a:graphicData>
        </a:graphic>
      </p:graphicFrame>
      <p:graphicFrame>
        <p:nvGraphicFramePr>
          <p:cNvPr id="22" name="对象 21"/>
          <p:cNvGraphicFramePr>
            <a:graphicFrameLocks noChangeAspect="1"/>
          </p:cNvGraphicFramePr>
          <p:nvPr/>
        </p:nvGraphicFramePr>
        <p:xfrm>
          <a:off x="6228184" y="5805264"/>
          <a:ext cx="1421211" cy="360040"/>
        </p:xfrm>
        <a:graphic>
          <a:graphicData uri="http://schemas.openxmlformats.org/presentationml/2006/ole">
            <mc:AlternateContent xmlns:mc="http://schemas.openxmlformats.org/markup-compatibility/2006">
              <mc:Choice xmlns:v="urn:schemas-microsoft-com:vml" Requires="v">
                <p:oleObj spid="_x0000_s60540" name="Formula" r:id="rId5" imgW="723900" imgH="176530" progId="Equation.Ribbit">
                  <p:embed/>
                </p:oleObj>
              </mc:Choice>
              <mc:Fallback>
                <p:oleObj name="Formula" r:id="rId5" imgW="723900" imgH="176530" progId="Equation.Ribbit">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8184" y="5805264"/>
                        <a:ext cx="1421211" cy="360040"/>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23" name="矩形 22"/>
              <p:cNvSpPr/>
              <p:nvPr/>
            </p:nvSpPr>
            <p:spPr>
              <a:xfrm>
                <a:off x="5827783" y="4408319"/>
                <a:ext cx="3203848" cy="757130"/>
              </a:xfrm>
              <a:prstGeom prst="rect">
                <a:avLst/>
              </a:prstGeom>
            </p:spPr>
            <p:txBody>
              <a:bodyPr wrap="square">
                <a:spAutoFit/>
              </a:bodyPr>
              <a:lstStyle/>
              <a:p>
                <a:pPr indent="-393700" algn="l" eaLnBrk="0" hangingPunct="0">
                  <a:lnSpc>
                    <a:spcPct val="120000"/>
                  </a:lnSpc>
                  <a:spcBef>
                    <a:spcPts val="600"/>
                  </a:spcBef>
                  <a:buClr>
                    <a:srgbClr val="0000FF"/>
                  </a:buClr>
                  <a:buSzPct val="85000"/>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使用</a:t>
                </a:r>
                <a14:m>
                  <m:oMath xmlns:m="http://schemas.openxmlformats.org/officeDocument/2006/math">
                    <m:r>
                      <m:rPr>
                        <m:sty m:val="p"/>
                      </m:rPr>
                      <a:rPr lang="en-US" altLang="zh-CN" b="0" dirty="0">
                        <a:solidFill>
                          <a:srgbClr val="333333"/>
                        </a:solidFill>
                        <a:latin typeface="Cambria Math" panose="02040503050406030204" pitchFamily="18" charset="0"/>
                        <a:ea typeface="+mn-ea"/>
                      </a:rPr>
                      <m:t>O</m:t>
                    </m:r>
                    <m:r>
                      <a:rPr lang="en-US" altLang="zh-CN" b="0" i="1" dirty="0" smtClean="0">
                        <a:solidFill>
                          <a:srgbClr val="333333"/>
                        </a:solidFill>
                        <a:latin typeface="Cambria Math" panose="02040503050406030204" pitchFamily="18" charset="0"/>
                        <a:ea typeface="+mn-ea"/>
                      </a:rPr>
                      <m:t>(</m:t>
                    </m:r>
                    <m:r>
                      <a:rPr lang="en-US" altLang="zh-CN" b="0" i="1" dirty="0" smtClean="0">
                        <a:solidFill>
                          <a:srgbClr val="333333"/>
                        </a:solidFill>
                        <a:latin typeface="Cambria Math" panose="02040503050406030204" pitchFamily="18" charset="0"/>
                        <a:ea typeface="+mn-ea"/>
                      </a:rPr>
                      <m:t>𝑖</m:t>
                    </m:r>
                    <m:r>
                      <a:rPr lang="en-US" altLang="zh-CN" b="0" i="1" dirty="0" smtClean="0">
                        <a:solidFill>
                          <a:srgbClr val="333333"/>
                        </a:solidFill>
                        <a:latin typeface="Cambria Math" panose="02040503050406030204" pitchFamily="18" charset="0"/>
                        <a:ea typeface="+mn-ea"/>
                      </a:rPr>
                      <m:t>,</m:t>
                    </m:r>
                    <m:r>
                      <a:rPr lang="en-US" altLang="zh-CN" b="0" i="1" dirty="0" smtClean="0">
                        <a:solidFill>
                          <a:srgbClr val="333333"/>
                        </a:solidFill>
                        <a:latin typeface="Cambria Math" panose="02040503050406030204" pitchFamily="18" charset="0"/>
                        <a:ea typeface="+mn-ea"/>
                      </a:rPr>
                      <m:t>𝑗</m:t>
                    </m:r>
                    <m:r>
                      <a:rPr lang="en-US" altLang="zh-CN" b="0" i="1" dirty="0" smtClean="0">
                        <a:solidFill>
                          <a:srgbClr val="333333"/>
                        </a:solidFill>
                        <a:latin typeface="Cambria Math" panose="02040503050406030204" pitchFamily="18" charset="0"/>
                        <a:ea typeface="+mn-ea"/>
                      </a:rPr>
                      <m:t>)</m:t>
                    </m:r>
                  </m:oMath>
                </a14:m>
                <a:r>
                  <a:rPr lang="zh-CN" altLang="en-US" b="0" dirty="0">
                    <a:solidFill>
                      <a:srgbClr val="333333"/>
                    </a:solidFill>
                    <a:latin typeface="Times New Roman" panose="02020603050405020304" pitchFamily="18" charset="0"/>
                    <a:ea typeface="+mn-ea"/>
                    <a:cs typeface="Times New Roman" panose="02020603050405020304" pitchFamily="18" charset="0"/>
                  </a:rPr>
                  <a:t>表示第</a:t>
                </a:r>
                <a:r>
                  <a:rPr lang="en-US" altLang="zh-CN" b="0" dirty="0" err="1">
                    <a:solidFill>
                      <a:srgbClr val="333333"/>
                    </a:solidFill>
                    <a:latin typeface="Times New Roman" panose="02020603050405020304" pitchFamily="18" charset="0"/>
                    <a:ea typeface="+mn-ea"/>
                    <a:cs typeface="Times New Roman" panose="02020603050405020304" pitchFamily="18" charset="0"/>
                  </a:rPr>
                  <a:t>i</a:t>
                </a:r>
                <a:r>
                  <a:rPr lang="zh-CN" altLang="en-US" b="0" dirty="0">
                    <a:solidFill>
                      <a:srgbClr val="333333"/>
                    </a:solidFill>
                    <a:latin typeface="Times New Roman" panose="02020603050405020304" pitchFamily="18" charset="0"/>
                    <a:ea typeface="+mn-ea"/>
                    <a:cs typeface="Times New Roman" panose="02020603050405020304" pitchFamily="18" charset="0"/>
                  </a:rPr>
                  <a:t>个超链接出现在地</a:t>
                </a:r>
                <a:r>
                  <a:rPr lang="en-US" altLang="zh-CN" b="0" dirty="0">
                    <a:solidFill>
                      <a:srgbClr val="333333"/>
                    </a:solidFill>
                    <a:latin typeface="Times New Roman" panose="02020603050405020304" pitchFamily="18" charset="0"/>
                    <a:ea typeface="+mn-ea"/>
                    <a:cs typeface="Times New Roman" panose="02020603050405020304" pitchFamily="18" charset="0"/>
                  </a:rPr>
                  <a:t>j</a:t>
                </a:r>
                <a:r>
                  <a:rPr lang="zh-CN" altLang="en-US" b="0" dirty="0">
                    <a:solidFill>
                      <a:srgbClr val="333333"/>
                    </a:solidFill>
                    <a:latin typeface="Times New Roman" panose="02020603050405020304" pitchFamily="18" charset="0"/>
                    <a:ea typeface="+mn-ea"/>
                    <a:cs typeface="Times New Roman" panose="02020603050405020304" pitchFamily="18" charset="0"/>
                  </a:rPr>
                  <a:t>个网络</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的次数。</a:t>
                </a:r>
                <a:endParaRPr lang="zh-CN" altLang="en-US" b="0" dirty="0">
                  <a:solidFill>
                    <a:srgbClr val="333333"/>
                  </a:solidFill>
                  <a:latin typeface="Times New Roman" panose="02020603050405020304" pitchFamily="18" charset="0"/>
                  <a:ea typeface="+mn-ea"/>
                  <a:cs typeface="Times New Roman" panose="02020603050405020304" pitchFamily="18" charset="0"/>
                </a:endParaRPr>
              </a:p>
            </p:txBody>
          </p:sp>
        </mc:Choice>
        <mc:Fallback>
          <p:sp>
            <p:nvSpPr>
              <p:cNvPr id="23" name="矩形 22"/>
              <p:cNvSpPr>
                <a:spLocks noRot="1" noChangeAspect="1" noMove="1" noResize="1" noEditPoints="1" noAdjustHandles="1" noChangeArrowheads="1" noChangeShapeType="1" noTextEdit="1"/>
              </p:cNvSpPr>
              <p:nvPr/>
            </p:nvSpPr>
            <p:spPr>
              <a:xfrm>
                <a:off x="5827783" y="4408319"/>
                <a:ext cx="3203848" cy="757130"/>
              </a:xfrm>
              <a:prstGeom prst="rect">
                <a:avLst/>
              </a:prstGeom>
              <a:blipFill rotWithShape="1">
                <a:blip r:embed="rId7"/>
                <a:stretch>
                  <a:fillRect l="-12" t="-20" r="1" b="47"/>
                </a:stretch>
              </a:blipFill>
            </p:spPr>
            <p:txBody>
              <a:bodyPr/>
              <a:lstStyle/>
              <a:p>
                <a:r>
                  <a:rPr lang="zh-CN" altLang="en-US">
                    <a:noFill/>
                  </a:rPr>
                  <a:t> </a:t>
                </a:r>
              </a:p>
            </p:txBody>
          </p:sp>
        </mc:Fallback>
      </mc:AlternateContent>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7316426"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的上下位关系挖掘</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5" name="Rectangle 4" descr="Large confetti"/>
              <p:cNvSpPr>
                <a:spLocks noChangeArrowheads="1"/>
              </p:cNvSpPr>
              <p:nvPr/>
            </p:nvSpPr>
            <p:spPr bwMode="auto">
              <a:xfrm>
                <a:off x="251520" y="1268760"/>
                <a:ext cx="8832850" cy="1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nchorCtr="0">
                <a:spAutoFit/>
              </a:bodyPr>
              <a:lstStyle/>
              <a:p>
                <a:pPr marL="622300" indent="-436880" algn="l" eaLnBrk="0" hangingPunct="0">
                  <a:lnSpc>
                    <a:spcPct val="120000"/>
                  </a:lnSpc>
                  <a:spcBef>
                    <a:spcPts val="600"/>
                  </a:spcBef>
                  <a:buClr>
                    <a:srgbClr val="0000FF"/>
                  </a:buClr>
                  <a:buSzPct val="85000"/>
                  <a:buFont typeface="Wingdings" panose="05000000000000000000" pitchFamily="2" charset="2"/>
                  <a:buChar char="n"/>
                  <a:tabLst>
                    <a:tab pos="622300" algn="l"/>
                  </a:tabLst>
                  <a:defRPr/>
                </a:pPr>
                <a:r>
                  <a:rPr lang="zh-CN" altLang="en-US" sz="2600" dirty="0">
                    <a:solidFill>
                      <a:srgbClr val="0000FF"/>
                    </a:solidFill>
                    <a:latin typeface="Times New Roman" panose="02020603050405020304" pitchFamily="18" charset="0"/>
                    <a:ea typeface="+mn-ea"/>
                    <a:cs typeface="Times New Roman" panose="02020603050405020304" pitchFamily="18" charset="0"/>
                  </a:rPr>
                  <a:t>特征构建方法</a:t>
                </a:r>
                <a:r>
                  <a:rPr lang="en-US" altLang="zh-CN" sz="2600" dirty="0">
                    <a:solidFill>
                      <a:srgbClr val="0000FF"/>
                    </a:solidFill>
                    <a:latin typeface="Times New Roman" panose="02020603050405020304" pitchFamily="18" charset="0"/>
                    <a:ea typeface="+mn-ea"/>
                    <a:cs typeface="Times New Roman" panose="02020603050405020304" pitchFamily="18" charset="0"/>
                  </a:rPr>
                  <a:t>(2/2)</a:t>
                </a:r>
                <a:endParaRPr lang="en-US" altLang="zh-CN" sz="2600" dirty="0">
                  <a:solidFill>
                    <a:srgbClr val="0000FF"/>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100000"/>
                  <a:buFont typeface="+mj-lt"/>
                  <a:buAutoNum type="arabicPeriod" startAt="3"/>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根据</a:t>
                </a:r>
                <a14:m>
                  <m:oMath xmlns:m="http://schemas.openxmlformats.org/officeDocument/2006/math">
                    <m:r>
                      <m:rPr>
                        <m:sty m:val="p"/>
                      </m:rPr>
                      <a:rPr lang="en-US" altLang="zh-CN" b="0" dirty="0">
                        <a:solidFill>
                          <a:srgbClr val="333333"/>
                        </a:solidFill>
                        <a:latin typeface="Cambria Math" panose="02040503050406030204" pitchFamily="18" charset="0"/>
                        <a:ea typeface="+mn-ea"/>
                      </a:rPr>
                      <m:t>O</m:t>
                    </m:r>
                    <m:r>
                      <a:rPr lang="en-US" altLang="zh-CN" b="0" i="1" dirty="0" smtClean="0">
                        <a:solidFill>
                          <a:srgbClr val="333333"/>
                        </a:solidFill>
                        <a:latin typeface="Cambria Math" panose="02040503050406030204" pitchFamily="18" charset="0"/>
                        <a:ea typeface="+mn-ea"/>
                      </a:rPr>
                      <m:t>(</m:t>
                    </m:r>
                    <m:r>
                      <a:rPr lang="en-US" altLang="zh-CN" b="0" i="1" dirty="0" smtClean="0">
                        <a:solidFill>
                          <a:srgbClr val="333333"/>
                        </a:solidFill>
                        <a:latin typeface="Cambria Math" panose="02040503050406030204" pitchFamily="18" charset="0"/>
                        <a:ea typeface="+mn-ea"/>
                      </a:rPr>
                      <m:t>𝑖</m:t>
                    </m:r>
                    <m:r>
                      <a:rPr lang="en-US" altLang="zh-CN" b="0" i="1" dirty="0" smtClean="0">
                        <a:solidFill>
                          <a:srgbClr val="333333"/>
                        </a:solidFill>
                        <a:latin typeface="Cambria Math" panose="02040503050406030204" pitchFamily="18" charset="0"/>
                        <a:ea typeface="+mn-ea"/>
                      </a:rPr>
                      <m:t>,</m:t>
                    </m:r>
                    <m:r>
                      <a:rPr lang="en-US" altLang="zh-CN" b="0" i="1" dirty="0" smtClean="0">
                        <a:solidFill>
                          <a:srgbClr val="333333"/>
                        </a:solidFill>
                        <a:latin typeface="Cambria Math" panose="02040503050406030204" pitchFamily="18" charset="0"/>
                        <a:ea typeface="+mn-ea"/>
                      </a:rPr>
                      <m:t>𝑗</m:t>
                    </m:r>
                    <m:r>
                      <a:rPr lang="en-US" altLang="zh-CN" b="0" i="1" dirty="0" smtClean="0">
                        <a:solidFill>
                          <a:srgbClr val="333333"/>
                        </a:solidFill>
                        <a:latin typeface="Cambria Math" panose="02040503050406030204" pitchFamily="18" charset="0"/>
                        <a:ea typeface="+mn-ea"/>
                      </a:rPr>
                      <m:t>)</m:t>
                    </m:r>
                  </m:oMath>
                </a14:m>
                <a:r>
                  <a:rPr lang="zh-CN" altLang="en-US" b="0" dirty="0">
                    <a:solidFill>
                      <a:srgbClr val="333333"/>
                    </a:solidFill>
                    <a:latin typeface="Times New Roman" panose="02020603050405020304" pitchFamily="18" charset="0"/>
                    <a:ea typeface="+mn-ea"/>
                    <a:cs typeface="Times New Roman" panose="02020603050405020304" pitchFamily="18" charset="0"/>
                  </a:rPr>
                  <a:t>为每个超链接构建一个特征向量。</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a:p>
                <a:pPr marL="863600" lvl="2" indent="-342900" algn="l" eaLnBrk="0" hangingPunct="0">
                  <a:lnSpc>
                    <a:spcPct val="120000"/>
                  </a:lnSpc>
                  <a:spcBef>
                    <a:spcPts val="600"/>
                  </a:spcBef>
                  <a:buClr>
                    <a:srgbClr val="0000FF"/>
                  </a:buClr>
                  <a:buSzPct val="85000"/>
                  <a:buFont typeface="Wingdings" panose="05000000000000000000" pitchFamily="2" charset="2"/>
                  <a:buChar char="l"/>
                  <a:tabLst>
                    <a:tab pos="622300" algn="l"/>
                  </a:tabLst>
                  <a:defRPr/>
                </a:pPr>
                <a:endParaRPr lang="en-US" altLang="zh-CN" b="0" dirty="0">
                  <a:solidFill>
                    <a:srgbClr val="333333"/>
                  </a:solidFill>
                  <a:latin typeface="Times New Roman" panose="02020603050405020304" pitchFamily="18" charset="0"/>
                  <a:ea typeface="+mn-ea"/>
                  <a:cs typeface="Times New Roman" panose="02020603050405020304" pitchFamily="18" charset="0"/>
                </a:endParaRPr>
              </a:p>
            </p:txBody>
          </p:sp>
        </mc:Choice>
        <mc:Fallback>
          <p:sp>
            <p:nvSpPr>
              <p:cNvPr id="15" name="Rectangle 4" descr="Large confetti"/>
              <p:cNvSpPr>
                <a:spLocks noRot="1" noChangeAspect="1" noMove="1" noResize="1" noEditPoints="1" noAdjustHandles="1" noChangeArrowheads="1" noChangeShapeType="1" noTextEdit="1"/>
              </p:cNvSpPr>
              <p:nvPr/>
            </p:nvSpPr>
            <p:spPr bwMode="auto">
              <a:xfrm>
                <a:off x="251520" y="1268760"/>
                <a:ext cx="8832850" cy="1391150"/>
              </a:xfrm>
              <a:prstGeom prst="rect">
                <a:avLst/>
              </a:prstGeom>
              <a:blipFill rotWithShape="1">
                <a:blip r:embed="rId1"/>
                <a:stretch>
                  <a:fillRect l="-1" t="-2" r="1" b="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6" name="Rectangle 4" descr="Large confetti"/>
          <p:cNvSpPr>
            <a:spLocks noChangeArrowheads="1"/>
          </p:cNvSpPr>
          <p:nvPr/>
        </p:nvSpPr>
        <p:spPr bwMode="auto">
          <a:xfrm>
            <a:off x="251520" y="2940846"/>
            <a:ext cx="8538914" cy="10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863600" lvl="2" indent="-342900" algn="just" eaLnBrk="0" hangingPunct="0">
              <a:lnSpc>
                <a:spcPct val="120000"/>
              </a:lnSpc>
              <a:spcBef>
                <a:spcPts val="600"/>
              </a:spcBef>
              <a:buClr>
                <a:srgbClr val="0000FF"/>
              </a:buClr>
              <a:buSzPct val="85000"/>
              <a:buFont typeface="Wingdings" panose="05000000000000000000" pitchFamily="2" charset="2"/>
              <a:buChar char="l"/>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在标注所有数据前，我们无法获取某个</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的</a:t>
            </a:r>
            <a:r>
              <a:rPr lang="en-US" altLang="zh-CN" b="0" dirty="0">
                <a:solidFill>
                  <a:srgbClr val="333333"/>
                </a:solidFill>
                <a:latin typeface="Times New Roman" panose="02020603050405020304" pitchFamily="18" charset="0"/>
                <a:ea typeface="+mn-ea"/>
                <a:cs typeface="Times New Roman" panose="02020603050405020304" pitchFamily="18" charset="0"/>
              </a:rPr>
              <a:t>HHR</a:t>
            </a:r>
            <a:r>
              <a:rPr lang="zh-CN" altLang="en-US" b="0" dirty="0">
                <a:solidFill>
                  <a:srgbClr val="333333"/>
                </a:solidFill>
                <a:latin typeface="Times New Roman" panose="02020603050405020304" pitchFamily="18" charset="0"/>
                <a:ea typeface="+mn-ea"/>
                <a:cs typeface="Times New Roman" panose="02020603050405020304" pitchFamily="18" charset="0"/>
              </a:rPr>
              <a:t>参数。依据发现</a:t>
            </a:r>
            <a:r>
              <a:rPr lang="en-US" altLang="zh-CN" b="0" dirty="0">
                <a:solidFill>
                  <a:srgbClr val="333333"/>
                </a:solidFill>
                <a:latin typeface="Times New Roman" panose="02020603050405020304" pitchFamily="18" charset="0"/>
                <a:ea typeface="+mn-ea"/>
                <a:cs typeface="Times New Roman" panose="02020603050405020304" pitchFamily="18" charset="0"/>
              </a:rPr>
              <a:t>2</a:t>
            </a:r>
            <a:r>
              <a:rPr lang="zh-CN" altLang="en-US" b="0" dirty="0">
                <a:solidFill>
                  <a:srgbClr val="333333"/>
                </a:solidFill>
                <a:latin typeface="Times New Roman" panose="02020603050405020304" pitchFamily="18" charset="0"/>
                <a:ea typeface="+mn-ea"/>
                <a:cs typeface="Times New Roman" panose="02020603050405020304" pitchFamily="18" charset="0"/>
              </a:rPr>
              <a:t>可知</a:t>
            </a:r>
            <a:r>
              <a:rPr lang="en-US" altLang="zh-CN" b="0" dirty="0">
                <a:solidFill>
                  <a:srgbClr val="333333"/>
                </a:solidFill>
                <a:latin typeface="Times New Roman" panose="02020603050405020304" pitchFamily="18" charset="0"/>
                <a:ea typeface="+mn-ea"/>
                <a:cs typeface="Times New Roman" panose="02020603050405020304" pitchFamily="18" charset="0"/>
              </a:rPr>
              <a:t>Z-Score</a:t>
            </a:r>
            <a:r>
              <a:rPr lang="zh-CN" altLang="en-US" b="0" dirty="0">
                <a:solidFill>
                  <a:srgbClr val="333333"/>
                </a:solidFill>
                <a:latin typeface="Times New Roman" panose="02020603050405020304" pitchFamily="18" charset="0"/>
                <a:ea typeface="+mn-ea"/>
                <a:cs typeface="Times New Roman" panose="02020603050405020304" pitchFamily="18" charset="0"/>
              </a:rPr>
              <a:t>与</a:t>
            </a:r>
            <a:r>
              <a:rPr lang="en-US" altLang="zh-CN" b="0" dirty="0">
                <a:solidFill>
                  <a:srgbClr val="333333"/>
                </a:solidFill>
                <a:latin typeface="Times New Roman" panose="02020603050405020304" pitchFamily="18" charset="0"/>
                <a:ea typeface="+mn-ea"/>
                <a:cs typeface="Times New Roman" panose="02020603050405020304" pitchFamily="18" charset="0"/>
              </a:rPr>
              <a:t>HHR</a:t>
            </a:r>
            <a:r>
              <a:rPr lang="zh-CN" altLang="en-US" b="0" dirty="0">
                <a:solidFill>
                  <a:srgbClr val="333333"/>
                </a:solidFill>
                <a:latin typeface="Times New Roman" panose="02020603050405020304" pitchFamily="18" charset="0"/>
                <a:ea typeface="+mn-ea"/>
                <a:cs typeface="Times New Roman" panose="02020603050405020304" pitchFamily="18" charset="0"/>
              </a:rPr>
              <a:t>正相关，且</a:t>
            </a:r>
            <a:r>
              <a:rPr lang="en-US" altLang="zh-CN" b="0" dirty="0">
                <a:solidFill>
                  <a:srgbClr val="333333"/>
                </a:solidFill>
                <a:latin typeface="Times New Roman" panose="02020603050405020304" pitchFamily="18" charset="0"/>
                <a:ea typeface="+mn-ea"/>
                <a:cs typeface="Times New Roman" panose="02020603050405020304" pitchFamily="18" charset="0"/>
              </a:rPr>
              <a:t>Z-Score</a:t>
            </a:r>
            <a:r>
              <a:rPr lang="zh-CN" altLang="en-US" b="0" dirty="0">
                <a:solidFill>
                  <a:srgbClr val="333333"/>
                </a:solidFill>
                <a:latin typeface="Times New Roman" panose="02020603050405020304" pitchFamily="18" charset="0"/>
                <a:ea typeface="+mn-ea"/>
                <a:cs typeface="Times New Roman" panose="02020603050405020304" pitchFamily="18" charset="0"/>
              </a:rPr>
              <a:t>可以直接从</a:t>
            </a:r>
            <a:r>
              <a:rPr lang="en-US" altLang="zh-CN" b="0" dirty="0">
                <a:solidFill>
                  <a:srgbClr val="333333"/>
                </a:solidFill>
                <a:latin typeface="Times New Roman" panose="02020603050405020304" pitchFamily="18" charset="0"/>
                <a:ea typeface="+mn-ea"/>
                <a:cs typeface="Times New Roman" panose="02020603050405020304" pitchFamily="18" charset="0"/>
              </a:rPr>
              <a:t>DAG</a:t>
            </a:r>
            <a:r>
              <a:rPr lang="zh-CN" altLang="en-US" b="0" dirty="0">
                <a:solidFill>
                  <a:srgbClr val="333333"/>
                </a:solidFill>
                <a:latin typeface="Times New Roman" panose="02020603050405020304" pitchFamily="18" charset="0"/>
                <a:ea typeface="+mn-ea"/>
                <a:cs typeface="Times New Roman" panose="02020603050405020304" pitchFamily="18" charset="0"/>
              </a:rPr>
              <a:t>中计算而不需要标注数据，所以我们使用</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的</a:t>
            </a:r>
            <a:r>
              <a:rPr lang="en-US" altLang="zh-CN" b="0" dirty="0">
                <a:solidFill>
                  <a:srgbClr val="333333"/>
                </a:solidFill>
                <a:latin typeface="Times New Roman" panose="02020603050405020304" pitchFamily="18" charset="0"/>
                <a:ea typeface="+mn-ea"/>
                <a:cs typeface="Times New Roman" panose="02020603050405020304" pitchFamily="18" charset="0"/>
              </a:rPr>
              <a:t>Z-Score</a:t>
            </a:r>
            <a:r>
              <a:rPr lang="zh-CN" altLang="en-US" b="0" dirty="0">
                <a:solidFill>
                  <a:srgbClr val="333333"/>
                </a:solidFill>
                <a:latin typeface="Times New Roman" panose="02020603050405020304" pitchFamily="18" charset="0"/>
                <a:ea typeface="+mn-ea"/>
                <a:cs typeface="Times New Roman" panose="02020603050405020304" pitchFamily="18" charset="0"/>
              </a:rPr>
              <a:t>来替代</a:t>
            </a:r>
            <a:r>
              <a:rPr lang="en-US" altLang="zh-CN" b="0" dirty="0">
                <a:solidFill>
                  <a:srgbClr val="333333"/>
                </a:solidFill>
                <a:latin typeface="Times New Roman" panose="02020603050405020304" pitchFamily="18" charset="0"/>
                <a:ea typeface="+mn-ea"/>
                <a:cs typeface="Times New Roman" panose="02020603050405020304" pitchFamily="18" charset="0"/>
              </a:rPr>
              <a:t>HHR</a:t>
            </a:r>
            <a:r>
              <a:rPr lang="zh-CN" altLang="en-US" b="0" dirty="0">
                <a:solidFill>
                  <a:srgbClr val="333333"/>
                </a:solidFill>
                <a:latin typeface="Times New Roman" panose="02020603050405020304" pitchFamily="18" charset="0"/>
                <a:ea typeface="+mn-ea"/>
                <a:cs typeface="Times New Roman" panose="02020603050405020304" pitchFamily="18" charset="0"/>
              </a:rPr>
              <a:t>加权不同的</a:t>
            </a:r>
            <a:r>
              <a:rPr lang="en-US" altLang="zh-CN" b="0" dirty="0">
                <a:solidFill>
                  <a:srgbClr val="333333"/>
                </a:solidFill>
                <a:latin typeface="Times New Roman" panose="02020603050405020304" pitchFamily="18" charset="0"/>
                <a:ea typeface="+mn-ea"/>
                <a:cs typeface="Times New Roman" panose="02020603050405020304" pitchFamily="18" charset="0"/>
              </a:rPr>
              <a:t>Motif</a:t>
            </a:r>
            <a:r>
              <a:rPr lang="zh-CN" altLang="en-US" b="0" dirty="0">
                <a:solidFill>
                  <a:srgbClr val="333333"/>
                </a:solidFill>
                <a:latin typeface="Times New Roman" panose="02020603050405020304" pitchFamily="18" charset="0"/>
                <a:ea typeface="+mn-ea"/>
                <a:cs typeface="Times New Roman" panose="02020603050405020304" pitchFamily="18" charset="0"/>
              </a:rPr>
              <a:t>。</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p:txBody>
      </p:sp>
      <p:graphicFrame>
        <p:nvGraphicFramePr>
          <p:cNvPr id="17" name="对象 16"/>
          <p:cNvGraphicFramePr>
            <a:graphicFrameLocks noChangeAspect="1"/>
          </p:cNvGraphicFramePr>
          <p:nvPr/>
        </p:nvGraphicFramePr>
        <p:xfrm>
          <a:off x="2086100" y="2420888"/>
          <a:ext cx="2581846" cy="275590"/>
        </p:xfrm>
        <a:graphic>
          <a:graphicData uri="http://schemas.openxmlformats.org/presentationml/2006/ole">
            <mc:AlternateContent xmlns:mc="http://schemas.openxmlformats.org/markup-compatibility/2006">
              <mc:Choice xmlns:v="urn:schemas-microsoft-com:vml" Requires="v">
                <p:oleObj spid="_x0000_s61562" name="Formula" r:id="rId2" imgW="1692910" imgH="176530" progId="Equation.Ribbit">
                  <p:embed/>
                </p:oleObj>
              </mc:Choice>
              <mc:Fallback>
                <p:oleObj name="Formula" r:id="rId2" imgW="1692910" imgH="176530" progId="Equation.Ribbit">
                  <p:embed/>
                  <p:pic>
                    <p:nvPicPr>
                      <p:cNvPr id="0" name="对象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6100" y="2420888"/>
                        <a:ext cx="2581846" cy="275590"/>
                      </a:xfrm>
                      <a:prstGeom prst="rect">
                        <a:avLst/>
                      </a:prstGeom>
                      <a:noFill/>
                    </p:spPr>
                  </p:pic>
                </p:oleObj>
              </mc:Fallback>
            </mc:AlternateContent>
          </a:graphicData>
        </a:graphic>
      </p:graphicFrame>
      <p:graphicFrame>
        <p:nvGraphicFramePr>
          <p:cNvPr id="18" name="对象 17"/>
          <p:cNvGraphicFramePr>
            <a:graphicFrameLocks noChangeAspect="1"/>
          </p:cNvGraphicFramePr>
          <p:nvPr/>
        </p:nvGraphicFramePr>
        <p:xfrm>
          <a:off x="2051721" y="4149081"/>
          <a:ext cx="3168351" cy="311910"/>
        </p:xfrm>
        <a:graphic>
          <a:graphicData uri="http://schemas.openxmlformats.org/presentationml/2006/ole">
            <mc:AlternateContent xmlns:mc="http://schemas.openxmlformats.org/markup-compatibility/2006">
              <mc:Choice xmlns:v="urn:schemas-microsoft-com:vml" Requires="v">
                <p:oleObj spid="_x0000_s61563" name="Formula" r:id="rId4" imgW="1847850" imgH="176530" progId="Equation.Ribbit">
                  <p:embed/>
                </p:oleObj>
              </mc:Choice>
              <mc:Fallback>
                <p:oleObj name="Formula" r:id="rId4" imgW="1847850" imgH="176530" progId="Equation.Ribbit">
                  <p:embed/>
                  <p:pic>
                    <p:nvPicPr>
                      <p:cNvPr id="0" name="对象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1" y="4149081"/>
                        <a:ext cx="3168351" cy="311910"/>
                      </a:xfrm>
                      <a:prstGeom prst="rect">
                        <a:avLst/>
                      </a:prstGeom>
                      <a:noFill/>
                    </p:spPr>
                  </p:pic>
                </p:oleObj>
              </mc:Fallback>
            </mc:AlternateContent>
          </a:graphicData>
        </a:graphic>
      </p:graphicFrame>
      <p:graphicFrame>
        <p:nvGraphicFramePr>
          <p:cNvPr id="24" name="对象 23"/>
          <p:cNvGraphicFramePr>
            <a:graphicFrameLocks noChangeAspect="1"/>
          </p:cNvGraphicFramePr>
          <p:nvPr/>
        </p:nvGraphicFramePr>
        <p:xfrm>
          <a:off x="2051721" y="5373216"/>
          <a:ext cx="3960440" cy="272091"/>
        </p:xfrm>
        <a:graphic>
          <a:graphicData uri="http://schemas.openxmlformats.org/presentationml/2006/ole">
            <mc:AlternateContent xmlns:mc="http://schemas.openxmlformats.org/markup-compatibility/2006">
              <mc:Choice xmlns:v="urn:schemas-microsoft-com:vml" Requires="v">
                <p:oleObj spid="_x0000_s61564" name="Formula" r:id="rId6" imgW="2486660" imgH="176530" progId="Equation.Ribbit">
                  <p:embed/>
                </p:oleObj>
              </mc:Choice>
              <mc:Fallback>
                <p:oleObj name="Formula" r:id="rId6" imgW="2486660" imgH="176530" progId="Equation.Ribbit">
                  <p:embed/>
                  <p:pic>
                    <p:nvPicPr>
                      <p:cNvPr id="0" name="对象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721" y="5373216"/>
                        <a:ext cx="3960440" cy="272091"/>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25" name="Rectangle 4" descr="Large confetti"/>
              <p:cNvSpPr>
                <a:spLocks noChangeArrowheads="1"/>
              </p:cNvSpPr>
              <p:nvPr/>
            </p:nvSpPr>
            <p:spPr bwMode="auto">
              <a:xfrm>
                <a:off x="251520" y="4797152"/>
                <a:ext cx="8538914" cy="39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863600" lvl="2" indent="-342900" algn="l" eaLnBrk="0" hangingPunct="0">
                  <a:lnSpc>
                    <a:spcPct val="120000"/>
                  </a:lnSpc>
                  <a:spcBef>
                    <a:spcPts val="600"/>
                  </a:spcBef>
                  <a:buClr>
                    <a:srgbClr val="0000FF"/>
                  </a:buClr>
                  <a:buSzPct val="85000"/>
                  <a:buFont typeface="Wingdings" panose="05000000000000000000" pitchFamily="2" charset="2"/>
                  <a:buChar char="l"/>
                  <a:tabLst>
                    <a:tab pos="622300" algn="l"/>
                  </a:tabLst>
                  <a:defRPr/>
                </a:pPr>
                <a:r>
                  <a:rPr lang="zh-CN" altLang="en-US" b="0" dirty="0">
                    <a:solidFill>
                      <a:srgbClr val="333333"/>
                    </a:solidFill>
                    <a:latin typeface="Times New Roman" panose="02020603050405020304" pitchFamily="18" charset="0"/>
                    <a:ea typeface="+mn-ea"/>
                    <a:cs typeface="Times New Roman" panose="02020603050405020304" pitchFamily="18" charset="0"/>
                  </a:rPr>
                  <a:t>超链接</a:t>
                </a:r>
                <a14:m>
                  <m:oMath xmlns:m="http://schemas.openxmlformats.org/officeDocument/2006/math">
                    <m:r>
                      <a:rPr lang="en-US" altLang="zh-CN" b="0" i="1" smtClean="0">
                        <a:solidFill>
                          <a:srgbClr val="333333"/>
                        </a:solidFill>
                        <a:latin typeface="Cambria Math" panose="02040503050406030204" pitchFamily="18" charset="0"/>
                        <a:ea typeface="+mn-ea"/>
                      </a:rPr>
                      <m:t>𝑖</m:t>
                    </m:r>
                  </m:oMath>
                </a14:m>
                <a:r>
                  <a:rPr lang="zh-CN" altLang="en-US" b="0" dirty="0">
                    <a:solidFill>
                      <a:srgbClr val="333333"/>
                    </a:solidFill>
                    <a:latin typeface="Times New Roman" panose="02020603050405020304" pitchFamily="18" charset="0"/>
                    <a:ea typeface="+mn-ea"/>
                    <a:cs typeface="Times New Roman" panose="02020603050405020304" pitchFamily="18" charset="0"/>
                  </a:rPr>
                  <a:t>的特征向量公式。</a:t>
                </a:r>
                <a:endParaRPr lang="en-US" altLang="zh-CN" b="0" dirty="0">
                  <a:solidFill>
                    <a:srgbClr val="333333"/>
                  </a:solidFill>
                  <a:latin typeface="Times New Roman" panose="02020603050405020304" pitchFamily="18" charset="0"/>
                  <a:ea typeface="+mn-ea"/>
                  <a:cs typeface="Times New Roman" panose="02020603050405020304" pitchFamily="18" charset="0"/>
                </a:endParaRPr>
              </a:p>
            </p:txBody>
          </p:sp>
        </mc:Choice>
        <mc:Fallback>
          <p:sp>
            <p:nvSpPr>
              <p:cNvPr id="25" name="Rectangle 4" descr="Large confetti"/>
              <p:cNvSpPr>
                <a:spLocks noRot="1" noChangeAspect="1" noMove="1" noResize="1" noEditPoints="1" noAdjustHandles="1" noChangeArrowheads="1" noChangeShapeType="1" noTextEdit="1"/>
              </p:cNvSpPr>
              <p:nvPr/>
            </p:nvSpPr>
            <p:spPr bwMode="auto">
              <a:xfrm>
                <a:off x="251520" y="4797152"/>
                <a:ext cx="8538914" cy="390748"/>
              </a:xfrm>
              <a:prstGeom prst="rect">
                <a:avLst/>
              </a:prstGeom>
              <a:blipFill rotWithShape="1">
                <a:blip r:embed="rId8"/>
                <a:stretch>
                  <a:fillRect l="-1" t="-93" r="2" b="1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6955750"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的恶意软件识别</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aphicFrame>
        <p:nvGraphicFramePr>
          <p:cNvPr id="10" name="对象 6"/>
          <p:cNvGraphicFramePr>
            <a:graphicFrameLocks noChangeAspect="1"/>
          </p:cNvGraphicFramePr>
          <p:nvPr/>
        </p:nvGraphicFramePr>
        <p:xfrm>
          <a:off x="539552" y="1484784"/>
          <a:ext cx="4970356" cy="3696518"/>
        </p:xfrm>
        <a:graphic>
          <a:graphicData uri="http://schemas.openxmlformats.org/presentationml/2006/ole">
            <mc:AlternateContent xmlns:mc="http://schemas.openxmlformats.org/markup-compatibility/2006">
              <mc:Choice xmlns:v="urn:schemas-microsoft-com:vml" Requires="v">
                <p:oleObj spid="_x0000_s62504" name="Visio" r:id="rId1" imgW="10642600" imgH="7937500" progId="Visio.Drawing.15">
                  <p:embed/>
                </p:oleObj>
              </mc:Choice>
              <mc:Fallback>
                <p:oleObj name="Visio" r:id="rId1" imgW="10642600" imgH="7937500" progId="Visio.Drawing.15">
                  <p:embed/>
                  <p:pic>
                    <p:nvPicPr>
                      <p:cNvPr id="0" name="对象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4970356" cy="3696518"/>
                      </a:xfrm>
                      <a:prstGeom prst="rect">
                        <a:avLst/>
                      </a:prstGeom>
                      <a:noFill/>
                      <a:ln>
                        <a:noFill/>
                      </a:ln>
                    </p:spPr>
                  </p:pic>
                </p:oleObj>
              </mc:Fallback>
            </mc:AlternateContent>
          </a:graphicData>
        </a:graphic>
      </p:graphicFrame>
      <p:sp>
        <p:nvSpPr>
          <p:cNvPr id="11" name="矩形 26"/>
          <p:cNvSpPr>
            <a:spLocks noChangeArrowheads="1"/>
          </p:cNvSpPr>
          <p:nvPr/>
        </p:nvSpPr>
        <p:spPr bwMode="auto">
          <a:xfrm>
            <a:off x="738730" y="5373216"/>
            <a:ext cx="457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spcAft>
                <a:spcPts val="700"/>
              </a:spcAft>
            </a:pPr>
            <a:r>
              <a:rPr lang="zh-CN" altLang="zh-CN" sz="1600" b="1" dirty="0">
                <a:latin typeface="Times New Roman" panose="02020603050405020304" pitchFamily="18" charset="0"/>
                <a:ea typeface="宋体" panose="02010600030101010101" pitchFamily="2" charset="-122"/>
                <a:cs typeface="Times New Roman" panose="02020603050405020304" pitchFamily="18" charset="0"/>
              </a:rPr>
              <a:t>Fig. 1 Static Function-Call Graph of </a:t>
            </a:r>
            <a:r>
              <a:rPr lang="zh-CN" altLang="zh-CN" sz="1600" b="1" i="1" dirty="0">
                <a:latin typeface="Times New Roman" panose="02020603050405020304" pitchFamily="18" charset="0"/>
                <a:ea typeface="宋体" panose="02010600030101010101" pitchFamily="2" charset="-122"/>
                <a:cs typeface="Times New Roman" panose="02020603050405020304" pitchFamily="18" charset="0"/>
              </a:rPr>
              <a:t>corner23</a:t>
            </a:r>
            <a:endParaRPr lang="zh-CN" altLang="zh-CN" sz="1600" b="1" dirty="0">
              <a:latin typeface="Times New Roman" panose="02020603050405020304" pitchFamily="18" charset="0"/>
              <a:ea typeface="宋体" panose="02010600030101010101" pitchFamily="2" charset="-122"/>
              <a:cs typeface="Miriam" panose="020B0502050101010101" pitchFamily="34" charset="-79"/>
            </a:endParaRPr>
          </a:p>
        </p:txBody>
      </p:sp>
      <p:graphicFrame>
        <p:nvGraphicFramePr>
          <p:cNvPr id="13" name="表格 12"/>
          <p:cNvGraphicFramePr>
            <a:graphicFrameLocks noGrp="1"/>
          </p:cNvGraphicFramePr>
          <p:nvPr/>
        </p:nvGraphicFramePr>
        <p:xfrm>
          <a:off x="5868144" y="2420888"/>
          <a:ext cx="2307360" cy="2212247"/>
        </p:xfrm>
        <a:graphic>
          <a:graphicData uri="http://schemas.openxmlformats.org/drawingml/2006/table">
            <a:tbl>
              <a:tblPr/>
              <a:tblGrid>
                <a:gridCol w="2307360"/>
              </a:tblGrid>
              <a:tr h="698467">
                <a:tc>
                  <a:txBody>
                    <a:bodyPr/>
                    <a:lstStyle/>
                    <a:p>
                      <a:pPr algn="ctr">
                        <a:spcAft>
                          <a:spcPts val="400"/>
                        </a:spcAft>
                      </a:pPr>
                      <a:r>
                        <a:rPr lang="en-US" sz="1600" b="1" dirty="0" err="1">
                          <a:effectLst/>
                          <a:latin typeface="Times New Roman" panose="02020603050405020304" pitchFamily="18" charset="0"/>
                          <a:ea typeface="宋体" panose="02010600030101010101" pitchFamily="2" charset="-122"/>
                        </a:rPr>
                        <a:t>Snesitive</a:t>
                      </a:r>
                      <a:r>
                        <a:rPr lang="en-US" sz="1600" b="1" dirty="0">
                          <a:effectLst/>
                          <a:latin typeface="Times New Roman" panose="02020603050405020304" pitchFamily="18" charset="0"/>
                          <a:ea typeface="宋体" panose="02010600030101010101" pitchFamily="2" charset="-122"/>
                        </a:rPr>
                        <a:t>-API</a:t>
                      </a:r>
                      <a:endParaRPr lang="zh-CN" sz="1600" dirty="0">
                        <a:effectLst/>
                        <a:latin typeface="Times New Roman" panose="02020603050405020304" pitchFamily="18" charset="0"/>
                        <a:ea typeface="宋体" panose="02010600030101010101" pitchFamily="2" charset="-122"/>
                      </a:endParaRPr>
                    </a:p>
                  </a:txBody>
                  <a:tcPr marL="9526" marR="9526" marT="9528"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78445">
                <a:tc>
                  <a:txBody>
                    <a:bodyPr/>
                    <a:lstStyle/>
                    <a:p>
                      <a:pPr algn="ctr">
                        <a:spcAft>
                          <a:spcPts val="400"/>
                        </a:spcAft>
                      </a:pPr>
                      <a:r>
                        <a:rPr lang="en-US" sz="1600" dirty="0" err="1">
                          <a:effectLst/>
                          <a:latin typeface="Times New Roman" panose="02020603050405020304" pitchFamily="18" charset="0"/>
                          <a:ea typeface="宋体" panose="02010600030101010101" pitchFamily="2" charset="-122"/>
                        </a:rPr>
                        <a:t>openConnection</a:t>
                      </a:r>
                      <a:r>
                        <a:rPr lang="en-US" sz="1600" dirty="0">
                          <a:effectLst/>
                          <a:latin typeface="Times New Roman" panose="02020603050405020304" pitchFamily="18" charset="0"/>
                          <a:ea typeface="宋体" panose="02010600030101010101" pitchFamily="2" charset="-122"/>
                        </a:rPr>
                        <a:t>()</a:t>
                      </a:r>
                      <a:endParaRPr lang="zh-CN" sz="1600" dirty="0">
                        <a:effectLst/>
                        <a:latin typeface="Times New Roman" panose="02020603050405020304" pitchFamily="18" charset="0"/>
                        <a:ea typeface="宋体" panose="02010600030101010101" pitchFamily="2" charset="-122"/>
                      </a:endParaRPr>
                    </a:p>
                  </a:txBody>
                  <a:tcPr marL="9526" marR="9526" marT="9528"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r>
              <a:tr h="378445">
                <a:tc>
                  <a:txBody>
                    <a:bodyPr/>
                    <a:lstStyle/>
                    <a:p>
                      <a:pPr algn="ctr">
                        <a:spcAft>
                          <a:spcPts val="400"/>
                        </a:spcAft>
                      </a:pPr>
                      <a:r>
                        <a:rPr lang="en-US" sz="1600" dirty="0" err="1">
                          <a:effectLst/>
                          <a:latin typeface="Times New Roman" panose="02020603050405020304" pitchFamily="18" charset="0"/>
                          <a:ea typeface="宋体" panose="02010600030101010101" pitchFamily="2" charset="-122"/>
                        </a:rPr>
                        <a:t>getSimSerialNumber</a:t>
                      </a:r>
                      <a:r>
                        <a:rPr lang="en-US" sz="1600" dirty="0">
                          <a:effectLst/>
                          <a:latin typeface="Times New Roman" panose="02020603050405020304" pitchFamily="18" charset="0"/>
                          <a:ea typeface="宋体" panose="02010600030101010101" pitchFamily="2" charset="-122"/>
                        </a:rPr>
                        <a:t>()</a:t>
                      </a:r>
                      <a:endParaRPr lang="zh-CN" sz="1600" dirty="0">
                        <a:effectLst/>
                        <a:latin typeface="Times New Roman" panose="02020603050405020304" pitchFamily="18" charset="0"/>
                        <a:ea typeface="宋体" panose="02010600030101010101" pitchFamily="2" charset="-122"/>
                      </a:endParaRPr>
                    </a:p>
                  </a:txBody>
                  <a:tcPr marL="9526" marR="9526" marT="9528" marB="0" anchor="ctr">
                    <a:lnL>
                      <a:noFill/>
                    </a:lnL>
                    <a:lnR>
                      <a:noFill/>
                    </a:lnR>
                    <a:lnT>
                      <a:noFill/>
                    </a:lnT>
                    <a:lnB>
                      <a:noFill/>
                    </a:lnB>
                    <a:solidFill>
                      <a:srgbClr val="FFFFFF"/>
                    </a:solidFill>
                  </a:tcPr>
                </a:tc>
              </a:tr>
              <a:tr h="378445">
                <a:tc>
                  <a:txBody>
                    <a:bodyPr/>
                    <a:lstStyle/>
                    <a:p>
                      <a:pPr algn="ctr">
                        <a:spcAft>
                          <a:spcPts val="400"/>
                        </a:spcAft>
                      </a:pPr>
                      <a:r>
                        <a:rPr lang="en-US" sz="1600">
                          <a:effectLst/>
                          <a:latin typeface="Times New Roman" panose="02020603050405020304" pitchFamily="18" charset="0"/>
                          <a:ea typeface="宋体" panose="02010600030101010101" pitchFamily="2" charset="-122"/>
                        </a:rPr>
                        <a:t>getLastKnownLocation()</a:t>
                      </a:r>
                      <a:endParaRPr lang="zh-CN" sz="1600">
                        <a:effectLst/>
                        <a:latin typeface="Times New Roman" panose="02020603050405020304" pitchFamily="18" charset="0"/>
                        <a:ea typeface="宋体" panose="02010600030101010101" pitchFamily="2" charset="-122"/>
                      </a:endParaRPr>
                    </a:p>
                  </a:txBody>
                  <a:tcPr marL="9526" marR="9526" marT="9528" marB="0" anchor="ctr">
                    <a:lnL>
                      <a:noFill/>
                    </a:lnL>
                    <a:lnR>
                      <a:noFill/>
                    </a:lnR>
                    <a:lnT>
                      <a:noFill/>
                    </a:lnT>
                    <a:lnB>
                      <a:noFill/>
                    </a:lnB>
                    <a:solidFill>
                      <a:srgbClr val="FFFFFF"/>
                    </a:solidFill>
                  </a:tcPr>
                </a:tc>
              </a:tr>
              <a:tr h="378445">
                <a:tc>
                  <a:txBody>
                    <a:bodyPr/>
                    <a:lstStyle/>
                    <a:p>
                      <a:pPr algn="ctr">
                        <a:spcAft>
                          <a:spcPts val="400"/>
                        </a:spcAft>
                      </a:pPr>
                      <a:r>
                        <a:rPr lang="en-US" sz="1600" dirty="0" err="1">
                          <a:effectLst/>
                          <a:latin typeface="Times New Roman" panose="02020603050405020304" pitchFamily="18" charset="0"/>
                          <a:ea typeface="宋体" panose="02010600030101010101" pitchFamily="2" charset="-122"/>
                        </a:rPr>
                        <a:t>Camera:open</a:t>
                      </a:r>
                      <a:r>
                        <a:rPr lang="en-US" sz="1600" dirty="0">
                          <a:effectLst/>
                          <a:latin typeface="Times New Roman" panose="02020603050405020304" pitchFamily="18" charset="0"/>
                          <a:ea typeface="宋体" panose="02010600030101010101" pitchFamily="2" charset="-122"/>
                        </a:rPr>
                        <a:t>()</a:t>
                      </a:r>
                      <a:endParaRPr lang="zh-CN" sz="1600" dirty="0">
                        <a:effectLst/>
                        <a:latin typeface="Times New Roman" panose="02020603050405020304" pitchFamily="18" charset="0"/>
                        <a:ea typeface="宋体" panose="02010600030101010101" pitchFamily="2" charset="-122"/>
                      </a:endParaRPr>
                    </a:p>
                  </a:txBody>
                  <a:tcPr marL="9526" marR="9526" marT="9528"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6955750"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的恶意软件识别</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aphicFrame>
        <p:nvGraphicFramePr>
          <p:cNvPr id="7" name="对象 9"/>
          <p:cNvGraphicFramePr>
            <a:graphicFrameLocks noChangeAspect="1"/>
          </p:cNvGraphicFramePr>
          <p:nvPr/>
        </p:nvGraphicFramePr>
        <p:xfrm>
          <a:off x="559938" y="1079674"/>
          <a:ext cx="3556000" cy="2974975"/>
        </p:xfrm>
        <a:graphic>
          <a:graphicData uri="http://schemas.openxmlformats.org/presentationml/2006/ole">
            <mc:AlternateContent xmlns:mc="http://schemas.openxmlformats.org/markup-compatibility/2006">
              <mc:Choice xmlns:v="urn:schemas-microsoft-com:vml" Requires="v">
                <p:oleObj spid="_x0000_s63566" name="Visio" r:id="rId1" imgW="10960100" imgH="9220200" progId="Visio.Drawing.15">
                  <p:embed/>
                </p:oleObj>
              </mc:Choice>
              <mc:Fallback>
                <p:oleObj name="Visio" r:id="rId1" imgW="10960100" imgH="9220200" progId="Visio.Drawing.15">
                  <p:embed/>
                  <p:pic>
                    <p:nvPicPr>
                      <p:cNvPr id="0" name="对象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938" y="1079674"/>
                        <a:ext cx="3556000"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28"/>
          <p:cNvGrpSpPr/>
          <p:nvPr/>
        </p:nvGrpSpPr>
        <p:grpSpPr bwMode="auto">
          <a:xfrm>
            <a:off x="956404" y="4653136"/>
            <a:ext cx="6842125" cy="1831975"/>
            <a:chOff x="801574" y="4691905"/>
            <a:chExt cx="6841159" cy="1831937"/>
          </a:xfrm>
        </p:grpSpPr>
        <p:pic>
          <p:nvPicPr>
            <p:cNvPr id="9"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574" y="4695210"/>
              <a:ext cx="1041819" cy="943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2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1084" y="4695210"/>
              <a:ext cx="1004400" cy="90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2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42292" y="4695210"/>
              <a:ext cx="1004400" cy="90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2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22378" y="4691905"/>
              <a:ext cx="1004400" cy="90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2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25796" y="4733727"/>
              <a:ext cx="1004400" cy="909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24"/>
            <p:cNvSpPr txBox="1">
              <a:spLocks noChangeArrowheads="1"/>
            </p:cNvSpPr>
            <p:nvPr/>
          </p:nvSpPr>
          <p:spPr bwMode="auto">
            <a:xfrm>
              <a:off x="1078032" y="5815956"/>
              <a:ext cx="15307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a:ea typeface="宋体" panose="02010600030101010101" pitchFamily="2" charset="-122"/>
                </a:rPr>
                <a:t>Sensitive-Motif-1</a:t>
              </a:r>
              <a:endParaRPr lang="zh-CN" altLang="en-US">
                <a:ea typeface="宋体" panose="02010600030101010101" pitchFamily="2" charset="-122"/>
              </a:endParaRPr>
            </a:p>
          </p:txBody>
        </p:sp>
        <p:sp>
          <p:nvSpPr>
            <p:cNvPr id="18" name="文本框 25"/>
            <p:cNvSpPr txBox="1">
              <a:spLocks noChangeArrowheads="1"/>
            </p:cNvSpPr>
            <p:nvPr/>
          </p:nvSpPr>
          <p:spPr bwMode="auto">
            <a:xfrm>
              <a:off x="3078667" y="5815956"/>
              <a:ext cx="14075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a:ea typeface="宋体" panose="02010600030101010101" pitchFamily="2" charset="-122"/>
                </a:rPr>
                <a:t>Sensitive-Motif-2</a:t>
              </a:r>
              <a:endParaRPr lang="zh-CN" altLang="en-US">
                <a:ea typeface="宋体" panose="02010600030101010101" pitchFamily="2" charset="-122"/>
              </a:endParaRPr>
            </a:p>
          </p:txBody>
        </p:sp>
        <p:sp>
          <p:nvSpPr>
            <p:cNvPr id="19" name="文本框 26"/>
            <p:cNvSpPr txBox="1">
              <a:spLocks noChangeArrowheads="1"/>
            </p:cNvSpPr>
            <p:nvPr/>
          </p:nvSpPr>
          <p:spPr bwMode="auto">
            <a:xfrm>
              <a:off x="4546431" y="5815956"/>
              <a:ext cx="14075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a:ea typeface="宋体" panose="02010600030101010101" pitchFamily="2" charset="-122"/>
                </a:rPr>
                <a:t>Sensitive-Motif-3</a:t>
              </a:r>
              <a:endParaRPr lang="zh-CN" altLang="en-US">
                <a:ea typeface="宋体" panose="02010600030101010101" pitchFamily="2" charset="-122"/>
              </a:endParaRPr>
            </a:p>
          </p:txBody>
        </p:sp>
        <p:sp>
          <p:nvSpPr>
            <p:cNvPr id="20" name="文本框 27"/>
            <p:cNvSpPr txBox="1">
              <a:spLocks noChangeArrowheads="1"/>
            </p:cNvSpPr>
            <p:nvPr/>
          </p:nvSpPr>
          <p:spPr bwMode="auto">
            <a:xfrm>
              <a:off x="6235135" y="5791380"/>
              <a:ext cx="14075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a:ea typeface="宋体" panose="02010600030101010101" pitchFamily="2" charset="-122"/>
                </a:rPr>
                <a:t>Sensitive-Motif-4</a:t>
              </a:r>
              <a:endParaRPr lang="zh-CN" altLang="en-US">
                <a:ea typeface="宋体" panose="02010600030101010101" pitchFamily="2" charset="-122"/>
              </a:endParaRPr>
            </a:p>
          </p:txBody>
        </p:sp>
      </p:grpSp>
      <p:sp>
        <p:nvSpPr>
          <p:cNvPr id="2" name="下箭头 1"/>
          <p:cNvSpPr/>
          <p:nvPr/>
        </p:nvSpPr>
        <p:spPr bwMode="auto">
          <a:xfrm rot="16200000">
            <a:off x="4108809" y="2226064"/>
            <a:ext cx="576064" cy="576064"/>
          </a:xfrm>
          <a:prstGeom prst="downArrow">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bg1"/>
              </a:solidFill>
              <a:effectLst/>
              <a:latin typeface="黑体" panose="02010609060101010101" pitchFamily="49" charset="-122"/>
              <a:ea typeface="宋体" panose="02010600030101010101" pitchFamily="2" charset="-122"/>
            </a:endParaRPr>
          </a:p>
        </p:txBody>
      </p:sp>
      <p:graphicFrame>
        <p:nvGraphicFramePr>
          <p:cNvPr id="21" name="对象 2"/>
          <p:cNvGraphicFramePr>
            <a:graphicFrameLocks noChangeAspect="1"/>
          </p:cNvGraphicFramePr>
          <p:nvPr/>
        </p:nvGraphicFramePr>
        <p:xfrm>
          <a:off x="4444870" y="1421872"/>
          <a:ext cx="4524375" cy="2312988"/>
        </p:xfrm>
        <a:graphic>
          <a:graphicData uri="http://schemas.openxmlformats.org/presentationml/2006/ole">
            <mc:AlternateContent xmlns:mc="http://schemas.openxmlformats.org/markup-compatibility/2006">
              <mc:Choice xmlns:v="urn:schemas-microsoft-com:vml" Requires="v">
                <p:oleObj spid="_x0000_s63567" name="" r:id="rId8" imgW="5562600" imgH="2857500" progId="Visio.Drawing.15">
                  <p:embed/>
                </p:oleObj>
              </mc:Choice>
              <mc:Fallback>
                <p:oleObj name="" r:id="rId8" imgW="5562600" imgH="2857500" progId="Visio.Drawing.15">
                  <p:embed/>
                  <p:pic>
                    <p:nvPicPr>
                      <p:cNvPr id="0" name="对象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4870" y="1421872"/>
                        <a:ext cx="45243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000" b="0" i="0" u="none" strike="noStrike" cap="none" normalizeH="0" baseline="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a:t>
            </a:r>
            <a:endParaRPr kumimoji="0" 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6" name="矩形 5"/>
          <p:cNvSpPr/>
          <p:nvPr/>
        </p:nvSpPr>
        <p:spPr>
          <a:xfrm>
            <a:off x="899592" y="188640"/>
            <a:ext cx="6955750" cy="615553"/>
          </a:xfrm>
          <a:prstGeom prst="rect">
            <a:avLst/>
          </a:prstGeom>
        </p:spPr>
        <p:txBody>
          <a:bodyPr wrap="none">
            <a:spAutoFit/>
          </a:bodyPr>
          <a:lstStyle/>
          <a:p>
            <a:pPr lvl="0" algn="l" fontAlgn="auto">
              <a:spcBef>
                <a:spcPts val="0"/>
              </a:spcBef>
              <a:spcAft>
                <a:spcPts val="0"/>
              </a:spcAft>
              <a:defRPr/>
            </a:pPr>
            <a:r>
              <a:rPr lang="zh-CN" altLang="en-US" sz="34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图数据挖掘  </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a:t>
            </a:r>
            <a:r>
              <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motif</a:t>
            </a:r>
            <a:r>
              <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的恶意软件识别</a:t>
            </a:r>
            <a:endParaRPr lang="zh-CN" altLang="en-US"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21" name="文本框 5"/>
          <p:cNvSpPr txBox="1">
            <a:spLocks noChangeArrowheads="1"/>
          </p:cNvSpPr>
          <p:nvPr/>
        </p:nvSpPr>
        <p:spPr bwMode="auto">
          <a:xfrm>
            <a:off x="573509" y="1009672"/>
            <a:ext cx="8126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dirty="0">
                <a:solidFill>
                  <a:srgbClr val="FF0000"/>
                </a:solidFill>
                <a:ea typeface="宋体" panose="02010600030101010101" pitchFamily="2" charset="-122"/>
              </a:rPr>
              <a:t>the Total Number of Sensitive-Motif instances in SSG---</a:t>
            </a:r>
            <a:r>
              <a:rPr lang="en-US" altLang="zh-CN" dirty="0" err="1">
                <a:solidFill>
                  <a:srgbClr val="FF0000"/>
                </a:solidFill>
                <a:ea typeface="宋体" panose="02010600030101010101" pitchFamily="2" charset="-122"/>
              </a:rPr>
              <a:t>tnsm</a:t>
            </a:r>
            <a:r>
              <a:rPr lang="en-US" altLang="zh-CN" dirty="0">
                <a:solidFill>
                  <a:srgbClr val="FF0000"/>
                </a:solidFill>
                <a:ea typeface="宋体" panose="02010600030101010101" pitchFamily="2" charset="-122"/>
              </a:rPr>
              <a:t>(SSG)</a:t>
            </a:r>
            <a:endParaRPr lang="zh-CN" altLang="en-US" dirty="0">
              <a:solidFill>
                <a:srgbClr val="FF0000"/>
              </a:solidFill>
              <a:ea typeface="宋体" panose="02010600030101010101" pitchFamily="2" charset="-122"/>
            </a:endParaRPr>
          </a:p>
        </p:txBody>
      </p:sp>
      <p:pic>
        <p:nvPicPr>
          <p:cNvPr id="22" name="Picture 14" descr="tnsm-1"/>
          <p:cNvPicPr>
            <a:picLocks noChangeAspect="1" noChangeArrowheads="1"/>
          </p:cNvPicPr>
          <p:nvPr/>
        </p:nvPicPr>
        <p:blipFill>
          <a:blip r:embed="rId1" cstate="print">
            <a:extLst>
              <a:ext uri="{28A0092B-C50C-407E-A947-70E740481C1C}">
                <a14:useLocalDpi xmlns:a14="http://schemas.microsoft.com/office/drawing/2010/main" val="0"/>
              </a:ext>
            </a:extLst>
          </a:blip>
          <a:srcRect t="4288" r="5554" b="6415"/>
          <a:stretch>
            <a:fillRect/>
          </a:stretch>
        </p:blipFill>
        <p:spPr bwMode="auto">
          <a:xfrm>
            <a:off x="251520" y="1615261"/>
            <a:ext cx="288925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5" descr="tnsm-2"/>
          <p:cNvPicPr>
            <a:picLocks noChangeAspect="1" noChangeArrowheads="1"/>
          </p:cNvPicPr>
          <p:nvPr/>
        </p:nvPicPr>
        <p:blipFill>
          <a:blip r:embed="rId2" cstate="print">
            <a:extLst>
              <a:ext uri="{28A0092B-C50C-407E-A947-70E740481C1C}">
                <a14:useLocalDpi xmlns:a14="http://schemas.microsoft.com/office/drawing/2010/main" val="0"/>
              </a:ext>
            </a:extLst>
          </a:blip>
          <a:srcRect t="4109" r="5438" b="6189"/>
          <a:stretch>
            <a:fillRect/>
          </a:stretch>
        </p:blipFill>
        <p:spPr bwMode="auto">
          <a:xfrm>
            <a:off x="3062983" y="1635898"/>
            <a:ext cx="2887662"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6" descr="tnsm-3"/>
          <p:cNvPicPr>
            <a:picLocks noChangeAspect="1" noChangeArrowheads="1"/>
          </p:cNvPicPr>
          <p:nvPr/>
        </p:nvPicPr>
        <p:blipFill>
          <a:blip r:embed="rId3" cstate="print">
            <a:extLst>
              <a:ext uri="{28A0092B-C50C-407E-A947-70E740481C1C}">
                <a14:useLocalDpi xmlns:a14="http://schemas.microsoft.com/office/drawing/2010/main" val="0"/>
              </a:ext>
            </a:extLst>
          </a:blip>
          <a:srcRect t="4565" r="5605" b="6383"/>
          <a:stretch>
            <a:fillRect/>
          </a:stretch>
        </p:blipFill>
        <p:spPr bwMode="auto">
          <a:xfrm>
            <a:off x="5950645" y="1635898"/>
            <a:ext cx="2646363"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 name="对象 3"/>
          <p:cNvGraphicFramePr>
            <a:graphicFrameLocks noChangeAspect="1"/>
          </p:cNvGraphicFramePr>
          <p:nvPr/>
        </p:nvGraphicFramePr>
        <p:xfrm>
          <a:off x="3779912" y="4293096"/>
          <a:ext cx="3490063" cy="1944216"/>
        </p:xfrm>
        <a:graphic>
          <a:graphicData uri="http://schemas.openxmlformats.org/presentationml/2006/ole">
            <mc:AlternateContent xmlns:mc="http://schemas.openxmlformats.org/markup-compatibility/2006">
              <mc:Choice xmlns:v="urn:schemas-microsoft-com:vml" Requires="v">
                <p:oleObj spid="_x0000_s64552" name="Formula" r:id="rId4" imgW="1165860" imgH="635000" progId="Equation.Ribbit">
                  <p:embed/>
                </p:oleObj>
              </mc:Choice>
              <mc:Fallback>
                <p:oleObj name="Formula" r:id="rId4" imgW="1165860" imgH="635000" progId="Equation.Ribbit">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912" y="4293096"/>
                        <a:ext cx="3490063" cy="1944216"/>
                      </a:xfrm>
                      <a:prstGeom prst="rect">
                        <a:avLst/>
                      </a:prstGeom>
                      <a:noFill/>
                      <a:ln>
                        <a:noFill/>
                      </a:ln>
                    </p:spPr>
                  </p:pic>
                </p:oleObj>
              </mc:Fallback>
            </mc:AlternateContent>
          </a:graphicData>
        </a:graphic>
      </p:graphicFrame>
      <p:sp>
        <p:nvSpPr>
          <p:cNvPr id="26" name="文本框 11"/>
          <p:cNvSpPr txBox="1">
            <a:spLocks noChangeArrowheads="1"/>
          </p:cNvSpPr>
          <p:nvPr/>
        </p:nvSpPr>
        <p:spPr bwMode="auto">
          <a:xfrm>
            <a:off x="251520" y="4962363"/>
            <a:ext cx="33843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r>
              <a:rPr lang="en-US" altLang="zh-CN" sz="2400" dirty="0">
                <a:latin typeface="Times New Roman" panose="02020603050405020304" pitchFamily="18" charset="0"/>
                <a:cs typeface="Times New Roman" panose="02020603050405020304" pitchFamily="18" charset="0"/>
              </a:rPr>
              <a:t>Feature Space:</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theme/theme1.xml><?xml version="1.0" encoding="utf-8"?>
<a:theme xmlns:a="http://schemas.openxmlformats.org/drawingml/2006/main" name="1_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默认设计模板">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1" i="0" u="none" strike="noStrike" cap="none" normalizeH="0" baseline="0" smtClean="0">
            <a:ln>
              <a:noFill/>
            </a:ln>
            <a:solidFill>
              <a:schemeClr val="bg1"/>
            </a:solidFill>
            <a:effectLst/>
            <a:latin typeface="黑体" panose="02010609060101010101" pitchFamily="49" charset="-12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1" i="0" u="none" strike="noStrike" cap="none" normalizeH="0" baseline="0" smtClean="0">
            <a:ln>
              <a:noFill/>
            </a:ln>
            <a:solidFill>
              <a:schemeClr val="bg1"/>
            </a:solidFill>
            <a:effectLst/>
            <a:latin typeface="黑体" panose="02010609060101010101" pitchFamily="49" charset="-122"/>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16528</Words>
  <Application>WPS 演示</Application>
  <PresentationFormat>全屏显示(4:3)</PresentationFormat>
  <Paragraphs>1476</Paragraphs>
  <Slides>98</Slides>
  <Notes>93</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45</vt:i4>
      </vt:variant>
      <vt:variant>
        <vt:lpstr>幻灯片标题</vt:lpstr>
      </vt:variant>
      <vt:variant>
        <vt:i4>98</vt:i4>
      </vt:variant>
    </vt:vector>
  </HeadingPairs>
  <TitlesOfParts>
    <vt:vector size="175" baseType="lpstr">
      <vt:lpstr>Arial</vt:lpstr>
      <vt:lpstr>宋体</vt:lpstr>
      <vt:lpstr>Wingdings</vt:lpstr>
      <vt:lpstr>Verdana</vt:lpstr>
      <vt:lpstr>黑体</vt:lpstr>
      <vt:lpstr>Tahoma</vt:lpstr>
      <vt:lpstr>Tahoma</vt:lpstr>
      <vt:lpstr>Calibri</vt:lpstr>
      <vt:lpstr>Times New Roman</vt:lpstr>
      <vt:lpstr>-apple-system</vt:lpstr>
      <vt:lpstr>Segoe Print</vt:lpstr>
      <vt:lpstr>方正兰亭中黑_GBK</vt:lpstr>
      <vt:lpstr>Century Gothic</vt:lpstr>
      <vt:lpstr>新細明體</vt:lpstr>
      <vt:lpstr>微软雅黑</vt:lpstr>
      <vt:lpstr>Arial Unicode MS</vt:lpstr>
      <vt:lpstr>Cambria Math</vt:lpstr>
      <vt:lpstr>Verdana</vt:lpstr>
      <vt:lpstr>TimesNewRomanPSMT</vt:lpstr>
      <vt:lpstr>Arial</vt:lpstr>
      <vt:lpstr>Symbol</vt:lpstr>
      <vt:lpstr>Palatino Linotype</vt:lpstr>
      <vt:lpstr>Comic Sans MS</vt:lpstr>
      <vt:lpstr>Monotype Sorts</vt:lpstr>
      <vt:lpstr>Palatino</vt:lpstr>
      <vt:lpstr>Bitstream Vera Sans</vt:lpstr>
      <vt:lpstr>Times</vt:lpstr>
      <vt:lpstr>Miriam</vt:lpstr>
      <vt:lpstr>Yu Gothic UI</vt:lpstr>
      <vt:lpstr>Wingdings</vt:lpstr>
      <vt:lpstr>BatangChe</vt:lpstr>
      <vt:lpstr>1_默认设计模板</vt:lpstr>
      <vt:lpstr>Equation.DSMT4</vt:lpstr>
      <vt:lpstr>Equation.3</vt:lpstr>
      <vt:lpstr>Equation.3</vt:lpstr>
      <vt:lpstr>Equation.3</vt:lpstr>
      <vt:lpstr>Equation.3</vt:lpstr>
      <vt:lpstr>Equation.DSMT4</vt:lpstr>
      <vt:lpstr>Equation.3</vt:lpstr>
      <vt:lpstr>Paint.Picture</vt:lpstr>
      <vt:lpstr>Equation.Ribbit</vt:lpstr>
      <vt:lpstr>Equation.Ribbit</vt:lpstr>
      <vt:lpstr>Equation.Ribbit</vt:lpstr>
      <vt:lpstr>Equation.DSMT4</vt:lpstr>
      <vt:lpstr>Equation.Ribbit</vt:lpstr>
      <vt:lpstr>Equation.Ribbit</vt:lpstr>
      <vt:lpstr>Equation.Ribbit</vt:lpstr>
      <vt:lpstr>Equation.Ribbit</vt:lpstr>
      <vt:lpstr>Word.Document.8</vt:lpstr>
      <vt:lpstr>Equation.3</vt:lpstr>
      <vt:lpstr>Equation.3</vt:lpstr>
      <vt:lpstr>Equation.3</vt:lpstr>
      <vt:lpstr>Equation.3</vt:lpstr>
      <vt:lpstr>SmartDraw.2</vt:lpstr>
      <vt:lpstr>Equation.3</vt:lpstr>
      <vt:lpstr>Equation.3</vt:lpstr>
      <vt:lpstr>Equation.3</vt:lpstr>
      <vt:lpstr>Equation.3</vt:lpstr>
      <vt:lpstr>Equation.3</vt:lpstr>
      <vt:lpstr>Equation.Ribbit</vt:lpstr>
      <vt:lpstr>Equation.Ribbit</vt:lpstr>
      <vt:lpstr>Visio.Drawing.11</vt:lpstr>
      <vt:lpstr>Equation.Ribbit</vt:lpstr>
      <vt:lpstr>Equation.Ribbit</vt:lpstr>
      <vt:lpstr>Equation.Ribbit</vt:lpstr>
      <vt:lpstr>Equation.3</vt:lpstr>
      <vt:lpstr>Equation.Ribbit</vt:lpstr>
      <vt:lpstr>Equation.Ribbit</vt:lpstr>
      <vt:lpstr>Visio.Drawing.15</vt:lpstr>
      <vt:lpstr>Visio.Drawing.15</vt:lpstr>
      <vt:lpstr>Visio.Drawing.15</vt:lpstr>
      <vt:lpstr>Equation.Ribbit</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CCNU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知识服务的内涵与模式</dc:title>
  <dc:creator>CCNUITBXL</dc:creator>
  <cp:lastModifiedBy>WPS_384326030</cp:lastModifiedBy>
  <cp:revision>873</cp:revision>
  <dcterms:created xsi:type="dcterms:W3CDTF">2005-11-25T00:19:00Z</dcterms:created>
  <dcterms:modified xsi:type="dcterms:W3CDTF">2025-11-23T04:11:32Z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D07FA12A8FEF4FB58375379574804773_12</vt:lpwstr>
  </property>
</Properties>
</file>